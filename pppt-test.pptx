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écor bleu France Verte">    </p:cNvPr>
          <p:cNvPicPr>
            <a:picLocks noChangeAspect="1"/>
          </p:cNvPicPr>
          <p:nvPr/>
        </p:nvPicPr>
        <p:blipFill>
          <a:blip r:embed="rId1"/>
          <a:srcRect l="0" r="0" t="0" b="0"/>
          <a:stretch/>
        </p:blipFill>
        <p:spPr>
          <a:xfrm>
            <a:off x="0" y="684000"/>
            <a:ext cx="979200" cy="2149200"/>
          </a:xfrm>
          <a:prstGeom prst="rect">
            <a:avLst/>
          </a:prstGeom>
        </p:spPr>
      </p:pic>
      <p:pic>
        <p:nvPicPr>
          <p:cNvPr id="3" name="Image 1" descr="Décor jaune France Verte">    </p:cNvPr>
          <p:cNvPicPr>
            <a:picLocks noChangeAspect="1"/>
          </p:cNvPicPr>
          <p:nvPr/>
        </p:nvPicPr>
        <p:blipFill>
          <a:blip r:embed="rId2"/>
          <a:srcRect l="0" r="0" t="0" b="0"/>
          <a:stretch/>
        </p:blipFill>
        <p:spPr>
          <a:xfrm rot="21360000">
            <a:off x="6656400" y="8172000"/>
            <a:ext cx="982800" cy="1944000"/>
          </a:xfrm>
          <a:prstGeom prst="rect">
            <a:avLst/>
          </a:prstGeom>
        </p:spPr>
      </p:pic>
      <p:pic>
        <p:nvPicPr>
          <p:cNvPr id="4" name="Image 2" descr="Logo France Verte">    </p:cNvPr>
          <p:cNvPicPr>
            <a:picLocks noChangeAspect="1"/>
          </p:cNvPicPr>
          <p:nvPr/>
        </p:nvPicPr>
        <p:blipFill>
          <a:blip r:embed="rId3"/>
          <a:srcRect l="0" r="0" t="0" b="0"/>
          <a:stretch/>
        </p:blipFill>
        <p:spPr>
          <a:xfrm>
            <a:off x="493200" y="97200"/>
            <a:ext cx="2246400" cy="594000"/>
          </a:xfrm>
          <a:prstGeom prst="rect">
            <a:avLst/>
          </a:prstGeom>
        </p:spPr>
      </p:pic>
      <p:pic>
        <p:nvPicPr>
          <p:cNvPr id="5" name="Image 3" descr="Logo RGE OPQIBI du modèle">    </p:cNvPr>
          <p:cNvPicPr>
            <a:picLocks noChangeAspect="1"/>
          </p:cNvPicPr>
          <p:nvPr/>
        </p:nvPicPr>
        <p:blipFill>
          <a:blip r:embed="rId4"/>
          <a:srcRect l="0" r="0" t="0" b="0"/>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algn="ctr" indent="0" marL="0">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algn="ctr" indent="0" marL="0">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algn="ctr" indent="0" marL="0">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indent="0" marL="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indent="0" marL="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algn="ctr" indent="0" marL="0">
              <a:buNone/>
            </a:pPr>
            <a:r>
              <a:rPr lang="en-US" sz="1240" b="1" dirty="0">
                <a:solidFill>
                  <a:srgbClr val="1C1C1C"/>
                </a:solidFill>
                <a:latin typeface="Calibri" pitchFamily="34" charset="0"/>
                <a:ea typeface="Calibri" pitchFamily="34" charset="-122"/>
                <a:cs typeface="Calibri" pitchFamily="34" charset="-120"/>
              </a:rPr>
              <a:t>Copropriété Résidence des Tilleuls</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algn="ctr" indent="0" marL="0">
              <a:buNone/>
            </a:pPr>
            <a:r>
              <a:rPr lang="en-US" sz="1100" dirty="0">
                <a:solidFill>
                  <a:srgbClr val="1C1C1C"/>
                </a:solidFill>
                <a:latin typeface="Calibri" pitchFamily="34" charset="0"/>
                <a:ea typeface="Calibri" pitchFamily="34" charset="-122"/>
                <a:cs typeface="Calibri" pitchFamily="34" charset="-120"/>
              </a:rPr>
              <a:t>Adresse : 24 avenue des Érables, 69003 Lyon</a:t>
            </a:r>
            <a:endParaRPr lang="en-US" sz="1100" dirty="0"/>
          </a:p>
        </p:txBody>
      </p:sp>
      <p:pic>
        <p:nvPicPr>
          <p:cNvPr id="19" name="Image 4" descr="Photographie principale de la copropriété">    </p:cNvPr>
          <p:cNvPicPr>
            <a:picLocks noChangeAspect="1"/>
          </p:cNvPicPr>
          <p:nvPr/>
        </p:nvPicPr>
        <p:blipFill>
          <a:blip r:embed="rId5"/>
          <a:srcRect l="0" r="0" t="0" b="0"/>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de visite : </a:t>
            </a:r>
            <a:pPr indent="0" marL="0">
              <a:buNone/>
            </a:pPr>
            <a:r>
              <a:rPr lang="en-US" sz="1130" dirty="0">
                <a:solidFill>
                  <a:srgbClr val="1C1C1C"/>
                </a:solidFill>
                <a:latin typeface="Calibri" pitchFamily="34" charset="0"/>
                <a:ea typeface="Calibri" pitchFamily="34" charset="-122"/>
                <a:cs typeface="Calibri" pitchFamily="34" charset="-120"/>
              </a:rPr>
              <a:t>05/09/2026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du rapport : </a:t>
            </a:r>
            <a:pPr indent="0" marL="0">
              <a:buNone/>
            </a:pPr>
            <a:r>
              <a:rPr lang="en-US" sz="1130" dirty="0">
                <a:solidFill>
                  <a:srgbClr val="1C1C1C"/>
                </a:solidFill>
                <a:latin typeface="Calibri" pitchFamily="34" charset="0"/>
                <a:ea typeface="Calibri" pitchFamily="34" charset="-122"/>
                <a:cs typeface="Calibri" pitchFamily="34" charset="-120"/>
              </a:rPr>
              <a:t>12/09/2026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Version du rapport : </a:t>
            </a:r>
            <a:pPr indent="0" marL="0">
              <a:buNone/>
            </a:pPr>
            <a:r>
              <a:rPr lang="en-US" sz="1130" dirty="0">
                <a:solidFill>
                  <a:srgbClr val="1C1C1C"/>
                </a:solidFill>
                <a:latin typeface="Calibri" pitchFamily="34" charset="0"/>
                <a:ea typeface="Calibri" pitchFamily="34" charset="-122"/>
                <a:cs typeface="Calibri" pitchFamily="34" charset="-120"/>
              </a:rPr>
              <a:t>Finale</a:t>
            </a:r>
            <a:endParaRPr lang="en-US" sz="1130" dirty="0"/>
          </a:p>
        </p:txBody>
      </p:sp>
      <p:pic>
        <p:nvPicPr>
          <p:cNvPr id="23" name="Image 5" descr="Tampon France Verte du modèle">    </p:cNvPr>
          <p:cNvPicPr>
            <a:picLocks noChangeAspect="1"/>
          </p:cNvPicPr>
          <p:nvPr/>
        </p:nvPicPr>
        <p:blipFill>
          <a:blip r:embed="rId6"/>
          <a:srcRect l="0" r="0" t="0" b="0"/>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algn="ctr" indent="0" marL="0">
              <a:buNone/>
            </a:pPr>
            <a:r>
              <a:rPr lang="en-US" sz="1120" dirty="0">
                <a:solidFill>
                  <a:srgbClr val="1C1C1C"/>
                </a:solidFill>
                <a:latin typeface="Calibri" pitchFamily="34" charset="0"/>
                <a:ea typeface="Calibri" pitchFamily="34" charset="-122"/>
                <a:cs typeface="Calibri" pitchFamily="34" charset="-120"/>
              </a:rPr>
              <a:t>Mission réalisée pour la copropriété </a:t>
            </a:r>
            <a:pPr algn="ctr" indent="0" marL="0">
              <a:buNone/>
            </a:pPr>
            <a:r>
              <a:rPr lang="en-US" sz="1120" b="1" dirty="0">
                <a:solidFill>
                  <a:srgbClr val="1C1C1C"/>
                </a:solidFill>
                <a:latin typeface="Calibri" pitchFamily="34" charset="0"/>
                <a:ea typeface="Calibri" pitchFamily="34" charset="-122"/>
                <a:cs typeface="Calibri" pitchFamily="34" charset="-120"/>
              </a:rPr>
              <a:t>Résidence des Tilleuls</a:t>
            </a:r>
            <a:pPr algn="ctr" indent="0" marL="0">
              <a:buNone/>
            </a:pPr>
            <a:r>
              <a:rPr lang="en-US" sz="1120" dirty="0">
                <a:solidFill>
                  <a:srgbClr val="1C1C1C"/>
                </a:solidFill>
                <a:latin typeface="Calibri" pitchFamily="34" charset="0"/>
                <a:ea typeface="Calibri" pitchFamily="34" charset="-122"/>
                <a:cs typeface="Calibri" pitchFamily="34" charset="-120"/>
              </a:rPr>
              <a:t>, représentée par son syndic, </a:t>
            </a:r>
            <a:pPr algn="ctr" indent="0" marL="0">
              <a:buNone/>
            </a:pPr>
            <a:r>
              <a:rPr lang="en-US" sz="1120" b="1" dirty="0">
                <a:solidFill>
                  <a:srgbClr val="1C1C1C"/>
                </a:solidFill>
                <a:latin typeface="Calibri" pitchFamily="34" charset="0"/>
                <a:ea typeface="Calibri" pitchFamily="34" charset="-122"/>
                <a:cs typeface="Calibri" pitchFamily="34" charset="-120"/>
              </a:rPr>
              <a:t>Syndic Équilibre</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algn="ctr" indent="0" marL="0">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indent="0" marL="0">
              <a:buNone/>
            </a:pPr>
            <a:r>
              <a:rPr lang="en-US" sz="1130" dirty="0">
                <a:solidFill>
                  <a:srgbClr val="1C1C1C"/>
                </a:solidFill>
                <a:latin typeface="Calibri" pitchFamily="34" charset="0"/>
                <a:ea typeface="Calibri" pitchFamily="34" charset="-122"/>
                <a:cs typeface="Calibri" pitchFamily="34" charset="-120"/>
              </a:rPr>
              <a:t>Ce rapport contient : 14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Syndic Équilibre</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8 place de la République, 69002 Lyon</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Camille Martin</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Alex Durand</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Chargée de projet</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Vérificateur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Nora Petit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24 avenue des Érables, 69003 Lyon</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Référence cadastrale : AZ 0421</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r>
          <p:cNvPicPr>
            <a:picLocks noChangeAspect="1"/>
          </p:cNvPicPr>
          <p:nvPr/>
        </p:nvPicPr>
        <p:blipFill>
          <a:blip r:embed="rId2"/>
          <a:srcRect l="0" r="0" t="0" b="0"/>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indent="0" marL="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Résidence Résidence des Tilleuls</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24 avenue des Érables, 69003 Lyon</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Entre 1980 et 1990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02/03/1986</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17/06/2018</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BB9876543</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48</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5</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Collectif gaz</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30</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2 140,5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183 m</a:t>
            </a:r>
            <a:endParaRPr lang="en-US" sz="1050" dirty="0"/>
          </a:p>
        </p:txBody>
      </p:sp>
      <p:pic>
        <p:nvPicPr>
          <p:cNvPr id="68" name="Image 1" descr="Vue aérienne rapprochée de la copropriété">    </p:cNvPr>
          <p:cNvPicPr>
            <a:picLocks noChangeAspect="1"/>
          </p:cNvPicPr>
          <p:nvPr/>
        </p:nvPicPr>
        <p:blipFill>
          <a:blip r:embed="rId2"/>
          <a:srcRect l="0" r="0" t="0" b="0"/>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indent="0" marL="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indent="0" marL="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r>
          <p:cNvPicPr>
            <a:picLocks noChangeAspect="1"/>
          </p:cNvPicPr>
          <p:nvPr/>
        </p:nvPicPr>
        <p:blipFill>
          <a:blip r:embed="rId2"/>
          <a:srcRect l="0" r="0" t="0" b="0"/>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6</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6</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7</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7</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9</a:t>
            </a:r>
            <a:endParaRPr lang="en-US" sz="1160" dirty="0"/>
          </a:p>
        </p:txBody>
      </p:sp>
      <p:sp>
        <p:nvSpPr>
          <p:cNvPr id="31" name="Shape 28"/>
          <p:cNvSpPr/>
          <p:nvPr/>
        </p:nvSpPr>
        <p:spPr>
          <a:xfrm>
            <a:off x="1769760" y="4676400"/>
            <a:ext cx="4746240" cy="0"/>
          </a:xfrm>
          <a:prstGeom prst="line">
            <a:avLst/>
          </a:prstGeom>
          <a:noFill/>
          <a:ln w="11430">
            <a:solidFill>
              <a:srgbClr val="1C1C1C"/>
            </a:solidFill>
            <a:prstDash val="sysDot"/>
          </a:ln>
        </p:spPr>
      </p:sp>
      <p:sp>
        <p:nvSpPr>
          <p:cNvPr id="32" name="Text 29"/>
          <p:cNvSpPr/>
          <p:nvPr/>
        </p:nvSpPr>
        <p:spPr>
          <a:xfrm>
            <a:off x="810000" y="4478400"/>
            <a:ext cx="959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2.1 Entretien</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34" name="Shape 31"/>
          <p:cNvSpPr/>
          <p:nvPr/>
        </p:nvSpPr>
        <p:spPr>
          <a:xfrm>
            <a:off x="2228400" y="5052600"/>
            <a:ext cx="4287600" cy="0"/>
          </a:xfrm>
          <a:prstGeom prst="line">
            <a:avLst/>
          </a:prstGeom>
          <a:noFill/>
          <a:ln w="11430">
            <a:solidFill>
              <a:srgbClr val="1C1C1C"/>
            </a:solidFill>
            <a:prstDash val="sysDot"/>
          </a:ln>
        </p:spPr>
      </p:sp>
      <p:sp>
        <p:nvSpPr>
          <p:cNvPr id="35" name="Text 32"/>
          <p:cNvSpPr/>
          <p:nvPr/>
        </p:nvSpPr>
        <p:spPr>
          <a:xfrm>
            <a:off x="810000" y="48546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2.2 Curatif Niveau 1</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7" name="Shape 34"/>
          <p:cNvSpPr/>
          <p:nvPr/>
        </p:nvSpPr>
        <p:spPr>
          <a:xfrm>
            <a:off x="1900800" y="5428800"/>
            <a:ext cx="4615200" cy="0"/>
          </a:xfrm>
          <a:prstGeom prst="line">
            <a:avLst/>
          </a:prstGeom>
          <a:noFill/>
          <a:ln w="11430">
            <a:solidFill>
              <a:srgbClr val="1C1C1C"/>
            </a:solidFill>
            <a:prstDash val="sysDot"/>
          </a:ln>
        </p:spPr>
      </p:sp>
      <p:sp>
        <p:nvSpPr>
          <p:cNvPr id="38" name="Text 35"/>
          <p:cNvSpPr/>
          <p:nvPr/>
        </p:nvSpPr>
        <p:spPr>
          <a:xfrm>
            <a:off x="810000" y="52308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2.3 À confirmer</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14</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630000" y="1296000"/>
            <a:ext cx="6300000" cy="342000"/>
          </a:xfrm>
          <a:prstGeom prst="rect">
            <a:avLst/>
          </a:prstGeom>
          <a:noFill/>
          <a:ln/>
        </p:spPr>
        <p:txBody>
          <a:bodyPr wrap="square" lIns="0" tIns="0" rIns="0" bIns="0" rtlCol="0" anchor="ctr">
            <a:normAutofit/>
          </a:bodyPr>
          <a:lstStyle/>
          <a:p>
            <a:pPr indent="0" marL="0">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300" dirty="0"/>
          </a:p>
        </p:txBody>
      </p:sp>
      <p:sp>
        <p:nvSpPr>
          <p:cNvPr id="6" name="Text 3"/>
          <p:cNvSpPr/>
          <p:nvPr/>
        </p:nvSpPr>
        <p:spPr>
          <a:xfrm>
            <a:off x="630000" y="1836000"/>
            <a:ext cx="6300000" cy="8136000"/>
          </a:xfrm>
          <a:prstGeom prst="rect">
            <a:avLst/>
          </a:prstGeom>
          <a:noFill/>
          <a:ln/>
        </p:spPr>
        <p:txBody>
          <a:bodyPr wrap="square" lIns="0" tIns="0" rIns="0" bIns="0" rtlCol="0" anchor="t">
            <a:normAutofit/>
          </a:bodyPr>
          <a:lstStyle/>
          <a:p>
            <a:pPr indent="0" marL="0">
              <a:buNone/>
            </a:pPr>
            <a:r>
              <a:rPr lang="en-US" sz="980" dirty="0">
                <a:solidFill>
                  <a:srgbClr val="1C1C1C"/>
                </a:solidFill>
                <a:latin typeface="Calibri" pitchFamily="34" charset="0"/>
                <a:ea typeface="Calibri" pitchFamily="34" charset="-122"/>
                <a:cs typeface="Calibri" pitchFamily="34" charset="-120"/>
              </a:rPr>
              <a:t>Le présent document constitue un Projet de Plan Pluriannuel de Travaux (PPPT) établi conformément aux dispositions de la loi n° 2021-1104 du 22 août 2021, dite « Climat et Résilience », codifiées aux articles L.731-1 à L.731-5 et R.731-1 à R.731-3 du Code de la construction et de l’habitation, ainsi qu’à l’arrêté du 30 mars 2022 relatif au contenu du Projet de Plan Pluriannuel de Travaux.</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Le PPPT répond à trois objectifs majeurs :</a:t>
            </a: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  Assurer la conservation et la pérennité du patrimoine immobilier ;</a:t>
            </a: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  Garantir la sécurité et le confort des occupants ;</a:t>
            </a: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  Favoriser l’amélioration de la performance énergétique du bâtiment.</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Plan Pluriannuel de Travaux (PPT) et sert de référence pour la programmation des opérations à venir. Les travaux sont ensuite soumis au vote des copropriétaires selon les règles de majorité applicables à leur nature.</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980" dirty="0"/>
          </a:p>
          <a:p>
            <a:pPr indent="0" marL="0">
              <a:buNone/>
            </a:pPr>
            <a:endParaRPr lang="en-US" sz="980" dirty="0"/>
          </a:p>
          <a:p>
            <a:pPr indent="0" marL="0">
              <a:buNone/>
            </a:pPr>
            <a:r>
              <a:rPr lang="en-US" sz="98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980" dirty="0"/>
          </a:p>
        </p:txBody>
      </p:sp>
      <p:sp>
        <p:nvSpPr>
          <p:cNvPr id="7" name="Text 4"/>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8" name="Text 5"/>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630000" y="1332000"/>
            <a:ext cx="6300000" cy="306000"/>
          </a:xfrm>
          <a:prstGeom prst="rect">
            <a:avLst/>
          </a:prstGeom>
          <a:noFill/>
          <a:ln/>
        </p:spPr>
        <p:txBody>
          <a:bodyPr wrap="square" lIns="0" tIns="0" rIns="0" bIns="0" rtlCol="0" anchor="ctr">
            <a:normAutofit/>
          </a:bodyPr>
          <a:lstStyle/>
          <a:p>
            <a:pPr indent="0" marL="0">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300" dirty="0"/>
          </a:p>
        </p:txBody>
      </p:sp>
      <p:sp>
        <p:nvSpPr>
          <p:cNvPr id="6" name="Text 3"/>
          <p:cNvSpPr/>
          <p:nvPr/>
        </p:nvSpPr>
        <p:spPr>
          <a:xfrm>
            <a:off x="630000" y="1836000"/>
            <a:ext cx="6300000" cy="540000"/>
          </a:xfrm>
          <a:prstGeom prst="rect">
            <a:avLst/>
          </a:prstGeom>
          <a:noFill/>
          <a:ln/>
        </p:spPr>
        <p:txBody>
          <a:bodyPr wrap="square" lIns="0" tIns="0" rIns="0" bIns="0" rtlCol="0" anchor="t">
            <a:normAutofit/>
          </a:bodyPr>
          <a:lstStyle/>
          <a:p>
            <a:pPr indent="0" marL="0">
              <a:buNone/>
            </a:pPr>
            <a:r>
              <a:rPr lang="en-US" sz="88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880" dirty="0"/>
          </a:p>
        </p:txBody>
      </p:sp>
      <p:sp>
        <p:nvSpPr>
          <p:cNvPr id="7" name="Text 4"/>
          <p:cNvSpPr/>
          <p:nvPr/>
        </p:nvSpPr>
        <p:spPr>
          <a:xfrm>
            <a:off x="630000" y="2520000"/>
            <a:ext cx="6300000" cy="864000"/>
          </a:xfrm>
          <a:prstGeom prst="rect">
            <a:avLst/>
          </a:prstGeom>
          <a:noFill/>
          <a:ln/>
        </p:spPr>
        <p:txBody>
          <a:bodyPr wrap="square" lIns="0" tIns="0" rIns="0" bIns="0" rtlCol="0" anchor="t">
            <a:normAutofit/>
          </a:bodyPr>
          <a:lstStyle/>
          <a:p>
            <a:pPr indent="0" marL="0">
              <a:buNone/>
            </a:pPr>
            <a:r>
              <a:rPr lang="en-US" sz="88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880" dirty="0"/>
          </a:p>
        </p:txBody>
      </p:sp>
      <p:sp>
        <p:nvSpPr>
          <p:cNvPr id="8" name="Text 5"/>
          <p:cNvSpPr/>
          <p:nvPr/>
        </p:nvSpPr>
        <p:spPr>
          <a:xfrm>
            <a:off x="630000" y="3528000"/>
            <a:ext cx="6300000" cy="468000"/>
          </a:xfrm>
          <a:prstGeom prst="rect">
            <a:avLst/>
          </a:prstGeom>
          <a:noFill/>
          <a:ln/>
        </p:spPr>
        <p:txBody>
          <a:bodyPr wrap="square" lIns="0" tIns="0" rIns="0" bIns="0" rtlCol="0" anchor="t">
            <a:normAutofit/>
          </a:bodyPr>
          <a:lstStyle/>
          <a:p>
            <a:pPr indent="0" marL="0">
              <a:buNone/>
            </a:pPr>
            <a:r>
              <a:rPr lang="en-US" sz="88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880" dirty="0"/>
          </a:p>
        </p:txBody>
      </p:sp>
      <p:sp>
        <p:nvSpPr>
          <p:cNvPr id="9" name="Text 6"/>
          <p:cNvSpPr/>
          <p:nvPr/>
        </p:nvSpPr>
        <p:spPr>
          <a:xfrm>
            <a:off x="630000" y="4248000"/>
            <a:ext cx="6300000" cy="324000"/>
          </a:xfrm>
          <a:prstGeom prst="rect">
            <a:avLst/>
          </a:prstGeom>
          <a:noFill/>
          <a:ln/>
        </p:spPr>
        <p:txBody>
          <a:bodyPr wrap="square" lIns="0" tIns="0" rIns="0" bIns="0" rtlCol="0" anchor="ctr">
            <a:normAutofit/>
          </a:bodyPr>
          <a:lstStyle/>
          <a:p>
            <a:pPr indent="0" marL="0">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300" dirty="0"/>
          </a:p>
        </p:txBody>
      </p:sp>
      <p:sp>
        <p:nvSpPr>
          <p:cNvPr id="10" name="Text 7"/>
          <p:cNvSpPr/>
          <p:nvPr/>
        </p:nvSpPr>
        <p:spPr>
          <a:xfrm>
            <a:off x="630000" y="4824000"/>
            <a:ext cx="6300000" cy="216000"/>
          </a:xfrm>
          <a:prstGeom prst="rect">
            <a:avLst/>
          </a:prstGeom>
          <a:noFill/>
          <a:ln/>
        </p:spPr>
        <p:txBody>
          <a:bodyPr wrap="square" lIns="0" tIns="0" rIns="0" bIns="0" rtlCol="0" anchor="ctr">
            <a:normAutofit/>
          </a:bodyPr>
          <a:lstStyle/>
          <a:p>
            <a:pPr indent="0" marL="0">
              <a:buNone/>
            </a:pPr>
            <a:r>
              <a:rPr lang="en-US" sz="1110" b="1"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10" dirty="0"/>
          </a:p>
        </p:txBody>
      </p:sp>
      <p:sp>
        <p:nvSpPr>
          <p:cNvPr id="11" name="Text 8"/>
          <p:cNvSpPr/>
          <p:nvPr/>
        </p:nvSpPr>
        <p:spPr>
          <a:xfrm>
            <a:off x="630000" y="5148000"/>
            <a:ext cx="6300000" cy="756000"/>
          </a:xfrm>
          <a:prstGeom prst="rect">
            <a:avLst/>
          </a:prstGeom>
          <a:noFill/>
          <a:ln/>
        </p:spPr>
        <p:txBody>
          <a:bodyPr wrap="square" lIns="0" tIns="0" rIns="0" bIns="0" rtlCol="0" anchor="t">
            <a:normAutofit/>
          </a:bodyPr>
          <a:lstStyle/>
          <a:p>
            <a:pPr indent="0" marL="0">
              <a:buNone/>
            </a:pPr>
            <a:r>
              <a:rPr lang="en-US" sz="84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840" dirty="0"/>
          </a:p>
        </p:txBody>
      </p:sp>
      <p:sp>
        <p:nvSpPr>
          <p:cNvPr id="12" name="Text 9"/>
          <p:cNvSpPr/>
          <p:nvPr/>
        </p:nvSpPr>
        <p:spPr>
          <a:xfrm>
            <a:off x="630000" y="5976000"/>
            <a:ext cx="6300000" cy="288000"/>
          </a:xfrm>
          <a:prstGeom prst="rect">
            <a:avLst/>
          </a:prstGeom>
          <a:noFill/>
          <a:ln/>
        </p:spPr>
        <p:txBody>
          <a:bodyPr wrap="square" lIns="0" tIns="0" rIns="0" bIns="0" rtlCol="0" anchor="t">
            <a:normAutofit/>
          </a:bodyPr>
          <a:lstStyle/>
          <a:p>
            <a:pPr indent="0" marL="0">
              <a:buNone/>
            </a:pPr>
            <a:r>
              <a:rPr lang="en-US" sz="84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840" dirty="0"/>
          </a:p>
        </p:txBody>
      </p:sp>
      <p:sp>
        <p:nvSpPr>
          <p:cNvPr id="13" name="Text 10"/>
          <p:cNvSpPr/>
          <p:nvPr/>
        </p:nvSpPr>
        <p:spPr>
          <a:xfrm>
            <a:off x="630000" y="6408000"/>
            <a:ext cx="6300000" cy="216000"/>
          </a:xfrm>
          <a:prstGeom prst="rect">
            <a:avLst/>
          </a:prstGeom>
          <a:noFill/>
          <a:ln/>
        </p:spPr>
        <p:txBody>
          <a:bodyPr wrap="square" lIns="0" tIns="0" rIns="0" bIns="0" rtlCol="0" anchor="ctr">
            <a:normAutofit/>
          </a:bodyPr>
          <a:lstStyle/>
          <a:p>
            <a:pPr indent="0" marL="0">
              <a:buNone/>
            </a:pPr>
            <a:r>
              <a:rPr lang="en-US" sz="1110" b="1"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10" dirty="0"/>
          </a:p>
        </p:txBody>
      </p:sp>
      <p:sp>
        <p:nvSpPr>
          <p:cNvPr id="14" name="Text 11"/>
          <p:cNvSpPr/>
          <p:nvPr/>
        </p:nvSpPr>
        <p:spPr>
          <a:xfrm>
            <a:off x="630000" y="6732000"/>
            <a:ext cx="6300000" cy="792000"/>
          </a:xfrm>
          <a:prstGeom prst="rect">
            <a:avLst/>
          </a:prstGeom>
          <a:noFill/>
          <a:ln/>
        </p:spPr>
        <p:txBody>
          <a:bodyPr wrap="square" lIns="0" tIns="0" rIns="0" bIns="0" rtlCol="0" anchor="t">
            <a:normAutofit/>
          </a:bodyPr>
          <a:lstStyle/>
          <a:p>
            <a:pPr indent="0" marL="0">
              <a:buNone/>
            </a:pPr>
            <a:r>
              <a:rPr lang="en-US" sz="84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840" dirty="0"/>
          </a:p>
          <a:p>
            <a:pPr indent="0" marL="0">
              <a:buNone/>
            </a:pPr>
            <a:r>
              <a:rPr lang="en-US" sz="840" dirty="0">
                <a:solidFill>
                  <a:srgbClr val="1C1C1C"/>
                </a:solidFill>
                <a:latin typeface="Calibri" pitchFamily="34" charset="0"/>
                <a:ea typeface="Calibri" pitchFamily="34" charset="-122"/>
                <a:cs typeface="Calibri" pitchFamily="34" charset="-120"/>
              </a:rPr>
              <a:t>•  sur les documents et informations transmis par le syndicat des copropriétaires ou son représentant ;</a:t>
            </a:r>
            <a:endParaRPr lang="en-US" sz="840" dirty="0"/>
          </a:p>
          <a:p>
            <a:pPr indent="0" marL="0">
              <a:buNone/>
            </a:pPr>
            <a:r>
              <a:rPr lang="en-US" sz="840" dirty="0">
                <a:solidFill>
                  <a:srgbClr val="1C1C1C"/>
                </a:solidFill>
                <a:latin typeface="Calibri" pitchFamily="34" charset="0"/>
                <a:ea typeface="Calibri" pitchFamily="34" charset="-122"/>
                <a:cs typeface="Calibri" pitchFamily="34" charset="-120"/>
              </a:rPr>
              <a:t>•  sur les constatations réalisées lors de la visite des lieux ;</a:t>
            </a:r>
            <a:endParaRPr lang="en-US" sz="840" dirty="0"/>
          </a:p>
          <a:p>
            <a:pPr indent="0" marL="0">
              <a:buNone/>
            </a:pPr>
            <a:r>
              <a:rPr lang="en-US" sz="840" dirty="0">
                <a:solidFill>
                  <a:srgbClr val="1C1C1C"/>
                </a:solidFill>
                <a:latin typeface="Calibri" pitchFamily="34" charset="0"/>
                <a:ea typeface="Calibri" pitchFamily="34" charset="-122"/>
                <a:cs typeface="Calibri" pitchFamily="34" charset="-120"/>
              </a:rPr>
              <a:t>•  sur les éléments visibles et accessibles au moment de l'intervention.</a:t>
            </a:r>
            <a:endParaRPr lang="en-US" sz="840" dirty="0"/>
          </a:p>
        </p:txBody>
      </p:sp>
      <p:sp>
        <p:nvSpPr>
          <p:cNvPr id="15" name="Text 12"/>
          <p:cNvSpPr/>
          <p:nvPr/>
        </p:nvSpPr>
        <p:spPr>
          <a:xfrm>
            <a:off x="630000" y="7632000"/>
            <a:ext cx="6300000" cy="360000"/>
          </a:xfrm>
          <a:prstGeom prst="rect">
            <a:avLst/>
          </a:prstGeom>
          <a:noFill/>
          <a:ln/>
        </p:spPr>
        <p:txBody>
          <a:bodyPr wrap="square" lIns="0" tIns="0" rIns="0" bIns="0" rtlCol="0" anchor="t">
            <a:normAutofit/>
          </a:bodyPr>
          <a:lstStyle/>
          <a:p>
            <a:pPr indent="0" marL="0">
              <a:buNone/>
            </a:pPr>
            <a:r>
              <a:rPr lang="en-US" sz="84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840" dirty="0"/>
          </a:p>
        </p:txBody>
      </p:sp>
      <p:sp>
        <p:nvSpPr>
          <p:cNvPr id="16" name="Text 13"/>
          <p:cNvSpPr/>
          <p:nvPr/>
        </p:nvSpPr>
        <p:spPr>
          <a:xfrm>
            <a:off x="630000" y="8136000"/>
            <a:ext cx="6300000" cy="216000"/>
          </a:xfrm>
          <a:prstGeom prst="rect">
            <a:avLst/>
          </a:prstGeom>
          <a:noFill/>
          <a:ln/>
        </p:spPr>
        <p:txBody>
          <a:bodyPr wrap="square" lIns="0" tIns="0" rIns="0" bIns="0" rtlCol="0" anchor="ctr">
            <a:normAutofit/>
          </a:bodyPr>
          <a:lstStyle/>
          <a:p>
            <a:pPr indent="0" marL="0">
              <a:buNone/>
            </a:pPr>
            <a:r>
              <a:rPr lang="en-US" sz="1110" b="1"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10" dirty="0"/>
          </a:p>
        </p:txBody>
      </p:sp>
      <p:sp>
        <p:nvSpPr>
          <p:cNvPr id="17" name="Text 14"/>
          <p:cNvSpPr/>
          <p:nvPr/>
        </p:nvSpPr>
        <p:spPr>
          <a:xfrm>
            <a:off x="630000" y="8460000"/>
            <a:ext cx="6300000" cy="1332000"/>
          </a:xfrm>
          <a:prstGeom prst="rect">
            <a:avLst/>
          </a:prstGeom>
          <a:noFill/>
          <a:ln/>
        </p:spPr>
        <p:txBody>
          <a:bodyPr wrap="square" lIns="0" tIns="0" rIns="0" bIns="0" rtlCol="0" anchor="t">
            <a:normAutofit/>
          </a:bodyPr>
          <a:lstStyle/>
          <a:p>
            <a:pPr indent="0" marL="0">
              <a:buNone/>
            </a:pPr>
            <a:r>
              <a:rPr lang="en-US" sz="79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790" dirty="0"/>
          </a:p>
          <a:p>
            <a:pPr indent="0" marL="0">
              <a:buNone/>
            </a:pPr>
            <a:r>
              <a:rPr lang="en-US" sz="790" dirty="0">
                <a:solidFill>
                  <a:srgbClr val="1C1C1C"/>
                </a:solidFill>
                <a:latin typeface="Calibri" pitchFamily="34" charset="0"/>
                <a:ea typeface="Calibri" pitchFamily="34" charset="-122"/>
                <a:cs typeface="Calibri" pitchFamily="34" charset="-120"/>
              </a:rPr>
              <a:t>•  les locaux nécessitant un accès spécifique ou l'accompagnement d'une personne habilitée (chaufferie, machinerie d'ascenseur, locaux techniques, postes de transformation, etc.) ;</a:t>
            </a:r>
            <a:endParaRPr lang="en-US" sz="790" dirty="0"/>
          </a:p>
          <a:p>
            <a:pPr indent="0" marL="0">
              <a:buNone/>
            </a:pPr>
            <a:r>
              <a:rPr lang="en-US" sz="790" dirty="0">
                <a:solidFill>
                  <a:srgbClr val="1C1C1C"/>
                </a:solidFill>
                <a:latin typeface="Calibri" pitchFamily="34" charset="0"/>
                <a:ea typeface="Calibri" pitchFamily="34" charset="-122"/>
                <a:cs typeface="Calibri" pitchFamily="34" charset="-120"/>
              </a:rPr>
              <a:t>•  les ouvrages situés à plus de 3 mètres de hauteur lorsqu'aucun moyen d'accès adapté n'était disponible ;</a:t>
            </a:r>
            <a:endParaRPr lang="en-US" sz="790" dirty="0"/>
          </a:p>
          <a:p>
            <a:pPr indent="0" marL="0">
              <a:buNone/>
            </a:pPr>
            <a:r>
              <a:rPr lang="en-US" sz="790" dirty="0">
                <a:solidFill>
                  <a:srgbClr val="1C1C1C"/>
                </a:solidFill>
                <a:latin typeface="Calibri" pitchFamily="34" charset="0"/>
                <a:ea typeface="Calibri" pitchFamily="34" charset="-122"/>
                <a:cs typeface="Calibri" pitchFamily="34" charset="-120"/>
              </a:rPr>
              <a:t>•  les combles perdus, vides sanitaires, volumes confinés ou zones rendues inaccessibles ;</a:t>
            </a:r>
            <a:endParaRPr lang="en-US" sz="790" dirty="0"/>
          </a:p>
          <a:p>
            <a:pPr indent="0" marL="0">
              <a:buNone/>
            </a:pPr>
            <a:r>
              <a:rPr lang="en-US" sz="790" dirty="0">
                <a:solidFill>
                  <a:srgbClr val="1C1C1C"/>
                </a:solidFill>
                <a:latin typeface="Calibri" pitchFamily="34" charset="0"/>
                <a:ea typeface="Calibri" pitchFamily="34" charset="-122"/>
                <a:cs typeface="Calibri" pitchFamily="34" charset="-120"/>
              </a:rPr>
              <a:t>•  les réseaux, canalisations, gaines techniques et structures non visibles ;</a:t>
            </a:r>
            <a:endParaRPr lang="en-US" sz="790" dirty="0"/>
          </a:p>
          <a:p>
            <a:pPr indent="0" marL="0">
              <a:buNone/>
            </a:pPr>
            <a:r>
              <a:rPr lang="en-US" sz="790" dirty="0">
                <a:solidFill>
                  <a:srgbClr val="1C1C1C"/>
                </a:solidFill>
                <a:latin typeface="Calibri" pitchFamily="34" charset="0"/>
                <a:ea typeface="Calibri" pitchFamily="34" charset="-122"/>
                <a:cs typeface="Calibri" pitchFamily="34" charset="-120"/>
              </a:rPr>
              <a:t>•  les éléments situés sous les complexes d'étanchéité ou d'isolation ;</a:t>
            </a:r>
            <a:endParaRPr lang="en-US" sz="790" dirty="0"/>
          </a:p>
          <a:p>
            <a:pPr indent="0" marL="0">
              <a:buNone/>
            </a:pPr>
            <a:r>
              <a:rPr lang="en-US" sz="790" dirty="0">
                <a:solidFill>
                  <a:srgbClr val="1C1C1C"/>
                </a:solidFill>
                <a:latin typeface="Calibri" pitchFamily="34" charset="0"/>
                <a:ea typeface="Calibri" pitchFamily="34" charset="-122"/>
                <a:cs typeface="Calibri" pitchFamily="34" charset="-120"/>
              </a:rPr>
              <a:t>•  les parties dont l'accès présentait un risque pour la sécurité des intervenants.</a:t>
            </a:r>
            <a:endParaRPr lang="en-US" sz="790" dirty="0"/>
          </a:p>
        </p:txBody>
      </p:sp>
      <p:sp>
        <p:nvSpPr>
          <p:cNvPr id="18" name="Text 15"/>
          <p:cNvSpPr/>
          <p:nvPr/>
        </p:nvSpPr>
        <p:spPr>
          <a:xfrm>
            <a:off x="630000" y="9828000"/>
            <a:ext cx="6300000" cy="270000"/>
          </a:xfrm>
          <a:prstGeom prst="rect">
            <a:avLst/>
          </a:prstGeom>
          <a:noFill/>
          <a:ln/>
        </p:spPr>
        <p:txBody>
          <a:bodyPr wrap="square" lIns="0" tIns="0" rIns="0" bIns="0" rtlCol="0" anchor="t">
            <a:normAutofit/>
          </a:bodyPr>
          <a:lstStyle/>
          <a:p>
            <a:pPr indent="0" marL="0">
              <a:buNone/>
            </a:pPr>
            <a:r>
              <a:rPr lang="en-US" sz="79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790" dirty="0"/>
          </a:p>
        </p:txBody>
      </p:sp>
      <p:sp>
        <p:nvSpPr>
          <p:cNvPr id="19" name="Text 1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20" name="Text 1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630000" y="1296000"/>
            <a:ext cx="6300000" cy="324000"/>
          </a:xfrm>
          <a:prstGeom prst="rect">
            <a:avLst/>
          </a:prstGeom>
          <a:noFill/>
          <a:ln/>
        </p:spPr>
        <p:txBody>
          <a:bodyPr wrap="square" lIns="0" tIns="0" rIns="0" bIns="0" rtlCol="0" anchor="ctr">
            <a:normAutofit/>
          </a:bodyPr>
          <a:lstStyle/>
          <a:p>
            <a:pPr indent="0" marL="0">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300" dirty="0"/>
          </a:p>
        </p:txBody>
      </p:sp>
      <p:sp>
        <p:nvSpPr>
          <p:cNvPr id="6" name="Text 3"/>
          <p:cNvSpPr/>
          <p:nvPr/>
        </p:nvSpPr>
        <p:spPr>
          <a:xfrm>
            <a:off x="630000" y="1728000"/>
            <a:ext cx="6300000" cy="792000"/>
          </a:xfrm>
          <a:prstGeom prst="rect">
            <a:avLst/>
          </a:prstGeom>
          <a:noFill/>
          <a:ln/>
        </p:spPr>
        <p:txBody>
          <a:bodyPr wrap="square" lIns="0" tIns="0" rIns="0" bIns="0" rtlCol="0" anchor="t">
            <a:normAutofit/>
          </a:bodyPr>
          <a:lstStyle/>
          <a:p>
            <a:pPr indent="0" marL="0">
              <a:buNone/>
            </a:pPr>
            <a:r>
              <a:rPr lang="en-US" sz="88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à une étude d'exécution.</a:t>
            </a:r>
            <a:endParaRPr lang="en-US" sz="880" dirty="0"/>
          </a:p>
        </p:txBody>
      </p:sp>
      <p:sp>
        <p:nvSpPr>
          <p:cNvPr id="7" name="Text 4"/>
          <p:cNvSpPr/>
          <p:nvPr/>
        </p:nvSpPr>
        <p:spPr>
          <a:xfrm>
            <a:off x="630000" y="2664000"/>
            <a:ext cx="6300000" cy="648000"/>
          </a:xfrm>
          <a:prstGeom prst="rect">
            <a:avLst/>
          </a:prstGeom>
          <a:noFill/>
          <a:ln/>
        </p:spPr>
        <p:txBody>
          <a:bodyPr wrap="square" lIns="0" tIns="0" rIns="0" bIns="0" rtlCol="0" anchor="t">
            <a:normAutofit/>
          </a:bodyPr>
          <a:lstStyle/>
          <a:p>
            <a:pPr indent="0" marL="0">
              <a:buNone/>
            </a:pPr>
            <a:r>
              <a:rPr lang="en-US" sz="88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880" dirty="0"/>
          </a:p>
        </p:txBody>
      </p:sp>
      <p:sp>
        <p:nvSpPr>
          <p:cNvPr id="8" name="Text 5"/>
          <p:cNvSpPr/>
          <p:nvPr/>
        </p:nvSpPr>
        <p:spPr>
          <a:xfrm>
            <a:off x="630000" y="3456000"/>
            <a:ext cx="6300000" cy="396000"/>
          </a:xfrm>
          <a:prstGeom prst="rect">
            <a:avLst/>
          </a:prstGeom>
          <a:noFill/>
          <a:ln/>
        </p:spPr>
        <p:txBody>
          <a:bodyPr wrap="square" lIns="0" tIns="0" rIns="0" bIns="0" rtlCol="0" anchor="t">
            <a:normAutofit/>
          </a:bodyPr>
          <a:lstStyle/>
          <a:p>
            <a:pPr indent="0" marL="0">
              <a:buNone/>
            </a:pPr>
            <a:r>
              <a:rPr lang="en-US" sz="88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880" dirty="0"/>
          </a:p>
        </p:txBody>
      </p:sp>
      <p:sp>
        <p:nvSpPr>
          <p:cNvPr id="9" name="Text 6"/>
          <p:cNvSpPr/>
          <p:nvPr/>
        </p:nvSpPr>
        <p:spPr>
          <a:xfrm>
            <a:off x="630000" y="3960000"/>
            <a:ext cx="6300000" cy="324000"/>
          </a:xfrm>
          <a:prstGeom prst="rect">
            <a:avLst/>
          </a:prstGeom>
          <a:noFill/>
          <a:ln/>
        </p:spPr>
        <p:txBody>
          <a:bodyPr wrap="square" lIns="0" tIns="0" rIns="0" bIns="0" rtlCol="0" anchor="ctr">
            <a:normAutofit/>
          </a:bodyPr>
          <a:lstStyle/>
          <a:p>
            <a:pPr indent="0" marL="0">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300" dirty="0"/>
          </a:p>
        </p:txBody>
      </p:sp>
      <p:sp>
        <p:nvSpPr>
          <p:cNvPr id="10" name="Shape 7"/>
          <p:cNvSpPr/>
          <p:nvPr/>
        </p:nvSpPr>
        <p:spPr>
          <a:xfrm>
            <a:off x="540000" y="4536000"/>
            <a:ext cx="1800000" cy="864000"/>
          </a:xfrm>
          <a:prstGeom prst="rect">
            <a:avLst/>
          </a:prstGeom>
          <a:solidFill>
            <a:srgbClr val="FFFFFF"/>
          </a:solidFill>
          <a:ln w="10160">
            <a:solidFill>
              <a:srgbClr val="242424"/>
            </a:solidFill>
            <a:prstDash val="solid"/>
          </a:ln>
        </p:spPr>
      </p:sp>
      <p:sp>
        <p:nvSpPr>
          <p:cNvPr id="11" name="Shape 8"/>
          <p:cNvSpPr/>
          <p:nvPr/>
        </p:nvSpPr>
        <p:spPr>
          <a:xfrm>
            <a:off x="2340000" y="4536000"/>
            <a:ext cx="3600000" cy="864000"/>
          </a:xfrm>
          <a:prstGeom prst="rect">
            <a:avLst/>
          </a:prstGeom>
          <a:solidFill>
            <a:srgbClr val="FFFFFF"/>
          </a:solidFill>
          <a:ln w="10160">
            <a:solidFill>
              <a:srgbClr val="242424"/>
            </a:solidFill>
            <a:prstDash val="solid"/>
          </a:ln>
        </p:spPr>
      </p:sp>
      <p:sp>
        <p:nvSpPr>
          <p:cNvPr id="12" name="Shape 9"/>
          <p:cNvSpPr/>
          <p:nvPr/>
        </p:nvSpPr>
        <p:spPr>
          <a:xfrm>
            <a:off x="5940000" y="4536000"/>
            <a:ext cx="1083600" cy="864000"/>
          </a:xfrm>
          <a:prstGeom prst="rect">
            <a:avLst/>
          </a:prstGeom>
          <a:solidFill>
            <a:srgbClr val="FFFFFF"/>
          </a:solidFill>
          <a:ln w="10160">
            <a:solidFill>
              <a:srgbClr val="242424"/>
            </a:solidFill>
            <a:prstDash val="solid"/>
          </a:ln>
        </p:spPr>
      </p:sp>
      <p:sp>
        <p:nvSpPr>
          <p:cNvPr id="13" name="Shape 10"/>
          <p:cNvSpPr/>
          <p:nvPr/>
        </p:nvSpPr>
        <p:spPr>
          <a:xfrm>
            <a:off x="702000" y="4658400"/>
            <a:ext cx="1476000" cy="619200"/>
          </a:xfrm>
          <a:prstGeom prst="homePlate">
            <a:avLst/>
          </a:prstGeom>
          <a:solidFill>
            <a:srgbClr val="5DCCCC"/>
          </a:solidFill>
          <a:ln w="8890">
            <a:solidFill>
              <a:srgbClr val="242424"/>
            </a:solidFill>
            <a:prstDash val="solid"/>
          </a:ln>
        </p:spPr>
      </p:sp>
      <p:sp>
        <p:nvSpPr>
          <p:cNvPr id="14" name="Text 11"/>
          <p:cNvSpPr/>
          <p:nvPr/>
        </p:nvSpPr>
        <p:spPr>
          <a:xfrm>
            <a:off x="738000" y="4716000"/>
            <a:ext cx="1242000" cy="50400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Calibri" pitchFamily="34" charset="0"/>
                <a:ea typeface="Calibri" pitchFamily="34" charset="-122"/>
                <a:cs typeface="Calibri" pitchFamily="34" charset="-120"/>
              </a:rPr>
              <a:t>Entretien</a:t>
            </a:r>
            <a:endParaRPr lang="en-US" sz="920" dirty="0"/>
          </a:p>
        </p:txBody>
      </p:sp>
      <p:sp>
        <p:nvSpPr>
          <p:cNvPr id="15" name="Text 12"/>
          <p:cNvSpPr/>
          <p:nvPr/>
        </p:nvSpPr>
        <p:spPr>
          <a:xfrm>
            <a:off x="2412000" y="4575600"/>
            <a:ext cx="3456000" cy="169200"/>
          </a:xfrm>
          <a:prstGeom prst="rect">
            <a:avLst/>
          </a:prstGeom>
          <a:noFill/>
          <a:ln/>
        </p:spPr>
        <p:txBody>
          <a:bodyPr wrap="square" lIns="0" tIns="0" rIns="0" bIns="0" rtlCol="0" anchor="ctr">
            <a:normAutofit/>
          </a:bodyPr>
          <a:lstStyle/>
          <a:p>
            <a:pPr algn="ctr" indent="0" marL="0">
              <a:buNone/>
            </a:pPr>
            <a:r>
              <a:rPr lang="en-US" sz="1010" b="1" dirty="0">
                <a:solidFill>
                  <a:srgbClr val="1C1C1C"/>
                </a:solidFill>
                <a:latin typeface="Calibri" pitchFamily="34" charset="0"/>
                <a:ea typeface="Calibri" pitchFamily="34" charset="-122"/>
                <a:cs typeface="Calibri" pitchFamily="34" charset="-120"/>
              </a:rPr>
              <a:t>Entretien</a:t>
            </a:r>
            <a:endParaRPr lang="en-US" sz="1010" dirty="0"/>
          </a:p>
        </p:txBody>
      </p:sp>
      <p:sp>
        <p:nvSpPr>
          <p:cNvPr id="16" name="Text 13"/>
          <p:cNvSpPr/>
          <p:nvPr/>
        </p:nvSpPr>
        <p:spPr>
          <a:xfrm>
            <a:off x="2412000" y="4755600"/>
            <a:ext cx="3456000" cy="604800"/>
          </a:xfrm>
          <a:prstGeom prst="rect">
            <a:avLst/>
          </a:prstGeom>
          <a:noFill/>
          <a:ln/>
        </p:spPr>
        <p:txBody>
          <a:bodyPr wrap="square" lIns="0" tIns="0" rIns="0" bIns="0" rtlCol="0" anchor="t">
            <a:normAutofit/>
          </a:bodyPr>
          <a:lstStyle/>
          <a:p>
            <a:pPr indent="0" marL="0">
              <a:buNone/>
            </a:pPr>
            <a:r>
              <a:rPr lang="en-US" sz="93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930" dirty="0"/>
          </a:p>
        </p:txBody>
      </p:sp>
      <p:sp>
        <p:nvSpPr>
          <p:cNvPr id="17" name="Text 14"/>
          <p:cNvSpPr/>
          <p:nvPr/>
        </p:nvSpPr>
        <p:spPr>
          <a:xfrm>
            <a:off x="5994000" y="4608000"/>
            <a:ext cx="975600" cy="720000"/>
          </a:xfrm>
          <a:prstGeom prst="rect">
            <a:avLst/>
          </a:prstGeom>
          <a:noFill/>
          <a:ln/>
        </p:spPr>
        <p:txBody>
          <a:bodyPr wrap="square" lIns="0" tIns="0" rIns="0" bIns="0" rtlCol="0" anchor="ctr">
            <a:normAutofit/>
          </a:bodyPr>
          <a:lstStyle/>
          <a:p>
            <a:pPr algn="ctr" indent="0" marL="0">
              <a:buNone/>
            </a:pPr>
            <a:r>
              <a:rPr lang="en-US" sz="910" dirty="0">
                <a:solidFill>
                  <a:srgbClr val="1C1C1C"/>
                </a:solidFill>
                <a:latin typeface="Calibri" pitchFamily="34" charset="0"/>
                <a:ea typeface="Calibri" pitchFamily="34" charset="-122"/>
                <a:cs typeface="Calibri" pitchFamily="34" charset="-120"/>
              </a:rPr>
              <a:t>Hors PPPT</a:t>
            </a:r>
            <a:endParaRPr lang="en-US" sz="910" dirty="0"/>
          </a:p>
          <a:p>
            <a:pPr algn="ctr" indent="0" marL="0">
              <a:buNone/>
            </a:pPr>
            <a:r>
              <a:rPr lang="en-US" sz="910" dirty="0">
                <a:solidFill>
                  <a:srgbClr val="1C1C1C"/>
                </a:solidFill>
                <a:latin typeface="Calibri" pitchFamily="34" charset="0"/>
                <a:ea typeface="Calibri" pitchFamily="34" charset="-122"/>
                <a:cs typeface="Calibri" pitchFamily="34" charset="-120"/>
              </a:rPr>
              <a:t>(à titre informatif)</a:t>
            </a:r>
            <a:endParaRPr lang="en-US" sz="910" dirty="0"/>
          </a:p>
        </p:txBody>
      </p:sp>
      <p:sp>
        <p:nvSpPr>
          <p:cNvPr id="18" name="Shape 15"/>
          <p:cNvSpPr/>
          <p:nvPr/>
        </p:nvSpPr>
        <p:spPr>
          <a:xfrm>
            <a:off x="540000" y="5400000"/>
            <a:ext cx="1800000" cy="864000"/>
          </a:xfrm>
          <a:prstGeom prst="rect">
            <a:avLst/>
          </a:prstGeom>
          <a:solidFill>
            <a:srgbClr val="FFFFFF"/>
          </a:solidFill>
          <a:ln w="10160">
            <a:solidFill>
              <a:srgbClr val="242424"/>
            </a:solidFill>
            <a:prstDash val="solid"/>
          </a:ln>
        </p:spPr>
      </p:sp>
      <p:sp>
        <p:nvSpPr>
          <p:cNvPr id="19" name="Shape 16"/>
          <p:cNvSpPr/>
          <p:nvPr/>
        </p:nvSpPr>
        <p:spPr>
          <a:xfrm>
            <a:off x="2340000" y="5400000"/>
            <a:ext cx="3600000" cy="864000"/>
          </a:xfrm>
          <a:prstGeom prst="rect">
            <a:avLst/>
          </a:prstGeom>
          <a:solidFill>
            <a:srgbClr val="FFFFFF"/>
          </a:solidFill>
          <a:ln w="10160">
            <a:solidFill>
              <a:srgbClr val="242424"/>
            </a:solidFill>
            <a:prstDash val="solid"/>
          </a:ln>
        </p:spPr>
      </p:sp>
      <p:sp>
        <p:nvSpPr>
          <p:cNvPr id="20" name="Shape 17"/>
          <p:cNvSpPr/>
          <p:nvPr/>
        </p:nvSpPr>
        <p:spPr>
          <a:xfrm>
            <a:off x="5940000" y="5400000"/>
            <a:ext cx="1083600" cy="864000"/>
          </a:xfrm>
          <a:prstGeom prst="rect">
            <a:avLst/>
          </a:prstGeom>
          <a:solidFill>
            <a:srgbClr val="FFFFFF"/>
          </a:solidFill>
          <a:ln w="10160">
            <a:solidFill>
              <a:srgbClr val="242424"/>
            </a:solidFill>
            <a:prstDash val="solid"/>
          </a:ln>
        </p:spPr>
      </p:sp>
      <p:sp>
        <p:nvSpPr>
          <p:cNvPr id="21" name="Shape 18"/>
          <p:cNvSpPr/>
          <p:nvPr/>
        </p:nvSpPr>
        <p:spPr>
          <a:xfrm>
            <a:off x="702000" y="5522400"/>
            <a:ext cx="1476000" cy="619200"/>
          </a:xfrm>
          <a:prstGeom prst="homePlate">
            <a:avLst/>
          </a:prstGeom>
          <a:solidFill>
            <a:srgbClr val="006FC0"/>
          </a:solidFill>
          <a:ln w="8890">
            <a:solidFill>
              <a:srgbClr val="242424"/>
            </a:solidFill>
            <a:prstDash val="solid"/>
          </a:ln>
        </p:spPr>
      </p:sp>
      <p:sp>
        <p:nvSpPr>
          <p:cNvPr id="22" name="Text 19"/>
          <p:cNvSpPr/>
          <p:nvPr/>
        </p:nvSpPr>
        <p:spPr>
          <a:xfrm>
            <a:off x="738000" y="5580000"/>
            <a:ext cx="1242000" cy="50400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Calibri" pitchFamily="34" charset="0"/>
                <a:ea typeface="Calibri" pitchFamily="34" charset="-122"/>
                <a:cs typeface="Calibri" pitchFamily="34" charset="-120"/>
              </a:rPr>
              <a:t>Signalement</a:t>
            </a:r>
            <a:endParaRPr lang="en-US" sz="920" dirty="0"/>
          </a:p>
        </p:txBody>
      </p:sp>
      <p:sp>
        <p:nvSpPr>
          <p:cNvPr id="23" name="Text 20"/>
          <p:cNvSpPr/>
          <p:nvPr/>
        </p:nvSpPr>
        <p:spPr>
          <a:xfrm>
            <a:off x="2412000" y="5439600"/>
            <a:ext cx="3456000" cy="169200"/>
          </a:xfrm>
          <a:prstGeom prst="rect">
            <a:avLst/>
          </a:prstGeom>
          <a:noFill/>
          <a:ln/>
        </p:spPr>
        <p:txBody>
          <a:bodyPr wrap="square" lIns="0" tIns="0" rIns="0" bIns="0" rtlCol="0" anchor="ctr">
            <a:normAutofit/>
          </a:bodyPr>
          <a:lstStyle/>
          <a:p>
            <a:pPr algn="ctr" indent="0" marL="0">
              <a:buNone/>
            </a:pPr>
            <a:r>
              <a:rPr lang="en-US" sz="1010" b="1" dirty="0">
                <a:solidFill>
                  <a:srgbClr val="1C1C1C"/>
                </a:solidFill>
                <a:latin typeface="Calibri" pitchFamily="34" charset="0"/>
                <a:ea typeface="Calibri" pitchFamily="34" charset="-122"/>
                <a:cs typeface="Calibri" pitchFamily="34" charset="-120"/>
              </a:rPr>
              <a:t>Signalements</a:t>
            </a:r>
            <a:endParaRPr lang="en-US" sz="1010" dirty="0"/>
          </a:p>
        </p:txBody>
      </p:sp>
      <p:sp>
        <p:nvSpPr>
          <p:cNvPr id="24" name="Text 21"/>
          <p:cNvSpPr/>
          <p:nvPr/>
        </p:nvSpPr>
        <p:spPr>
          <a:xfrm>
            <a:off x="2412000" y="5619600"/>
            <a:ext cx="3456000" cy="604800"/>
          </a:xfrm>
          <a:prstGeom prst="rect">
            <a:avLst/>
          </a:prstGeom>
          <a:noFill/>
          <a:ln/>
        </p:spPr>
        <p:txBody>
          <a:bodyPr wrap="square" lIns="0" tIns="0" rIns="0" bIns="0" rtlCol="0" anchor="t">
            <a:normAutofit/>
          </a:bodyPr>
          <a:lstStyle/>
          <a:p>
            <a:pPr indent="0" marL="0">
              <a:buNone/>
            </a:pPr>
            <a:r>
              <a:rPr lang="en-US" sz="93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930" dirty="0"/>
          </a:p>
        </p:txBody>
      </p:sp>
      <p:sp>
        <p:nvSpPr>
          <p:cNvPr id="25" name="Text 22"/>
          <p:cNvSpPr/>
          <p:nvPr/>
        </p:nvSpPr>
        <p:spPr>
          <a:xfrm>
            <a:off x="5994000" y="5472000"/>
            <a:ext cx="975600" cy="720000"/>
          </a:xfrm>
          <a:prstGeom prst="rect">
            <a:avLst/>
          </a:prstGeom>
          <a:noFill/>
          <a:ln/>
        </p:spPr>
        <p:txBody>
          <a:bodyPr wrap="square" lIns="0" tIns="0" rIns="0" bIns="0" rtlCol="0" anchor="ctr">
            <a:normAutofit/>
          </a:bodyPr>
          <a:lstStyle/>
          <a:p>
            <a:pPr algn="ctr" indent="0" marL="0">
              <a:buNone/>
            </a:pPr>
            <a:r>
              <a:rPr lang="en-US" sz="910" dirty="0">
                <a:solidFill>
                  <a:srgbClr val="1C1C1C"/>
                </a:solidFill>
                <a:latin typeface="Calibri" pitchFamily="34" charset="0"/>
                <a:ea typeface="Calibri" pitchFamily="34" charset="-122"/>
                <a:cs typeface="Calibri" pitchFamily="34" charset="-120"/>
              </a:rPr>
              <a:t>Hors PPPT</a:t>
            </a:r>
            <a:endParaRPr lang="en-US" sz="910" dirty="0"/>
          </a:p>
          <a:p>
            <a:pPr algn="ctr" indent="0" marL="0">
              <a:buNone/>
            </a:pPr>
            <a:r>
              <a:rPr lang="en-US" sz="910" dirty="0">
                <a:solidFill>
                  <a:srgbClr val="1C1C1C"/>
                </a:solidFill>
                <a:latin typeface="Calibri" pitchFamily="34" charset="0"/>
                <a:ea typeface="Calibri" pitchFamily="34" charset="-122"/>
                <a:cs typeface="Calibri" pitchFamily="34" charset="-120"/>
              </a:rPr>
              <a:t>(à titre informatif)</a:t>
            </a:r>
            <a:endParaRPr lang="en-US" sz="910" dirty="0"/>
          </a:p>
        </p:txBody>
      </p:sp>
      <p:sp>
        <p:nvSpPr>
          <p:cNvPr id="26" name="Shape 23"/>
          <p:cNvSpPr/>
          <p:nvPr/>
        </p:nvSpPr>
        <p:spPr>
          <a:xfrm>
            <a:off x="540000" y="6498000"/>
            <a:ext cx="1800000" cy="738000"/>
          </a:xfrm>
          <a:prstGeom prst="rect">
            <a:avLst/>
          </a:prstGeom>
          <a:solidFill>
            <a:srgbClr val="FFFFFF"/>
          </a:solidFill>
          <a:ln w="10160">
            <a:solidFill>
              <a:srgbClr val="242424"/>
            </a:solidFill>
            <a:prstDash val="solid"/>
          </a:ln>
        </p:spPr>
      </p:sp>
      <p:sp>
        <p:nvSpPr>
          <p:cNvPr id="27" name="Shape 24"/>
          <p:cNvSpPr/>
          <p:nvPr/>
        </p:nvSpPr>
        <p:spPr>
          <a:xfrm>
            <a:off x="2340000" y="6498000"/>
            <a:ext cx="3600000" cy="738000"/>
          </a:xfrm>
          <a:prstGeom prst="rect">
            <a:avLst/>
          </a:prstGeom>
          <a:solidFill>
            <a:srgbClr val="FFFFFF"/>
          </a:solidFill>
          <a:ln w="10160">
            <a:solidFill>
              <a:srgbClr val="242424"/>
            </a:solidFill>
            <a:prstDash val="solid"/>
          </a:ln>
        </p:spPr>
      </p:sp>
      <p:sp>
        <p:nvSpPr>
          <p:cNvPr id="28" name="Shape 25"/>
          <p:cNvSpPr/>
          <p:nvPr/>
        </p:nvSpPr>
        <p:spPr>
          <a:xfrm>
            <a:off x="5940000" y="6498000"/>
            <a:ext cx="1083600" cy="738000"/>
          </a:xfrm>
          <a:prstGeom prst="rect">
            <a:avLst/>
          </a:prstGeom>
          <a:solidFill>
            <a:srgbClr val="FFFFFF"/>
          </a:solidFill>
          <a:ln w="10160">
            <a:solidFill>
              <a:srgbClr val="242424"/>
            </a:solidFill>
            <a:prstDash val="solid"/>
          </a:ln>
        </p:spPr>
      </p:sp>
      <p:sp>
        <p:nvSpPr>
          <p:cNvPr id="29" name="Shape 26"/>
          <p:cNvSpPr/>
          <p:nvPr/>
        </p:nvSpPr>
        <p:spPr>
          <a:xfrm>
            <a:off x="702000" y="6620400"/>
            <a:ext cx="1476000" cy="493200"/>
          </a:xfrm>
          <a:prstGeom prst="homePlate">
            <a:avLst/>
          </a:prstGeom>
          <a:solidFill>
            <a:srgbClr val="D02334"/>
          </a:solidFill>
          <a:ln w="8890">
            <a:solidFill>
              <a:srgbClr val="242424"/>
            </a:solidFill>
            <a:prstDash val="solid"/>
          </a:ln>
        </p:spPr>
      </p:sp>
      <p:sp>
        <p:nvSpPr>
          <p:cNvPr id="30" name="Text 27"/>
          <p:cNvSpPr/>
          <p:nvPr/>
        </p:nvSpPr>
        <p:spPr>
          <a:xfrm>
            <a:off x="738000" y="6678000"/>
            <a:ext cx="1242000" cy="37800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Calibri" pitchFamily="34" charset="0"/>
                <a:ea typeface="Calibri" pitchFamily="34" charset="-122"/>
                <a:cs typeface="Calibri" pitchFamily="34" charset="-120"/>
              </a:rPr>
              <a:t>Curatif Niveau 1</a:t>
            </a:r>
            <a:endParaRPr lang="en-US" sz="920" dirty="0"/>
          </a:p>
        </p:txBody>
      </p:sp>
      <p:sp>
        <p:nvSpPr>
          <p:cNvPr id="31" name="Text 28"/>
          <p:cNvSpPr/>
          <p:nvPr/>
        </p:nvSpPr>
        <p:spPr>
          <a:xfrm>
            <a:off x="2412000" y="6537600"/>
            <a:ext cx="3456000" cy="169200"/>
          </a:xfrm>
          <a:prstGeom prst="rect">
            <a:avLst/>
          </a:prstGeom>
          <a:noFill/>
          <a:ln/>
        </p:spPr>
        <p:txBody>
          <a:bodyPr wrap="square" lIns="0" tIns="0" rIns="0" bIns="0" rtlCol="0" anchor="ctr">
            <a:normAutofit/>
          </a:bodyPr>
          <a:lstStyle/>
          <a:p>
            <a:pPr algn="ctr" indent="0" marL="0">
              <a:buNone/>
            </a:pPr>
            <a:r>
              <a:rPr lang="en-US" sz="1010" b="1" dirty="0">
                <a:solidFill>
                  <a:srgbClr val="1C1C1C"/>
                </a:solidFill>
                <a:latin typeface="Calibri" pitchFamily="34" charset="0"/>
                <a:ea typeface="Calibri" pitchFamily="34" charset="-122"/>
                <a:cs typeface="Calibri" pitchFamily="34" charset="-120"/>
              </a:rPr>
              <a:t>Travaux prioritaires</a:t>
            </a:r>
            <a:endParaRPr lang="en-US" sz="1010" dirty="0"/>
          </a:p>
        </p:txBody>
      </p:sp>
      <p:sp>
        <p:nvSpPr>
          <p:cNvPr id="32" name="Text 29"/>
          <p:cNvSpPr/>
          <p:nvPr/>
        </p:nvSpPr>
        <p:spPr>
          <a:xfrm>
            <a:off x="2412000" y="6717600"/>
            <a:ext cx="3456000" cy="478800"/>
          </a:xfrm>
          <a:prstGeom prst="rect">
            <a:avLst/>
          </a:prstGeom>
          <a:noFill/>
          <a:ln/>
        </p:spPr>
        <p:txBody>
          <a:bodyPr wrap="square" lIns="0" tIns="0" rIns="0" bIns="0" rtlCol="0" anchor="t">
            <a:normAutofit/>
          </a:bodyPr>
          <a:lstStyle/>
          <a:p>
            <a:pPr indent="0" marL="0">
              <a:buNone/>
            </a:pPr>
            <a:r>
              <a:rPr lang="en-US" sz="93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930" dirty="0"/>
          </a:p>
        </p:txBody>
      </p:sp>
      <p:sp>
        <p:nvSpPr>
          <p:cNvPr id="33" name="Text 30"/>
          <p:cNvSpPr/>
          <p:nvPr/>
        </p:nvSpPr>
        <p:spPr>
          <a:xfrm>
            <a:off x="5994000" y="6570000"/>
            <a:ext cx="975600" cy="187200"/>
          </a:xfrm>
          <a:prstGeom prst="rect">
            <a:avLst/>
          </a:prstGeom>
          <a:noFill/>
          <a:ln/>
        </p:spPr>
        <p:txBody>
          <a:bodyPr wrap="square" lIns="0" tIns="0" rIns="0" bIns="0" rtlCol="0" anchor="ctr">
            <a:normAutofit/>
          </a:bodyPr>
          <a:lstStyle/>
          <a:p>
            <a:pPr algn="ctr" indent="0" marL="0">
              <a:buNone/>
            </a:pPr>
            <a:r>
              <a:rPr lang="en-US" sz="890" b="1" dirty="0">
                <a:solidFill>
                  <a:srgbClr val="1C1C1C"/>
                </a:solidFill>
                <a:latin typeface="Calibri" pitchFamily="34" charset="0"/>
                <a:ea typeface="Calibri" pitchFamily="34" charset="-122"/>
                <a:cs typeface="Calibri" pitchFamily="34" charset="-120"/>
              </a:rPr>
              <a:t>Travaux à effectuer</a:t>
            </a:r>
            <a:endParaRPr lang="en-US" sz="890" dirty="0"/>
          </a:p>
        </p:txBody>
      </p:sp>
      <p:sp>
        <p:nvSpPr>
          <p:cNvPr id="34" name="Text 31"/>
          <p:cNvSpPr/>
          <p:nvPr/>
        </p:nvSpPr>
        <p:spPr>
          <a:xfrm>
            <a:off x="5994000" y="6786000"/>
            <a:ext cx="975600" cy="421200"/>
          </a:xfrm>
          <a:prstGeom prst="rect">
            <a:avLst/>
          </a:prstGeom>
          <a:noFill/>
          <a:ln/>
        </p:spPr>
        <p:txBody>
          <a:bodyPr wrap="square" lIns="0" tIns="0" rIns="0" bIns="0" rtlCol="0" anchor="ctr">
            <a:normAutofit/>
          </a:bodyPr>
          <a:lstStyle/>
          <a:p>
            <a:pPr algn="ctr" indent="0" marL="0">
              <a:buNone/>
            </a:pPr>
            <a:r>
              <a:rPr lang="en-US" sz="910" dirty="0">
                <a:solidFill>
                  <a:srgbClr val="1C1C1C"/>
                </a:solidFill>
                <a:latin typeface="Calibri" pitchFamily="34" charset="0"/>
                <a:ea typeface="Calibri" pitchFamily="34" charset="-122"/>
                <a:cs typeface="Calibri" pitchFamily="34" charset="-120"/>
              </a:rPr>
              <a:t>Sous 2 ans</a:t>
            </a:r>
            <a:endParaRPr lang="en-US" sz="910" dirty="0"/>
          </a:p>
        </p:txBody>
      </p:sp>
      <p:sp>
        <p:nvSpPr>
          <p:cNvPr id="35" name="Shape 32"/>
          <p:cNvSpPr/>
          <p:nvPr/>
        </p:nvSpPr>
        <p:spPr>
          <a:xfrm>
            <a:off x="540000" y="7236000"/>
            <a:ext cx="1800000" cy="738000"/>
          </a:xfrm>
          <a:prstGeom prst="rect">
            <a:avLst/>
          </a:prstGeom>
          <a:solidFill>
            <a:srgbClr val="FFFFFF"/>
          </a:solidFill>
          <a:ln w="10160">
            <a:solidFill>
              <a:srgbClr val="242424"/>
            </a:solidFill>
            <a:prstDash val="solid"/>
          </a:ln>
        </p:spPr>
      </p:sp>
      <p:sp>
        <p:nvSpPr>
          <p:cNvPr id="36" name="Shape 33"/>
          <p:cNvSpPr/>
          <p:nvPr/>
        </p:nvSpPr>
        <p:spPr>
          <a:xfrm>
            <a:off x="2340000" y="7236000"/>
            <a:ext cx="3600000" cy="738000"/>
          </a:xfrm>
          <a:prstGeom prst="rect">
            <a:avLst/>
          </a:prstGeom>
          <a:solidFill>
            <a:srgbClr val="FFFFFF"/>
          </a:solidFill>
          <a:ln w="10160">
            <a:solidFill>
              <a:srgbClr val="242424"/>
            </a:solidFill>
            <a:prstDash val="solid"/>
          </a:ln>
        </p:spPr>
      </p:sp>
      <p:sp>
        <p:nvSpPr>
          <p:cNvPr id="37" name="Shape 34"/>
          <p:cNvSpPr/>
          <p:nvPr/>
        </p:nvSpPr>
        <p:spPr>
          <a:xfrm>
            <a:off x="5940000" y="7236000"/>
            <a:ext cx="1083600" cy="738000"/>
          </a:xfrm>
          <a:prstGeom prst="rect">
            <a:avLst/>
          </a:prstGeom>
          <a:solidFill>
            <a:srgbClr val="FFFFFF"/>
          </a:solidFill>
          <a:ln w="10160">
            <a:solidFill>
              <a:srgbClr val="242424"/>
            </a:solidFill>
            <a:prstDash val="solid"/>
          </a:ln>
        </p:spPr>
      </p:sp>
      <p:sp>
        <p:nvSpPr>
          <p:cNvPr id="38" name="Shape 35"/>
          <p:cNvSpPr/>
          <p:nvPr/>
        </p:nvSpPr>
        <p:spPr>
          <a:xfrm>
            <a:off x="702000" y="7358400"/>
            <a:ext cx="1476000" cy="493200"/>
          </a:xfrm>
          <a:prstGeom prst="homePlate">
            <a:avLst/>
          </a:prstGeom>
          <a:solidFill>
            <a:srgbClr val="E96620"/>
          </a:solidFill>
          <a:ln w="8890">
            <a:solidFill>
              <a:srgbClr val="242424"/>
            </a:solidFill>
            <a:prstDash val="solid"/>
          </a:ln>
        </p:spPr>
      </p:sp>
      <p:sp>
        <p:nvSpPr>
          <p:cNvPr id="39" name="Text 36"/>
          <p:cNvSpPr/>
          <p:nvPr/>
        </p:nvSpPr>
        <p:spPr>
          <a:xfrm>
            <a:off x="738000" y="7416000"/>
            <a:ext cx="1242000" cy="37800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Calibri" pitchFamily="34" charset="0"/>
                <a:ea typeface="Calibri" pitchFamily="34" charset="-122"/>
                <a:cs typeface="Calibri" pitchFamily="34" charset="-120"/>
              </a:rPr>
              <a:t>Curatif Niveau 2</a:t>
            </a:r>
            <a:endParaRPr lang="en-US" sz="920" dirty="0"/>
          </a:p>
        </p:txBody>
      </p:sp>
      <p:sp>
        <p:nvSpPr>
          <p:cNvPr id="40" name="Text 37"/>
          <p:cNvSpPr/>
          <p:nvPr/>
        </p:nvSpPr>
        <p:spPr>
          <a:xfrm>
            <a:off x="2412000" y="7275600"/>
            <a:ext cx="3456000" cy="169200"/>
          </a:xfrm>
          <a:prstGeom prst="rect">
            <a:avLst/>
          </a:prstGeom>
          <a:noFill/>
          <a:ln/>
        </p:spPr>
        <p:txBody>
          <a:bodyPr wrap="square" lIns="0" tIns="0" rIns="0" bIns="0" rtlCol="0" anchor="ctr">
            <a:normAutofit/>
          </a:bodyPr>
          <a:lstStyle/>
          <a:p>
            <a:pPr algn="ctr" indent="0" marL="0">
              <a:buNone/>
            </a:pPr>
            <a:r>
              <a:rPr lang="en-US" sz="1010" b="1" dirty="0">
                <a:solidFill>
                  <a:srgbClr val="1C1C1C"/>
                </a:solidFill>
                <a:latin typeface="Calibri" pitchFamily="34" charset="0"/>
                <a:ea typeface="Calibri" pitchFamily="34" charset="-122"/>
                <a:cs typeface="Calibri" pitchFamily="34" charset="-120"/>
              </a:rPr>
              <a:t>Travaux à moyen terme</a:t>
            </a:r>
            <a:endParaRPr lang="en-US" sz="1010" dirty="0"/>
          </a:p>
        </p:txBody>
      </p:sp>
      <p:sp>
        <p:nvSpPr>
          <p:cNvPr id="41" name="Text 38"/>
          <p:cNvSpPr/>
          <p:nvPr/>
        </p:nvSpPr>
        <p:spPr>
          <a:xfrm>
            <a:off x="2412000" y="7455600"/>
            <a:ext cx="3456000" cy="478800"/>
          </a:xfrm>
          <a:prstGeom prst="rect">
            <a:avLst/>
          </a:prstGeom>
          <a:noFill/>
          <a:ln/>
        </p:spPr>
        <p:txBody>
          <a:bodyPr wrap="square" lIns="0" tIns="0" rIns="0" bIns="0" rtlCol="0" anchor="t">
            <a:normAutofit/>
          </a:bodyPr>
          <a:lstStyle/>
          <a:p>
            <a:pPr indent="0" marL="0">
              <a:buNone/>
            </a:pPr>
            <a:r>
              <a:rPr lang="en-US" sz="93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930" dirty="0"/>
          </a:p>
        </p:txBody>
      </p:sp>
      <p:sp>
        <p:nvSpPr>
          <p:cNvPr id="42" name="Text 39"/>
          <p:cNvSpPr/>
          <p:nvPr/>
        </p:nvSpPr>
        <p:spPr>
          <a:xfrm>
            <a:off x="5994000" y="7308000"/>
            <a:ext cx="975600" cy="187200"/>
          </a:xfrm>
          <a:prstGeom prst="rect">
            <a:avLst/>
          </a:prstGeom>
          <a:noFill/>
          <a:ln/>
        </p:spPr>
        <p:txBody>
          <a:bodyPr wrap="square" lIns="0" tIns="0" rIns="0" bIns="0" rtlCol="0" anchor="ctr">
            <a:normAutofit/>
          </a:bodyPr>
          <a:lstStyle/>
          <a:p>
            <a:pPr algn="ctr" indent="0" marL="0">
              <a:buNone/>
            </a:pPr>
            <a:r>
              <a:rPr lang="en-US" sz="890" b="1" dirty="0">
                <a:solidFill>
                  <a:srgbClr val="1C1C1C"/>
                </a:solidFill>
                <a:latin typeface="Calibri" pitchFamily="34" charset="0"/>
                <a:ea typeface="Calibri" pitchFamily="34" charset="-122"/>
                <a:cs typeface="Calibri" pitchFamily="34" charset="-120"/>
              </a:rPr>
              <a:t>Travaux à effectuer</a:t>
            </a:r>
            <a:endParaRPr lang="en-US" sz="890" dirty="0"/>
          </a:p>
        </p:txBody>
      </p:sp>
      <p:sp>
        <p:nvSpPr>
          <p:cNvPr id="43" name="Text 40"/>
          <p:cNvSpPr/>
          <p:nvPr/>
        </p:nvSpPr>
        <p:spPr>
          <a:xfrm>
            <a:off x="5994000" y="7524000"/>
            <a:ext cx="975600" cy="421200"/>
          </a:xfrm>
          <a:prstGeom prst="rect">
            <a:avLst/>
          </a:prstGeom>
          <a:noFill/>
          <a:ln/>
        </p:spPr>
        <p:txBody>
          <a:bodyPr wrap="square" lIns="0" tIns="0" rIns="0" bIns="0" rtlCol="0" anchor="ctr">
            <a:normAutofit/>
          </a:bodyPr>
          <a:lstStyle/>
          <a:p>
            <a:pPr algn="ctr" indent="0" marL="0">
              <a:buNone/>
            </a:pPr>
            <a:r>
              <a:rPr lang="en-US" sz="910" dirty="0">
                <a:solidFill>
                  <a:srgbClr val="1C1C1C"/>
                </a:solidFill>
                <a:latin typeface="Calibri" pitchFamily="34" charset="0"/>
                <a:ea typeface="Calibri" pitchFamily="34" charset="-122"/>
                <a:cs typeface="Calibri" pitchFamily="34" charset="-120"/>
              </a:rPr>
              <a:t>Entre 3 et 5 ans</a:t>
            </a:r>
            <a:endParaRPr lang="en-US" sz="910" dirty="0"/>
          </a:p>
        </p:txBody>
      </p:sp>
      <p:sp>
        <p:nvSpPr>
          <p:cNvPr id="44" name="Shape 41"/>
          <p:cNvSpPr/>
          <p:nvPr/>
        </p:nvSpPr>
        <p:spPr>
          <a:xfrm>
            <a:off x="540000" y="7974000"/>
            <a:ext cx="1800000" cy="738000"/>
          </a:xfrm>
          <a:prstGeom prst="rect">
            <a:avLst/>
          </a:prstGeom>
          <a:solidFill>
            <a:srgbClr val="FFFFFF"/>
          </a:solidFill>
          <a:ln w="10160">
            <a:solidFill>
              <a:srgbClr val="242424"/>
            </a:solidFill>
            <a:prstDash val="solid"/>
          </a:ln>
        </p:spPr>
      </p:sp>
      <p:sp>
        <p:nvSpPr>
          <p:cNvPr id="45" name="Shape 42"/>
          <p:cNvSpPr/>
          <p:nvPr/>
        </p:nvSpPr>
        <p:spPr>
          <a:xfrm>
            <a:off x="2340000" y="7974000"/>
            <a:ext cx="3600000" cy="738000"/>
          </a:xfrm>
          <a:prstGeom prst="rect">
            <a:avLst/>
          </a:prstGeom>
          <a:solidFill>
            <a:srgbClr val="FFFFFF"/>
          </a:solidFill>
          <a:ln w="10160">
            <a:solidFill>
              <a:srgbClr val="242424"/>
            </a:solidFill>
            <a:prstDash val="solid"/>
          </a:ln>
        </p:spPr>
      </p:sp>
      <p:sp>
        <p:nvSpPr>
          <p:cNvPr id="46" name="Shape 43"/>
          <p:cNvSpPr/>
          <p:nvPr/>
        </p:nvSpPr>
        <p:spPr>
          <a:xfrm>
            <a:off x="5940000" y="7974000"/>
            <a:ext cx="1083600" cy="738000"/>
          </a:xfrm>
          <a:prstGeom prst="rect">
            <a:avLst/>
          </a:prstGeom>
          <a:solidFill>
            <a:srgbClr val="FFFFFF"/>
          </a:solidFill>
          <a:ln w="10160">
            <a:solidFill>
              <a:srgbClr val="242424"/>
            </a:solidFill>
            <a:prstDash val="solid"/>
          </a:ln>
        </p:spPr>
      </p:sp>
      <p:sp>
        <p:nvSpPr>
          <p:cNvPr id="47" name="Shape 44"/>
          <p:cNvSpPr/>
          <p:nvPr/>
        </p:nvSpPr>
        <p:spPr>
          <a:xfrm>
            <a:off x="702000" y="8096400"/>
            <a:ext cx="1476000" cy="493200"/>
          </a:xfrm>
          <a:prstGeom prst="homePlate">
            <a:avLst/>
          </a:prstGeom>
          <a:solidFill>
            <a:srgbClr val="04CC7E"/>
          </a:solidFill>
          <a:ln w="8890">
            <a:solidFill>
              <a:srgbClr val="242424"/>
            </a:solidFill>
            <a:prstDash val="solid"/>
          </a:ln>
        </p:spPr>
      </p:sp>
      <p:sp>
        <p:nvSpPr>
          <p:cNvPr id="48" name="Text 45"/>
          <p:cNvSpPr/>
          <p:nvPr/>
        </p:nvSpPr>
        <p:spPr>
          <a:xfrm>
            <a:off x="738000" y="8154000"/>
            <a:ext cx="1242000" cy="37800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Calibri" pitchFamily="34" charset="0"/>
                <a:ea typeface="Calibri" pitchFamily="34" charset="-122"/>
                <a:cs typeface="Calibri" pitchFamily="34" charset="-120"/>
              </a:rPr>
              <a:t>Curatif Niveau 3</a:t>
            </a:r>
            <a:endParaRPr lang="en-US" sz="920" dirty="0"/>
          </a:p>
        </p:txBody>
      </p:sp>
      <p:sp>
        <p:nvSpPr>
          <p:cNvPr id="49" name="Text 46"/>
          <p:cNvSpPr/>
          <p:nvPr/>
        </p:nvSpPr>
        <p:spPr>
          <a:xfrm>
            <a:off x="2412000" y="8013600"/>
            <a:ext cx="3456000" cy="169200"/>
          </a:xfrm>
          <a:prstGeom prst="rect">
            <a:avLst/>
          </a:prstGeom>
          <a:noFill/>
          <a:ln/>
        </p:spPr>
        <p:txBody>
          <a:bodyPr wrap="square" lIns="0" tIns="0" rIns="0" bIns="0" rtlCol="0" anchor="ctr">
            <a:normAutofit/>
          </a:bodyPr>
          <a:lstStyle/>
          <a:p>
            <a:pPr algn="ctr" indent="0" marL="0">
              <a:buNone/>
            </a:pPr>
            <a:r>
              <a:rPr lang="en-US" sz="1010" b="1" dirty="0">
                <a:solidFill>
                  <a:srgbClr val="1C1C1C"/>
                </a:solidFill>
                <a:latin typeface="Calibri" pitchFamily="34" charset="0"/>
                <a:ea typeface="Calibri" pitchFamily="34" charset="-122"/>
                <a:cs typeface="Calibri" pitchFamily="34" charset="-120"/>
              </a:rPr>
              <a:t>Travaux d’esthétiques</a:t>
            </a:r>
            <a:endParaRPr lang="en-US" sz="1010" dirty="0"/>
          </a:p>
        </p:txBody>
      </p:sp>
      <p:sp>
        <p:nvSpPr>
          <p:cNvPr id="50" name="Text 47"/>
          <p:cNvSpPr/>
          <p:nvPr/>
        </p:nvSpPr>
        <p:spPr>
          <a:xfrm>
            <a:off x="2412000" y="8193600"/>
            <a:ext cx="3456000" cy="478800"/>
          </a:xfrm>
          <a:prstGeom prst="rect">
            <a:avLst/>
          </a:prstGeom>
          <a:noFill/>
          <a:ln/>
        </p:spPr>
        <p:txBody>
          <a:bodyPr wrap="square" lIns="0" tIns="0" rIns="0" bIns="0" rtlCol="0" anchor="t">
            <a:normAutofit/>
          </a:bodyPr>
          <a:lstStyle/>
          <a:p>
            <a:pPr indent="0" marL="0">
              <a:buNone/>
            </a:pPr>
            <a:r>
              <a:rPr lang="en-US" sz="93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930" dirty="0"/>
          </a:p>
        </p:txBody>
      </p:sp>
      <p:sp>
        <p:nvSpPr>
          <p:cNvPr id="51" name="Text 48"/>
          <p:cNvSpPr/>
          <p:nvPr/>
        </p:nvSpPr>
        <p:spPr>
          <a:xfrm>
            <a:off x="5994000" y="8046000"/>
            <a:ext cx="975600" cy="187200"/>
          </a:xfrm>
          <a:prstGeom prst="rect">
            <a:avLst/>
          </a:prstGeom>
          <a:noFill/>
          <a:ln/>
        </p:spPr>
        <p:txBody>
          <a:bodyPr wrap="square" lIns="0" tIns="0" rIns="0" bIns="0" rtlCol="0" anchor="ctr">
            <a:normAutofit/>
          </a:bodyPr>
          <a:lstStyle/>
          <a:p>
            <a:pPr algn="ctr" indent="0" marL="0">
              <a:buNone/>
            </a:pPr>
            <a:r>
              <a:rPr lang="en-US" sz="890" b="1" dirty="0">
                <a:solidFill>
                  <a:srgbClr val="1C1C1C"/>
                </a:solidFill>
                <a:latin typeface="Calibri" pitchFamily="34" charset="0"/>
                <a:ea typeface="Calibri" pitchFamily="34" charset="-122"/>
                <a:cs typeface="Calibri" pitchFamily="34" charset="-120"/>
              </a:rPr>
              <a:t>Travaux à effectuer</a:t>
            </a:r>
            <a:endParaRPr lang="en-US" sz="890" dirty="0"/>
          </a:p>
        </p:txBody>
      </p:sp>
      <p:sp>
        <p:nvSpPr>
          <p:cNvPr id="52" name="Text 49"/>
          <p:cNvSpPr/>
          <p:nvPr/>
        </p:nvSpPr>
        <p:spPr>
          <a:xfrm>
            <a:off x="5994000" y="8262000"/>
            <a:ext cx="975600" cy="421200"/>
          </a:xfrm>
          <a:prstGeom prst="rect">
            <a:avLst/>
          </a:prstGeom>
          <a:noFill/>
          <a:ln/>
        </p:spPr>
        <p:txBody>
          <a:bodyPr wrap="square" lIns="0" tIns="0" rIns="0" bIns="0" rtlCol="0" anchor="ctr">
            <a:normAutofit/>
          </a:bodyPr>
          <a:lstStyle/>
          <a:p>
            <a:pPr algn="ctr" indent="0" marL="0">
              <a:buNone/>
            </a:pPr>
            <a:r>
              <a:rPr lang="en-US" sz="910" dirty="0">
                <a:solidFill>
                  <a:srgbClr val="1C1C1C"/>
                </a:solidFill>
                <a:latin typeface="Calibri" pitchFamily="34" charset="0"/>
                <a:ea typeface="Calibri" pitchFamily="34" charset="-122"/>
                <a:cs typeface="Calibri" pitchFamily="34" charset="-120"/>
              </a:rPr>
              <a:t>Entre 6 et 10 ans</a:t>
            </a:r>
            <a:endParaRPr lang="en-US" sz="910" dirty="0"/>
          </a:p>
        </p:txBody>
      </p:sp>
      <p:sp>
        <p:nvSpPr>
          <p:cNvPr id="53" name="Shape 50"/>
          <p:cNvSpPr/>
          <p:nvPr/>
        </p:nvSpPr>
        <p:spPr>
          <a:xfrm>
            <a:off x="540000" y="8946000"/>
            <a:ext cx="1800000" cy="936000"/>
          </a:xfrm>
          <a:prstGeom prst="rect">
            <a:avLst/>
          </a:prstGeom>
          <a:solidFill>
            <a:srgbClr val="FFFFFF"/>
          </a:solidFill>
          <a:ln w="10160">
            <a:solidFill>
              <a:srgbClr val="242424"/>
            </a:solidFill>
            <a:prstDash val="solid"/>
          </a:ln>
        </p:spPr>
      </p:sp>
      <p:sp>
        <p:nvSpPr>
          <p:cNvPr id="54" name="Shape 51"/>
          <p:cNvSpPr/>
          <p:nvPr/>
        </p:nvSpPr>
        <p:spPr>
          <a:xfrm>
            <a:off x="2340000" y="8946000"/>
            <a:ext cx="3600000" cy="936000"/>
          </a:xfrm>
          <a:prstGeom prst="rect">
            <a:avLst/>
          </a:prstGeom>
          <a:solidFill>
            <a:srgbClr val="FFFFFF"/>
          </a:solidFill>
          <a:ln w="10160">
            <a:solidFill>
              <a:srgbClr val="242424"/>
            </a:solidFill>
            <a:prstDash val="solid"/>
          </a:ln>
        </p:spPr>
      </p:sp>
      <p:sp>
        <p:nvSpPr>
          <p:cNvPr id="55" name="Shape 52"/>
          <p:cNvSpPr/>
          <p:nvPr/>
        </p:nvSpPr>
        <p:spPr>
          <a:xfrm>
            <a:off x="5940000" y="8946000"/>
            <a:ext cx="1083600" cy="936000"/>
          </a:xfrm>
          <a:prstGeom prst="rect">
            <a:avLst/>
          </a:prstGeom>
          <a:solidFill>
            <a:srgbClr val="FFFFFF"/>
          </a:solidFill>
          <a:ln w="10160">
            <a:solidFill>
              <a:srgbClr val="242424"/>
            </a:solidFill>
            <a:prstDash val="solid"/>
          </a:ln>
        </p:spPr>
      </p:sp>
      <p:sp>
        <p:nvSpPr>
          <p:cNvPr id="56" name="Shape 53"/>
          <p:cNvSpPr/>
          <p:nvPr/>
        </p:nvSpPr>
        <p:spPr>
          <a:xfrm>
            <a:off x="702000" y="9068400"/>
            <a:ext cx="1476000" cy="691200"/>
          </a:xfrm>
          <a:prstGeom prst="homePlate">
            <a:avLst/>
          </a:prstGeom>
          <a:solidFill>
            <a:srgbClr val="4EA72E"/>
          </a:solidFill>
          <a:ln w="8890">
            <a:solidFill>
              <a:srgbClr val="242424"/>
            </a:solidFill>
            <a:prstDash val="solid"/>
          </a:ln>
        </p:spPr>
      </p:sp>
      <p:sp>
        <p:nvSpPr>
          <p:cNvPr id="57" name="Text 54"/>
          <p:cNvSpPr/>
          <p:nvPr/>
        </p:nvSpPr>
        <p:spPr>
          <a:xfrm>
            <a:off x="738000" y="9126000"/>
            <a:ext cx="1242000" cy="576000"/>
          </a:xfrm>
          <a:prstGeom prst="rect">
            <a:avLst/>
          </a:prstGeom>
          <a:noFill/>
          <a:ln/>
        </p:spPr>
        <p:txBody>
          <a:bodyPr wrap="square" lIns="0" tIns="0" rIns="0" bIns="0" rtlCol="0" anchor="ctr">
            <a:normAutofit/>
          </a:bodyPr>
          <a:lstStyle/>
          <a:p>
            <a:pPr algn="ctr" indent="0" marL="0">
              <a:buNone/>
            </a:pPr>
            <a:r>
              <a:rPr lang="en-US" sz="920" b="1" dirty="0">
                <a:solidFill>
                  <a:srgbClr val="FFFFFF"/>
                </a:solidFill>
                <a:latin typeface="Calibri" pitchFamily="34" charset="0"/>
                <a:ea typeface="Calibri" pitchFamily="34" charset="-122"/>
                <a:cs typeface="Calibri" pitchFamily="34" charset="-120"/>
              </a:rPr>
              <a:t>Travaux</a:t>
            </a:r>
            <a:endParaRPr lang="en-US" sz="920" dirty="0"/>
          </a:p>
          <a:p>
            <a:pPr algn="ctr" indent="0" marL="0">
              <a:buNone/>
            </a:pPr>
            <a:r>
              <a:rPr lang="en-US" sz="920" b="1" dirty="0">
                <a:solidFill>
                  <a:srgbClr val="FFFFFF"/>
                </a:solidFill>
                <a:latin typeface="Calibri" pitchFamily="34" charset="0"/>
                <a:ea typeface="Calibri" pitchFamily="34" charset="-122"/>
                <a:cs typeface="Calibri" pitchFamily="34" charset="-120"/>
              </a:rPr>
              <a:t>énergétiques</a:t>
            </a:r>
            <a:endParaRPr lang="en-US" sz="920" dirty="0"/>
          </a:p>
        </p:txBody>
      </p:sp>
      <p:sp>
        <p:nvSpPr>
          <p:cNvPr id="58" name="Text 55"/>
          <p:cNvSpPr/>
          <p:nvPr/>
        </p:nvSpPr>
        <p:spPr>
          <a:xfrm>
            <a:off x="2412000" y="8985600"/>
            <a:ext cx="3456000" cy="169200"/>
          </a:xfrm>
          <a:prstGeom prst="rect">
            <a:avLst/>
          </a:prstGeom>
          <a:noFill/>
          <a:ln/>
        </p:spPr>
        <p:txBody>
          <a:bodyPr wrap="square" lIns="0" tIns="0" rIns="0" bIns="0" rtlCol="0" anchor="ctr">
            <a:normAutofit/>
          </a:bodyPr>
          <a:lstStyle/>
          <a:p>
            <a:pPr algn="ctr" indent="0" marL="0">
              <a:buNone/>
            </a:pPr>
            <a:r>
              <a:rPr lang="en-US" sz="1010" b="1" dirty="0">
                <a:solidFill>
                  <a:srgbClr val="1C1C1C"/>
                </a:solidFill>
                <a:latin typeface="Calibri" pitchFamily="34" charset="0"/>
                <a:ea typeface="Calibri" pitchFamily="34" charset="-122"/>
                <a:cs typeface="Calibri" pitchFamily="34" charset="-120"/>
              </a:rPr>
              <a:t>Travaux énergétiques</a:t>
            </a:r>
            <a:endParaRPr lang="en-US" sz="1010" dirty="0"/>
          </a:p>
        </p:txBody>
      </p:sp>
      <p:sp>
        <p:nvSpPr>
          <p:cNvPr id="59" name="Text 56"/>
          <p:cNvSpPr/>
          <p:nvPr/>
        </p:nvSpPr>
        <p:spPr>
          <a:xfrm>
            <a:off x="2412000" y="9165600"/>
            <a:ext cx="3456000" cy="676800"/>
          </a:xfrm>
          <a:prstGeom prst="rect">
            <a:avLst/>
          </a:prstGeom>
          <a:noFill/>
          <a:ln/>
        </p:spPr>
        <p:txBody>
          <a:bodyPr wrap="square" lIns="0" tIns="0" rIns="0" bIns="0" rtlCol="0" anchor="t">
            <a:normAutofit/>
          </a:bodyPr>
          <a:lstStyle/>
          <a:p>
            <a:pPr indent="0" marL="0">
              <a:buNone/>
            </a:pPr>
            <a:r>
              <a:rPr lang="en-US" sz="93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930" dirty="0"/>
          </a:p>
        </p:txBody>
      </p:sp>
      <p:sp>
        <p:nvSpPr>
          <p:cNvPr id="60" name="Text 57"/>
          <p:cNvSpPr/>
          <p:nvPr/>
        </p:nvSpPr>
        <p:spPr>
          <a:xfrm>
            <a:off x="5994000" y="9018000"/>
            <a:ext cx="975600" cy="792000"/>
          </a:xfrm>
          <a:prstGeom prst="rect">
            <a:avLst/>
          </a:prstGeom>
          <a:noFill/>
          <a:ln/>
        </p:spPr>
        <p:txBody>
          <a:bodyPr wrap="square" lIns="0" tIns="0" rIns="0" bIns="0" rtlCol="0" anchor="ctr">
            <a:normAutofit/>
          </a:bodyPr>
          <a:lstStyle/>
          <a:p>
            <a:pPr algn="ctr" indent="0" marL="0">
              <a:buNone/>
            </a:pPr>
            <a:r>
              <a:rPr lang="en-US" sz="910" dirty="0">
                <a:solidFill>
                  <a:srgbClr val="1C1C1C"/>
                </a:solidFill>
                <a:latin typeface="Calibri" pitchFamily="34" charset="0"/>
                <a:ea typeface="Calibri" pitchFamily="34" charset="-122"/>
                <a:cs typeface="Calibri" pitchFamily="34" charset="-120"/>
              </a:rPr>
              <a:t>Selon la stratégie de</a:t>
            </a:r>
            <a:endParaRPr lang="en-US" sz="910" dirty="0"/>
          </a:p>
          <a:p>
            <a:pPr algn="ctr" indent="0" marL="0">
              <a:buNone/>
            </a:pPr>
            <a:r>
              <a:rPr lang="en-US" sz="910" dirty="0">
                <a:solidFill>
                  <a:srgbClr val="1C1C1C"/>
                </a:solidFill>
                <a:latin typeface="Calibri" pitchFamily="34" charset="0"/>
                <a:ea typeface="Calibri" pitchFamily="34" charset="-122"/>
                <a:cs typeface="Calibri" pitchFamily="34" charset="-120"/>
              </a:rPr>
              <a:t>rénovation retenue</a:t>
            </a:r>
            <a:endParaRPr lang="en-US" sz="910" dirty="0"/>
          </a:p>
        </p:txBody>
      </p:sp>
      <p:sp>
        <p:nvSpPr>
          <p:cNvPr id="61" name="Text 58"/>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2" name="Text 59"/>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54C4C5"/>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Entretien</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Opérations d'entretien courant et de maintenance préventive nécessaires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au maintien en bon état des équipements et du bâtiment.</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54C4C5"/>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maintenance-one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maintenance-one.</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maintenance-one.</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1">    </p:cNvPr>
          <p:cNvPicPr>
            <a:picLocks noChangeAspect="1"/>
          </p:cNvPicPr>
          <p:nvPr/>
        </p:nvPicPr>
        <p:blipFill>
          <a:blip r:embed="rId2"/>
          <a:stretch>
            <a:fillRect/>
          </a:stretch>
        </p:blipFill>
        <p:spPr>
          <a:xfrm>
            <a:off x="640080" y="5892728"/>
            <a:ext cx="6279515" cy="1583071"/>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9</a:t>
            </a:r>
            <a:endParaRPr lang="en-US" sz="8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54C4C5"/>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maintenance-two</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1" name="Shape 8"/>
          <p:cNvSpPr/>
          <p:nvPr/>
        </p:nvSpPr>
        <p:spPr>
          <a:xfrm>
            <a:off x="512064" y="1792224"/>
            <a:ext cx="6535547" cy="608076"/>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3" name="Text 10"/>
          <p:cNvSpPr/>
          <p:nvPr/>
        </p:nvSpPr>
        <p:spPr>
          <a:xfrm>
            <a:off x="585216" y="2075688"/>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4" name="Shape 11"/>
          <p:cNvSpPr/>
          <p:nvPr/>
        </p:nvSpPr>
        <p:spPr>
          <a:xfrm>
            <a:off x="512064" y="2400300"/>
            <a:ext cx="6535547" cy="608076"/>
          </a:xfrm>
          <a:prstGeom prst="rect">
            <a:avLst/>
          </a:prstGeom>
          <a:solidFill>
            <a:srgbClr val="FFFFFF"/>
          </a:solidFill>
          <a:ln w="8255">
            <a:solidFill>
              <a:srgbClr val="2B2B2B"/>
            </a:solidFill>
            <a:prstDash val="solid"/>
          </a:ln>
        </p:spPr>
      </p:sp>
      <p:sp>
        <p:nvSpPr>
          <p:cNvPr id="15" name="Text 12"/>
          <p:cNvSpPr/>
          <p:nvPr/>
        </p:nvSpPr>
        <p:spPr>
          <a:xfrm>
            <a:off x="585216" y="246430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6" name="Text 13"/>
          <p:cNvSpPr/>
          <p:nvPr/>
        </p:nvSpPr>
        <p:spPr>
          <a:xfrm>
            <a:off x="585216" y="2683764"/>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maintenance-two.</a:t>
            </a:r>
            <a:endParaRPr lang="en-US" sz="1050" dirty="0"/>
          </a:p>
        </p:txBody>
      </p:sp>
      <p:sp>
        <p:nvSpPr>
          <p:cNvPr id="17" name="Shape 14"/>
          <p:cNvSpPr/>
          <p:nvPr/>
        </p:nvSpPr>
        <p:spPr>
          <a:xfrm>
            <a:off x="512064" y="3008376"/>
            <a:ext cx="6535547" cy="608076"/>
          </a:xfrm>
          <a:prstGeom prst="rect">
            <a:avLst/>
          </a:prstGeom>
          <a:solidFill>
            <a:srgbClr val="FFFFFF"/>
          </a:solidFill>
          <a:ln w="8255">
            <a:solidFill>
              <a:srgbClr val="2B2B2B"/>
            </a:solidFill>
            <a:prstDash val="solid"/>
          </a:ln>
        </p:spPr>
      </p:sp>
      <p:sp>
        <p:nvSpPr>
          <p:cNvPr id="18" name="Text 15"/>
          <p:cNvSpPr/>
          <p:nvPr/>
        </p:nvSpPr>
        <p:spPr>
          <a:xfrm>
            <a:off x="585216" y="30723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19" name="Text 16"/>
          <p:cNvSpPr/>
          <p:nvPr/>
        </p:nvSpPr>
        <p:spPr>
          <a:xfrm>
            <a:off x="585216" y="32918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maintenance-two.</a:t>
            </a:r>
            <a:endParaRPr lang="en-US" sz="1050" dirty="0"/>
          </a:p>
        </p:txBody>
      </p:sp>
      <p:sp>
        <p:nvSpPr>
          <p:cNvPr id="20" name="Shape 17"/>
          <p:cNvSpPr/>
          <p:nvPr/>
        </p:nvSpPr>
        <p:spPr>
          <a:xfrm>
            <a:off x="512064" y="3616452"/>
            <a:ext cx="6535547" cy="3931920"/>
          </a:xfrm>
          <a:prstGeom prst="rect">
            <a:avLst/>
          </a:prstGeom>
          <a:solidFill>
            <a:srgbClr val="FFFFFF"/>
          </a:solidFill>
          <a:ln w="8255">
            <a:solidFill>
              <a:srgbClr val="2B2B2B"/>
            </a:solidFill>
            <a:prstDash val="solid"/>
          </a:ln>
        </p:spPr>
      </p:sp>
      <p:sp>
        <p:nvSpPr>
          <p:cNvPr id="21" name="Text 18"/>
          <p:cNvSpPr/>
          <p:nvPr/>
        </p:nvSpPr>
        <p:spPr>
          <a:xfrm>
            <a:off x="585216" y="36804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2" name="Image 1" descr="Photographie du diagnostic n°2">    </p:cNvPr>
          <p:cNvPicPr>
            <a:picLocks noChangeAspect="1"/>
          </p:cNvPicPr>
          <p:nvPr/>
        </p:nvPicPr>
        <p:blipFill>
          <a:blip r:embed="rId2"/>
          <a:stretch>
            <a:fillRect/>
          </a:stretch>
        </p:blipFill>
        <p:spPr>
          <a:xfrm>
            <a:off x="640080" y="4905176"/>
            <a:ext cx="6279515" cy="1583071"/>
          </a:xfrm>
          <a:prstGeom prst="rect">
            <a:avLst/>
          </a:prstGeom>
        </p:spPr>
      </p:pic>
      <p:sp>
        <p:nvSpPr>
          <p:cNvPr id="23" name="Text 19"/>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4" name="Text 20"/>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10</a:t>
            </a:r>
            <a:endParaRPr lang="en-US" sz="8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D5223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1</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1 (impact fort) – Travaux à effectuer sous 2 ans (2027-2028)</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urgentes nécessaires à la sécurité des occupants, à la préservation du bâti</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ou à la continuité de service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D5223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41908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6035040"/>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1 visible sur la photographie. Observation 2 visible sur la photographie. Observation 3</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visible sur la photographie. Observation 4 visible sur la photographie. Observation 5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 visible sur la photographie. Observation 7 visible sur la photographie.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8 visible sur la photographie. Observation 9 visible sur la photographie. Observation</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10 visible sur la photographie. Observation 11 visible sur la photographie. Observation 12 visible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sur la photographie. Observation 13 visible sur la photographie. Observation 14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15 visible sur la photographie. Observation 16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17 visible sur la photographie. Observation 18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19 visible sur la photographie. Observation 20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21 visible sur la photographie. Observation 22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23 visible sur la photographie. Observation 24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25 visible sur la photographie. Observation 26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27 visible sur la photographie. Observation 28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29 visible sur la photographie. Observation 30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31 visible sur la photographie. Observation 32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33 visible sur la photographie. Observation 34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35 visible sur la photographie. Observation 36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37 visible sur la photographie. Observation 38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39 visible sur la photographie. Observation 40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41 visible sur la photographie. Observation 42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43 visible sur la photographie. Observation 44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45 visible sur la photographie. Observation 46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47 visible sur la photographie. Observation 48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49 visible sur la photographie. Observation 50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51 visible sur la photographie. Observation 52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53 visible sur la photographie. Observation 54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55 visible sur la photographie. Observation 56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57 visible sur la photographie. Observation 58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59 visible sur la photographie. Observation 60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61 visible sur la photographie. Observation 62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63 visible sur la photographie. Observation 64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65 visible sur la photographie. Observation 66 visible sur la</a:t>
            </a:r>
            <a:endParaRPr lang="en-US" sz="1050" dirty="0"/>
          </a:p>
        </p:txBody>
      </p:sp>
      <p:sp>
        <p:nvSpPr>
          <p:cNvPr id="20" name="Text 17"/>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1" name="Text 18"/>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47320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(suite) :</a:t>
            </a:r>
            <a:endParaRPr lang="en-US" sz="1010" dirty="0"/>
          </a:p>
        </p:txBody>
      </p:sp>
      <p:sp>
        <p:nvSpPr>
          <p:cNvPr id="13" name="Text 10"/>
          <p:cNvSpPr/>
          <p:nvPr/>
        </p:nvSpPr>
        <p:spPr>
          <a:xfrm>
            <a:off x="585216" y="2075688"/>
            <a:ext cx="6389243" cy="4347972"/>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67 visible sur la photographie. Observation 68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69 visible sur la photographie. Observation 70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71 visible sur la photographie. Observation 72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73 visible sur la photographie. Observation 74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75 visible sur la photographie. Observation 76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77 visible sur la photographie. Observation 78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79 visible sur la photographie. Observation 80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81 visible sur la photographie. Observation 82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83 visible sur la photographie. Observation 84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85 visible sur la photographie. Observation 86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87 visible sur la photographie. Observation 88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89 visible sur la photographie. Observation 90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91 visible sur la photographie. Observation 92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93 visible sur la photographie. Observation 94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95 visible sur la photographie. Observation 96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97 visible sur la photographie. Observation 98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99 visible sur la photographie. Observation 100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101 visible sur la photographie. Observation 102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103 visible sur la photographie. Observation 104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105 visible sur la photographie. Observation 106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107 visible sur la photographie. Observation 108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109 visible sur la photographie. Observation 110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a:t>
            </a:r>
            <a:endParaRPr lang="en-US" sz="1050" dirty="0"/>
          </a:p>
        </p:txBody>
      </p:sp>
      <p:sp>
        <p:nvSpPr>
          <p:cNvPr id="14" name="Shape 11"/>
          <p:cNvSpPr/>
          <p:nvPr/>
        </p:nvSpPr>
        <p:spPr>
          <a:xfrm>
            <a:off x="512064" y="6524244"/>
            <a:ext cx="6535547" cy="608076"/>
          </a:xfrm>
          <a:prstGeom prst="rect">
            <a:avLst/>
          </a:prstGeom>
          <a:solidFill>
            <a:srgbClr val="FFFFFF"/>
          </a:solidFill>
          <a:ln w="8255">
            <a:solidFill>
              <a:srgbClr val="2B2B2B"/>
            </a:solidFill>
            <a:prstDash val="solid"/>
          </a:ln>
        </p:spPr>
      </p:sp>
      <p:sp>
        <p:nvSpPr>
          <p:cNvPr id="15" name="Text 12"/>
          <p:cNvSpPr/>
          <p:nvPr/>
        </p:nvSpPr>
        <p:spPr>
          <a:xfrm>
            <a:off x="585216" y="658825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16" name="Text 13"/>
          <p:cNvSpPr/>
          <p:nvPr/>
        </p:nvSpPr>
        <p:spPr>
          <a:xfrm>
            <a:off x="585216" y="6807708"/>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a:t>
            </a:r>
            <a:endParaRPr lang="en-US" sz="1050" dirty="0"/>
          </a:p>
        </p:txBody>
      </p:sp>
      <p:sp>
        <p:nvSpPr>
          <p:cNvPr id="17" name="Shape 14"/>
          <p:cNvSpPr/>
          <p:nvPr/>
        </p:nvSpPr>
        <p:spPr>
          <a:xfrm>
            <a:off x="512064" y="7132320"/>
            <a:ext cx="6535547" cy="768096"/>
          </a:xfrm>
          <a:prstGeom prst="rect">
            <a:avLst/>
          </a:prstGeom>
          <a:solidFill>
            <a:srgbClr val="FFFFFF"/>
          </a:solidFill>
          <a:ln w="8255">
            <a:solidFill>
              <a:srgbClr val="2B2B2B"/>
            </a:solidFill>
            <a:prstDash val="solid"/>
          </a:ln>
        </p:spPr>
      </p:sp>
      <p:sp>
        <p:nvSpPr>
          <p:cNvPr id="18" name="Text 15"/>
          <p:cNvSpPr/>
          <p:nvPr/>
        </p:nvSpPr>
        <p:spPr>
          <a:xfrm>
            <a:off x="585216" y="71871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19" name="Text 16"/>
          <p:cNvSpPr/>
          <p:nvPr/>
        </p:nvSpPr>
        <p:spPr>
          <a:xfrm>
            <a:off x="603504" y="7397496"/>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0" name="Text 17"/>
          <p:cNvSpPr/>
          <p:nvPr/>
        </p:nvSpPr>
        <p:spPr>
          <a:xfrm>
            <a:off x="603504" y="7635240"/>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1" name="Text 18"/>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2" name="Text 19"/>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12</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39319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13" name="Image 1" descr="Photographie du diagnostic n°3">    </p:cNvPr>
          <p:cNvPicPr>
            <a:picLocks noChangeAspect="1"/>
          </p:cNvPicPr>
          <p:nvPr/>
        </p:nvPicPr>
        <p:blipFill>
          <a:blip r:embed="rId2"/>
          <a:stretch>
            <a:fillRect/>
          </a:stretch>
        </p:blipFill>
        <p:spPr>
          <a:xfrm>
            <a:off x="640080" y="3080948"/>
            <a:ext cx="6279515" cy="1583071"/>
          </a:xfrm>
          <a:prstGeom prst="rect">
            <a:avLst/>
          </a:prstGeom>
        </p:spPr>
      </p:pic>
      <p:sp>
        <p:nvSpPr>
          <p:cNvPr id="14" name="Text 10"/>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15" name="Text 11"/>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13</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N°4</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confirm</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confirm.</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confirm.</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4">    </p:cNvPr>
          <p:cNvPicPr>
            <a:picLocks noChangeAspect="1"/>
          </p:cNvPicPr>
          <p:nvPr/>
        </p:nvPicPr>
        <p:blipFill>
          <a:blip r:embed="rId2"/>
          <a:stretch>
            <a:fillRect/>
          </a:stretch>
        </p:blipFill>
        <p:spPr>
          <a:xfrm>
            <a:off x="640080" y="6477944"/>
            <a:ext cx="6279515" cy="1583071"/>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14</a:t>
            </a:r>
            <a:endParaRPr lang="en-US" sz="8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France Verte</cp:lastModifiedBy>
  <cp:revision>1</cp:revision>
  <dcterms:created xsi:type="dcterms:W3CDTF">2026-10-05T12:52:18Z</dcterms:created>
  <dcterms:modified xsi:type="dcterms:W3CDTF">2026-10-05T12:52:18Z</dcterms:modified>
</cp:coreProperties>
</file>