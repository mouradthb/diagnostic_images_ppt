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e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slideLayout" Target="../slideLayouts/slideLayout1.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jpe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jpe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écor bleu France Verte">    </p:cNvPr>
          <p:cNvPicPr>
            <a:picLocks noChangeAspect="1"/>
          </p:cNvPicPr>
          <p:nvPr/>
        </p:nvPicPr>
        <p:blipFill>
          <a:blip r:embed="rId1"/>
          <a:srcRect l="0" r="0" t="0" b="0"/>
          <a:stretch/>
        </p:blipFill>
        <p:spPr>
          <a:xfrm>
            <a:off x="0" y="684000"/>
            <a:ext cx="979200" cy="2149200"/>
          </a:xfrm>
          <a:prstGeom prst="rect">
            <a:avLst/>
          </a:prstGeom>
        </p:spPr>
      </p:pic>
      <p:pic>
        <p:nvPicPr>
          <p:cNvPr id="3" name="Image 1" descr="Décor jaune France Verte">    </p:cNvPr>
          <p:cNvPicPr>
            <a:picLocks noChangeAspect="1"/>
          </p:cNvPicPr>
          <p:nvPr/>
        </p:nvPicPr>
        <p:blipFill>
          <a:blip r:embed="rId2"/>
          <a:srcRect l="0" r="0" t="0" b="0"/>
          <a:stretch/>
        </p:blipFill>
        <p:spPr>
          <a:xfrm rot="21360000">
            <a:off x="6656400" y="8172000"/>
            <a:ext cx="982800" cy="1944000"/>
          </a:xfrm>
          <a:prstGeom prst="rect">
            <a:avLst/>
          </a:prstGeom>
        </p:spPr>
      </p:pic>
      <p:pic>
        <p:nvPicPr>
          <p:cNvPr id="4" name="Image 2" descr="Logo France Verte">    </p:cNvPr>
          <p:cNvPicPr>
            <a:picLocks noChangeAspect="1"/>
          </p:cNvPicPr>
          <p:nvPr/>
        </p:nvPicPr>
        <p:blipFill>
          <a:blip r:embed="rId3"/>
          <a:srcRect l="0" r="0" t="0" b="0"/>
          <a:stretch/>
        </p:blipFill>
        <p:spPr>
          <a:xfrm>
            <a:off x="493200" y="97200"/>
            <a:ext cx="2246400" cy="594000"/>
          </a:xfrm>
          <a:prstGeom prst="rect">
            <a:avLst/>
          </a:prstGeom>
        </p:spPr>
      </p:pic>
      <p:pic>
        <p:nvPicPr>
          <p:cNvPr id="5" name="Image 3" descr="Logo RGE OPQIBI du modèle">    </p:cNvPr>
          <p:cNvPicPr>
            <a:picLocks noChangeAspect="1"/>
          </p:cNvPicPr>
          <p:nvPr/>
        </p:nvPicPr>
        <p:blipFill>
          <a:blip r:embed="rId4"/>
          <a:srcRect l="0" r="0" t="0" b="0"/>
          <a:stretch/>
        </p:blipFill>
        <p:spPr>
          <a:xfrm>
            <a:off x="5580000" y="122400"/>
            <a:ext cx="900000" cy="594000"/>
          </a:xfrm>
          <a:prstGeom prst="rect">
            <a:avLst/>
          </a:prstGeom>
        </p:spPr>
      </p:pic>
      <p:sp>
        <p:nvSpPr>
          <p:cNvPr id="6" name="Shape 0"/>
          <p:cNvSpPr/>
          <p:nvPr/>
        </p:nvSpPr>
        <p:spPr>
          <a:xfrm>
            <a:off x="486000" y="975600"/>
            <a:ext cx="6516000" cy="23400"/>
          </a:xfrm>
          <a:prstGeom prst="rect">
            <a:avLst/>
          </a:prstGeom>
          <a:solidFill>
            <a:srgbClr val="FFC700"/>
          </a:solidFill>
          <a:ln w="12700">
            <a:solidFill>
              <a:srgbClr val="FFC700">
                <a:alpha val="0"/>
              </a:srgbClr>
            </a:solidFill>
            <a:prstDash val="solid"/>
          </a:ln>
        </p:spPr>
      </p:sp>
      <p:sp>
        <p:nvSpPr>
          <p:cNvPr id="7" name="Shape 1"/>
          <p:cNvSpPr/>
          <p:nvPr/>
        </p:nvSpPr>
        <p:spPr>
          <a:xfrm>
            <a:off x="7012800" y="1083600"/>
            <a:ext cx="22320" cy="7261200"/>
          </a:xfrm>
          <a:prstGeom prst="rect">
            <a:avLst/>
          </a:prstGeom>
          <a:solidFill>
            <a:srgbClr val="24C879"/>
          </a:solidFill>
          <a:ln w="12700">
            <a:solidFill>
              <a:srgbClr val="24C879">
                <a:alpha val="0"/>
              </a:srgbClr>
            </a:solidFill>
            <a:prstDash val="solid"/>
          </a:ln>
        </p:spPr>
      </p:sp>
      <p:sp>
        <p:nvSpPr>
          <p:cNvPr id="8" name="Shape 2"/>
          <p:cNvSpPr/>
          <p:nvPr/>
        </p:nvSpPr>
        <p:spPr>
          <a:xfrm>
            <a:off x="504000" y="2448000"/>
            <a:ext cx="22320" cy="7524000"/>
          </a:xfrm>
          <a:prstGeom prst="rect">
            <a:avLst/>
          </a:prstGeom>
          <a:solidFill>
            <a:srgbClr val="FFC700"/>
          </a:solidFill>
          <a:ln w="12700">
            <a:solidFill>
              <a:srgbClr val="FFC700">
                <a:alpha val="0"/>
              </a:srgbClr>
            </a:solidFill>
            <a:prstDash val="solid"/>
          </a:ln>
        </p:spPr>
      </p:sp>
      <p:sp>
        <p:nvSpPr>
          <p:cNvPr id="9" name="Shape 3"/>
          <p:cNvSpPr/>
          <p:nvPr/>
        </p:nvSpPr>
        <p:spPr>
          <a:xfrm>
            <a:off x="648000" y="9979200"/>
            <a:ext cx="6210000" cy="24480"/>
          </a:xfrm>
          <a:prstGeom prst="rect">
            <a:avLst/>
          </a:prstGeom>
          <a:solidFill>
            <a:srgbClr val="2D44FF"/>
          </a:solidFill>
          <a:ln w="12700">
            <a:solidFill>
              <a:srgbClr val="2D44FF">
                <a:alpha val="0"/>
              </a:srgbClr>
            </a:solidFill>
            <a:prstDash val="solid"/>
          </a:ln>
        </p:spPr>
      </p:sp>
      <p:sp>
        <p:nvSpPr>
          <p:cNvPr id="10" name="Text 4"/>
          <p:cNvSpPr/>
          <p:nvPr/>
        </p:nvSpPr>
        <p:spPr>
          <a:xfrm>
            <a:off x="2088000" y="1260000"/>
            <a:ext cx="3384000" cy="360000"/>
          </a:xfrm>
          <a:prstGeom prst="rect">
            <a:avLst/>
          </a:prstGeom>
          <a:noFill/>
          <a:ln/>
        </p:spPr>
        <p:txBody>
          <a:bodyPr wrap="square" lIns="0" tIns="0" rIns="0" bIns="0" rtlCol="0" anchor="ctr">
            <a:normAutofit/>
          </a:bodyPr>
          <a:lstStyle/>
          <a:p>
            <a:pPr algn="ctr" indent="0" marL="0">
              <a:buNone/>
            </a:pPr>
            <a:r>
              <a:rPr lang="en-US" sz="2800" b="1" dirty="0">
                <a:solidFill>
                  <a:srgbClr val="2D44FF"/>
                </a:solidFill>
                <a:latin typeface="Calibri" pitchFamily="34" charset="0"/>
                <a:ea typeface="Calibri" pitchFamily="34" charset="-122"/>
                <a:cs typeface="Calibri" pitchFamily="34" charset="-120"/>
              </a:rPr>
              <a:t>PPPT</a:t>
            </a:r>
            <a:endParaRPr lang="en-US" sz="2800" dirty="0"/>
          </a:p>
        </p:txBody>
      </p:sp>
      <p:sp>
        <p:nvSpPr>
          <p:cNvPr id="11" name="Text 5"/>
          <p:cNvSpPr/>
          <p:nvPr/>
        </p:nvSpPr>
        <p:spPr>
          <a:xfrm>
            <a:off x="1116000" y="1656000"/>
            <a:ext cx="5328000" cy="288000"/>
          </a:xfrm>
          <a:prstGeom prst="rect">
            <a:avLst/>
          </a:prstGeom>
          <a:noFill/>
          <a:ln/>
        </p:spPr>
        <p:txBody>
          <a:bodyPr wrap="square" lIns="0" tIns="0" rIns="0" bIns="0" rtlCol="0" anchor="ctr">
            <a:normAutofit/>
          </a:bodyPr>
          <a:lstStyle/>
          <a:p>
            <a:pPr algn="ctr" indent="0" marL="0">
              <a:buNone/>
            </a:pPr>
            <a:r>
              <a:rPr lang="en-US" sz="1800" b="1" dirty="0">
                <a:solidFill>
                  <a:srgbClr val="2D44FF"/>
                </a:solidFill>
                <a:latin typeface="Calibri" pitchFamily="34" charset="0"/>
                <a:ea typeface="Calibri" pitchFamily="34" charset="-122"/>
                <a:cs typeface="Calibri" pitchFamily="34" charset="-120"/>
              </a:rPr>
              <a:t>Projet de Plan Pluriannuel de Travaux</a:t>
            </a:r>
            <a:endParaRPr lang="en-US" sz="1800" dirty="0"/>
          </a:p>
        </p:txBody>
      </p:sp>
      <p:sp>
        <p:nvSpPr>
          <p:cNvPr id="12" name="Text 6"/>
          <p:cNvSpPr/>
          <p:nvPr/>
        </p:nvSpPr>
        <p:spPr>
          <a:xfrm>
            <a:off x="1440000" y="2142000"/>
            <a:ext cx="4680000" cy="270000"/>
          </a:xfrm>
          <a:prstGeom prst="rect">
            <a:avLst/>
          </a:prstGeom>
          <a:noFill/>
          <a:ln/>
        </p:spPr>
        <p:txBody>
          <a:bodyPr wrap="square" lIns="0" tIns="0" rIns="0" bIns="0" rtlCol="0" anchor="ctr">
            <a:normAutofit/>
          </a:bodyPr>
          <a:lstStyle/>
          <a:p>
            <a:pPr algn="ctr" indent="0" marL="0">
              <a:buNone/>
            </a:pPr>
            <a:r>
              <a:rPr lang="en-US" sz="1300" b="1" dirty="0">
                <a:solidFill>
                  <a:srgbClr val="1C1C1C"/>
                </a:solidFill>
                <a:latin typeface="Calibri" pitchFamily="34" charset="0"/>
                <a:ea typeface="Calibri" pitchFamily="34" charset="-122"/>
                <a:cs typeface="Calibri" pitchFamily="34" charset="-120"/>
              </a:rPr>
              <a:t>Bureau d’études thermiques et fluides</a:t>
            </a:r>
            <a:endParaRPr lang="en-US" sz="1300" dirty="0"/>
          </a:p>
        </p:txBody>
      </p:sp>
      <p:sp>
        <p:nvSpPr>
          <p:cNvPr id="13" name="Text 7"/>
          <p:cNvSpPr/>
          <p:nvPr/>
        </p:nvSpPr>
        <p:spPr>
          <a:xfrm>
            <a:off x="622800" y="2592000"/>
            <a:ext cx="2880000" cy="180000"/>
          </a:xfrm>
          <a:prstGeom prst="rect">
            <a:avLst/>
          </a:prstGeom>
          <a:noFill/>
          <a:ln/>
        </p:spPr>
        <p:txBody>
          <a:bodyPr wrap="square" lIns="0" tIns="0" rIns="0" bIns="0" rtlCol="0" anchor="ctr">
            <a:normAutofit/>
          </a:bodyPr>
          <a:lstStyle/>
          <a:p>
            <a:pPr indent="0" marL="0">
              <a:buNone/>
            </a:pPr>
            <a:r>
              <a:rPr lang="en-US" sz="1080" b="1" dirty="0">
                <a:solidFill>
                  <a:srgbClr val="1C1C1C"/>
                </a:solidFill>
                <a:latin typeface="Calibri" pitchFamily="34" charset="0"/>
                <a:ea typeface="Calibri" pitchFamily="34" charset="-122"/>
                <a:cs typeface="Calibri" pitchFamily="34" charset="-120"/>
              </a:rPr>
              <a:t>FRANCE VERTE</a:t>
            </a:r>
            <a:endParaRPr lang="en-US" sz="1080" dirty="0"/>
          </a:p>
        </p:txBody>
      </p:sp>
      <p:sp>
        <p:nvSpPr>
          <p:cNvPr id="14" name="Text 8"/>
          <p:cNvSpPr/>
          <p:nvPr/>
        </p:nvSpPr>
        <p:spPr>
          <a:xfrm>
            <a:off x="622800" y="2844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E-mail : contact@groupefranceverte.fr</a:t>
            </a:r>
            <a:endParaRPr lang="en-US" sz="1050" dirty="0"/>
          </a:p>
        </p:txBody>
      </p:sp>
      <p:sp>
        <p:nvSpPr>
          <p:cNvPr id="15" name="Text 9"/>
          <p:cNvSpPr/>
          <p:nvPr/>
        </p:nvSpPr>
        <p:spPr>
          <a:xfrm>
            <a:off x="622800" y="3096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Téléphone : 09 86 08 79 79</a:t>
            </a:r>
            <a:endParaRPr lang="en-US" sz="1050" dirty="0"/>
          </a:p>
        </p:txBody>
      </p:sp>
      <p:sp>
        <p:nvSpPr>
          <p:cNvPr id="16" name="Text 10"/>
          <p:cNvSpPr/>
          <p:nvPr/>
        </p:nvSpPr>
        <p:spPr>
          <a:xfrm>
            <a:off x="622800" y="3348000"/>
            <a:ext cx="4500000" cy="324000"/>
          </a:xfrm>
          <a:prstGeom prst="rect">
            <a:avLst/>
          </a:prstGeom>
          <a:noFill/>
          <a:ln/>
        </p:spPr>
        <p:txBody>
          <a:bodyPr wrap="square" lIns="0" tIns="0" rIns="0" bIns="0" rtlCol="0" anchor="t">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a:t>
            </a:r>
            <a:endParaRPr lang="en-US" sz="1050" dirty="0"/>
          </a:p>
          <a:p>
            <a:pPr indent="0" marL="0">
              <a:buNone/>
            </a:pPr>
            <a:r>
              <a:rPr lang="en-US" sz="1050" dirty="0">
                <a:solidFill>
                  <a:srgbClr val="1C1C1C"/>
                </a:solidFill>
                <a:latin typeface="Calibri" pitchFamily="34" charset="0"/>
                <a:ea typeface="Calibri" pitchFamily="34" charset="-122"/>
                <a:cs typeface="Calibri" pitchFamily="34" charset="-120"/>
              </a:rPr>
              <a:t>69300 Caluire-et-Cuire</a:t>
            </a:r>
            <a:endParaRPr lang="en-US" sz="1050" dirty="0"/>
          </a:p>
        </p:txBody>
      </p:sp>
      <p:sp>
        <p:nvSpPr>
          <p:cNvPr id="17" name="Text 11"/>
          <p:cNvSpPr/>
          <p:nvPr/>
        </p:nvSpPr>
        <p:spPr>
          <a:xfrm>
            <a:off x="1180800" y="3794400"/>
            <a:ext cx="5184000" cy="262800"/>
          </a:xfrm>
          <a:prstGeom prst="rect">
            <a:avLst/>
          </a:prstGeom>
          <a:noFill/>
          <a:ln/>
        </p:spPr>
        <p:txBody>
          <a:bodyPr wrap="square" lIns="0" tIns="0" rIns="0" bIns="0" rtlCol="0" anchor="ctr">
            <a:normAutofit/>
          </a:bodyPr>
          <a:lstStyle/>
          <a:p>
            <a:pPr algn="ctr" indent="0" marL="0">
              <a:buNone/>
            </a:pPr>
            <a:r>
              <a:rPr lang="en-US" sz="1240" b="1" dirty="0">
                <a:solidFill>
                  <a:srgbClr val="1C1C1C"/>
                </a:solidFill>
                <a:latin typeface="Calibri" pitchFamily="34" charset="0"/>
                <a:ea typeface="Calibri" pitchFamily="34" charset="-122"/>
                <a:cs typeface="Calibri" pitchFamily="34" charset="-120"/>
              </a:rPr>
              <a:t>Copropriété Résidence test PPPT</a:t>
            </a:r>
            <a:endParaRPr lang="en-US" sz="1240" dirty="0"/>
          </a:p>
        </p:txBody>
      </p:sp>
      <p:sp>
        <p:nvSpPr>
          <p:cNvPr id="18" name="Text 12"/>
          <p:cNvSpPr/>
          <p:nvPr/>
        </p:nvSpPr>
        <p:spPr>
          <a:xfrm>
            <a:off x="1180800" y="4060800"/>
            <a:ext cx="5184000" cy="266400"/>
          </a:xfrm>
          <a:prstGeom prst="rect">
            <a:avLst/>
          </a:prstGeom>
          <a:noFill/>
          <a:ln/>
        </p:spPr>
        <p:txBody>
          <a:bodyPr wrap="square" lIns="0" tIns="0" rIns="0" bIns="0" rtlCol="0" anchor="ctr">
            <a:normAutofit/>
          </a:bodyPr>
          <a:lstStyle/>
          <a:p>
            <a:pPr algn="ctr" indent="0" marL="0">
              <a:buNone/>
            </a:pPr>
            <a:r>
              <a:rPr lang="en-US" sz="1100" dirty="0">
                <a:solidFill>
                  <a:srgbClr val="1C1C1C"/>
                </a:solidFill>
                <a:latin typeface="Calibri" pitchFamily="34" charset="0"/>
                <a:ea typeface="Calibri" pitchFamily="34" charset="-122"/>
                <a:cs typeface="Calibri" pitchFamily="34" charset="-120"/>
              </a:rPr>
              <a:t>Adresse : 10 rue de la Validation, 75000 Paris</a:t>
            </a:r>
            <a:endParaRPr lang="en-US" sz="1100" dirty="0"/>
          </a:p>
        </p:txBody>
      </p:sp>
      <p:pic>
        <p:nvPicPr>
          <p:cNvPr id="19" name="Image 4" descr="Photographie principale de la copropriété">    </p:cNvPr>
          <p:cNvPicPr>
            <a:picLocks noChangeAspect="1"/>
          </p:cNvPicPr>
          <p:nvPr/>
        </p:nvPicPr>
        <p:blipFill>
          <a:blip r:embed="rId5"/>
          <a:srcRect l="0" r="0" t="0" b="0"/>
          <a:stretch/>
        </p:blipFill>
        <p:spPr>
          <a:xfrm>
            <a:off x="1166400" y="4485600"/>
            <a:ext cx="5220000" cy="3211200"/>
          </a:xfrm>
          <a:prstGeom prst="rect">
            <a:avLst/>
          </a:prstGeom>
        </p:spPr>
      </p:pic>
      <p:sp>
        <p:nvSpPr>
          <p:cNvPr id="20" name="Text 13"/>
          <p:cNvSpPr/>
          <p:nvPr/>
        </p:nvSpPr>
        <p:spPr>
          <a:xfrm>
            <a:off x="1260000" y="7837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de visite : </a:t>
            </a:r>
            <a:pPr indent="0" marL="0">
              <a:buNone/>
            </a:pPr>
            <a:r>
              <a:rPr lang="en-US" sz="1130" dirty="0">
                <a:solidFill>
                  <a:srgbClr val="1C1C1C"/>
                </a:solidFill>
                <a:latin typeface="Calibri" pitchFamily="34" charset="0"/>
                <a:ea typeface="Calibri" pitchFamily="34" charset="-122"/>
                <a:cs typeface="Calibri" pitchFamily="34" charset="-120"/>
              </a:rPr>
              <a:t>01/10/2026</a:t>
            </a:r>
            <a:endParaRPr lang="en-US" sz="1130" dirty="0"/>
          </a:p>
        </p:txBody>
      </p:sp>
      <p:sp>
        <p:nvSpPr>
          <p:cNvPr id="21" name="Text 14"/>
          <p:cNvSpPr/>
          <p:nvPr/>
        </p:nvSpPr>
        <p:spPr>
          <a:xfrm>
            <a:off x="1260000" y="8089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du rapport : </a:t>
            </a:r>
            <a:pPr indent="0" marL="0">
              <a:buNone/>
            </a:pPr>
            <a:r>
              <a:rPr lang="en-US" sz="1130" dirty="0">
                <a:solidFill>
                  <a:srgbClr val="1C1C1C"/>
                </a:solidFill>
                <a:latin typeface="Calibri" pitchFamily="34" charset="0"/>
                <a:ea typeface="Calibri" pitchFamily="34" charset="-122"/>
                <a:cs typeface="Calibri" pitchFamily="34" charset="-120"/>
              </a:rPr>
              <a:t>08/10/2026</a:t>
            </a:r>
            <a:endParaRPr lang="en-US" sz="1130" dirty="0"/>
          </a:p>
        </p:txBody>
      </p:sp>
      <p:sp>
        <p:nvSpPr>
          <p:cNvPr id="22" name="Text 15"/>
          <p:cNvSpPr/>
          <p:nvPr/>
        </p:nvSpPr>
        <p:spPr>
          <a:xfrm>
            <a:off x="1260000" y="8341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Version du rapport : </a:t>
            </a:r>
            <a:pPr indent="0" marL="0">
              <a:buNone/>
            </a:pPr>
            <a:r>
              <a:rPr lang="en-US" sz="1130" dirty="0">
                <a:solidFill>
                  <a:srgbClr val="1C1C1C"/>
                </a:solidFill>
                <a:latin typeface="Calibri" pitchFamily="34" charset="0"/>
                <a:ea typeface="Calibri" pitchFamily="34" charset="-122"/>
                <a:cs typeface="Calibri" pitchFamily="34" charset="-120"/>
              </a:rPr>
              <a:t>Initiale</a:t>
            </a:r>
            <a:endParaRPr lang="en-US" sz="1130" dirty="0"/>
          </a:p>
        </p:txBody>
      </p:sp>
      <p:pic>
        <p:nvPicPr>
          <p:cNvPr id="23" name="Image 5" descr="Tampon France Verte du modèle">    </p:cNvPr>
          <p:cNvPicPr>
            <a:picLocks noChangeAspect="1"/>
          </p:cNvPicPr>
          <p:nvPr/>
        </p:nvPicPr>
        <p:blipFill>
          <a:blip r:embed="rId6"/>
          <a:srcRect l="0" r="0" t="0" b="0"/>
          <a:stretch/>
        </p:blipFill>
        <p:spPr>
          <a:xfrm>
            <a:off x="5022000" y="8010000"/>
            <a:ext cx="1724400" cy="536400"/>
          </a:xfrm>
          <a:prstGeom prst="rect">
            <a:avLst/>
          </a:prstGeom>
        </p:spPr>
      </p:pic>
      <p:sp>
        <p:nvSpPr>
          <p:cNvPr id="24" name="Text 16"/>
          <p:cNvSpPr/>
          <p:nvPr/>
        </p:nvSpPr>
        <p:spPr>
          <a:xfrm>
            <a:off x="1368000" y="9108000"/>
            <a:ext cx="4824000" cy="540000"/>
          </a:xfrm>
          <a:prstGeom prst="rect">
            <a:avLst/>
          </a:prstGeom>
          <a:noFill/>
          <a:ln/>
        </p:spPr>
        <p:txBody>
          <a:bodyPr wrap="square" lIns="0" tIns="0" rIns="0" bIns="0" rtlCol="0" anchor="ctr">
            <a:normAutofit/>
          </a:bodyPr>
          <a:lstStyle/>
          <a:p>
            <a:pPr algn="ctr" indent="0" marL="0">
              <a:buNone/>
            </a:pPr>
            <a:r>
              <a:rPr lang="en-US" sz="1120" dirty="0">
                <a:solidFill>
                  <a:srgbClr val="1C1C1C"/>
                </a:solidFill>
                <a:latin typeface="Calibri" pitchFamily="34" charset="0"/>
                <a:ea typeface="Calibri" pitchFamily="34" charset="-122"/>
                <a:cs typeface="Calibri" pitchFamily="34" charset="-120"/>
              </a:rPr>
              <a:t>Mission réalisée pour la copropriété </a:t>
            </a:r>
            <a:pPr algn="ctr" indent="0" marL="0">
              <a:buNone/>
            </a:pPr>
            <a:r>
              <a:rPr lang="en-US" sz="1120" b="1" dirty="0">
                <a:solidFill>
                  <a:srgbClr val="1C1C1C"/>
                </a:solidFill>
                <a:latin typeface="Calibri" pitchFamily="34" charset="0"/>
                <a:ea typeface="Calibri" pitchFamily="34" charset="-122"/>
                <a:cs typeface="Calibri" pitchFamily="34" charset="-120"/>
              </a:rPr>
              <a:t>Résidence test PPPT</a:t>
            </a:r>
            <a:pPr algn="ctr" indent="0" marL="0">
              <a:buNone/>
            </a:pPr>
            <a:r>
              <a:rPr lang="en-US" sz="1120" dirty="0">
                <a:solidFill>
                  <a:srgbClr val="1C1C1C"/>
                </a:solidFill>
                <a:latin typeface="Calibri" pitchFamily="34" charset="0"/>
                <a:ea typeface="Calibri" pitchFamily="34" charset="-122"/>
                <a:cs typeface="Calibri" pitchFamily="34" charset="-120"/>
              </a:rPr>
              <a:t>, représentée par son syndic, </a:t>
            </a:r>
            <a:pPr algn="ctr" indent="0" marL="0">
              <a:buNone/>
            </a:pPr>
            <a:r>
              <a:rPr lang="en-US" sz="1120" b="1" dirty="0">
                <a:solidFill>
                  <a:srgbClr val="1C1C1C"/>
                </a:solidFill>
                <a:latin typeface="Calibri" pitchFamily="34" charset="0"/>
                <a:ea typeface="Calibri" pitchFamily="34" charset="-122"/>
                <a:cs typeface="Calibri" pitchFamily="34" charset="-120"/>
              </a:rPr>
              <a:t>Syndic de test</a:t>
            </a:r>
            <a:endParaRPr lang="en-US" sz="1120" dirty="0"/>
          </a:p>
        </p:txBody>
      </p:sp>
      <p:sp>
        <p:nvSpPr>
          <p:cNvPr id="25" name="Text 17"/>
          <p:cNvSpPr/>
          <p:nvPr/>
        </p:nvSpPr>
        <p:spPr>
          <a:xfrm>
            <a:off x="936000" y="10170000"/>
            <a:ext cx="5688000" cy="396000"/>
          </a:xfrm>
          <a:prstGeom prst="rect">
            <a:avLst/>
          </a:prstGeom>
          <a:noFill/>
          <a:ln/>
        </p:spPr>
        <p:txBody>
          <a:bodyPr wrap="square" lIns="0" tIns="0" rIns="0" bIns="0" rtlCol="0" anchor="ctr">
            <a:normAutofit/>
          </a:bodyPr>
          <a:lstStyle/>
          <a:p>
            <a:pPr algn="ctr" indent="0" marL="0">
              <a:buNone/>
            </a:pPr>
            <a:r>
              <a:rPr lang="en-US" sz="960" dirty="0">
                <a:solidFill>
                  <a:srgbClr val="1C1C1C"/>
                </a:solidFill>
                <a:latin typeface="Calibri" pitchFamily="34" charset="0"/>
                <a:ea typeface="Calibri" pitchFamily="34" charset="-122"/>
                <a:cs typeface="Calibri" pitchFamily="34" charset="-120"/>
              </a:rPr>
              <a:t>Le présent rapport forme un ensemble indivisible. Il ne peut être interprété ou diffusé partiellement et doit être communiqué dans son intégralité.</a:t>
            </a:r>
            <a:endParaRPr lang="en-US" sz="960" dirty="0"/>
          </a:p>
        </p:txBody>
      </p:sp>
      <p:sp>
        <p:nvSpPr>
          <p:cNvPr id="26" name="Text 18"/>
          <p:cNvSpPr/>
          <p:nvPr/>
        </p:nvSpPr>
        <p:spPr>
          <a:xfrm>
            <a:off x="1260000" y="8593200"/>
            <a:ext cx="3780000" cy="230400"/>
          </a:xfrm>
          <a:prstGeom prst="rect">
            <a:avLst/>
          </a:prstGeom>
          <a:noFill/>
          <a:ln/>
        </p:spPr>
        <p:txBody>
          <a:bodyPr wrap="square" lIns="0" tIns="0" rIns="0" bIns="0" rtlCol="0" anchor="ctr">
            <a:normAutofit/>
          </a:bodyPr>
          <a:lstStyle/>
          <a:p>
            <a:pPr indent="0" marL="0">
              <a:buNone/>
            </a:pPr>
            <a:r>
              <a:rPr lang="en-US" sz="1130" dirty="0">
                <a:solidFill>
                  <a:srgbClr val="1C1C1C"/>
                </a:solidFill>
                <a:latin typeface="Calibri" pitchFamily="34" charset="0"/>
                <a:ea typeface="Calibri" pitchFamily="34" charset="-122"/>
                <a:cs typeface="Calibri" pitchFamily="34" charset="-120"/>
              </a:rPr>
              <a:t>Ce rapport contient : 36 pages</a:t>
            </a:r>
            <a:endParaRPr lang="en-US" sz="11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Shape 2"/>
          <p:cNvSpPr/>
          <p:nvPr/>
        </p:nvSpPr>
        <p:spPr>
          <a:xfrm>
            <a:off x="540000" y="1234800"/>
            <a:ext cx="6483600" cy="331200"/>
          </a:xfrm>
          <a:prstGeom prst="rect">
            <a:avLst/>
          </a:prstGeom>
          <a:solidFill>
            <a:srgbClr val="D9D9D9"/>
          </a:solidFill>
          <a:ln w="10160">
            <a:solidFill>
              <a:srgbClr val="242424"/>
            </a:solidFill>
            <a:prstDash val="solid"/>
          </a:ln>
        </p:spPr>
      </p:sp>
      <p:sp>
        <p:nvSpPr>
          <p:cNvPr id="6" name="Text 3"/>
          <p:cNvSpPr/>
          <p:nvPr/>
        </p:nvSpPr>
        <p:spPr>
          <a:xfrm>
            <a:off x="622800" y="12744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donneur d’ordre</a:t>
            </a:r>
            <a:endParaRPr lang="en-US" sz="1050" dirty="0"/>
          </a:p>
        </p:txBody>
      </p:sp>
      <p:sp>
        <p:nvSpPr>
          <p:cNvPr id="7" name="Shape 4"/>
          <p:cNvSpPr/>
          <p:nvPr/>
        </p:nvSpPr>
        <p:spPr>
          <a:xfrm>
            <a:off x="540000" y="1566000"/>
            <a:ext cx="6483600" cy="331200"/>
          </a:xfrm>
          <a:prstGeom prst="rect">
            <a:avLst/>
          </a:prstGeom>
          <a:solidFill>
            <a:srgbClr val="FFFFFF"/>
          </a:solidFill>
          <a:ln w="10160">
            <a:solidFill>
              <a:srgbClr val="242424"/>
            </a:solidFill>
            <a:prstDash val="solid"/>
          </a:ln>
        </p:spPr>
      </p:sp>
      <p:sp>
        <p:nvSpPr>
          <p:cNvPr id="8" name="Text 5"/>
          <p:cNvSpPr/>
          <p:nvPr/>
        </p:nvSpPr>
        <p:spPr>
          <a:xfrm>
            <a:off x="622800" y="16056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Syndic de test</a:t>
            </a:r>
            <a:endParaRPr lang="en-US" sz="1050" dirty="0"/>
          </a:p>
        </p:txBody>
      </p:sp>
      <p:sp>
        <p:nvSpPr>
          <p:cNvPr id="9" name="Shape 6"/>
          <p:cNvSpPr/>
          <p:nvPr/>
        </p:nvSpPr>
        <p:spPr>
          <a:xfrm>
            <a:off x="540000" y="1897200"/>
            <a:ext cx="6483600" cy="331200"/>
          </a:xfrm>
          <a:prstGeom prst="rect">
            <a:avLst/>
          </a:prstGeom>
          <a:solidFill>
            <a:srgbClr val="FFFFFF"/>
          </a:solidFill>
          <a:ln w="10160">
            <a:solidFill>
              <a:srgbClr val="242424"/>
            </a:solidFill>
            <a:prstDash val="solid"/>
          </a:ln>
        </p:spPr>
      </p:sp>
      <p:sp>
        <p:nvSpPr>
          <p:cNvPr id="10" name="Text 7"/>
          <p:cNvSpPr/>
          <p:nvPr/>
        </p:nvSpPr>
        <p:spPr>
          <a:xfrm>
            <a:off x="622800" y="1936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12 avenue des Essais, 75000 Paris</a:t>
            </a:r>
            <a:endParaRPr lang="en-US" sz="1050" dirty="0"/>
          </a:p>
        </p:txBody>
      </p:sp>
      <p:sp>
        <p:nvSpPr>
          <p:cNvPr id="11" name="Shape 8"/>
          <p:cNvSpPr/>
          <p:nvPr/>
        </p:nvSpPr>
        <p:spPr>
          <a:xfrm>
            <a:off x="540000" y="2458800"/>
            <a:ext cx="3240000" cy="331200"/>
          </a:xfrm>
          <a:prstGeom prst="rect">
            <a:avLst/>
          </a:prstGeom>
          <a:solidFill>
            <a:srgbClr val="D9D9D9"/>
          </a:solidFill>
          <a:ln w="10160">
            <a:solidFill>
              <a:srgbClr val="242424"/>
            </a:solidFill>
            <a:prstDash val="solid"/>
          </a:ln>
        </p:spPr>
      </p:sp>
      <p:sp>
        <p:nvSpPr>
          <p:cNvPr id="12" name="Text 9"/>
          <p:cNvSpPr/>
          <p:nvPr/>
        </p:nvSpPr>
        <p:spPr>
          <a:xfrm>
            <a:off x="622800" y="2498400"/>
            <a:ext cx="307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chargé de projet</a:t>
            </a:r>
            <a:endParaRPr lang="en-US" sz="1050" dirty="0"/>
          </a:p>
        </p:txBody>
      </p:sp>
      <p:sp>
        <p:nvSpPr>
          <p:cNvPr id="13" name="Shape 10"/>
          <p:cNvSpPr/>
          <p:nvPr/>
        </p:nvSpPr>
        <p:spPr>
          <a:xfrm>
            <a:off x="3780000" y="2458800"/>
            <a:ext cx="3243600" cy="331200"/>
          </a:xfrm>
          <a:prstGeom prst="rect">
            <a:avLst/>
          </a:prstGeom>
          <a:solidFill>
            <a:srgbClr val="D9D9D9"/>
          </a:solidFill>
          <a:ln w="10160">
            <a:solidFill>
              <a:srgbClr val="242424"/>
            </a:solidFill>
            <a:prstDash val="solid"/>
          </a:ln>
        </p:spPr>
      </p:sp>
      <p:sp>
        <p:nvSpPr>
          <p:cNvPr id="14" name="Text 11"/>
          <p:cNvSpPr/>
          <p:nvPr/>
        </p:nvSpPr>
        <p:spPr>
          <a:xfrm>
            <a:off x="3862800" y="2498400"/>
            <a:ext cx="307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Vérificateur</a:t>
            </a:r>
            <a:endParaRPr lang="en-US" sz="1050" dirty="0"/>
          </a:p>
        </p:txBody>
      </p:sp>
      <p:sp>
        <p:nvSpPr>
          <p:cNvPr id="15" name="Shape 12"/>
          <p:cNvSpPr/>
          <p:nvPr/>
        </p:nvSpPr>
        <p:spPr>
          <a:xfrm>
            <a:off x="540000" y="2790000"/>
            <a:ext cx="3240000" cy="331200"/>
          </a:xfrm>
          <a:prstGeom prst="rect">
            <a:avLst/>
          </a:prstGeom>
          <a:solidFill>
            <a:srgbClr val="FFFFFF"/>
          </a:solidFill>
          <a:ln w="10160">
            <a:solidFill>
              <a:srgbClr val="242424"/>
            </a:solidFill>
            <a:prstDash val="solid"/>
          </a:ln>
        </p:spPr>
      </p:sp>
      <p:sp>
        <p:nvSpPr>
          <p:cNvPr id="16" name="Text 13"/>
          <p:cNvSpPr/>
          <p:nvPr/>
        </p:nvSpPr>
        <p:spPr>
          <a:xfrm>
            <a:off x="622800" y="2829600"/>
            <a:ext cx="30744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Chargé de projet test</a:t>
            </a:r>
            <a:endParaRPr lang="en-US" sz="1050" dirty="0"/>
          </a:p>
        </p:txBody>
      </p:sp>
      <p:sp>
        <p:nvSpPr>
          <p:cNvPr id="17" name="Shape 14"/>
          <p:cNvSpPr/>
          <p:nvPr/>
        </p:nvSpPr>
        <p:spPr>
          <a:xfrm>
            <a:off x="3780000" y="2790000"/>
            <a:ext cx="3243600" cy="331200"/>
          </a:xfrm>
          <a:prstGeom prst="rect">
            <a:avLst/>
          </a:prstGeom>
          <a:solidFill>
            <a:srgbClr val="FFFFFF"/>
          </a:solidFill>
          <a:ln w="10160">
            <a:solidFill>
              <a:srgbClr val="242424"/>
            </a:solidFill>
            <a:prstDash val="solid"/>
          </a:ln>
        </p:spPr>
      </p:sp>
      <p:sp>
        <p:nvSpPr>
          <p:cNvPr id="18" name="Text 15"/>
          <p:cNvSpPr/>
          <p:nvPr/>
        </p:nvSpPr>
        <p:spPr>
          <a:xfrm>
            <a:off x="3862800" y="2829600"/>
            <a:ext cx="307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Vérificateur test</a:t>
            </a:r>
            <a:endParaRPr lang="en-US" sz="1050" dirty="0"/>
          </a:p>
        </p:txBody>
      </p:sp>
      <p:sp>
        <p:nvSpPr>
          <p:cNvPr id="19" name="Shape 16"/>
          <p:cNvSpPr/>
          <p:nvPr/>
        </p:nvSpPr>
        <p:spPr>
          <a:xfrm>
            <a:off x="540000" y="3121200"/>
            <a:ext cx="3240000" cy="414000"/>
          </a:xfrm>
          <a:prstGeom prst="rect">
            <a:avLst/>
          </a:prstGeom>
          <a:solidFill>
            <a:srgbClr val="FFFFFF"/>
          </a:solidFill>
          <a:ln w="10160">
            <a:solidFill>
              <a:srgbClr val="242424"/>
            </a:solidFill>
            <a:prstDash val="solid"/>
          </a:ln>
        </p:spPr>
      </p:sp>
      <p:sp>
        <p:nvSpPr>
          <p:cNvPr id="20" name="Text 17"/>
          <p:cNvSpPr/>
          <p:nvPr/>
        </p:nvSpPr>
        <p:spPr>
          <a:xfrm>
            <a:off x="622800" y="3160800"/>
            <a:ext cx="30744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Ingénieur thermicien</a:t>
            </a:r>
            <a:endParaRPr lang="en-US" sz="1050" dirty="0"/>
          </a:p>
        </p:txBody>
      </p:sp>
      <p:sp>
        <p:nvSpPr>
          <p:cNvPr id="21" name="Shape 18"/>
          <p:cNvSpPr/>
          <p:nvPr/>
        </p:nvSpPr>
        <p:spPr>
          <a:xfrm>
            <a:off x="3780000" y="3121200"/>
            <a:ext cx="3243600" cy="414000"/>
          </a:xfrm>
          <a:prstGeom prst="rect">
            <a:avLst/>
          </a:prstGeom>
          <a:solidFill>
            <a:srgbClr val="FFFFFF"/>
          </a:solidFill>
          <a:ln w="10160">
            <a:solidFill>
              <a:srgbClr val="242424"/>
            </a:solidFill>
            <a:prstDash val="solid"/>
          </a:ln>
        </p:spPr>
      </p:sp>
      <p:sp>
        <p:nvSpPr>
          <p:cNvPr id="22" name="Text 19"/>
          <p:cNvSpPr/>
          <p:nvPr/>
        </p:nvSpPr>
        <p:spPr>
          <a:xfrm>
            <a:off x="3862800" y="3160800"/>
            <a:ext cx="30780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Responsable technique</a:t>
            </a:r>
            <a:endParaRPr lang="en-US" sz="1050" dirty="0"/>
          </a:p>
        </p:txBody>
      </p:sp>
      <p:sp>
        <p:nvSpPr>
          <p:cNvPr id="23" name="Shape 20"/>
          <p:cNvSpPr/>
          <p:nvPr/>
        </p:nvSpPr>
        <p:spPr>
          <a:xfrm>
            <a:off x="540000" y="3535200"/>
            <a:ext cx="6483600" cy="331200"/>
          </a:xfrm>
          <a:prstGeom prst="rect">
            <a:avLst/>
          </a:prstGeom>
          <a:solidFill>
            <a:srgbClr val="D9D9D9"/>
          </a:solidFill>
          <a:ln w="10160">
            <a:solidFill>
              <a:srgbClr val="242424"/>
            </a:solidFill>
            <a:prstDash val="solid"/>
          </a:ln>
        </p:spPr>
      </p:sp>
      <p:sp>
        <p:nvSpPr>
          <p:cNvPr id="24" name="Text 21"/>
          <p:cNvSpPr/>
          <p:nvPr/>
        </p:nvSpPr>
        <p:spPr>
          <a:xfrm>
            <a:off x="622800" y="35748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Intervenant sur site</a:t>
            </a:r>
            <a:endParaRPr lang="en-US" sz="1050" dirty="0"/>
          </a:p>
        </p:txBody>
      </p:sp>
      <p:sp>
        <p:nvSpPr>
          <p:cNvPr id="25" name="Shape 22"/>
          <p:cNvSpPr/>
          <p:nvPr/>
        </p:nvSpPr>
        <p:spPr>
          <a:xfrm>
            <a:off x="540000" y="3866400"/>
            <a:ext cx="6483600" cy="331200"/>
          </a:xfrm>
          <a:prstGeom prst="rect">
            <a:avLst/>
          </a:prstGeom>
          <a:solidFill>
            <a:srgbClr val="FFFFFF"/>
          </a:solidFill>
          <a:ln w="10160">
            <a:solidFill>
              <a:srgbClr val="242424"/>
            </a:solidFill>
            <a:prstDash val="solid"/>
          </a:ln>
        </p:spPr>
      </p:sp>
      <p:sp>
        <p:nvSpPr>
          <p:cNvPr id="26" name="Text 23"/>
          <p:cNvSpPr/>
          <p:nvPr/>
        </p:nvSpPr>
        <p:spPr>
          <a:xfrm>
            <a:off x="622800" y="3906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Intervenant test</a:t>
            </a:r>
            <a:endParaRPr lang="en-US" sz="1050" dirty="0"/>
          </a:p>
        </p:txBody>
      </p:sp>
      <p:sp>
        <p:nvSpPr>
          <p:cNvPr id="27" name="Shape 24"/>
          <p:cNvSpPr/>
          <p:nvPr/>
        </p:nvSpPr>
        <p:spPr>
          <a:xfrm>
            <a:off x="540000" y="4428000"/>
            <a:ext cx="6483600" cy="331200"/>
          </a:xfrm>
          <a:prstGeom prst="rect">
            <a:avLst/>
          </a:prstGeom>
          <a:solidFill>
            <a:srgbClr val="D9D9D9"/>
          </a:solidFill>
          <a:ln w="10160">
            <a:solidFill>
              <a:srgbClr val="242424"/>
            </a:solidFill>
            <a:prstDash val="solid"/>
          </a:ln>
        </p:spPr>
      </p:sp>
      <p:sp>
        <p:nvSpPr>
          <p:cNvPr id="28" name="Text 25"/>
          <p:cNvSpPr/>
          <p:nvPr/>
        </p:nvSpPr>
        <p:spPr>
          <a:xfrm>
            <a:off x="622800" y="4467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Emetteur du rapport</a:t>
            </a:r>
            <a:endParaRPr lang="en-US" sz="1050" dirty="0"/>
          </a:p>
        </p:txBody>
      </p:sp>
      <p:sp>
        <p:nvSpPr>
          <p:cNvPr id="29" name="Shape 26"/>
          <p:cNvSpPr/>
          <p:nvPr/>
        </p:nvSpPr>
        <p:spPr>
          <a:xfrm>
            <a:off x="540000" y="4759200"/>
            <a:ext cx="6483600" cy="331200"/>
          </a:xfrm>
          <a:prstGeom prst="rect">
            <a:avLst/>
          </a:prstGeom>
          <a:solidFill>
            <a:srgbClr val="FFFFFF"/>
          </a:solidFill>
          <a:ln w="10160">
            <a:solidFill>
              <a:srgbClr val="242424"/>
            </a:solidFill>
            <a:prstDash val="solid"/>
          </a:ln>
        </p:spPr>
      </p:sp>
      <p:sp>
        <p:nvSpPr>
          <p:cNvPr id="30" name="Text 27"/>
          <p:cNvSpPr/>
          <p:nvPr/>
        </p:nvSpPr>
        <p:spPr>
          <a:xfrm>
            <a:off x="622800" y="4798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Raison sociale : SAS France Verte</a:t>
            </a:r>
            <a:endParaRPr lang="en-US" sz="1050" dirty="0"/>
          </a:p>
        </p:txBody>
      </p:sp>
      <p:sp>
        <p:nvSpPr>
          <p:cNvPr id="31" name="Shape 28"/>
          <p:cNvSpPr/>
          <p:nvPr/>
        </p:nvSpPr>
        <p:spPr>
          <a:xfrm>
            <a:off x="540000" y="5090400"/>
            <a:ext cx="6483600" cy="331200"/>
          </a:xfrm>
          <a:prstGeom prst="rect">
            <a:avLst/>
          </a:prstGeom>
          <a:solidFill>
            <a:srgbClr val="FFFFFF"/>
          </a:solidFill>
          <a:ln w="10160">
            <a:solidFill>
              <a:srgbClr val="242424"/>
            </a:solidFill>
            <a:prstDash val="solid"/>
          </a:ln>
        </p:spPr>
      </p:sp>
      <p:sp>
        <p:nvSpPr>
          <p:cNvPr id="32" name="Text 29"/>
          <p:cNvSpPr/>
          <p:nvPr/>
        </p:nvSpPr>
        <p:spPr>
          <a:xfrm>
            <a:off x="622800" y="5130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 69300 Caluire-et-Cuire</a:t>
            </a:r>
            <a:endParaRPr lang="en-US" sz="1050" dirty="0"/>
          </a:p>
        </p:txBody>
      </p:sp>
      <p:sp>
        <p:nvSpPr>
          <p:cNvPr id="33" name="Shape 30"/>
          <p:cNvSpPr/>
          <p:nvPr/>
        </p:nvSpPr>
        <p:spPr>
          <a:xfrm>
            <a:off x="540000" y="5421600"/>
            <a:ext cx="6483600" cy="331200"/>
          </a:xfrm>
          <a:prstGeom prst="rect">
            <a:avLst/>
          </a:prstGeom>
          <a:solidFill>
            <a:srgbClr val="FFFFFF"/>
          </a:solidFill>
          <a:ln w="10160">
            <a:solidFill>
              <a:srgbClr val="242424"/>
            </a:solidFill>
            <a:prstDash val="solid"/>
          </a:ln>
        </p:spPr>
      </p:sp>
      <p:sp>
        <p:nvSpPr>
          <p:cNvPr id="34" name="Text 31"/>
          <p:cNvSpPr/>
          <p:nvPr/>
        </p:nvSpPr>
        <p:spPr>
          <a:xfrm>
            <a:off x="622800" y="54612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Contact : contact@groupefranceverte.fr / 09 86 08 79 79</a:t>
            </a:r>
            <a:endParaRPr lang="en-US" sz="1050" dirty="0"/>
          </a:p>
        </p:txBody>
      </p:sp>
      <p:sp>
        <p:nvSpPr>
          <p:cNvPr id="35" name="Shape 32"/>
          <p:cNvSpPr/>
          <p:nvPr/>
        </p:nvSpPr>
        <p:spPr>
          <a:xfrm>
            <a:off x="540000" y="5752800"/>
            <a:ext cx="6483600" cy="331200"/>
          </a:xfrm>
          <a:prstGeom prst="rect">
            <a:avLst/>
          </a:prstGeom>
          <a:solidFill>
            <a:srgbClr val="FFFFFF"/>
          </a:solidFill>
          <a:ln w="10160">
            <a:solidFill>
              <a:srgbClr val="242424"/>
            </a:solidFill>
            <a:prstDash val="solid"/>
          </a:ln>
        </p:spPr>
      </p:sp>
      <p:sp>
        <p:nvSpPr>
          <p:cNvPr id="36" name="Text 33"/>
          <p:cNvSpPr/>
          <p:nvPr/>
        </p:nvSpPr>
        <p:spPr>
          <a:xfrm>
            <a:off x="622800" y="57924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Site internet : https://www.francevertepro.fr/</a:t>
            </a:r>
            <a:endParaRPr lang="en-US" sz="1050" dirty="0"/>
          </a:p>
        </p:txBody>
      </p:sp>
      <p:sp>
        <p:nvSpPr>
          <p:cNvPr id="37" name="Shape 34"/>
          <p:cNvSpPr/>
          <p:nvPr/>
        </p:nvSpPr>
        <p:spPr>
          <a:xfrm>
            <a:off x="540000" y="6300000"/>
            <a:ext cx="6483600" cy="331200"/>
          </a:xfrm>
          <a:prstGeom prst="rect">
            <a:avLst/>
          </a:prstGeom>
          <a:solidFill>
            <a:srgbClr val="D9D9D9"/>
          </a:solidFill>
          <a:ln w="10160">
            <a:solidFill>
              <a:srgbClr val="242424"/>
            </a:solidFill>
            <a:prstDash val="solid"/>
          </a:ln>
        </p:spPr>
      </p:sp>
      <p:sp>
        <p:nvSpPr>
          <p:cNvPr id="38" name="Text 35"/>
          <p:cNvSpPr/>
          <p:nvPr/>
        </p:nvSpPr>
        <p:spPr>
          <a:xfrm>
            <a:off x="622800" y="6339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Localisation de la copropriété</a:t>
            </a:r>
            <a:endParaRPr lang="en-US" sz="1050" dirty="0"/>
          </a:p>
        </p:txBody>
      </p:sp>
      <p:sp>
        <p:nvSpPr>
          <p:cNvPr id="39" name="Shape 36"/>
          <p:cNvSpPr/>
          <p:nvPr/>
        </p:nvSpPr>
        <p:spPr>
          <a:xfrm>
            <a:off x="540000" y="6631200"/>
            <a:ext cx="3240000" cy="334800"/>
          </a:xfrm>
          <a:prstGeom prst="rect">
            <a:avLst/>
          </a:prstGeom>
          <a:solidFill>
            <a:srgbClr val="FFFFFF"/>
          </a:solidFill>
          <a:ln w="10160">
            <a:solidFill>
              <a:srgbClr val="242424"/>
            </a:solidFill>
            <a:prstDash val="solid"/>
          </a:ln>
        </p:spPr>
      </p:sp>
      <p:sp>
        <p:nvSpPr>
          <p:cNvPr id="40" name="Text 37"/>
          <p:cNvSpPr/>
          <p:nvPr/>
        </p:nvSpPr>
        <p:spPr>
          <a:xfrm>
            <a:off x="622800" y="6670800"/>
            <a:ext cx="30744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10 rue de la Validation, 75000 Paris</a:t>
            </a:r>
            <a:endParaRPr lang="en-US" sz="1050" dirty="0"/>
          </a:p>
        </p:txBody>
      </p:sp>
      <p:sp>
        <p:nvSpPr>
          <p:cNvPr id="41" name="Shape 38"/>
          <p:cNvSpPr/>
          <p:nvPr/>
        </p:nvSpPr>
        <p:spPr>
          <a:xfrm>
            <a:off x="3780000" y="6631200"/>
            <a:ext cx="3243600" cy="334800"/>
          </a:xfrm>
          <a:prstGeom prst="rect">
            <a:avLst/>
          </a:prstGeom>
          <a:solidFill>
            <a:srgbClr val="FFFFFF"/>
          </a:solidFill>
          <a:ln w="10160">
            <a:solidFill>
              <a:srgbClr val="242424"/>
            </a:solidFill>
            <a:prstDash val="solid"/>
          </a:ln>
        </p:spPr>
      </p:sp>
      <p:sp>
        <p:nvSpPr>
          <p:cNvPr id="42" name="Text 39"/>
          <p:cNvSpPr/>
          <p:nvPr/>
        </p:nvSpPr>
        <p:spPr>
          <a:xfrm>
            <a:off x="3862800" y="6670800"/>
            <a:ext cx="30780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Référence cadastrale : AB 0123</a:t>
            </a:r>
            <a:endParaRPr lang="en-US" sz="1050" dirty="0"/>
          </a:p>
        </p:txBody>
      </p:sp>
      <p:sp>
        <p:nvSpPr>
          <p:cNvPr id="43" name="Shape 40"/>
          <p:cNvSpPr/>
          <p:nvPr/>
        </p:nvSpPr>
        <p:spPr>
          <a:xfrm>
            <a:off x="540000" y="6966000"/>
            <a:ext cx="6483600" cy="3110400"/>
          </a:xfrm>
          <a:prstGeom prst="rect">
            <a:avLst/>
          </a:prstGeom>
          <a:solidFill>
            <a:srgbClr val="FFFFFF"/>
          </a:solidFill>
          <a:ln w="10160">
            <a:solidFill>
              <a:srgbClr val="242424"/>
            </a:solidFill>
            <a:prstDash val="solid"/>
          </a:ln>
        </p:spPr>
      </p:sp>
      <p:pic>
        <p:nvPicPr>
          <p:cNvPr id="44" name="Image 1" descr="Extrait cadastral fourni pour la copropriété">    </p:cNvPr>
          <p:cNvPicPr>
            <a:picLocks noChangeAspect="1"/>
          </p:cNvPicPr>
          <p:nvPr/>
        </p:nvPicPr>
        <p:blipFill>
          <a:blip r:embed="rId2"/>
          <a:srcRect l="0" r="0" t="0" b="0"/>
          <a:stretch/>
        </p:blipFill>
        <p:spPr>
          <a:xfrm>
            <a:off x="1843200" y="7153200"/>
            <a:ext cx="3960000" cy="2520000"/>
          </a:xfrm>
          <a:prstGeom prst="rect">
            <a:avLst/>
          </a:prstGeom>
        </p:spPr>
      </p:pic>
      <p:sp>
        <p:nvSpPr>
          <p:cNvPr id="45" name="Text 41"/>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test PPPT</a:t>
            </a:r>
            <a:endParaRPr lang="en-US" sz="950" dirty="0"/>
          </a:p>
        </p:txBody>
      </p:sp>
      <p:sp>
        <p:nvSpPr>
          <p:cNvPr id="46" name="Text 42"/>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22800" y="1368000"/>
            <a:ext cx="6300000" cy="252000"/>
          </a:xfrm>
          <a:prstGeom prst="rect">
            <a:avLst/>
          </a:prstGeom>
          <a:noFill/>
          <a:ln/>
        </p:spPr>
        <p:txBody>
          <a:bodyPr wrap="square" lIns="0" tIns="0" rIns="0" bIns="0" rtlCol="0" anchor="ctr">
            <a:normAutofit/>
          </a:bodyPr>
          <a:lstStyle/>
          <a:p>
            <a:pPr indent="0" marL="0">
              <a:buNone/>
            </a:pPr>
            <a:r>
              <a:rPr lang="en-US" sz="1200" b="1" dirty="0">
                <a:solidFill>
                  <a:srgbClr val="1C1C1C"/>
                </a:solidFill>
                <a:latin typeface="Calibri" pitchFamily="34" charset="0"/>
                <a:ea typeface="Calibri" pitchFamily="34" charset="-122"/>
                <a:cs typeface="Calibri" pitchFamily="34" charset="-120"/>
              </a:rPr>
              <a:t>Description de la copropriété :</a:t>
            </a:r>
            <a:endParaRPr lang="en-US" sz="1200" dirty="0"/>
          </a:p>
        </p:txBody>
      </p:sp>
      <p:sp>
        <p:nvSpPr>
          <p:cNvPr id="6" name="Shape 3"/>
          <p:cNvSpPr/>
          <p:nvPr/>
        </p:nvSpPr>
        <p:spPr>
          <a:xfrm>
            <a:off x="540000" y="1879200"/>
            <a:ext cx="6483600" cy="324000"/>
          </a:xfrm>
          <a:prstGeom prst="rect">
            <a:avLst/>
          </a:prstGeom>
          <a:solidFill>
            <a:srgbClr val="D9D9D9"/>
          </a:solidFill>
          <a:ln w="10160">
            <a:solidFill>
              <a:srgbClr val="242424"/>
            </a:solidFill>
            <a:prstDash val="solid"/>
          </a:ln>
        </p:spPr>
      </p:sp>
      <p:sp>
        <p:nvSpPr>
          <p:cNvPr id="7" name="Text 4"/>
          <p:cNvSpPr/>
          <p:nvPr/>
        </p:nvSpPr>
        <p:spPr>
          <a:xfrm>
            <a:off x="622800" y="1918800"/>
            <a:ext cx="6318000" cy="244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Résidence Résidence test PPPT</a:t>
            </a:r>
            <a:endParaRPr lang="en-US" sz="1050" dirty="0"/>
          </a:p>
        </p:txBody>
      </p:sp>
      <p:sp>
        <p:nvSpPr>
          <p:cNvPr id="8" name="Shape 5"/>
          <p:cNvSpPr/>
          <p:nvPr/>
        </p:nvSpPr>
        <p:spPr>
          <a:xfrm>
            <a:off x="540000" y="2203200"/>
            <a:ext cx="1620000" cy="331200"/>
          </a:xfrm>
          <a:prstGeom prst="rect">
            <a:avLst/>
          </a:prstGeom>
          <a:solidFill>
            <a:srgbClr val="D9D9D9"/>
          </a:solidFill>
          <a:ln w="10160">
            <a:solidFill>
              <a:srgbClr val="242424"/>
            </a:solidFill>
            <a:prstDash val="solid"/>
          </a:ln>
        </p:spPr>
      </p:sp>
      <p:sp>
        <p:nvSpPr>
          <p:cNvPr id="9" name="Text 6"/>
          <p:cNvSpPr/>
          <p:nvPr/>
        </p:nvSpPr>
        <p:spPr>
          <a:xfrm>
            <a:off x="622800" y="2242800"/>
            <a:ext cx="145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Adresse du site</a:t>
            </a:r>
            <a:endParaRPr lang="en-US" sz="1050" dirty="0"/>
          </a:p>
        </p:txBody>
      </p:sp>
      <p:sp>
        <p:nvSpPr>
          <p:cNvPr id="10" name="Shape 7"/>
          <p:cNvSpPr/>
          <p:nvPr/>
        </p:nvSpPr>
        <p:spPr>
          <a:xfrm>
            <a:off x="2160000" y="2203200"/>
            <a:ext cx="4863600" cy="331200"/>
          </a:xfrm>
          <a:prstGeom prst="rect">
            <a:avLst/>
          </a:prstGeom>
          <a:solidFill>
            <a:srgbClr val="FFFFFF"/>
          </a:solidFill>
          <a:ln w="10160">
            <a:solidFill>
              <a:srgbClr val="242424"/>
            </a:solidFill>
            <a:prstDash val="solid"/>
          </a:ln>
        </p:spPr>
      </p:sp>
      <p:sp>
        <p:nvSpPr>
          <p:cNvPr id="11" name="Text 8"/>
          <p:cNvSpPr/>
          <p:nvPr/>
        </p:nvSpPr>
        <p:spPr>
          <a:xfrm>
            <a:off x="2242800" y="2242800"/>
            <a:ext cx="469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10 rue de la Validation, 75000 Paris</a:t>
            </a:r>
            <a:endParaRPr lang="en-US" sz="1050" dirty="0"/>
          </a:p>
        </p:txBody>
      </p:sp>
      <p:sp>
        <p:nvSpPr>
          <p:cNvPr id="12" name="Shape 9"/>
          <p:cNvSpPr/>
          <p:nvPr/>
        </p:nvSpPr>
        <p:spPr>
          <a:xfrm>
            <a:off x="540000" y="2534400"/>
            <a:ext cx="1620000" cy="421200"/>
          </a:xfrm>
          <a:prstGeom prst="rect">
            <a:avLst/>
          </a:prstGeom>
          <a:solidFill>
            <a:srgbClr val="D9D9D9"/>
          </a:solidFill>
          <a:ln w="10160">
            <a:solidFill>
              <a:srgbClr val="242424"/>
            </a:solidFill>
            <a:prstDash val="solid"/>
          </a:ln>
        </p:spPr>
      </p:sp>
      <p:sp>
        <p:nvSpPr>
          <p:cNvPr id="13" name="Text 10"/>
          <p:cNvSpPr/>
          <p:nvPr/>
        </p:nvSpPr>
        <p:spPr>
          <a:xfrm>
            <a:off x="622800" y="25740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Année de construction</a:t>
            </a:r>
            <a:endParaRPr lang="en-US" sz="1050" dirty="0"/>
          </a:p>
        </p:txBody>
      </p:sp>
      <p:sp>
        <p:nvSpPr>
          <p:cNvPr id="14" name="Shape 11"/>
          <p:cNvSpPr/>
          <p:nvPr/>
        </p:nvSpPr>
        <p:spPr>
          <a:xfrm>
            <a:off x="2160000" y="2534400"/>
            <a:ext cx="1620000" cy="421200"/>
          </a:xfrm>
          <a:prstGeom prst="rect">
            <a:avLst/>
          </a:prstGeom>
          <a:solidFill>
            <a:srgbClr val="FFFFFF"/>
          </a:solidFill>
          <a:ln w="10160">
            <a:solidFill>
              <a:srgbClr val="242424"/>
            </a:solidFill>
            <a:prstDash val="solid"/>
          </a:ln>
        </p:spPr>
      </p:sp>
      <p:sp>
        <p:nvSpPr>
          <p:cNvPr id="15" name="Text 12"/>
          <p:cNvSpPr/>
          <p:nvPr/>
        </p:nvSpPr>
        <p:spPr>
          <a:xfrm>
            <a:off x="2242800" y="25740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Entre 2001 et 2010</a:t>
            </a:r>
            <a:endParaRPr lang="en-US" sz="1050" dirty="0"/>
          </a:p>
        </p:txBody>
      </p:sp>
      <p:sp>
        <p:nvSpPr>
          <p:cNvPr id="16" name="Shape 13"/>
          <p:cNvSpPr/>
          <p:nvPr/>
        </p:nvSpPr>
        <p:spPr>
          <a:xfrm>
            <a:off x="3780000" y="2534400"/>
            <a:ext cx="1566000" cy="421200"/>
          </a:xfrm>
          <a:prstGeom prst="rect">
            <a:avLst/>
          </a:prstGeom>
          <a:solidFill>
            <a:srgbClr val="D9D9D9"/>
          </a:solidFill>
          <a:ln w="10160">
            <a:solidFill>
              <a:srgbClr val="242424"/>
            </a:solidFill>
            <a:prstDash val="solid"/>
          </a:ln>
        </p:spPr>
      </p:sp>
      <p:sp>
        <p:nvSpPr>
          <p:cNvPr id="17" name="Text 14"/>
          <p:cNvSpPr/>
          <p:nvPr/>
        </p:nvSpPr>
        <p:spPr>
          <a:xfrm>
            <a:off x="3862800" y="25740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du règlement de copropriété</a:t>
            </a:r>
            <a:endParaRPr lang="en-US" sz="1050" dirty="0"/>
          </a:p>
        </p:txBody>
      </p:sp>
      <p:sp>
        <p:nvSpPr>
          <p:cNvPr id="18" name="Shape 15"/>
          <p:cNvSpPr/>
          <p:nvPr/>
        </p:nvSpPr>
        <p:spPr>
          <a:xfrm>
            <a:off x="5346000" y="2534400"/>
            <a:ext cx="1677600" cy="421200"/>
          </a:xfrm>
          <a:prstGeom prst="rect">
            <a:avLst/>
          </a:prstGeom>
          <a:solidFill>
            <a:srgbClr val="FFFFFF"/>
          </a:solidFill>
          <a:ln w="10160">
            <a:solidFill>
              <a:srgbClr val="242424"/>
            </a:solidFill>
            <a:prstDash val="solid"/>
          </a:ln>
        </p:spPr>
      </p:sp>
      <p:sp>
        <p:nvSpPr>
          <p:cNvPr id="19" name="Text 16"/>
          <p:cNvSpPr/>
          <p:nvPr/>
        </p:nvSpPr>
        <p:spPr>
          <a:xfrm>
            <a:off x="5428800" y="25740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06/03/2007</a:t>
            </a:r>
            <a:endParaRPr lang="en-US" sz="1050" dirty="0"/>
          </a:p>
        </p:txBody>
      </p:sp>
      <p:sp>
        <p:nvSpPr>
          <p:cNvPr id="20" name="Shape 17"/>
          <p:cNvSpPr/>
          <p:nvPr/>
        </p:nvSpPr>
        <p:spPr>
          <a:xfrm>
            <a:off x="540000" y="2955600"/>
            <a:ext cx="1620000" cy="421200"/>
          </a:xfrm>
          <a:prstGeom prst="rect">
            <a:avLst/>
          </a:prstGeom>
          <a:solidFill>
            <a:srgbClr val="D9D9D9"/>
          </a:solidFill>
          <a:ln w="10160">
            <a:solidFill>
              <a:srgbClr val="242424"/>
            </a:solidFill>
            <a:prstDash val="solid"/>
          </a:ln>
        </p:spPr>
      </p:sp>
      <p:sp>
        <p:nvSpPr>
          <p:cNvPr id="21" name="Text 18"/>
          <p:cNvSpPr/>
          <p:nvPr/>
        </p:nvSpPr>
        <p:spPr>
          <a:xfrm>
            <a:off x="622800" y="29952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d’immatriculation</a:t>
            </a:r>
            <a:endParaRPr lang="en-US" sz="1050" dirty="0"/>
          </a:p>
        </p:txBody>
      </p:sp>
      <p:sp>
        <p:nvSpPr>
          <p:cNvPr id="22" name="Shape 19"/>
          <p:cNvSpPr/>
          <p:nvPr/>
        </p:nvSpPr>
        <p:spPr>
          <a:xfrm>
            <a:off x="2160000" y="2955600"/>
            <a:ext cx="1620000" cy="421200"/>
          </a:xfrm>
          <a:prstGeom prst="rect">
            <a:avLst/>
          </a:prstGeom>
          <a:solidFill>
            <a:srgbClr val="FFFFFF"/>
          </a:solidFill>
          <a:ln w="10160">
            <a:solidFill>
              <a:srgbClr val="242424"/>
            </a:solidFill>
            <a:prstDash val="solid"/>
          </a:ln>
        </p:spPr>
      </p:sp>
      <p:sp>
        <p:nvSpPr>
          <p:cNvPr id="23" name="Text 20"/>
          <p:cNvSpPr/>
          <p:nvPr/>
        </p:nvSpPr>
        <p:spPr>
          <a:xfrm>
            <a:off x="2242800" y="29952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27/07/2017</a:t>
            </a:r>
            <a:endParaRPr lang="en-US" sz="1050" dirty="0"/>
          </a:p>
        </p:txBody>
      </p:sp>
      <p:sp>
        <p:nvSpPr>
          <p:cNvPr id="24" name="Shape 21"/>
          <p:cNvSpPr/>
          <p:nvPr/>
        </p:nvSpPr>
        <p:spPr>
          <a:xfrm>
            <a:off x="3780000" y="2955600"/>
            <a:ext cx="1566000" cy="421200"/>
          </a:xfrm>
          <a:prstGeom prst="rect">
            <a:avLst/>
          </a:prstGeom>
          <a:solidFill>
            <a:srgbClr val="D9D9D9"/>
          </a:solidFill>
          <a:ln w="10160">
            <a:solidFill>
              <a:srgbClr val="242424"/>
            </a:solidFill>
            <a:prstDash val="solid"/>
          </a:ln>
        </p:spPr>
      </p:sp>
      <p:sp>
        <p:nvSpPr>
          <p:cNvPr id="25" name="Text 22"/>
          <p:cNvSpPr/>
          <p:nvPr/>
        </p:nvSpPr>
        <p:spPr>
          <a:xfrm>
            <a:off x="3862800" y="29952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Numéro d’immatriculation</a:t>
            </a:r>
            <a:endParaRPr lang="en-US" sz="1050" dirty="0"/>
          </a:p>
        </p:txBody>
      </p:sp>
      <p:sp>
        <p:nvSpPr>
          <p:cNvPr id="26" name="Shape 23"/>
          <p:cNvSpPr/>
          <p:nvPr/>
        </p:nvSpPr>
        <p:spPr>
          <a:xfrm>
            <a:off x="5346000" y="2955600"/>
            <a:ext cx="1677600" cy="421200"/>
          </a:xfrm>
          <a:prstGeom prst="rect">
            <a:avLst/>
          </a:prstGeom>
          <a:solidFill>
            <a:srgbClr val="FFFFFF"/>
          </a:solidFill>
          <a:ln w="10160">
            <a:solidFill>
              <a:srgbClr val="242424"/>
            </a:solidFill>
            <a:prstDash val="solid"/>
          </a:ln>
        </p:spPr>
      </p:sp>
      <p:sp>
        <p:nvSpPr>
          <p:cNvPr id="27" name="Text 24"/>
          <p:cNvSpPr/>
          <p:nvPr/>
        </p:nvSpPr>
        <p:spPr>
          <a:xfrm>
            <a:off x="5428800" y="29952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AA7634256</a:t>
            </a:r>
            <a:endParaRPr lang="en-US" sz="1050" dirty="0"/>
          </a:p>
        </p:txBody>
      </p:sp>
      <p:sp>
        <p:nvSpPr>
          <p:cNvPr id="28" name="Shape 25"/>
          <p:cNvSpPr/>
          <p:nvPr/>
        </p:nvSpPr>
        <p:spPr>
          <a:xfrm>
            <a:off x="540000" y="3708000"/>
            <a:ext cx="1620000" cy="403200"/>
          </a:xfrm>
          <a:prstGeom prst="rect">
            <a:avLst/>
          </a:prstGeom>
          <a:solidFill>
            <a:srgbClr val="D9D9D9"/>
          </a:solidFill>
          <a:ln w="10160">
            <a:solidFill>
              <a:srgbClr val="242424"/>
            </a:solidFill>
            <a:prstDash val="solid"/>
          </a:ln>
        </p:spPr>
      </p:sp>
      <p:sp>
        <p:nvSpPr>
          <p:cNvPr id="29" name="Text 26"/>
          <p:cNvSpPr/>
          <p:nvPr/>
        </p:nvSpPr>
        <p:spPr>
          <a:xfrm>
            <a:off x="622800" y="37476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bâtiments</a:t>
            </a:r>
            <a:endParaRPr lang="en-US" sz="1000" dirty="0"/>
          </a:p>
        </p:txBody>
      </p:sp>
      <p:sp>
        <p:nvSpPr>
          <p:cNvPr id="30" name="Shape 27"/>
          <p:cNvSpPr/>
          <p:nvPr/>
        </p:nvSpPr>
        <p:spPr>
          <a:xfrm>
            <a:off x="2160000" y="3708000"/>
            <a:ext cx="1620000" cy="403200"/>
          </a:xfrm>
          <a:prstGeom prst="rect">
            <a:avLst/>
          </a:prstGeom>
          <a:solidFill>
            <a:srgbClr val="FFFFFF"/>
          </a:solidFill>
          <a:ln w="10160">
            <a:solidFill>
              <a:srgbClr val="242424"/>
            </a:solidFill>
            <a:prstDash val="solid"/>
          </a:ln>
        </p:spPr>
      </p:sp>
      <p:sp>
        <p:nvSpPr>
          <p:cNvPr id="31" name="Text 28"/>
          <p:cNvSpPr/>
          <p:nvPr/>
        </p:nvSpPr>
        <p:spPr>
          <a:xfrm>
            <a:off x="2242800" y="37476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a:t>
            </a:r>
            <a:endParaRPr lang="en-US" sz="1050" dirty="0"/>
          </a:p>
        </p:txBody>
      </p:sp>
      <p:sp>
        <p:nvSpPr>
          <p:cNvPr id="32" name="Shape 29"/>
          <p:cNvSpPr/>
          <p:nvPr/>
        </p:nvSpPr>
        <p:spPr>
          <a:xfrm>
            <a:off x="3780000" y="3708000"/>
            <a:ext cx="1566000" cy="403200"/>
          </a:xfrm>
          <a:prstGeom prst="rect">
            <a:avLst/>
          </a:prstGeom>
          <a:solidFill>
            <a:srgbClr val="D9D9D9"/>
          </a:solidFill>
          <a:ln w="10160">
            <a:solidFill>
              <a:srgbClr val="242424"/>
            </a:solidFill>
            <a:prstDash val="solid"/>
          </a:ln>
        </p:spPr>
      </p:sp>
      <p:sp>
        <p:nvSpPr>
          <p:cNvPr id="33" name="Text 30"/>
          <p:cNvSpPr/>
          <p:nvPr/>
        </p:nvSpPr>
        <p:spPr>
          <a:xfrm>
            <a:off x="3862800" y="37476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d’entrées</a:t>
            </a:r>
            <a:endParaRPr lang="en-US" sz="1000" dirty="0"/>
          </a:p>
        </p:txBody>
      </p:sp>
      <p:sp>
        <p:nvSpPr>
          <p:cNvPr id="34" name="Shape 31"/>
          <p:cNvSpPr/>
          <p:nvPr/>
        </p:nvSpPr>
        <p:spPr>
          <a:xfrm>
            <a:off x="5346000" y="3708000"/>
            <a:ext cx="1677600" cy="403200"/>
          </a:xfrm>
          <a:prstGeom prst="rect">
            <a:avLst/>
          </a:prstGeom>
          <a:solidFill>
            <a:srgbClr val="FFFFFF"/>
          </a:solidFill>
          <a:ln w="10160">
            <a:solidFill>
              <a:srgbClr val="242424"/>
            </a:solidFill>
            <a:prstDash val="solid"/>
          </a:ln>
        </p:spPr>
      </p:sp>
      <p:sp>
        <p:nvSpPr>
          <p:cNvPr id="35" name="Text 32"/>
          <p:cNvSpPr/>
          <p:nvPr/>
        </p:nvSpPr>
        <p:spPr>
          <a:xfrm>
            <a:off x="5428800" y="37476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a:t>
            </a:r>
            <a:endParaRPr lang="en-US" sz="1050" dirty="0"/>
          </a:p>
        </p:txBody>
      </p:sp>
      <p:sp>
        <p:nvSpPr>
          <p:cNvPr id="36" name="Shape 33"/>
          <p:cNvSpPr/>
          <p:nvPr/>
        </p:nvSpPr>
        <p:spPr>
          <a:xfrm>
            <a:off x="540000" y="4111200"/>
            <a:ext cx="1620000" cy="403200"/>
          </a:xfrm>
          <a:prstGeom prst="rect">
            <a:avLst/>
          </a:prstGeom>
          <a:solidFill>
            <a:srgbClr val="D9D9D9"/>
          </a:solidFill>
          <a:ln w="10160">
            <a:solidFill>
              <a:srgbClr val="242424"/>
            </a:solidFill>
            <a:prstDash val="solid"/>
          </a:ln>
        </p:spPr>
      </p:sp>
      <p:sp>
        <p:nvSpPr>
          <p:cNvPr id="37" name="Text 34"/>
          <p:cNvSpPr/>
          <p:nvPr/>
        </p:nvSpPr>
        <p:spPr>
          <a:xfrm>
            <a:off x="622800" y="41508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a:t>
            </a:r>
            <a:endParaRPr lang="en-US" sz="1000" dirty="0"/>
          </a:p>
        </p:txBody>
      </p:sp>
      <p:sp>
        <p:nvSpPr>
          <p:cNvPr id="38" name="Shape 35"/>
          <p:cNvSpPr/>
          <p:nvPr/>
        </p:nvSpPr>
        <p:spPr>
          <a:xfrm>
            <a:off x="2160000" y="4111200"/>
            <a:ext cx="1620000" cy="403200"/>
          </a:xfrm>
          <a:prstGeom prst="rect">
            <a:avLst/>
          </a:prstGeom>
          <a:solidFill>
            <a:srgbClr val="FFFFFF"/>
          </a:solidFill>
          <a:ln w="10160">
            <a:solidFill>
              <a:srgbClr val="242424"/>
            </a:solidFill>
            <a:prstDash val="solid"/>
          </a:ln>
        </p:spPr>
      </p:sp>
      <p:sp>
        <p:nvSpPr>
          <p:cNvPr id="39" name="Text 36"/>
          <p:cNvSpPr/>
          <p:nvPr/>
        </p:nvSpPr>
        <p:spPr>
          <a:xfrm>
            <a:off x="2242800" y="41508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61</a:t>
            </a:r>
            <a:endParaRPr lang="en-US" sz="1050" dirty="0"/>
          </a:p>
        </p:txBody>
      </p:sp>
      <p:sp>
        <p:nvSpPr>
          <p:cNvPr id="40" name="Shape 37"/>
          <p:cNvSpPr/>
          <p:nvPr/>
        </p:nvSpPr>
        <p:spPr>
          <a:xfrm>
            <a:off x="3780000" y="4111200"/>
            <a:ext cx="1566000" cy="403200"/>
          </a:xfrm>
          <a:prstGeom prst="rect">
            <a:avLst/>
          </a:prstGeom>
          <a:solidFill>
            <a:srgbClr val="D9D9D9"/>
          </a:solidFill>
          <a:ln w="10160">
            <a:solidFill>
              <a:srgbClr val="242424"/>
            </a:solidFill>
            <a:prstDash val="solid"/>
          </a:ln>
        </p:spPr>
      </p:sp>
      <p:sp>
        <p:nvSpPr>
          <p:cNvPr id="41" name="Text 38"/>
          <p:cNvSpPr/>
          <p:nvPr/>
        </p:nvSpPr>
        <p:spPr>
          <a:xfrm>
            <a:off x="3862800" y="41508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niveaux</a:t>
            </a:r>
            <a:endParaRPr lang="en-US" sz="1000" dirty="0"/>
          </a:p>
        </p:txBody>
      </p:sp>
      <p:sp>
        <p:nvSpPr>
          <p:cNvPr id="42" name="Shape 39"/>
          <p:cNvSpPr/>
          <p:nvPr/>
        </p:nvSpPr>
        <p:spPr>
          <a:xfrm>
            <a:off x="5346000" y="4111200"/>
            <a:ext cx="1677600" cy="403200"/>
          </a:xfrm>
          <a:prstGeom prst="rect">
            <a:avLst/>
          </a:prstGeom>
          <a:solidFill>
            <a:srgbClr val="FFFFFF"/>
          </a:solidFill>
          <a:ln w="10160">
            <a:solidFill>
              <a:srgbClr val="242424"/>
            </a:solidFill>
            <a:prstDash val="solid"/>
          </a:ln>
        </p:spPr>
      </p:sp>
      <p:sp>
        <p:nvSpPr>
          <p:cNvPr id="43" name="Text 40"/>
          <p:cNvSpPr/>
          <p:nvPr/>
        </p:nvSpPr>
        <p:spPr>
          <a:xfrm>
            <a:off x="5428800" y="41508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4</a:t>
            </a:r>
            <a:endParaRPr lang="en-US" sz="1050" dirty="0"/>
          </a:p>
        </p:txBody>
      </p:sp>
      <p:sp>
        <p:nvSpPr>
          <p:cNvPr id="44" name="Shape 41"/>
          <p:cNvSpPr/>
          <p:nvPr/>
        </p:nvSpPr>
        <p:spPr>
          <a:xfrm>
            <a:off x="540000" y="4514400"/>
            <a:ext cx="1620000" cy="403200"/>
          </a:xfrm>
          <a:prstGeom prst="rect">
            <a:avLst/>
          </a:prstGeom>
          <a:solidFill>
            <a:srgbClr val="D9D9D9"/>
          </a:solidFill>
          <a:ln w="10160">
            <a:solidFill>
              <a:srgbClr val="242424"/>
            </a:solidFill>
            <a:prstDash val="solid"/>
          </a:ln>
        </p:spPr>
      </p:sp>
      <p:sp>
        <p:nvSpPr>
          <p:cNvPr id="45" name="Text 42"/>
          <p:cNvSpPr/>
          <p:nvPr/>
        </p:nvSpPr>
        <p:spPr>
          <a:xfrm>
            <a:off x="622800" y="45540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principaux</a:t>
            </a:r>
            <a:endParaRPr lang="en-US" sz="1000" dirty="0"/>
          </a:p>
        </p:txBody>
      </p:sp>
      <p:sp>
        <p:nvSpPr>
          <p:cNvPr id="46" name="Shape 43"/>
          <p:cNvSpPr/>
          <p:nvPr/>
        </p:nvSpPr>
        <p:spPr>
          <a:xfrm>
            <a:off x="2160000" y="4514400"/>
            <a:ext cx="1620000" cy="403200"/>
          </a:xfrm>
          <a:prstGeom prst="rect">
            <a:avLst/>
          </a:prstGeom>
          <a:solidFill>
            <a:srgbClr val="FFFFFF"/>
          </a:solidFill>
          <a:ln w="10160">
            <a:solidFill>
              <a:srgbClr val="242424"/>
            </a:solidFill>
            <a:prstDash val="solid"/>
          </a:ln>
        </p:spPr>
      </p:sp>
      <p:sp>
        <p:nvSpPr>
          <p:cNvPr id="47" name="Text 44"/>
          <p:cNvSpPr/>
          <p:nvPr/>
        </p:nvSpPr>
        <p:spPr>
          <a:xfrm>
            <a:off x="2242800" y="45540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22</a:t>
            </a:r>
            <a:endParaRPr lang="en-US" sz="1050" dirty="0"/>
          </a:p>
        </p:txBody>
      </p:sp>
      <p:sp>
        <p:nvSpPr>
          <p:cNvPr id="48" name="Shape 45"/>
          <p:cNvSpPr/>
          <p:nvPr/>
        </p:nvSpPr>
        <p:spPr>
          <a:xfrm>
            <a:off x="3780000" y="4514400"/>
            <a:ext cx="1566000" cy="403200"/>
          </a:xfrm>
          <a:prstGeom prst="rect">
            <a:avLst/>
          </a:prstGeom>
          <a:solidFill>
            <a:srgbClr val="D9D9D9"/>
          </a:solidFill>
          <a:ln w="10160">
            <a:solidFill>
              <a:srgbClr val="242424"/>
            </a:solidFill>
            <a:prstDash val="solid"/>
          </a:ln>
        </p:spPr>
      </p:sp>
      <p:sp>
        <p:nvSpPr>
          <p:cNvPr id="49" name="Text 46"/>
          <p:cNvSpPr/>
          <p:nvPr/>
        </p:nvSpPr>
        <p:spPr>
          <a:xfrm>
            <a:off x="3862800" y="45540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Type de chauffage</a:t>
            </a:r>
            <a:endParaRPr lang="en-US" sz="1000" dirty="0"/>
          </a:p>
        </p:txBody>
      </p:sp>
      <p:sp>
        <p:nvSpPr>
          <p:cNvPr id="50" name="Shape 47"/>
          <p:cNvSpPr/>
          <p:nvPr/>
        </p:nvSpPr>
        <p:spPr>
          <a:xfrm>
            <a:off x="5346000" y="4514400"/>
            <a:ext cx="1677600" cy="403200"/>
          </a:xfrm>
          <a:prstGeom prst="rect">
            <a:avLst/>
          </a:prstGeom>
          <a:solidFill>
            <a:srgbClr val="FFFFFF"/>
          </a:solidFill>
          <a:ln w="10160">
            <a:solidFill>
              <a:srgbClr val="242424"/>
            </a:solidFill>
            <a:prstDash val="solid"/>
          </a:ln>
        </p:spPr>
      </p:sp>
      <p:sp>
        <p:nvSpPr>
          <p:cNvPr id="51" name="Text 48"/>
          <p:cNvSpPr/>
          <p:nvPr/>
        </p:nvSpPr>
        <p:spPr>
          <a:xfrm>
            <a:off x="5428800" y="45540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Individuel</a:t>
            </a:r>
            <a:endParaRPr lang="en-US" sz="1050" dirty="0"/>
          </a:p>
        </p:txBody>
      </p:sp>
      <p:sp>
        <p:nvSpPr>
          <p:cNvPr id="52" name="Shape 49"/>
          <p:cNvSpPr/>
          <p:nvPr/>
        </p:nvSpPr>
        <p:spPr>
          <a:xfrm>
            <a:off x="540000" y="4917600"/>
            <a:ext cx="1620000" cy="403200"/>
          </a:xfrm>
          <a:prstGeom prst="rect">
            <a:avLst/>
          </a:prstGeom>
          <a:solidFill>
            <a:srgbClr val="D9D9D9"/>
          </a:solidFill>
          <a:ln w="10160">
            <a:solidFill>
              <a:srgbClr val="242424"/>
            </a:solidFill>
            <a:prstDash val="solid"/>
          </a:ln>
        </p:spPr>
      </p:sp>
      <p:sp>
        <p:nvSpPr>
          <p:cNvPr id="53" name="Text 50"/>
          <p:cNvSpPr/>
          <p:nvPr/>
        </p:nvSpPr>
        <p:spPr>
          <a:xfrm>
            <a:off x="622800" y="49572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à usage d’habitation</a:t>
            </a:r>
            <a:endParaRPr lang="en-US" sz="1000" dirty="0"/>
          </a:p>
        </p:txBody>
      </p:sp>
      <p:sp>
        <p:nvSpPr>
          <p:cNvPr id="54" name="Shape 51"/>
          <p:cNvSpPr/>
          <p:nvPr/>
        </p:nvSpPr>
        <p:spPr>
          <a:xfrm>
            <a:off x="2160000" y="4917600"/>
            <a:ext cx="1620000" cy="403200"/>
          </a:xfrm>
          <a:prstGeom prst="rect">
            <a:avLst/>
          </a:prstGeom>
          <a:solidFill>
            <a:srgbClr val="FFFFFF"/>
          </a:solidFill>
          <a:ln w="10160">
            <a:solidFill>
              <a:srgbClr val="242424"/>
            </a:solidFill>
            <a:prstDash val="solid"/>
          </a:ln>
        </p:spPr>
      </p:sp>
      <p:sp>
        <p:nvSpPr>
          <p:cNvPr id="55" name="Text 52"/>
          <p:cNvSpPr/>
          <p:nvPr/>
        </p:nvSpPr>
        <p:spPr>
          <a:xfrm>
            <a:off x="2242800" y="49572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22</a:t>
            </a:r>
            <a:endParaRPr lang="en-US" sz="1050" dirty="0"/>
          </a:p>
        </p:txBody>
      </p:sp>
      <p:sp>
        <p:nvSpPr>
          <p:cNvPr id="56" name="Shape 53"/>
          <p:cNvSpPr/>
          <p:nvPr/>
        </p:nvSpPr>
        <p:spPr>
          <a:xfrm>
            <a:off x="3780000" y="4917600"/>
            <a:ext cx="1566000" cy="403200"/>
          </a:xfrm>
          <a:prstGeom prst="rect">
            <a:avLst/>
          </a:prstGeom>
          <a:solidFill>
            <a:srgbClr val="D9D9D9"/>
          </a:solidFill>
          <a:ln w="10160">
            <a:solidFill>
              <a:srgbClr val="242424"/>
            </a:solidFill>
            <a:prstDash val="solid"/>
          </a:ln>
        </p:spPr>
      </p:sp>
      <p:sp>
        <p:nvSpPr>
          <p:cNvPr id="57" name="Text 54"/>
          <p:cNvSpPr/>
          <p:nvPr/>
        </p:nvSpPr>
        <p:spPr>
          <a:xfrm>
            <a:off x="3862800" y="49572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d’ascenseurs</a:t>
            </a:r>
            <a:endParaRPr lang="en-US" sz="1000" dirty="0"/>
          </a:p>
        </p:txBody>
      </p:sp>
      <p:sp>
        <p:nvSpPr>
          <p:cNvPr id="58" name="Shape 55"/>
          <p:cNvSpPr/>
          <p:nvPr/>
        </p:nvSpPr>
        <p:spPr>
          <a:xfrm>
            <a:off x="5346000" y="4917600"/>
            <a:ext cx="1677600" cy="403200"/>
          </a:xfrm>
          <a:prstGeom prst="rect">
            <a:avLst/>
          </a:prstGeom>
          <a:solidFill>
            <a:srgbClr val="FFFFFF"/>
          </a:solidFill>
          <a:ln w="10160">
            <a:solidFill>
              <a:srgbClr val="242424"/>
            </a:solidFill>
            <a:prstDash val="solid"/>
          </a:ln>
        </p:spPr>
      </p:sp>
      <p:sp>
        <p:nvSpPr>
          <p:cNvPr id="59" name="Text 56"/>
          <p:cNvSpPr/>
          <p:nvPr/>
        </p:nvSpPr>
        <p:spPr>
          <a:xfrm>
            <a:off x="5428800" y="49572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a:t>
            </a:r>
            <a:endParaRPr lang="en-US" sz="1050" dirty="0"/>
          </a:p>
        </p:txBody>
      </p:sp>
      <p:sp>
        <p:nvSpPr>
          <p:cNvPr id="60" name="Shape 57"/>
          <p:cNvSpPr/>
          <p:nvPr/>
        </p:nvSpPr>
        <p:spPr>
          <a:xfrm>
            <a:off x="540000" y="5320800"/>
            <a:ext cx="1620000" cy="403200"/>
          </a:xfrm>
          <a:prstGeom prst="rect">
            <a:avLst/>
          </a:prstGeom>
          <a:solidFill>
            <a:srgbClr val="D9D9D9"/>
          </a:solidFill>
          <a:ln w="10160">
            <a:solidFill>
              <a:srgbClr val="242424"/>
            </a:solidFill>
            <a:prstDash val="solid"/>
          </a:ln>
        </p:spPr>
      </p:sp>
      <p:sp>
        <p:nvSpPr>
          <p:cNvPr id="61" name="Text 58"/>
          <p:cNvSpPr/>
          <p:nvPr/>
        </p:nvSpPr>
        <p:spPr>
          <a:xfrm>
            <a:off x="622800" y="53604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SHAB approximative</a:t>
            </a:r>
            <a:endParaRPr lang="en-US" sz="1000" dirty="0"/>
          </a:p>
        </p:txBody>
      </p:sp>
      <p:sp>
        <p:nvSpPr>
          <p:cNvPr id="62" name="Shape 59"/>
          <p:cNvSpPr/>
          <p:nvPr/>
        </p:nvSpPr>
        <p:spPr>
          <a:xfrm>
            <a:off x="2160000" y="5320800"/>
            <a:ext cx="1620000" cy="403200"/>
          </a:xfrm>
          <a:prstGeom prst="rect">
            <a:avLst/>
          </a:prstGeom>
          <a:solidFill>
            <a:srgbClr val="FFFFFF"/>
          </a:solidFill>
          <a:ln w="10160">
            <a:solidFill>
              <a:srgbClr val="242424"/>
            </a:solidFill>
            <a:prstDash val="solid"/>
          </a:ln>
        </p:spPr>
      </p:sp>
      <p:sp>
        <p:nvSpPr>
          <p:cNvPr id="63" name="Text 60"/>
          <p:cNvSpPr/>
          <p:nvPr/>
        </p:nvSpPr>
        <p:spPr>
          <a:xfrm>
            <a:off x="2242800" y="53604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1 676 m²</a:t>
            </a:r>
            <a:endParaRPr lang="en-US" sz="1050" dirty="0"/>
          </a:p>
        </p:txBody>
      </p:sp>
      <p:sp>
        <p:nvSpPr>
          <p:cNvPr id="64" name="Shape 61"/>
          <p:cNvSpPr/>
          <p:nvPr/>
        </p:nvSpPr>
        <p:spPr>
          <a:xfrm>
            <a:off x="3780000" y="5320800"/>
            <a:ext cx="1566000" cy="403200"/>
          </a:xfrm>
          <a:prstGeom prst="rect">
            <a:avLst/>
          </a:prstGeom>
          <a:solidFill>
            <a:srgbClr val="D9D9D9"/>
          </a:solidFill>
          <a:ln w="10160">
            <a:solidFill>
              <a:srgbClr val="242424"/>
            </a:solidFill>
            <a:prstDash val="solid"/>
          </a:ln>
        </p:spPr>
      </p:sp>
      <p:sp>
        <p:nvSpPr>
          <p:cNvPr id="65" name="Text 62"/>
          <p:cNvSpPr/>
          <p:nvPr/>
        </p:nvSpPr>
        <p:spPr>
          <a:xfrm>
            <a:off x="3862800" y="53604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Altitude</a:t>
            </a:r>
            <a:endParaRPr lang="en-US" sz="1000" dirty="0"/>
          </a:p>
        </p:txBody>
      </p:sp>
      <p:sp>
        <p:nvSpPr>
          <p:cNvPr id="66" name="Shape 63"/>
          <p:cNvSpPr/>
          <p:nvPr/>
        </p:nvSpPr>
        <p:spPr>
          <a:xfrm>
            <a:off x="5346000" y="5320800"/>
            <a:ext cx="1677600" cy="403200"/>
          </a:xfrm>
          <a:prstGeom prst="rect">
            <a:avLst/>
          </a:prstGeom>
          <a:solidFill>
            <a:srgbClr val="FFFFFF"/>
          </a:solidFill>
          <a:ln w="10160">
            <a:solidFill>
              <a:srgbClr val="242424"/>
            </a:solidFill>
            <a:prstDash val="solid"/>
          </a:ln>
        </p:spPr>
      </p:sp>
      <p:sp>
        <p:nvSpPr>
          <p:cNvPr id="67" name="Text 64"/>
          <p:cNvSpPr/>
          <p:nvPr/>
        </p:nvSpPr>
        <p:spPr>
          <a:xfrm>
            <a:off x="5428800" y="53604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250 m</a:t>
            </a:r>
            <a:endParaRPr lang="en-US" sz="1050" dirty="0"/>
          </a:p>
        </p:txBody>
      </p:sp>
      <p:pic>
        <p:nvPicPr>
          <p:cNvPr id="68" name="Image 1" descr="Vue aérienne rapprochée de la copropriété">    </p:cNvPr>
          <p:cNvPicPr>
            <a:picLocks noChangeAspect="1"/>
          </p:cNvPicPr>
          <p:nvPr/>
        </p:nvPicPr>
        <p:blipFill>
          <a:blip r:embed="rId2"/>
          <a:srcRect l="0" r="0" t="0" b="0"/>
          <a:stretch/>
        </p:blipFill>
        <p:spPr>
          <a:xfrm>
            <a:off x="540000" y="6138000"/>
            <a:ext cx="6480000" cy="3600000"/>
          </a:xfrm>
          <a:prstGeom prst="rect">
            <a:avLst/>
          </a:prstGeom>
        </p:spPr>
      </p:pic>
      <p:sp>
        <p:nvSpPr>
          <p:cNvPr id="69" name="Text 6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test PPPT</a:t>
            </a:r>
            <a:endParaRPr lang="en-US" sz="950" dirty="0"/>
          </a:p>
        </p:txBody>
      </p:sp>
      <p:sp>
        <p:nvSpPr>
          <p:cNvPr id="70" name="Text 6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30000" y="1278000"/>
            <a:ext cx="6300000" cy="216000"/>
          </a:xfrm>
          <a:prstGeom prst="rect">
            <a:avLst/>
          </a:prstGeom>
          <a:noFill/>
          <a:ln/>
        </p:spPr>
        <p:txBody>
          <a:bodyPr wrap="square" lIns="0" tIns="0" rIns="0" bIns="0" rtlCol="0" anchor="ctr">
            <a:normAutofit/>
          </a:bodyPr>
          <a:lstStyle/>
          <a:p>
            <a:pPr indent="0" marL="0">
              <a:buNone/>
            </a:pPr>
            <a:r>
              <a:rPr lang="en-US" sz="1230" b="1" dirty="0">
                <a:solidFill>
                  <a:srgbClr val="1C1C1C"/>
                </a:solidFill>
                <a:latin typeface="Calibri" pitchFamily="34" charset="0"/>
                <a:ea typeface="Calibri" pitchFamily="34" charset="-122"/>
                <a:cs typeface="Calibri" pitchFamily="34" charset="-120"/>
              </a:rPr>
              <a:t>Statut patrimonial du bâtiment :</a:t>
            </a:r>
            <a:endParaRPr lang="en-US" sz="1230" dirty="0"/>
          </a:p>
        </p:txBody>
      </p:sp>
      <p:sp>
        <p:nvSpPr>
          <p:cNvPr id="6" name="Text 3"/>
          <p:cNvSpPr/>
          <p:nvPr/>
        </p:nvSpPr>
        <p:spPr>
          <a:xfrm>
            <a:off x="630000" y="1620000"/>
            <a:ext cx="6300000" cy="972000"/>
          </a:xfrm>
          <a:prstGeom prst="rect">
            <a:avLst/>
          </a:prstGeom>
          <a:noFill/>
          <a:ln/>
        </p:spPr>
        <p:txBody>
          <a:bodyPr wrap="square" lIns="0" tIns="0" rIns="0" bIns="0" rtlCol="0" anchor="t">
            <a:normAutofit/>
          </a:bodyPr>
          <a:lstStyle/>
          <a:p>
            <a:pPr indent="0" marL="0">
              <a:buNone/>
            </a:pPr>
            <a:r>
              <a:rPr lang="en-US" sz="1020" dirty="0">
                <a:solidFill>
                  <a:srgbClr val="1C1C1C"/>
                </a:solidFill>
                <a:latin typeface="Calibri" pitchFamily="34" charset="0"/>
                <a:ea typeface="Calibri" pitchFamily="34" charset="-122"/>
                <a:cs typeface="Calibri" pitchFamily="34" charset="-120"/>
              </a:rPr>
              <a:t>Le statut patrimonial d'un bâtiment peut avoir une incidence sur les travaux de rénovation énergétique, notamment lorsqu'ils modifient l'aspect extérieur de l'immeuble (isolation thermique par l'extérieur, remplacement des menuiseries, réfection de toiture, installation de panneaux solaires, etc.). Dans un secteur protégé, certains travaux peuvent nécessiter des autorisations spécifiques ou l'avis de l'Architecte des Bâtiments de France (ABF).</a:t>
            </a:r>
            <a:endParaRPr lang="en-US" sz="1020" dirty="0"/>
          </a:p>
        </p:txBody>
      </p:sp>
      <p:sp>
        <p:nvSpPr>
          <p:cNvPr id="7" name="Shape 4"/>
          <p:cNvSpPr/>
          <p:nvPr/>
        </p:nvSpPr>
        <p:spPr>
          <a:xfrm>
            <a:off x="540000" y="2908800"/>
            <a:ext cx="1134000" cy="432000"/>
          </a:xfrm>
          <a:prstGeom prst="rect">
            <a:avLst/>
          </a:prstGeom>
          <a:solidFill>
            <a:srgbClr val="FFFFFF"/>
          </a:solidFill>
          <a:ln w="10160">
            <a:solidFill>
              <a:srgbClr val="242424"/>
            </a:solidFill>
            <a:prstDash val="solid"/>
          </a:ln>
        </p:spPr>
      </p:sp>
      <p:sp>
        <p:nvSpPr>
          <p:cNvPr id="8" name="Text 5"/>
          <p:cNvSpPr/>
          <p:nvPr/>
        </p:nvSpPr>
        <p:spPr>
          <a:xfrm>
            <a:off x="622800" y="2948400"/>
            <a:ext cx="968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Statut patrimonial</a:t>
            </a:r>
            <a:endParaRPr lang="en-US" sz="1050" dirty="0"/>
          </a:p>
        </p:txBody>
      </p:sp>
      <p:sp>
        <p:nvSpPr>
          <p:cNvPr id="9" name="Shape 6"/>
          <p:cNvSpPr/>
          <p:nvPr/>
        </p:nvSpPr>
        <p:spPr>
          <a:xfrm>
            <a:off x="1674000" y="2908800"/>
            <a:ext cx="2178000" cy="432000"/>
          </a:xfrm>
          <a:prstGeom prst="rect">
            <a:avLst/>
          </a:prstGeom>
          <a:solidFill>
            <a:srgbClr val="FFFFFF"/>
          </a:solidFill>
          <a:ln w="10160">
            <a:solidFill>
              <a:srgbClr val="242424"/>
            </a:solidFill>
            <a:prstDash val="solid"/>
          </a:ln>
        </p:spPr>
      </p:sp>
      <p:sp>
        <p:nvSpPr>
          <p:cNvPr id="10" name="Text 7"/>
          <p:cNvSpPr/>
          <p:nvPr/>
        </p:nvSpPr>
        <p:spPr>
          <a:xfrm>
            <a:off x="1756800" y="2948400"/>
            <a:ext cx="2012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Description</a:t>
            </a:r>
            <a:endParaRPr lang="en-US" sz="1050" dirty="0"/>
          </a:p>
        </p:txBody>
      </p:sp>
      <p:sp>
        <p:nvSpPr>
          <p:cNvPr id="11" name="Shape 8"/>
          <p:cNvSpPr/>
          <p:nvPr/>
        </p:nvSpPr>
        <p:spPr>
          <a:xfrm>
            <a:off x="3852000" y="2908800"/>
            <a:ext cx="3171600" cy="432000"/>
          </a:xfrm>
          <a:prstGeom prst="rect">
            <a:avLst/>
          </a:prstGeom>
          <a:solidFill>
            <a:srgbClr val="FFFFFF"/>
          </a:solidFill>
          <a:ln w="10160">
            <a:solidFill>
              <a:srgbClr val="242424"/>
            </a:solidFill>
            <a:prstDash val="solid"/>
          </a:ln>
        </p:spPr>
      </p:sp>
      <p:sp>
        <p:nvSpPr>
          <p:cNvPr id="12" name="Text 9"/>
          <p:cNvSpPr/>
          <p:nvPr/>
        </p:nvSpPr>
        <p:spPr>
          <a:xfrm>
            <a:off x="3934800" y="2948400"/>
            <a:ext cx="30060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Conséquences sur les travaux</a:t>
            </a:r>
            <a:endParaRPr lang="en-US" sz="1050" dirty="0"/>
          </a:p>
        </p:txBody>
      </p:sp>
      <p:sp>
        <p:nvSpPr>
          <p:cNvPr id="13" name="Shape 10"/>
          <p:cNvSpPr/>
          <p:nvPr/>
        </p:nvSpPr>
        <p:spPr>
          <a:xfrm>
            <a:off x="540000" y="3340800"/>
            <a:ext cx="1134000" cy="601200"/>
          </a:xfrm>
          <a:prstGeom prst="rect">
            <a:avLst/>
          </a:prstGeom>
          <a:solidFill>
            <a:srgbClr val="FFFFFF"/>
          </a:solidFill>
          <a:ln w="10160">
            <a:solidFill>
              <a:srgbClr val="242424"/>
            </a:solidFill>
            <a:prstDash val="solid"/>
          </a:ln>
        </p:spPr>
      </p:sp>
      <p:sp>
        <p:nvSpPr>
          <p:cNvPr id="14" name="Text 11"/>
          <p:cNvSpPr/>
          <p:nvPr/>
        </p:nvSpPr>
        <p:spPr>
          <a:xfrm>
            <a:off x="622800" y="3380400"/>
            <a:ext cx="968400" cy="5220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Aucun périmètre de protection</a:t>
            </a:r>
            <a:endParaRPr lang="en-US" sz="950" dirty="0"/>
          </a:p>
        </p:txBody>
      </p:sp>
      <p:sp>
        <p:nvSpPr>
          <p:cNvPr id="15" name="Shape 12"/>
          <p:cNvSpPr/>
          <p:nvPr/>
        </p:nvSpPr>
        <p:spPr>
          <a:xfrm>
            <a:off x="1674000" y="3340800"/>
            <a:ext cx="2178000" cy="601200"/>
          </a:xfrm>
          <a:prstGeom prst="rect">
            <a:avLst/>
          </a:prstGeom>
          <a:solidFill>
            <a:srgbClr val="FFFFFF"/>
          </a:solidFill>
          <a:ln w="10160">
            <a:solidFill>
              <a:srgbClr val="242424"/>
            </a:solidFill>
            <a:prstDash val="solid"/>
          </a:ln>
        </p:spPr>
      </p:sp>
      <p:sp>
        <p:nvSpPr>
          <p:cNvPr id="16" name="Text 13"/>
          <p:cNvSpPr/>
          <p:nvPr/>
        </p:nvSpPr>
        <p:spPr>
          <a:xfrm>
            <a:off x="1756800" y="3380400"/>
            <a:ext cx="20124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n'est soumis à aucune protection patrimoniale particulière.</a:t>
            </a:r>
            <a:endParaRPr lang="en-US" sz="930" dirty="0"/>
          </a:p>
        </p:txBody>
      </p:sp>
      <p:sp>
        <p:nvSpPr>
          <p:cNvPr id="17" name="Shape 14"/>
          <p:cNvSpPr/>
          <p:nvPr/>
        </p:nvSpPr>
        <p:spPr>
          <a:xfrm>
            <a:off x="3852000" y="3340800"/>
            <a:ext cx="3171600" cy="601200"/>
          </a:xfrm>
          <a:prstGeom prst="rect">
            <a:avLst/>
          </a:prstGeom>
          <a:solidFill>
            <a:srgbClr val="FFFFFF"/>
          </a:solidFill>
          <a:ln w="10160">
            <a:solidFill>
              <a:srgbClr val="242424"/>
            </a:solidFill>
            <a:prstDash val="solid"/>
          </a:ln>
        </p:spPr>
      </p:sp>
      <p:sp>
        <p:nvSpPr>
          <p:cNvPr id="18" name="Text 15"/>
          <p:cNvSpPr/>
          <p:nvPr/>
        </p:nvSpPr>
        <p:spPr>
          <a:xfrm>
            <a:off x="3934800" y="3380400"/>
            <a:ext cx="30060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peuvent être réalisés dans le respect des règles d'urbanisme en vigueur, sans contrainte patrimoniale spécifique.</a:t>
            </a:r>
            <a:endParaRPr lang="en-US" sz="930" dirty="0"/>
          </a:p>
        </p:txBody>
      </p:sp>
      <p:sp>
        <p:nvSpPr>
          <p:cNvPr id="19" name="Shape 16"/>
          <p:cNvSpPr/>
          <p:nvPr/>
        </p:nvSpPr>
        <p:spPr>
          <a:xfrm>
            <a:off x="540000" y="3942000"/>
            <a:ext cx="1134000" cy="932400"/>
          </a:xfrm>
          <a:prstGeom prst="rect">
            <a:avLst/>
          </a:prstGeom>
          <a:solidFill>
            <a:srgbClr val="FFFFFF"/>
          </a:solidFill>
          <a:ln w="10160">
            <a:solidFill>
              <a:srgbClr val="242424"/>
            </a:solidFill>
            <a:prstDash val="solid"/>
          </a:ln>
        </p:spPr>
      </p:sp>
      <p:sp>
        <p:nvSpPr>
          <p:cNvPr id="20" name="Text 17"/>
          <p:cNvSpPr/>
          <p:nvPr/>
        </p:nvSpPr>
        <p:spPr>
          <a:xfrm>
            <a:off x="622800" y="3981600"/>
            <a:ext cx="968400" cy="8532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Site patrimonial remarquable</a:t>
            </a:r>
            <a:endParaRPr lang="en-US" sz="950" dirty="0"/>
          </a:p>
        </p:txBody>
      </p:sp>
      <p:sp>
        <p:nvSpPr>
          <p:cNvPr id="21" name="Shape 18"/>
          <p:cNvSpPr/>
          <p:nvPr/>
        </p:nvSpPr>
        <p:spPr>
          <a:xfrm>
            <a:off x="1674000" y="3942000"/>
            <a:ext cx="2178000" cy="932400"/>
          </a:xfrm>
          <a:prstGeom prst="rect">
            <a:avLst/>
          </a:prstGeom>
          <a:solidFill>
            <a:srgbClr val="FFFFFF"/>
          </a:solidFill>
          <a:ln w="10160">
            <a:solidFill>
              <a:srgbClr val="242424"/>
            </a:solidFill>
            <a:prstDash val="solid"/>
          </a:ln>
        </p:spPr>
      </p:sp>
      <p:sp>
        <p:nvSpPr>
          <p:cNvPr id="22" name="Text 19"/>
          <p:cNvSpPr/>
          <p:nvPr/>
        </p:nvSpPr>
        <p:spPr>
          <a:xfrm>
            <a:off x="1756800" y="3981600"/>
            <a:ext cx="20124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Secteur présentant un intérêt historique, architectural ou paysager bénéficiant d'une protection particulière.</a:t>
            </a:r>
            <a:endParaRPr lang="en-US" sz="930" dirty="0"/>
          </a:p>
        </p:txBody>
      </p:sp>
      <p:sp>
        <p:nvSpPr>
          <p:cNvPr id="23" name="Shape 20"/>
          <p:cNvSpPr/>
          <p:nvPr/>
        </p:nvSpPr>
        <p:spPr>
          <a:xfrm>
            <a:off x="3852000" y="3942000"/>
            <a:ext cx="3171600" cy="932400"/>
          </a:xfrm>
          <a:prstGeom prst="rect">
            <a:avLst/>
          </a:prstGeom>
          <a:solidFill>
            <a:srgbClr val="FFFFFF"/>
          </a:solidFill>
          <a:ln w="10160">
            <a:solidFill>
              <a:srgbClr val="242424"/>
            </a:solidFill>
            <a:prstDash val="solid"/>
          </a:ln>
        </p:spPr>
      </p:sp>
      <p:sp>
        <p:nvSpPr>
          <p:cNvPr id="24" name="Text 21"/>
          <p:cNvSpPr/>
          <p:nvPr/>
        </p:nvSpPr>
        <p:spPr>
          <a:xfrm>
            <a:off x="3934800" y="3981600"/>
            <a:ext cx="30060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modifiant l'aspect extérieur du bâtiment (façades, toiture, menuiseries, isolation par l'extérieur, etc.) sont soumis à des prescriptions architecturales et peuvent nécessiter l'accord de l'Architecte des Bâtiments de France (ABF).</a:t>
            </a:r>
            <a:endParaRPr lang="en-US" sz="930" dirty="0"/>
          </a:p>
        </p:txBody>
      </p:sp>
      <p:sp>
        <p:nvSpPr>
          <p:cNvPr id="25" name="Shape 22"/>
          <p:cNvSpPr/>
          <p:nvPr/>
        </p:nvSpPr>
        <p:spPr>
          <a:xfrm>
            <a:off x="540000" y="4874400"/>
            <a:ext cx="1134000" cy="1083600"/>
          </a:xfrm>
          <a:prstGeom prst="rect">
            <a:avLst/>
          </a:prstGeom>
          <a:solidFill>
            <a:srgbClr val="FFFFFF"/>
          </a:solidFill>
          <a:ln w="10160">
            <a:solidFill>
              <a:srgbClr val="242424"/>
            </a:solidFill>
            <a:prstDash val="solid"/>
          </a:ln>
        </p:spPr>
      </p:sp>
      <p:sp>
        <p:nvSpPr>
          <p:cNvPr id="26" name="Text 23"/>
          <p:cNvSpPr/>
          <p:nvPr/>
        </p:nvSpPr>
        <p:spPr>
          <a:xfrm>
            <a:off x="622800" y="4914000"/>
            <a:ext cx="968400" cy="10044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Abords d'un Monument Historique</a:t>
            </a:r>
            <a:endParaRPr lang="en-US" sz="950" dirty="0"/>
          </a:p>
        </p:txBody>
      </p:sp>
      <p:sp>
        <p:nvSpPr>
          <p:cNvPr id="27" name="Shape 24"/>
          <p:cNvSpPr/>
          <p:nvPr/>
        </p:nvSpPr>
        <p:spPr>
          <a:xfrm>
            <a:off x="1674000" y="4874400"/>
            <a:ext cx="2178000" cy="1083600"/>
          </a:xfrm>
          <a:prstGeom prst="rect">
            <a:avLst/>
          </a:prstGeom>
          <a:solidFill>
            <a:srgbClr val="FFFFFF"/>
          </a:solidFill>
          <a:ln w="10160">
            <a:solidFill>
              <a:srgbClr val="242424"/>
            </a:solidFill>
            <a:prstDash val="solid"/>
          </a:ln>
        </p:spPr>
      </p:sp>
      <p:sp>
        <p:nvSpPr>
          <p:cNvPr id="28" name="Text 25"/>
          <p:cNvSpPr/>
          <p:nvPr/>
        </p:nvSpPr>
        <p:spPr>
          <a:xfrm>
            <a:off x="1756800" y="4914000"/>
            <a:ext cx="20124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est situé dans un périmètre de 500 mètres autour d'un monument historique classé ou inscrit et est susceptible d'être visible depuis celui-ci ou visible en même temps que celui-ci.</a:t>
            </a:r>
            <a:endParaRPr lang="en-US" sz="930" dirty="0"/>
          </a:p>
        </p:txBody>
      </p:sp>
      <p:sp>
        <p:nvSpPr>
          <p:cNvPr id="29" name="Shape 26"/>
          <p:cNvSpPr/>
          <p:nvPr/>
        </p:nvSpPr>
        <p:spPr>
          <a:xfrm>
            <a:off x="3852000" y="4874400"/>
            <a:ext cx="3171600" cy="1083600"/>
          </a:xfrm>
          <a:prstGeom prst="rect">
            <a:avLst/>
          </a:prstGeom>
          <a:solidFill>
            <a:srgbClr val="FFFFFF"/>
          </a:solidFill>
          <a:ln w="10160">
            <a:solidFill>
              <a:srgbClr val="242424"/>
            </a:solidFill>
            <a:prstDash val="solid"/>
          </a:ln>
        </p:spPr>
      </p:sp>
      <p:sp>
        <p:nvSpPr>
          <p:cNvPr id="30" name="Text 27"/>
          <p:cNvSpPr/>
          <p:nvPr/>
        </p:nvSpPr>
        <p:spPr>
          <a:xfrm>
            <a:off x="3934800" y="4914000"/>
            <a:ext cx="30060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visibles depuis l'espace public sont susceptibles d'être soumis à l'avis conforme de l'Architecte des Bâtiments de France (ABF). Des prescriptions concernant les matériaux, les couleurs ou l'aspect des ouvrages peuvent être imposées.</a:t>
            </a:r>
            <a:endParaRPr lang="en-US" sz="930" dirty="0"/>
          </a:p>
        </p:txBody>
      </p:sp>
      <p:sp>
        <p:nvSpPr>
          <p:cNvPr id="31" name="Shape 28"/>
          <p:cNvSpPr/>
          <p:nvPr/>
        </p:nvSpPr>
        <p:spPr>
          <a:xfrm>
            <a:off x="540000" y="6296400"/>
            <a:ext cx="6483600" cy="3780000"/>
          </a:xfrm>
          <a:prstGeom prst="rect">
            <a:avLst/>
          </a:prstGeom>
          <a:solidFill>
            <a:srgbClr val="FFFFFF"/>
          </a:solidFill>
          <a:ln w="10160">
            <a:solidFill>
              <a:srgbClr val="242424"/>
            </a:solidFill>
            <a:prstDash val="solid"/>
          </a:ln>
        </p:spPr>
      </p:sp>
      <p:sp>
        <p:nvSpPr>
          <p:cNvPr id="32" name="Text 29"/>
          <p:cNvSpPr/>
          <p:nvPr/>
        </p:nvSpPr>
        <p:spPr>
          <a:xfrm>
            <a:off x="630000" y="6426000"/>
            <a:ext cx="2340000" cy="216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Votre situation :</a:t>
            </a:r>
            <a:endParaRPr lang="en-US" sz="1130" dirty="0"/>
          </a:p>
        </p:txBody>
      </p:sp>
      <p:sp>
        <p:nvSpPr>
          <p:cNvPr id="33" name="Text 30"/>
          <p:cNvSpPr/>
          <p:nvPr/>
        </p:nvSpPr>
        <p:spPr>
          <a:xfrm>
            <a:off x="630000" y="6750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Aucun périmètre de protection</a:t>
            </a:r>
            <a:endParaRPr lang="en-US" sz="1050" dirty="0"/>
          </a:p>
        </p:txBody>
      </p:sp>
      <p:sp>
        <p:nvSpPr>
          <p:cNvPr id="34" name="Text 31"/>
          <p:cNvSpPr/>
          <p:nvPr/>
        </p:nvSpPr>
        <p:spPr>
          <a:xfrm>
            <a:off x="630000" y="7016400"/>
            <a:ext cx="720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009B55"/>
                </a:solidFill>
                <a:latin typeface="Calibri" pitchFamily="34" charset="0"/>
                <a:ea typeface="Calibri" pitchFamily="34" charset="-122"/>
                <a:cs typeface="Calibri" pitchFamily="34" charset="-120"/>
              </a:rPr>
              <a:t>Concerné</a:t>
            </a:r>
            <a:endParaRPr lang="en-US" sz="1050" dirty="0"/>
          </a:p>
        </p:txBody>
      </p:sp>
      <p:sp>
        <p:nvSpPr>
          <p:cNvPr id="35" name="Text 32"/>
          <p:cNvSpPr/>
          <p:nvPr/>
        </p:nvSpPr>
        <p:spPr>
          <a:xfrm>
            <a:off x="630000" y="7416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Site patrimonial remarquable</a:t>
            </a:r>
            <a:endParaRPr lang="en-US" sz="1050" dirty="0"/>
          </a:p>
        </p:txBody>
      </p:sp>
      <p:sp>
        <p:nvSpPr>
          <p:cNvPr id="36" name="Text 33"/>
          <p:cNvSpPr/>
          <p:nvPr/>
        </p:nvSpPr>
        <p:spPr>
          <a:xfrm>
            <a:off x="630000" y="7682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sp>
        <p:nvSpPr>
          <p:cNvPr id="37" name="Text 34"/>
          <p:cNvSpPr/>
          <p:nvPr/>
        </p:nvSpPr>
        <p:spPr>
          <a:xfrm>
            <a:off x="630000" y="8082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Abords d'un monument historique</a:t>
            </a:r>
            <a:endParaRPr lang="en-US" sz="1050" dirty="0"/>
          </a:p>
        </p:txBody>
      </p:sp>
      <p:sp>
        <p:nvSpPr>
          <p:cNvPr id="38" name="Text 35"/>
          <p:cNvSpPr/>
          <p:nvPr/>
        </p:nvSpPr>
        <p:spPr>
          <a:xfrm>
            <a:off x="630000" y="8348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pic>
        <p:nvPicPr>
          <p:cNvPr id="39" name="Image 1" descr="Vue patrimoniale fournie pour la copropriété">    </p:cNvPr>
          <p:cNvPicPr>
            <a:picLocks noChangeAspect="1"/>
          </p:cNvPicPr>
          <p:nvPr/>
        </p:nvPicPr>
        <p:blipFill>
          <a:blip r:embed="rId2"/>
          <a:srcRect l="0" r="0" t="0" b="0"/>
          <a:stretch/>
        </p:blipFill>
        <p:spPr>
          <a:xfrm>
            <a:off x="3121200" y="6436800"/>
            <a:ext cx="3747600" cy="3049200"/>
          </a:xfrm>
          <a:prstGeom prst="rect">
            <a:avLst/>
          </a:prstGeom>
        </p:spPr>
      </p:pic>
      <p:sp>
        <p:nvSpPr>
          <p:cNvPr id="40" name="Text 36"/>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test PPPT</a:t>
            </a:r>
            <a:endParaRPr lang="en-US" sz="950" dirty="0"/>
          </a:p>
        </p:txBody>
      </p:sp>
      <p:sp>
        <p:nvSpPr>
          <p:cNvPr id="41" name="Text 37"/>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2754000" y="1666800"/>
            <a:ext cx="3762000" cy="0"/>
          </a:xfrm>
          <a:prstGeom prst="line">
            <a:avLst/>
          </a:prstGeom>
          <a:noFill/>
          <a:ln w="11430">
            <a:solidFill>
              <a:srgbClr val="1C1C1C"/>
            </a:solidFill>
            <a:prstDash val="sysDot"/>
          </a:ln>
        </p:spPr>
      </p:sp>
      <p:sp>
        <p:nvSpPr>
          <p:cNvPr id="8" name="Text 5"/>
          <p:cNvSpPr/>
          <p:nvPr/>
        </p:nvSpPr>
        <p:spPr>
          <a:xfrm>
            <a:off x="630000" y="1468800"/>
            <a:ext cx="212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Informations administratives</a:t>
            </a:r>
            <a:endParaRPr lang="en-US" sz="116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a:t>
            </a:r>
            <a:endParaRPr lang="en-US" sz="1160" dirty="0"/>
          </a:p>
        </p:txBody>
      </p:sp>
      <p:sp>
        <p:nvSpPr>
          <p:cNvPr id="10" name="Shape 7"/>
          <p:cNvSpPr/>
          <p:nvPr/>
        </p:nvSpPr>
        <p:spPr>
          <a:xfrm>
            <a:off x="1818000" y="2043000"/>
            <a:ext cx="4698000" cy="0"/>
          </a:xfrm>
          <a:prstGeom prst="line">
            <a:avLst/>
          </a:prstGeom>
          <a:noFill/>
          <a:ln w="11430">
            <a:solidFill>
              <a:srgbClr val="1C1C1C"/>
            </a:solidFill>
            <a:prstDash val="sysDot"/>
          </a:ln>
        </p:spPr>
      </p:sp>
      <p:sp>
        <p:nvSpPr>
          <p:cNvPr id="11" name="Text 8"/>
          <p:cNvSpPr/>
          <p:nvPr/>
        </p:nvSpPr>
        <p:spPr>
          <a:xfrm>
            <a:off x="630000" y="1845000"/>
            <a:ext cx="118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 Introduction</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8</a:t>
            </a:r>
            <a:endParaRPr lang="en-US" sz="1160" dirty="0"/>
          </a:p>
        </p:txBody>
      </p:sp>
      <p:sp>
        <p:nvSpPr>
          <p:cNvPr id="13" name="Shape 10"/>
          <p:cNvSpPr/>
          <p:nvPr/>
        </p:nvSpPr>
        <p:spPr>
          <a:xfrm>
            <a:off x="5569920" y="2419200"/>
            <a:ext cx="946080" cy="0"/>
          </a:xfrm>
          <a:prstGeom prst="line">
            <a:avLst/>
          </a:prstGeom>
          <a:noFill/>
          <a:ln w="11430">
            <a:solidFill>
              <a:srgbClr val="1C1C1C"/>
            </a:solidFill>
            <a:prstDash val="sysDot"/>
          </a:ln>
        </p:spPr>
      </p:sp>
      <p:sp>
        <p:nvSpPr>
          <p:cNvPr id="14" name="Text 11"/>
          <p:cNvSpPr/>
          <p:nvPr/>
        </p:nvSpPr>
        <p:spPr>
          <a:xfrm>
            <a:off x="810000" y="2221200"/>
            <a:ext cx="4759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8</a:t>
            </a:r>
            <a:endParaRPr lang="en-US" sz="1090" dirty="0"/>
          </a:p>
        </p:txBody>
      </p:sp>
      <p:sp>
        <p:nvSpPr>
          <p:cNvPr id="16" name="Shape 13"/>
          <p:cNvSpPr/>
          <p:nvPr/>
        </p:nvSpPr>
        <p:spPr>
          <a:xfrm>
            <a:off x="2949120" y="2795400"/>
            <a:ext cx="3566880" cy="0"/>
          </a:xfrm>
          <a:prstGeom prst="line">
            <a:avLst/>
          </a:prstGeom>
          <a:noFill/>
          <a:ln w="11430">
            <a:solidFill>
              <a:srgbClr val="1C1C1C"/>
            </a:solidFill>
            <a:prstDash val="sysDot"/>
          </a:ln>
        </p:spPr>
      </p:sp>
      <p:sp>
        <p:nvSpPr>
          <p:cNvPr id="17" name="Text 14"/>
          <p:cNvSpPr/>
          <p:nvPr/>
        </p:nvSpPr>
        <p:spPr>
          <a:xfrm>
            <a:off x="810000" y="25974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1.2 Validité du présent rapport</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19" name="Shape 16"/>
          <p:cNvSpPr/>
          <p:nvPr/>
        </p:nvSpPr>
        <p:spPr>
          <a:xfrm>
            <a:off x="3473280" y="3171600"/>
            <a:ext cx="3042720" cy="0"/>
          </a:xfrm>
          <a:prstGeom prst="line">
            <a:avLst/>
          </a:prstGeom>
          <a:noFill/>
          <a:ln w="11430">
            <a:solidFill>
              <a:srgbClr val="1C1C1C"/>
            </a:solidFill>
            <a:prstDash val="sysDot"/>
          </a:ln>
        </p:spPr>
      </p:sp>
      <p:sp>
        <p:nvSpPr>
          <p:cNvPr id="20" name="Text 17"/>
          <p:cNvSpPr/>
          <p:nvPr/>
        </p:nvSpPr>
        <p:spPr>
          <a:xfrm>
            <a:off x="810000" y="2973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1.3 Périmètre de la mission et réserves</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22" name="Shape 19"/>
          <p:cNvSpPr/>
          <p:nvPr/>
        </p:nvSpPr>
        <p:spPr>
          <a:xfrm>
            <a:off x="2490480" y="3547800"/>
            <a:ext cx="4025520" cy="0"/>
          </a:xfrm>
          <a:prstGeom prst="line">
            <a:avLst/>
          </a:prstGeom>
          <a:noFill/>
          <a:ln w="11430">
            <a:solidFill>
              <a:srgbClr val="1C1C1C"/>
            </a:solidFill>
            <a:prstDash val="sysDot"/>
          </a:ln>
        </p:spPr>
      </p:sp>
      <p:sp>
        <p:nvSpPr>
          <p:cNvPr id="23" name="Text 20"/>
          <p:cNvSpPr/>
          <p:nvPr/>
        </p:nvSpPr>
        <p:spPr>
          <a:xfrm>
            <a:off x="810000" y="3349800"/>
            <a:ext cx="16804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1.4 Limite de la mission</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5" name="Shape 22"/>
          <p:cNvSpPr/>
          <p:nvPr/>
        </p:nvSpPr>
        <p:spPr>
          <a:xfrm>
            <a:off x="4259520" y="3924000"/>
            <a:ext cx="2256480" cy="0"/>
          </a:xfrm>
          <a:prstGeom prst="line">
            <a:avLst/>
          </a:prstGeom>
          <a:noFill/>
          <a:ln w="11430">
            <a:solidFill>
              <a:srgbClr val="1C1C1C"/>
            </a:solidFill>
            <a:prstDash val="sysDot"/>
          </a:ln>
        </p:spPr>
      </p:sp>
      <p:sp>
        <p:nvSpPr>
          <p:cNvPr id="26" name="Text 23"/>
          <p:cNvSpPr/>
          <p:nvPr/>
        </p:nvSpPr>
        <p:spPr>
          <a:xfrm>
            <a:off x="810000" y="3726000"/>
            <a:ext cx="34495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1.5 Hiérarchisation des travaux et des observations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8" name="Shape 25"/>
          <p:cNvSpPr/>
          <p:nvPr/>
        </p:nvSpPr>
        <p:spPr>
          <a:xfrm>
            <a:off x="5346000" y="4300200"/>
            <a:ext cx="1170000" cy="0"/>
          </a:xfrm>
          <a:prstGeom prst="line">
            <a:avLst/>
          </a:prstGeom>
          <a:noFill/>
          <a:ln w="11430">
            <a:solidFill>
              <a:srgbClr val="1C1C1C"/>
            </a:solidFill>
            <a:prstDash val="sysDot"/>
          </a:ln>
        </p:spPr>
      </p:sp>
      <p:sp>
        <p:nvSpPr>
          <p:cNvPr id="29" name="Text 26"/>
          <p:cNvSpPr/>
          <p:nvPr/>
        </p:nvSpPr>
        <p:spPr>
          <a:xfrm>
            <a:off x="630000" y="4102200"/>
            <a:ext cx="471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2. Identification et hiérarchisation des travaux et observations</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11</a:t>
            </a:r>
            <a:endParaRPr lang="en-US" sz="1160" dirty="0"/>
          </a:p>
        </p:txBody>
      </p:sp>
      <p:sp>
        <p:nvSpPr>
          <p:cNvPr id="31" name="Shape 28"/>
          <p:cNvSpPr/>
          <p:nvPr/>
        </p:nvSpPr>
        <p:spPr>
          <a:xfrm>
            <a:off x="1900800" y="4676400"/>
            <a:ext cx="4615200" cy="0"/>
          </a:xfrm>
          <a:prstGeom prst="line">
            <a:avLst/>
          </a:prstGeom>
          <a:noFill/>
          <a:ln w="11430">
            <a:solidFill>
              <a:srgbClr val="1C1C1C"/>
            </a:solidFill>
            <a:prstDash val="sysDot"/>
          </a:ln>
        </p:spPr>
      </p:sp>
      <p:sp>
        <p:nvSpPr>
          <p:cNvPr id="32" name="Text 29"/>
          <p:cNvSpPr/>
          <p:nvPr/>
        </p:nvSpPr>
        <p:spPr>
          <a:xfrm>
            <a:off x="810000" y="4478400"/>
            <a:ext cx="10908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2.1 À confirmer</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11</a:t>
            </a:r>
            <a:endParaRPr lang="en-US" sz="1090" dirty="0"/>
          </a:p>
        </p:txBody>
      </p:sp>
      <p:sp>
        <p:nvSpPr>
          <p:cNvPr id="34" name="Shape 31"/>
          <p:cNvSpPr/>
          <p:nvPr/>
        </p:nvSpPr>
        <p:spPr>
          <a:xfrm>
            <a:off x="3762000" y="5052600"/>
            <a:ext cx="2754000" cy="0"/>
          </a:xfrm>
          <a:prstGeom prst="line">
            <a:avLst/>
          </a:prstGeom>
          <a:noFill/>
          <a:ln w="11430">
            <a:solidFill>
              <a:srgbClr val="1C1C1C"/>
            </a:solidFill>
            <a:prstDash val="sysDot"/>
          </a:ln>
        </p:spPr>
      </p:sp>
      <p:sp>
        <p:nvSpPr>
          <p:cNvPr id="35" name="Text 32"/>
          <p:cNvSpPr/>
          <p:nvPr/>
        </p:nvSpPr>
        <p:spPr>
          <a:xfrm>
            <a:off x="630000" y="4854600"/>
            <a:ext cx="3132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3. Évolutions réglementaires et normatives</a:t>
            </a:r>
            <a:endParaRPr lang="en-US" sz="116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12</a:t>
            </a:r>
            <a:endParaRPr lang="en-US" sz="1160" dirty="0"/>
          </a:p>
        </p:txBody>
      </p:sp>
      <p:sp>
        <p:nvSpPr>
          <p:cNvPr id="37" name="Shape 34"/>
          <p:cNvSpPr/>
          <p:nvPr/>
        </p:nvSpPr>
        <p:spPr>
          <a:xfrm>
            <a:off x="3407760" y="5428800"/>
            <a:ext cx="3108240" cy="0"/>
          </a:xfrm>
          <a:prstGeom prst="line">
            <a:avLst/>
          </a:prstGeom>
          <a:noFill/>
          <a:ln w="11430">
            <a:solidFill>
              <a:srgbClr val="1C1C1C"/>
            </a:solidFill>
            <a:prstDash val="sysDot"/>
          </a:ln>
        </p:spPr>
      </p:sp>
      <p:sp>
        <p:nvSpPr>
          <p:cNvPr id="38" name="Text 35"/>
          <p:cNvSpPr/>
          <p:nvPr/>
        </p:nvSpPr>
        <p:spPr>
          <a:xfrm>
            <a:off x="810000" y="52308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3.1 Décret thermostat et calorifugeage</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12</a:t>
            </a:r>
            <a:endParaRPr lang="en-US" sz="1090" dirty="0"/>
          </a:p>
        </p:txBody>
      </p:sp>
      <p:sp>
        <p:nvSpPr>
          <p:cNvPr id="40" name="Shape 37"/>
          <p:cNvSpPr/>
          <p:nvPr/>
        </p:nvSpPr>
        <p:spPr>
          <a:xfrm>
            <a:off x="4783680" y="5805000"/>
            <a:ext cx="1732320" cy="0"/>
          </a:xfrm>
          <a:prstGeom prst="line">
            <a:avLst/>
          </a:prstGeom>
          <a:noFill/>
          <a:ln w="11430">
            <a:solidFill>
              <a:srgbClr val="1C1C1C"/>
            </a:solidFill>
            <a:prstDash val="sysDot"/>
          </a:ln>
        </p:spPr>
      </p:sp>
      <p:sp>
        <p:nvSpPr>
          <p:cNvPr id="41" name="Text 38"/>
          <p:cNvSpPr/>
          <p:nvPr/>
        </p:nvSpPr>
        <p:spPr>
          <a:xfrm>
            <a:off x="810000" y="5607000"/>
            <a:ext cx="3973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3.2 Evolution des normes de contrôle d’accès en copropriété</a:t>
            </a:r>
            <a:endParaRPr lang="en-US" sz="109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13</a:t>
            </a:r>
            <a:endParaRPr lang="en-US" sz="1090" dirty="0"/>
          </a:p>
        </p:txBody>
      </p:sp>
      <p:sp>
        <p:nvSpPr>
          <p:cNvPr id="43" name="Shape 40"/>
          <p:cNvSpPr/>
          <p:nvPr/>
        </p:nvSpPr>
        <p:spPr>
          <a:xfrm>
            <a:off x="3211200" y="6181200"/>
            <a:ext cx="3304800" cy="0"/>
          </a:xfrm>
          <a:prstGeom prst="line">
            <a:avLst/>
          </a:prstGeom>
          <a:noFill/>
          <a:ln w="11430">
            <a:solidFill>
              <a:srgbClr val="1C1C1C"/>
            </a:solidFill>
            <a:prstDash val="sysDot"/>
          </a:ln>
        </p:spPr>
      </p:sp>
      <p:sp>
        <p:nvSpPr>
          <p:cNvPr id="44" name="Text 41"/>
          <p:cNvSpPr/>
          <p:nvPr/>
        </p:nvSpPr>
        <p:spPr>
          <a:xfrm>
            <a:off x="810000" y="59832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3.3 Extinction des réseaux 2G et 3G</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14</a:t>
            </a:r>
            <a:endParaRPr lang="en-US" sz="1090" dirty="0"/>
          </a:p>
        </p:txBody>
      </p:sp>
      <p:sp>
        <p:nvSpPr>
          <p:cNvPr id="46" name="Shape 43"/>
          <p:cNvSpPr/>
          <p:nvPr/>
        </p:nvSpPr>
        <p:spPr>
          <a:xfrm>
            <a:off x="3186000" y="6557400"/>
            <a:ext cx="3330000" cy="0"/>
          </a:xfrm>
          <a:prstGeom prst="line">
            <a:avLst/>
          </a:prstGeom>
          <a:noFill/>
          <a:ln w="11430">
            <a:solidFill>
              <a:srgbClr val="1C1C1C"/>
            </a:solidFill>
            <a:prstDash val="sysDot"/>
          </a:ln>
        </p:spPr>
      </p:sp>
      <p:sp>
        <p:nvSpPr>
          <p:cNvPr id="47" name="Text 44"/>
          <p:cNvSpPr/>
          <p:nvPr/>
        </p:nvSpPr>
        <p:spPr>
          <a:xfrm>
            <a:off x="630000" y="6359400"/>
            <a:ext cx="255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4. Recommandations complémentaires</a:t>
            </a:r>
            <a:endParaRPr lang="en-US" sz="116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15</a:t>
            </a:r>
            <a:endParaRPr lang="en-US" sz="1160" dirty="0"/>
          </a:p>
        </p:txBody>
      </p:sp>
      <p:sp>
        <p:nvSpPr>
          <p:cNvPr id="49" name="Shape 46"/>
          <p:cNvSpPr/>
          <p:nvPr/>
        </p:nvSpPr>
        <p:spPr>
          <a:xfrm>
            <a:off x="3145680" y="6933600"/>
            <a:ext cx="3370320" cy="0"/>
          </a:xfrm>
          <a:prstGeom prst="line">
            <a:avLst/>
          </a:prstGeom>
          <a:noFill/>
          <a:ln w="11430">
            <a:solidFill>
              <a:srgbClr val="1C1C1C"/>
            </a:solidFill>
            <a:prstDash val="sysDot"/>
          </a:ln>
        </p:spPr>
      </p:sp>
      <p:sp>
        <p:nvSpPr>
          <p:cNvPr id="50" name="Text 47"/>
          <p:cNvSpPr/>
          <p:nvPr/>
        </p:nvSpPr>
        <p:spPr>
          <a:xfrm>
            <a:off x="810000" y="6735600"/>
            <a:ext cx="2335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4.1 Défibrillateurs en copropriété</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15</a:t>
            </a:r>
            <a:endParaRPr lang="en-US" sz="1090" dirty="0"/>
          </a:p>
        </p:txBody>
      </p:sp>
      <p:sp>
        <p:nvSpPr>
          <p:cNvPr id="52" name="Shape 49"/>
          <p:cNvSpPr/>
          <p:nvPr/>
        </p:nvSpPr>
        <p:spPr>
          <a:xfrm>
            <a:off x="3690000" y="7309800"/>
            <a:ext cx="2826000" cy="0"/>
          </a:xfrm>
          <a:prstGeom prst="line">
            <a:avLst/>
          </a:prstGeom>
          <a:noFill/>
          <a:ln w="11430">
            <a:solidFill>
              <a:srgbClr val="1C1C1C"/>
            </a:solidFill>
            <a:prstDash val="sysDot"/>
          </a:ln>
        </p:spPr>
      </p:sp>
      <p:sp>
        <p:nvSpPr>
          <p:cNvPr id="53" name="Text 50"/>
          <p:cNvSpPr/>
          <p:nvPr/>
        </p:nvSpPr>
        <p:spPr>
          <a:xfrm>
            <a:off x="630000" y="7111800"/>
            <a:ext cx="3060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5. Analyse documentaire de la copropriété</a:t>
            </a:r>
            <a:endParaRPr lang="en-US" sz="116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16</a:t>
            </a:r>
            <a:endParaRPr lang="en-US" sz="1160" dirty="0"/>
          </a:p>
        </p:txBody>
      </p:sp>
      <p:sp>
        <p:nvSpPr>
          <p:cNvPr id="55" name="Shape 52"/>
          <p:cNvSpPr/>
          <p:nvPr/>
        </p:nvSpPr>
        <p:spPr>
          <a:xfrm>
            <a:off x="3931920" y="7686000"/>
            <a:ext cx="2584080" cy="0"/>
          </a:xfrm>
          <a:prstGeom prst="line">
            <a:avLst/>
          </a:prstGeom>
          <a:noFill/>
          <a:ln w="11430">
            <a:solidFill>
              <a:srgbClr val="1C1C1C"/>
            </a:solidFill>
            <a:prstDash val="sysDot"/>
          </a:ln>
        </p:spPr>
      </p:sp>
      <p:sp>
        <p:nvSpPr>
          <p:cNvPr id="56" name="Text 53"/>
          <p:cNvSpPr/>
          <p:nvPr/>
        </p:nvSpPr>
        <p:spPr>
          <a:xfrm>
            <a:off x="810000" y="7488000"/>
            <a:ext cx="3121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5.1 Documents réglementaires et administratifs</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16</a:t>
            </a:r>
            <a:endParaRPr lang="en-US" sz="1090" dirty="0"/>
          </a:p>
        </p:txBody>
      </p:sp>
      <p:sp>
        <p:nvSpPr>
          <p:cNvPr id="58" name="Shape 55"/>
          <p:cNvSpPr/>
          <p:nvPr/>
        </p:nvSpPr>
        <p:spPr>
          <a:xfrm>
            <a:off x="3473280" y="8062200"/>
            <a:ext cx="3042720" cy="0"/>
          </a:xfrm>
          <a:prstGeom prst="line">
            <a:avLst/>
          </a:prstGeom>
          <a:noFill/>
          <a:ln w="11430">
            <a:solidFill>
              <a:srgbClr val="1C1C1C"/>
            </a:solidFill>
            <a:prstDash val="sysDot"/>
          </a:ln>
        </p:spPr>
      </p:sp>
      <p:sp>
        <p:nvSpPr>
          <p:cNvPr id="59" name="Text 56"/>
          <p:cNvSpPr/>
          <p:nvPr/>
        </p:nvSpPr>
        <p:spPr>
          <a:xfrm>
            <a:off x="810000" y="78642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5.2 Diagnostics techniques obligatoires</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17</a:t>
            </a:r>
            <a:endParaRPr lang="en-US" sz="1090" dirty="0"/>
          </a:p>
        </p:txBody>
      </p:sp>
      <p:sp>
        <p:nvSpPr>
          <p:cNvPr id="61" name="Shape 58"/>
          <p:cNvSpPr/>
          <p:nvPr/>
        </p:nvSpPr>
        <p:spPr>
          <a:xfrm>
            <a:off x="2424960" y="8438400"/>
            <a:ext cx="4091040" cy="0"/>
          </a:xfrm>
          <a:prstGeom prst="line">
            <a:avLst/>
          </a:prstGeom>
          <a:noFill/>
          <a:ln w="11430">
            <a:solidFill>
              <a:srgbClr val="1C1C1C"/>
            </a:solidFill>
            <a:prstDash val="sysDot"/>
          </a:ln>
        </p:spPr>
      </p:sp>
      <p:sp>
        <p:nvSpPr>
          <p:cNvPr id="62" name="Text 59"/>
          <p:cNvSpPr/>
          <p:nvPr/>
        </p:nvSpPr>
        <p:spPr>
          <a:xfrm>
            <a:off x="810000" y="82404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5.3 Contrat d’entretien</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18</a:t>
            </a:r>
            <a:endParaRPr lang="en-US" sz="1090" dirty="0"/>
          </a:p>
        </p:txBody>
      </p:sp>
      <p:sp>
        <p:nvSpPr>
          <p:cNvPr id="64" name="Shape 61"/>
          <p:cNvSpPr/>
          <p:nvPr/>
        </p:nvSpPr>
        <p:spPr>
          <a:xfrm>
            <a:off x="2556000" y="8814600"/>
            <a:ext cx="3960000" cy="0"/>
          </a:xfrm>
          <a:prstGeom prst="line">
            <a:avLst/>
          </a:prstGeom>
          <a:noFill/>
          <a:ln w="11430">
            <a:solidFill>
              <a:srgbClr val="1C1C1C"/>
            </a:solidFill>
            <a:prstDash val="sysDot"/>
          </a:ln>
        </p:spPr>
      </p:sp>
      <p:sp>
        <p:nvSpPr>
          <p:cNvPr id="65" name="Text 62"/>
          <p:cNvSpPr/>
          <p:nvPr/>
        </p:nvSpPr>
        <p:spPr>
          <a:xfrm>
            <a:off x="810000" y="86166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Travaux recensés et votés</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19</a:t>
            </a:r>
            <a:endParaRPr lang="en-US" sz="10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6</a:t>
            </a:r>
            <a:endParaRPr lang="en-US" sz="950" dirty="0"/>
          </a:p>
        </p:txBody>
      </p:sp>
      <p:sp>
        <p:nvSpPr>
          <p:cNvPr id="7" name="Shape 4"/>
          <p:cNvSpPr/>
          <p:nvPr/>
        </p:nvSpPr>
        <p:spPr>
          <a:xfrm>
            <a:off x="2293920" y="1666800"/>
            <a:ext cx="4222080" cy="0"/>
          </a:xfrm>
          <a:prstGeom prst="line">
            <a:avLst/>
          </a:prstGeom>
          <a:noFill/>
          <a:ln w="11430">
            <a:solidFill>
              <a:srgbClr val="1C1C1C"/>
            </a:solidFill>
            <a:prstDash val="sysDot"/>
          </a:ln>
        </p:spPr>
      </p:sp>
      <p:sp>
        <p:nvSpPr>
          <p:cNvPr id="8" name="Text 5"/>
          <p:cNvSpPr/>
          <p:nvPr/>
        </p:nvSpPr>
        <p:spPr>
          <a:xfrm>
            <a:off x="810000" y="1468800"/>
            <a:ext cx="1483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5.4 Sécurité incendie</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20</a:t>
            </a:r>
            <a:endParaRPr lang="en-US" sz="1090" dirty="0"/>
          </a:p>
        </p:txBody>
      </p:sp>
      <p:sp>
        <p:nvSpPr>
          <p:cNvPr id="10" name="Shape 7"/>
          <p:cNvSpPr/>
          <p:nvPr/>
        </p:nvSpPr>
        <p:spPr>
          <a:xfrm>
            <a:off x="2106000" y="2043000"/>
            <a:ext cx="4410000" cy="0"/>
          </a:xfrm>
          <a:prstGeom prst="line">
            <a:avLst/>
          </a:prstGeom>
          <a:noFill/>
          <a:ln w="11430">
            <a:solidFill>
              <a:srgbClr val="1C1C1C"/>
            </a:solidFill>
            <a:prstDash val="sysDot"/>
          </a:ln>
        </p:spPr>
      </p:sp>
      <p:sp>
        <p:nvSpPr>
          <p:cNvPr id="11" name="Text 8"/>
          <p:cNvSpPr/>
          <p:nvPr/>
        </p:nvSpPr>
        <p:spPr>
          <a:xfrm>
            <a:off x="630000" y="1845000"/>
            <a:ext cx="147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6. Synthèse du PPPT</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21</a:t>
            </a:r>
            <a:endParaRPr lang="en-US" sz="1160" dirty="0"/>
          </a:p>
        </p:txBody>
      </p:sp>
      <p:sp>
        <p:nvSpPr>
          <p:cNvPr id="13" name="Shape 10"/>
          <p:cNvSpPr/>
          <p:nvPr/>
        </p:nvSpPr>
        <p:spPr>
          <a:xfrm>
            <a:off x="3211200" y="2419200"/>
            <a:ext cx="3304800" cy="0"/>
          </a:xfrm>
          <a:prstGeom prst="line">
            <a:avLst/>
          </a:prstGeom>
          <a:noFill/>
          <a:ln w="11430">
            <a:solidFill>
              <a:srgbClr val="1C1C1C"/>
            </a:solidFill>
            <a:prstDash val="sysDot"/>
          </a:ln>
        </p:spPr>
      </p:sp>
      <p:sp>
        <p:nvSpPr>
          <p:cNvPr id="14" name="Text 11"/>
          <p:cNvSpPr/>
          <p:nvPr/>
        </p:nvSpPr>
        <p:spPr>
          <a:xfrm>
            <a:off x="810000" y="22212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6.1 La loi « Climat et Résilience »</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21</a:t>
            </a:r>
            <a:endParaRPr lang="en-US" sz="1090" dirty="0"/>
          </a:p>
        </p:txBody>
      </p:sp>
      <p:sp>
        <p:nvSpPr>
          <p:cNvPr id="16" name="Shape 13"/>
          <p:cNvSpPr/>
          <p:nvPr/>
        </p:nvSpPr>
        <p:spPr>
          <a:xfrm>
            <a:off x="4914720" y="2795400"/>
            <a:ext cx="1601280" cy="0"/>
          </a:xfrm>
          <a:prstGeom prst="line">
            <a:avLst/>
          </a:prstGeom>
          <a:noFill/>
          <a:ln w="11430">
            <a:solidFill>
              <a:srgbClr val="1C1C1C"/>
            </a:solidFill>
            <a:prstDash val="sysDot"/>
          </a:ln>
        </p:spPr>
      </p:sp>
      <p:sp>
        <p:nvSpPr>
          <p:cNvPr id="17" name="Text 14"/>
          <p:cNvSpPr/>
          <p:nvPr/>
        </p:nvSpPr>
        <p:spPr>
          <a:xfrm>
            <a:off x="810000" y="2597400"/>
            <a:ext cx="4104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6.2 Le diagnostic de performance énergétiques (DPE Collectif)</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22</a:t>
            </a:r>
            <a:endParaRPr lang="en-US" sz="1090" dirty="0"/>
          </a:p>
        </p:txBody>
      </p:sp>
      <p:sp>
        <p:nvSpPr>
          <p:cNvPr id="19" name="Shape 16"/>
          <p:cNvSpPr/>
          <p:nvPr/>
        </p:nvSpPr>
        <p:spPr>
          <a:xfrm>
            <a:off x="2556000" y="3171600"/>
            <a:ext cx="3960000" cy="0"/>
          </a:xfrm>
          <a:prstGeom prst="line">
            <a:avLst/>
          </a:prstGeom>
          <a:noFill/>
          <a:ln w="11430">
            <a:solidFill>
              <a:srgbClr val="1C1C1C"/>
            </a:solidFill>
            <a:prstDash val="sysDot"/>
          </a:ln>
        </p:spPr>
      </p:sp>
      <p:sp>
        <p:nvSpPr>
          <p:cNvPr id="20" name="Text 17"/>
          <p:cNvSpPr/>
          <p:nvPr/>
        </p:nvSpPr>
        <p:spPr>
          <a:xfrm>
            <a:off x="810000" y="29736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6.3 Synthèse des curatifs</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24</a:t>
            </a:r>
            <a:endParaRPr lang="en-US" sz="1090" dirty="0"/>
          </a:p>
        </p:txBody>
      </p:sp>
      <p:sp>
        <p:nvSpPr>
          <p:cNvPr id="22" name="Shape 19"/>
          <p:cNvSpPr/>
          <p:nvPr/>
        </p:nvSpPr>
        <p:spPr>
          <a:xfrm>
            <a:off x="4456080" y="3547800"/>
            <a:ext cx="2059920" cy="0"/>
          </a:xfrm>
          <a:prstGeom prst="line">
            <a:avLst/>
          </a:prstGeom>
          <a:noFill/>
          <a:ln w="11430">
            <a:solidFill>
              <a:srgbClr val="1C1C1C"/>
            </a:solidFill>
            <a:prstDash val="sysDot"/>
          </a:ln>
        </p:spPr>
      </p:sp>
      <p:sp>
        <p:nvSpPr>
          <p:cNvPr id="23" name="Text 20"/>
          <p:cNvSpPr/>
          <p:nvPr/>
        </p:nvSpPr>
        <p:spPr>
          <a:xfrm>
            <a:off x="810000" y="3349800"/>
            <a:ext cx="36460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1 – Tableau récapitulatif des travaux curatifs</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25</a:t>
            </a:r>
            <a:endParaRPr lang="en-US" sz="1090" dirty="0"/>
          </a:p>
        </p:txBody>
      </p:sp>
      <p:sp>
        <p:nvSpPr>
          <p:cNvPr id="25" name="Shape 22"/>
          <p:cNvSpPr/>
          <p:nvPr/>
        </p:nvSpPr>
        <p:spPr>
          <a:xfrm>
            <a:off x="4718160" y="3924000"/>
            <a:ext cx="1797840" cy="0"/>
          </a:xfrm>
          <a:prstGeom prst="line">
            <a:avLst/>
          </a:prstGeom>
          <a:noFill/>
          <a:ln w="11430">
            <a:solidFill>
              <a:srgbClr val="1C1C1C"/>
            </a:solidFill>
            <a:prstDash val="sysDot"/>
          </a:ln>
        </p:spPr>
      </p:sp>
      <p:sp>
        <p:nvSpPr>
          <p:cNvPr id="26" name="Text 23"/>
          <p:cNvSpPr/>
          <p:nvPr/>
        </p:nvSpPr>
        <p:spPr>
          <a:xfrm>
            <a:off x="810000" y="3726000"/>
            <a:ext cx="39081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2 – Tableau récapitulatif des travaux énergétiques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26</a:t>
            </a:r>
            <a:endParaRPr lang="en-US" sz="1090" dirty="0"/>
          </a:p>
        </p:txBody>
      </p:sp>
      <p:sp>
        <p:nvSpPr>
          <p:cNvPr id="28" name="Shape 25"/>
          <p:cNvSpPr/>
          <p:nvPr/>
        </p:nvSpPr>
        <p:spPr>
          <a:xfrm>
            <a:off x="1674000" y="4300200"/>
            <a:ext cx="4842000" cy="0"/>
          </a:xfrm>
          <a:prstGeom prst="line">
            <a:avLst/>
          </a:prstGeom>
          <a:noFill/>
          <a:ln w="11430">
            <a:solidFill>
              <a:srgbClr val="1C1C1C"/>
            </a:solidFill>
            <a:prstDash val="sysDot"/>
          </a:ln>
        </p:spPr>
      </p:sp>
      <p:sp>
        <p:nvSpPr>
          <p:cNvPr id="29" name="Text 26"/>
          <p:cNvSpPr/>
          <p:nvPr/>
        </p:nvSpPr>
        <p:spPr>
          <a:xfrm>
            <a:off x="630000" y="4102200"/>
            <a:ext cx="104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7. CONCLUSION</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27</a:t>
            </a:r>
            <a:endParaRPr lang="en-US" sz="1160" dirty="0"/>
          </a:p>
        </p:txBody>
      </p:sp>
      <p:sp>
        <p:nvSpPr>
          <p:cNvPr id="31" name="Shape 28"/>
          <p:cNvSpPr/>
          <p:nvPr/>
        </p:nvSpPr>
        <p:spPr>
          <a:xfrm>
            <a:off x="2424960" y="4676400"/>
            <a:ext cx="4091040" cy="0"/>
          </a:xfrm>
          <a:prstGeom prst="line">
            <a:avLst/>
          </a:prstGeom>
          <a:noFill/>
          <a:ln w="11430">
            <a:solidFill>
              <a:srgbClr val="1C1C1C"/>
            </a:solidFill>
            <a:prstDash val="sysDot"/>
          </a:ln>
        </p:spPr>
      </p:sp>
      <p:sp>
        <p:nvSpPr>
          <p:cNvPr id="32" name="Text 29"/>
          <p:cNvSpPr/>
          <p:nvPr/>
        </p:nvSpPr>
        <p:spPr>
          <a:xfrm>
            <a:off x="810000" y="44784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7.1 Conclusion générale</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27</a:t>
            </a:r>
            <a:endParaRPr lang="en-US" sz="1090" dirty="0"/>
          </a:p>
        </p:txBody>
      </p:sp>
      <p:sp>
        <p:nvSpPr>
          <p:cNvPr id="34" name="Shape 31"/>
          <p:cNvSpPr/>
          <p:nvPr/>
        </p:nvSpPr>
        <p:spPr>
          <a:xfrm>
            <a:off x="3834000" y="5052600"/>
            <a:ext cx="2682000" cy="0"/>
          </a:xfrm>
          <a:prstGeom prst="line">
            <a:avLst/>
          </a:prstGeom>
          <a:noFill/>
          <a:ln w="11430">
            <a:solidFill>
              <a:srgbClr val="1C1C1C"/>
            </a:solidFill>
            <a:prstDash val="sysDot"/>
          </a:ln>
        </p:spPr>
      </p:sp>
      <p:sp>
        <p:nvSpPr>
          <p:cNvPr id="35" name="Text 32"/>
          <p:cNvSpPr/>
          <p:nvPr/>
        </p:nvSpPr>
        <p:spPr>
          <a:xfrm>
            <a:off x="630000" y="4854600"/>
            <a:ext cx="320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8. FINANCEMENTS À LA RÉNOVATION ÉNERGÉTIQUE</a:t>
            </a:r>
            <a:endParaRPr lang="en-US" sz="116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28</a:t>
            </a:r>
            <a:endParaRPr lang="en-US" sz="1160" dirty="0"/>
          </a:p>
        </p:txBody>
      </p:sp>
      <p:sp>
        <p:nvSpPr>
          <p:cNvPr id="37" name="Shape 34"/>
          <p:cNvSpPr/>
          <p:nvPr/>
        </p:nvSpPr>
        <p:spPr>
          <a:xfrm>
            <a:off x="2949120" y="5428800"/>
            <a:ext cx="3566880" cy="0"/>
          </a:xfrm>
          <a:prstGeom prst="line">
            <a:avLst/>
          </a:prstGeom>
          <a:noFill/>
          <a:ln w="11430">
            <a:solidFill>
              <a:srgbClr val="1C1C1C"/>
            </a:solidFill>
            <a:prstDash val="sysDot"/>
          </a:ln>
        </p:spPr>
      </p:sp>
      <p:sp>
        <p:nvSpPr>
          <p:cNvPr id="38" name="Text 35"/>
          <p:cNvSpPr/>
          <p:nvPr/>
        </p:nvSpPr>
        <p:spPr>
          <a:xfrm>
            <a:off x="810000" y="52308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8.1 Ma Prime Rénov’Copropriétés</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28</a:t>
            </a:r>
            <a:endParaRPr lang="en-US" sz="1090" dirty="0"/>
          </a:p>
        </p:txBody>
      </p:sp>
      <p:sp>
        <p:nvSpPr>
          <p:cNvPr id="40" name="Shape 37"/>
          <p:cNvSpPr/>
          <p:nvPr/>
        </p:nvSpPr>
        <p:spPr>
          <a:xfrm>
            <a:off x="3604320" y="5805000"/>
            <a:ext cx="2911680" cy="0"/>
          </a:xfrm>
          <a:prstGeom prst="line">
            <a:avLst/>
          </a:prstGeom>
          <a:noFill/>
          <a:ln w="11430">
            <a:solidFill>
              <a:srgbClr val="1C1C1C"/>
            </a:solidFill>
            <a:prstDash val="sysDot"/>
          </a:ln>
        </p:spPr>
      </p:sp>
      <p:sp>
        <p:nvSpPr>
          <p:cNvPr id="41" name="Text 38"/>
          <p:cNvSpPr/>
          <p:nvPr/>
        </p:nvSpPr>
        <p:spPr>
          <a:xfrm>
            <a:off x="810000" y="5607000"/>
            <a:ext cx="27943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8.2 Les Certificats d’Économies d’Énergie</a:t>
            </a:r>
            <a:endParaRPr lang="en-US" sz="109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29</a:t>
            </a:r>
            <a:endParaRPr lang="en-US" sz="1090" dirty="0"/>
          </a:p>
        </p:txBody>
      </p:sp>
      <p:sp>
        <p:nvSpPr>
          <p:cNvPr id="43" name="Shape 40"/>
          <p:cNvSpPr/>
          <p:nvPr/>
        </p:nvSpPr>
        <p:spPr>
          <a:xfrm>
            <a:off x="3407760" y="6181200"/>
            <a:ext cx="3108240" cy="0"/>
          </a:xfrm>
          <a:prstGeom prst="line">
            <a:avLst/>
          </a:prstGeom>
          <a:noFill/>
          <a:ln w="11430">
            <a:solidFill>
              <a:srgbClr val="1C1C1C"/>
            </a:solidFill>
            <a:prstDash val="sysDot"/>
          </a:ln>
        </p:spPr>
      </p:sp>
      <p:sp>
        <p:nvSpPr>
          <p:cNvPr id="44" name="Text 41"/>
          <p:cNvSpPr/>
          <p:nvPr/>
        </p:nvSpPr>
        <p:spPr>
          <a:xfrm>
            <a:off x="810000" y="59832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8.3 L’Éco-Prêt à Taux Zéro Copropriété</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30</a:t>
            </a:r>
            <a:endParaRPr lang="en-US" sz="1090" dirty="0"/>
          </a:p>
        </p:txBody>
      </p:sp>
      <p:sp>
        <p:nvSpPr>
          <p:cNvPr id="46" name="Shape 43"/>
          <p:cNvSpPr/>
          <p:nvPr/>
        </p:nvSpPr>
        <p:spPr>
          <a:xfrm>
            <a:off x="3014640" y="6557400"/>
            <a:ext cx="3501360" cy="0"/>
          </a:xfrm>
          <a:prstGeom prst="line">
            <a:avLst/>
          </a:prstGeom>
          <a:noFill/>
          <a:ln w="11430">
            <a:solidFill>
              <a:srgbClr val="1C1C1C"/>
            </a:solidFill>
            <a:prstDash val="sysDot"/>
          </a:ln>
        </p:spPr>
      </p:sp>
      <p:sp>
        <p:nvSpPr>
          <p:cNvPr id="47" name="Text 44"/>
          <p:cNvSpPr/>
          <p:nvPr/>
        </p:nvSpPr>
        <p:spPr>
          <a:xfrm>
            <a:off x="810000" y="6359400"/>
            <a:ext cx="220464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8.4 La TVA à taux réduite à 5,5%</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31</a:t>
            </a:r>
            <a:endParaRPr lang="en-US" sz="1090" dirty="0"/>
          </a:p>
        </p:txBody>
      </p:sp>
      <p:sp>
        <p:nvSpPr>
          <p:cNvPr id="49" name="Shape 46"/>
          <p:cNvSpPr/>
          <p:nvPr/>
        </p:nvSpPr>
        <p:spPr>
          <a:xfrm>
            <a:off x="4062960" y="6933600"/>
            <a:ext cx="2453040" cy="0"/>
          </a:xfrm>
          <a:prstGeom prst="line">
            <a:avLst/>
          </a:prstGeom>
          <a:noFill/>
          <a:ln w="11430">
            <a:solidFill>
              <a:srgbClr val="1C1C1C"/>
            </a:solidFill>
            <a:prstDash val="sysDot"/>
          </a:ln>
        </p:spPr>
      </p:sp>
      <p:sp>
        <p:nvSpPr>
          <p:cNvPr id="50" name="Text 47"/>
          <p:cNvSpPr/>
          <p:nvPr/>
        </p:nvSpPr>
        <p:spPr>
          <a:xfrm>
            <a:off x="810000" y="67356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8.5 Précision sur le cumul des aides financières</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32</a:t>
            </a:r>
            <a:endParaRPr lang="en-US" sz="1090" dirty="0"/>
          </a:p>
        </p:txBody>
      </p:sp>
      <p:sp>
        <p:nvSpPr>
          <p:cNvPr id="52" name="Shape 49"/>
          <p:cNvSpPr/>
          <p:nvPr/>
        </p:nvSpPr>
        <p:spPr>
          <a:xfrm>
            <a:off x="4849200" y="7309800"/>
            <a:ext cx="1666800" cy="0"/>
          </a:xfrm>
          <a:prstGeom prst="line">
            <a:avLst/>
          </a:prstGeom>
          <a:noFill/>
          <a:ln w="11430">
            <a:solidFill>
              <a:srgbClr val="1C1C1C"/>
            </a:solidFill>
            <a:prstDash val="sysDot"/>
          </a:ln>
        </p:spPr>
      </p:sp>
      <p:sp>
        <p:nvSpPr>
          <p:cNvPr id="53" name="Text 50"/>
          <p:cNvSpPr/>
          <p:nvPr/>
        </p:nvSpPr>
        <p:spPr>
          <a:xfrm>
            <a:off x="810000" y="7111800"/>
            <a:ext cx="4039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8.6 Les étapes d’un projet de rénovation énergétique globale</a:t>
            </a:r>
            <a:endParaRPr lang="en-US" sz="109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33</a:t>
            </a:r>
            <a:endParaRPr lang="en-US" sz="1090" dirty="0"/>
          </a:p>
        </p:txBody>
      </p:sp>
      <p:sp>
        <p:nvSpPr>
          <p:cNvPr id="55" name="Shape 52"/>
          <p:cNvSpPr/>
          <p:nvPr/>
        </p:nvSpPr>
        <p:spPr>
          <a:xfrm>
            <a:off x="1458000" y="7686000"/>
            <a:ext cx="5058000" cy="0"/>
          </a:xfrm>
          <a:prstGeom prst="line">
            <a:avLst/>
          </a:prstGeom>
          <a:noFill/>
          <a:ln w="11430">
            <a:solidFill>
              <a:srgbClr val="1C1C1C"/>
            </a:solidFill>
            <a:prstDash val="sysDot"/>
          </a:ln>
        </p:spPr>
      </p:sp>
      <p:sp>
        <p:nvSpPr>
          <p:cNvPr id="56" name="Text 53"/>
          <p:cNvSpPr/>
          <p:nvPr/>
        </p:nvSpPr>
        <p:spPr>
          <a:xfrm>
            <a:off x="630000" y="74880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9. Lexique</a:t>
            </a:r>
            <a:endParaRPr lang="en-US" sz="116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34</a:t>
            </a:r>
            <a:endParaRPr lang="en-US" sz="1160" dirty="0"/>
          </a:p>
        </p:txBody>
      </p:sp>
      <p:sp>
        <p:nvSpPr>
          <p:cNvPr id="58" name="Shape 55"/>
          <p:cNvSpPr/>
          <p:nvPr/>
        </p:nvSpPr>
        <p:spPr>
          <a:xfrm>
            <a:off x="1638720" y="8062200"/>
            <a:ext cx="4877280" cy="0"/>
          </a:xfrm>
          <a:prstGeom prst="line">
            <a:avLst/>
          </a:prstGeom>
          <a:noFill/>
          <a:ln w="11430">
            <a:solidFill>
              <a:srgbClr val="1C1C1C"/>
            </a:solidFill>
            <a:prstDash val="sysDot"/>
          </a:ln>
        </p:spPr>
      </p:sp>
      <p:sp>
        <p:nvSpPr>
          <p:cNvPr id="59" name="Text 56"/>
          <p:cNvSpPr/>
          <p:nvPr/>
        </p:nvSpPr>
        <p:spPr>
          <a:xfrm>
            <a:off x="810000" y="78642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9.1 Lexique</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34</a:t>
            </a:r>
            <a:endParaRPr lang="en-US" sz="1090" dirty="0"/>
          </a:p>
        </p:txBody>
      </p:sp>
      <p:sp>
        <p:nvSpPr>
          <p:cNvPr id="61" name="Shape 58"/>
          <p:cNvSpPr/>
          <p:nvPr/>
        </p:nvSpPr>
        <p:spPr>
          <a:xfrm>
            <a:off x="1638720" y="8438400"/>
            <a:ext cx="4877280" cy="0"/>
          </a:xfrm>
          <a:prstGeom prst="line">
            <a:avLst/>
          </a:prstGeom>
          <a:noFill/>
          <a:ln w="11430">
            <a:solidFill>
              <a:srgbClr val="1C1C1C"/>
            </a:solidFill>
            <a:prstDash val="sysDot"/>
          </a:ln>
        </p:spPr>
      </p:sp>
      <p:sp>
        <p:nvSpPr>
          <p:cNvPr id="62" name="Text 59"/>
          <p:cNvSpPr/>
          <p:nvPr/>
        </p:nvSpPr>
        <p:spPr>
          <a:xfrm>
            <a:off x="810000" y="82404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9.2 Lexique</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35</a:t>
            </a:r>
            <a:endParaRPr lang="en-US" sz="1090" dirty="0"/>
          </a:p>
        </p:txBody>
      </p:sp>
      <p:sp>
        <p:nvSpPr>
          <p:cNvPr id="64" name="Shape 61"/>
          <p:cNvSpPr/>
          <p:nvPr/>
        </p:nvSpPr>
        <p:spPr>
          <a:xfrm>
            <a:off x="2826000" y="8814600"/>
            <a:ext cx="3690000" cy="0"/>
          </a:xfrm>
          <a:prstGeom prst="line">
            <a:avLst/>
          </a:prstGeom>
          <a:noFill/>
          <a:ln w="11430">
            <a:solidFill>
              <a:srgbClr val="1C1C1C"/>
            </a:solidFill>
            <a:prstDash val="sysDot"/>
          </a:ln>
        </p:spPr>
      </p:sp>
      <p:sp>
        <p:nvSpPr>
          <p:cNvPr id="65" name="Text 62"/>
          <p:cNvSpPr/>
          <p:nvPr/>
        </p:nvSpPr>
        <p:spPr>
          <a:xfrm>
            <a:off x="630000" y="8616600"/>
            <a:ext cx="219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10. Déclaration sur l’honneur</a:t>
            </a:r>
            <a:endParaRPr lang="en-US" sz="116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36</a:t>
            </a:r>
            <a:endParaRPr lang="en-US" sz="11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7</a:t>
            </a:r>
            <a:endParaRPr lang="en-US" sz="950" dirty="0"/>
          </a:p>
        </p:txBody>
      </p:sp>
      <p:sp>
        <p:nvSpPr>
          <p:cNvPr id="7" name="Shape 4"/>
          <p:cNvSpPr/>
          <p:nvPr/>
        </p:nvSpPr>
        <p:spPr>
          <a:xfrm>
            <a:off x="1458000" y="1666800"/>
            <a:ext cx="5058000" cy="0"/>
          </a:xfrm>
          <a:prstGeom prst="line">
            <a:avLst/>
          </a:prstGeom>
          <a:noFill/>
          <a:ln w="11430">
            <a:solidFill>
              <a:srgbClr val="1C1C1C"/>
            </a:solidFill>
            <a:prstDash val="sysDot"/>
          </a:ln>
        </p:spPr>
      </p:sp>
      <p:sp>
        <p:nvSpPr>
          <p:cNvPr id="8" name="Text 5"/>
          <p:cNvSpPr/>
          <p:nvPr/>
        </p:nvSpPr>
        <p:spPr>
          <a:xfrm>
            <a:off x="630000" y="14688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11. Annexe</a:t>
            </a:r>
            <a:endParaRPr lang="en-US" sz="116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36</a:t>
            </a:r>
            <a:endParaRPr lang="en-US" sz="1160" dirty="0"/>
          </a:p>
        </p:txBody>
      </p:sp>
      <p:sp>
        <p:nvSpPr>
          <p:cNvPr id="10" name="Shape 7"/>
          <p:cNvSpPr/>
          <p:nvPr/>
        </p:nvSpPr>
        <p:spPr>
          <a:xfrm>
            <a:off x="4062960" y="2043000"/>
            <a:ext cx="2453040" cy="0"/>
          </a:xfrm>
          <a:prstGeom prst="line">
            <a:avLst/>
          </a:prstGeom>
          <a:noFill/>
          <a:ln w="11430">
            <a:solidFill>
              <a:srgbClr val="1C1C1C"/>
            </a:solidFill>
            <a:prstDash val="sysDot"/>
          </a:ln>
        </p:spPr>
      </p:sp>
      <p:sp>
        <p:nvSpPr>
          <p:cNvPr id="11" name="Text 8"/>
          <p:cNvSpPr/>
          <p:nvPr/>
        </p:nvSpPr>
        <p:spPr>
          <a:xfrm>
            <a:off x="810000" y="18450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11.1 Etat des risques et informations Géorisques</a:t>
            </a:r>
            <a:endParaRPr lang="en-US" sz="109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36</a:t>
            </a:r>
            <a:endParaRPr lang="en-US" sz="10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84840"/>
            <a:ext cx="6484680" cy="826812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présent document constitue un </a:t>
            </a:r>
            <a:pPr algn="just" indent="0" marL="0">
              <a:buNone/>
            </a:pPr>
            <a:r>
              <a:rPr lang="en-US" sz="1100" b="1" dirty="0">
                <a:solidFill>
                  <a:srgbClr val="1C1C1C"/>
                </a:solidFill>
                <a:latin typeface="Calibri" pitchFamily="34" charset="0"/>
                <a:ea typeface="Calibri" pitchFamily="34" charset="-122"/>
                <a:cs typeface="Calibri" pitchFamily="34" charset="-120"/>
              </a:rPr>
              <a:t>Projet de Plan Pluriannuel de Travaux (PPPT)</a:t>
            </a:r>
            <a:pPr algn="just" indent="0" marL="0">
              <a:buNone/>
            </a:pPr>
            <a:r>
              <a:rPr lang="en-US" sz="1100" dirty="0">
                <a:solidFill>
                  <a:srgbClr val="1C1C1C"/>
                </a:solidFill>
                <a:latin typeface="Calibri" pitchFamily="34" charset="0"/>
                <a:ea typeface="Calibri" pitchFamily="34" charset="-122"/>
                <a:cs typeface="Calibri" pitchFamily="34" charset="-120"/>
              </a:rPr>
              <a:t> établi conformément aux dispositions de la </a:t>
            </a:r>
            <a:pPr algn="just" indent="0" marL="0">
              <a:buNone/>
            </a:pPr>
            <a:r>
              <a:rPr lang="en-US" sz="1100" b="1" dirty="0">
                <a:solidFill>
                  <a:srgbClr val="1C1C1C"/>
                </a:solidFill>
                <a:latin typeface="Calibri" pitchFamily="34" charset="0"/>
                <a:ea typeface="Calibri" pitchFamily="34" charset="-122"/>
                <a:cs typeface="Calibri" pitchFamily="34" charset="-120"/>
              </a:rPr>
              <a:t>loi n° 2021-1104 du 22 août 2021</a:t>
            </a:r>
            <a:pPr algn="just" indent="0" marL="0">
              <a:buNone/>
            </a:pPr>
            <a:r>
              <a:rPr lang="en-US" sz="1100" dirty="0">
                <a:solidFill>
                  <a:srgbClr val="1C1C1C"/>
                </a:solidFill>
                <a:latin typeface="Calibri" pitchFamily="34" charset="0"/>
                <a:ea typeface="Calibri" pitchFamily="34" charset="-122"/>
                <a:cs typeface="Calibri" pitchFamily="34" charset="-120"/>
              </a:rPr>
              <a:t>, dite « Climat et Résilience », codifiées aux </a:t>
            </a:r>
            <a:pPr algn="just" indent="0" marL="0">
              <a:buNone/>
            </a:pPr>
            <a:r>
              <a:rPr lang="en-US" sz="1100" b="1" dirty="0">
                <a:solidFill>
                  <a:srgbClr val="1C1C1C"/>
                </a:solidFill>
                <a:latin typeface="Calibri" pitchFamily="34" charset="0"/>
                <a:ea typeface="Calibri" pitchFamily="34" charset="-122"/>
                <a:cs typeface="Calibri" pitchFamily="34" charset="-120"/>
              </a:rPr>
              <a:t>articles L.731-1 à L.731-5</a:t>
            </a:r>
            <a:pPr algn="just" indent="0" marL="0">
              <a:buNone/>
            </a:pPr>
            <a:r>
              <a:rPr lang="en-US" sz="1100" dirty="0">
                <a:solidFill>
                  <a:srgbClr val="1C1C1C"/>
                </a:solidFill>
                <a:latin typeface="Calibri" pitchFamily="34" charset="0"/>
                <a:ea typeface="Calibri" pitchFamily="34" charset="-122"/>
                <a:cs typeface="Calibri" pitchFamily="34" charset="-120"/>
              </a:rPr>
              <a:t> et </a:t>
            </a:r>
            <a:pPr algn="just" indent="0" marL="0">
              <a:buNone/>
            </a:pPr>
            <a:r>
              <a:rPr lang="en-US" sz="1100" b="1" dirty="0">
                <a:solidFill>
                  <a:srgbClr val="1C1C1C"/>
                </a:solidFill>
                <a:latin typeface="Calibri" pitchFamily="34" charset="0"/>
                <a:ea typeface="Calibri" pitchFamily="34" charset="-122"/>
                <a:cs typeface="Calibri" pitchFamily="34" charset="-120"/>
              </a:rPr>
              <a:t>R.731-1 à R.731-3 du Code de la construction et de l'habitation</a:t>
            </a:r>
            <a:pPr algn="just" indent="0" marL="0">
              <a:buNone/>
            </a:pPr>
            <a:r>
              <a:rPr lang="en-US" sz="1100" dirty="0">
                <a:solidFill>
                  <a:srgbClr val="1C1C1C"/>
                </a:solidFill>
                <a:latin typeface="Calibri" pitchFamily="34" charset="0"/>
                <a:ea typeface="Calibri" pitchFamily="34" charset="-122"/>
                <a:cs typeface="Calibri" pitchFamily="34" charset="-120"/>
              </a:rPr>
              <a:t>, ainsi qu'à </a:t>
            </a:r>
            <a:pPr algn="just" indent="0" marL="0">
              <a:buNone/>
            </a:pPr>
            <a:r>
              <a:rPr lang="en-US" sz="1100" b="1" dirty="0">
                <a:solidFill>
                  <a:srgbClr val="1C1C1C"/>
                </a:solidFill>
                <a:latin typeface="Calibri" pitchFamily="34" charset="0"/>
                <a:ea typeface="Calibri" pitchFamily="34" charset="-122"/>
                <a:cs typeface="Calibri" pitchFamily="34" charset="-120"/>
              </a:rPr>
              <a:t>l'arrêté du 30 mars 2022 relatif au contenu du Projet de Plan Pluriannuel de Travaux</a:t>
            </a:r>
            <a:pPr algn="just"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est obligatoire pour les copropriétés de plus de 15 ans soumises au statut de la copropriété. Il a pour objectif d’anticiper les besoins de travaux sur les parties communes et les équipements collectifs de l’immeuble, de planifier leur réalisation sur une période de dix ans et d’en estimer les coûts prévisionnels.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Son élaboration repose sur l’analyse de l’état apparent du bâti, des équipements communs et des informations communiquées par le syndicat des copropriétaires ou son représentant. Elle prend également en compte le Diagnostic de Performance Énergétique (DPE) collectif et, lorsqu’il existe, le Diagnostic Technique Global (DTG).</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répond à trois objectifs majeurs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Assurer la conservation et la pérennité du patrimoine immobilier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Garantir la sécurité et le confort des occupants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Favoriser l’amélioration de la performance énergétique du bâtiment.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projet présenté dans ce rapport constitue un outil d’aide à la décision permettant à la copropriété d’identifier les travaux à prévoir, de hiérarchiser les interventions et d’anticiper les investissements futurs.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Après sa présentation en assemblée générale, le PPPT pourra être adopté en tout ou partie par les copropriétaires. Une fois approuvé, il devient un </a:t>
            </a:r>
            <a:pPr algn="just" indent="0" marL="0">
              <a:buNone/>
            </a:pPr>
            <a:r>
              <a:rPr lang="en-US" sz="1100" b="1" dirty="0">
                <a:solidFill>
                  <a:srgbClr val="1C1C1C"/>
                </a:solidFill>
                <a:latin typeface="Calibri" pitchFamily="34" charset="0"/>
                <a:ea typeface="Calibri" pitchFamily="34" charset="-122"/>
                <a:cs typeface="Calibri" pitchFamily="34" charset="-120"/>
              </a:rPr>
              <a:t>Plan Pluriannuel de Travaux (PPT)</a:t>
            </a:r>
            <a:pPr algn="just" indent="0" marL="0">
              <a:buNone/>
            </a:pPr>
            <a:r>
              <a:rPr lang="en-US" sz="1100" dirty="0">
                <a:solidFill>
                  <a:srgbClr val="1C1C1C"/>
                </a:solidFill>
                <a:latin typeface="Calibri" pitchFamily="34" charset="0"/>
                <a:ea typeface="Calibri" pitchFamily="34" charset="-122"/>
                <a:cs typeface="Calibri" pitchFamily="34" charset="-120"/>
              </a:rPr>
              <a:t> et sert de référence pour la programmation des opérations à venir. Les travaux sont ensuite soumis au vote des copropriétaires selon les règles de majorité applicables à leur nature.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Conformément à la réglementation en vigueur, l’adoption d’un PPT entraîne également l’obligation de constituer ou d’alimenter le fonds de travaux de la copropriété afin de financer progressivement les opérations programmées.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Il est rappelé que le PPPT constitue un document prévisionnel et évolutif. Il a vocation à être actualisé périodiquement afin de tenir compte de l’évolution de l’état du bâtiment, des obligations réglementaires et des décisions prises par le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Dans le cadre de l’exercice de ses pouvoirs de contrôle en matière de sécurité et de salubrité des immeubles, l’autorité administrative compétente peut demander à tout moment la transmission du Plan Pluriannuel de Travaux (PPT) adopté par la copropriété. En l’absence de transmission dans un délai d’un mois suivant cette demande, ou lorsque le document transmis ne prévoit manifestement pas les travaux nécessaires à la préservation de la sécurité des occupants et à la conservation de l’immeuble, l’autorité administrative peut faire élaborer ou actualiser d’office le projet de plan pluriannuel de travaux, aux frais du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Par ailleurs, le non-respect des obligations relatives à l’élaboration du PPPT est susceptible d’engager la responsabilité du syndicat des copropriétaires. Les copropriétaires estimant avoir subi un préjudice du fait de l’absence de réalisation du PPPT peuvent solliciter réparation conformément aux dispositions de l’article 14 de la loi du 10 juillet 1965.</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test PPPT</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341000"/>
            <a:ext cx="6484680" cy="818856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1.2 Validité du présent rapport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constats et observations présentés dans ce rapport sont établis sur la base des éléments visibles et accessibles au jour de la visite. Ils reflètent l'état apparent de l'immeuble à cette date uniquement.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Toute modification, intervention ou dégradation survenue postérieurement à notre passage ne peut être prise en compte dans la présente étude. L'évolution naturelle du bâtiment, les conditions climatiques, les sinistres, les travaux ou tout autre événement susceptible d'affecter son état peuvent entraîner l'apparition ou l'aggravation de désordres non observables lors de la visite.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En conséquence, les conclusions du présent rapport doivent être appréciées au regard de la date de réalisation de la mission.</a:t>
            </a:r>
            <a:endParaRPr lang="en-US" sz="1100" dirty="0"/>
          </a:p>
          <a:p>
            <a:pPr algn="just" indent="0" marL="0">
              <a:buNone/>
            </a:pP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1.3 Périmètre de la mission et réserves</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Nature de la mission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mission consiste en une analyse visuelle de l'état apparent des parties communes et des équipements collectifs de la copropriété. Elle vise à identifier les principales pathologies, désordres, défauts d'entretien ou besoins de travaux susceptibles d'affecter la conservation du bâtiment, la sécurité des occupants ou la performance énergétique de l'immeuble.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Cette mission est réalisée sans sondage, démontage, essai destructif ou investigation intrusive.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Sources d’information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observations et préconisations formulées dans ce rapport s'appuient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documents et informations transmis par le syndicat des copropriétaires ou son représentant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constatations réalisées lors de la visite des lieux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éléments visibles et accessibles au moment de l'intervention.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conclusions présentées ne peuvent donc être considérées comme exhaustives et demeurent limitées aux conditions d'observation rencontrées lors de la visite.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Éléments non visités ou non accessibles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Sauf mention contraire, les éléments suivants n'ont pas pu être inspectés ou ont fait l'objet d'une observation limitée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locaux nécessitant un accès spécifique ou l'accompagnement d'une personne habilitée (chaufferie, machinerie d'ascenseur, locaux techniques, postes de transformation, etc.)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ouvrages situés à plus de 3 mètres de hauteur lorsqu'aucun moyen d'accès adapté n'était disponible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combles perdus, vides sanitaires, volumes confinés ou zones rendues inaccessibles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réseaux, canalisations, gaines techniques et structures non visibles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éléments situés sous les complexes d'étanchéité ou d'isolation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parties dont l'accès présentait un risque pour la sécurité des intervenants.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éventuels désordres affectant ces ouvrages ne peuvent donc être identifiés dans le cadre de la présente mission.</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test PPPT</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03480"/>
            <a:ext cx="6484680" cy="2697840"/>
          </a:xfrm>
          <a:prstGeom prst="rect">
            <a:avLst/>
          </a:prstGeom>
          <a:noFill/>
          <a:ln/>
        </p:spPr>
        <p:txBody>
          <a:bodyPr wrap="square" lIns="88900" tIns="44450" rIns="88900" bIns="44450" rtlCol="0" anchor="t"/>
          <a:lstStyle/>
          <a:p>
            <a:pPr algn="just" indent="0" marL="0">
              <a:buNone/>
            </a:pPr>
            <a:r>
              <a:rPr lang="en-US" sz="1300" b="1" dirty="0">
                <a:solidFill>
                  <a:srgbClr val="1C1C1C"/>
                </a:solidFill>
                <a:latin typeface="Calibri" pitchFamily="34" charset="0"/>
                <a:ea typeface="Calibri" pitchFamily="34" charset="-122"/>
                <a:cs typeface="Calibri" pitchFamily="34" charset="-120"/>
              </a:rPr>
              <a:t>1.4 Limite de la mission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étude constitue un outil d'aide à la décision reposant principalement sur une inspection visuelle des parties communes et des équipements collectifs accessibles lors de la visite. Elle ne saurait être assimilée à une expertise technique approfondie, une mission de maîtrise d'œuvre ou une étude d'exécution.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estimations financières présentées ont un caractère indicatif et visent uniquement à hiérarchiser les interventions. Les préconisations formulées pourront nécessiter des investigations complémentaires réalisées par des professionnels spécialisés avant toute réalisation de travaux.</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FRANCE VERTE décline toute responsabilité en cas d'utilisation du présent document en dehors de son objet, de son périmètre d'intervention.</a:t>
            </a: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1.5 Hiérarchisation des travaux et des observations</a:t>
            </a:r>
            <a:endParaRPr lang="en-US" sz="1100" dirty="0"/>
          </a:p>
        </p:txBody>
      </p:sp>
      <p:sp>
        <p:nvSpPr>
          <p:cNvPr id="6" name="Shape 3"/>
          <p:cNvSpPr/>
          <p:nvPr/>
        </p:nvSpPr>
        <p:spPr>
          <a:xfrm>
            <a:off x="541080" y="4195080"/>
            <a:ext cx="1681560" cy="795960"/>
          </a:xfrm>
          <a:prstGeom prst="rect">
            <a:avLst/>
          </a:prstGeom>
          <a:solidFill>
            <a:srgbClr val="FFFFFF"/>
          </a:solidFill>
          <a:ln w="12700">
            <a:solidFill>
              <a:srgbClr val="242424"/>
            </a:solidFill>
            <a:prstDash val="solid"/>
          </a:ln>
        </p:spPr>
      </p:sp>
      <p:sp>
        <p:nvSpPr>
          <p:cNvPr id="7" name="Shape 4"/>
          <p:cNvSpPr/>
          <p:nvPr/>
        </p:nvSpPr>
        <p:spPr>
          <a:xfrm>
            <a:off x="2222640" y="4195080"/>
            <a:ext cx="3352680" cy="795960"/>
          </a:xfrm>
          <a:prstGeom prst="rect">
            <a:avLst/>
          </a:prstGeom>
          <a:solidFill>
            <a:srgbClr val="FFFFFF"/>
          </a:solidFill>
          <a:ln w="12700">
            <a:solidFill>
              <a:srgbClr val="242424"/>
            </a:solidFill>
            <a:prstDash val="solid"/>
          </a:ln>
        </p:spPr>
      </p:sp>
      <p:sp>
        <p:nvSpPr>
          <p:cNvPr id="8" name="Shape 5"/>
          <p:cNvSpPr/>
          <p:nvPr/>
        </p:nvSpPr>
        <p:spPr>
          <a:xfrm>
            <a:off x="5575320" y="4195080"/>
            <a:ext cx="1450440" cy="795960"/>
          </a:xfrm>
          <a:prstGeom prst="rect">
            <a:avLst/>
          </a:prstGeom>
          <a:solidFill>
            <a:srgbClr val="FFFFFF"/>
          </a:solidFill>
          <a:ln w="12700">
            <a:solidFill>
              <a:srgbClr val="242424"/>
            </a:solidFill>
            <a:prstDash val="solid"/>
          </a:ln>
        </p:spPr>
      </p:sp>
      <p:sp>
        <p:nvSpPr>
          <p:cNvPr id="9" name="Shape 6"/>
          <p:cNvSpPr/>
          <p:nvPr/>
        </p:nvSpPr>
        <p:spPr>
          <a:xfrm>
            <a:off x="692460" y="4342500"/>
            <a:ext cx="1411560" cy="501120"/>
          </a:xfrm>
          <a:prstGeom prst="homePlate">
            <a:avLst/>
          </a:prstGeom>
          <a:solidFill>
            <a:srgbClr val="5DCCCC"/>
          </a:solidFill>
          <a:ln w="8890">
            <a:solidFill>
              <a:srgbClr val="242424"/>
            </a:solidFill>
            <a:prstDash val="solid"/>
          </a:ln>
        </p:spPr>
      </p:sp>
      <p:sp>
        <p:nvSpPr>
          <p:cNvPr id="10" name="Text 7"/>
          <p:cNvSpPr/>
          <p:nvPr/>
        </p:nvSpPr>
        <p:spPr>
          <a:xfrm>
            <a:off x="768060" y="44562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Entretien</a:t>
            </a:r>
            <a:endParaRPr lang="en-US" sz="1140" dirty="0"/>
          </a:p>
        </p:txBody>
      </p:sp>
      <p:sp>
        <p:nvSpPr>
          <p:cNvPr id="11" name="Text 8"/>
          <p:cNvSpPr/>
          <p:nvPr/>
        </p:nvSpPr>
        <p:spPr>
          <a:xfrm>
            <a:off x="2301840" y="4234680"/>
            <a:ext cx="3194280" cy="7167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Entretien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Opérations d'entretien courant et de maintenance préventive nécessaires au maintien en bon état des équipements et du bâtiment.</a:t>
            </a:r>
            <a:endParaRPr lang="en-US" sz="1100" dirty="0"/>
          </a:p>
        </p:txBody>
      </p:sp>
      <p:sp>
        <p:nvSpPr>
          <p:cNvPr id="12" name="Text 9"/>
          <p:cNvSpPr/>
          <p:nvPr/>
        </p:nvSpPr>
        <p:spPr>
          <a:xfrm>
            <a:off x="5640120" y="4234680"/>
            <a:ext cx="1320840" cy="71676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13" name="Shape 10"/>
          <p:cNvSpPr/>
          <p:nvPr/>
        </p:nvSpPr>
        <p:spPr>
          <a:xfrm>
            <a:off x="541080" y="4991040"/>
            <a:ext cx="1681560" cy="942120"/>
          </a:xfrm>
          <a:prstGeom prst="rect">
            <a:avLst/>
          </a:prstGeom>
          <a:solidFill>
            <a:srgbClr val="FFFFFF"/>
          </a:solidFill>
          <a:ln w="12700">
            <a:solidFill>
              <a:srgbClr val="242424"/>
            </a:solidFill>
            <a:prstDash val="solid"/>
          </a:ln>
        </p:spPr>
      </p:sp>
      <p:sp>
        <p:nvSpPr>
          <p:cNvPr id="14" name="Shape 11"/>
          <p:cNvSpPr/>
          <p:nvPr/>
        </p:nvSpPr>
        <p:spPr>
          <a:xfrm>
            <a:off x="2222640" y="4991040"/>
            <a:ext cx="3352680" cy="942120"/>
          </a:xfrm>
          <a:prstGeom prst="rect">
            <a:avLst/>
          </a:prstGeom>
          <a:solidFill>
            <a:srgbClr val="FFFFFF"/>
          </a:solidFill>
          <a:ln w="12700">
            <a:solidFill>
              <a:srgbClr val="242424"/>
            </a:solidFill>
            <a:prstDash val="solid"/>
          </a:ln>
        </p:spPr>
      </p:sp>
      <p:sp>
        <p:nvSpPr>
          <p:cNvPr id="15" name="Shape 12"/>
          <p:cNvSpPr/>
          <p:nvPr/>
        </p:nvSpPr>
        <p:spPr>
          <a:xfrm>
            <a:off x="5575320" y="4991040"/>
            <a:ext cx="1450440" cy="942120"/>
          </a:xfrm>
          <a:prstGeom prst="rect">
            <a:avLst/>
          </a:prstGeom>
          <a:solidFill>
            <a:srgbClr val="FFFFFF"/>
          </a:solidFill>
          <a:ln w="12700">
            <a:solidFill>
              <a:srgbClr val="242424"/>
            </a:solidFill>
            <a:prstDash val="solid"/>
          </a:ln>
        </p:spPr>
      </p:sp>
      <p:sp>
        <p:nvSpPr>
          <p:cNvPr id="16" name="Shape 13"/>
          <p:cNvSpPr/>
          <p:nvPr/>
        </p:nvSpPr>
        <p:spPr>
          <a:xfrm>
            <a:off x="692460" y="5211540"/>
            <a:ext cx="1411560" cy="501120"/>
          </a:xfrm>
          <a:prstGeom prst="homePlate">
            <a:avLst/>
          </a:prstGeom>
          <a:solidFill>
            <a:srgbClr val="006FC0"/>
          </a:solidFill>
          <a:ln w="8890">
            <a:solidFill>
              <a:srgbClr val="242424"/>
            </a:solidFill>
            <a:prstDash val="solid"/>
          </a:ln>
        </p:spPr>
      </p:sp>
      <p:sp>
        <p:nvSpPr>
          <p:cNvPr id="17" name="Text 14"/>
          <p:cNvSpPr/>
          <p:nvPr/>
        </p:nvSpPr>
        <p:spPr>
          <a:xfrm>
            <a:off x="768060" y="532530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Signalement</a:t>
            </a:r>
            <a:endParaRPr lang="en-US" sz="1140" dirty="0"/>
          </a:p>
        </p:txBody>
      </p:sp>
      <p:sp>
        <p:nvSpPr>
          <p:cNvPr id="18" name="Text 15"/>
          <p:cNvSpPr/>
          <p:nvPr/>
        </p:nvSpPr>
        <p:spPr>
          <a:xfrm>
            <a:off x="2301840" y="5030640"/>
            <a:ext cx="3194280" cy="862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Signalements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Observations et points de vigilance relevés lors de la visite principalement dans les parties privatives. Ces éléments sont présentés à titre informatif afin d'attirer l'attention des copropriétaires.</a:t>
            </a:r>
            <a:endParaRPr lang="en-US" sz="1100" dirty="0"/>
          </a:p>
        </p:txBody>
      </p:sp>
      <p:sp>
        <p:nvSpPr>
          <p:cNvPr id="19" name="Text 16"/>
          <p:cNvSpPr/>
          <p:nvPr/>
        </p:nvSpPr>
        <p:spPr>
          <a:xfrm>
            <a:off x="5640120" y="5030640"/>
            <a:ext cx="1320840" cy="8629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20" name="Shape 17"/>
          <p:cNvSpPr/>
          <p:nvPr/>
        </p:nvSpPr>
        <p:spPr>
          <a:xfrm>
            <a:off x="541080" y="6173640"/>
            <a:ext cx="1681560" cy="806760"/>
          </a:xfrm>
          <a:prstGeom prst="rect">
            <a:avLst/>
          </a:prstGeom>
          <a:solidFill>
            <a:srgbClr val="FFFFFF"/>
          </a:solidFill>
          <a:ln w="12700">
            <a:solidFill>
              <a:srgbClr val="242424"/>
            </a:solidFill>
            <a:prstDash val="solid"/>
          </a:ln>
        </p:spPr>
      </p:sp>
      <p:sp>
        <p:nvSpPr>
          <p:cNvPr id="21" name="Shape 18"/>
          <p:cNvSpPr/>
          <p:nvPr/>
        </p:nvSpPr>
        <p:spPr>
          <a:xfrm>
            <a:off x="2222640" y="6173640"/>
            <a:ext cx="3352680" cy="806760"/>
          </a:xfrm>
          <a:prstGeom prst="rect">
            <a:avLst/>
          </a:prstGeom>
          <a:solidFill>
            <a:srgbClr val="FFFFFF"/>
          </a:solidFill>
          <a:ln w="12700">
            <a:solidFill>
              <a:srgbClr val="242424"/>
            </a:solidFill>
            <a:prstDash val="solid"/>
          </a:ln>
        </p:spPr>
      </p:sp>
      <p:sp>
        <p:nvSpPr>
          <p:cNvPr id="22" name="Shape 19"/>
          <p:cNvSpPr/>
          <p:nvPr/>
        </p:nvSpPr>
        <p:spPr>
          <a:xfrm>
            <a:off x="5575320" y="6173640"/>
            <a:ext cx="1450440" cy="806760"/>
          </a:xfrm>
          <a:prstGeom prst="rect">
            <a:avLst/>
          </a:prstGeom>
          <a:solidFill>
            <a:srgbClr val="FFFFFF"/>
          </a:solidFill>
          <a:ln w="12700">
            <a:solidFill>
              <a:srgbClr val="242424"/>
            </a:solidFill>
            <a:prstDash val="solid"/>
          </a:ln>
        </p:spPr>
      </p:sp>
      <p:sp>
        <p:nvSpPr>
          <p:cNvPr id="23" name="Shape 20"/>
          <p:cNvSpPr/>
          <p:nvPr/>
        </p:nvSpPr>
        <p:spPr>
          <a:xfrm>
            <a:off x="692460" y="6326460"/>
            <a:ext cx="1411560" cy="501120"/>
          </a:xfrm>
          <a:prstGeom prst="homePlate">
            <a:avLst/>
          </a:prstGeom>
          <a:solidFill>
            <a:srgbClr val="D02334"/>
          </a:solidFill>
          <a:ln w="8890">
            <a:solidFill>
              <a:srgbClr val="242424"/>
            </a:solidFill>
            <a:prstDash val="solid"/>
          </a:ln>
        </p:spPr>
      </p:sp>
      <p:sp>
        <p:nvSpPr>
          <p:cNvPr id="24" name="Text 21"/>
          <p:cNvSpPr/>
          <p:nvPr/>
        </p:nvSpPr>
        <p:spPr>
          <a:xfrm>
            <a:off x="768060" y="644022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1</a:t>
            </a:r>
            <a:endParaRPr lang="en-US" sz="1140" dirty="0"/>
          </a:p>
        </p:txBody>
      </p:sp>
      <p:sp>
        <p:nvSpPr>
          <p:cNvPr id="25" name="Text 22"/>
          <p:cNvSpPr/>
          <p:nvPr/>
        </p:nvSpPr>
        <p:spPr>
          <a:xfrm>
            <a:off x="2301840" y="6213240"/>
            <a:ext cx="319428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prioritaires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Interventions urgentes nécessaires à la sécurité des occupants, à la préservation du bâti ou à la continuité de service des équipements.</a:t>
            </a:r>
            <a:endParaRPr lang="en-US" sz="1100" dirty="0"/>
          </a:p>
        </p:txBody>
      </p:sp>
      <p:sp>
        <p:nvSpPr>
          <p:cNvPr id="26" name="Text 23"/>
          <p:cNvSpPr/>
          <p:nvPr/>
        </p:nvSpPr>
        <p:spPr>
          <a:xfrm>
            <a:off x="5640120" y="6213240"/>
            <a:ext cx="132084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Sous 2 ans</a:t>
            </a:r>
            <a:endParaRPr lang="en-US" sz="1100" dirty="0"/>
          </a:p>
        </p:txBody>
      </p:sp>
      <p:sp>
        <p:nvSpPr>
          <p:cNvPr id="27" name="Shape 24"/>
          <p:cNvSpPr/>
          <p:nvPr/>
        </p:nvSpPr>
        <p:spPr>
          <a:xfrm>
            <a:off x="541080" y="6980400"/>
            <a:ext cx="1681560" cy="735120"/>
          </a:xfrm>
          <a:prstGeom prst="rect">
            <a:avLst/>
          </a:prstGeom>
          <a:solidFill>
            <a:srgbClr val="FFFFFF"/>
          </a:solidFill>
          <a:ln w="12700">
            <a:solidFill>
              <a:srgbClr val="242424"/>
            </a:solidFill>
            <a:prstDash val="solid"/>
          </a:ln>
        </p:spPr>
      </p:sp>
      <p:sp>
        <p:nvSpPr>
          <p:cNvPr id="28" name="Shape 25"/>
          <p:cNvSpPr/>
          <p:nvPr/>
        </p:nvSpPr>
        <p:spPr>
          <a:xfrm>
            <a:off x="2222640" y="6980400"/>
            <a:ext cx="3352680" cy="735120"/>
          </a:xfrm>
          <a:prstGeom prst="rect">
            <a:avLst/>
          </a:prstGeom>
          <a:solidFill>
            <a:srgbClr val="FFFFFF"/>
          </a:solidFill>
          <a:ln w="12700">
            <a:solidFill>
              <a:srgbClr val="242424"/>
            </a:solidFill>
            <a:prstDash val="solid"/>
          </a:ln>
        </p:spPr>
      </p:sp>
      <p:sp>
        <p:nvSpPr>
          <p:cNvPr id="29" name="Shape 26"/>
          <p:cNvSpPr/>
          <p:nvPr/>
        </p:nvSpPr>
        <p:spPr>
          <a:xfrm>
            <a:off x="5575320" y="6980400"/>
            <a:ext cx="1450440" cy="735120"/>
          </a:xfrm>
          <a:prstGeom prst="rect">
            <a:avLst/>
          </a:prstGeom>
          <a:solidFill>
            <a:srgbClr val="FFFFFF"/>
          </a:solidFill>
          <a:ln w="12700">
            <a:solidFill>
              <a:srgbClr val="242424"/>
            </a:solidFill>
            <a:prstDash val="solid"/>
          </a:ln>
        </p:spPr>
      </p:sp>
      <p:sp>
        <p:nvSpPr>
          <p:cNvPr id="30" name="Shape 27"/>
          <p:cNvSpPr/>
          <p:nvPr/>
        </p:nvSpPr>
        <p:spPr>
          <a:xfrm>
            <a:off x="692460" y="7097400"/>
            <a:ext cx="1411560" cy="501120"/>
          </a:xfrm>
          <a:prstGeom prst="homePlate">
            <a:avLst/>
          </a:prstGeom>
          <a:solidFill>
            <a:srgbClr val="E96620"/>
          </a:solidFill>
          <a:ln w="8890">
            <a:solidFill>
              <a:srgbClr val="242424"/>
            </a:solidFill>
            <a:prstDash val="solid"/>
          </a:ln>
        </p:spPr>
      </p:sp>
      <p:sp>
        <p:nvSpPr>
          <p:cNvPr id="31" name="Text 28"/>
          <p:cNvSpPr/>
          <p:nvPr/>
        </p:nvSpPr>
        <p:spPr>
          <a:xfrm>
            <a:off x="768060" y="72111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2</a:t>
            </a:r>
            <a:endParaRPr lang="en-US" sz="1140" dirty="0"/>
          </a:p>
        </p:txBody>
      </p:sp>
      <p:sp>
        <p:nvSpPr>
          <p:cNvPr id="32" name="Text 29"/>
          <p:cNvSpPr/>
          <p:nvPr/>
        </p:nvSpPr>
        <p:spPr>
          <a:xfrm>
            <a:off x="2301840" y="7020000"/>
            <a:ext cx="319428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moyen terme</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correctifs à programmer afin d'éviter une dégradation progressive du bâtiment ou des équipements.</a:t>
            </a:r>
            <a:endParaRPr lang="en-US" sz="1100" dirty="0"/>
          </a:p>
        </p:txBody>
      </p:sp>
      <p:sp>
        <p:nvSpPr>
          <p:cNvPr id="33" name="Text 30"/>
          <p:cNvSpPr/>
          <p:nvPr/>
        </p:nvSpPr>
        <p:spPr>
          <a:xfrm>
            <a:off x="5640120" y="7020000"/>
            <a:ext cx="132084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3 et 5 ans</a:t>
            </a:r>
            <a:endParaRPr lang="en-US" sz="1100" dirty="0"/>
          </a:p>
        </p:txBody>
      </p:sp>
      <p:sp>
        <p:nvSpPr>
          <p:cNvPr id="34" name="Shape 31"/>
          <p:cNvSpPr/>
          <p:nvPr/>
        </p:nvSpPr>
        <p:spPr>
          <a:xfrm>
            <a:off x="541080" y="7715520"/>
            <a:ext cx="1681560" cy="785880"/>
          </a:xfrm>
          <a:prstGeom prst="rect">
            <a:avLst/>
          </a:prstGeom>
          <a:solidFill>
            <a:srgbClr val="FFFFFF"/>
          </a:solidFill>
          <a:ln w="12700">
            <a:solidFill>
              <a:srgbClr val="242424"/>
            </a:solidFill>
            <a:prstDash val="solid"/>
          </a:ln>
        </p:spPr>
      </p:sp>
      <p:sp>
        <p:nvSpPr>
          <p:cNvPr id="35" name="Shape 32"/>
          <p:cNvSpPr/>
          <p:nvPr/>
        </p:nvSpPr>
        <p:spPr>
          <a:xfrm>
            <a:off x="2222640" y="7715520"/>
            <a:ext cx="3352680" cy="785880"/>
          </a:xfrm>
          <a:prstGeom prst="rect">
            <a:avLst/>
          </a:prstGeom>
          <a:solidFill>
            <a:srgbClr val="FFFFFF"/>
          </a:solidFill>
          <a:ln w="12700">
            <a:solidFill>
              <a:srgbClr val="242424"/>
            </a:solidFill>
            <a:prstDash val="solid"/>
          </a:ln>
        </p:spPr>
      </p:sp>
      <p:sp>
        <p:nvSpPr>
          <p:cNvPr id="36" name="Shape 33"/>
          <p:cNvSpPr/>
          <p:nvPr/>
        </p:nvSpPr>
        <p:spPr>
          <a:xfrm>
            <a:off x="5575320" y="7715520"/>
            <a:ext cx="1450440" cy="785880"/>
          </a:xfrm>
          <a:prstGeom prst="rect">
            <a:avLst/>
          </a:prstGeom>
          <a:solidFill>
            <a:srgbClr val="FFFFFF"/>
          </a:solidFill>
          <a:ln w="12700">
            <a:solidFill>
              <a:srgbClr val="242424"/>
            </a:solidFill>
            <a:prstDash val="solid"/>
          </a:ln>
        </p:spPr>
      </p:sp>
      <p:sp>
        <p:nvSpPr>
          <p:cNvPr id="37" name="Shape 34"/>
          <p:cNvSpPr/>
          <p:nvPr/>
        </p:nvSpPr>
        <p:spPr>
          <a:xfrm>
            <a:off x="692460" y="7857900"/>
            <a:ext cx="1411560" cy="501120"/>
          </a:xfrm>
          <a:prstGeom prst="homePlate">
            <a:avLst/>
          </a:prstGeom>
          <a:solidFill>
            <a:srgbClr val="04CC7E"/>
          </a:solidFill>
          <a:ln w="8890">
            <a:solidFill>
              <a:srgbClr val="242424"/>
            </a:solidFill>
            <a:prstDash val="solid"/>
          </a:ln>
        </p:spPr>
      </p:sp>
      <p:sp>
        <p:nvSpPr>
          <p:cNvPr id="38" name="Text 35"/>
          <p:cNvSpPr/>
          <p:nvPr/>
        </p:nvSpPr>
        <p:spPr>
          <a:xfrm>
            <a:off x="768060" y="79716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3</a:t>
            </a:r>
            <a:endParaRPr lang="en-US" sz="1140" dirty="0"/>
          </a:p>
        </p:txBody>
      </p:sp>
      <p:sp>
        <p:nvSpPr>
          <p:cNvPr id="39" name="Text 36"/>
          <p:cNvSpPr/>
          <p:nvPr/>
        </p:nvSpPr>
        <p:spPr>
          <a:xfrm>
            <a:off x="2301840" y="7755120"/>
            <a:ext cx="319428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d’esthétiques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de rénovation ou d'embellissement ne présentant pas de caractère urgent mais contribuant à l'amélioration de l'aspect esthétique.</a:t>
            </a:r>
            <a:endParaRPr lang="en-US" sz="1100" dirty="0"/>
          </a:p>
        </p:txBody>
      </p:sp>
      <p:sp>
        <p:nvSpPr>
          <p:cNvPr id="40" name="Text 37"/>
          <p:cNvSpPr/>
          <p:nvPr/>
        </p:nvSpPr>
        <p:spPr>
          <a:xfrm>
            <a:off x="5640120" y="7755120"/>
            <a:ext cx="132084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6 et 10 ans</a:t>
            </a:r>
            <a:endParaRPr lang="en-US" sz="1100" dirty="0"/>
          </a:p>
        </p:txBody>
      </p:sp>
      <p:sp>
        <p:nvSpPr>
          <p:cNvPr id="41" name="Shape 38"/>
          <p:cNvSpPr/>
          <p:nvPr/>
        </p:nvSpPr>
        <p:spPr>
          <a:xfrm>
            <a:off x="541080" y="8741880"/>
            <a:ext cx="1681560" cy="895320"/>
          </a:xfrm>
          <a:prstGeom prst="rect">
            <a:avLst/>
          </a:prstGeom>
          <a:solidFill>
            <a:srgbClr val="FFFFFF"/>
          </a:solidFill>
          <a:ln w="12700">
            <a:solidFill>
              <a:srgbClr val="242424"/>
            </a:solidFill>
            <a:prstDash val="solid"/>
          </a:ln>
        </p:spPr>
      </p:sp>
      <p:sp>
        <p:nvSpPr>
          <p:cNvPr id="42" name="Shape 39"/>
          <p:cNvSpPr/>
          <p:nvPr/>
        </p:nvSpPr>
        <p:spPr>
          <a:xfrm>
            <a:off x="2222640" y="8741880"/>
            <a:ext cx="3352680" cy="895320"/>
          </a:xfrm>
          <a:prstGeom prst="rect">
            <a:avLst/>
          </a:prstGeom>
          <a:solidFill>
            <a:srgbClr val="FFFFFF"/>
          </a:solidFill>
          <a:ln w="12700">
            <a:solidFill>
              <a:srgbClr val="242424"/>
            </a:solidFill>
            <a:prstDash val="solid"/>
          </a:ln>
        </p:spPr>
      </p:sp>
      <p:sp>
        <p:nvSpPr>
          <p:cNvPr id="43" name="Shape 40"/>
          <p:cNvSpPr/>
          <p:nvPr/>
        </p:nvSpPr>
        <p:spPr>
          <a:xfrm>
            <a:off x="5575320" y="8741880"/>
            <a:ext cx="1450440" cy="895320"/>
          </a:xfrm>
          <a:prstGeom prst="rect">
            <a:avLst/>
          </a:prstGeom>
          <a:solidFill>
            <a:srgbClr val="FFFFFF"/>
          </a:solidFill>
          <a:ln w="12700">
            <a:solidFill>
              <a:srgbClr val="242424"/>
            </a:solidFill>
            <a:prstDash val="solid"/>
          </a:ln>
        </p:spPr>
      </p:sp>
      <p:sp>
        <p:nvSpPr>
          <p:cNvPr id="44" name="Shape 41"/>
          <p:cNvSpPr/>
          <p:nvPr/>
        </p:nvSpPr>
        <p:spPr>
          <a:xfrm>
            <a:off x="692460" y="8938980"/>
            <a:ext cx="1411560" cy="501120"/>
          </a:xfrm>
          <a:prstGeom prst="homePlate">
            <a:avLst/>
          </a:prstGeom>
          <a:solidFill>
            <a:srgbClr val="4EA72E"/>
          </a:solidFill>
          <a:ln w="8890">
            <a:solidFill>
              <a:srgbClr val="242424"/>
            </a:solidFill>
            <a:prstDash val="solid"/>
          </a:ln>
        </p:spPr>
      </p:sp>
      <p:sp>
        <p:nvSpPr>
          <p:cNvPr id="45" name="Text 42"/>
          <p:cNvSpPr/>
          <p:nvPr/>
        </p:nvSpPr>
        <p:spPr>
          <a:xfrm>
            <a:off x="768060" y="905274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Travaux</a:t>
            </a:r>
            <a:endParaRPr lang="en-US" sz="1140" dirty="0"/>
          </a:p>
          <a:p>
            <a:pPr algn="ctr" indent="0" marL="0">
              <a:buNone/>
            </a:pPr>
            <a:r>
              <a:rPr lang="en-US" sz="1140" b="1" dirty="0">
                <a:solidFill>
                  <a:srgbClr val="FFFFFF"/>
                </a:solidFill>
                <a:latin typeface="Calibri" pitchFamily="34" charset="0"/>
                <a:ea typeface="Calibri" pitchFamily="34" charset="-122"/>
                <a:cs typeface="Calibri" pitchFamily="34" charset="-120"/>
              </a:rPr>
              <a:t>énergétiques</a:t>
            </a:r>
            <a:endParaRPr lang="en-US" sz="1140" dirty="0"/>
          </a:p>
        </p:txBody>
      </p:sp>
      <p:sp>
        <p:nvSpPr>
          <p:cNvPr id="46" name="Text 43"/>
          <p:cNvSpPr/>
          <p:nvPr/>
        </p:nvSpPr>
        <p:spPr>
          <a:xfrm>
            <a:off x="2301840" y="8781480"/>
            <a:ext cx="3194280" cy="8161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énergétiques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visant à améliorer la performance énergétique du bâtiment, réduire les consommations d'énergie et améliorer le confort thermique des occupants.</a:t>
            </a:r>
            <a:endParaRPr lang="en-US" sz="1100" dirty="0"/>
          </a:p>
        </p:txBody>
      </p:sp>
      <p:sp>
        <p:nvSpPr>
          <p:cNvPr id="47" name="Text 44"/>
          <p:cNvSpPr/>
          <p:nvPr/>
        </p:nvSpPr>
        <p:spPr>
          <a:xfrm>
            <a:off x="5640120" y="8781480"/>
            <a:ext cx="1320840" cy="8161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Selon la stratégie de</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rénovation retenue</a:t>
            </a:r>
            <a:endParaRPr lang="en-US" sz="1100" dirty="0"/>
          </a:p>
        </p:txBody>
      </p:sp>
      <p:sp>
        <p:nvSpPr>
          <p:cNvPr id="48" name="Text 4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test PPPT</a:t>
            </a:r>
            <a:endParaRPr lang="en-US" sz="950" dirty="0"/>
          </a:p>
        </p:txBody>
      </p:sp>
      <p:sp>
        <p:nvSpPr>
          <p:cNvPr id="49" name="Text 4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FC700"/>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594500"/>
                </a:solidFill>
                <a:latin typeface="Arial" pitchFamily="34" charset="0"/>
                <a:ea typeface="Arial" pitchFamily="34" charset="-122"/>
                <a:cs typeface="Arial" pitchFamily="34" charset="-120"/>
              </a:rPr>
              <a:t>À confirmer</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Photo ou gravité incertaine</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FC700"/>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N°1</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Non précisée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594500"/>
                </a:solidFill>
                <a:latin typeface="Arial" pitchFamily="34" charset="0"/>
                <a:ea typeface="Arial" pitchFamily="34" charset="-122"/>
                <a:cs typeface="Arial" pitchFamily="34" charset="-120"/>
              </a:rPr>
              <a:t>À CONFIRMER</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Non renseignée</a:t>
            </a:r>
            <a:endParaRPr lang="en-US" sz="1050" dirty="0"/>
          </a:p>
        </p:txBody>
      </p:sp>
      <p:sp>
        <p:nvSpPr>
          <p:cNvPr id="17" name="Shape 14"/>
          <p:cNvSpPr/>
          <p:nvPr/>
        </p:nvSpPr>
        <p:spPr>
          <a:xfrm>
            <a:off x="512064" y="3387852"/>
            <a:ext cx="6535547" cy="795528"/>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411480"/>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Résultat simulé pour vérifier le fonctionnement de l’interface. Aucun diagnostic réel n’est produit</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dans ce test.</a:t>
            </a:r>
            <a:endParaRPr lang="en-US" sz="1050" dirty="0"/>
          </a:p>
        </p:txBody>
      </p:sp>
      <p:sp>
        <p:nvSpPr>
          <p:cNvPr id="20" name="Shape 17"/>
          <p:cNvSpPr/>
          <p:nvPr/>
        </p:nvSpPr>
        <p:spPr>
          <a:xfrm>
            <a:off x="512064" y="4183380"/>
            <a:ext cx="6535547" cy="608076"/>
          </a:xfrm>
          <a:prstGeom prst="rect">
            <a:avLst/>
          </a:prstGeom>
          <a:solidFill>
            <a:srgbClr val="FFFFFF"/>
          </a:solidFill>
          <a:ln w="8255">
            <a:solidFill>
              <a:srgbClr val="2B2B2B"/>
            </a:solidFill>
            <a:prstDash val="solid"/>
          </a:ln>
        </p:spPr>
      </p:sp>
      <p:sp>
        <p:nvSpPr>
          <p:cNvPr id="21" name="Text 18"/>
          <p:cNvSpPr/>
          <p:nvPr/>
        </p:nvSpPr>
        <p:spPr>
          <a:xfrm>
            <a:off x="585216" y="424738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466844"/>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Vérifier le compte à rebours et la réutilisation du résultat. Test local uniquement.</a:t>
            </a:r>
            <a:endParaRPr lang="en-US" sz="1050" dirty="0"/>
          </a:p>
        </p:txBody>
      </p:sp>
      <p:sp>
        <p:nvSpPr>
          <p:cNvPr id="23" name="Shape 20"/>
          <p:cNvSpPr/>
          <p:nvPr/>
        </p:nvSpPr>
        <p:spPr>
          <a:xfrm>
            <a:off x="512064" y="4791456"/>
            <a:ext cx="6535547" cy="585216"/>
          </a:xfrm>
          <a:prstGeom prst="rect">
            <a:avLst/>
          </a:prstGeom>
          <a:solidFill>
            <a:srgbClr val="FFFFFF"/>
          </a:solidFill>
          <a:ln w="8255">
            <a:solidFill>
              <a:srgbClr val="2B2B2B"/>
            </a:solidFill>
            <a:prstDash val="solid"/>
          </a:ln>
        </p:spPr>
      </p:sp>
      <p:sp>
        <p:nvSpPr>
          <p:cNvPr id="24" name="Text 21"/>
          <p:cNvSpPr/>
          <p:nvPr/>
        </p:nvSpPr>
        <p:spPr>
          <a:xfrm>
            <a:off x="585216" y="484632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5056632"/>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376672"/>
            <a:ext cx="6535547" cy="3931920"/>
          </a:xfrm>
          <a:prstGeom prst="rect">
            <a:avLst/>
          </a:prstGeom>
          <a:solidFill>
            <a:srgbClr val="FFFFFF"/>
          </a:solidFill>
          <a:ln w="8255">
            <a:solidFill>
              <a:srgbClr val="2B2B2B"/>
            </a:solidFill>
            <a:prstDash val="solid"/>
          </a:ln>
        </p:spPr>
      </p:sp>
      <p:sp>
        <p:nvSpPr>
          <p:cNvPr id="27" name="Text 24"/>
          <p:cNvSpPr/>
          <p:nvPr/>
        </p:nvSpPr>
        <p:spPr>
          <a:xfrm>
            <a:off x="585216" y="544068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1">    </p:cNvPr>
          <p:cNvPicPr>
            <a:picLocks noChangeAspect="1"/>
          </p:cNvPicPr>
          <p:nvPr/>
        </p:nvPicPr>
        <p:blipFill>
          <a:blip r:embed="rId2"/>
          <a:stretch>
            <a:fillRect/>
          </a:stretch>
        </p:blipFill>
        <p:spPr>
          <a:xfrm>
            <a:off x="640080" y="6618776"/>
            <a:ext cx="6279515" cy="1676311"/>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test PPPT</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11</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53184"/>
            <a:ext cx="6264000" cy="237024"/>
          </a:xfrm>
          <a:prstGeom prst="rect">
            <a:avLst/>
          </a:prstGeom>
          <a:noFill/>
          <a:ln/>
        </p:spPr>
        <p:txBody>
          <a:bodyPr wrap="square" lIns="0" tIns="0" rIns="0" bIns="0" rtlCol="0" anchor="t"/>
          <a:lstStyle/>
          <a:p>
            <a:pPr algn="just"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65808"/>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70" dirty="0"/>
          </a:p>
        </p:txBody>
      </p:sp>
      <p:sp>
        <p:nvSpPr>
          <p:cNvPr id="19" name="Text 16"/>
          <p:cNvSpPr/>
          <p:nvPr/>
        </p:nvSpPr>
        <p:spPr>
          <a:xfrm>
            <a:off x="648000" y="5913072"/>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70" dirty="0"/>
          </a:p>
        </p:txBody>
      </p:sp>
      <p:sp>
        <p:nvSpPr>
          <p:cNvPr id="20" name="Text 17"/>
          <p:cNvSpPr/>
          <p:nvPr/>
        </p:nvSpPr>
        <p:spPr>
          <a:xfrm>
            <a:off x="648000" y="652096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70" dirty="0"/>
          </a:p>
        </p:txBody>
      </p:sp>
      <p:sp>
        <p:nvSpPr>
          <p:cNvPr id="21" name="Text 18"/>
          <p:cNvSpPr/>
          <p:nvPr/>
        </p:nvSpPr>
        <p:spPr>
          <a:xfrm>
            <a:off x="648000" y="7128864"/>
            <a:ext cx="6264000" cy="867960"/>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70" dirty="0"/>
          </a:p>
        </p:txBody>
      </p:sp>
      <p:sp>
        <p:nvSpPr>
          <p:cNvPr id="22" name="Text 19"/>
          <p:cNvSpPr/>
          <p:nvPr/>
        </p:nvSpPr>
        <p:spPr>
          <a:xfrm>
            <a:off x="648000" y="8058024"/>
            <a:ext cx="6264000" cy="386064"/>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La prime relative à l’isolation des points singuliers d’un réseau permet également une subvention de 60 euros par points singuliers par un professionnel.</a:t>
            </a:r>
            <a:endParaRPr lang="en-US" sz="97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58336"/>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Contexte</a:t>
            </a:r>
            <a:endParaRPr lang="en-US" sz="1020" dirty="0"/>
          </a:p>
        </p:txBody>
      </p:sp>
      <p:sp>
        <p:nvSpPr>
          <p:cNvPr id="10" name="Text 7"/>
          <p:cNvSpPr/>
          <p:nvPr/>
        </p:nvSpPr>
        <p:spPr>
          <a:xfrm>
            <a:off x="648000" y="2306448"/>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1000" dirty="0"/>
          </a:p>
        </p:txBody>
      </p:sp>
      <p:sp>
        <p:nvSpPr>
          <p:cNvPr id="11" name="Text 8"/>
          <p:cNvSpPr/>
          <p:nvPr/>
        </p:nvSpPr>
        <p:spPr>
          <a:xfrm>
            <a:off x="648000" y="2976048"/>
            <a:ext cx="6264000" cy="396000"/>
          </a:xfrm>
          <a:prstGeom prst="rect">
            <a:avLst/>
          </a:prstGeom>
          <a:noFill/>
          <a:ln/>
        </p:spPr>
        <p:txBody>
          <a:bodyPr wrap="square" lIns="0" tIns="0" rIns="0" bIns="0" rtlCol="0" anchor="t"/>
          <a:lstStyle/>
          <a:p>
            <a:pPr algn="just" indent="0" marL="0">
              <a:buNone/>
            </a:pPr>
            <a:r>
              <a:rPr lang="en-US" sz="1000" dirty="0">
                <a:solidFill>
                  <a:srgbClr val="FF2020"/>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1000" dirty="0"/>
          </a:p>
        </p:txBody>
      </p:sp>
      <p:sp>
        <p:nvSpPr>
          <p:cNvPr id="12" name="Text 9"/>
          <p:cNvSpPr/>
          <p:nvPr/>
        </p:nvSpPr>
        <p:spPr>
          <a:xfrm>
            <a:off x="648000" y="3480048"/>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Qu’est ce que le VIGIK+</a:t>
            </a:r>
            <a:endParaRPr lang="en-US" sz="1020" dirty="0"/>
          </a:p>
        </p:txBody>
      </p:sp>
      <p:sp>
        <p:nvSpPr>
          <p:cNvPr id="13" name="Text 10"/>
          <p:cNvSpPr/>
          <p:nvPr/>
        </p:nvSpPr>
        <p:spPr>
          <a:xfrm>
            <a:off x="648000" y="372816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1000" dirty="0"/>
          </a:p>
        </p:txBody>
      </p:sp>
      <p:sp>
        <p:nvSpPr>
          <p:cNvPr id="14" name="Text 11"/>
          <p:cNvSpPr/>
          <p:nvPr/>
        </p:nvSpPr>
        <p:spPr>
          <a:xfrm>
            <a:off x="648000" y="4728960"/>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Principales évolutions</a:t>
            </a:r>
            <a:endParaRPr lang="en-US" sz="1020" dirty="0"/>
          </a:p>
        </p:txBody>
      </p:sp>
      <p:sp>
        <p:nvSpPr>
          <p:cNvPr id="15" name="Text 12"/>
          <p:cNvSpPr/>
          <p:nvPr/>
        </p:nvSpPr>
        <p:spPr>
          <a:xfrm>
            <a:off x="648000" y="4977072"/>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1000" dirty="0"/>
          </a:p>
        </p:txBody>
      </p:sp>
      <p:sp>
        <p:nvSpPr>
          <p:cNvPr id="16" name="Text 13"/>
          <p:cNvSpPr/>
          <p:nvPr/>
        </p:nvSpPr>
        <p:spPr>
          <a:xfrm>
            <a:off x="648000" y="6143472"/>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Impacts pour les copropriétés</a:t>
            </a:r>
            <a:endParaRPr lang="en-US" sz="1020" dirty="0"/>
          </a:p>
        </p:txBody>
      </p:sp>
      <p:sp>
        <p:nvSpPr>
          <p:cNvPr id="17" name="Text 14"/>
          <p:cNvSpPr/>
          <p:nvPr/>
        </p:nvSpPr>
        <p:spPr>
          <a:xfrm>
            <a:off x="648000" y="6391584"/>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1000" dirty="0"/>
          </a:p>
        </p:txBody>
      </p:sp>
      <p:sp>
        <p:nvSpPr>
          <p:cNvPr id="18" name="Text 15"/>
          <p:cNvSpPr/>
          <p:nvPr/>
        </p:nvSpPr>
        <p:spPr>
          <a:xfrm>
            <a:off x="648000" y="7392384"/>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Pourquoi anticiper ?</a:t>
            </a:r>
            <a:endParaRPr lang="en-US" sz="1020" dirty="0"/>
          </a:p>
        </p:txBody>
      </p:sp>
      <p:sp>
        <p:nvSpPr>
          <p:cNvPr id="19" name="Text 16"/>
          <p:cNvSpPr/>
          <p:nvPr/>
        </p:nvSpPr>
        <p:spPr>
          <a:xfrm>
            <a:off x="648000" y="7640496"/>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algn="just"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3996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1000" dirty="0"/>
          </a:p>
        </p:txBody>
      </p:sp>
      <p:sp>
        <p:nvSpPr>
          <p:cNvPr id="9" name="Text 6"/>
          <p:cNvSpPr/>
          <p:nvPr/>
        </p:nvSpPr>
        <p:spPr>
          <a:xfrm>
            <a:off x="648000" y="2844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1000" dirty="0"/>
          </a:p>
        </p:txBody>
      </p:sp>
      <p:sp>
        <p:nvSpPr>
          <p:cNvPr id="10" name="Text 7"/>
          <p:cNvSpPr/>
          <p:nvPr/>
        </p:nvSpPr>
        <p:spPr>
          <a:xfrm>
            <a:off x="648000" y="349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1000" dirty="0"/>
          </a:p>
        </p:txBody>
      </p:sp>
      <p:sp>
        <p:nvSpPr>
          <p:cNvPr id="11" name="Text 8"/>
          <p:cNvSpPr/>
          <p:nvPr/>
        </p:nvSpPr>
        <p:spPr>
          <a:xfrm>
            <a:off x="648000" y="43128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1000" dirty="0"/>
          </a:p>
        </p:txBody>
      </p:sp>
      <p:sp>
        <p:nvSpPr>
          <p:cNvPr id="12" name="Text 9"/>
          <p:cNvSpPr/>
          <p:nvPr/>
        </p:nvSpPr>
        <p:spPr>
          <a:xfrm>
            <a:off x="756000" y="4633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3" name="Text 10"/>
          <p:cNvSpPr/>
          <p:nvPr/>
        </p:nvSpPr>
        <p:spPr>
          <a:xfrm>
            <a:off x="900000" y="4633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amélioration de la sécurité des résidents ;</a:t>
            </a:r>
            <a:endParaRPr lang="en-US" sz="1000" dirty="0"/>
          </a:p>
        </p:txBody>
      </p:sp>
      <p:sp>
        <p:nvSpPr>
          <p:cNvPr id="14" name="Text 11"/>
          <p:cNvSpPr/>
          <p:nvPr/>
        </p:nvSpPr>
        <p:spPr>
          <a:xfrm>
            <a:off x="756000" y="4867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00000" y="4867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intervention rapide en cas d’urgence cardiaque ;</a:t>
            </a:r>
            <a:endParaRPr lang="en-US" sz="1000" dirty="0"/>
          </a:p>
        </p:txBody>
      </p:sp>
      <p:sp>
        <p:nvSpPr>
          <p:cNvPr id="16" name="Text 13"/>
          <p:cNvSpPr/>
          <p:nvPr/>
        </p:nvSpPr>
        <p:spPr>
          <a:xfrm>
            <a:off x="756000" y="5101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7" name="Text 14"/>
          <p:cNvSpPr/>
          <p:nvPr/>
        </p:nvSpPr>
        <p:spPr>
          <a:xfrm>
            <a:off x="900000" y="5101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équipement accessible et simple d’utilisation ;</a:t>
            </a:r>
            <a:endParaRPr lang="en-US" sz="1000" dirty="0"/>
          </a:p>
        </p:txBody>
      </p:sp>
      <p:sp>
        <p:nvSpPr>
          <p:cNvPr id="18" name="Text 15"/>
          <p:cNvSpPr/>
          <p:nvPr/>
        </p:nvSpPr>
        <p:spPr>
          <a:xfrm>
            <a:off x="756000" y="5335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00000" y="5335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valorisation des équipements de sécurité de l’immeuble.</a:t>
            </a:r>
            <a:endParaRPr lang="en-US" sz="1000" dirty="0"/>
          </a:p>
        </p:txBody>
      </p:sp>
      <p:sp>
        <p:nvSpPr>
          <p:cNvPr id="20" name="Text 17"/>
          <p:cNvSpPr/>
          <p:nvPr/>
        </p:nvSpPr>
        <p:spPr>
          <a:xfrm>
            <a:off x="648000" y="5634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1000" dirty="0"/>
          </a:p>
        </p:txBody>
      </p:sp>
      <p:sp>
        <p:nvSpPr>
          <p:cNvPr id="21" name="Text 18"/>
          <p:cNvSpPr/>
          <p:nvPr/>
        </p:nvSpPr>
        <p:spPr>
          <a:xfrm>
            <a:off x="756000" y="6120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2" name="Text 19"/>
          <p:cNvSpPr/>
          <p:nvPr/>
        </p:nvSpPr>
        <p:spPr>
          <a:xfrm>
            <a:off x="900000" y="6120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maintenance régulière de l’appareil ;</a:t>
            </a:r>
            <a:endParaRPr lang="en-US" sz="1000" dirty="0"/>
          </a:p>
        </p:txBody>
      </p:sp>
      <p:sp>
        <p:nvSpPr>
          <p:cNvPr id="23" name="Text 20"/>
          <p:cNvSpPr/>
          <p:nvPr/>
        </p:nvSpPr>
        <p:spPr>
          <a:xfrm>
            <a:off x="756000" y="6354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4" name="Text 21"/>
          <p:cNvSpPr/>
          <p:nvPr/>
        </p:nvSpPr>
        <p:spPr>
          <a:xfrm>
            <a:off x="900000" y="6354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1000" dirty="0"/>
          </a:p>
        </p:txBody>
      </p:sp>
      <p:sp>
        <p:nvSpPr>
          <p:cNvPr id="25" name="Text 22"/>
          <p:cNvSpPr/>
          <p:nvPr/>
        </p:nvSpPr>
        <p:spPr>
          <a:xfrm>
            <a:off x="756000" y="6588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6" name="Text 23"/>
          <p:cNvSpPr/>
          <p:nvPr/>
        </p:nvSpPr>
        <p:spPr>
          <a:xfrm>
            <a:off x="900000" y="6588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assurance contre les dégradations ou le vol.</a:t>
            </a:r>
            <a:endParaRPr lang="en-US" sz="1000" dirty="0"/>
          </a:p>
        </p:txBody>
      </p:sp>
      <p:sp>
        <p:nvSpPr>
          <p:cNvPr id="27" name="Text 24"/>
          <p:cNvSpPr/>
          <p:nvPr/>
        </p:nvSpPr>
        <p:spPr>
          <a:xfrm>
            <a:off x="648000" y="6894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1000" dirty="0"/>
          </a:p>
        </p:txBody>
      </p:sp>
      <p:pic>
        <p:nvPicPr>
          <p:cNvPr id="28" name="Image 1" descr="Illustration de défibrillateur">    </p:cNvPr>
          <p:cNvPicPr>
            <a:picLocks noChangeAspect="1"/>
          </p:cNvPicPr>
          <p:nvPr/>
        </p:nvPicPr>
        <p:blipFill>
          <a:blip r:embed="rId2"/>
          <a:srcRect l="0" r="0" t="0" b="0"/>
          <a:stretch/>
        </p:blipFill>
        <p:spPr>
          <a:xfrm>
            <a:off x="4824000" y="1566000"/>
            <a:ext cx="1404000" cy="118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2664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024000"/>
            <a:ext cx="3492000" cy="324000"/>
          </a:xfrm>
          <a:prstGeom prst="rect">
            <a:avLst/>
          </a:prstGeom>
          <a:solidFill>
            <a:srgbClr val="FFFFFF"/>
          </a:solidFill>
          <a:ln w="6985">
            <a:solidFill>
              <a:srgbClr val="202020"/>
            </a:solidFill>
            <a:prstDash val="solid"/>
          </a:ln>
        </p:spPr>
      </p:sp>
      <p:sp>
        <p:nvSpPr>
          <p:cNvPr id="9" name="Text 6"/>
          <p:cNvSpPr/>
          <p:nvPr/>
        </p:nvSpPr>
        <p:spPr>
          <a:xfrm>
            <a:off x="601200" y="3063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024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063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024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063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348000"/>
            <a:ext cx="3492000" cy="964800"/>
          </a:xfrm>
          <a:prstGeom prst="rect">
            <a:avLst/>
          </a:prstGeom>
          <a:solidFill>
            <a:srgbClr val="FFFFFF"/>
          </a:solidFill>
          <a:ln w="6985">
            <a:solidFill>
              <a:srgbClr val="202020"/>
            </a:solidFill>
            <a:prstDash val="solid"/>
          </a:ln>
        </p:spPr>
      </p:sp>
      <p:sp>
        <p:nvSpPr>
          <p:cNvPr id="15" name="Text 12"/>
          <p:cNvSpPr/>
          <p:nvPr/>
        </p:nvSpPr>
        <p:spPr>
          <a:xfrm>
            <a:off x="601200" y="33876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348000"/>
            <a:ext cx="1152000" cy="964800"/>
          </a:xfrm>
          <a:prstGeom prst="rect">
            <a:avLst/>
          </a:prstGeom>
          <a:solidFill>
            <a:srgbClr val="00B55A"/>
          </a:solidFill>
          <a:ln w="6985">
            <a:solidFill>
              <a:srgbClr val="202020"/>
            </a:solidFill>
            <a:prstDash val="solid"/>
          </a:ln>
        </p:spPr>
      </p:sp>
      <p:sp>
        <p:nvSpPr>
          <p:cNvPr id="17" name="Text 14"/>
          <p:cNvSpPr/>
          <p:nvPr/>
        </p:nvSpPr>
        <p:spPr>
          <a:xfrm>
            <a:off x="4093200" y="33876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348000"/>
            <a:ext cx="1836000" cy="964800"/>
          </a:xfrm>
          <a:prstGeom prst="rect">
            <a:avLst/>
          </a:prstGeom>
          <a:solidFill>
            <a:srgbClr val="FFFFFF"/>
          </a:solidFill>
          <a:ln w="6985">
            <a:solidFill>
              <a:srgbClr val="202020"/>
            </a:solidFill>
            <a:prstDash val="solid"/>
          </a:ln>
        </p:spPr>
      </p:sp>
      <p:sp>
        <p:nvSpPr>
          <p:cNvPr id="19" name="Text 16"/>
          <p:cNvSpPr/>
          <p:nvPr/>
        </p:nvSpPr>
        <p:spPr>
          <a:xfrm>
            <a:off x="5245200" y="3387600"/>
            <a:ext cx="1713600" cy="8856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Pièce de test renseignée pour valider le parcours d’export.</a:t>
            </a:r>
            <a:endParaRPr lang="en-US" sz="1000" dirty="0"/>
          </a:p>
        </p:txBody>
      </p:sp>
      <p:sp>
        <p:nvSpPr>
          <p:cNvPr id="20" name="Shape 17"/>
          <p:cNvSpPr/>
          <p:nvPr/>
        </p:nvSpPr>
        <p:spPr>
          <a:xfrm>
            <a:off x="540000" y="4312800"/>
            <a:ext cx="3492000" cy="964800"/>
          </a:xfrm>
          <a:prstGeom prst="rect">
            <a:avLst/>
          </a:prstGeom>
          <a:solidFill>
            <a:srgbClr val="FFFFFF"/>
          </a:solidFill>
          <a:ln w="6985">
            <a:solidFill>
              <a:srgbClr val="202020"/>
            </a:solidFill>
            <a:prstDash val="solid"/>
          </a:ln>
        </p:spPr>
      </p:sp>
      <p:sp>
        <p:nvSpPr>
          <p:cNvPr id="21" name="Text 18"/>
          <p:cNvSpPr/>
          <p:nvPr/>
        </p:nvSpPr>
        <p:spPr>
          <a:xfrm>
            <a:off x="601200" y="4352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22" name="Shape 19"/>
          <p:cNvSpPr/>
          <p:nvPr/>
        </p:nvSpPr>
        <p:spPr>
          <a:xfrm>
            <a:off x="4032000" y="4312800"/>
            <a:ext cx="1152000" cy="964800"/>
          </a:xfrm>
          <a:prstGeom prst="rect">
            <a:avLst/>
          </a:prstGeom>
          <a:solidFill>
            <a:srgbClr val="00B55A"/>
          </a:solidFill>
          <a:ln w="6985">
            <a:solidFill>
              <a:srgbClr val="202020"/>
            </a:solidFill>
            <a:prstDash val="solid"/>
          </a:ln>
        </p:spPr>
      </p:sp>
      <p:sp>
        <p:nvSpPr>
          <p:cNvPr id="23" name="Text 20"/>
          <p:cNvSpPr/>
          <p:nvPr/>
        </p:nvSpPr>
        <p:spPr>
          <a:xfrm>
            <a:off x="4093200" y="43524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43128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43524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77600"/>
            <a:ext cx="3492000" cy="964800"/>
          </a:xfrm>
          <a:prstGeom prst="rect">
            <a:avLst/>
          </a:prstGeom>
          <a:solidFill>
            <a:srgbClr val="FFFFFF"/>
          </a:solidFill>
          <a:ln w="6985">
            <a:solidFill>
              <a:srgbClr val="202020"/>
            </a:solidFill>
            <a:prstDash val="solid"/>
          </a:ln>
        </p:spPr>
      </p:sp>
      <p:sp>
        <p:nvSpPr>
          <p:cNvPr id="27" name="Text 24"/>
          <p:cNvSpPr/>
          <p:nvPr/>
        </p:nvSpPr>
        <p:spPr>
          <a:xfrm>
            <a:off x="601200" y="5317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Fiche synthétique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28" name="Shape 25"/>
          <p:cNvSpPr/>
          <p:nvPr/>
        </p:nvSpPr>
        <p:spPr>
          <a:xfrm>
            <a:off x="4032000" y="5277600"/>
            <a:ext cx="1152000" cy="964800"/>
          </a:xfrm>
          <a:prstGeom prst="rect">
            <a:avLst/>
          </a:prstGeom>
          <a:solidFill>
            <a:srgbClr val="00B55A"/>
          </a:solidFill>
          <a:ln w="6985">
            <a:solidFill>
              <a:srgbClr val="202020"/>
            </a:solidFill>
            <a:prstDash val="solid"/>
          </a:ln>
        </p:spPr>
      </p:sp>
      <p:sp>
        <p:nvSpPr>
          <p:cNvPr id="29" name="Text 26"/>
          <p:cNvSpPr/>
          <p:nvPr/>
        </p:nvSpPr>
        <p:spPr>
          <a:xfrm>
            <a:off x="4093200" y="5317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52776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5317200"/>
            <a:ext cx="1713600" cy="8856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6242400"/>
            <a:ext cx="3492000" cy="1130400"/>
          </a:xfrm>
          <a:prstGeom prst="rect">
            <a:avLst/>
          </a:prstGeom>
          <a:solidFill>
            <a:srgbClr val="FFFFFF"/>
          </a:solidFill>
          <a:ln w="6985">
            <a:solidFill>
              <a:srgbClr val="202020"/>
            </a:solidFill>
            <a:prstDash val="solid"/>
          </a:ln>
        </p:spPr>
      </p:sp>
      <p:sp>
        <p:nvSpPr>
          <p:cNvPr id="33" name="Text 30"/>
          <p:cNvSpPr/>
          <p:nvPr/>
        </p:nvSpPr>
        <p:spPr>
          <a:xfrm>
            <a:off x="601200" y="6282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34" name="Shape 31"/>
          <p:cNvSpPr/>
          <p:nvPr/>
        </p:nvSpPr>
        <p:spPr>
          <a:xfrm>
            <a:off x="4032000" y="6242400"/>
            <a:ext cx="1152000" cy="1130400"/>
          </a:xfrm>
          <a:prstGeom prst="rect">
            <a:avLst/>
          </a:prstGeom>
          <a:solidFill>
            <a:srgbClr val="00B55A"/>
          </a:solidFill>
          <a:ln w="6985">
            <a:solidFill>
              <a:srgbClr val="202020"/>
            </a:solidFill>
            <a:prstDash val="solid"/>
          </a:ln>
        </p:spPr>
      </p:sp>
      <p:sp>
        <p:nvSpPr>
          <p:cNvPr id="35" name="Text 32"/>
          <p:cNvSpPr/>
          <p:nvPr/>
        </p:nvSpPr>
        <p:spPr>
          <a:xfrm>
            <a:off x="4093200" y="6282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6242400"/>
            <a:ext cx="1836000" cy="1130400"/>
          </a:xfrm>
          <a:prstGeom prst="rect">
            <a:avLst/>
          </a:prstGeom>
          <a:solidFill>
            <a:srgbClr val="FFFFFF"/>
          </a:solidFill>
          <a:ln w="6985">
            <a:solidFill>
              <a:srgbClr val="202020"/>
            </a:solidFill>
            <a:prstDash val="solid"/>
          </a:ln>
        </p:spPr>
      </p:sp>
      <p:sp>
        <p:nvSpPr>
          <p:cNvPr id="37" name="Text 34"/>
          <p:cNvSpPr/>
          <p:nvPr/>
        </p:nvSpPr>
        <p:spPr>
          <a:xfrm>
            <a:off x="5245200" y="6282000"/>
            <a:ext cx="1713600" cy="10512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3728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12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Compte bancaire séparé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40" name="Shape 37"/>
          <p:cNvSpPr/>
          <p:nvPr/>
        </p:nvSpPr>
        <p:spPr>
          <a:xfrm>
            <a:off x="4032000" y="7372800"/>
            <a:ext cx="1152000" cy="964800"/>
          </a:xfrm>
          <a:prstGeom prst="rect">
            <a:avLst/>
          </a:prstGeom>
          <a:solidFill>
            <a:srgbClr val="00B55A"/>
          </a:solidFill>
          <a:ln w="6985">
            <a:solidFill>
              <a:srgbClr val="202020"/>
            </a:solidFill>
            <a:prstDash val="solid"/>
          </a:ln>
        </p:spPr>
      </p:sp>
      <p:sp>
        <p:nvSpPr>
          <p:cNvPr id="41" name="Text 38"/>
          <p:cNvSpPr/>
          <p:nvPr/>
        </p:nvSpPr>
        <p:spPr>
          <a:xfrm>
            <a:off x="4093200" y="74124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3728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124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376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77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46" name="Shape 43"/>
          <p:cNvSpPr/>
          <p:nvPr/>
        </p:nvSpPr>
        <p:spPr>
          <a:xfrm>
            <a:off x="4032000" y="8337600"/>
            <a:ext cx="1152000" cy="964800"/>
          </a:xfrm>
          <a:prstGeom prst="rect">
            <a:avLst/>
          </a:prstGeom>
          <a:solidFill>
            <a:srgbClr val="00B55A"/>
          </a:solidFill>
          <a:ln w="6985">
            <a:solidFill>
              <a:srgbClr val="202020"/>
            </a:solidFill>
            <a:prstDash val="solid"/>
          </a:ln>
        </p:spPr>
      </p:sp>
      <p:sp>
        <p:nvSpPr>
          <p:cNvPr id="47" name="Text 44"/>
          <p:cNvSpPr/>
          <p:nvPr/>
        </p:nvSpPr>
        <p:spPr>
          <a:xfrm>
            <a:off x="4093200" y="8377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8" name="Shape 45"/>
          <p:cNvSpPr/>
          <p:nvPr/>
        </p:nvSpPr>
        <p:spPr>
          <a:xfrm>
            <a:off x="5184000" y="83376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77200"/>
            <a:ext cx="1713600" cy="885600"/>
          </a:xfrm>
          <a:prstGeom prst="rect">
            <a:avLst/>
          </a:prstGeom>
          <a:noFill/>
          <a:ln/>
        </p:spPr>
        <p:txBody>
          <a:bodyPr wrap="square" lIns="0" tIns="0" rIns="0" bIns="0" rtlCol="0" anchor="t"/>
          <a:lstStyle/>
          <a:p>
            <a:pPr algn="l" indent="0" marL="0">
              <a:buNone/>
            </a:pPr>
            <a:endParaRPr lang="en-US" sz="1000" dirty="0"/>
          </a:p>
        </p:txBody>
      </p:sp>
      <p:sp>
        <p:nvSpPr>
          <p:cNvPr id="50" name="Text 47"/>
          <p:cNvSpPr/>
          <p:nvPr/>
        </p:nvSpPr>
        <p:spPr>
          <a:xfrm>
            <a:off x="648000" y="1332000"/>
            <a:ext cx="6264000" cy="81000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51" name="Text 48"/>
          <p:cNvSpPr/>
          <p:nvPr/>
        </p:nvSpPr>
        <p:spPr>
          <a:xfrm>
            <a:off x="648000" y="2196000"/>
            <a:ext cx="6264000" cy="36288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294800"/>
            <a:ext cx="1152000" cy="1461600"/>
          </a:xfrm>
          <a:prstGeom prst="rect">
            <a:avLst/>
          </a:prstGeom>
          <a:solidFill>
            <a:srgbClr val="00B55A"/>
          </a:solidFill>
          <a:ln w="6985">
            <a:solidFill>
              <a:srgbClr val="202020"/>
            </a:solidFill>
            <a:prstDash val="solid"/>
          </a:ln>
        </p:spPr>
      </p:sp>
      <p:sp>
        <p:nvSpPr>
          <p:cNvPr id="29" name="Text 26"/>
          <p:cNvSpPr/>
          <p:nvPr/>
        </p:nvSpPr>
        <p:spPr>
          <a:xfrm>
            <a:off x="4093200" y="4334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294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5756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5796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termites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5756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5796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5756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5796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218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257600"/>
            <a:ext cx="3369600" cy="121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mérules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218000"/>
            <a:ext cx="1152000" cy="1296000"/>
          </a:xfrm>
          <a:prstGeom prst="rect">
            <a:avLst/>
          </a:prstGeom>
          <a:solidFill>
            <a:srgbClr val="00B55A"/>
          </a:solidFill>
          <a:ln w="6985">
            <a:solidFill>
              <a:srgbClr val="202020"/>
            </a:solidFill>
            <a:prstDash val="solid"/>
          </a:ln>
        </p:spPr>
      </p:sp>
      <p:sp>
        <p:nvSpPr>
          <p:cNvPr id="41" name="Text 38"/>
          <p:cNvSpPr/>
          <p:nvPr/>
        </p:nvSpPr>
        <p:spPr>
          <a:xfrm>
            <a:off x="4093200" y="7257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218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257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85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294800"/>
            <a:ext cx="1152000" cy="936000"/>
          </a:xfrm>
          <a:prstGeom prst="rect">
            <a:avLst/>
          </a:prstGeom>
          <a:solidFill>
            <a:srgbClr val="00B55A"/>
          </a:solidFill>
          <a:ln w="6985">
            <a:solidFill>
              <a:srgbClr val="202020"/>
            </a:solidFill>
            <a:prstDash val="solid"/>
          </a:ln>
        </p:spPr>
      </p:sp>
      <p:sp>
        <p:nvSpPr>
          <p:cNvPr id="29" name="Text 26"/>
          <p:cNvSpPr/>
          <p:nvPr/>
        </p:nvSpPr>
        <p:spPr>
          <a:xfrm>
            <a:off x="4093200" y="4334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294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410800"/>
            <a:ext cx="6264000" cy="1224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1000" dirty="0"/>
          </a:p>
        </p:txBody>
      </p:sp>
      <p:sp>
        <p:nvSpPr>
          <p:cNvPr id="33" name="Shape 30"/>
          <p:cNvSpPr/>
          <p:nvPr/>
        </p:nvSpPr>
        <p:spPr>
          <a:xfrm>
            <a:off x="540000" y="6778800"/>
            <a:ext cx="6480000" cy="324000"/>
          </a:xfrm>
          <a:prstGeom prst="rect">
            <a:avLst/>
          </a:prstGeom>
          <a:solidFill>
            <a:srgbClr val="0A2B6B"/>
          </a:solidFill>
          <a:ln w="6985">
            <a:solidFill>
              <a:srgbClr val="202020"/>
            </a:solidFill>
            <a:prstDash val="solid"/>
          </a:ln>
        </p:spPr>
      </p:sp>
      <p:sp>
        <p:nvSpPr>
          <p:cNvPr id="34" name="Text 31"/>
          <p:cNvSpPr/>
          <p:nvPr/>
        </p:nvSpPr>
        <p:spPr>
          <a:xfrm>
            <a:off x="601200" y="6818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 d’assurance</a:t>
            </a:r>
            <a:endParaRPr lang="en-US" sz="1000" dirty="0"/>
          </a:p>
        </p:txBody>
      </p:sp>
      <p:sp>
        <p:nvSpPr>
          <p:cNvPr id="35" name="Shape 32"/>
          <p:cNvSpPr/>
          <p:nvPr/>
        </p:nvSpPr>
        <p:spPr>
          <a:xfrm>
            <a:off x="540000" y="7102800"/>
            <a:ext cx="3240000" cy="324000"/>
          </a:xfrm>
          <a:prstGeom prst="rect">
            <a:avLst/>
          </a:prstGeom>
          <a:solidFill>
            <a:srgbClr val="FFFFFF"/>
          </a:solidFill>
          <a:ln w="6985">
            <a:solidFill>
              <a:srgbClr val="202020"/>
            </a:solidFill>
            <a:prstDash val="solid"/>
          </a:ln>
        </p:spPr>
      </p:sp>
      <p:sp>
        <p:nvSpPr>
          <p:cNvPr id="36" name="Text 33"/>
          <p:cNvSpPr/>
          <p:nvPr/>
        </p:nvSpPr>
        <p:spPr>
          <a:xfrm>
            <a:off x="601200" y="7142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37" name="Shape 34"/>
          <p:cNvSpPr/>
          <p:nvPr/>
        </p:nvSpPr>
        <p:spPr>
          <a:xfrm>
            <a:off x="3780000" y="7102800"/>
            <a:ext cx="3240000" cy="324000"/>
          </a:xfrm>
          <a:prstGeom prst="rect">
            <a:avLst/>
          </a:prstGeom>
          <a:solidFill>
            <a:srgbClr val="FFFFFF"/>
          </a:solidFill>
          <a:ln w="6985">
            <a:solidFill>
              <a:srgbClr val="202020"/>
            </a:solidFill>
            <a:prstDash val="solid"/>
          </a:ln>
        </p:spPr>
      </p:sp>
      <p:sp>
        <p:nvSpPr>
          <p:cNvPr id="38" name="Text 35"/>
          <p:cNvSpPr/>
          <p:nvPr/>
        </p:nvSpPr>
        <p:spPr>
          <a:xfrm>
            <a:off x="3841200" y="7142400"/>
            <a:ext cx="311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7426800"/>
            <a:ext cx="6480000" cy="324000"/>
          </a:xfrm>
          <a:prstGeom prst="rect">
            <a:avLst/>
          </a:prstGeom>
          <a:solidFill>
            <a:srgbClr val="0A2B6B"/>
          </a:solidFill>
          <a:ln w="6985">
            <a:solidFill>
              <a:srgbClr val="202020"/>
            </a:solidFill>
            <a:prstDash val="solid"/>
          </a:ln>
        </p:spPr>
      </p:sp>
      <p:sp>
        <p:nvSpPr>
          <p:cNvPr id="40" name="Text 37"/>
          <p:cNvSpPr/>
          <p:nvPr/>
        </p:nvSpPr>
        <p:spPr>
          <a:xfrm>
            <a:off x="601200" y="7466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Contrats d’entretien des équipements communs</a:t>
            </a:r>
            <a:endParaRPr lang="en-US" sz="1000" dirty="0"/>
          </a:p>
        </p:txBody>
      </p:sp>
      <p:sp>
        <p:nvSpPr>
          <p:cNvPr id="41" name="Shape 38"/>
          <p:cNvSpPr/>
          <p:nvPr/>
        </p:nvSpPr>
        <p:spPr>
          <a:xfrm>
            <a:off x="540000" y="7750800"/>
            <a:ext cx="3240000" cy="324000"/>
          </a:xfrm>
          <a:prstGeom prst="rect">
            <a:avLst/>
          </a:prstGeom>
          <a:solidFill>
            <a:srgbClr val="FFFFFF"/>
          </a:solidFill>
          <a:ln w="6985">
            <a:solidFill>
              <a:srgbClr val="202020"/>
            </a:solidFill>
            <a:prstDash val="solid"/>
          </a:ln>
        </p:spPr>
      </p:sp>
      <p:sp>
        <p:nvSpPr>
          <p:cNvPr id="42" name="Text 39"/>
          <p:cNvSpPr/>
          <p:nvPr/>
        </p:nvSpPr>
        <p:spPr>
          <a:xfrm>
            <a:off x="601200" y="7790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43" name="Shape 40"/>
          <p:cNvSpPr/>
          <p:nvPr/>
        </p:nvSpPr>
        <p:spPr>
          <a:xfrm>
            <a:off x="3780000" y="7750800"/>
            <a:ext cx="3240000" cy="324000"/>
          </a:xfrm>
          <a:prstGeom prst="rect">
            <a:avLst/>
          </a:prstGeom>
          <a:solidFill>
            <a:srgbClr val="FFFFFF"/>
          </a:solidFill>
          <a:ln w="6985">
            <a:solidFill>
              <a:srgbClr val="202020"/>
            </a:solidFill>
            <a:prstDash val="solid"/>
          </a:ln>
        </p:spPr>
      </p:sp>
      <p:sp>
        <p:nvSpPr>
          <p:cNvPr id="44" name="Text 41"/>
          <p:cNvSpPr/>
          <p:nvPr/>
        </p:nvSpPr>
        <p:spPr>
          <a:xfrm>
            <a:off x="3841200" y="77904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Shape 4"/>
          <p:cNvSpPr/>
          <p:nvPr/>
        </p:nvSpPr>
        <p:spPr>
          <a:xfrm>
            <a:off x="540000" y="1656000"/>
            <a:ext cx="6480000" cy="324000"/>
          </a:xfrm>
          <a:prstGeom prst="rect">
            <a:avLst/>
          </a:prstGeom>
          <a:solidFill>
            <a:srgbClr val="0A2B6B"/>
          </a:solidFill>
          <a:ln w="6985">
            <a:solidFill>
              <a:srgbClr val="202020"/>
            </a:solidFill>
            <a:prstDash val="solid"/>
          </a:ln>
        </p:spPr>
      </p:sp>
      <p:sp>
        <p:nvSpPr>
          <p:cNvPr id="8" name="Text 5"/>
          <p:cNvSpPr/>
          <p:nvPr/>
        </p:nvSpPr>
        <p:spPr>
          <a:xfrm>
            <a:off x="601200" y="1695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recensés dans le carnet d’entretien</a:t>
            </a:r>
            <a:endParaRPr lang="en-US" sz="1000" dirty="0"/>
          </a:p>
        </p:txBody>
      </p:sp>
      <p:sp>
        <p:nvSpPr>
          <p:cNvPr id="9" name="Shape 6"/>
          <p:cNvSpPr/>
          <p:nvPr/>
        </p:nvSpPr>
        <p:spPr>
          <a:xfrm>
            <a:off x="540000" y="1980000"/>
            <a:ext cx="3240000" cy="324000"/>
          </a:xfrm>
          <a:prstGeom prst="rect">
            <a:avLst/>
          </a:prstGeom>
          <a:solidFill>
            <a:srgbClr val="FFFFFF"/>
          </a:solidFill>
          <a:ln w="6985">
            <a:solidFill>
              <a:srgbClr val="202020"/>
            </a:solidFill>
            <a:prstDash val="solid"/>
          </a:ln>
        </p:spPr>
      </p:sp>
      <p:sp>
        <p:nvSpPr>
          <p:cNvPr id="10" name="Text 7"/>
          <p:cNvSpPr/>
          <p:nvPr/>
        </p:nvSpPr>
        <p:spPr>
          <a:xfrm>
            <a:off x="601200" y="2019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1" name="Shape 8"/>
          <p:cNvSpPr/>
          <p:nvPr/>
        </p:nvSpPr>
        <p:spPr>
          <a:xfrm>
            <a:off x="3780000" y="1980000"/>
            <a:ext cx="3240000" cy="324000"/>
          </a:xfrm>
          <a:prstGeom prst="rect">
            <a:avLst/>
          </a:prstGeom>
          <a:solidFill>
            <a:srgbClr val="FFFFFF"/>
          </a:solidFill>
          <a:ln w="6985">
            <a:solidFill>
              <a:srgbClr val="202020"/>
            </a:solidFill>
            <a:prstDash val="solid"/>
          </a:ln>
        </p:spPr>
      </p:sp>
      <p:sp>
        <p:nvSpPr>
          <p:cNvPr id="12" name="Text 9"/>
          <p:cNvSpPr/>
          <p:nvPr/>
        </p:nvSpPr>
        <p:spPr>
          <a:xfrm>
            <a:off x="3841200" y="2019600"/>
            <a:ext cx="3117600" cy="244800"/>
          </a:xfrm>
          <a:prstGeom prst="rect">
            <a:avLst/>
          </a:prstGeom>
          <a:noFill/>
          <a:ln/>
        </p:spPr>
        <p:txBody>
          <a:bodyPr wrap="square" lIns="0" tIns="0" rIns="0" bIns="0" rtlCol="0" anchor="ctr"/>
          <a:lstStyle/>
          <a:p>
            <a:pPr algn="l" indent="0" marL="0">
              <a:buNone/>
            </a:pPr>
            <a:endParaRPr lang="en-US" sz="1000" dirty="0"/>
          </a:p>
        </p:txBody>
      </p:sp>
      <p:sp>
        <p:nvSpPr>
          <p:cNvPr id="13" name="Shape 10"/>
          <p:cNvSpPr/>
          <p:nvPr/>
        </p:nvSpPr>
        <p:spPr>
          <a:xfrm>
            <a:off x="540000" y="2592000"/>
            <a:ext cx="6480000" cy="324000"/>
          </a:xfrm>
          <a:prstGeom prst="rect">
            <a:avLst/>
          </a:prstGeom>
          <a:solidFill>
            <a:srgbClr val="0A2B6B"/>
          </a:solidFill>
          <a:ln w="6985">
            <a:solidFill>
              <a:srgbClr val="202020"/>
            </a:solidFill>
            <a:prstDash val="solid"/>
          </a:ln>
        </p:spPr>
      </p:sp>
      <p:sp>
        <p:nvSpPr>
          <p:cNvPr id="14" name="Text 11"/>
          <p:cNvSpPr/>
          <p:nvPr/>
        </p:nvSpPr>
        <p:spPr>
          <a:xfrm>
            <a:off x="601200" y="2631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votés en assemblée générale</a:t>
            </a:r>
            <a:endParaRPr lang="en-US" sz="1000" dirty="0"/>
          </a:p>
        </p:txBody>
      </p:sp>
      <p:sp>
        <p:nvSpPr>
          <p:cNvPr id="15" name="Shape 12"/>
          <p:cNvSpPr/>
          <p:nvPr/>
        </p:nvSpPr>
        <p:spPr>
          <a:xfrm>
            <a:off x="540000" y="2916000"/>
            <a:ext cx="3240000" cy="324000"/>
          </a:xfrm>
          <a:prstGeom prst="rect">
            <a:avLst/>
          </a:prstGeom>
          <a:solidFill>
            <a:srgbClr val="FFFFFF"/>
          </a:solidFill>
          <a:ln w="6985">
            <a:solidFill>
              <a:srgbClr val="202020"/>
            </a:solidFill>
            <a:prstDash val="solid"/>
          </a:ln>
        </p:spPr>
      </p:sp>
      <p:sp>
        <p:nvSpPr>
          <p:cNvPr id="16" name="Text 13"/>
          <p:cNvSpPr/>
          <p:nvPr/>
        </p:nvSpPr>
        <p:spPr>
          <a:xfrm>
            <a:off x="601200" y="2955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Shape 14"/>
          <p:cNvSpPr/>
          <p:nvPr/>
        </p:nvSpPr>
        <p:spPr>
          <a:xfrm>
            <a:off x="3780000" y="2916000"/>
            <a:ext cx="3240000" cy="324000"/>
          </a:xfrm>
          <a:prstGeom prst="rect">
            <a:avLst/>
          </a:prstGeom>
          <a:solidFill>
            <a:srgbClr val="FFFFFF"/>
          </a:solidFill>
          <a:ln w="6985">
            <a:solidFill>
              <a:srgbClr val="202020"/>
            </a:solidFill>
            <a:prstDash val="solid"/>
          </a:ln>
        </p:spPr>
      </p:sp>
      <p:sp>
        <p:nvSpPr>
          <p:cNvPr id="18" name="Text 15"/>
          <p:cNvSpPr/>
          <p:nvPr/>
        </p:nvSpPr>
        <p:spPr>
          <a:xfrm>
            <a:off x="3841200" y="29556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Registre de sécurité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034000"/>
            <a:ext cx="1152000" cy="16272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661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37008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3661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3700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661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3700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88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3280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288400"/>
            <a:ext cx="1152000" cy="1627200"/>
          </a:xfrm>
          <a:prstGeom prst="rect">
            <a:avLst/>
          </a:prstGeom>
          <a:solidFill>
            <a:srgbClr val="00B55A"/>
          </a:solidFill>
          <a:ln w="6985">
            <a:solidFill>
              <a:srgbClr val="202020"/>
            </a:solidFill>
            <a:prstDash val="solid"/>
          </a:ln>
        </p:spPr>
      </p:sp>
      <p:sp>
        <p:nvSpPr>
          <p:cNvPr id="29" name="Text 26"/>
          <p:cNvSpPr/>
          <p:nvPr/>
        </p:nvSpPr>
        <p:spPr>
          <a:xfrm>
            <a:off x="4093200" y="5328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5288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328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1000" dirty="0"/>
          </a:p>
        </p:txBody>
      </p:sp>
      <p:sp>
        <p:nvSpPr>
          <p:cNvPr id="9" name="Text 6"/>
          <p:cNvSpPr/>
          <p:nvPr/>
        </p:nvSpPr>
        <p:spPr>
          <a:xfrm>
            <a:off x="648000" y="2523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1000" dirty="0"/>
          </a:p>
        </p:txBody>
      </p:sp>
      <p:sp>
        <p:nvSpPr>
          <p:cNvPr id="10" name="Text 7"/>
          <p:cNvSpPr/>
          <p:nvPr/>
        </p:nvSpPr>
        <p:spPr>
          <a:xfrm>
            <a:off x="648000" y="350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1000" dirty="0"/>
          </a:p>
        </p:txBody>
      </p:sp>
      <p:sp>
        <p:nvSpPr>
          <p:cNvPr id="11" name="Text 8"/>
          <p:cNvSpPr/>
          <p:nvPr/>
        </p:nvSpPr>
        <p:spPr>
          <a:xfrm>
            <a:off x="648000" y="4647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1000" dirty="0"/>
          </a:p>
        </p:txBody>
      </p:sp>
      <p:sp>
        <p:nvSpPr>
          <p:cNvPr id="12" name="Shape 9"/>
          <p:cNvSpPr/>
          <p:nvPr/>
        </p:nvSpPr>
        <p:spPr>
          <a:xfrm>
            <a:off x="954000" y="5626800"/>
            <a:ext cx="1872000" cy="324000"/>
          </a:xfrm>
          <a:prstGeom prst="rect">
            <a:avLst/>
          </a:prstGeom>
          <a:solidFill>
            <a:srgbClr val="FFFFFF"/>
          </a:solidFill>
          <a:ln w="6985">
            <a:solidFill>
              <a:srgbClr val="202020"/>
            </a:solidFill>
            <a:prstDash val="solid"/>
          </a:ln>
        </p:spPr>
      </p:sp>
      <p:sp>
        <p:nvSpPr>
          <p:cNvPr id="13" name="Text 10"/>
          <p:cNvSpPr/>
          <p:nvPr/>
        </p:nvSpPr>
        <p:spPr>
          <a:xfrm>
            <a:off x="1015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vente</a:t>
            </a:r>
            <a:endParaRPr lang="en-US" sz="1000" dirty="0"/>
          </a:p>
        </p:txBody>
      </p:sp>
      <p:sp>
        <p:nvSpPr>
          <p:cNvPr id="14" name="Shape 11"/>
          <p:cNvSpPr/>
          <p:nvPr/>
        </p:nvSpPr>
        <p:spPr>
          <a:xfrm>
            <a:off x="2826000" y="5626800"/>
            <a:ext cx="1872000" cy="324000"/>
          </a:xfrm>
          <a:prstGeom prst="rect">
            <a:avLst/>
          </a:prstGeom>
          <a:solidFill>
            <a:srgbClr val="FFFFFF"/>
          </a:solidFill>
          <a:ln w="6985">
            <a:solidFill>
              <a:srgbClr val="202020"/>
            </a:solidFill>
            <a:prstDash val="solid"/>
          </a:ln>
        </p:spPr>
      </p:sp>
      <p:sp>
        <p:nvSpPr>
          <p:cNvPr id="15" name="Text 12"/>
          <p:cNvSpPr/>
          <p:nvPr/>
        </p:nvSpPr>
        <p:spPr>
          <a:xfrm>
            <a:off x="2887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Dates clés</a:t>
            </a:r>
            <a:endParaRPr lang="en-US" sz="1000" dirty="0"/>
          </a:p>
        </p:txBody>
      </p:sp>
      <p:sp>
        <p:nvSpPr>
          <p:cNvPr id="16" name="Shape 13"/>
          <p:cNvSpPr/>
          <p:nvPr/>
        </p:nvSpPr>
        <p:spPr>
          <a:xfrm>
            <a:off x="4698000" y="5626800"/>
            <a:ext cx="1872000" cy="324000"/>
          </a:xfrm>
          <a:prstGeom prst="rect">
            <a:avLst/>
          </a:prstGeom>
          <a:solidFill>
            <a:srgbClr val="FFFFFF"/>
          </a:solidFill>
          <a:ln w="6985">
            <a:solidFill>
              <a:srgbClr val="202020"/>
            </a:solidFill>
            <a:prstDash val="solid"/>
          </a:ln>
        </p:spPr>
      </p:sp>
      <p:sp>
        <p:nvSpPr>
          <p:cNvPr id="17" name="Text 14"/>
          <p:cNvSpPr/>
          <p:nvPr/>
        </p:nvSpPr>
        <p:spPr>
          <a:xfrm>
            <a:off x="4759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location</a:t>
            </a:r>
            <a:endParaRPr lang="en-US" sz="1000" dirty="0"/>
          </a:p>
        </p:txBody>
      </p:sp>
      <p:sp>
        <p:nvSpPr>
          <p:cNvPr id="18" name="Shape 15"/>
          <p:cNvSpPr/>
          <p:nvPr/>
        </p:nvSpPr>
        <p:spPr>
          <a:xfrm>
            <a:off x="954000" y="5950800"/>
            <a:ext cx="1872000" cy="648000"/>
          </a:xfrm>
          <a:prstGeom prst="rect">
            <a:avLst/>
          </a:prstGeom>
          <a:solidFill>
            <a:srgbClr val="FFFFFF"/>
          </a:solidFill>
          <a:ln w="6985">
            <a:solidFill>
              <a:srgbClr val="202020"/>
            </a:solidFill>
            <a:prstDash val="solid"/>
          </a:ln>
        </p:spPr>
      </p:sp>
      <p:sp>
        <p:nvSpPr>
          <p:cNvPr id="19" name="Text 16"/>
          <p:cNvSpPr/>
          <p:nvPr/>
        </p:nvSpPr>
        <p:spPr>
          <a:xfrm>
            <a:off x="1015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0" name="Shape 17"/>
          <p:cNvSpPr/>
          <p:nvPr/>
        </p:nvSpPr>
        <p:spPr>
          <a:xfrm>
            <a:off x="2826000" y="5950800"/>
            <a:ext cx="1872000" cy="648000"/>
          </a:xfrm>
          <a:prstGeom prst="rect">
            <a:avLst/>
          </a:prstGeom>
          <a:solidFill>
            <a:srgbClr val="FFFFFF"/>
          </a:solidFill>
          <a:ln w="6985">
            <a:solidFill>
              <a:srgbClr val="202020"/>
            </a:solidFill>
            <a:prstDash val="solid"/>
          </a:ln>
        </p:spPr>
      </p:sp>
      <p:sp>
        <p:nvSpPr>
          <p:cNvPr id="21" name="Text 18"/>
          <p:cNvSpPr/>
          <p:nvPr/>
        </p:nvSpPr>
        <p:spPr>
          <a:xfrm>
            <a:off x="2887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2" name="Shape 19"/>
          <p:cNvSpPr/>
          <p:nvPr/>
        </p:nvSpPr>
        <p:spPr>
          <a:xfrm>
            <a:off x="4698000" y="5950800"/>
            <a:ext cx="1872000" cy="648000"/>
          </a:xfrm>
          <a:prstGeom prst="rect">
            <a:avLst/>
          </a:prstGeom>
          <a:solidFill>
            <a:srgbClr val="FFFFFF"/>
          </a:solidFill>
          <a:ln w="6985">
            <a:solidFill>
              <a:srgbClr val="202020"/>
            </a:solidFill>
            <a:prstDash val="solid"/>
          </a:ln>
        </p:spPr>
      </p:sp>
      <p:sp>
        <p:nvSpPr>
          <p:cNvPr id="23" name="Text 20"/>
          <p:cNvSpPr/>
          <p:nvPr/>
        </p:nvSpPr>
        <p:spPr>
          <a:xfrm>
            <a:off x="4759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4" name="Text 21"/>
          <p:cNvSpPr/>
          <p:nvPr/>
        </p:nvSpPr>
        <p:spPr>
          <a:xfrm>
            <a:off x="2898000" y="616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Août 2022</a:t>
            </a:r>
            <a:endParaRPr lang="en-US" sz="1000" dirty="0"/>
          </a:p>
        </p:txBody>
      </p:sp>
      <p:sp>
        <p:nvSpPr>
          <p:cNvPr id="25" name="Text 22"/>
          <p:cNvSpPr/>
          <p:nvPr/>
        </p:nvSpPr>
        <p:spPr>
          <a:xfrm>
            <a:off x="4770000" y="6022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Gel des loyers</a:t>
            </a:r>
            <a:endParaRPr lang="en-US" sz="1000" dirty="0"/>
          </a:p>
        </p:txBody>
      </p:sp>
      <p:pic>
        <p:nvPicPr>
          <p:cNvPr id="26" name="Image 1" descr="Étiquette énergétique F">    </p:cNvPr>
          <p:cNvPicPr>
            <a:picLocks noChangeAspect="1"/>
          </p:cNvPicPr>
          <p:nvPr/>
        </p:nvPicPr>
        <p:blipFill>
          <a:blip r:embed="rId2"/>
          <a:srcRect l="0" r="0" t="0" b="0"/>
          <a:stretch/>
        </p:blipFill>
        <p:spPr>
          <a:xfrm>
            <a:off x="4995000" y="6238800"/>
            <a:ext cx="558000" cy="306000"/>
          </a:xfrm>
          <a:prstGeom prst="rect">
            <a:avLst/>
          </a:prstGeom>
        </p:spPr>
      </p:pic>
      <p:pic>
        <p:nvPicPr>
          <p:cNvPr id="27" name="Image 2" descr="Étiquette énergétique G">    </p:cNvPr>
          <p:cNvPicPr>
            <a:picLocks noChangeAspect="1"/>
          </p:cNvPicPr>
          <p:nvPr/>
        </p:nvPicPr>
        <p:blipFill>
          <a:blip r:embed="rId3"/>
          <a:srcRect l="0" r="0" t="0" b="0"/>
          <a:stretch/>
        </p:blipFill>
        <p:spPr>
          <a:xfrm>
            <a:off x="5715000" y="6238800"/>
            <a:ext cx="558000" cy="306000"/>
          </a:xfrm>
          <a:prstGeom prst="rect">
            <a:avLst/>
          </a:prstGeom>
        </p:spPr>
      </p:pic>
      <p:sp>
        <p:nvSpPr>
          <p:cNvPr id="28" name="Shape 23"/>
          <p:cNvSpPr/>
          <p:nvPr/>
        </p:nvSpPr>
        <p:spPr>
          <a:xfrm>
            <a:off x="954000" y="6598800"/>
            <a:ext cx="1872000" cy="1080000"/>
          </a:xfrm>
          <a:prstGeom prst="rect">
            <a:avLst/>
          </a:prstGeom>
          <a:solidFill>
            <a:srgbClr val="FFFFFF"/>
          </a:solidFill>
          <a:ln w="6985">
            <a:solidFill>
              <a:srgbClr val="202020"/>
            </a:solidFill>
            <a:prstDash val="solid"/>
          </a:ln>
        </p:spPr>
      </p:sp>
      <p:sp>
        <p:nvSpPr>
          <p:cNvPr id="29" name="Text 24"/>
          <p:cNvSpPr/>
          <p:nvPr/>
        </p:nvSpPr>
        <p:spPr>
          <a:xfrm>
            <a:off x="1015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0" name="Shape 25"/>
          <p:cNvSpPr/>
          <p:nvPr/>
        </p:nvSpPr>
        <p:spPr>
          <a:xfrm>
            <a:off x="2826000" y="6598800"/>
            <a:ext cx="1872000" cy="1080000"/>
          </a:xfrm>
          <a:prstGeom prst="rect">
            <a:avLst/>
          </a:prstGeom>
          <a:solidFill>
            <a:srgbClr val="FFFFFF"/>
          </a:solidFill>
          <a:ln w="6985">
            <a:solidFill>
              <a:srgbClr val="202020"/>
            </a:solidFill>
            <a:prstDash val="solid"/>
          </a:ln>
        </p:spPr>
      </p:sp>
      <p:sp>
        <p:nvSpPr>
          <p:cNvPr id="31" name="Text 26"/>
          <p:cNvSpPr/>
          <p:nvPr/>
        </p:nvSpPr>
        <p:spPr>
          <a:xfrm>
            <a:off x="2887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2" name="Shape 27"/>
          <p:cNvSpPr/>
          <p:nvPr/>
        </p:nvSpPr>
        <p:spPr>
          <a:xfrm>
            <a:off x="4698000" y="6598800"/>
            <a:ext cx="1872000" cy="1080000"/>
          </a:xfrm>
          <a:prstGeom prst="rect">
            <a:avLst/>
          </a:prstGeom>
          <a:solidFill>
            <a:srgbClr val="FFFFFF"/>
          </a:solidFill>
          <a:ln w="6985">
            <a:solidFill>
              <a:srgbClr val="202020"/>
            </a:solidFill>
            <a:prstDash val="solid"/>
          </a:ln>
        </p:spPr>
      </p:sp>
      <p:sp>
        <p:nvSpPr>
          <p:cNvPr id="33" name="Text 28"/>
          <p:cNvSpPr/>
          <p:nvPr/>
        </p:nvSpPr>
        <p:spPr>
          <a:xfrm>
            <a:off x="4759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4" name="Text 29"/>
          <p:cNvSpPr/>
          <p:nvPr/>
        </p:nvSpPr>
        <p:spPr>
          <a:xfrm>
            <a:off x="2898000" y="7030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2023</a:t>
            </a:r>
            <a:endParaRPr lang="en-US" sz="1000" dirty="0"/>
          </a:p>
        </p:txBody>
      </p:sp>
      <p:sp>
        <p:nvSpPr>
          <p:cNvPr id="35" name="Text 30"/>
          <p:cNvSpPr/>
          <p:nvPr/>
        </p:nvSpPr>
        <p:spPr>
          <a:xfrm>
            <a:off x="1026000" y="667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36" name="Text 31"/>
          <p:cNvSpPr/>
          <p:nvPr/>
        </p:nvSpPr>
        <p:spPr>
          <a:xfrm>
            <a:off x="4770000" y="667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37" name="Image 3" descr="Étiquette énergétique F">    </p:cNvPr>
          <p:cNvPicPr>
            <a:picLocks noChangeAspect="1"/>
          </p:cNvPicPr>
          <p:nvPr/>
        </p:nvPicPr>
        <p:blipFill>
          <a:blip r:embed="rId4"/>
          <a:srcRect l="0" r="0" t="0" b="0"/>
          <a:stretch/>
        </p:blipFill>
        <p:spPr>
          <a:xfrm>
            <a:off x="1251000" y="7318800"/>
            <a:ext cx="558000" cy="306000"/>
          </a:xfrm>
          <a:prstGeom prst="rect">
            <a:avLst/>
          </a:prstGeom>
        </p:spPr>
      </p:pic>
      <p:pic>
        <p:nvPicPr>
          <p:cNvPr id="38" name="Image 4" descr="Étiquette énergétique G">    </p:cNvPr>
          <p:cNvPicPr>
            <a:picLocks noChangeAspect="1"/>
          </p:cNvPicPr>
          <p:nvPr/>
        </p:nvPicPr>
        <p:blipFill>
          <a:blip r:embed="rId5"/>
          <a:srcRect l="0" r="0" t="0" b="0"/>
          <a:stretch/>
        </p:blipFill>
        <p:spPr>
          <a:xfrm>
            <a:off x="1971000" y="7318800"/>
            <a:ext cx="558000" cy="306000"/>
          </a:xfrm>
          <a:prstGeom prst="rect">
            <a:avLst/>
          </a:prstGeom>
        </p:spPr>
      </p:pic>
      <p:pic>
        <p:nvPicPr>
          <p:cNvPr id="39" name="Image 5" descr="Étiquette énergétique G">    </p:cNvPr>
          <p:cNvPicPr>
            <a:picLocks noChangeAspect="1"/>
          </p:cNvPicPr>
          <p:nvPr/>
        </p:nvPicPr>
        <p:blipFill>
          <a:blip r:embed="rId6"/>
          <a:srcRect l="0" r="0" t="0" b="0"/>
          <a:stretch/>
        </p:blipFill>
        <p:spPr>
          <a:xfrm>
            <a:off x="5355000" y="6922800"/>
            <a:ext cx="558000" cy="306000"/>
          </a:xfrm>
          <a:prstGeom prst="rect">
            <a:avLst/>
          </a:prstGeom>
        </p:spPr>
      </p:pic>
      <p:sp>
        <p:nvSpPr>
          <p:cNvPr id="40" name="Text 32"/>
          <p:cNvSpPr/>
          <p:nvPr/>
        </p:nvSpPr>
        <p:spPr>
          <a:xfrm>
            <a:off x="4770000" y="7246800"/>
            <a:ext cx="1728000" cy="3600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Si la consommation annuelle</a:t>
            </a:r>
            <a:endParaRPr lang="en-US" sz="950" dirty="0"/>
          </a:p>
          <a:p>
            <a:pPr algn="ctr" indent="0" marL="0">
              <a:buNone/>
            </a:pPr>
            <a:r>
              <a:rPr lang="en-US" sz="950" dirty="0">
                <a:solidFill>
                  <a:srgbClr val="1C1C1C"/>
                </a:solidFill>
                <a:latin typeface="Aptos" pitchFamily="34" charset="0"/>
                <a:ea typeface="Aptos" pitchFamily="34" charset="-122"/>
                <a:cs typeface="Aptos" pitchFamily="34" charset="-120"/>
              </a:rPr>
              <a:t>&gt; 450 kWh/m²</a:t>
            </a:r>
            <a:endParaRPr lang="en-US" sz="950" dirty="0"/>
          </a:p>
        </p:txBody>
      </p:sp>
      <p:sp>
        <p:nvSpPr>
          <p:cNvPr id="41" name="Shape 33"/>
          <p:cNvSpPr/>
          <p:nvPr/>
        </p:nvSpPr>
        <p:spPr>
          <a:xfrm>
            <a:off x="954000" y="7678800"/>
            <a:ext cx="1872000" cy="756000"/>
          </a:xfrm>
          <a:prstGeom prst="rect">
            <a:avLst/>
          </a:prstGeom>
          <a:solidFill>
            <a:srgbClr val="FFFFFF"/>
          </a:solidFill>
          <a:ln w="6985">
            <a:solidFill>
              <a:srgbClr val="202020"/>
            </a:solidFill>
            <a:prstDash val="solid"/>
          </a:ln>
        </p:spPr>
      </p:sp>
      <p:sp>
        <p:nvSpPr>
          <p:cNvPr id="42" name="Text 34"/>
          <p:cNvSpPr/>
          <p:nvPr/>
        </p:nvSpPr>
        <p:spPr>
          <a:xfrm>
            <a:off x="1015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3" name="Shape 35"/>
          <p:cNvSpPr/>
          <p:nvPr/>
        </p:nvSpPr>
        <p:spPr>
          <a:xfrm>
            <a:off x="2826000" y="7678800"/>
            <a:ext cx="1872000" cy="756000"/>
          </a:xfrm>
          <a:prstGeom prst="rect">
            <a:avLst/>
          </a:prstGeom>
          <a:solidFill>
            <a:srgbClr val="FFFFFF"/>
          </a:solidFill>
          <a:ln w="6985">
            <a:solidFill>
              <a:srgbClr val="202020"/>
            </a:solidFill>
            <a:prstDash val="solid"/>
          </a:ln>
        </p:spPr>
      </p:sp>
      <p:sp>
        <p:nvSpPr>
          <p:cNvPr id="44" name="Text 36"/>
          <p:cNvSpPr/>
          <p:nvPr/>
        </p:nvSpPr>
        <p:spPr>
          <a:xfrm>
            <a:off x="2887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5" name="Shape 37"/>
          <p:cNvSpPr/>
          <p:nvPr/>
        </p:nvSpPr>
        <p:spPr>
          <a:xfrm>
            <a:off x="4698000" y="7678800"/>
            <a:ext cx="1872000" cy="756000"/>
          </a:xfrm>
          <a:prstGeom prst="rect">
            <a:avLst/>
          </a:prstGeom>
          <a:solidFill>
            <a:srgbClr val="FFFFFF"/>
          </a:solidFill>
          <a:ln w="6985">
            <a:solidFill>
              <a:srgbClr val="202020"/>
            </a:solidFill>
            <a:prstDash val="solid"/>
          </a:ln>
        </p:spPr>
      </p:sp>
      <p:sp>
        <p:nvSpPr>
          <p:cNvPr id="46" name="Text 38"/>
          <p:cNvSpPr/>
          <p:nvPr/>
        </p:nvSpPr>
        <p:spPr>
          <a:xfrm>
            <a:off x="4759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7" name="Text 39"/>
          <p:cNvSpPr/>
          <p:nvPr/>
        </p:nvSpPr>
        <p:spPr>
          <a:xfrm>
            <a:off x="2898000" y="7948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2025</a:t>
            </a:r>
            <a:endParaRPr lang="en-US" sz="1000" dirty="0"/>
          </a:p>
        </p:txBody>
      </p:sp>
      <p:sp>
        <p:nvSpPr>
          <p:cNvPr id="48" name="Text 40"/>
          <p:cNvSpPr/>
          <p:nvPr/>
        </p:nvSpPr>
        <p:spPr>
          <a:xfrm>
            <a:off x="1026000" y="775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49" name="Text 41"/>
          <p:cNvSpPr/>
          <p:nvPr/>
        </p:nvSpPr>
        <p:spPr>
          <a:xfrm>
            <a:off x="4770000" y="775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50" name="Image 6" descr="Étiquette énergétique E">    </p:cNvPr>
          <p:cNvPicPr>
            <a:picLocks noChangeAspect="1"/>
          </p:cNvPicPr>
          <p:nvPr/>
        </p:nvPicPr>
        <p:blipFill>
          <a:blip r:embed="rId7"/>
          <a:srcRect l="0" r="0" t="0" b="0"/>
          <a:stretch/>
        </p:blipFill>
        <p:spPr>
          <a:xfrm>
            <a:off x="1611000" y="8074800"/>
            <a:ext cx="558000" cy="306000"/>
          </a:xfrm>
          <a:prstGeom prst="rect">
            <a:avLst/>
          </a:prstGeom>
        </p:spPr>
      </p:pic>
      <p:pic>
        <p:nvPicPr>
          <p:cNvPr id="51" name="Image 7" descr="Étiquette énergétique G">    </p:cNvPr>
          <p:cNvPicPr>
            <a:picLocks noChangeAspect="1"/>
          </p:cNvPicPr>
          <p:nvPr/>
        </p:nvPicPr>
        <p:blipFill>
          <a:blip r:embed="rId8"/>
          <a:srcRect l="0" r="0" t="0" b="0"/>
          <a:stretch/>
        </p:blipFill>
        <p:spPr>
          <a:xfrm>
            <a:off x="5355000" y="8074800"/>
            <a:ext cx="558000" cy="306000"/>
          </a:xfrm>
          <a:prstGeom prst="rect">
            <a:avLst/>
          </a:prstGeom>
        </p:spPr>
      </p:pic>
      <p:sp>
        <p:nvSpPr>
          <p:cNvPr id="52" name="Shape 42"/>
          <p:cNvSpPr/>
          <p:nvPr/>
        </p:nvSpPr>
        <p:spPr>
          <a:xfrm>
            <a:off x="954000" y="8434800"/>
            <a:ext cx="1872000" cy="612000"/>
          </a:xfrm>
          <a:prstGeom prst="rect">
            <a:avLst/>
          </a:prstGeom>
          <a:solidFill>
            <a:srgbClr val="FFFFFF"/>
          </a:solidFill>
          <a:ln w="6985">
            <a:solidFill>
              <a:srgbClr val="202020"/>
            </a:solidFill>
            <a:prstDash val="solid"/>
          </a:ln>
        </p:spPr>
      </p:sp>
      <p:sp>
        <p:nvSpPr>
          <p:cNvPr id="53" name="Text 43"/>
          <p:cNvSpPr/>
          <p:nvPr/>
        </p:nvSpPr>
        <p:spPr>
          <a:xfrm>
            <a:off x="1015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4" name="Shape 44"/>
          <p:cNvSpPr/>
          <p:nvPr/>
        </p:nvSpPr>
        <p:spPr>
          <a:xfrm>
            <a:off x="2826000" y="8434800"/>
            <a:ext cx="1872000" cy="612000"/>
          </a:xfrm>
          <a:prstGeom prst="rect">
            <a:avLst/>
          </a:prstGeom>
          <a:solidFill>
            <a:srgbClr val="FFFFFF"/>
          </a:solidFill>
          <a:ln w="6985">
            <a:solidFill>
              <a:srgbClr val="202020"/>
            </a:solidFill>
            <a:prstDash val="solid"/>
          </a:ln>
        </p:spPr>
      </p:sp>
      <p:sp>
        <p:nvSpPr>
          <p:cNvPr id="55" name="Text 45"/>
          <p:cNvSpPr/>
          <p:nvPr/>
        </p:nvSpPr>
        <p:spPr>
          <a:xfrm>
            <a:off x="2887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6" name="Shape 46"/>
          <p:cNvSpPr/>
          <p:nvPr/>
        </p:nvSpPr>
        <p:spPr>
          <a:xfrm>
            <a:off x="4698000" y="8434800"/>
            <a:ext cx="1872000" cy="612000"/>
          </a:xfrm>
          <a:prstGeom prst="rect">
            <a:avLst/>
          </a:prstGeom>
          <a:solidFill>
            <a:srgbClr val="FFFFFF"/>
          </a:solidFill>
          <a:ln w="6985">
            <a:solidFill>
              <a:srgbClr val="202020"/>
            </a:solidFill>
            <a:prstDash val="solid"/>
          </a:ln>
        </p:spPr>
      </p:sp>
      <p:sp>
        <p:nvSpPr>
          <p:cNvPr id="57" name="Text 47"/>
          <p:cNvSpPr/>
          <p:nvPr/>
        </p:nvSpPr>
        <p:spPr>
          <a:xfrm>
            <a:off x="4759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8" name="Text 48"/>
          <p:cNvSpPr/>
          <p:nvPr/>
        </p:nvSpPr>
        <p:spPr>
          <a:xfrm>
            <a:off x="2898000" y="8632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2028</a:t>
            </a:r>
            <a:endParaRPr lang="en-US" sz="1000" dirty="0"/>
          </a:p>
        </p:txBody>
      </p:sp>
      <p:sp>
        <p:nvSpPr>
          <p:cNvPr id="59" name="Text 49"/>
          <p:cNvSpPr/>
          <p:nvPr/>
        </p:nvSpPr>
        <p:spPr>
          <a:xfrm>
            <a:off x="4770000" y="8506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60" name="Image 8" descr="Étiquette énergétique F">    </p:cNvPr>
          <p:cNvPicPr>
            <a:picLocks noChangeAspect="1"/>
          </p:cNvPicPr>
          <p:nvPr/>
        </p:nvPicPr>
        <p:blipFill>
          <a:blip r:embed="rId9"/>
          <a:srcRect l="0" r="0" t="0" b="0"/>
          <a:stretch/>
        </p:blipFill>
        <p:spPr>
          <a:xfrm>
            <a:off x="5355000" y="8686800"/>
            <a:ext cx="558000" cy="306000"/>
          </a:xfrm>
          <a:prstGeom prst="rect">
            <a:avLst/>
          </a:prstGeom>
        </p:spPr>
      </p:pic>
      <p:sp>
        <p:nvSpPr>
          <p:cNvPr id="61" name="Shape 50"/>
          <p:cNvSpPr/>
          <p:nvPr/>
        </p:nvSpPr>
        <p:spPr>
          <a:xfrm>
            <a:off x="954000" y="9046800"/>
            <a:ext cx="1872000" cy="756000"/>
          </a:xfrm>
          <a:prstGeom prst="rect">
            <a:avLst/>
          </a:prstGeom>
          <a:solidFill>
            <a:srgbClr val="FFFFFF"/>
          </a:solidFill>
          <a:ln w="6985">
            <a:solidFill>
              <a:srgbClr val="202020"/>
            </a:solidFill>
            <a:prstDash val="solid"/>
          </a:ln>
        </p:spPr>
      </p:sp>
      <p:sp>
        <p:nvSpPr>
          <p:cNvPr id="62" name="Text 51"/>
          <p:cNvSpPr/>
          <p:nvPr/>
        </p:nvSpPr>
        <p:spPr>
          <a:xfrm>
            <a:off x="1015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3" name="Shape 52"/>
          <p:cNvSpPr/>
          <p:nvPr/>
        </p:nvSpPr>
        <p:spPr>
          <a:xfrm>
            <a:off x="2826000" y="9046800"/>
            <a:ext cx="1872000" cy="756000"/>
          </a:xfrm>
          <a:prstGeom prst="rect">
            <a:avLst/>
          </a:prstGeom>
          <a:solidFill>
            <a:srgbClr val="FFFFFF"/>
          </a:solidFill>
          <a:ln w="6985">
            <a:solidFill>
              <a:srgbClr val="202020"/>
            </a:solidFill>
            <a:prstDash val="solid"/>
          </a:ln>
        </p:spPr>
      </p:sp>
      <p:sp>
        <p:nvSpPr>
          <p:cNvPr id="64" name="Text 53"/>
          <p:cNvSpPr/>
          <p:nvPr/>
        </p:nvSpPr>
        <p:spPr>
          <a:xfrm>
            <a:off x="2887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5" name="Shape 54"/>
          <p:cNvSpPr/>
          <p:nvPr/>
        </p:nvSpPr>
        <p:spPr>
          <a:xfrm>
            <a:off x="4698000" y="9046800"/>
            <a:ext cx="1872000" cy="756000"/>
          </a:xfrm>
          <a:prstGeom prst="rect">
            <a:avLst/>
          </a:prstGeom>
          <a:solidFill>
            <a:srgbClr val="FFFFFF"/>
          </a:solidFill>
          <a:ln w="6985">
            <a:solidFill>
              <a:srgbClr val="202020"/>
            </a:solidFill>
            <a:prstDash val="solid"/>
          </a:ln>
        </p:spPr>
      </p:sp>
      <p:sp>
        <p:nvSpPr>
          <p:cNvPr id="66" name="Text 55"/>
          <p:cNvSpPr/>
          <p:nvPr/>
        </p:nvSpPr>
        <p:spPr>
          <a:xfrm>
            <a:off x="4759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7" name="Text 56"/>
          <p:cNvSpPr/>
          <p:nvPr/>
        </p:nvSpPr>
        <p:spPr>
          <a:xfrm>
            <a:off x="2898000" y="931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2034</a:t>
            </a:r>
            <a:endParaRPr lang="en-US" sz="1000" dirty="0"/>
          </a:p>
        </p:txBody>
      </p:sp>
      <p:sp>
        <p:nvSpPr>
          <p:cNvPr id="68" name="Text 57"/>
          <p:cNvSpPr/>
          <p:nvPr/>
        </p:nvSpPr>
        <p:spPr>
          <a:xfrm>
            <a:off x="1026000" y="9118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69" name="Text 58"/>
          <p:cNvSpPr/>
          <p:nvPr/>
        </p:nvSpPr>
        <p:spPr>
          <a:xfrm>
            <a:off x="4770000" y="9118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70" name="Image 9" descr="Étiquette énergétique D">    </p:cNvPr>
          <p:cNvPicPr>
            <a:picLocks noChangeAspect="1"/>
          </p:cNvPicPr>
          <p:nvPr/>
        </p:nvPicPr>
        <p:blipFill>
          <a:blip r:embed="rId10"/>
          <a:srcRect l="0" r="0" t="0" b="0"/>
          <a:stretch/>
        </p:blipFill>
        <p:spPr>
          <a:xfrm>
            <a:off x="1611000" y="9442800"/>
            <a:ext cx="558000" cy="306000"/>
          </a:xfrm>
          <a:prstGeom prst="rect">
            <a:avLst/>
          </a:prstGeom>
        </p:spPr>
      </p:pic>
      <p:pic>
        <p:nvPicPr>
          <p:cNvPr id="71" name="Image 10" descr="Étiquette énergétique E">    </p:cNvPr>
          <p:cNvPicPr>
            <a:picLocks noChangeAspect="1"/>
          </p:cNvPicPr>
          <p:nvPr/>
        </p:nvPicPr>
        <p:blipFill>
          <a:blip r:embed="rId11"/>
          <a:srcRect l="0" r="0" t="0" b="0"/>
          <a:stretch/>
        </p:blipFill>
        <p:spPr>
          <a:xfrm>
            <a:off x="5355000" y="9442800"/>
            <a:ext cx="558000" cy="30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1000" dirty="0"/>
          </a:p>
        </p:txBody>
      </p:sp>
      <p:sp>
        <p:nvSpPr>
          <p:cNvPr id="9" name="Text 6"/>
          <p:cNvSpPr/>
          <p:nvPr/>
        </p:nvSpPr>
        <p:spPr>
          <a:xfrm>
            <a:off x="648000" y="251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1000" dirty="0"/>
          </a:p>
        </p:txBody>
      </p:sp>
      <p:sp>
        <p:nvSpPr>
          <p:cNvPr id="10" name="Text 7"/>
          <p:cNvSpPr/>
          <p:nvPr/>
        </p:nvSpPr>
        <p:spPr>
          <a:xfrm>
            <a:off x="648000" y="332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1000" dirty="0"/>
          </a:p>
        </p:txBody>
      </p:sp>
      <p:sp>
        <p:nvSpPr>
          <p:cNvPr id="11" name="Text 8"/>
          <p:cNvSpPr/>
          <p:nvPr/>
        </p:nvSpPr>
        <p:spPr>
          <a:xfrm>
            <a:off x="648000" y="44604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réalisation du DPE collectif : À confirmer.</a:t>
            </a:r>
            <a:endParaRPr lang="en-US" sz="1000" dirty="0"/>
          </a:p>
        </p:txBody>
      </p:sp>
      <p:sp>
        <p:nvSpPr>
          <p:cNvPr id="12" name="Text 9"/>
          <p:cNvSpPr/>
          <p:nvPr/>
        </p:nvSpPr>
        <p:spPr>
          <a:xfrm>
            <a:off x="648000" y="47268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1000" dirty="0"/>
          </a:p>
        </p:txBody>
      </p:sp>
      <p:sp>
        <p:nvSpPr>
          <p:cNvPr id="13" name="Text 10"/>
          <p:cNvSpPr/>
          <p:nvPr/>
        </p:nvSpPr>
        <p:spPr>
          <a:xfrm>
            <a:off x="648000" y="517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Date de réalisation du DPE collectif : À confirmer</a:t>
            </a:r>
            <a:endParaRPr lang="en-US" sz="1000" dirty="0"/>
          </a:p>
        </p:txBody>
      </p:sp>
      <p:sp>
        <p:nvSpPr>
          <p:cNvPr id="14" name="Text 11"/>
          <p:cNvSpPr/>
          <p:nvPr/>
        </p:nvSpPr>
        <p:spPr>
          <a:xfrm>
            <a:off x="648000" y="535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N° du DPE collectif : À confirmer</a:t>
            </a:r>
            <a:endParaRPr lang="en-US" sz="1000" dirty="0"/>
          </a:p>
        </p:txBody>
      </p:sp>
      <p:sp>
        <p:nvSpPr>
          <p:cNvPr id="15" name="Shape 12"/>
          <p:cNvSpPr/>
          <p:nvPr/>
        </p:nvSpPr>
        <p:spPr>
          <a:xfrm>
            <a:off x="540000" y="6660000"/>
            <a:ext cx="3240000" cy="432000"/>
          </a:xfrm>
          <a:prstGeom prst="rect">
            <a:avLst/>
          </a:prstGeom>
          <a:solidFill>
            <a:srgbClr val="0A2B6B"/>
          </a:solidFill>
          <a:ln w="6985">
            <a:solidFill>
              <a:srgbClr val="202020"/>
            </a:solidFill>
            <a:prstDash val="solid"/>
          </a:ln>
        </p:spPr>
      </p:sp>
      <p:sp>
        <p:nvSpPr>
          <p:cNvPr id="16" name="Text 13"/>
          <p:cNvSpPr/>
          <p:nvPr/>
        </p:nvSpPr>
        <p:spPr>
          <a:xfrm>
            <a:off x="60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État initial</a:t>
            </a:r>
            <a:endParaRPr lang="en-US" sz="1000" dirty="0"/>
          </a:p>
        </p:txBody>
      </p:sp>
      <p:sp>
        <p:nvSpPr>
          <p:cNvPr id="17" name="Shape 14"/>
          <p:cNvSpPr/>
          <p:nvPr/>
        </p:nvSpPr>
        <p:spPr>
          <a:xfrm>
            <a:off x="540000" y="7092000"/>
            <a:ext cx="3240000" cy="2196000"/>
          </a:xfrm>
          <a:prstGeom prst="rect">
            <a:avLst/>
          </a:prstGeom>
          <a:solidFill>
            <a:srgbClr val="FFFFFF"/>
          </a:solidFill>
          <a:ln w="6985">
            <a:solidFill>
              <a:srgbClr val="202020"/>
            </a:solidFill>
            <a:prstDash val="solid"/>
          </a:ln>
        </p:spPr>
      </p:sp>
      <p:sp>
        <p:nvSpPr>
          <p:cNvPr id="18" name="Shape 15"/>
          <p:cNvSpPr/>
          <p:nvPr/>
        </p:nvSpPr>
        <p:spPr>
          <a:xfrm>
            <a:off x="3780000" y="6660000"/>
            <a:ext cx="3240000" cy="432000"/>
          </a:xfrm>
          <a:prstGeom prst="rect">
            <a:avLst/>
          </a:prstGeom>
          <a:solidFill>
            <a:srgbClr val="0A2B6B"/>
          </a:solidFill>
          <a:ln w="6985">
            <a:solidFill>
              <a:srgbClr val="202020"/>
            </a:solidFill>
            <a:prstDash val="solid"/>
          </a:ln>
        </p:spPr>
      </p:sp>
      <p:sp>
        <p:nvSpPr>
          <p:cNvPr id="19" name="Text 16"/>
          <p:cNvSpPr/>
          <p:nvPr/>
        </p:nvSpPr>
        <p:spPr>
          <a:xfrm>
            <a:off x="384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Scénario de rénovation le plus ambitieux</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(Scénario n° 1)</a:t>
            </a:r>
            <a:endParaRPr lang="en-US" sz="1000" dirty="0"/>
          </a:p>
        </p:txBody>
      </p:sp>
      <p:sp>
        <p:nvSpPr>
          <p:cNvPr id="20" name="Shape 17"/>
          <p:cNvSpPr/>
          <p:nvPr/>
        </p:nvSpPr>
        <p:spPr>
          <a:xfrm>
            <a:off x="3780000" y="7092000"/>
            <a:ext cx="3240000" cy="2196000"/>
          </a:xfrm>
          <a:prstGeom prst="rect">
            <a:avLst/>
          </a:prstGeom>
          <a:solidFill>
            <a:srgbClr val="FFFFFF"/>
          </a:solidFill>
          <a:ln w="6985">
            <a:solidFill>
              <a:srgbClr val="202020"/>
            </a:solidFill>
            <a:prstDash val="solid"/>
          </a:ln>
        </p:spPr>
      </p:sp>
      <p:sp>
        <p:nvSpPr>
          <p:cNvPr id="21" name="Text 18"/>
          <p:cNvSpPr/>
          <p:nvPr/>
        </p:nvSpPr>
        <p:spPr>
          <a:xfrm>
            <a:off x="648000" y="5724000"/>
            <a:ext cx="6264000" cy="432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1000" dirty="0"/>
          </a:p>
          <a:p>
            <a:pPr indent="0" marL="0">
              <a:buNone/>
            </a:pPr>
            <a:r>
              <a:rPr lang="en-US" sz="10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Shape 4"/>
          <p:cNvSpPr/>
          <p:nvPr/>
        </p:nvSpPr>
        <p:spPr>
          <a:xfrm>
            <a:off x="540000" y="1332000"/>
            <a:ext cx="3744000" cy="324000"/>
          </a:xfrm>
          <a:prstGeom prst="rect">
            <a:avLst/>
          </a:prstGeom>
          <a:solidFill>
            <a:srgbClr val="0A2B6B"/>
          </a:solidFill>
          <a:ln w="6985">
            <a:solidFill>
              <a:srgbClr val="202020"/>
            </a:solidFill>
            <a:prstDash val="solid"/>
          </a:ln>
        </p:spPr>
      </p:sp>
      <p:sp>
        <p:nvSpPr>
          <p:cNvPr id="8" name="Text 5"/>
          <p:cNvSpPr/>
          <p:nvPr/>
        </p:nvSpPr>
        <p:spPr>
          <a:xfrm>
            <a:off x="601200" y="1371600"/>
            <a:ext cx="3621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Travaux énergétiques</a:t>
            </a:r>
            <a:endParaRPr lang="en-US" sz="1000" dirty="0"/>
          </a:p>
        </p:txBody>
      </p:sp>
      <p:sp>
        <p:nvSpPr>
          <p:cNvPr id="9" name="Shape 6"/>
          <p:cNvSpPr/>
          <p:nvPr/>
        </p:nvSpPr>
        <p:spPr>
          <a:xfrm>
            <a:off x="4284000" y="1332000"/>
            <a:ext cx="900000" cy="324000"/>
          </a:xfrm>
          <a:prstGeom prst="rect">
            <a:avLst/>
          </a:prstGeom>
          <a:solidFill>
            <a:srgbClr val="0A2B6B"/>
          </a:solidFill>
          <a:ln w="6985">
            <a:solidFill>
              <a:srgbClr val="202020"/>
            </a:solidFill>
            <a:prstDash val="solid"/>
          </a:ln>
        </p:spPr>
      </p:sp>
      <p:sp>
        <p:nvSpPr>
          <p:cNvPr id="10" name="Text 7"/>
          <p:cNvSpPr/>
          <p:nvPr/>
        </p:nvSpPr>
        <p:spPr>
          <a:xfrm>
            <a:off x="4345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1</a:t>
            </a:r>
            <a:endParaRPr lang="en-US" sz="1000" dirty="0"/>
          </a:p>
        </p:txBody>
      </p:sp>
      <p:sp>
        <p:nvSpPr>
          <p:cNvPr id="11" name="Shape 8"/>
          <p:cNvSpPr/>
          <p:nvPr/>
        </p:nvSpPr>
        <p:spPr>
          <a:xfrm>
            <a:off x="5184000" y="1332000"/>
            <a:ext cx="936000" cy="324000"/>
          </a:xfrm>
          <a:prstGeom prst="rect">
            <a:avLst/>
          </a:prstGeom>
          <a:solidFill>
            <a:srgbClr val="0A2B6B"/>
          </a:solidFill>
          <a:ln w="6985">
            <a:solidFill>
              <a:srgbClr val="202020"/>
            </a:solidFill>
            <a:prstDash val="solid"/>
          </a:ln>
        </p:spPr>
      </p:sp>
      <p:sp>
        <p:nvSpPr>
          <p:cNvPr id="12" name="Text 9"/>
          <p:cNvSpPr/>
          <p:nvPr/>
        </p:nvSpPr>
        <p:spPr>
          <a:xfrm>
            <a:off x="5245200" y="1371600"/>
            <a:ext cx="813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2</a:t>
            </a:r>
            <a:endParaRPr lang="en-US" sz="1000" dirty="0"/>
          </a:p>
        </p:txBody>
      </p:sp>
      <p:sp>
        <p:nvSpPr>
          <p:cNvPr id="13" name="Shape 10"/>
          <p:cNvSpPr/>
          <p:nvPr/>
        </p:nvSpPr>
        <p:spPr>
          <a:xfrm>
            <a:off x="6120000" y="1332000"/>
            <a:ext cx="900000" cy="324000"/>
          </a:xfrm>
          <a:prstGeom prst="rect">
            <a:avLst/>
          </a:prstGeom>
          <a:solidFill>
            <a:srgbClr val="0A2B6B"/>
          </a:solidFill>
          <a:ln w="6985">
            <a:solidFill>
              <a:srgbClr val="202020"/>
            </a:solidFill>
            <a:prstDash val="solid"/>
          </a:ln>
        </p:spPr>
      </p:sp>
      <p:sp>
        <p:nvSpPr>
          <p:cNvPr id="14" name="Text 11"/>
          <p:cNvSpPr/>
          <p:nvPr/>
        </p:nvSpPr>
        <p:spPr>
          <a:xfrm>
            <a:off x="6181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3</a:t>
            </a:r>
            <a:endParaRPr lang="en-US" sz="1000" dirty="0"/>
          </a:p>
        </p:txBody>
      </p:sp>
      <p:sp>
        <p:nvSpPr>
          <p:cNvPr id="15" name="Shape 12"/>
          <p:cNvSpPr/>
          <p:nvPr/>
        </p:nvSpPr>
        <p:spPr>
          <a:xfrm>
            <a:off x="540000" y="1656000"/>
            <a:ext cx="3744000" cy="324000"/>
          </a:xfrm>
          <a:prstGeom prst="rect">
            <a:avLst/>
          </a:prstGeom>
          <a:solidFill>
            <a:srgbClr val="FFFFFF"/>
          </a:solidFill>
          <a:ln w="6985">
            <a:solidFill>
              <a:srgbClr val="202020"/>
            </a:solidFill>
            <a:prstDash val="solid"/>
          </a:ln>
        </p:spPr>
      </p:sp>
      <p:sp>
        <p:nvSpPr>
          <p:cNvPr id="16" name="Text 13"/>
          <p:cNvSpPr/>
          <p:nvPr/>
        </p:nvSpPr>
        <p:spPr>
          <a:xfrm>
            <a:off x="601200" y="169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17" name="Shape 14"/>
          <p:cNvSpPr/>
          <p:nvPr/>
        </p:nvSpPr>
        <p:spPr>
          <a:xfrm>
            <a:off x="4284000" y="1656000"/>
            <a:ext cx="900000" cy="324000"/>
          </a:xfrm>
          <a:prstGeom prst="rect">
            <a:avLst/>
          </a:prstGeom>
          <a:solidFill>
            <a:srgbClr val="FFFFFF"/>
          </a:solidFill>
          <a:ln w="6985">
            <a:solidFill>
              <a:srgbClr val="202020"/>
            </a:solidFill>
            <a:prstDash val="solid"/>
          </a:ln>
        </p:spPr>
      </p:sp>
      <p:sp>
        <p:nvSpPr>
          <p:cNvPr id="18" name="Text 15"/>
          <p:cNvSpPr/>
          <p:nvPr/>
        </p:nvSpPr>
        <p:spPr>
          <a:xfrm>
            <a:off x="4345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19" name="Shape 16"/>
          <p:cNvSpPr/>
          <p:nvPr/>
        </p:nvSpPr>
        <p:spPr>
          <a:xfrm>
            <a:off x="5184000" y="1656000"/>
            <a:ext cx="936000" cy="324000"/>
          </a:xfrm>
          <a:prstGeom prst="rect">
            <a:avLst/>
          </a:prstGeom>
          <a:solidFill>
            <a:srgbClr val="FFFFFF"/>
          </a:solidFill>
          <a:ln w="6985">
            <a:solidFill>
              <a:srgbClr val="202020"/>
            </a:solidFill>
            <a:prstDash val="solid"/>
          </a:ln>
        </p:spPr>
      </p:sp>
      <p:sp>
        <p:nvSpPr>
          <p:cNvPr id="20" name="Text 17"/>
          <p:cNvSpPr/>
          <p:nvPr/>
        </p:nvSpPr>
        <p:spPr>
          <a:xfrm>
            <a:off x="5245200" y="1695600"/>
            <a:ext cx="813600" cy="244800"/>
          </a:xfrm>
          <a:prstGeom prst="rect">
            <a:avLst/>
          </a:prstGeom>
          <a:noFill/>
          <a:ln/>
        </p:spPr>
        <p:txBody>
          <a:bodyPr wrap="square" lIns="0" tIns="0" rIns="0" bIns="0" rtlCol="0" anchor="ctr"/>
          <a:lstStyle/>
          <a:p>
            <a:pPr algn="l" indent="0" marL="0">
              <a:buNone/>
            </a:pPr>
            <a:endParaRPr lang="en-US" sz="1000" dirty="0"/>
          </a:p>
        </p:txBody>
      </p:sp>
      <p:sp>
        <p:nvSpPr>
          <p:cNvPr id="21" name="Shape 18"/>
          <p:cNvSpPr/>
          <p:nvPr/>
        </p:nvSpPr>
        <p:spPr>
          <a:xfrm>
            <a:off x="6120000" y="1656000"/>
            <a:ext cx="900000" cy="324000"/>
          </a:xfrm>
          <a:prstGeom prst="rect">
            <a:avLst/>
          </a:prstGeom>
          <a:solidFill>
            <a:srgbClr val="FFFFFF"/>
          </a:solidFill>
          <a:ln w="6985">
            <a:solidFill>
              <a:srgbClr val="202020"/>
            </a:solidFill>
            <a:prstDash val="solid"/>
          </a:ln>
        </p:spPr>
      </p:sp>
      <p:sp>
        <p:nvSpPr>
          <p:cNvPr id="22" name="Text 19"/>
          <p:cNvSpPr/>
          <p:nvPr/>
        </p:nvSpPr>
        <p:spPr>
          <a:xfrm>
            <a:off x="6181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23" name="Shape 20"/>
          <p:cNvSpPr/>
          <p:nvPr/>
        </p:nvSpPr>
        <p:spPr>
          <a:xfrm>
            <a:off x="540000" y="1980000"/>
            <a:ext cx="3744000" cy="324000"/>
          </a:xfrm>
          <a:prstGeom prst="rect">
            <a:avLst/>
          </a:prstGeom>
          <a:solidFill>
            <a:srgbClr val="FFFFFF"/>
          </a:solidFill>
          <a:ln w="6985">
            <a:solidFill>
              <a:srgbClr val="202020"/>
            </a:solidFill>
            <a:prstDash val="solid"/>
          </a:ln>
        </p:spPr>
      </p:sp>
      <p:sp>
        <p:nvSpPr>
          <p:cNvPr id="24" name="Text 21"/>
          <p:cNvSpPr/>
          <p:nvPr/>
        </p:nvSpPr>
        <p:spPr>
          <a:xfrm>
            <a:off x="601200" y="201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25" name="Shape 22"/>
          <p:cNvSpPr/>
          <p:nvPr/>
        </p:nvSpPr>
        <p:spPr>
          <a:xfrm>
            <a:off x="4284000" y="1980000"/>
            <a:ext cx="900000" cy="324000"/>
          </a:xfrm>
          <a:prstGeom prst="rect">
            <a:avLst/>
          </a:prstGeom>
          <a:solidFill>
            <a:srgbClr val="FFFFFF"/>
          </a:solidFill>
          <a:ln w="6985">
            <a:solidFill>
              <a:srgbClr val="202020"/>
            </a:solidFill>
            <a:prstDash val="solid"/>
          </a:ln>
        </p:spPr>
      </p:sp>
      <p:sp>
        <p:nvSpPr>
          <p:cNvPr id="26" name="Text 23"/>
          <p:cNvSpPr/>
          <p:nvPr/>
        </p:nvSpPr>
        <p:spPr>
          <a:xfrm>
            <a:off x="4345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5184000" y="1980000"/>
            <a:ext cx="936000" cy="324000"/>
          </a:xfrm>
          <a:prstGeom prst="rect">
            <a:avLst/>
          </a:prstGeom>
          <a:solidFill>
            <a:srgbClr val="FFFFFF"/>
          </a:solidFill>
          <a:ln w="6985">
            <a:solidFill>
              <a:srgbClr val="202020"/>
            </a:solidFill>
            <a:prstDash val="solid"/>
          </a:ln>
        </p:spPr>
      </p:sp>
      <p:sp>
        <p:nvSpPr>
          <p:cNvPr id="28" name="Text 25"/>
          <p:cNvSpPr/>
          <p:nvPr/>
        </p:nvSpPr>
        <p:spPr>
          <a:xfrm>
            <a:off x="5245200" y="2019600"/>
            <a:ext cx="813600" cy="244800"/>
          </a:xfrm>
          <a:prstGeom prst="rect">
            <a:avLst/>
          </a:prstGeom>
          <a:noFill/>
          <a:ln/>
        </p:spPr>
        <p:txBody>
          <a:bodyPr wrap="square" lIns="0" tIns="0" rIns="0" bIns="0" rtlCol="0" anchor="ctr"/>
          <a:lstStyle/>
          <a:p>
            <a:pPr algn="l" indent="0" marL="0">
              <a:buNone/>
            </a:pPr>
            <a:endParaRPr lang="en-US" sz="1000" dirty="0"/>
          </a:p>
        </p:txBody>
      </p:sp>
      <p:sp>
        <p:nvSpPr>
          <p:cNvPr id="29" name="Shape 26"/>
          <p:cNvSpPr/>
          <p:nvPr/>
        </p:nvSpPr>
        <p:spPr>
          <a:xfrm>
            <a:off x="6120000" y="1980000"/>
            <a:ext cx="900000" cy="324000"/>
          </a:xfrm>
          <a:prstGeom prst="rect">
            <a:avLst/>
          </a:prstGeom>
          <a:solidFill>
            <a:srgbClr val="FFFFFF"/>
          </a:solidFill>
          <a:ln w="6985">
            <a:solidFill>
              <a:srgbClr val="202020"/>
            </a:solidFill>
            <a:prstDash val="solid"/>
          </a:ln>
        </p:spPr>
      </p:sp>
      <p:sp>
        <p:nvSpPr>
          <p:cNvPr id="30" name="Text 27"/>
          <p:cNvSpPr/>
          <p:nvPr/>
        </p:nvSpPr>
        <p:spPr>
          <a:xfrm>
            <a:off x="6181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31" name="Shape 28"/>
          <p:cNvSpPr/>
          <p:nvPr/>
        </p:nvSpPr>
        <p:spPr>
          <a:xfrm>
            <a:off x="540000" y="2304000"/>
            <a:ext cx="3744000" cy="324000"/>
          </a:xfrm>
          <a:prstGeom prst="rect">
            <a:avLst/>
          </a:prstGeom>
          <a:solidFill>
            <a:srgbClr val="FFFFFF"/>
          </a:solidFill>
          <a:ln w="6985">
            <a:solidFill>
              <a:srgbClr val="202020"/>
            </a:solidFill>
            <a:prstDash val="solid"/>
          </a:ln>
        </p:spPr>
      </p:sp>
      <p:sp>
        <p:nvSpPr>
          <p:cNvPr id="32" name="Text 29"/>
          <p:cNvSpPr/>
          <p:nvPr/>
        </p:nvSpPr>
        <p:spPr>
          <a:xfrm>
            <a:off x="601200" y="2343600"/>
            <a:ext cx="3621600" cy="244800"/>
          </a:xfrm>
          <a:prstGeom prst="rect">
            <a:avLst/>
          </a:prstGeom>
          <a:noFill/>
          <a:ln/>
        </p:spPr>
        <p:txBody>
          <a:bodyPr wrap="square" lIns="0" tIns="0" rIns="0" bIns="0" rtlCol="0" anchor="ctr"/>
          <a:lstStyle/>
          <a:p>
            <a:pPr algn="l" indent="0" marL="0">
              <a:buNone/>
            </a:pPr>
            <a:endParaRPr lang="en-US" sz="1000" dirty="0"/>
          </a:p>
        </p:txBody>
      </p:sp>
      <p:sp>
        <p:nvSpPr>
          <p:cNvPr id="33" name="Shape 30"/>
          <p:cNvSpPr/>
          <p:nvPr/>
        </p:nvSpPr>
        <p:spPr>
          <a:xfrm>
            <a:off x="4284000" y="2304000"/>
            <a:ext cx="900000" cy="324000"/>
          </a:xfrm>
          <a:prstGeom prst="rect">
            <a:avLst/>
          </a:prstGeom>
          <a:solidFill>
            <a:srgbClr val="FFFFFF"/>
          </a:solidFill>
          <a:ln w="6985">
            <a:solidFill>
              <a:srgbClr val="202020"/>
            </a:solidFill>
            <a:prstDash val="solid"/>
          </a:ln>
        </p:spPr>
      </p:sp>
      <p:sp>
        <p:nvSpPr>
          <p:cNvPr id="34" name="Text 31"/>
          <p:cNvSpPr/>
          <p:nvPr/>
        </p:nvSpPr>
        <p:spPr>
          <a:xfrm>
            <a:off x="4345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5" name="Shape 32"/>
          <p:cNvSpPr/>
          <p:nvPr/>
        </p:nvSpPr>
        <p:spPr>
          <a:xfrm>
            <a:off x="5184000" y="2304000"/>
            <a:ext cx="936000" cy="324000"/>
          </a:xfrm>
          <a:prstGeom prst="rect">
            <a:avLst/>
          </a:prstGeom>
          <a:solidFill>
            <a:srgbClr val="FFFFFF"/>
          </a:solidFill>
          <a:ln w="6985">
            <a:solidFill>
              <a:srgbClr val="202020"/>
            </a:solidFill>
            <a:prstDash val="solid"/>
          </a:ln>
        </p:spPr>
      </p:sp>
      <p:sp>
        <p:nvSpPr>
          <p:cNvPr id="36" name="Text 33"/>
          <p:cNvSpPr/>
          <p:nvPr/>
        </p:nvSpPr>
        <p:spPr>
          <a:xfrm>
            <a:off x="5245200" y="2343600"/>
            <a:ext cx="813600" cy="244800"/>
          </a:xfrm>
          <a:prstGeom prst="rect">
            <a:avLst/>
          </a:prstGeom>
          <a:noFill/>
          <a:ln/>
        </p:spPr>
        <p:txBody>
          <a:bodyPr wrap="square" lIns="0" tIns="0" rIns="0" bIns="0" rtlCol="0" anchor="ctr"/>
          <a:lstStyle/>
          <a:p>
            <a:pPr algn="l" indent="0" marL="0">
              <a:buNone/>
            </a:pPr>
            <a:endParaRPr lang="en-US" sz="1000" dirty="0"/>
          </a:p>
        </p:txBody>
      </p:sp>
      <p:sp>
        <p:nvSpPr>
          <p:cNvPr id="37" name="Shape 34"/>
          <p:cNvSpPr/>
          <p:nvPr/>
        </p:nvSpPr>
        <p:spPr>
          <a:xfrm>
            <a:off x="6120000" y="2304000"/>
            <a:ext cx="900000" cy="324000"/>
          </a:xfrm>
          <a:prstGeom prst="rect">
            <a:avLst/>
          </a:prstGeom>
          <a:solidFill>
            <a:srgbClr val="FFFFFF"/>
          </a:solidFill>
          <a:ln w="6985">
            <a:solidFill>
              <a:srgbClr val="202020"/>
            </a:solidFill>
            <a:prstDash val="solid"/>
          </a:ln>
        </p:spPr>
      </p:sp>
      <p:sp>
        <p:nvSpPr>
          <p:cNvPr id="38" name="Text 35"/>
          <p:cNvSpPr/>
          <p:nvPr/>
        </p:nvSpPr>
        <p:spPr>
          <a:xfrm>
            <a:off x="6181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2628000"/>
            <a:ext cx="3744000" cy="324000"/>
          </a:xfrm>
          <a:prstGeom prst="rect">
            <a:avLst/>
          </a:prstGeom>
          <a:solidFill>
            <a:srgbClr val="FFFFFF"/>
          </a:solidFill>
          <a:ln w="6985">
            <a:solidFill>
              <a:srgbClr val="202020"/>
            </a:solidFill>
            <a:prstDash val="solid"/>
          </a:ln>
        </p:spPr>
      </p:sp>
      <p:sp>
        <p:nvSpPr>
          <p:cNvPr id="40" name="Text 37"/>
          <p:cNvSpPr/>
          <p:nvPr/>
        </p:nvSpPr>
        <p:spPr>
          <a:xfrm>
            <a:off x="601200" y="2667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1" name="Shape 38"/>
          <p:cNvSpPr/>
          <p:nvPr/>
        </p:nvSpPr>
        <p:spPr>
          <a:xfrm>
            <a:off x="4284000" y="2628000"/>
            <a:ext cx="900000" cy="324000"/>
          </a:xfrm>
          <a:prstGeom prst="rect">
            <a:avLst/>
          </a:prstGeom>
          <a:solidFill>
            <a:srgbClr val="FFFFFF"/>
          </a:solidFill>
          <a:ln w="6985">
            <a:solidFill>
              <a:srgbClr val="202020"/>
            </a:solidFill>
            <a:prstDash val="solid"/>
          </a:ln>
        </p:spPr>
      </p:sp>
      <p:sp>
        <p:nvSpPr>
          <p:cNvPr id="42" name="Text 39"/>
          <p:cNvSpPr/>
          <p:nvPr/>
        </p:nvSpPr>
        <p:spPr>
          <a:xfrm>
            <a:off x="4345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3" name="Shape 40"/>
          <p:cNvSpPr/>
          <p:nvPr/>
        </p:nvSpPr>
        <p:spPr>
          <a:xfrm>
            <a:off x="5184000" y="2628000"/>
            <a:ext cx="936000" cy="324000"/>
          </a:xfrm>
          <a:prstGeom prst="rect">
            <a:avLst/>
          </a:prstGeom>
          <a:solidFill>
            <a:srgbClr val="FFFFFF"/>
          </a:solidFill>
          <a:ln w="6985">
            <a:solidFill>
              <a:srgbClr val="202020"/>
            </a:solidFill>
            <a:prstDash val="solid"/>
          </a:ln>
        </p:spPr>
      </p:sp>
      <p:sp>
        <p:nvSpPr>
          <p:cNvPr id="44" name="Text 41"/>
          <p:cNvSpPr/>
          <p:nvPr/>
        </p:nvSpPr>
        <p:spPr>
          <a:xfrm>
            <a:off x="5245200" y="2667600"/>
            <a:ext cx="813600" cy="244800"/>
          </a:xfrm>
          <a:prstGeom prst="rect">
            <a:avLst/>
          </a:prstGeom>
          <a:noFill/>
          <a:ln/>
        </p:spPr>
        <p:txBody>
          <a:bodyPr wrap="square" lIns="0" tIns="0" rIns="0" bIns="0" rtlCol="0" anchor="ctr"/>
          <a:lstStyle/>
          <a:p>
            <a:pPr algn="l" indent="0" marL="0">
              <a:buNone/>
            </a:pPr>
            <a:endParaRPr lang="en-US" sz="1000" dirty="0"/>
          </a:p>
        </p:txBody>
      </p:sp>
      <p:sp>
        <p:nvSpPr>
          <p:cNvPr id="45" name="Shape 42"/>
          <p:cNvSpPr/>
          <p:nvPr/>
        </p:nvSpPr>
        <p:spPr>
          <a:xfrm>
            <a:off x="6120000" y="2628000"/>
            <a:ext cx="900000" cy="324000"/>
          </a:xfrm>
          <a:prstGeom prst="rect">
            <a:avLst/>
          </a:prstGeom>
          <a:solidFill>
            <a:srgbClr val="FFFFFF"/>
          </a:solidFill>
          <a:ln w="6985">
            <a:solidFill>
              <a:srgbClr val="202020"/>
            </a:solidFill>
            <a:prstDash val="solid"/>
          </a:ln>
        </p:spPr>
      </p:sp>
      <p:sp>
        <p:nvSpPr>
          <p:cNvPr id="46" name="Text 43"/>
          <p:cNvSpPr/>
          <p:nvPr/>
        </p:nvSpPr>
        <p:spPr>
          <a:xfrm>
            <a:off x="6181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7" name="Shape 44"/>
          <p:cNvSpPr/>
          <p:nvPr/>
        </p:nvSpPr>
        <p:spPr>
          <a:xfrm>
            <a:off x="540000" y="2952000"/>
            <a:ext cx="3744000" cy="324000"/>
          </a:xfrm>
          <a:prstGeom prst="rect">
            <a:avLst/>
          </a:prstGeom>
          <a:solidFill>
            <a:srgbClr val="FFFFFF"/>
          </a:solidFill>
          <a:ln w="6985">
            <a:solidFill>
              <a:srgbClr val="202020"/>
            </a:solidFill>
            <a:prstDash val="solid"/>
          </a:ln>
        </p:spPr>
      </p:sp>
      <p:sp>
        <p:nvSpPr>
          <p:cNvPr id="48" name="Text 45"/>
          <p:cNvSpPr/>
          <p:nvPr/>
        </p:nvSpPr>
        <p:spPr>
          <a:xfrm>
            <a:off x="601200" y="2991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9" name="Shape 46"/>
          <p:cNvSpPr/>
          <p:nvPr/>
        </p:nvSpPr>
        <p:spPr>
          <a:xfrm>
            <a:off x="4284000" y="2952000"/>
            <a:ext cx="900000" cy="324000"/>
          </a:xfrm>
          <a:prstGeom prst="rect">
            <a:avLst/>
          </a:prstGeom>
          <a:solidFill>
            <a:srgbClr val="FFFFFF"/>
          </a:solidFill>
          <a:ln w="6985">
            <a:solidFill>
              <a:srgbClr val="202020"/>
            </a:solidFill>
            <a:prstDash val="solid"/>
          </a:ln>
        </p:spPr>
      </p:sp>
      <p:sp>
        <p:nvSpPr>
          <p:cNvPr id="50" name="Text 47"/>
          <p:cNvSpPr/>
          <p:nvPr/>
        </p:nvSpPr>
        <p:spPr>
          <a:xfrm>
            <a:off x="4345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1" name="Shape 48"/>
          <p:cNvSpPr/>
          <p:nvPr/>
        </p:nvSpPr>
        <p:spPr>
          <a:xfrm>
            <a:off x="5184000" y="2952000"/>
            <a:ext cx="936000" cy="324000"/>
          </a:xfrm>
          <a:prstGeom prst="rect">
            <a:avLst/>
          </a:prstGeom>
          <a:solidFill>
            <a:srgbClr val="FFFFFF"/>
          </a:solidFill>
          <a:ln w="6985">
            <a:solidFill>
              <a:srgbClr val="202020"/>
            </a:solidFill>
            <a:prstDash val="solid"/>
          </a:ln>
        </p:spPr>
      </p:sp>
      <p:sp>
        <p:nvSpPr>
          <p:cNvPr id="52" name="Text 49"/>
          <p:cNvSpPr/>
          <p:nvPr/>
        </p:nvSpPr>
        <p:spPr>
          <a:xfrm>
            <a:off x="5245200" y="2991600"/>
            <a:ext cx="813600" cy="244800"/>
          </a:xfrm>
          <a:prstGeom prst="rect">
            <a:avLst/>
          </a:prstGeom>
          <a:noFill/>
          <a:ln/>
        </p:spPr>
        <p:txBody>
          <a:bodyPr wrap="square" lIns="0" tIns="0" rIns="0" bIns="0" rtlCol="0" anchor="ctr"/>
          <a:lstStyle/>
          <a:p>
            <a:pPr algn="l" indent="0" marL="0">
              <a:buNone/>
            </a:pPr>
            <a:endParaRPr lang="en-US" sz="1000" dirty="0"/>
          </a:p>
        </p:txBody>
      </p:sp>
      <p:sp>
        <p:nvSpPr>
          <p:cNvPr id="53" name="Shape 50"/>
          <p:cNvSpPr/>
          <p:nvPr/>
        </p:nvSpPr>
        <p:spPr>
          <a:xfrm>
            <a:off x="6120000" y="2952000"/>
            <a:ext cx="900000" cy="324000"/>
          </a:xfrm>
          <a:prstGeom prst="rect">
            <a:avLst/>
          </a:prstGeom>
          <a:solidFill>
            <a:srgbClr val="FFFFFF"/>
          </a:solidFill>
          <a:ln w="6985">
            <a:solidFill>
              <a:srgbClr val="202020"/>
            </a:solidFill>
            <a:prstDash val="solid"/>
          </a:ln>
        </p:spPr>
      </p:sp>
      <p:sp>
        <p:nvSpPr>
          <p:cNvPr id="54" name="Text 51"/>
          <p:cNvSpPr/>
          <p:nvPr/>
        </p:nvSpPr>
        <p:spPr>
          <a:xfrm>
            <a:off x="6181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5" name="Shape 52"/>
          <p:cNvSpPr/>
          <p:nvPr/>
        </p:nvSpPr>
        <p:spPr>
          <a:xfrm>
            <a:off x="540000" y="3276000"/>
            <a:ext cx="3744000" cy="324000"/>
          </a:xfrm>
          <a:prstGeom prst="rect">
            <a:avLst/>
          </a:prstGeom>
          <a:solidFill>
            <a:srgbClr val="FFFFFF"/>
          </a:solidFill>
          <a:ln w="6985">
            <a:solidFill>
              <a:srgbClr val="202020"/>
            </a:solidFill>
            <a:prstDash val="solid"/>
          </a:ln>
        </p:spPr>
      </p:sp>
      <p:sp>
        <p:nvSpPr>
          <p:cNvPr id="56" name="Text 53"/>
          <p:cNvSpPr/>
          <p:nvPr/>
        </p:nvSpPr>
        <p:spPr>
          <a:xfrm>
            <a:off x="601200" y="331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57" name="Shape 54"/>
          <p:cNvSpPr/>
          <p:nvPr/>
        </p:nvSpPr>
        <p:spPr>
          <a:xfrm>
            <a:off x="4284000" y="3276000"/>
            <a:ext cx="900000" cy="324000"/>
          </a:xfrm>
          <a:prstGeom prst="rect">
            <a:avLst/>
          </a:prstGeom>
          <a:solidFill>
            <a:srgbClr val="FFFFFF"/>
          </a:solidFill>
          <a:ln w="6985">
            <a:solidFill>
              <a:srgbClr val="202020"/>
            </a:solidFill>
            <a:prstDash val="solid"/>
          </a:ln>
        </p:spPr>
      </p:sp>
      <p:sp>
        <p:nvSpPr>
          <p:cNvPr id="58" name="Text 55"/>
          <p:cNvSpPr/>
          <p:nvPr/>
        </p:nvSpPr>
        <p:spPr>
          <a:xfrm>
            <a:off x="4345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59" name="Shape 56"/>
          <p:cNvSpPr/>
          <p:nvPr/>
        </p:nvSpPr>
        <p:spPr>
          <a:xfrm>
            <a:off x="5184000" y="3276000"/>
            <a:ext cx="936000" cy="324000"/>
          </a:xfrm>
          <a:prstGeom prst="rect">
            <a:avLst/>
          </a:prstGeom>
          <a:solidFill>
            <a:srgbClr val="FFFFFF"/>
          </a:solidFill>
          <a:ln w="6985">
            <a:solidFill>
              <a:srgbClr val="202020"/>
            </a:solidFill>
            <a:prstDash val="solid"/>
          </a:ln>
        </p:spPr>
      </p:sp>
      <p:sp>
        <p:nvSpPr>
          <p:cNvPr id="60" name="Text 57"/>
          <p:cNvSpPr/>
          <p:nvPr/>
        </p:nvSpPr>
        <p:spPr>
          <a:xfrm>
            <a:off x="5245200" y="3315600"/>
            <a:ext cx="813600" cy="244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6120000" y="3276000"/>
            <a:ext cx="900000" cy="324000"/>
          </a:xfrm>
          <a:prstGeom prst="rect">
            <a:avLst/>
          </a:prstGeom>
          <a:solidFill>
            <a:srgbClr val="FFFFFF"/>
          </a:solidFill>
          <a:ln w="6985">
            <a:solidFill>
              <a:srgbClr val="202020"/>
            </a:solidFill>
            <a:prstDash val="solid"/>
          </a:ln>
        </p:spPr>
      </p:sp>
      <p:sp>
        <p:nvSpPr>
          <p:cNvPr id="62" name="Text 59"/>
          <p:cNvSpPr/>
          <p:nvPr/>
        </p:nvSpPr>
        <p:spPr>
          <a:xfrm>
            <a:off x="6181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540000" y="3600000"/>
            <a:ext cx="3744000" cy="324000"/>
          </a:xfrm>
          <a:prstGeom prst="rect">
            <a:avLst/>
          </a:prstGeom>
          <a:solidFill>
            <a:srgbClr val="FFFFFF"/>
          </a:solidFill>
          <a:ln w="6985">
            <a:solidFill>
              <a:srgbClr val="202020"/>
            </a:solidFill>
            <a:prstDash val="solid"/>
          </a:ln>
        </p:spPr>
      </p:sp>
      <p:sp>
        <p:nvSpPr>
          <p:cNvPr id="64" name="Text 61"/>
          <p:cNvSpPr/>
          <p:nvPr/>
        </p:nvSpPr>
        <p:spPr>
          <a:xfrm>
            <a:off x="601200" y="363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65" name="Shape 62"/>
          <p:cNvSpPr/>
          <p:nvPr/>
        </p:nvSpPr>
        <p:spPr>
          <a:xfrm>
            <a:off x="4284000" y="3600000"/>
            <a:ext cx="900000" cy="324000"/>
          </a:xfrm>
          <a:prstGeom prst="rect">
            <a:avLst/>
          </a:prstGeom>
          <a:solidFill>
            <a:srgbClr val="FFFFFF"/>
          </a:solidFill>
          <a:ln w="6985">
            <a:solidFill>
              <a:srgbClr val="202020"/>
            </a:solidFill>
            <a:prstDash val="solid"/>
          </a:ln>
        </p:spPr>
      </p:sp>
      <p:sp>
        <p:nvSpPr>
          <p:cNvPr id="66" name="Text 63"/>
          <p:cNvSpPr/>
          <p:nvPr/>
        </p:nvSpPr>
        <p:spPr>
          <a:xfrm>
            <a:off x="4345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67" name="Shape 64"/>
          <p:cNvSpPr/>
          <p:nvPr/>
        </p:nvSpPr>
        <p:spPr>
          <a:xfrm>
            <a:off x="5184000" y="3600000"/>
            <a:ext cx="936000" cy="324000"/>
          </a:xfrm>
          <a:prstGeom prst="rect">
            <a:avLst/>
          </a:prstGeom>
          <a:solidFill>
            <a:srgbClr val="FFFFFF"/>
          </a:solidFill>
          <a:ln w="6985">
            <a:solidFill>
              <a:srgbClr val="202020"/>
            </a:solidFill>
            <a:prstDash val="solid"/>
          </a:ln>
        </p:spPr>
      </p:sp>
      <p:sp>
        <p:nvSpPr>
          <p:cNvPr id="68" name="Text 65"/>
          <p:cNvSpPr/>
          <p:nvPr/>
        </p:nvSpPr>
        <p:spPr>
          <a:xfrm>
            <a:off x="5245200" y="3639600"/>
            <a:ext cx="813600" cy="244800"/>
          </a:xfrm>
          <a:prstGeom prst="rect">
            <a:avLst/>
          </a:prstGeom>
          <a:noFill/>
          <a:ln/>
        </p:spPr>
        <p:txBody>
          <a:bodyPr wrap="square" lIns="0" tIns="0" rIns="0" bIns="0" rtlCol="0" anchor="ctr"/>
          <a:lstStyle/>
          <a:p>
            <a:pPr algn="l" indent="0" marL="0">
              <a:buNone/>
            </a:pPr>
            <a:endParaRPr lang="en-US" sz="1000" dirty="0"/>
          </a:p>
        </p:txBody>
      </p:sp>
      <p:sp>
        <p:nvSpPr>
          <p:cNvPr id="69" name="Shape 66"/>
          <p:cNvSpPr/>
          <p:nvPr/>
        </p:nvSpPr>
        <p:spPr>
          <a:xfrm>
            <a:off x="6120000" y="3600000"/>
            <a:ext cx="900000" cy="324000"/>
          </a:xfrm>
          <a:prstGeom prst="rect">
            <a:avLst/>
          </a:prstGeom>
          <a:solidFill>
            <a:srgbClr val="FFFFFF"/>
          </a:solidFill>
          <a:ln w="6985">
            <a:solidFill>
              <a:srgbClr val="202020"/>
            </a:solidFill>
            <a:prstDash val="solid"/>
          </a:ln>
        </p:spPr>
      </p:sp>
      <p:sp>
        <p:nvSpPr>
          <p:cNvPr id="70" name="Text 67"/>
          <p:cNvSpPr/>
          <p:nvPr/>
        </p:nvSpPr>
        <p:spPr>
          <a:xfrm>
            <a:off x="6181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3402000" y="4284000"/>
            <a:ext cx="900000" cy="324000"/>
          </a:xfrm>
          <a:prstGeom prst="rect">
            <a:avLst/>
          </a:prstGeom>
          <a:solidFill>
            <a:srgbClr val="0A2B6B"/>
          </a:solidFill>
          <a:ln w="6985">
            <a:solidFill>
              <a:srgbClr val="202020"/>
            </a:solidFill>
            <a:prstDash val="solid"/>
          </a:ln>
        </p:spPr>
      </p:sp>
      <p:sp>
        <p:nvSpPr>
          <p:cNvPr id="72" name="Text 69"/>
          <p:cNvSpPr/>
          <p:nvPr/>
        </p:nvSpPr>
        <p:spPr>
          <a:xfrm>
            <a:off x="34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État initial</a:t>
            </a:r>
            <a:endParaRPr lang="en-US" sz="950" dirty="0"/>
          </a:p>
        </p:txBody>
      </p:sp>
      <p:sp>
        <p:nvSpPr>
          <p:cNvPr id="73" name="Shape 70"/>
          <p:cNvSpPr/>
          <p:nvPr/>
        </p:nvSpPr>
        <p:spPr>
          <a:xfrm>
            <a:off x="4302000" y="4284000"/>
            <a:ext cx="900000" cy="324000"/>
          </a:xfrm>
          <a:prstGeom prst="rect">
            <a:avLst/>
          </a:prstGeom>
          <a:solidFill>
            <a:srgbClr val="0A2B6B"/>
          </a:solidFill>
          <a:ln w="6985">
            <a:solidFill>
              <a:srgbClr val="202020"/>
            </a:solidFill>
            <a:prstDash val="solid"/>
          </a:ln>
        </p:spPr>
      </p:sp>
      <p:sp>
        <p:nvSpPr>
          <p:cNvPr id="74" name="Text 71"/>
          <p:cNvSpPr/>
          <p:nvPr/>
        </p:nvSpPr>
        <p:spPr>
          <a:xfrm>
            <a:off x="43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1</a:t>
            </a:r>
            <a:endParaRPr lang="en-US" sz="950" dirty="0"/>
          </a:p>
        </p:txBody>
      </p:sp>
      <p:sp>
        <p:nvSpPr>
          <p:cNvPr id="75" name="Shape 72"/>
          <p:cNvSpPr/>
          <p:nvPr/>
        </p:nvSpPr>
        <p:spPr>
          <a:xfrm>
            <a:off x="5202000" y="4284000"/>
            <a:ext cx="900000" cy="324000"/>
          </a:xfrm>
          <a:prstGeom prst="rect">
            <a:avLst/>
          </a:prstGeom>
          <a:solidFill>
            <a:srgbClr val="0A2B6B"/>
          </a:solidFill>
          <a:ln w="6985">
            <a:solidFill>
              <a:srgbClr val="202020"/>
            </a:solidFill>
            <a:prstDash val="solid"/>
          </a:ln>
        </p:spPr>
      </p:sp>
      <p:sp>
        <p:nvSpPr>
          <p:cNvPr id="76" name="Text 73"/>
          <p:cNvSpPr/>
          <p:nvPr/>
        </p:nvSpPr>
        <p:spPr>
          <a:xfrm>
            <a:off x="52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2</a:t>
            </a:r>
            <a:endParaRPr lang="en-US" sz="950" dirty="0"/>
          </a:p>
        </p:txBody>
      </p:sp>
      <p:sp>
        <p:nvSpPr>
          <p:cNvPr id="77" name="Shape 74"/>
          <p:cNvSpPr/>
          <p:nvPr/>
        </p:nvSpPr>
        <p:spPr>
          <a:xfrm>
            <a:off x="6102000" y="4284000"/>
            <a:ext cx="918000" cy="324000"/>
          </a:xfrm>
          <a:prstGeom prst="rect">
            <a:avLst/>
          </a:prstGeom>
          <a:solidFill>
            <a:srgbClr val="0A2B6B"/>
          </a:solidFill>
          <a:ln w="6985">
            <a:solidFill>
              <a:srgbClr val="202020"/>
            </a:solidFill>
            <a:prstDash val="solid"/>
          </a:ln>
        </p:spPr>
      </p:sp>
      <p:sp>
        <p:nvSpPr>
          <p:cNvPr id="78" name="Text 75"/>
          <p:cNvSpPr/>
          <p:nvPr/>
        </p:nvSpPr>
        <p:spPr>
          <a:xfrm>
            <a:off x="6163200" y="4323600"/>
            <a:ext cx="795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3</a:t>
            </a:r>
            <a:endParaRPr lang="en-US" sz="950" dirty="0"/>
          </a:p>
        </p:txBody>
      </p:sp>
      <p:sp>
        <p:nvSpPr>
          <p:cNvPr id="79" name="Shape 76"/>
          <p:cNvSpPr/>
          <p:nvPr/>
        </p:nvSpPr>
        <p:spPr>
          <a:xfrm>
            <a:off x="540000" y="4608000"/>
            <a:ext cx="2862000" cy="360000"/>
          </a:xfrm>
          <a:prstGeom prst="rect">
            <a:avLst/>
          </a:prstGeom>
          <a:solidFill>
            <a:srgbClr val="0A2B6B"/>
          </a:solidFill>
          <a:ln w="6985">
            <a:solidFill>
              <a:srgbClr val="202020"/>
            </a:solidFill>
            <a:prstDash val="solid"/>
          </a:ln>
        </p:spPr>
      </p:sp>
      <p:sp>
        <p:nvSpPr>
          <p:cNvPr id="80" name="Text 77"/>
          <p:cNvSpPr/>
          <p:nvPr/>
        </p:nvSpPr>
        <p:spPr>
          <a:xfrm>
            <a:off x="601200" y="464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Étiquette énergétique</a:t>
            </a:r>
            <a:endParaRPr lang="en-US" sz="950" dirty="0"/>
          </a:p>
        </p:txBody>
      </p:sp>
      <p:sp>
        <p:nvSpPr>
          <p:cNvPr id="81" name="Shape 78"/>
          <p:cNvSpPr/>
          <p:nvPr/>
        </p:nvSpPr>
        <p:spPr>
          <a:xfrm>
            <a:off x="3402000" y="4608000"/>
            <a:ext cx="900000" cy="360000"/>
          </a:xfrm>
          <a:prstGeom prst="rect">
            <a:avLst/>
          </a:prstGeom>
          <a:solidFill>
            <a:srgbClr val="FFFFFF"/>
          </a:solidFill>
          <a:ln w="6985">
            <a:solidFill>
              <a:srgbClr val="202020"/>
            </a:solidFill>
            <a:prstDash val="solid"/>
          </a:ln>
        </p:spPr>
      </p:sp>
      <p:sp>
        <p:nvSpPr>
          <p:cNvPr id="82" name="Text 79"/>
          <p:cNvSpPr/>
          <p:nvPr/>
        </p:nvSpPr>
        <p:spPr>
          <a:xfrm>
            <a:off x="34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3" name="Shape 80"/>
          <p:cNvSpPr/>
          <p:nvPr/>
        </p:nvSpPr>
        <p:spPr>
          <a:xfrm>
            <a:off x="4302000" y="4608000"/>
            <a:ext cx="900000" cy="360000"/>
          </a:xfrm>
          <a:prstGeom prst="rect">
            <a:avLst/>
          </a:prstGeom>
          <a:solidFill>
            <a:srgbClr val="FFFFFF"/>
          </a:solidFill>
          <a:ln w="6985">
            <a:solidFill>
              <a:srgbClr val="202020"/>
            </a:solidFill>
            <a:prstDash val="solid"/>
          </a:ln>
        </p:spPr>
      </p:sp>
      <p:sp>
        <p:nvSpPr>
          <p:cNvPr id="84" name="Text 81"/>
          <p:cNvSpPr/>
          <p:nvPr/>
        </p:nvSpPr>
        <p:spPr>
          <a:xfrm>
            <a:off x="43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5" name="Shape 82"/>
          <p:cNvSpPr/>
          <p:nvPr/>
        </p:nvSpPr>
        <p:spPr>
          <a:xfrm>
            <a:off x="5202000" y="4608000"/>
            <a:ext cx="900000" cy="360000"/>
          </a:xfrm>
          <a:prstGeom prst="rect">
            <a:avLst/>
          </a:prstGeom>
          <a:solidFill>
            <a:srgbClr val="FFFFFF"/>
          </a:solidFill>
          <a:ln w="6985">
            <a:solidFill>
              <a:srgbClr val="202020"/>
            </a:solidFill>
            <a:prstDash val="solid"/>
          </a:ln>
        </p:spPr>
      </p:sp>
      <p:sp>
        <p:nvSpPr>
          <p:cNvPr id="86" name="Text 83"/>
          <p:cNvSpPr/>
          <p:nvPr/>
        </p:nvSpPr>
        <p:spPr>
          <a:xfrm>
            <a:off x="52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7" name="Shape 84"/>
          <p:cNvSpPr/>
          <p:nvPr/>
        </p:nvSpPr>
        <p:spPr>
          <a:xfrm>
            <a:off x="6102000" y="4608000"/>
            <a:ext cx="918000" cy="360000"/>
          </a:xfrm>
          <a:prstGeom prst="rect">
            <a:avLst/>
          </a:prstGeom>
          <a:solidFill>
            <a:srgbClr val="FFFFFF"/>
          </a:solidFill>
          <a:ln w="6985">
            <a:solidFill>
              <a:srgbClr val="202020"/>
            </a:solidFill>
            <a:prstDash val="solid"/>
          </a:ln>
        </p:spPr>
      </p:sp>
      <p:sp>
        <p:nvSpPr>
          <p:cNvPr id="88" name="Text 85"/>
          <p:cNvSpPr/>
          <p:nvPr/>
        </p:nvSpPr>
        <p:spPr>
          <a:xfrm>
            <a:off x="6163200" y="4647600"/>
            <a:ext cx="795600" cy="280800"/>
          </a:xfrm>
          <a:prstGeom prst="rect">
            <a:avLst/>
          </a:prstGeom>
          <a:noFill/>
          <a:ln/>
        </p:spPr>
        <p:txBody>
          <a:bodyPr wrap="square" lIns="0" tIns="0" rIns="0" bIns="0" rtlCol="0" anchor="ctr"/>
          <a:lstStyle/>
          <a:p>
            <a:pPr algn="l" indent="0" marL="0">
              <a:buNone/>
            </a:pPr>
            <a:endParaRPr lang="en-US" sz="950" dirty="0"/>
          </a:p>
        </p:txBody>
      </p:sp>
      <p:sp>
        <p:nvSpPr>
          <p:cNvPr id="89" name="Shape 86"/>
          <p:cNvSpPr/>
          <p:nvPr/>
        </p:nvSpPr>
        <p:spPr>
          <a:xfrm>
            <a:off x="540000" y="4968000"/>
            <a:ext cx="2862000" cy="360000"/>
          </a:xfrm>
          <a:prstGeom prst="rect">
            <a:avLst/>
          </a:prstGeom>
          <a:solidFill>
            <a:srgbClr val="0A2B6B"/>
          </a:solidFill>
          <a:ln w="6985">
            <a:solidFill>
              <a:srgbClr val="202020"/>
            </a:solidFill>
            <a:prstDash val="solid"/>
          </a:ln>
        </p:spPr>
      </p:sp>
      <p:sp>
        <p:nvSpPr>
          <p:cNvPr id="90" name="Text 87"/>
          <p:cNvSpPr/>
          <p:nvPr/>
        </p:nvSpPr>
        <p:spPr>
          <a:xfrm>
            <a:off x="601200" y="500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Consommation en énergie primaire (kWhEP/m²/an)</a:t>
            </a:r>
            <a:endParaRPr lang="en-US" sz="950" dirty="0"/>
          </a:p>
        </p:txBody>
      </p:sp>
      <p:sp>
        <p:nvSpPr>
          <p:cNvPr id="91" name="Shape 88"/>
          <p:cNvSpPr/>
          <p:nvPr/>
        </p:nvSpPr>
        <p:spPr>
          <a:xfrm>
            <a:off x="3402000" y="4968000"/>
            <a:ext cx="900000" cy="360000"/>
          </a:xfrm>
          <a:prstGeom prst="rect">
            <a:avLst/>
          </a:prstGeom>
          <a:solidFill>
            <a:srgbClr val="FFFFFF"/>
          </a:solidFill>
          <a:ln w="6985">
            <a:solidFill>
              <a:srgbClr val="202020"/>
            </a:solidFill>
            <a:prstDash val="solid"/>
          </a:ln>
        </p:spPr>
      </p:sp>
      <p:sp>
        <p:nvSpPr>
          <p:cNvPr id="92" name="Text 89"/>
          <p:cNvSpPr/>
          <p:nvPr/>
        </p:nvSpPr>
        <p:spPr>
          <a:xfrm>
            <a:off x="34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3" name="Shape 90"/>
          <p:cNvSpPr/>
          <p:nvPr/>
        </p:nvSpPr>
        <p:spPr>
          <a:xfrm>
            <a:off x="4302000" y="4968000"/>
            <a:ext cx="900000" cy="360000"/>
          </a:xfrm>
          <a:prstGeom prst="rect">
            <a:avLst/>
          </a:prstGeom>
          <a:solidFill>
            <a:srgbClr val="FFFFFF"/>
          </a:solidFill>
          <a:ln w="6985">
            <a:solidFill>
              <a:srgbClr val="202020"/>
            </a:solidFill>
            <a:prstDash val="solid"/>
          </a:ln>
        </p:spPr>
      </p:sp>
      <p:sp>
        <p:nvSpPr>
          <p:cNvPr id="94" name="Text 91"/>
          <p:cNvSpPr/>
          <p:nvPr/>
        </p:nvSpPr>
        <p:spPr>
          <a:xfrm>
            <a:off x="43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5" name="Shape 92"/>
          <p:cNvSpPr/>
          <p:nvPr/>
        </p:nvSpPr>
        <p:spPr>
          <a:xfrm>
            <a:off x="5202000" y="4968000"/>
            <a:ext cx="900000" cy="360000"/>
          </a:xfrm>
          <a:prstGeom prst="rect">
            <a:avLst/>
          </a:prstGeom>
          <a:solidFill>
            <a:srgbClr val="FFFFFF"/>
          </a:solidFill>
          <a:ln w="6985">
            <a:solidFill>
              <a:srgbClr val="202020"/>
            </a:solidFill>
            <a:prstDash val="solid"/>
          </a:ln>
        </p:spPr>
      </p:sp>
      <p:sp>
        <p:nvSpPr>
          <p:cNvPr id="96" name="Text 93"/>
          <p:cNvSpPr/>
          <p:nvPr/>
        </p:nvSpPr>
        <p:spPr>
          <a:xfrm>
            <a:off x="52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7" name="Shape 94"/>
          <p:cNvSpPr/>
          <p:nvPr/>
        </p:nvSpPr>
        <p:spPr>
          <a:xfrm>
            <a:off x="6102000" y="4968000"/>
            <a:ext cx="918000" cy="360000"/>
          </a:xfrm>
          <a:prstGeom prst="rect">
            <a:avLst/>
          </a:prstGeom>
          <a:solidFill>
            <a:srgbClr val="FFFFFF"/>
          </a:solidFill>
          <a:ln w="6985">
            <a:solidFill>
              <a:srgbClr val="202020"/>
            </a:solidFill>
            <a:prstDash val="solid"/>
          </a:ln>
        </p:spPr>
      </p:sp>
      <p:sp>
        <p:nvSpPr>
          <p:cNvPr id="98" name="Text 95"/>
          <p:cNvSpPr/>
          <p:nvPr/>
        </p:nvSpPr>
        <p:spPr>
          <a:xfrm>
            <a:off x="6163200" y="5007600"/>
            <a:ext cx="795600" cy="280800"/>
          </a:xfrm>
          <a:prstGeom prst="rect">
            <a:avLst/>
          </a:prstGeom>
          <a:noFill/>
          <a:ln/>
        </p:spPr>
        <p:txBody>
          <a:bodyPr wrap="square" lIns="0" tIns="0" rIns="0" bIns="0" rtlCol="0" anchor="ctr"/>
          <a:lstStyle/>
          <a:p>
            <a:pPr algn="l" indent="0" marL="0">
              <a:buNone/>
            </a:pPr>
            <a:endParaRPr lang="en-US" sz="950" dirty="0"/>
          </a:p>
        </p:txBody>
      </p:sp>
      <p:sp>
        <p:nvSpPr>
          <p:cNvPr id="99" name="Shape 96"/>
          <p:cNvSpPr/>
          <p:nvPr/>
        </p:nvSpPr>
        <p:spPr>
          <a:xfrm>
            <a:off x="540000" y="5328000"/>
            <a:ext cx="2862000" cy="360000"/>
          </a:xfrm>
          <a:prstGeom prst="rect">
            <a:avLst/>
          </a:prstGeom>
          <a:solidFill>
            <a:srgbClr val="0A2B6B"/>
          </a:solidFill>
          <a:ln w="6985">
            <a:solidFill>
              <a:srgbClr val="202020"/>
            </a:solidFill>
            <a:prstDash val="solid"/>
          </a:ln>
        </p:spPr>
      </p:sp>
      <p:sp>
        <p:nvSpPr>
          <p:cNvPr id="100" name="Text 97"/>
          <p:cNvSpPr/>
          <p:nvPr/>
        </p:nvSpPr>
        <p:spPr>
          <a:xfrm>
            <a:off x="601200" y="536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Gaz à effet de serre (kgCO2/m²/an)</a:t>
            </a:r>
            <a:endParaRPr lang="en-US" sz="950" dirty="0"/>
          </a:p>
        </p:txBody>
      </p:sp>
      <p:sp>
        <p:nvSpPr>
          <p:cNvPr id="101" name="Shape 98"/>
          <p:cNvSpPr/>
          <p:nvPr/>
        </p:nvSpPr>
        <p:spPr>
          <a:xfrm>
            <a:off x="3402000" y="5328000"/>
            <a:ext cx="900000" cy="360000"/>
          </a:xfrm>
          <a:prstGeom prst="rect">
            <a:avLst/>
          </a:prstGeom>
          <a:solidFill>
            <a:srgbClr val="FFFFFF"/>
          </a:solidFill>
          <a:ln w="6985">
            <a:solidFill>
              <a:srgbClr val="202020"/>
            </a:solidFill>
            <a:prstDash val="solid"/>
          </a:ln>
        </p:spPr>
      </p:sp>
      <p:sp>
        <p:nvSpPr>
          <p:cNvPr id="102" name="Text 99"/>
          <p:cNvSpPr/>
          <p:nvPr/>
        </p:nvSpPr>
        <p:spPr>
          <a:xfrm>
            <a:off x="34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3" name="Shape 100"/>
          <p:cNvSpPr/>
          <p:nvPr/>
        </p:nvSpPr>
        <p:spPr>
          <a:xfrm>
            <a:off x="4302000" y="5328000"/>
            <a:ext cx="900000" cy="360000"/>
          </a:xfrm>
          <a:prstGeom prst="rect">
            <a:avLst/>
          </a:prstGeom>
          <a:solidFill>
            <a:srgbClr val="FFFFFF"/>
          </a:solidFill>
          <a:ln w="6985">
            <a:solidFill>
              <a:srgbClr val="202020"/>
            </a:solidFill>
            <a:prstDash val="solid"/>
          </a:ln>
        </p:spPr>
      </p:sp>
      <p:sp>
        <p:nvSpPr>
          <p:cNvPr id="104" name="Text 101"/>
          <p:cNvSpPr/>
          <p:nvPr/>
        </p:nvSpPr>
        <p:spPr>
          <a:xfrm>
            <a:off x="43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5" name="Shape 102"/>
          <p:cNvSpPr/>
          <p:nvPr/>
        </p:nvSpPr>
        <p:spPr>
          <a:xfrm>
            <a:off x="5202000" y="5328000"/>
            <a:ext cx="900000" cy="360000"/>
          </a:xfrm>
          <a:prstGeom prst="rect">
            <a:avLst/>
          </a:prstGeom>
          <a:solidFill>
            <a:srgbClr val="FFFFFF"/>
          </a:solidFill>
          <a:ln w="6985">
            <a:solidFill>
              <a:srgbClr val="202020"/>
            </a:solidFill>
            <a:prstDash val="solid"/>
          </a:ln>
        </p:spPr>
      </p:sp>
      <p:sp>
        <p:nvSpPr>
          <p:cNvPr id="106" name="Text 103"/>
          <p:cNvSpPr/>
          <p:nvPr/>
        </p:nvSpPr>
        <p:spPr>
          <a:xfrm>
            <a:off x="52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7" name="Shape 104"/>
          <p:cNvSpPr/>
          <p:nvPr/>
        </p:nvSpPr>
        <p:spPr>
          <a:xfrm>
            <a:off x="6102000" y="5328000"/>
            <a:ext cx="918000" cy="360000"/>
          </a:xfrm>
          <a:prstGeom prst="rect">
            <a:avLst/>
          </a:prstGeom>
          <a:solidFill>
            <a:srgbClr val="FFFFFF"/>
          </a:solidFill>
          <a:ln w="6985">
            <a:solidFill>
              <a:srgbClr val="202020"/>
            </a:solidFill>
            <a:prstDash val="solid"/>
          </a:ln>
        </p:spPr>
      </p:sp>
      <p:sp>
        <p:nvSpPr>
          <p:cNvPr id="108" name="Text 105"/>
          <p:cNvSpPr/>
          <p:nvPr/>
        </p:nvSpPr>
        <p:spPr>
          <a:xfrm>
            <a:off x="6163200" y="5367600"/>
            <a:ext cx="795600" cy="280800"/>
          </a:xfrm>
          <a:prstGeom prst="rect">
            <a:avLst/>
          </a:prstGeom>
          <a:noFill/>
          <a:ln/>
        </p:spPr>
        <p:txBody>
          <a:bodyPr wrap="square" lIns="0" tIns="0" rIns="0" bIns="0" rtlCol="0" anchor="ctr"/>
          <a:lstStyle/>
          <a:p>
            <a:pPr algn="l" indent="0" marL="0">
              <a:buNone/>
            </a:pPr>
            <a:endParaRPr lang="en-US" sz="950" dirty="0"/>
          </a:p>
        </p:txBody>
      </p:sp>
      <p:sp>
        <p:nvSpPr>
          <p:cNvPr id="109" name="Shape 106"/>
          <p:cNvSpPr/>
          <p:nvPr/>
        </p:nvSpPr>
        <p:spPr>
          <a:xfrm>
            <a:off x="540000" y="5688000"/>
            <a:ext cx="2862000" cy="360000"/>
          </a:xfrm>
          <a:prstGeom prst="rect">
            <a:avLst/>
          </a:prstGeom>
          <a:solidFill>
            <a:srgbClr val="0A2B6B"/>
          </a:solidFill>
          <a:ln w="6985">
            <a:solidFill>
              <a:srgbClr val="202020"/>
            </a:solidFill>
            <a:prstDash val="solid"/>
          </a:ln>
        </p:spPr>
      </p:sp>
      <p:sp>
        <p:nvSpPr>
          <p:cNvPr id="110" name="Text 107"/>
          <p:cNvSpPr/>
          <p:nvPr/>
        </p:nvSpPr>
        <p:spPr>
          <a:xfrm>
            <a:off x="601200" y="572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Gain énergétique</a:t>
            </a:r>
            <a:endParaRPr lang="en-US" sz="950" dirty="0"/>
          </a:p>
        </p:txBody>
      </p:sp>
      <p:sp>
        <p:nvSpPr>
          <p:cNvPr id="111" name="Shape 108"/>
          <p:cNvSpPr/>
          <p:nvPr/>
        </p:nvSpPr>
        <p:spPr>
          <a:xfrm>
            <a:off x="3402000" y="5688000"/>
            <a:ext cx="900000" cy="360000"/>
          </a:xfrm>
          <a:prstGeom prst="rect">
            <a:avLst/>
          </a:prstGeom>
          <a:solidFill>
            <a:srgbClr val="FFFFFF"/>
          </a:solidFill>
          <a:ln w="6985">
            <a:solidFill>
              <a:srgbClr val="202020"/>
            </a:solidFill>
            <a:prstDash val="solid"/>
          </a:ln>
        </p:spPr>
      </p:sp>
      <p:sp>
        <p:nvSpPr>
          <p:cNvPr id="112" name="Text 109"/>
          <p:cNvSpPr/>
          <p:nvPr/>
        </p:nvSpPr>
        <p:spPr>
          <a:xfrm>
            <a:off x="34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3" name="Shape 110"/>
          <p:cNvSpPr/>
          <p:nvPr/>
        </p:nvSpPr>
        <p:spPr>
          <a:xfrm>
            <a:off x="4302000" y="5688000"/>
            <a:ext cx="900000" cy="360000"/>
          </a:xfrm>
          <a:prstGeom prst="rect">
            <a:avLst/>
          </a:prstGeom>
          <a:solidFill>
            <a:srgbClr val="FFFFFF"/>
          </a:solidFill>
          <a:ln w="6985">
            <a:solidFill>
              <a:srgbClr val="202020"/>
            </a:solidFill>
            <a:prstDash val="solid"/>
          </a:ln>
        </p:spPr>
      </p:sp>
      <p:sp>
        <p:nvSpPr>
          <p:cNvPr id="114" name="Text 111"/>
          <p:cNvSpPr/>
          <p:nvPr/>
        </p:nvSpPr>
        <p:spPr>
          <a:xfrm>
            <a:off x="43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5" name="Shape 112"/>
          <p:cNvSpPr/>
          <p:nvPr/>
        </p:nvSpPr>
        <p:spPr>
          <a:xfrm>
            <a:off x="5202000" y="5688000"/>
            <a:ext cx="900000" cy="360000"/>
          </a:xfrm>
          <a:prstGeom prst="rect">
            <a:avLst/>
          </a:prstGeom>
          <a:solidFill>
            <a:srgbClr val="FFFFFF"/>
          </a:solidFill>
          <a:ln w="6985">
            <a:solidFill>
              <a:srgbClr val="202020"/>
            </a:solidFill>
            <a:prstDash val="solid"/>
          </a:ln>
        </p:spPr>
      </p:sp>
      <p:sp>
        <p:nvSpPr>
          <p:cNvPr id="116" name="Text 113"/>
          <p:cNvSpPr/>
          <p:nvPr/>
        </p:nvSpPr>
        <p:spPr>
          <a:xfrm>
            <a:off x="52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7" name="Shape 114"/>
          <p:cNvSpPr/>
          <p:nvPr/>
        </p:nvSpPr>
        <p:spPr>
          <a:xfrm>
            <a:off x="6102000" y="5688000"/>
            <a:ext cx="918000" cy="360000"/>
          </a:xfrm>
          <a:prstGeom prst="rect">
            <a:avLst/>
          </a:prstGeom>
          <a:solidFill>
            <a:srgbClr val="FFFFFF"/>
          </a:solidFill>
          <a:ln w="6985">
            <a:solidFill>
              <a:srgbClr val="202020"/>
            </a:solidFill>
            <a:prstDash val="solid"/>
          </a:ln>
        </p:spPr>
      </p:sp>
      <p:sp>
        <p:nvSpPr>
          <p:cNvPr id="118" name="Text 115"/>
          <p:cNvSpPr/>
          <p:nvPr/>
        </p:nvSpPr>
        <p:spPr>
          <a:xfrm>
            <a:off x="6163200" y="5727600"/>
            <a:ext cx="795600" cy="280800"/>
          </a:xfrm>
          <a:prstGeom prst="rect">
            <a:avLst/>
          </a:prstGeom>
          <a:noFill/>
          <a:ln/>
        </p:spPr>
        <p:txBody>
          <a:bodyPr wrap="square" lIns="0" tIns="0" rIns="0" bIns="0" rtlCol="0" anchor="ctr"/>
          <a:lstStyle/>
          <a:p>
            <a:pPr algn="l" indent="0" marL="0">
              <a:buNone/>
            </a:pPr>
            <a:endParaRPr lang="en-US" sz="950" dirty="0"/>
          </a:p>
        </p:txBody>
      </p:sp>
      <p:sp>
        <p:nvSpPr>
          <p:cNvPr id="119" name="Shape 116"/>
          <p:cNvSpPr/>
          <p:nvPr/>
        </p:nvSpPr>
        <p:spPr>
          <a:xfrm>
            <a:off x="540000" y="6048000"/>
            <a:ext cx="2862000" cy="360000"/>
          </a:xfrm>
          <a:prstGeom prst="rect">
            <a:avLst/>
          </a:prstGeom>
          <a:solidFill>
            <a:srgbClr val="0A2B6B"/>
          </a:solidFill>
          <a:ln w="6985">
            <a:solidFill>
              <a:srgbClr val="202020"/>
            </a:solidFill>
            <a:prstDash val="solid"/>
          </a:ln>
        </p:spPr>
      </p:sp>
      <p:sp>
        <p:nvSpPr>
          <p:cNvPr id="120" name="Text 117"/>
          <p:cNvSpPr/>
          <p:nvPr/>
        </p:nvSpPr>
        <p:spPr>
          <a:xfrm>
            <a:off x="601200" y="608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Investissement en TTC (sans les aides)</a:t>
            </a:r>
            <a:endParaRPr lang="en-US" sz="950" dirty="0"/>
          </a:p>
        </p:txBody>
      </p:sp>
      <p:sp>
        <p:nvSpPr>
          <p:cNvPr id="121" name="Shape 118"/>
          <p:cNvSpPr/>
          <p:nvPr/>
        </p:nvSpPr>
        <p:spPr>
          <a:xfrm>
            <a:off x="3402000" y="6048000"/>
            <a:ext cx="900000" cy="360000"/>
          </a:xfrm>
          <a:prstGeom prst="rect">
            <a:avLst/>
          </a:prstGeom>
          <a:solidFill>
            <a:srgbClr val="FFFFFF"/>
          </a:solidFill>
          <a:ln w="6985">
            <a:solidFill>
              <a:srgbClr val="202020"/>
            </a:solidFill>
            <a:prstDash val="solid"/>
          </a:ln>
        </p:spPr>
      </p:sp>
      <p:sp>
        <p:nvSpPr>
          <p:cNvPr id="122" name="Text 119"/>
          <p:cNvSpPr/>
          <p:nvPr/>
        </p:nvSpPr>
        <p:spPr>
          <a:xfrm>
            <a:off x="34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3" name="Shape 120"/>
          <p:cNvSpPr/>
          <p:nvPr/>
        </p:nvSpPr>
        <p:spPr>
          <a:xfrm>
            <a:off x="4302000" y="6048000"/>
            <a:ext cx="900000" cy="360000"/>
          </a:xfrm>
          <a:prstGeom prst="rect">
            <a:avLst/>
          </a:prstGeom>
          <a:solidFill>
            <a:srgbClr val="FFFFFF"/>
          </a:solidFill>
          <a:ln w="6985">
            <a:solidFill>
              <a:srgbClr val="202020"/>
            </a:solidFill>
            <a:prstDash val="solid"/>
          </a:ln>
        </p:spPr>
      </p:sp>
      <p:sp>
        <p:nvSpPr>
          <p:cNvPr id="124" name="Text 121"/>
          <p:cNvSpPr/>
          <p:nvPr/>
        </p:nvSpPr>
        <p:spPr>
          <a:xfrm>
            <a:off x="43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5" name="Shape 122"/>
          <p:cNvSpPr/>
          <p:nvPr/>
        </p:nvSpPr>
        <p:spPr>
          <a:xfrm>
            <a:off x="5202000" y="6048000"/>
            <a:ext cx="900000" cy="360000"/>
          </a:xfrm>
          <a:prstGeom prst="rect">
            <a:avLst/>
          </a:prstGeom>
          <a:solidFill>
            <a:srgbClr val="FFFFFF"/>
          </a:solidFill>
          <a:ln w="6985">
            <a:solidFill>
              <a:srgbClr val="202020"/>
            </a:solidFill>
            <a:prstDash val="solid"/>
          </a:ln>
        </p:spPr>
      </p:sp>
      <p:sp>
        <p:nvSpPr>
          <p:cNvPr id="126" name="Text 123"/>
          <p:cNvSpPr/>
          <p:nvPr/>
        </p:nvSpPr>
        <p:spPr>
          <a:xfrm>
            <a:off x="52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7" name="Shape 124"/>
          <p:cNvSpPr/>
          <p:nvPr/>
        </p:nvSpPr>
        <p:spPr>
          <a:xfrm>
            <a:off x="6102000" y="6048000"/>
            <a:ext cx="918000" cy="360000"/>
          </a:xfrm>
          <a:prstGeom prst="rect">
            <a:avLst/>
          </a:prstGeom>
          <a:solidFill>
            <a:srgbClr val="FFFFFF"/>
          </a:solidFill>
          <a:ln w="6985">
            <a:solidFill>
              <a:srgbClr val="202020"/>
            </a:solidFill>
            <a:prstDash val="solid"/>
          </a:ln>
        </p:spPr>
      </p:sp>
      <p:sp>
        <p:nvSpPr>
          <p:cNvPr id="128" name="Text 125"/>
          <p:cNvSpPr/>
          <p:nvPr/>
        </p:nvSpPr>
        <p:spPr>
          <a:xfrm>
            <a:off x="6163200" y="6087600"/>
            <a:ext cx="795600" cy="280800"/>
          </a:xfrm>
          <a:prstGeom prst="rect">
            <a:avLst/>
          </a:prstGeom>
          <a:noFill/>
          <a:ln/>
        </p:spPr>
        <p:txBody>
          <a:bodyPr wrap="square" lIns="0" tIns="0" rIns="0" bIns="0" rtlCol="0" anchor="ctr"/>
          <a:lstStyle/>
          <a:p>
            <a:pPr algn="l" indent="0" marL="0">
              <a:buNone/>
            </a:pPr>
            <a:endParaRPr lang="en-US" sz="950" dirty="0"/>
          </a:p>
        </p:txBody>
      </p:sp>
      <p:sp>
        <p:nvSpPr>
          <p:cNvPr id="129" name="Shape 126"/>
          <p:cNvSpPr/>
          <p:nvPr/>
        </p:nvSpPr>
        <p:spPr>
          <a:xfrm>
            <a:off x="540000" y="6660000"/>
            <a:ext cx="2862000" cy="432000"/>
          </a:xfrm>
          <a:prstGeom prst="rect">
            <a:avLst/>
          </a:prstGeom>
          <a:solidFill>
            <a:srgbClr val="0A2B6B"/>
          </a:solidFill>
          <a:ln w="6985">
            <a:solidFill>
              <a:srgbClr val="202020"/>
            </a:solidFill>
            <a:prstDash val="solid"/>
          </a:ln>
        </p:spPr>
      </p:sp>
      <p:sp>
        <p:nvSpPr>
          <p:cNvPr id="130" name="Text 127"/>
          <p:cNvSpPr/>
          <p:nvPr/>
        </p:nvSpPr>
        <p:spPr>
          <a:xfrm>
            <a:off x="601200" y="6699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MaPrimeRénov ’Copropriétés</a:t>
            </a:r>
            <a:endParaRPr lang="en-US" sz="950" dirty="0"/>
          </a:p>
        </p:txBody>
      </p:sp>
      <p:sp>
        <p:nvSpPr>
          <p:cNvPr id="131" name="Shape 128"/>
          <p:cNvSpPr/>
          <p:nvPr/>
        </p:nvSpPr>
        <p:spPr>
          <a:xfrm>
            <a:off x="3402000" y="6660000"/>
            <a:ext cx="900000" cy="432000"/>
          </a:xfrm>
          <a:prstGeom prst="rect">
            <a:avLst/>
          </a:prstGeom>
          <a:solidFill>
            <a:srgbClr val="FFFFFF"/>
          </a:solidFill>
          <a:ln w="6985">
            <a:solidFill>
              <a:srgbClr val="202020"/>
            </a:solidFill>
            <a:prstDash val="solid"/>
          </a:ln>
        </p:spPr>
      </p:sp>
      <p:sp>
        <p:nvSpPr>
          <p:cNvPr id="132" name="Text 129"/>
          <p:cNvSpPr/>
          <p:nvPr/>
        </p:nvSpPr>
        <p:spPr>
          <a:xfrm>
            <a:off x="34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3" name="Shape 130"/>
          <p:cNvSpPr/>
          <p:nvPr/>
        </p:nvSpPr>
        <p:spPr>
          <a:xfrm>
            <a:off x="4302000" y="6660000"/>
            <a:ext cx="900000" cy="432000"/>
          </a:xfrm>
          <a:prstGeom prst="rect">
            <a:avLst/>
          </a:prstGeom>
          <a:solidFill>
            <a:srgbClr val="FFFFFF"/>
          </a:solidFill>
          <a:ln w="6985">
            <a:solidFill>
              <a:srgbClr val="202020"/>
            </a:solidFill>
            <a:prstDash val="solid"/>
          </a:ln>
        </p:spPr>
      </p:sp>
      <p:sp>
        <p:nvSpPr>
          <p:cNvPr id="134" name="Text 131"/>
          <p:cNvSpPr/>
          <p:nvPr/>
        </p:nvSpPr>
        <p:spPr>
          <a:xfrm>
            <a:off x="43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5" name="Shape 132"/>
          <p:cNvSpPr/>
          <p:nvPr/>
        </p:nvSpPr>
        <p:spPr>
          <a:xfrm>
            <a:off x="5202000" y="6660000"/>
            <a:ext cx="900000" cy="432000"/>
          </a:xfrm>
          <a:prstGeom prst="rect">
            <a:avLst/>
          </a:prstGeom>
          <a:solidFill>
            <a:srgbClr val="FFFFFF"/>
          </a:solidFill>
          <a:ln w="6985">
            <a:solidFill>
              <a:srgbClr val="202020"/>
            </a:solidFill>
            <a:prstDash val="solid"/>
          </a:ln>
        </p:spPr>
      </p:sp>
      <p:sp>
        <p:nvSpPr>
          <p:cNvPr id="136" name="Text 133"/>
          <p:cNvSpPr/>
          <p:nvPr/>
        </p:nvSpPr>
        <p:spPr>
          <a:xfrm>
            <a:off x="52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7" name="Shape 134"/>
          <p:cNvSpPr/>
          <p:nvPr/>
        </p:nvSpPr>
        <p:spPr>
          <a:xfrm>
            <a:off x="6102000" y="6660000"/>
            <a:ext cx="918000" cy="432000"/>
          </a:xfrm>
          <a:prstGeom prst="rect">
            <a:avLst/>
          </a:prstGeom>
          <a:solidFill>
            <a:srgbClr val="FFFFFF"/>
          </a:solidFill>
          <a:ln w="6985">
            <a:solidFill>
              <a:srgbClr val="202020"/>
            </a:solidFill>
            <a:prstDash val="solid"/>
          </a:ln>
        </p:spPr>
      </p:sp>
      <p:sp>
        <p:nvSpPr>
          <p:cNvPr id="138" name="Text 135"/>
          <p:cNvSpPr/>
          <p:nvPr/>
        </p:nvSpPr>
        <p:spPr>
          <a:xfrm>
            <a:off x="6163200" y="6699600"/>
            <a:ext cx="795600" cy="352800"/>
          </a:xfrm>
          <a:prstGeom prst="rect">
            <a:avLst/>
          </a:prstGeom>
          <a:noFill/>
          <a:ln/>
        </p:spPr>
        <p:txBody>
          <a:bodyPr wrap="square" lIns="0" tIns="0" rIns="0" bIns="0" rtlCol="0" anchor="ctr"/>
          <a:lstStyle/>
          <a:p>
            <a:pPr algn="l" indent="0" marL="0">
              <a:buNone/>
            </a:pPr>
            <a:endParaRPr lang="en-US" sz="950" dirty="0"/>
          </a:p>
        </p:txBody>
      </p:sp>
      <p:sp>
        <p:nvSpPr>
          <p:cNvPr id="139" name="Shape 136"/>
          <p:cNvSpPr/>
          <p:nvPr/>
        </p:nvSpPr>
        <p:spPr>
          <a:xfrm>
            <a:off x="540000" y="7092000"/>
            <a:ext cx="2862000" cy="432000"/>
          </a:xfrm>
          <a:prstGeom prst="rect">
            <a:avLst/>
          </a:prstGeom>
          <a:solidFill>
            <a:srgbClr val="0A2B6B"/>
          </a:solidFill>
          <a:ln w="6985">
            <a:solidFill>
              <a:srgbClr val="202020"/>
            </a:solidFill>
            <a:prstDash val="solid"/>
          </a:ln>
        </p:spPr>
      </p:sp>
      <p:sp>
        <p:nvSpPr>
          <p:cNvPr id="140" name="Text 137"/>
          <p:cNvSpPr/>
          <p:nvPr/>
        </p:nvSpPr>
        <p:spPr>
          <a:xfrm>
            <a:off x="601200" y="7131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des CEE (Certificats d’Economies d’Energie)</a:t>
            </a:r>
            <a:endParaRPr lang="en-US" sz="950" dirty="0"/>
          </a:p>
        </p:txBody>
      </p:sp>
      <p:sp>
        <p:nvSpPr>
          <p:cNvPr id="141" name="Shape 138"/>
          <p:cNvSpPr/>
          <p:nvPr/>
        </p:nvSpPr>
        <p:spPr>
          <a:xfrm>
            <a:off x="3402000" y="7092000"/>
            <a:ext cx="900000" cy="432000"/>
          </a:xfrm>
          <a:prstGeom prst="rect">
            <a:avLst/>
          </a:prstGeom>
          <a:solidFill>
            <a:srgbClr val="FFFFFF"/>
          </a:solidFill>
          <a:ln w="6985">
            <a:solidFill>
              <a:srgbClr val="202020"/>
            </a:solidFill>
            <a:prstDash val="solid"/>
          </a:ln>
        </p:spPr>
      </p:sp>
      <p:sp>
        <p:nvSpPr>
          <p:cNvPr id="142" name="Text 139"/>
          <p:cNvSpPr/>
          <p:nvPr/>
        </p:nvSpPr>
        <p:spPr>
          <a:xfrm>
            <a:off x="34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3" name="Shape 140"/>
          <p:cNvSpPr/>
          <p:nvPr/>
        </p:nvSpPr>
        <p:spPr>
          <a:xfrm>
            <a:off x="4302000" y="7092000"/>
            <a:ext cx="900000" cy="432000"/>
          </a:xfrm>
          <a:prstGeom prst="rect">
            <a:avLst/>
          </a:prstGeom>
          <a:solidFill>
            <a:srgbClr val="FFFFFF"/>
          </a:solidFill>
          <a:ln w="6985">
            <a:solidFill>
              <a:srgbClr val="202020"/>
            </a:solidFill>
            <a:prstDash val="solid"/>
          </a:ln>
        </p:spPr>
      </p:sp>
      <p:sp>
        <p:nvSpPr>
          <p:cNvPr id="144" name="Text 141"/>
          <p:cNvSpPr/>
          <p:nvPr/>
        </p:nvSpPr>
        <p:spPr>
          <a:xfrm>
            <a:off x="43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5" name="Shape 142"/>
          <p:cNvSpPr/>
          <p:nvPr/>
        </p:nvSpPr>
        <p:spPr>
          <a:xfrm>
            <a:off x="5202000" y="7092000"/>
            <a:ext cx="900000" cy="432000"/>
          </a:xfrm>
          <a:prstGeom prst="rect">
            <a:avLst/>
          </a:prstGeom>
          <a:solidFill>
            <a:srgbClr val="FFFFFF"/>
          </a:solidFill>
          <a:ln w="6985">
            <a:solidFill>
              <a:srgbClr val="202020"/>
            </a:solidFill>
            <a:prstDash val="solid"/>
          </a:ln>
        </p:spPr>
      </p:sp>
      <p:sp>
        <p:nvSpPr>
          <p:cNvPr id="146" name="Text 143"/>
          <p:cNvSpPr/>
          <p:nvPr/>
        </p:nvSpPr>
        <p:spPr>
          <a:xfrm>
            <a:off x="52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7" name="Shape 144"/>
          <p:cNvSpPr/>
          <p:nvPr/>
        </p:nvSpPr>
        <p:spPr>
          <a:xfrm>
            <a:off x="6102000" y="7092000"/>
            <a:ext cx="918000" cy="432000"/>
          </a:xfrm>
          <a:prstGeom prst="rect">
            <a:avLst/>
          </a:prstGeom>
          <a:solidFill>
            <a:srgbClr val="FFFFFF"/>
          </a:solidFill>
          <a:ln w="6985">
            <a:solidFill>
              <a:srgbClr val="202020"/>
            </a:solidFill>
            <a:prstDash val="solid"/>
          </a:ln>
        </p:spPr>
      </p:sp>
      <p:sp>
        <p:nvSpPr>
          <p:cNvPr id="148" name="Text 145"/>
          <p:cNvSpPr/>
          <p:nvPr/>
        </p:nvSpPr>
        <p:spPr>
          <a:xfrm>
            <a:off x="6163200" y="7131600"/>
            <a:ext cx="795600" cy="352800"/>
          </a:xfrm>
          <a:prstGeom prst="rect">
            <a:avLst/>
          </a:prstGeom>
          <a:noFill/>
          <a:ln/>
        </p:spPr>
        <p:txBody>
          <a:bodyPr wrap="square" lIns="0" tIns="0" rIns="0" bIns="0" rtlCol="0" anchor="ctr"/>
          <a:lstStyle/>
          <a:p>
            <a:pPr algn="l" indent="0" marL="0">
              <a:buNone/>
            </a:pP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1000" dirty="0"/>
          </a:p>
        </p:txBody>
      </p:sp>
      <p:sp>
        <p:nvSpPr>
          <p:cNvPr id="9" name="Text 6"/>
          <p:cNvSpPr/>
          <p:nvPr/>
        </p:nvSpPr>
        <p:spPr>
          <a:xfrm>
            <a:off x="648000" y="287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1000" dirty="0"/>
          </a:p>
        </p:txBody>
      </p:sp>
      <p:sp>
        <p:nvSpPr>
          <p:cNvPr id="10" name="Text 7"/>
          <p:cNvSpPr/>
          <p:nvPr/>
        </p:nvSpPr>
        <p:spPr>
          <a:xfrm>
            <a:off x="648000" y="37116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1000" dirty="0"/>
          </a:p>
        </p:txBody>
      </p:sp>
      <p:sp>
        <p:nvSpPr>
          <p:cNvPr id="11" name="Text 8"/>
          <p:cNvSpPr/>
          <p:nvPr/>
        </p:nvSpPr>
        <p:spPr>
          <a:xfrm>
            <a:off x="648000" y="43812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1 : Travaux curatifs</a:t>
            </a:r>
            <a:endParaRPr lang="en-US" sz="1000" dirty="0"/>
          </a:p>
        </p:txBody>
      </p:sp>
      <p:sp>
        <p:nvSpPr>
          <p:cNvPr id="12" name="Text 9"/>
          <p:cNvSpPr/>
          <p:nvPr/>
        </p:nvSpPr>
        <p:spPr>
          <a:xfrm>
            <a:off x="648000" y="470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1000" dirty="0"/>
          </a:p>
        </p:txBody>
      </p:sp>
      <p:sp>
        <p:nvSpPr>
          <p:cNvPr id="13" name="Text 10"/>
          <p:cNvSpPr/>
          <p:nvPr/>
        </p:nvSpPr>
        <p:spPr>
          <a:xfrm>
            <a:off x="648000" y="56088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2 : Travaux d’amélioration énergétique</a:t>
            </a:r>
            <a:endParaRPr lang="en-US" sz="1000" dirty="0"/>
          </a:p>
        </p:txBody>
      </p:sp>
      <p:sp>
        <p:nvSpPr>
          <p:cNvPr id="14" name="Text 11"/>
          <p:cNvSpPr/>
          <p:nvPr/>
        </p:nvSpPr>
        <p:spPr>
          <a:xfrm>
            <a:off x="648000" y="59292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576000"/>
          </a:xfrm>
          <a:prstGeom prst="rect">
            <a:avLst/>
          </a:prstGeom>
          <a:solidFill>
            <a:srgbClr val="FFFFFF"/>
          </a:solidFill>
          <a:ln w="6985">
            <a:solidFill>
              <a:srgbClr val="202020"/>
            </a:solidFill>
            <a:prstDash val="solid"/>
          </a:ln>
        </p:spPr>
      </p:sp>
      <p:sp>
        <p:nvSpPr>
          <p:cNvPr id="23" name="Text 20"/>
          <p:cNvSpPr/>
          <p:nvPr/>
        </p:nvSpPr>
        <p:spPr>
          <a:xfrm>
            <a:off x="601200" y="2541600"/>
            <a:ext cx="561600" cy="496800"/>
          </a:xfrm>
          <a:prstGeom prst="rect">
            <a:avLst/>
          </a:prstGeom>
          <a:noFill/>
          <a:ln/>
        </p:spPr>
        <p:txBody>
          <a:bodyPr wrap="square" lIns="0" tIns="0" rIns="0" bIns="0" rtlCol="0" anchor="ctr"/>
          <a:lstStyle/>
          <a:p>
            <a:pPr algn="l" indent="0" marL="0">
              <a:buNone/>
            </a:pPr>
            <a:endParaRPr lang="en-US" sz="950" dirty="0"/>
          </a:p>
        </p:txBody>
      </p:sp>
      <p:sp>
        <p:nvSpPr>
          <p:cNvPr id="24" name="Shape 21"/>
          <p:cNvSpPr/>
          <p:nvPr/>
        </p:nvSpPr>
        <p:spPr>
          <a:xfrm>
            <a:off x="1224000" y="2502000"/>
            <a:ext cx="720000" cy="576000"/>
          </a:xfrm>
          <a:prstGeom prst="rect">
            <a:avLst/>
          </a:prstGeom>
          <a:solidFill>
            <a:srgbClr val="FFFFFF"/>
          </a:solidFill>
          <a:ln w="6985">
            <a:solidFill>
              <a:srgbClr val="202020"/>
            </a:solidFill>
            <a:prstDash val="solid"/>
          </a:ln>
        </p:spPr>
      </p:sp>
      <p:sp>
        <p:nvSpPr>
          <p:cNvPr id="25" name="Text 22"/>
          <p:cNvSpPr/>
          <p:nvPr/>
        </p:nvSpPr>
        <p:spPr>
          <a:xfrm>
            <a:off x="1285200" y="2541600"/>
            <a:ext cx="597600" cy="496800"/>
          </a:xfrm>
          <a:prstGeom prst="rect">
            <a:avLst/>
          </a:prstGeom>
          <a:noFill/>
          <a:ln/>
        </p:spPr>
        <p:txBody>
          <a:bodyPr wrap="square" lIns="0" tIns="0" rIns="0" bIns="0" rtlCol="0" anchor="ctr"/>
          <a:lstStyle/>
          <a:p>
            <a:pPr algn="l" indent="0" marL="0">
              <a:buNone/>
            </a:pPr>
            <a:endParaRPr lang="en-US" sz="950" dirty="0"/>
          </a:p>
        </p:txBody>
      </p:sp>
      <p:sp>
        <p:nvSpPr>
          <p:cNvPr id="26" name="Shape 23"/>
          <p:cNvSpPr/>
          <p:nvPr/>
        </p:nvSpPr>
        <p:spPr>
          <a:xfrm>
            <a:off x="1944000" y="2502000"/>
            <a:ext cx="2160000" cy="576000"/>
          </a:xfrm>
          <a:prstGeom prst="rect">
            <a:avLst/>
          </a:prstGeom>
          <a:solidFill>
            <a:srgbClr val="FFFFFF"/>
          </a:solidFill>
          <a:ln w="6985">
            <a:solidFill>
              <a:srgbClr val="202020"/>
            </a:solidFill>
            <a:prstDash val="solid"/>
          </a:ln>
        </p:spPr>
      </p:sp>
      <p:sp>
        <p:nvSpPr>
          <p:cNvPr id="27" name="Text 24"/>
          <p:cNvSpPr/>
          <p:nvPr/>
        </p:nvSpPr>
        <p:spPr>
          <a:xfrm>
            <a:off x="2005200" y="2541600"/>
            <a:ext cx="2037600" cy="496800"/>
          </a:xfrm>
          <a:prstGeom prst="rect">
            <a:avLst/>
          </a:prstGeom>
          <a:noFill/>
          <a:ln/>
        </p:spPr>
        <p:txBody>
          <a:bodyPr wrap="square" lIns="0" tIns="0" rIns="0" bIns="0" rtlCol="0" anchor="ctr"/>
          <a:lstStyle/>
          <a:p>
            <a:pPr algn="l" indent="0" marL="0">
              <a:buNone/>
            </a:pPr>
            <a:endParaRPr lang="en-US" sz="950" dirty="0"/>
          </a:p>
        </p:txBody>
      </p:sp>
      <p:sp>
        <p:nvSpPr>
          <p:cNvPr id="28" name="Shape 25"/>
          <p:cNvSpPr/>
          <p:nvPr/>
        </p:nvSpPr>
        <p:spPr>
          <a:xfrm>
            <a:off x="4104000" y="2502000"/>
            <a:ext cx="756000" cy="576000"/>
          </a:xfrm>
          <a:prstGeom prst="rect">
            <a:avLst/>
          </a:prstGeom>
          <a:solidFill>
            <a:srgbClr val="FFFFFF"/>
          </a:solidFill>
          <a:ln w="6985">
            <a:solidFill>
              <a:srgbClr val="202020"/>
            </a:solidFill>
            <a:prstDash val="solid"/>
          </a:ln>
        </p:spPr>
      </p:sp>
      <p:sp>
        <p:nvSpPr>
          <p:cNvPr id="29" name="Text 26"/>
          <p:cNvSpPr/>
          <p:nvPr/>
        </p:nvSpPr>
        <p:spPr>
          <a:xfrm>
            <a:off x="4165200" y="2541600"/>
            <a:ext cx="633600" cy="496800"/>
          </a:xfrm>
          <a:prstGeom prst="rect">
            <a:avLst/>
          </a:prstGeom>
          <a:noFill/>
          <a:ln/>
        </p:spPr>
        <p:txBody>
          <a:bodyPr wrap="square" lIns="0" tIns="0" rIns="0" bIns="0" rtlCol="0" anchor="ctr"/>
          <a:lstStyle/>
          <a:p>
            <a:pPr algn="l" indent="0" marL="0">
              <a:buNone/>
            </a:pPr>
            <a:endParaRPr lang="en-US" sz="950" dirty="0"/>
          </a:p>
        </p:txBody>
      </p:sp>
      <p:sp>
        <p:nvSpPr>
          <p:cNvPr id="30" name="Shape 27"/>
          <p:cNvSpPr/>
          <p:nvPr/>
        </p:nvSpPr>
        <p:spPr>
          <a:xfrm>
            <a:off x="4860000" y="2502000"/>
            <a:ext cx="720000" cy="576000"/>
          </a:xfrm>
          <a:prstGeom prst="rect">
            <a:avLst/>
          </a:prstGeom>
          <a:solidFill>
            <a:srgbClr val="FFFFFF"/>
          </a:solidFill>
          <a:ln w="6985">
            <a:solidFill>
              <a:srgbClr val="202020"/>
            </a:solidFill>
            <a:prstDash val="solid"/>
          </a:ln>
        </p:spPr>
      </p:sp>
      <p:sp>
        <p:nvSpPr>
          <p:cNvPr id="31" name="Text 28"/>
          <p:cNvSpPr/>
          <p:nvPr/>
        </p:nvSpPr>
        <p:spPr>
          <a:xfrm>
            <a:off x="4921200" y="2541600"/>
            <a:ext cx="597600" cy="496800"/>
          </a:xfrm>
          <a:prstGeom prst="rect">
            <a:avLst/>
          </a:prstGeom>
          <a:noFill/>
          <a:ln/>
        </p:spPr>
        <p:txBody>
          <a:bodyPr wrap="square" lIns="0" tIns="0" rIns="0" bIns="0" rtlCol="0" anchor="ctr"/>
          <a:lstStyle/>
          <a:p>
            <a:pPr algn="l" indent="0" marL="0">
              <a:buNone/>
            </a:pPr>
            <a:endParaRPr lang="en-US" sz="950" dirty="0"/>
          </a:p>
        </p:txBody>
      </p:sp>
      <p:sp>
        <p:nvSpPr>
          <p:cNvPr id="32" name="Shape 29"/>
          <p:cNvSpPr/>
          <p:nvPr/>
        </p:nvSpPr>
        <p:spPr>
          <a:xfrm>
            <a:off x="5580000" y="2502000"/>
            <a:ext cx="720000" cy="576000"/>
          </a:xfrm>
          <a:prstGeom prst="rect">
            <a:avLst/>
          </a:prstGeom>
          <a:solidFill>
            <a:srgbClr val="FFFFFF"/>
          </a:solidFill>
          <a:ln w="6985">
            <a:solidFill>
              <a:srgbClr val="202020"/>
            </a:solidFill>
            <a:prstDash val="solid"/>
          </a:ln>
        </p:spPr>
      </p:sp>
      <p:sp>
        <p:nvSpPr>
          <p:cNvPr id="33" name="Text 30"/>
          <p:cNvSpPr/>
          <p:nvPr/>
        </p:nvSpPr>
        <p:spPr>
          <a:xfrm>
            <a:off x="5641200" y="2541600"/>
            <a:ext cx="597600" cy="496800"/>
          </a:xfrm>
          <a:prstGeom prst="rect">
            <a:avLst/>
          </a:prstGeom>
          <a:noFill/>
          <a:ln/>
        </p:spPr>
        <p:txBody>
          <a:bodyPr wrap="square" lIns="0" tIns="0" rIns="0" bIns="0" rtlCol="0" anchor="ctr"/>
          <a:lstStyle/>
          <a:p>
            <a:pPr algn="l" indent="0" marL="0">
              <a:buNone/>
            </a:pPr>
            <a:endParaRPr lang="en-US" sz="950" dirty="0"/>
          </a:p>
        </p:txBody>
      </p:sp>
      <p:sp>
        <p:nvSpPr>
          <p:cNvPr id="34" name="Shape 31"/>
          <p:cNvSpPr/>
          <p:nvPr/>
        </p:nvSpPr>
        <p:spPr>
          <a:xfrm>
            <a:off x="6300000" y="2502000"/>
            <a:ext cx="720000" cy="576000"/>
          </a:xfrm>
          <a:prstGeom prst="rect">
            <a:avLst/>
          </a:prstGeom>
          <a:solidFill>
            <a:srgbClr val="FFFFFF"/>
          </a:solidFill>
          <a:ln w="6985">
            <a:solidFill>
              <a:srgbClr val="202020"/>
            </a:solidFill>
            <a:prstDash val="solid"/>
          </a:ln>
        </p:spPr>
      </p:sp>
      <p:sp>
        <p:nvSpPr>
          <p:cNvPr id="35" name="Text 32"/>
          <p:cNvSpPr/>
          <p:nvPr/>
        </p:nvSpPr>
        <p:spPr>
          <a:xfrm>
            <a:off x="6361200" y="2541600"/>
            <a:ext cx="597600" cy="496800"/>
          </a:xfrm>
          <a:prstGeom prst="rect">
            <a:avLst/>
          </a:prstGeom>
          <a:noFill/>
          <a:ln/>
        </p:spPr>
        <p:txBody>
          <a:bodyPr wrap="square" lIns="0" tIns="0" rIns="0" bIns="0" rtlCol="0" anchor="ctr"/>
          <a:lstStyle/>
          <a:p>
            <a:pPr algn="l" indent="0" marL="0">
              <a:buNone/>
            </a:pPr>
            <a:endParaRPr lang="en-US" sz="950" dirty="0"/>
          </a:p>
        </p:txBody>
      </p:sp>
      <p:sp>
        <p:nvSpPr>
          <p:cNvPr id="36" name="Shape 33"/>
          <p:cNvSpPr/>
          <p:nvPr/>
        </p:nvSpPr>
        <p:spPr>
          <a:xfrm>
            <a:off x="540000" y="3078000"/>
            <a:ext cx="684000" cy="576000"/>
          </a:xfrm>
          <a:prstGeom prst="rect">
            <a:avLst/>
          </a:prstGeom>
          <a:solidFill>
            <a:srgbClr val="FFFFFF"/>
          </a:solidFill>
          <a:ln w="6985">
            <a:solidFill>
              <a:srgbClr val="202020"/>
            </a:solidFill>
            <a:prstDash val="solid"/>
          </a:ln>
        </p:spPr>
      </p:sp>
      <p:sp>
        <p:nvSpPr>
          <p:cNvPr id="37" name="Text 34"/>
          <p:cNvSpPr/>
          <p:nvPr/>
        </p:nvSpPr>
        <p:spPr>
          <a:xfrm>
            <a:off x="601200" y="3117600"/>
            <a:ext cx="561600" cy="496800"/>
          </a:xfrm>
          <a:prstGeom prst="rect">
            <a:avLst/>
          </a:prstGeom>
          <a:noFill/>
          <a:ln/>
        </p:spPr>
        <p:txBody>
          <a:bodyPr wrap="square" lIns="0" tIns="0" rIns="0" bIns="0" rtlCol="0" anchor="ctr"/>
          <a:lstStyle/>
          <a:p>
            <a:pPr algn="l" indent="0" marL="0">
              <a:buNone/>
            </a:pPr>
            <a:endParaRPr lang="en-US" sz="950" dirty="0"/>
          </a:p>
        </p:txBody>
      </p:sp>
      <p:sp>
        <p:nvSpPr>
          <p:cNvPr id="38" name="Shape 35"/>
          <p:cNvSpPr/>
          <p:nvPr/>
        </p:nvSpPr>
        <p:spPr>
          <a:xfrm>
            <a:off x="1224000" y="3078000"/>
            <a:ext cx="720000" cy="576000"/>
          </a:xfrm>
          <a:prstGeom prst="rect">
            <a:avLst/>
          </a:prstGeom>
          <a:solidFill>
            <a:srgbClr val="FFFFFF"/>
          </a:solidFill>
          <a:ln w="6985">
            <a:solidFill>
              <a:srgbClr val="202020"/>
            </a:solidFill>
            <a:prstDash val="solid"/>
          </a:ln>
        </p:spPr>
      </p:sp>
      <p:sp>
        <p:nvSpPr>
          <p:cNvPr id="39" name="Text 36"/>
          <p:cNvSpPr/>
          <p:nvPr/>
        </p:nvSpPr>
        <p:spPr>
          <a:xfrm>
            <a:off x="1285200" y="3117600"/>
            <a:ext cx="597600" cy="496800"/>
          </a:xfrm>
          <a:prstGeom prst="rect">
            <a:avLst/>
          </a:prstGeom>
          <a:noFill/>
          <a:ln/>
        </p:spPr>
        <p:txBody>
          <a:bodyPr wrap="square" lIns="0" tIns="0" rIns="0" bIns="0" rtlCol="0" anchor="ctr"/>
          <a:lstStyle/>
          <a:p>
            <a:pPr algn="l" indent="0" marL="0">
              <a:buNone/>
            </a:pPr>
            <a:endParaRPr lang="en-US" sz="950" dirty="0"/>
          </a:p>
        </p:txBody>
      </p:sp>
      <p:sp>
        <p:nvSpPr>
          <p:cNvPr id="40" name="Shape 37"/>
          <p:cNvSpPr/>
          <p:nvPr/>
        </p:nvSpPr>
        <p:spPr>
          <a:xfrm>
            <a:off x="1944000" y="3078000"/>
            <a:ext cx="2160000" cy="576000"/>
          </a:xfrm>
          <a:prstGeom prst="rect">
            <a:avLst/>
          </a:prstGeom>
          <a:solidFill>
            <a:srgbClr val="FFFFFF"/>
          </a:solidFill>
          <a:ln w="6985">
            <a:solidFill>
              <a:srgbClr val="202020"/>
            </a:solidFill>
            <a:prstDash val="solid"/>
          </a:ln>
        </p:spPr>
      </p:sp>
      <p:sp>
        <p:nvSpPr>
          <p:cNvPr id="41" name="Text 38"/>
          <p:cNvSpPr/>
          <p:nvPr/>
        </p:nvSpPr>
        <p:spPr>
          <a:xfrm>
            <a:off x="2005200" y="3117600"/>
            <a:ext cx="2037600" cy="496800"/>
          </a:xfrm>
          <a:prstGeom prst="rect">
            <a:avLst/>
          </a:prstGeom>
          <a:noFill/>
          <a:ln/>
        </p:spPr>
        <p:txBody>
          <a:bodyPr wrap="square" lIns="0" tIns="0" rIns="0" bIns="0" rtlCol="0" anchor="ctr"/>
          <a:lstStyle/>
          <a:p>
            <a:pPr algn="l" indent="0" marL="0">
              <a:buNone/>
            </a:pPr>
            <a:endParaRPr lang="en-US" sz="950" dirty="0"/>
          </a:p>
        </p:txBody>
      </p:sp>
      <p:sp>
        <p:nvSpPr>
          <p:cNvPr id="42" name="Shape 39"/>
          <p:cNvSpPr/>
          <p:nvPr/>
        </p:nvSpPr>
        <p:spPr>
          <a:xfrm>
            <a:off x="4104000" y="3078000"/>
            <a:ext cx="756000" cy="576000"/>
          </a:xfrm>
          <a:prstGeom prst="rect">
            <a:avLst/>
          </a:prstGeom>
          <a:solidFill>
            <a:srgbClr val="FFFFFF"/>
          </a:solidFill>
          <a:ln w="6985">
            <a:solidFill>
              <a:srgbClr val="202020"/>
            </a:solidFill>
            <a:prstDash val="solid"/>
          </a:ln>
        </p:spPr>
      </p:sp>
      <p:sp>
        <p:nvSpPr>
          <p:cNvPr id="43" name="Text 40"/>
          <p:cNvSpPr/>
          <p:nvPr/>
        </p:nvSpPr>
        <p:spPr>
          <a:xfrm>
            <a:off x="4165200" y="3117600"/>
            <a:ext cx="633600" cy="496800"/>
          </a:xfrm>
          <a:prstGeom prst="rect">
            <a:avLst/>
          </a:prstGeom>
          <a:noFill/>
          <a:ln/>
        </p:spPr>
        <p:txBody>
          <a:bodyPr wrap="square" lIns="0" tIns="0" rIns="0" bIns="0" rtlCol="0" anchor="ctr"/>
          <a:lstStyle/>
          <a:p>
            <a:pPr algn="l" indent="0" marL="0">
              <a:buNone/>
            </a:pPr>
            <a:endParaRPr lang="en-US" sz="950" dirty="0"/>
          </a:p>
        </p:txBody>
      </p:sp>
      <p:sp>
        <p:nvSpPr>
          <p:cNvPr id="44" name="Shape 41"/>
          <p:cNvSpPr/>
          <p:nvPr/>
        </p:nvSpPr>
        <p:spPr>
          <a:xfrm>
            <a:off x="4860000" y="3078000"/>
            <a:ext cx="720000" cy="576000"/>
          </a:xfrm>
          <a:prstGeom prst="rect">
            <a:avLst/>
          </a:prstGeom>
          <a:solidFill>
            <a:srgbClr val="FFFFFF"/>
          </a:solidFill>
          <a:ln w="6985">
            <a:solidFill>
              <a:srgbClr val="202020"/>
            </a:solidFill>
            <a:prstDash val="solid"/>
          </a:ln>
        </p:spPr>
      </p:sp>
      <p:sp>
        <p:nvSpPr>
          <p:cNvPr id="45" name="Text 42"/>
          <p:cNvSpPr/>
          <p:nvPr/>
        </p:nvSpPr>
        <p:spPr>
          <a:xfrm>
            <a:off x="4921200" y="3117600"/>
            <a:ext cx="597600" cy="496800"/>
          </a:xfrm>
          <a:prstGeom prst="rect">
            <a:avLst/>
          </a:prstGeom>
          <a:noFill/>
          <a:ln/>
        </p:spPr>
        <p:txBody>
          <a:bodyPr wrap="square" lIns="0" tIns="0" rIns="0" bIns="0" rtlCol="0" anchor="ctr"/>
          <a:lstStyle/>
          <a:p>
            <a:pPr algn="l" indent="0" marL="0">
              <a:buNone/>
            </a:pPr>
            <a:endParaRPr lang="en-US" sz="950" dirty="0"/>
          </a:p>
        </p:txBody>
      </p:sp>
      <p:sp>
        <p:nvSpPr>
          <p:cNvPr id="46" name="Shape 43"/>
          <p:cNvSpPr/>
          <p:nvPr/>
        </p:nvSpPr>
        <p:spPr>
          <a:xfrm>
            <a:off x="5580000" y="3078000"/>
            <a:ext cx="720000" cy="576000"/>
          </a:xfrm>
          <a:prstGeom prst="rect">
            <a:avLst/>
          </a:prstGeom>
          <a:solidFill>
            <a:srgbClr val="FFFFFF"/>
          </a:solidFill>
          <a:ln w="6985">
            <a:solidFill>
              <a:srgbClr val="202020"/>
            </a:solidFill>
            <a:prstDash val="solid"/>
          </a:ln>
        </p:spPr>
      </p:sp>
      <p:sp>
        <p:nvSpPr>
          <p:cNvPr id="47" name="Text 44"/>
          <p:cNvSpPr/>
          <p:nvPr/>
        </p:nvSpPr>
        <p:spPr>
          <a:xfrm>
            <a:off x="5641200" y="3117600"/>
            <a:ext cx="597600" cy="496800"/>
          </a:xfrm>
          <a:prstGeom prst="rect">
            <a:avLst/>
          </a:prstGeom>
          <a:noFill/>
          <a:ln/>
        </p:spPr>
        <p:txBody>
          <a:bodyPr wrap="square" lIns="0" tIns="0" rIns="0" bIns="0" rtlCol="0" anchor="ctr"/>
          <a:lstStyle/>
          <a:p>
            <a:pPr algn="l" indent="0" marL="0">
              <a:buNone/>
            </a:pPr>
            <a:endParaRPr lang="en-US" sz="950" dirty="0"/>
          </a:p>
        </p:txBody>
      </p:sp>
      <p:sp>
        <p:nvSpPr>
          <p:cNvPr id="48" name="Shape 45"/>
          <p:cNvSpPr/>
          <p:nvPr/>
        </p:nvSpPr>
        <p:spPr>
          <a:xfrm>
            <a:off x="6300000" y="3078000"/>
            <a:ext cx="720000" cy="576000"/>
          </a:xfrm>
          <a:prstGeom prst="rect">
            <a:avLst/>
          </a:prstGeom>
          <a:solidFill>
            <a:srgbClr val="FFFFFF"/>
          </a:solidFill>
          <a:ln w="6985">
            <a:solidFill>
              <a:srgbClr val="202020"/>
            </a:solidFill>
            <a:prstDash val="solid"/>
          </a:ln>
        </p:spPr>
      </p:sp>
      <p:sp>
        <p:nvSpPr>
          <p:cNvPr id="49" name="Text 46"/>
          <p:cNvSpPr/>
          <p:nvPr/>
        </p:nvSpPr>
        <p:spPr>
          <a:xfrm>
            <a:off x="6361200" y="3117600"/>
            <a:ext cx="597600" cy="496800"/>
          </a:xfrm>
          <a:prstGeom prst="rect">
            <a:avLst/>
          </a:prstGeom>
          <a:noFill/>
          <a:ln/>
        </p:spPr>
        <p:txBody>
          <a:bodyPr wrap="square" lIns="0" tIns="0" rIns="0" bIns="0" rtlCol="0" anchor="ctr"/>
          <a:lstStyle/>
          <a:p>
            <a:pPr algn="l" indent="0" marL="0">
              <a:buNone/>
            </a:pPr>
            <a:endParaRPr lang="en-US" sz="950" dirty="0"/>
          </a:p>
        </p:txBody>
      </p:sp>
      <p:sp>
        <p:nvSpPr>
          <p:cNvPr id="50" name="Shape 47"/>
          <p:cNvSpPr/>
          <p:nvPr/>
        </p:nvSpPr>
        <p:spPr>
          <a:xfrm>
            <a:off x="540000" y="3654000"/>
            <a:ext cx="684000" cy="576000"/>
          </a:xfrm>
          <a:prstGeom prst="rect">
            <a:avLst/>
          </a:prstGeom>
          <a:solidFill>
            <a:srgbClr val="FFFFFF"/>
          </a:solidFill>
          <a:ln w="6985">
            <a:solidFill>
              <a:srgbClr val="202020"/>
            </a:solidFill>
            <a:prstDash val="solid"/>
          </a:ln>
        </p:spPr>
      </p:sp>
      <p:sp>
        <p:nvSpPr>
          <p:cNvPr id="51" name="Text 48"/>
          <p:cNvSpPr/>
          <p:nvPr/>
        </p:nvSpPr>
        <p:spPr>
          <a:xfrm>
            <a:off x="601200" y="3693600"/>
            <a:ext cx="561600" cy="496800"/>
          </a:xfrm>
          <a:prstGeom prst="rect">
            <a:avLst/>
          </a:prstGeom>
          <a:noFill/>
          <a:ln/>
        </p:spPr>
        <p:txBody>
          <a:bodyPr wrap="square" lIns="0" tIns="0" rIns="0" bIns="0" rtlCol="0" anchor="ctr"/>
          <a:lstStyle/>
          <a:p>
            <a:pPr algn="l" indent="0" marL="0">
              <a:buNone/>
            </a:pPr>
            <a:endParaRPr lang="en-US" sz="950" dirty="0"/>
          </a:p>
        </p:txBody>
      </p:sp>
      <p:sp>
        <p:nvSpPr>
          <p:cNvPr id="52" name="Shape 49"/>
          <p:cNvSpPr/>
          <p:nvPr/>
        </p:nvSpPr>
        <p:spPr>
          <a:xfrm>
            <a:off x="1224000" y="3654000"/>
            <a:ext cx="720000" cy="576000"/>
          </a:xfrm>
          <a:prstGeom prst="rect">
            <a:avLst/>
          </a:prstGeom>
          <a:solidFill>
            <a:srgbClr val="FFFFFF"/>
          </a:solidFill>
          <a:ln w="6985">
            <a:solidFill>
              <a:srgbClr val="202020"/>
            </a:solidFill>
            <a:prstDash val="solid"/>
          </a:ln>
        </p:spPr>
      </p:sp>
      <p:sp>
        <p:nvSpPr>
          <p:cNvPr id="53" name="Text 50"/>
          <p:cNvSpPr/>
          <p:nvPr/>
        </p:nvSpPr>
        <p:spPr>
          <a:xfrm>
            <a:off x="1285200" y="3693600"/>
            <a:ext cx="597600" cy="496800"/>
          </a:xfrm>
          <a:prstGeom prst="rect">
            <a:avLst/>
          </a:prstGeom>
          <a:noFill/>
          <a:ln/>
        </p:spPr>
        <p:txBody>
          <a:bodyPr wrap="square" lIns="0" tIns="0" rIns="0" bIns="0" rtlCol="0" anchor="ctr"/>
          <a:lstStyle/>
          <a:p>
            <a:pPr algn="l" indent="0" marL="0">
              <a:buNone/>
            </a:pPr>
            <a:endParaRPr lang="en-US" sz="950" dirty="0"/>
          </a:p>
        </p:txBody>
      </p:sp>
      <p:sp>
        <p:nvSpPr>
          <p:cNvPr id="54" name="Shape 51"/>
          <p:cNvSpPr/>
          <p:nvPr/>
        </p:nvSpPr>
        <p:spPr>
          <a:xfrm>
            <a:off x="1944000" y="3654000"/>
            <a:ext cx="2160000" cy="576000"/>
          </a:xfrm>
          <a:prstGeom prst="rect">
            <a:avLst/>
          </a:prstGeom>
          <a:solidFill>
            <a:srgbClr val="FFFFFF"/>
          </a:solidFill>
          <a:ln w="6985">
            <a:solidFill>
              <a:srgbClr val="202020"/>
            </a:solidFill>
            <a:prstDash val="solid"/>
          </a:ln>
        </p:spPr>
      </p:sp>
      <p:sp>
        <p:nvSpPr>
          <p:cNvPr id="55" name="Text 52"/>
          <p:cNvSpPr/>
          <p:nvPr/>
        </p:nvSpPr>
        <p:spPr>
          <a:xfrm>
            <a:off x="2005200" y="3693600"/>
            <a:ext cx="2037600" cy="496800"/>
          </a:xfrm>
          <a:prstGeom prst="rect">
            <a:avLst/>
          </a:prstGeom>
          <a:noFill/>
          <a:ln/>
        </p:spPr>
        <p:txBody>
          <a:bodyPr wrap="square" lIns="0" tIns="0" rIns="0" bIns="0" rtlCol="0" anchor="ctr"/>
          <a:lstStyle/>
          <a:p>
            <a:pPr algn="l" indent="0" marL="0">
              <a:buNone/>
            </a:pPr>
            <a:endParaRPr lang="en-US" sz="950" dirty="0"/>
          </a:p>
        </p:txBody>
      </p:sp>
      <p:sp>
        <p:nvSpPr>
          <p:cNvPr id="56" name="Shape 53"/>
          <p:cNvSpPr/>
          <p:nvPr/>
        </p:nvSpPr>
        <p:spPr>
          <a:xfrm>
            <a:off x="4104000" y="3654000"/>
            <a:ext cx="756000" cy="576000"/>
          </a:xfrm>
          <a:prstGeom prst="rect">
            <a:avLst/>
          </a:prstGeom>
          <a:solidFill>
            <a:srgbClr val="FFFFFF"/>
          </a:solidFill>
          <a:ln w="6985">
            <a:solidFill>
              <a:srgbClr val="202020"/>
            </a:solidFill>
            <a:prstDash val="solid"/>
          </a:ln>
        </p:spPr>
      </p:sp>
      <p:sp>
        <p:nvSpPr>
          <p:cNvPr id="57" name="Text 54"/>
          <p:cNvSpPr/>
          <p:nvPr/>
        </p:nvSpPr>
        <p:spPr>
          <a:xfrm>
            <a:off x="4165200" y="3693600"/>
            <a:ext cx="633600" cy="496800"/>
          </a:xfrm>
          <a:prstGeom prst="rect">
            <a:avLst/>
          </a:prstGeom>
          <a:noFill/>
          <a:ln/>
        </p:spPr>
        <p:txBody>
          <a:bodyPr wrap="square" lIns="0" tIns="0" rIns="0" bIns="0" rtlCol="0" anchor="ctr"/>
          <a:lstStyle/>
          <a:p>
            <a:pPr algn="l" indent="0" marL="0">
              <a:buNone/>
            </a:pPr>
            <a:endParaRPr lang="en-US" sz="950" dirty="0"/>
          </a:p>
        </p:txBody>
      </p:sp>
      <p:sp>
        <p:nvSpPr>
          <p:cNvPr id="58" name="Shape 55"/>
          <p:cNvSpPr/>
          <p:nvPr/>
        </p:nvSpPr>
        <p:spPr>
          <a:xfrm>
            <a:off x="4860000" y="3654000"/>
            <a:ext cx="720000" cy="576000"/>
          </a:xfrm>
          <a:prstGeom prst="rect">
            <a:avLst/>
          </a:prstGeom>
          <a:solidFill>
            <a:srgbClr val="FFFFFF"/>
          </a:solidFill>
          <a:ln w="6985">
            <a:solidFill>
              <a:srgbClr val="202020"/>
            </a:solidFill>
            <a:prstDash val="solid"/>
          </a:ln>
        </p:spPr>
      </p:sp>
      <p:sp>
        <p:nvSpPr>
          <p:cNvPr id="59" name="Text 56"/>
          <p:cNvSpPr/>
          <p:nvPr/>
        </p:nvSpPr>
        <p:spPr>
          <a:xfrm>
            <a:off x="4921200" y="3693600"/>
            <a:ext cx="597600" cy="496800"/>
          </a:xfrm>
          <a:prstGeom prst="rect">
            <a:avLst/>
          </a:prstGeom>
          <a:noFill/>
          <a:ln/>
        </p:spPr>
        <p:txBody>
          <a:bodyPr wrap="square" lIns="0" tIns="0" rIns="0" bIns="0" rtlCol="0" anchor="ctr"/>
          <a:lstStyle/>
          <a:p>
            <a:pPr algn="l" indent="0" marL="0">
              <a:buNone/>
            </a:pPr>
            <a:endParaRPr lang="en-US" sz="950" dirty="0"/>
          </a:p>
        </p:txBody>
      </p:sp>
      <p:sp>
        <p:nvSpPr>
          <p:cNvPr id="60" name="Shape 57"/>
          <p:cNvSpPr/>
          <p:nvPr/>
        </p:nvSpPr>
        <p:spPr>
          <a:xfrm>
            <a:off x="5580000" y="3654000"/>
            <a:ext cx="720000" cy="576000"/>
          </a:xfrm>
          <a:prstGeom prst="rect">
            <a:avLst/>
          </a:prstGeom>
          <a:solidFill>
            <a:srgbClr val="FFFFFF"/>
          </a:solidFill>
          <a:ln w="6985">
            <a:solidFill>
              <a:srgbClr val="202020"/>
            </a:solidFill>
            <a:prstDash val="solid"/>
          </a:ln>
        </p:spPr>
      </p:sp>
      <p:sp>
        <p:nvSpPr>
          <p:cNvPr id="61" name="Text 58"/>
          <p:cNvSpPr/>
          <p:nvPr/>
        </p:nvSpPr>
        <p:spPr>
          <a:xfrm>
            <a:off x="5641200" y="3693600"/>
            <a:ext cx="597600" cy="496800"/>
          </a:xfrm>
          <a:prstGeom prst="rect">
            <a:avLst/>
          </a:prstGeom>
          <a:noFill/>
          <a:ln/>
        </p:spPr>
        <p:txBody>
          <a:bodyPr wrap="square" lIns="0" tIns="0" rIns="0" bIns="0" rtlCol="0" anchor="ctr"/>
          <a:lstStyle/>
          <a:p>
            <a:pPr algn="l" indent="0" marL="0">
              <a:buNone/>
            </a:pPr>
            <a:endParaRPr lang="en-US" sz="950" dirty="0"/>
          </a:p>
        </p:txBody>
      </p:sp>
      <p:sp>
        <p:nvSpPr>
          <p:cNvPr id="62" name="Shape 59"/>
          <p:cNvSpPr/>
          <p:nvPr/>
        </p:nvSpPr>
        <p:spPr>
          <a:xfrm>
            <a:off x="6300000" y="3654000"/>
            <a:ext cx="720000" cy="576000"/>
          </a:xfrm>
          <a:prstGeom prst="rect">
            <a:avLst/>
          </a:prstGeom>
          <a:solidFill>
            <a:srgbClr val="FFFFFF"/>
          </a:solidFill>
          <a:ln w="6985">
            <a:solidFill>
              <a:srgbClr val="202020"/>
            </a:solidFill>
            <a:prstDash val="solid"/>
          </a:ln>
        </p:spPr>
      </p:sp>
      <p:sp>
        <p:nvSpPr>
          <p:cNvPr id="63" name="Text 60"/>
          <p:cNvSpPr/>
          <p:nvPr/>
        </p:nvSpPr>
        <p:spPr>
          <a:xfrm>
            <a:off x="6361200" y="3693600"/>
            <a:ext cx="597600" cy="496800"/>
          </a:xfrm>
          <a:prstGeom prst="rect">
            <a:avLst/>
          </a:prstGeom>
          <a:noFill/>
          <a:ln/>
        </p:spPr>
        <p:txBody>
          <a:bodyPr wrap="square" lIns="0" tIns="0" rIns="0" bIns="0" rtlCol="0" anchor="ctr"/>
          <a:lstStyle/>
          <a:p>
            <a:pPr algn="l" indent="0" marL="0">
              <a:buNone/>
            </a:pPr>
            <a:endParaRPr lang="en-US" sz="950" dirty="0"/>
          </a:p>
        </p:txBody>
      </p:sp>
      <p:sp>
        <p:nvSpPr>
          <p:cNvPr id="64" name="Shape 61"/>
          <p:cNvSpPr/>
          <p:nvPr/>
        </p:nvSpPr>
        <p:spPr>
          <a:xfrm>
            <a:off x="540000" y="4230000"/>
            <a:ext cx="684000" cy="576000"/>
          </a:xfrm>
          <a:prstGeom prst="rect">
            <a:avLst/>
          </a:prstGeom>
          <a:solidFill>
            <a:srgbClr val="FFFFFF"/>
          </a:solidFill>
          <a:ln w="6985">
            <a:solidFill>
              <a:srgbClr val="202020"/>
            </a:solidFill>
            <a:prstDash val="solid"/>
          </a:ln>
        </p:spPr>
      </p:sp>
      <p:sp>
        <p:nvSpPr>
          <p:cNvPr id="65" name="Text 62"/>
          <p:cNvSpPr/>
          <p:nvPr/>
        </p:nvSpPr>
        <p:spPr>
          <a:xfrm>
            <a:off x="601200" y="4269600"/>
            <a:ext cx="561600" cy="496800"/>
          </a:xfrm>
          <a:prstGeom prst="rect">
            <a:avLst/>
          </a:prstGeom>
          <a:noFill/>
          <a:ln/>
        </p:spPr>
        <p:txBody>
          <a:bodyPr wrap="square" lIns="0" tIns="0" rIns="0" bIns="0" rtlCol="0" anchor="ctr"/>
          <a:lstStyle/>
          <a:p>
            <a:pPr algn="l" indent="0" marL="0">
              <a:buNone/>
            </a:pPr>
            <a:endParaRPr lang="en-US" sz="950" dirty="0"/>
          </a:p>
        </p:txBody>
      </p:sp>
      <p:sp>
        <p:nvSpPr>
          <p:cNvPr id="66" name="Shape 63"/>
          <p:cNvSpPr/>
          <p:nvPr/>
        </p:nvSpPr>
        <p:spPr>
          <a:xfrm>
            <a:off x="1224000" y="4230000"/>
            <a:ext cx="720000" cy="576000"/>
          </a:xfrm>
          <a:prstGeom prst="rect">
            <a:avLst/>
          </a:prstGeom>
          <a:solidFill>
            <a:srgbClr val="FFFFFF"/>
          </a:solidFill>
          <a:ln w="6985">
            <a:solidFill>
              <a:srgbClr val="202020"/>
            </a:solidFill>
            <a:prstDash val="solid"/>
          </a:ln>
        </p:spPr>
      </p:sp>
      <p:sp>
        <p:nvSpPr>
          <p:cNvPr id="67" name="Text 64"/>
          <p:cNvSpPr/>
          <p:nvPr/>
        </p:nvSpPr>
        <p:spPr>
          <a:xfrm>
            <a:off x="1285200" y="4269600"/>
            <a:ext cx="597600" cy="496800"/>
          </a:xfrm>
          <a:prstGeom prst="rect">
            <a:avLst/>
          </a:prstGeom>
          <a:noFill/>
          <a:ln/>
        </p:spPr>
        <p:txBody>
          <a:bodyPr wrap="square" lIns="0" tIns="0" rIns="0" bIns="0" rtlCol="0" anchor="ctr"/>
          <a:lstStyle/>
          <a:p>
            <a:pPr algn="l" indent="0" marL="0">
              <a:buNone/>
            </a:pPr>
            <a:endParaRPr lang="en-US" sz="950" dirty="0"/>
          </a:p>
        </p:txBody>
      </p:sp>
      <p:sp>
        <p:nvSpPr>
          <p:cNvPr id="68" name="Shape 65"/>
          <p:cNvSpPr/>
          <p:nvPr/>
        </p:nvSpPr>
        <p:spPr>
          <a:xfrm>
            <a:off x="1944000" y="4230000"/>
            <a:ext cx="2160000" cy="576000"/>
          </a:xfrm>
          <a:prstGeom prst="rect">
            <a:avLst/>
          </a:prstGeom>
          <a:solidFill>
            <a:srgbClr val="FFFFFF"/>
          </a:solidFill>
          <a:ln w="6985">
            <a:solidFill>
              <a:srgbClr val="202020"/>
            </a:solidFill>
            <a:prstDash val="solid"/>
          </a:ln>
        </p:spPr>
      </p:sp>
      <p:sp>
        <p:nvSpPr>
          <p:cNvPr id="69" name="Text 66"/>
          <p:cNvSpPr/>
          <p:nvPr/>
        </p:nvSpPr>
        <p:spPr>
          <a:xfrm>
            <a:off x="2005200" y="4269600"/>
            <a:ext cx="2037600" cy="496800"/>
          </a:xfrm>
          <a:prstGeom prst="rect">
            <a:avLst/>
          </a:prstGeom>
          <a:noFill/>
          <a:ln/>
        </p:spPr>
        <p:txBody>
          <a:bodyPr wrap="square" lIns="0" tIns="0" rIns="0" bIns="0" rtlCol="0" anchor="ctr"/>
          <a:lstStyle/>
          <a:p>
            <a:pPr algn="l" indent="0" marL="0">
              <a:buNone/>
            </a:pPr>
            <a:endParaRPr lang="en-US" sz="950" dirty="0"/>
          </a:p>
        </p:txBody>
      </p:sp>
      <p:sp>
        <p:nvSpPr>
          <p:cNvPr id="70" name="Shape 67"/>
          <p:cNvSpPr/>
          <p:nvPr/>
        </p:nvSpPr>
        <p:spPr>
          <a:xfrm>
            <a:off x="4104000" y="4230000"/>
            <a:ext cx="756000" cy="576000"/>
          </a:xfrm>
          <a:prstGeom prst="rect">
            <a:avLst/>
          </a:prstGeom>
          <a:solidFill>
            <a:srgbClr val="FFFFFF"/>
          </a:solidFill>
          <a:ln w="6985">
            <a:solidFill>
              <a:srgbClr val="202020"/>
            </a:solidFill>
            <a:prstDash val="solid"/>
          </a:ln>
        </p:spPr>
      </p:sp>
      <p:sp>
        <p:nvSpPr>
          <p:cNvPr id="71" name="Text 68"/>
          <p:cNvSpPr/>
          <p:nvPr/>
        </p:nvSpPr>
        <p:spPr>
          <a:xfrm>
            <a:off x="4165200" y="4269600"/>
            <a:ext cx="633600" cy="496800"/>
          </a:xfrm>
          <a:prstGeom prst="rect">
            <a:avLst/>
          </a:prstGeom>
          <a:noFill/>
          <a:ln/>
        </p:spPr>
        <p:txBody>
          <a:bodyPr wrap="square" lIns="0" tIns="0" rIns="0" bIns="0" rtlCol="0" anchor="ctr"/>
          <a:lstStyle/>
          <a:p>
            <a:pPr algn="l" indent="0" marL="0">
              <a:buNone/>
            </a:pPr>
            <a:endParaRPr lang="en-US" sz="950" dirty="0"/>
          </a:p>
        </p:txBody>
      </p:sp>
      <p:sp>
        <p:nvSpPr>
          <p:cNvPr id="72" name="Shape 69"/>
          <p:cNvSpPr/>
          <p:nvPr/>
        </p:nvSpPr>
        <p:spPr>
          <a:xfrm>
            <a:off x="4860000" y="4230000"/>
            <a:ext cx="720000" cy="576000"/>
          </a:xfrm>
          <a:prstGeom prst="rect">
            <a:avLst/>
          </a:prstGeom>
          <a:solidFill>
            <a:srgbClr val="FFFFFF"/>
          </a:solidFill>
          <a:ln w="6985">
            <a:solidFill>
              <a:srgbClr val="202020"/>
            </a:solidFill>
            <a:prstDash val="solid"/>
          </a:ln>
        </p:spPr>
      </p:sp>
      <p:sp>
        <p:nvSpPr>
          <p:cNvPr id="73" name="Text 70"/>
          <p:cNvSpPr/>
          <p:nvPr/>
        </p:nvSpPr>
        <p:spPr>
          <a:xfrm>
            <a:off x="4921200" y="4269600"/>
            <a:ext cx="597600" cy="496800"/>
          </a:xfrm>
          <a:prstGeom prst="rect">
            <a:avLst/>
          </a:prstGeom>
          <a:noFill/>
          <a:ln/>
        </p:spPr>
        <p:txBody>
          <a:bodyPr wrap="square" lIns="0" tIns="0" rIns="0" bIns="0" rtlCol="0" anchor="ctr"/>
          <a:lstStyle/>
          <a:p>
            <a:pPr algn="l" indent="0" marL="0">
              <a:buNone/>
            </a:pPr>
            <a:endParaRPr lang="en-US" sz="950" dirty="0"/>
          </a:p>
        </p:txBody>
      </p:sp>
      <p:sp>
        <p:nvSpPr>
          <p:cNvPr id="74" name="Shape 71"/>
          <p:cNvSpPr/>
          <p:nvPr/>
        </p:nvSpPr>
        <p:spPr>
          <a:xfrm>
            <a:off x="5580000" y="4230000"/>
            <a:ext cx="720000" cy="576000"/>
          </a:xfrm>
          <a:prstGeom prst="rect">
            <a:avLst/>
          </a:prstGeom>
          <a:solidFill>
            <a:srgbClr val="FFFFFF"/>
          </a:solidFill>
          <a:ln w="6985">
            <a:solidFill>
              <a:srgbClr val="202020"/>
            </a:solidFill>
            <a:prstDash val="solid"/>
          </a:ln>
        </p:spPr>
      </p:sp>
      <p:sp>
        <p:nvSpPr>
          <p:cNvPr id="75" name="Text 72"/>
          <p:cNvSpPr/>
          <p:nvPr/>
        </p:nvSpPr>
        <p:spPr>
          <a:xfrm>
            <a:off x="5641200" y="4269600"/>
            <a:ext cx="597600" cy="496800"/>
          </a:xfrm>
          <a:prstGeom prst="rect">
            <a:avLst/>
          </a:prstGeom>
          <a:noFill/>
          <a:ln/>
        </p:spPr>
        <p:txBody>
          <a:bodyPr wrap="square" lIns="0" tIns="0" rIns="0" bIns="0" rtlCol="0" anchor="ctr"/>
          <a:lstStyle/>
          <a:p>
            <a:pPr algn="l" indent="0" marL="0">
              <a:buNone/>
            </a:pPr>
            <a:endParaRPr lang="en-US" sz="950" dirty="0"/>
          </a:p>
        </p:txBody>
      </p:sp>
      <p:sp>
        <p:nvSpPr>
          <p:cNvPr id="76" name="Shape 73"/>
          <p:cNvSpPr/>
          <p:nvPr/>
        </p:nvSpPr>
        <p:spPr>
          <a:xfrm>
            <a:off x="6300000" y="4230000"/>
            <a:ext cx="720000" cy="576000"/>
          </a:xfrm>
          <a:prstGeom prst="rect">
            <a:avLst/>
          </a:prstGeom>
          <a:solidFill>
            <a:srgbClr val="FFFFFF"/>
          </a:solidFill>
          <a:ln w="6985">
            <a:solidFill>
              <a:srgbClr val="202020"/>
            </a:solidFill>
            <a:prstDash val="solid"/>
          </a:ln>
        </p:spPr>
      </p:sp>
      <p:sp>
        <p:nvSpPr>
          <p:cNvPr id="77" name="Text 74"/>
          <p:cNvSpPr/>
          <p:nvPr/>
        </p:nvSpPr>
        <p:spPr>
          <a:xfrm>
            <a:off x="6361200" y="4269600"/>
            <a:ext cx="597600" cy="496800"/>
          </a:xfrm>
          <a:prstGeom prst="rect">
            <a:avLst/>
          </a:prstGeom>
          <a:noFill/>
          <a:ln/>
        </p:spPr>
        <p:txBody>
          <a:bodyPr wrap="square" lIns="0" tIns="0" rIns="0" bIns="0" rtlCol="0" anchor="ctr"/>
          <a:lstStyle/>
          <a:p>
            <a:pPr algn="l" indent="0" marL="0">
              <a:buNone/>
            </a:pPr>
            <a:endParaRPr lang="en-US" sz="950" dirty="0"/>
          </a:p>
        </p:txBody>
      </p:sp>
      <p:sp>
        <p:nvSpPr>
          <p:cNvPr id="78" name="Shape 75"/>
          <p:cNvSpPr/>
          <p:nvPr/>
        </p:nvSpPr>
        <p:spPr>
          <a:xfrm>
            <a:off x="1224000" y="4806000"/>
            <a:ext cx="3636000" cy="432000"/>
          </a:xfrm>
          <a:prstGeom prst="rect">
            <a:avLst/>
          </a:prstGeom>
          <a:solidFill>
            <a:srgbClr val="D9EAF7"/>
          </a:solidFill>
          <a:ln w="6985">
            <a:solidFill>
              <a:srgbClr val="202020"/>
            </a:solidFill>
            <a:prstDash val="solid"/>
          </a:ln>
        </p:spPr>
      </p:sp>
      <p:sp>
        <p:nvSpPr>
          <p:cNvPr id="79" name="Text 76"/>
          <p:cNvSpPr/>
          <p:nvPr/>
        </p:nvSpPr>
        <p:spPr>
          <a:xfrm>
            <a:off x="1285200" y="4845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80" name="Shape 77"/>
          <p:cNvSpPr/>
          <p:nvPr/>
        </p:nvSpPr>
        <p:spPr>
          <a:xfrm>
            <a:off x="4860000" y="4806000"/>
            <a:ext cx="720000" cy="432000"/>
          </a:xfrm>
          <a:prstGeom prst="rect">
            <a:avLst/>
          </a:prstGeom>
          <a:solidFill>
            <a:srgbClr val="D9EAF7"/>
          </a:solidFill>
          <a:ln w="6985">
            <a:solidFill>
              <a:srgbClr val="202020"/>
            </a:solidFill>
            <a:prstDash val="solid"/>
          </a:ln>
        </p:spPr>
      </p:sp>
      <p:sp>
        <p:nvSpPr>
          <p:cNvPr id="81" name="Text 78"/>
          <p:cNvSpPr/>
          <p:nvPr/>
        </p:nvSpPr>
        <p:spPr>
          <a:xfrm>
            <a:off x="4921200" y="4845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82" name="Shape 79"/>
          <p:cNvSpPr/>
          <p:nvPr/>
        </p:nvSpPr>
        <p:spPr>
          <a:xfrm>
            <a:off x="5580000" y="4806000"/>
            <a:ext cx="720000" cy="432000"/>
          </a:xfrm>
          <a:prstGeom prst="rect">
            <a:avLst/>
          </a:prstGeom>
          <a:solidFill>
            <a:srgbClr val="D9EAF7"/>
          </a:solidFill>
          <a:ln w="6985">
            <a:solidFill>
              <a:srgbClr val="202020"/>
            </a:solidFill>
            <a:prstDash val="solid"/>
          </a:ln>
        </p:spPr>
      </p:sp>
      <p:sp>
        <p:nvSpPr>
          <p:cNvPr id="83" name="Text 80"/>
          <p:cNvSpPr/>
          <p:nvPr/>
        </p:nvSpPr>
        <p:spPr>
          <a:xfrm>
            <a:off x="5641200" y="4845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4" name="Shape 81"/>
          <p:cNvSpPr/>
          <p:nvPr/>
        </p:nvSpPr>
        <p:spPr>
          <a:xfrm>
            <a:off x="6300000" y="4806000"/>
            <a:ext cx="720000" cy="432000"/>
          </a:xfrm>
          <a:prstGeom prst="rect">
            <a:avLst/>
          </a:prstGeom>
          <a:solidFill>
            <a:srgbClr val="D9EAF7"/>
          </a:solidFill>
          <a:ln w="6985">
            <a:solidFill>
              <a:srgbClr val="202020"/>
            </a:solidFill>
            <a:prstDash val="solid"/>
          </a:ln>
        </p:spPr>
      </p:sp>
      <p:sp>
        <p:nvSpPr>
          <p:cNvPr id="85" name="Text 82"/>
          <p:cNvSpPr/>
          <p:nvPr/>
        </p:nvSpPr>
        <p:spPr>
          <a:xfrm>
            <a:off x="6361200" y="4845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6" name="Shape 83"/>
          <p:cNvSpPr/>
          <p:nvPr/>
        </p:nvSpPr>
        <p:spPr>
          <a:xfrm>
            <a:off x="1224000" y="5238000"/>
            <a:ext cx="3636000" cy="432000"/>
          </a:xfrm>
          <a:prstGeom prst="rect">
            <a:avLst/>
          </a:prstGeom>
          <a:solidFill>
            <a:srgbClr val="D9EAF7"/>
          </a:solidFill>
          <a:ln w="6985">
            <a:solidFill>
              <a:srgbClr val="202020"/>
            </a:solidFill>
            <a:prstDash val="solid"/>
          </a:ln>
        </p:spPr>
      </p:sp>
      <p:sp>
        <p:nvSpPr>
          <p:cNvPr id="87" name="Text 84"/>
          <p:cNvSpPr/>
          <p:nvPr/>
        </p:nvSpPr>
        <p:spPr>
          <a:xfrm>
            <a:off x="1285200" y="5277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88" name="Shape 85"/>
          <p:cNvSpPr/>
          <p:nvPr/>
        </p:nvSpPr>
        <p:spPr>
          <a:xfrm>
            <a:off x="4860000" y="5238000"/>
            <a:ext cx="720000" cy="432000"/>
          </a:xfrm>
          <a:prstGeom prst="rect">
            <a:avLst/>
          </a:prstGeom>
          <a:solidFill>
            <a:srgbClr val="D9EAF7"/>
          </a:solidFill>
          <a:ln w="6985">
            <a:solidFill>
              <a:srgbClr val="202020"/>
            </a:solidFill>
            <a:prstDash val="solid"/>
          </a:ln>
        </p:spPr>
      </p:sp>
      <p:sp>
        <p:nvSpPr>
          <p:cNvPr id="89" name="Text 86"/>
          <p:cNvSpPr/>
          <p:nvPr/>
        </p:nvSpPr>
        <p:spPr>
          <a:xfrm>
            <a:off x="4921200" y="527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0" name="Shape 87"/>
          <p:cNvSpPr/>
          <p:nvPr/>
        </p:nvSpPr>
        <p:spPr>
          <a:xfrm>
            <a:off x="5580000" y="5238000"/>
            <a:ext cx="720000" cy="432000"/>
          </a:xfrm>
          <a:prstGeom prst="rect">
            <a:avLst/>
          </a:prstGeom>
          <a:solidFill>
            <a:srgbClr val="D9EAF7"/>
          </a:solidFill>
          <a:ln w="6985">
            <a:solidFill>
              <a:srgbClr val="202020"/>
            </a:solidFill>
            <a:prstDash val="solid"/>
          </a:ln>
        </p:spPr>
      </p:sp>
      <p:sp>
        <p:nvSpPr>
          <p:cNvPr id="91" name="Text 88"/>
          <p:cNvSpPr/>
          <p:nvPr/>
        </p:nvSpPr>
        <p:spPr>
          <a:xfrm>
            <a:off x="5641200" y="5277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92" name="Shape 89"/>
          <p:cNvSpPr/>
          <p:nvPr/>
        </p:nvSpPr>
        <p:spPr>
          <a:xfrm>
            <a:off x="6300000" y="5238000"/>
            <a:ext cx="720000" cy="432000"/>
          </a:xfrm>
          <a:prstGeom prst="rect">
            <a:avLst/>
          </a:prstGeom>
          <a:solidFill>
            <a:srgbClr val="D9EAF7"/>
          </a:solidFill>
          <a:ln w="6985">
            <a:solidFill>
              <a:srgbClr val="202020"/>
            </a:solidFill>
            <a:prstDash val="solid"/>
          </a:ln>
        </p:spPr>
      </p:sp>
      <p:sp>
        <p:nvSpPr>
          <p:cNvPr id="93" name="Text 90"/>
          <p:cNvSpPr/>
          <p:nvPr/>
        </p:nvSpPr>
        <p:spPr>
          <a:xfrm>
            <a:off x="6361200" y="527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4" name="Shape 91"/>
          <p:cNvSpPr/>
          <p:nvPr/>
        </p:nvSpPr>
        <p:spPr>
          <a:xfrm>
            <a:off x="1224000" y="5670000"/>
            <a:ext cx="3636000" cy="432000"/>
          </a:xfrm>
          <a:prstGeom prst="rect">
            <a:avLst/>
          </a:prstGeom>
          <a:solidFill>
            <a:srgbClr val="D9EAF7"/>
          </a:solidFill>
          <a:ln w="6985">
            <a:solidFill>
              <a:srgbClr val="202020"/>
            </a:solidFill>
            <a:prstDash val="solid"/>
          </a:ln>
        </p:spPr>
      </p:sp>
      <p:sp>
        <p:nvSpPr>
          <p:cNvPr id="95" name="Text 92"/>
          <p:cNvSpPr/>
          <p:nvPr/>
        </p:nvSpPr>
        <p:spPr>
          <a:xfrm>
            <a:off x="1285200" y="5709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96" name="Shape 93"/>
          <p:cNvSpPr/>
          <p:nvPr/>
        </p:nvSpPr>
        <p:spPr>
          <a:xfrm>
            <a:off x="4860000" y="5670000"/>
            <a:ext cx="720000" cy="432000"/>
          </a:xfrm>
          <a:prstGeom prst="rect">
            <a:avLst/>
          </a:prstGeom>
          <a:solidFill>
            <a:srgbClr val="D9EAF7"/>
          </a:solidFill>
          <a:ln w="6985">
            <a:solidFill>
              <a:srgbClr val="202020"/>
            </a:solidFill>
            <a:prstDash val="solid"/>
          </a:ln>
        </p:spPr>
      </p:sp>
      <p:sp>
        <p:nvSpPr>
          <p:cNvPr id="97" name="Text 94"/>
          <p:cNvSpPr/>
          <p:nvPr/>
        </p:nvSpPr>
        <p:spPr>
          <a:xfrm>
            <a:off x="4921200" y="570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8" name="Shape 95"/>
          <p:cNvSpPr/>
          <p:nvPr/>
        </p:nvSpPr>
        <p:spPr>
          <a:xfrm>
            <a:off x="5580000" y="5670000"/>
            <a:ext cx="720000" cy="432000"/>
          </a:xfrm>
          <a:prstGeom prst="rect">
            <a:avLst/>
          </a:prstGeom>
          <a:solidFill>
            <a:srgbClr val="D9EAF7"/>
          </a:solidFill>
          <a:ln w="6985">
            <a:solidFill>
              <a:srgbClr val="202020"/>
            </a:solidFill>
            <a:prstDash val="solid"/>
          </a:ln>
        </p:spPr>
      </p:sp>
      <p:sp>
        <p:nvSpPr>
          <p:cNvPr id="99" name="Text 96"/>
          <p:cNvSpPr/>
          <p:nvPr/>
        </p:nvSpPr>
        <p:spPr>
          <a:xfrm>
            <a:off x="5641200" y="570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100" name="Shape 97"/>
          <p:cNvSpPr/>
          <p:nvPr/>
        </p:nvSpPr>
        <p:spPr>
          <a:xfrm>
            <a:off x="6300000" y="5670000"/>
            <a:ext cx="720000" cy="432000"/>
          </a:xfrm>
          <a:prstGeom prst="rect">
            <a:avLst/>
          </a:prstGeom>
          <a:solidFill>
            <a:srgbClr val="D9EAF7"/>
          </a:solidFill>
          <a:ln w="6985">
            <a:solidFill>
              <a:srgbClr val="202020"/>
            </a:solidFill>
            <a:prstDash val="solid"/>
          </a:ln>
        </p:spPr>
      </p:sp>
      <p:sp>
        <p:nvSpPr>
          <p:cNvPr id="101" name="Text 98"/>
          <p:cNvSpPr/>
          <p:nvPr/>
        </p:nvSpPr>
        <p:spPr>
          <a:xfrm>
            <a:off x="6361200" y="5709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102" name="Shape 99"/>
          <p:cNvSpPr/>
          <p:nvPr/>
        </p:nvSpPr>
        <p:spPr>
          <a:xfrm>
            <a:off x="1224000" y="6102000"/>
            <a:ext cx="3636000" cy="396000"/>
          </a:xfrm>
          <a:prstGeom prst="rect">
            <a:avLst/>
          </a:prstGeom>
          <a:solidFill>
            <a:srgbClr val="D9EAF7"/>
          </a:solidFill>
          <a:ln w="6985">
            <a:solidFill>
              <a:srgbClr val="202020"/>
            </a:solidFill>
            <a:prstDash val="solid"/>
          </a:ln>
        </p:spPr>
      </p:sp>
      <p:sp>
        <p:nvSpPr>
          <p:cNvPr id="103" name="Text 100"/>
          <p:cNvSpPr/>
          <p:nvPr/>
        </p:nvSpPr>
        <p:spPr>
          <a:xfrm>
            <a:off x="1285200" y="6141600"/>
            <a:ext cx="3513600" cy="31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104" name="Shape 101"/>
          <p:cNvSpPr/>
          <p:nvPr/>
        </p:nvSpPr>
        <p:spPr>
          <a:xfrm>
            <a:off x="4860000" y="6102000"/>
            <a:ext cx="2160000" cy="396000"/>
          </a:xfrm>
          <a:prstGeom prst="rect">
            <a:avLst/>
          </a:prstGeom>
          <a:solidFill>
            <a:srgbClr val="D9EAF7"/>
          </a:solidFill>
          <a:ln w="6985">
            <a:solidFill>
              <a:srgbClr val="202020"/>
            </a:solidFill>
            <a:prstDash val="solid"/>
          </a:ln>
        </p:spPr>
      </p:sp>
      <p:sp>
        <p:nvSpPr>
          <p:cNvPr id="105" name="Text 102"/>
          <p:cNvSpPr/>
          <p:nvPr/>
        </p:nvSpPr>
        <p:spPr>
          <a:xfrm>
            <a:off x="4921200" y="6141600"/>
            <a:ext cx="2037600" cy="31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106" name="Text 103"/>
          <p:cNvSpPr/>
          <p:nvPr/>
        </p:nvSpPr>
        <p:spPr>
          <a:xfrm>
            <a:off x="540000" y="6570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692000"/>
            <a:ext cx="1008000" cy="504000"/>
          </a:xfrm>
          <a:prstGeom prst="rect">
            <a:avLst/>
          </a:prstGeom>
          <a:solidFill>
            <a:srgbClr val="176181"/>
          </a:solidFill>
          <a:ln w="6985">
            <a:solidFill>
              <a:srgbClr val="202020"/>
            </a:solidFill>
            <a:prstDash val="solid"/>
          </a:ln>
        </p:spPr>
      </p:sp>
      <p:sp>
        <p:nvSpPr>
          <p:cNvPr id="9" name="Text 6"/>
          <p:cNvSpPr/>
          <p:nvPr/>
        </p:nvSpPr>
        <p:spPr>
          <a:xfrm>
            <a:off x="601200" y="1731600"/>
            <a:ext cx="88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 du curatif</a:t>
            </a:r>
            <a:endParaRPr lang="en-US" sz="950" dirty="0"/>
          </a:p>
        </p:txBody>
      </p:sp>
      <p:sp>
        <p:nvSpPr>
          <p:cNvPr id="10" name="Shape 7"/>
          <p:cNvSpPr/>
          <p:nvPr/>
        </p:nvSpPr>
        <p:spPr>
          <a:xfrm>
            <a:off x="1548000" y="1692000"/>
            <a:ext cx="684000" cy="504000"/>
          </a:xfrm>
          <a:prstGeom prst="rect">
            <a:avLst/>
          </a:prstGeom>
          <a:solidFill>
            <a:srgbClr val="176181"/>
          </a:solidFill>
          <a:ln w="6985">
            <a:solidFill>
              <a:srgbClr val="202020"/>
            </a:solidFill>
            <a:prstDash val="solid"/>
          </a:ln>
        </p:spPr>
      </p:sp>
      <p:sp>
        <p:nvSpPr>
          <p:cNvPr id="11" name="Text 8"/>
          <p:cNvSpPr/>
          <p:nvPr/>
        </p:nvSpPr>
        <p:spPr>
          <a:xfrm>
            <a:off x="1609200" y="1731600"/>
            <a:ext cx="561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 du curatif</a:t>
            </a:r>
            <a:endParaRPr lang="en-US" sz="950" dirty="0"/>
          </a:p>
        </p:txBody>
      </p:sp>
      <p:sp>
        <p:nvSpPr>
          <p:cNvPr id="12" name="Shape 9"/>
          <p:cNvSpPr/>
          <p:nvPr/>
        </p:nvSpPr>
        <p:spPr>
          <a:xfrm>
            <a:off x="2232000" y="1692000"/>
            <a:ext cx="3420000" cy="504000"/>
          </a:xfrm>
          <a:prstGeom prst="rect">
            <a:avLst/>
          </a:prstGeom>
          <a:solidFill>
            <a:srgbClr val="176181"/>
          </a:solidFill>
          <a:ln w="6985">
            <a:solidFill>
              <a:srgbClr val="202020"/>
            </a:solidFill>
            <a:prstDash val="solid"/>
          </a:ln>
        </p:spPr>
      </p:sp>
      <p:sp>
        <p:nvSpPr>
          <p:cNvPr id="13" name="Text 10"/>
          <p:cNvSpPr/>
          <p:nvPr/>
        </p:nvSpPr>
        <p:spPr>
          <a:xfrm>
            <a:off x="2293200" y="1731600"/>
            <a:ext cx="3297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5652000" y="1692000"/>
            <a:ext cx="1368000" cy="504000"/>
          </a:xfrm>
          <a:prstGeom prst="rect">
            <a:avLst/>
          </a:prstGeom>
          <a:solidFill>
            <a:srgbClr val="176181"/>
          </a:solidFill>
          <a:ln w="6985">
            <a:solidFill>
              <a:srgbClr val="202020"/>
            </a:solidFill>
            <a:prstDash val="solid"/>
          </a:ln>
        </p:spPr>
      </p:sp>
      <p:sp>
        <p:nvSpPr>
          <p:cNvPr id="15" name="Text 12"/>
          <p:cNvSpPr/>
          <p:nvPr/>
        </p:nvSpPr>
        <p:spPr>
          <a:xfrm>
            <a:off x="5713200" y="1731600"/>
            <a:ext cx="124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 (TTC)</a:t>
            </a:r>
            <a:endParaRPr lang="en-US" sz="950" dirty="0"/>
          </a:p>
        </p:txBody>
      </p:sp>
      <p:sp>
        <p:nvSpPr>
          <p:cNvPr id="16" name="Shape 13"/>
          <p:cNvSpPr/>
          <p:nvPr/>
        </p:nvSpPr>
        <p:spPr>
          <a:xfrm>
            <a:off x="540000" y="2196000"/>
            <a:ext cx="1008000" cy="1440000"/>
          </a:xfrm>
          <a:prstGeom prst="rect">
            <a:avLst/>
          </a:prstGeom>
          <a:solidFill>
            <a:srgbClr val="50AB2C"/>
          </a:solidFill>
          <a:ln w="6985">
            <a:solidFill>
              <a:srgbClr val="202020"/>
            </a:solidFill>
            <a:prstDash val="solid"/>
          </a:ln>
        </p:spPr>
      </p:sp>
      <p:sp>
        <p:nvSpPr>
          <p:cNvPr id="17" name="Text 14"/>
          <p:cNvSpPr/>
          <p:nvPr/>
        </p:nvSpPr>
        <p:spPr>
          <a:xfrm>
            <a:off x="601200" y="2235600"/>
            <a:ext cx="885600" cy="1360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Travaux énergétiques</a:t>
            </a:r>
            <a:endParaRPr lang="en-US" sz="1000" dirty="0"/>
          </a:p>
        </p:txBody>
      </p:sp>
      <p:sp>
        <p:nvSpPr>
          <p:cNvPr id="18" name="Shape 15"/>
          <p:cNvSpPr/>
          <p:nvPr/>
        </p:nvSpPr>
        <p:spPr>
          <a:xfrm>
            <a:off x="1548000" y="2196000"/>
            <a:ext cx="684000" cy="360000"/>
          </a:xfrm>
          <a:prstGeom prst="rect">
            <a:avLst/>
          </a:prstGeom>
          <a:solidFill>
            <a:srgbClr val="B6E3A4"/>
          </a:solidFill>
          <a:ln w="6985">
            <a:solidFill>
              <a:srgbClr val="202020"/>
            </a:solidFill>
            <a:prstDash val="solid"/>
          </a:ln>
        </p:spPr>
      </p:sp>
      <p:sp>
        <p:nvSpPr>
          <p:cNvPr id="19" name="Text 16"/>
          <p:cNvSpPr/>
          <p:nvPr/>
        </p:nvSpPr>
        <p:spPr>
          <a:xfrm>
            <a:off x="1609200" y="2235600"/>
            <a:ext cx="561600" cy="280800"/>
          </a:xfrm>
          <a:prstGeom prst="rect">
            <a:avLst/>
          </a:prstGeom>
          <a:noFill/>
          <a:ln/>
        </p:spPr>
        <p:txBody>
          <a:bodyPr wrap="square" lIns="0" tIns="0" rIns="0" bIns="0" rtlCol="0" anchor="ctr"/>
          <a:lstStyle/>
          <a:p>
            <a:pPr algn="l" indent="0" marL="0">
              <a:buNone/>
            </a:pPr>
            <a:endParaRPr lang="en-US" sz="870" dirty="0"/>
          </a:p>
        </p:txBody>
      </p:sp>
      <p:sp>
        <p:nvSpPr>
          <p:cNvPr id="20" name="Shape 17"/>
          <p:cNvSpPr/>
          <p:nvPr/>
        </p:nvSpPr>
        <p:spPr>
          <a:xfrm>
            <a:off x="2232000" y="2196000"/>
            <a:ext cx="3420000" cy="360000"/>
          </a:xfrm>
          <a:prstGeom prst="rect">
            <a:avLst/>
          </a:prstGeom>
          <a:solidFill>
            <a:srgbClr val="B6E3A4"/>
          </a:solidFill>
          <a:ln w="6985">
            <a:solidFill>
              <a:srgbClr val="202020"/>
            </a:solidFill>
            <a:prstDash val="solid"/>
          </a:ln>
        </p:spPr>
      </p:sp>
      <p:sp>
        <p:nvSpPr>
          <p:cNvPr id="21" name="Text 18"/>
          <p:cNvSpPr/>
          <p:nvPr/>
        </p:nvSpPr>
        <p:spPr>
          <a:xfrm>
            <a:off x="2293200" y="223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2" name="Shape 19"/>
          <p:cNvSpPr/>
          <p:nvPr/>
        </p:nvSpPr>
        <p:spPr>
          <a:xfrm>
            <a:off x="5652000" y="2196000"/>
            <a:ext cx="1368000" cy="360000"/>
          </a:xfrm>
          <a:prstGeom prst="rect">
            <a:avLst/>
          </a:prstGeom>
          <a:solidFill>
            <a:srgbClr val="B6E3A4"/>
          </a:solidFill>
          <a:ln w="6985">
            <a:solidFill>
              <a:srgbClr val="202020"/>
            </a:solidFill>
            <a:prstDash val="solid"/>
          </a:ln>
        </p:spPr>
      </p:sp>
      <p:sp>
        <p:nvSpPr>
          <p:cNvPr id="23" name="Text 20"/>
          <p:cNvSpPr/>
          <p:nvPr/>
        </p:nvSpPr>
        <p:spPr>
          <a:xfrm>
            <a:off x="5713200" y="2235600"/>
            <a:ext cx="1245600" cy="280800"/>
          </a:xfrm>
          <a:prstGeom prst="rect">
            <a:avLst/>
          </a:prstGeom>
          <a:noFill/>
          <a:ln/>
        </p:spPr>
        <p:txBody>
          <a:bodyPr wrap="square" lIns="0" tIns="0" rIns="0" bIns="0" rtlCol="0" anchor="ctr"/>
          <a:lstStyle/>
          <a:p>
            <a:pPr algn="l" indent="0" marL="0">
              <a:buNone/>
            </a:pPr>
            <a:endParaRPr lang="en-US" sz="870" dirty="0"/>
          </a:p>
        </p:txBody>
      </p:sp>
      <p:sp>
        <p:nvSpPr>
          <p:cNvPr id="24" name="Shape 21"/>
          <p:cNvSpPr/>
          <p:nvPr/>
        </p:nvSpPr>
        <p:spPr>
          <a:xfrm>
            <a:off x="1548000" y="2556000"/>
            <a:ext cx="684000" cy="360000"/>
          </a:xfrm>
          <a:prstGeom prst="rect">
            <a:avLst/>
          </a:prstGeom>
          <a:solidFill>
            <a:srgbClr val="B6E3A4"/>
          </a:solidFill>
          <a:ln w="6985">
            <a:solidFill>
              <a:srgbClr val="202020"/>
            </a:solidFill>
            <a:prstDash val="solid"/>
          </a:ln>
        </p:spPr>
      </p:sp>
      <p:sp>
        <p:nvSpPr>
          <p:cNvPr id="25" name="Text 22"/>
          <p:cNvSpPr/>
          <p:nvPr/>
        </p:nvSpPr>
        <p:spPr>
          <a:xfrm>
            <a:off x="1609200" y="2595600"/>
            <a:ext cx="561600" cy="280800"/>
          </a:xfrm>
          <a:prstGeom prst="rect">
            <a:avLst/>
          </a:prstGeom>
          <a:noFill/>
          <a:ln/>
        </p:spPr>
        <p:txBody>
          <a:bodyPr wrap="square" lIns="0" tIns="0" rIns="0" bIns="0" rtlCol="0" anchor="ctr"/>
          <a:lstStyle/>
          <a:p>
            <a:pPr algn="l" indent="0" marL="0">
              <a:buNone/>
            </a:pPr>
            <a:endParaRPr lang="en-US" sz="870" dirty="0"/>
          </a:p>
        </p:txBody>
      </p:sp>
      <p:sp>
        <p:nvSpPr>
          <p:cNvPr id="26" name="Shape 23"/>
          <p:cNvSpPr/>
          <p:nvPr/>
        </p:nvSpPr>
        <p:spPr>
          <a:xfrm>
            <a:off x="2232000" y="2556000"/>
            <a:ext cx="3420000" cy="360000"/>
          </a:xfrm>
          <a:prstGeom prst="rect">
            <a:avLst/>
          </a:prstGeom>
          <a:solidFill>
            <a:srgbClr val="B6E3A4"/>
          </a:solidFill>
          <a:ln w="6985">
            <a:solidFill>
              <a:srgbClr val="202020"/>
            </a:solidFill>
            <a:prstDash val="solid"/>
          </a:ln>
        </p:spPr>
      </p:sp>
      <p:sp>
        <p:nvSpPr>
          <p:cNvPr id="27" name="Text 24"/>
          <p:cNvSpPr/>
          <p:nvPr/>
        </p:nvSpPr>
        <p:spPr>
          <a:xfrm>
            <a:off x="2293200" y="259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8" name="Shape 25"/>
          <p:cNvSpPr/>
          <p:nvPr/>
        </p:nvSpPr>
        <p:spPr>
          <a:xfrm>
            <a:off x="5652000" y="2556000"/>
            <a:ext cx="1368000" cy="360000"/>
          </a:xfrm>
          <a:prstGeom prst="rect">
            <a:avLst/>
          </a:prstGeom>
          <a:solidFill>
            <a:srgbClr val="B6E3A4"/>
          </a:solidFill>
          <a:ln w="6985">
            <a:solidFill>
              <a:srgbClr val="202020"/>
            </a:solidFill>
            <a:prstDash val="solid"/>
          </a:ln>
        </p:spPr>
      </p:sp>
      <p:sp>
        <p:nvSpPr>
          <p:cNvPr id="29" name="Text 26"/>
          <p:cNvSpPr/>
          <p:nvPr/>
        </p:nvSpPr>
        <p:spPr>
          <a:xfrm>
            <a:off x="5713200" y="259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0" name="Shape 27"/>
          <p:cNvSpPr/>
          <p:nvPr/>
        </p:nvSpPr>
        <p:spPr>
          <a:xfrm>
            <a:off x="1548000" y="2916000"/>
            <a:ext cx="684000" cy="360000"/>
          </a:xfrm>
          <a:prstGeom prst="rect">
            <a:avLst/>
          </a:prstGeom>
          <a:solidFill>
            <a:srgbClr val="B6E3A4"/>
          </a:solidFill>
          <a:ln w="6985">
            <a:solidFill>
              <a:srgbClr val="202020"/>
            </a:solidFill>
            <a:prstDash val="solid"/>
          </a:ln>
        </p:spPr>
      </p:sp>
      <p:sp>
        <p:nvSpPr>
          <p:cNvPr id="31" name="Text 28"/>
          <p:cNvSpPr/>
          <p:nvPr/>
        </p:nvSpPr>
        <p:spPr>
          <a:xfrm>
            <a:off x="1609200" y="2955600"/>
            <a:ext cx="561600" cy="280800"/>
          </a:xfrm>
          <a:prstGeom prst="rect">
            <a:avLst/>
          </a:prstGeom>
          <a:noFill/>
          <a:ln/>
        </p:spPr>
        <p:txBody>
          <a:bodyPr wrap="square" lIns="0" tIns="0" rIns="0" bIns="0" rtlCol="0" anchor="ctr"/>
          <a:lstStyle/>
          <a:p>
            <a:pPr algn="l" indent="0" marL="0">
              <a:buNone/>
            </a:pPr>
            <a:endParaRPr lang="en-US" sz="870" dirty="0"/>
          </a:p>
        </p:txBody>
      </p:sp>
      <p:sp>
        <p:nvSpPr>
          <p:cNvPr id="32" name="Shape 29"/>
          <p:cNvSpPr/>
          <p:nvPr/>
        </p:nvSpPr>
        <p:spPr>
          <a:xfrm>
            <a:off x="2232000" y="2916000"/>
            <a:ext cx="3420000" cy="360000"/>
          </a:xfrm>
          <a:prstGeom prst="rect">
            <a:avLst/>
          </a:prstGeom>
          <a:solidFill>
            <a:srgbClr val="B6E3A4"/>
          </a:solidFill>
          <a:ln w="6985">
            <a:solidFill>
              <a:srgbClr val="202020"/>
            </a:solidFill>
            <a:prstDash val="solid"/>
          </a:ln>
        </p:spPr>
      </p:sp>
      <p:sp>
        <p:nvSpPr>
          <p:cNvPr id="33" name="Text 30"/>
          <p:cNvSpPr/>
          <p:nvPr/>
        </p:nvSpPr>
        <p:spPr>
          <a:xfrm>
            <a:off x="2293200" y="2955600"/>
            <a:ext cx="3297600" cy="280800"/>
          </a:xfrm>
          <a:prstGeom prst="rect">
            <a:avLst/>
          </a:prstGeom>
          <a:noFill/>
          <a:ln/>
        </p:spPr>
        <p:txBody>
          <a:bodyPr wrap="square" lIns="0" tIns="0" rIns="0" bIns="0" rtlCol="0" anchor="ctr"/>
          <a:lstStyle/>
          <a:p>
            <a:pPr algn="l" indent="0" marL="0">
              <a:buNone/>
            </a:pPr>
            <a:endParaRPr lang="en-US" sz="870" dirty="0"/>
          </a:p>
        </p:txBody>
      </p:sp>
      <p:sp>
        <p:nvSpPr>
          <p:cNvPr id="34" name="Shape 31"/>
          <p:cNvSpPr/>
          <p:nvPr/>
        </p:nvSpPr>
        <p:spPr>
          <a:xfrm>
            <a:off x="5652000" y="2916000"/>
            <a:ext cx="1368000" cy="360000"/>
          </a:xfrm>
          <a:prstGeom prst="rect">
            <a:avLst/>
          </a:prstGeom>
          <a:solidFill>
            <a:srgbClr val="B6E3A4"/>
          </a:solidFill>
          <a:ln w="6985">
            <a:solidFill>
              <a:srgbClr val="202020"/>
            </a:solidFill>
            <a:prstDash val="solid"/>
          </a:ln>
        </p:spPr>
      </p:sp>
      <p:sp>
        <p:nvSpPr>
          <p:cNvPr id="35" name="Text 32"/>
          <p:cNvSpPr/>
          <p:nvPr/>
        </p:nvSpPr>
        <p:spPr>
          <a:xfrm>
            <a:off x="5713200" y="295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6" name="Shape 33"/>
          <p:cNvSpPr/>
          <p:nvPr/>
        </p:nvSpPr>
        <p:spPr>
          <a:xfrm>
            <a:off x="1548000" y="3276000"/>
            <a:ext cx="684000" cy="360000"/>
          </a:xfrm>
          <a:prstGeom prst="rect">
            <a:avLst/>
          </a:prstGeom>
          <a:solidFill>
            <a:srgbClr val="B6E3A4"/>
          </a:solidFill>
          <a:ln w="6985">
            <a:solidFill>
              <a:srgbClr val="202020"/>
            </a:solidFill>
            <a:prstDash val="solid"/>
          </a:ln>
        </p:spPr>
      </p:sp>
      <p:sp>
        <p:nvSpPr>
          <p:cNvPr id="37" name="Text 34"/>
          <p:cNvSpPr/>
          <p:nvPr/>
        </p:nvSpPr>
        <p:spPr>
          <a:xfrm>
            <a:off x="1609200" y="3315600"/>
            <a:ext cx="561600" cy="280800"/>
          </a:xfrm>
          <a:prstGeom prst="rect">
            <a:avLst/>
          </a:prstGeom>
          <a:noFill/>
          <a:ln/>
        </p:spPr>
        <p:txBody>
          <a:bodyPr wrap="square" lIns="0" tIns="0" rIns="0" bIns="0" rtlCol="0" anchor="ctr"/>
          <a:lstStyle/>
          <a:p>
            <a:pPr algn="l" indent="0" marL="0">
              <a:buNone/>
            </a:pPr>
            <a:endParaRPr lang="en-US" sz="870" dirty="0"/>
          </a:p>
        </p:txBody>
      </p:sp>
      <p:sp>
        <p:nvSpPr>
          <p:cNvPr id="38" name="Shape 35"/>
          <p:cNvSpPr/>
          <p:nvPr/>
        </p:nvSpPr>
        <p:spPr>
          <a:xfrm>
            <a:off x="2232000" y="3276000"/>
            <a:ext cx="3420000" cy="360000"/>
          </a:xfrm>
          <a:prstGeom prst="rect">
            <a:avLst/>
          </a:prstGeom>
          <a:solidFill>
            <a:srgbClr val="B6E3A4"/>
          </a:solidFill>
          <a:ln w="6985">
            <a:solidFill>
              <a:srgbClr val="202020"/>
            </a:solidFill>
            <a:prstDash val="solid"/>
          </a:ln>
        </p:spPr>
      </p:sp>
      <p:sp>
        <p:nvSpPr>
          <p:cNvPr id="39" name="Text 36"/>
          <p:cNvSpPr/>
          <p:nvPr/>
        </p:nvSpPr>
        <p:spPr>
          <a:xfrm>
            <a:off x="2293200" y="3315600"/>
            <a:ext cx="3297600" cy="280800"/>
          </a:xfrm>
          <a:prstGeom prst="rect">
            <a:avLst/>
          </a:prstGeom>
          <a:noFill/>
          <a:ln/>
        </p:spPr>
        <p:txBody>
          <a:bodyPr wrap="square" lIns="0" tIns="0" rIns="0" bIns="0" rtlCol="0" anchor="ctr"/>
          <a:lstStyle/>
          <a:p>
            <a:pPr algn="l" indent="0" marL="0">
              <a:buNone/>
            </a:pPr>
            <a:endParaRPr lang="en-US" sz="870" dirty="0"/>
          </a:p>
        </p:txBody>
      </p:sp>
      <p:sp>
        <p:nvSpPr>
          <p:cNvPr id="40" name="Shape 37"/>
          <p:cNvSpPr/>
          <p:nvPr/>
        </p:nvSpPr>
        <p:spPr>
          <a:xfrm>
            <a:off x="5652000" y="3276000"/>
            <a:ext cx="1368000" cy="360000"/>
          </a:xfrm>
          <a:prstGeom prst="rect">
            <a:avLst/>
          </a:prstGeom>
          <a:solidFill>
            <a:srgbClr val="B6E3A4"/>
          </a:solidFill>
          <a:ln w="6985">
            <a:solidFill>
              <a:srgbClr val="202020"/>
            </a:solidFill>
            <a:prstDash val="solid"/>
          </a:ln>
        </p:spPr>
      </p:sp>
      <p:sp>
        <p:nvSpPr>
          <p:cNvPr id="41" name="Text 38"/>
          <p:cNvSpPr/>
          <p:nvPr/>
        </p:nvSpPr>
        <p:spPr>
          <a:xfrm>
            <a:off x="5713200" y="3315600"/>
            <a:ext cx="1245600" cy="280800"/>
          </a:xfrm>
          <a:prstGeom prst="rect">
            <a:avLst/>
          </a:prstGeom>
          <a:noFill/>
          <a:ln/>
        </p:spPr>
        <p:txBody>
          <a:bodyPr wrap="square" lIns="0" tIns="0" rIns="0" bIns="0" rtlCol="0" anchor="ctr"/>
          <a:lstStyle/>
          <a:p>
            <a:pPr algn="l" indent="0" marL="0">
              <a:buNone/>
            </a:pPr>
            <a:endParaRPr lang="en-US" sz="870" dirty="0"/>
          </a:p>
        </p:txBody>
      </p:sp>
      <p:sp>
        <p:nvSpPr>
          <p:cNvPr id="42" name="Shape 39"/>
          <p:cNvSpPr/>
          <p:nvPr/>
        </p:nvSpPr>
        <p:spPr>
          <a:xfrm>
            <a:off x="2232000" y="3636000"/>
            <a:ext cx="3420000" cy="396000"/>
          </a:xfrm>
          <a:prstGeom prst="rect">
            <a:avLst/>
          </a:prstGeom>
          <a:solidFill>
            <a:srgbClr val="D9EAF7"/>
          </a:solidFill>
          <a:ln w="6985">
            <a:solidFill>
              <a:srgbClr val="202020"/>
            </a:solidFill>
            <a:prstDash val="solid"/>
          </a:ln>
        </p:spPr>
      </p:sp>
      <p:sp>
        <p:nvSpPr>
          <p:cNvPr id="43" name="Text 40"/>
          <p:cNvSpPr/>
          <p:nvPr/>
        </p:nvSpPr>
        <p:spPr>
          <a:xfrm>
            <a:off x="2293200" y="3675600"/>
            <a:ext cx="3297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Scénario x  - Montant total de l’investissement des travaux énergétiques (TTC)</a:t>
            </a:r>
            <a:endParaRPr lang="en-US" sz="950" dirty="0"/>
          </a:p>
        </p:txBody>
      </p:sp>
      <p:sp>
        <p:nvSpPr>
          <p:cNvPr id="44" name="Shape 41"/>
          <p:cNvSpPr/>
          <p:nvPr/>
        </p:nvSpPr>
        <p:spPr>
          <a:xfrm>
            <a:off x="5652000" y="3636000"/>
            <a:ext cx="1368000" cy="396000"/>
          </a:xfrm>
          <a:prstGeom prst="rect">
            <a:avLst/>
          </a:prstGeom>
          <a:solidFill>
            <a:srgbClr val="D9EAF7"/>
          </a:solidFill>
          <a:ln w="6985">
            <a:solidFill>
              <a:srgbClr val="202020"/>
            </a:solidFill>
            <a:prstDash val="solid"/>
          </a:ln>
        </p:spPr>
      </p:sp>
      <p:sp>
        <p:nvSpPr>
          <p:cNvPr id="45" name="Text 42"/>
          <p:cNvSpPr/>
          <p:nvPr/>
        </p:nvSpPr>
        <p:spPr>
          <a:xfrm>
            <a:off x="5713200" y="3675600"/>
            <a:ext cx="1245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À confirmer</a:t>
            </a:r>
            <a:endParaRPr lang="en-US" sz="950" dirty="0"/>
          </a:p>
        </p:txBody>
      </p:sp>
      <p:sp>
        <p:nvSpPr>
          <p:cNvPr id="46" name="Text 43"/>
          <p:cNvSpPr/>
          <p:nvPr/>
        </p:nvSpPr>
        <p:spPr>
          <a:xfrm>
            <a:off x="648000" y="7488000"/>
            <a:ext cx="6264000" cy="238680"/>
          </a:xfrm>
          <a:prstGeom prst="rect">
            <a:avLst/>
          </a:prstGeom>
          <a:noFill/>
          <a:ln/>
        </p:spPr>
        <p:txBody>
          <a:bodyPr wrap="square" lIns="0" tIns="0" rIns="0" bIns="0" rtlCol="0" anchor="t"/>
          <a:lstStyle/>
          <a:p>
            <a:pPr algn="l" indent="0" marL="0">
              <a:buNone/>
            </a:pPr>
            <a:r>
              <a:rPr lang="en-US" sz="1050" b="1" dirty="0">
                <a:solidFill>
                  <a:srgbClr val="1C1C1C"/>
                </a:solidFill>
                <a:latin typeface="Aptos" pitchFamily="34" charset="0"/>
                <a:ea typeface="Aptos" pitchFamily="34" charset="-122"/>
                <a:cs typeface="Aptos" pitchFamily="34" charset="-120"/>
              </a:rPr>
              <a:t>Programmation des travaux énergétiques</a:t>
            </a:r>
            <a:endParaRPr lang="en-US" sz="1050" dirty="0"/>
          </a:p>
        </p:txBody>
      </p:sp>
      <p:sp>
        <p:nvSpPr>
          <p:cNvPr id="47" name="Text 44"/>
          <p:cNvSpPr/>
          <p:nvPr/>
        </p:nvSpPr>
        <p:spPr>
          <a:xfrm>
            <a:off x="648000" y="779868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1000" dirty="0"/>
          </a:p>
        </p:txBody>
      </p:sp>
      <p:sp>
        <p:nvSpPr>
          <p:cNvPr id="48" name="Text 45"/>
          <p:cNvSpPr/>
          <p:nvPr/>
        </p:nvSpPr>
        <p:spPr>
          <a:xfrm>
            <a:off x="648000" y="84538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1000" dirty="0"/>
          </a:p>
        </p:txBody>
      </p:sp>
      <p:sp>
        <p:nvSpPr>
          <p:cNvPr id="49" name="Text 46"/>
          <p:cNvSpPr/>
          <p:nvPr/>
        </p:nvSpPr>
        <p:spPr>
          <a:xfrm>
            <a:off x="648000" y="92746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1000" dirty="0"/>
          </a:p>
        </p:txBody>
      </p:sp>
      <p:sp>
        <p:nvSpPr>
          <p:cNvPr id="9" name="Text 6"/>
          <p:cNvSpPr/>
          <p:nvPr/>
        </p:nvSpPr>
        <p:spPr>
          <a:xfrm>
            <a:off x="648000" y="2415600"/>
            <a:ext cx="6264000" cy="396000"/>
          </a:xfrm>
          <a:prstGeom prst="rect">
            <a:avLst/>
          </a:prstGeom>
          <a:noFill/>
          <a:ln/>
        </p:spPr>
        <p:txBody>
          <a:bodyPr wrap="square" lIns="0" tIns="0" rIns="0" bIns="0" rtlCol="0" anchor="t"/>
          <a:lstStyle/>
          <a:p>
            <a:pPr algn="just" indent="0" marL="0">
              <a:buNone/>
            </a:pPr>
            <a:r>
              <a:rPr lang="en-US" sz="1000" b="1" dirty="0">
                <a:solidFill>
                  <a:srgbClr val="0A2B6B"/>
                </a:solidFill>
                <a:latin typeface="Aptos" pitchFamily="34" charset="0"/>
                <a:ea typeface="Aptos" pitchFamily="34" charset="-122"/>
                <a:cs typeface="Aptos" pitchFamily="34" charset="-120"/>
              </a:rPr>
              <a:t>Aucune fiche curative éligible issue de la Partie 2 n’est disponible à cette étape. Les statistiques seront mises à jour lorsque des diagnostics terminés et à jour seront présents.</a:t>
            </a:r>
            <a:endParaRPr lang="en-US" sz="1000" dirty="0"/>
          </a:p>
        </p:txBody>
      </p:sp>
      <p:sp>
        <p:nvSpPr>
          <p:cNvPr id="10" name="Text 7"/>
          <p:cNvSpPr/>
          <p:nvPr/>
        </p:nvSpPr>
        <p:spPr>
          <a:xfrm>
            <a:off x="648000" y="2919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1000" dirty="0"/>
          </a:p>
        </p:txBody>
      </p:sp>
      <p:sp>
        <p:nvSpPr>
          <p:cNvPr id="11" name="Text 8"/>
          <p:cNvSpPr/>
          <p:nvPr/>
        </p:nvSpPr>
        <p:spPr>
          <a:xfrm>
            <a:off x="648000" y="39204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1000" dirty="0"/>
          </a:p>
        </p:txBody>
      </p:sp>
      <p:sp>
        <p:nvSpPr>
          <p:cNvPr id="12" name="Text 9"/>
          <p:cNvSpPr/>
          <p:nvPr/>
        </p:nvSpPr>
        <p:spPr>
          <a:xfrm>
            <a:off x="648000" y="49212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1000" dirty="0"/>
          </a:p>
        </p:txBody>
      </p:sp>
      <p:sp>
        <p:nvSpPr>
          <p:cNvPr id="13" name="Text 10"/>
          <p:cNvSpPr/>
          <p:nvPr/>
        </p:nvSpPr>
        <p:spPr>
          <a:xfrm>
            <a:off x="648000" y="57564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692000"/>
            <a:ext cx="3348000" cy="1480680"/>
          </a:xfrm>
          <a:prstGeom prst="rect">
            <a:avLst/>
          </a:prstGeom>
          <a:noFill/>
          <a:ln/>
        </p:spPr>
        <p:txBody>
          <a:bodyPr wrap="square" lIns="0" tIns="0" rIns="0" bIns="0" rtlCol="0" anchor="t"/>
          <a:lstStyle/>
          <a:p>
            <a:pPr algn="just" indent="0" marL="0">
              <a:buNone/>
            </a:pPr>
            <a:r>
              <a:rPr lang="en-US" sz="95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50" dirty="0"/>
          </a:p>
          <a:p>
            <a:pPr algn="just" indent="0" marL="0">
              <a:buNone/>
            </a:pPr>
            <a:endParaRPr lang="en-US" sz="950" dirty="0"/>
          </a:p>
          <a:p>
            <a:pPr algn="just" indent="0" marL="0">
              <a:buNone/>
            </a:pPr>
            <a:r>
              <a:rPr lang="en-US" sz="95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50" dirty="0"/>
          </a:p>
        </p:txBody>
      </p:sp>
      <p:pic>
        <p:nvPicPr>
          <p:cNvPr id="9" name="Image 1" descr="Logo MaPrimeRénov’ Copropriétés">    </p:cNvPr>
          <p:cNvPicPr>
            <a:picLocks noChangeAspect="1"/>
          </p:cNvPicPr>
          <p:nvPr/>
        </p:nvPicPr>
        <p:blipFill>
          <a:blip r:embed="rId2"/>
          <a:srcRect l="0" r="0" t="0" b="0"/>
          <a:stretch/>
        </p:blipFill>
        <p:spPr>
          <a:xfrm>
            <a:off x="4428000" y="1836000"/>
            <a:ext cx="2484000" cy="1080000"/>
          </a:xfrm>
          <a:prstGeom prst="rect">
            <a:avLst/>
          </a:prstGeom>
        </p:spPr>
      </p:pic>
      <p:sp>
        <p:nvSpPr>
          <p:cNvPr id="10" name="Text 6"/>
          <p:cNvSpPr/>
          <p:nvPr/>
        </p:nvSpPr>
        <p:spPr>
          <a:xfrm>
            <a:off x="648000" y="3060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 :</a:t>
            </a:r>
            <a:endParaRPr lang="en-US" sz="1000" dirty="0"/>
          </a:p>
        </p:txBody>
      </p:sp>
      <p:sp>
        <p:nvSpPr>
          <p:cNvPr id="11" name="Text 7"/>
          <p:cNvSpPr/>
          <p:nvPr/>
        </p:nvSpPr>
        <p:spPr>
          <a:xfrm>
            <a:off x="648000" y="327600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8"/>
          <p:cNvSpPr/>
          <p:nvPr/>
        </p:nvSpPr>
        <p:spPr>
          <a:xfrm>
            <a:off x="648000" y="361728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Être composée d’au moins 65 % de résidences principales (pour les copropriétés de 20 lots ou moins) ou d’au moins 75 % pour les copropriétés de plus de 20 lots.</a:t>
            </a:r>
            <a:endParaRPr lang="en-US" sz="900" dirty="0"/>
          </a:p>
        </p:txBody>
      </p:sp>
      <p:sp>
        <p:nvSpPr>
          <p:cNvPr id="13" name="Text 9"/>
          <p:cNvSpPr/>
          <p:nvPr/>
        </p:nvSpPr>
        <p:spPr>
          <a:xfrm>
            <a:off x="648000" y="3958560"/>
            <a:ext cx="6264000" cy="1922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Copropriété immatriculée au registre national des copropriétés.</a:t>
            </a:r>
            <a:endParaRPr lang="en-US" sz="900" dirty="0"/>
          </a:p>
        </p:txBody>
      </p:sp>
      <p:sp>
        <p:nvSpPr>
          <p:cNvPr id="14" name="Shape 10"/>
          <p:cNvSpPr/>
          <p:nvPr/>
        </p:nvSpPr>
        <p:spPr>
          <a:xfrm>
            <a:off x="648000" y="4140000"/>
            <a:ext cx="3132000" cy="324000"/>
          </a:xfrm>
          <a:prstGeom prst="rect">
            <a:avLst/>
          </a:prstGeom>
          <a:solidFill>
            <a:srgbClr val="FFFFFF"/>
          </a:solidFill>
          <a:ln w="6985">
            <a:solidFill>
              <a:srgbClr val="FFC700"/>
            </a:solidFill>
            <a:prstDash val="solid"/>
          </a:ln>
        </p:spPr>
      </p:sp>
      <p:sp>
        <p:nvSpPr>
          <p:cNvPr id="15" name="Text 11"/>
          <p:cNvSpPr/>
          <p:nvPr/>
        </p:nvSpPr>
        <p:spPr>
          <a:xfrm>
            <a:off x="709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Conditions</a:t>
            </a:r>
            <a:endParaRPr lang="en-US" sz="900" dirty="0"/>
          </a:p>
        </p:txBody>
      </p:sp>
      <p:sp>
        <p:nvSpPr>
          <p:cNvPr id="16" name="Shape 12"/>
          <p:cNvSpPr/>
          <p:nvPr/>
        </p:nvSpPr>
        <p:spPr>
          <a:xfrm>
            <a:off x="3780000" y="4140000"/>
            <a:ext cx="3132000" cy="324000"/>
          </a:xfrm>
          <a:prstGeom prst="rect">
            <a:avLst/>
          </a:prstGeom>
          <a:solidFill>
            <a:srgbClr val="FFFFFF"/>
          </a:solidFill>
          <a:ln w="6985">
            <a:solidFill>
              <a:srgbClr val="FFC700"/>
            </a:solidFill>
            <a:prstDash val="solid"/>
          </a:ln>
        </p:spPr>
      </p:sp>
      <p:sp>
        <p:nvSpPr>
          <p:cNvPr id="17" name="Text 13"/>
          <p:cNvSpPr/>
          <p:nvPr/>
        </p:nvSpPr>
        <p:spPr>
          <a:xfrm>
            <a:off x="3841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Aide pour la copropriété</a:t>
            </a:r>
            <a:endParaRPr lang="en-US" sz="900" dirty="0"/>
          </a:p>
        </p:txBody>
      </p:sp>
      <p:sp>
        <p:nvSpPr>
          <p:cNvPr id="18" name="Shape 14"/>
          <p:cNvSpPr/>
          <p:nvPr/>
        </p:nvSpPr>
        <p:spPr>
          <a:xfrm>
            <a:off x="648000" y="4464000"/>
            <a:ext cx="3132000" cy="324000"/>
          </a:xfrm>
          <a:prstGeom prst="rect">
            <a:avLst/>
          </a:prstGeom>
          <a:solidFill>
            <a:srgbClr val="FFFFFF"/>
          </a:solidFill>
          <a:ln w="6985">
            <a:solidFill>
              <a:srgbClr val="FFC700"/>
            </a:solidFill>
            <a:prstDash val="solid"/>
          </a:ln>
        </p:spPr>
      </p:sp>
      <p:sp>
        <p:nvSpPr>
          <p:cNvPr id="19" name="Text 15"/>
          <p:cNvSpPr/>
          <p:nvPr/>
        </p:nvSpPr>
        <p:spPr>
          <a:xfrm>
            <a:off x="709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35%</a:t>
            </a:r>
            <a:endParaRPr lang="en-US" sz="840" dirty="0"/>
          </a:p>
        </p:txBody>
      </p:sp>
      <p:sp>
        <p:nvSpPr>
          <p:cNvPr id="20" name="Shape 16"/>
          <p:cNvSpPr/>
          <p:nvPr/>
        </p:nvSpPr>
        <p:spPr>
          <a:xfrm>
            <a:off x="3780000" y="4464000"/>
            <a:ext cx="3132000" cy="324000"/>
          </a:xfrm>
          <a:prstGeom prst="rect">
            <a:avLst/>
          </a:prstGeom>
          <a:solidFill>
            <a:srgbClr val="FFFFFF"/>
          </a:solidFill>
          <a:ln w="6985">
            <a:solidFill>
              <a:srgbClr val="FFC700"/>
            </a:solidFill>
            <a:prstDash val="solid"/>
          </a:ln>
        </p:spPr>
      </p:sp>
      <p:sp>
        <p:nvSpPr>
          <p:cNvPr id="21" name="Text 17"/>
          <p:cNvSpPr/>
          <p:nvPr/>
        </p:nvSpPr>
        <p:spPr>
          <a:xfrm>
            <a:off x="3841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30 % du montant des travaux, plafonné à 7 500 € par lot</a:t>
            </a:r>
            <a:endParaRPr lang="en-US" sz="840" dirty="0"/>
          </a:p>
        </p:txBody>
      </p:sp>
      <p:sp>
        <p:nvSpPr>
          <p:cNvPr id="22" name="Shape 18"/>
          <p:cNvSpPr/>
          <p:nvPr/>
        </p:nvSpPr>
        <p:spPr>
          <a:xfrm>
            <a:off x="648000" y="4788000"/>
            <a:ext cx="3132000" cy="324000"/>
          </a:xfrm>
          <a:prstGeom prst="rect">
            <a:avLst/>
          </a:prstGeom>
          <a:solidFill>
            <a:srgbClr val="FFFFFF"/>
          </a:solidFill>
          <a:ln w="6985">
            <a:solidFill>
              <a:srgbClr val="FFC700"/>
            </a:solidFill>
            <a:prstDash val="solid"/>
          </a:ln>
        </p:spPr>
      </p:sp>
      <p:sp>
        <p:nvSpPr>
          <p:cNvPr id="23" name="Text 19"/>
          <p:cNvSpPr/>
          <p:nvPr/>
        </p:nvSpPr>
        <p:spPr>
          <a:xfrm>
            <a:off x="709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50%</a:t>
            </a:r>
            <a:endParaRPr lang="en-US" sz="840" dirty="0"/>
          </a:p>
        </p:txBody>
      </p:sp>
      <p:sp>
        <p:nvSpPr>
          <p:cNvPr id="24" name="Shape 20"/>
          <p:cNvSpPr/>
          <p:nvPr/>
        </p:nvSpPr>
        <p:spPr>
          <a:xfrm>
            <a:off x="3780000" y="4788000"/>
            <a:ext cx="3132000" cy="324000"/>
          </a:xfrm>
          <a:prstGeom prst="rect">
            <a:avLst/>
          </a:prstGeom>
          <a:solidFill>
            <a:srgbClr val="FFFFFF"/>
          </a:solidFill>
          <a:ln w="6985">
            <a:solidFill>
              <a:srgbClr val="FFC700"/>
            </a:solidFill>
            <a:prstDash val="solid"/>
          </a:ln>
        </p:spPr>
      </p:sp>
      <p:sp>
        <p:nvSpPr>
          <p:cNvPr id="25" name="Text 21"/>
          <p:cNvSpPr/>
          <p:nvPr/>
        </p:nvSpPr>
        <p:spPr>
          <a:xfrm>
            <a:off x="3841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45 % du montant des travaux, plafonné à 11 250 € par lot</a:t>
            </a:r>
            <a:endParaRPr lang="en-US" sz="840" dirty="0"/>
          </a:p>
        </p:txBody>
      </p:sp>
      <p:sp>
        <p:nvSpPr>
          <p:cNvPr id="26" name="Shape 22"/>
          <p:cNvSpPr/>
          <p:nvPr/>
        </p:nvSpPr>
        <p:spPr>
          <a:xfrm>
            <a:off x="648000" y="5112000"/>
            <a:ext cx="3132000" cy="396000"/>
          </a:xfrm>
          <a:prstGeom prst="rect">
            <a:avLst/>
          </a:prstGeom>
          <a:solidFill>
            <a:srgbClr val="FFFFFF"/>
          </a:solidFill>
          <a:ln w="6985">
            <a:solidFill>
              <a:srgbClr val="FFC700"/>
            </a:solidFill>
            <a:prstDash val="solid"/>
          </a:ln>
        </p:spPr>
      </p:sp>
      <p:sp>
        <p:nvSpPr>
          <p:cNvPr id="27" name="Text 23"/>
          <p:cNvSpPr/>
          <p:nvPr/>
        </p:nvSpPr>
        <p:spPr>
          <a:xfrm>
            <a:off x="709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 sortie de passoire thermique » (étiquette avant travaux de F ou G)</a:t>
            </a:r>
            <a:endParaRPr lang="en-US" sz="840" dirty="0"/>
          </a:p>
        </p:txBody>
      </p:sp>
      <p:sp>
        <p:nvSpPr>
          <p:cNvPr id="28" name="Shape 24"/>
          <p:cNvSpPr/>
          <p:nvPr/>
        </p:nvSpPr>
        <p:spPr>
          <a:xfrm>
            <a:off x="3780000" y="5112000"/>
            <a:ext cx="3132000" cy="396000"/>
          </a:xfrm>
          <a:prstGeom prst="rect">
            <a:avLst/>
          </a:prstGeom>
          <a:solidFill>
            <a:srgbClr val="FFFFFF"/>
          </a:solidFill>
          <a:ln w="6985">
            <a:solidFill>
              <a:srgbClr val="FFC700"/>
            </a:solidFill>
            <a:prstDash val="solid"/>
          </a:ln>
        </p:spPr>
      </p:sp>
      <p:sp>
        <p:nvSpPr>
          <p:cNvPr id="29" name="Text 25"/>
          <p:cNvSpPr/>
          <p:nvPr/>
        </p:nvSpPr>
        <p:spPr>
          <a:xfrm>
            <a:off x="3841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+ 10 % si atteinte de l’étiquette D au minimum</a:t>
            </a:r>
            <a:endParaRPr lang="en-US" sz="840" dirty="0"/>
          </a:p>
        </p:txBody>
      </p:sp>
      <p:sp>
        <p:nvSpPr>
          <p:cNvPr id="30" name="Shape 26"/>
          <p:cNvSpPr/>
          <p:nvPr/>
        </p:nvSpPr>
        <p:spPr>
          <a:xfrm>
            <a:off x="648000" y="5508000"/>
            <a:ext cx="3132000" cy="468000"/>
          </a:xfrm>
          <a:prstGeom prst="rect">
            <a:avLst/>
          </a:prstGeom>
          <a:solidFill>
            <a:srgbClr val="FFFFFF"/>
          </a:solidFill>
          <a:ln w="6985">
            <a:solidFill>
              <a:srgbClr val="FFC700"/>
            </a:solidFill>
            <a:prstDash val="solid"/>
          </a:ln>
        </p:spPr>
      </p:sp>
      <p:sp>
        <p:nvSpPr>
          <p:cNvPr id="31" name="Text 27"/>
          <p:cNvSpPr/>
          <p:nvPr/>
        </p:nvSpPr>
        <p:spPr>
          <a:xfrm>
            <a:off x="709200" y="5547600"/>
            <a:ext cx="3009600" cy="388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Primes individuelles pour les copropriétaires</a:t>
            </a:r>
            <a:endParaRPr lang="en-US" sz="840" dirty="0"/>
          </a:p>
        </p:txBody>
      </p:sp>
      <p:sp>
        <p:nvSpPr>
          <p:cNvPr id="32" name="Shape 28"/>
          <p:cNvSpPr/>
          <p:nvPr/>
        </p:nvSpPr>
        <p:spPr>
          <a:xfrm>
            <a:off x="3780000" y="5508000"/>
            <a:ext cx="1566000" cy="468000"/>
          </a:xfrm>
          <a:prstGeom prst="rect">
            <a:avLst/>
          </a:prstGeom>
          <a:solidFill>
            <a:srgbClr val="FFFFFF"/>
          </a:solidFill>
          <a:ln w="6985">
            <a:solidFill>
              <a:srgbClr val="FFC700"/>
            </a:solidFill>
            <a:prstDash val="solid"/>
          </a:ln>
        </p:spPr>
      </p:sp>
      <p:sp>
        <p:nvSpPr>
          <p:cNvPr id="33" name="Text 29"/>
          <p:cNvSpPr/>
          <p:nvPr/>
        </p:nvSpPr>
        <p:spPr>
          <a:xfrm>
            <a:off x="3841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3 000 € par logement pour les ménages aux ressources très modestes</a:t>
            </a:r>
            <a:endParaRPr lang="en-US" sz="820" dirty="0"/>
          </a:p>
        </p:txBody>
      </p:sp>
      <p:sp>
        <p:nvSpPr>
          <p:cNvPr id="34" name="Shape 30"/>
          <p:cNvSpPr/>
          <p:nvPr/>
        </p:nvSpPr>
        <p:spPr>
          <a:xfrm>
            <a:off x="5346000" y="5508000"/>
            <a:ext cx="1566000" cy="468000"/>
          </a:xfrm>
          <a:prstGeom prst="rect">
            <a:avLst/>
          </a:prstGeom>
          <a:solidFill>
            <a:srgbClr val="FFFFFF"/>
          </a:solidFill>
          <a:ln w="6985">
            <a:solidFill>
              <a:srgbClr val="FFC700"/>
            </a:solidFill>
            <a:prstDash val="solid"/>
          </a:ln>
        </p:spPr>
      </p:sp>
      <p:sp>
        <p:nvSpPr>
          <p:cNvPr id="35" name="Text 31"/>
          <p:cNvSpPr/>
          <p:nvPr/>
        </p:nvSpPr>
        <p:spPr>
          <a:xfrm>
            <a:off x="5407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1 500 € par logement pour les ménages aux ressources modestes</a:t>
            </a:r>
            <a:endParaRPr lang="en-US" sz="820" dirty="0"/>
          </a:p>
        </p:txBody>
      </p:sp>
      <p:sp>
        <p:nvSpPr>
          <p:cNvPr id="36" name="Shape 32"/>
          <p:cNvSpPr/>
          <p:nvPr/>
        </p:nvSpPr>
        <p:spPr>
          <a:xfrm>
            <a:off x="648000" y="5976000"/>
            <a:ext cx="3132000" cy="396000"/>
          </a:xfrm>
          <a:prstGeom prst="rect">
            <a:avLst/>
          </a:prstGeom>
          <a:solidFill>
            <a:srgbClr val="FFFFFF"/>
          </a:solidFill>
          <a:ln w="6985">
            <a:solidFill>
              <a:srgbClr val="FFC700"/>
            </a:solidFill>
            <a:prstDash val="solid"/>
          </a:ln>
        </p:spPr>
      </p:sp>
      <p:sp>
        <p:nvSpPr>
          <p:cNvPr id="37" name="Text 33"/>
          <p:cNvSpPr/>
          <p:nvPr/>
        </p:nvSpPr>
        <p:spPr>
          <a:xfrm>
            <a:off x="709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pour les copropriétés fragiles et en difficulté</a:t>
            </a:r>
            <a:endParaRPr lang="en-US" sz="840" dirty="0"/>
          </a:p>
        </p:txBody>
      </p:sp>
      <p:sp>
        <p:nvSpPr>
          <p:cNvPr id="38" name="Shape 34"/>
          <p:cNvSpPr/>
          <p:nvPr/>
        </p:nvSpPr>
        <p:spPr>
          <a:xfrm>
            <a:off x="3780000" y="5976000"/>
            <a:ext cx="3132000" cy="396000"/>
          </a:xfrm>
          <a:prstGeom prst="rect">
            <a:avLst/>
          </a:prstGeom>
          <a:solidFill>
            <a:srgbClr val="FFFFFF"/>
          </a:solidFill>
          <a:ln w="6985">
            <a:solidFill>
              <a:srgbClr val="FFC700"/>
            </a:solidFill>
            <a:prstDash val="solid"/>
          </a:ln>
        </p:spPr>
      </p:sp>
      <p:sp>
        <p:nvSpPr>
          <p:cNvPr id="39" name="Text 35"/>
          <p:cNvSpPr/>
          <p:nvPr/>
        </p:nvSpPr>
        <p:spPr>
          <a:xfrm>
            <a:off x="3841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+ 20 % (dans le plafond des 25 000 €)</a:t>
            </a:r>
            <a:endParaRPr lang="en-US" sz="840" dirty="0"/>
          </a:p>
          <a:p>
            <a:pPr algn="l" indent="0" marL="0">
              <a:buNone/>
            </a:pPr>
            <a:r>
              <a:rPr lang="en-US" sz="840" dirty="0">
                <a:solidFill>
                  <a:srgbClr val="1C1C1C"/>
                </a:solidFill>
                <a:latin typeface="Aptos" pitchFamily="34" charset="0"/>
                <a:ea typeface="Aptos" pitchFamily="34" charset="-122"/>
                <a:cs typeface="Aptos" pitchFamily="34" charset="-120"/>
              </a:rPr>
              <a:t>Sous conditions d’obtention des CEE par l’Anah</a:t>
            </a:r>
            <a:endParaRPr lang="en-US" sz="840" dirty="0"/>
          </a:p>
        </p:txBody>
      </p:sp>
      <p:sp>
        <p:nvSpPr>
          <p:cNvPr id="40" name="Shape 36"/>
          <p:cNvSpPr/>
          <p:nvPr/>
        </p:nvSpPr>
        <p:spPr>
          <a:xfrm>
            <a:off x="648000" y="6552000"/>
            <a:ext cx="972000" cy="468000"/>
          </a:xfrm>
          <a:prstGeom prst="rect">
            <a:avLst/>
          </a:prstGeom>
          <a:solidFill>
            <a:srgbClr val="FFFFFF"/>
          </a:solidFill>
          <a:ln w="6985">
            <a:solidFill>
              <a:srgbClr val="2442F5"/>
            </a:solidFill>
            <a:prstDash val="solid"/>
          </a:ln>
        </p:spPr>
      </p:sp>
      <p:sp>
        <p:nvSpPr>
          <p:cNvPr id="41" name="Text 37"/>
          <p:cNvSpPr/>
          <p:nvPr/>
        </p:nvSpPr>
        <p:spPr>
          <a:xfrm>
            <a:off x="709200" y="6591600"/>
            <a:ext cx="849600" cy="388800"/>
          </a:xfrm>
          <a:prstGeom prst="rect">
            <a:avLst/>
          </a:prstGeom>
          <a:noFill/>
          <a:ln/>
        </p:spPr>
        <p:txBody>
          <a:bodyPr wrap="square" lIns="0" tIns="0" rIns="0" bIns="0" rtlCol="0" anchor="ctr"/>
          <a:lstStyle/>
          <a:p>
            <a:pPr algn="ctr" indent="0" marL="0">
              <a:buNone/>
            </a:pPr>
            <a:endParaRPr lang="en-US" sz="770" dirty="0"/>
          </a:p>
        </p:txBody>
      </p:sp>
      <p:sp>
        <p:nvSpPr>
          <p:cNvPr id="42" name="Shape 38"/>
          <p:cNvSpPr/>
          <p:nvPr/>
        </p:nvSpPr>
        <p:spPr>
          <a:xfrm>
            <a:off x="1620000" y="6552000"/>
            <a:ext cx="972000" cy="468000"/>
          </a:xfrm>
          <a:prstGeom prst="rect">
            <a:avLst/>
          </a:prstGeom>
          <a:solidFill>
            <a:srgbClr val="FFFFFF"/>
          </a:solidFill>
          <a:ln w="6985">
            <a:solidFill>
              <a:srgbClr val="FFC700"/>
            </a:solidFill>
            <a:prstDash val="solid"/>
          </a:ln>
        </p:spPr>
      </p:sp>
      <p:sp>
        <p:nvSpPr>
          <p:cNvPr id="43" name="Text 39"/>
          <p:cNvSpPr/>
          <p:nvPr/>
        </p:nvSpPr>
        <p:spPr>
          <a:xfrm>
            <a:off x="1681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Ma Prime Rénov’</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pour une rénovation par geste</a:t>
            </a:r>
            <a:endParaRPr lang="en-US" sz="770" dirty="0"/>
          </a:p>
        </p:txBody>
      </p:sp>
      <p:sp>
        <p:nvSpPr>
          <p:cNvPr id="44" name="Shape 40"/>
          <p:cNvSpPr/>
          <p:nvPr/>
        </p:nvSpPr>
        <p:spPr>
          <a:xfrm>
            <a:off x="2592000" y="6552000"/>
            <a:ext cx="972000" cy="468000"/>
          </a:xfrm>
          <a:prstGeom prst="rect">
            <a:avLst/>
          </a:prstGeom>
          <a:solidFill>
            <a:srgbClr val="FFFFFF"/>
          </a:solidFill>
          <a:ln w="6985">
            <a:solidFill>
              <a:srgbClr val="00B55A"/>
            </a:solidFill>
            <a:prstDash val="solid"/>
          </a:ln>
        </p:spPr>
      </p:sp>
      <p:sp>
        <p:nvSpPr>
          <p:cNvPr id="45" name="Text 41"/>
          <p:cNvSpPr/>
          <p:nvPr/>
        </p:nvSpPr>
        <p:spPr>
          <a:xfrm>
            <a:off x="2653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collectivités locales</a:t>
            </a:r>
            <a:endParaRPr lang="en-US" sz="770" dirty="0"/>
          </a:p>
        </p:txBody>
      </p:sp>
      <p:sp>
        <p:nvSpPr>
          <p:cNvPr id="46" name="Shape 42"/>
          <p:cNvSpPr/>
          <p:nvPr/>
        </p:nvSpPr>
        <p:spPr>
          <a:xfrm>
            <a:off x="3564000" y="6552000"/>
            <a:ext cx="1044000" cy="468000"/>
          </a:xfrm>
          <a:prstGeom prst="rect">
            <a:avLst/>
          </a:prstGeom>
          <a:solidFill>
            <a:srgbClr val="FFFFFF"/>
          </a:solidFill>
          <a:ln w="6985">
            <a:solidFill>
              <a:srgbClr val="2442F5"/>
            </a:solidFill>
            <a:prstDash val="solid"/>
          </a:ln>
        </p:spPr>
      </p:sp>
      <p:sp>
        <p:nvSpPr>
          <p:cNvPr id="47" name="Text 43"/>
          <p:cNvSpPr/>
          <p:nvPr/>
        </p:nvSpPr>
        <p:spPr>
          <a:xfrm>
            <a:off x="3625200" y="6591600"/>
            <a:ext cx="92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 fournisseurs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d’énergie (CEE)</a:t>
            </a:r>
            <a:endParaRPr lang="en-US" sz="770" dirty="0"/>
          </a:p>
        </p:txBody>
      </p:sp>
      <p:sp>
        <p:nvSpPr>
          <p:cNvPr id="48" name="Shape 44"/>
          <p:cNvSpPr/>
          <p:nvPr/>
        </p:nvSpPr>
        <p:spPr>
          <a:xfrm>
            <a:off x="4608000" y="6552000"/>
            <a:ext cx="1080000" cy="468000"/>
          </a:xfrm>
          <a:prstGeom prst="rect">
            <a:avLst/>
          </a:prstGeom>
          <a:solidFill>
            <a:srgbClr val="FFFFFF"/>
          </a:solidFill>
          <a:ln w="6985">
            <a:solidFill>
              <a:srgbClr val="FFC700"/>
            </a:solidFill>
            <a:prstDash val="solid"/>
          </a:ln>
        </p:spPr>
      </p:sp>
      <p:sp>
        <p:nvSpPr>
          <p:cNvPr id="49" name="Text 45"/>
          <p:cNvSpPr/>
          <p:nvPr/>
        </p:nvSpPr>
        <p:spPr>
          <a:xfrm>
            <a:off x="4669200" y="6591600"/>
            <a:ext cx="957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Éco-Prêt à taux zéro</a:t>
            </a:r>
            <a:endParaRPr lang="en-US" sz="770" dirty="0"/>
          </a:p>
        </p:txBody>
      </p:sp>
      <p:sp>
        <p:nvSpPr>
          <p:cNvPr id="50" name="Shape 46"/>
          <p:cNvSpPr/>
          <p:nvPr/>
        </p:nvSpPr>
        <p:spPr>
          <a:xfrm>
            <a:off x="5688000" y="6552000"/>
            <a:ext cx="1224000" cy="468000"/>
          </a:xfrm>
          <a:prstGeom prst="rect">
            <a:avLst/>
          </a:prstGeom>
          <a:solidFill>
            <a:srgbClr val="FFFFFF"/>
          </a:solidFill>
          <a:ln w="6985">
            <a:solidFill>
              <a:srgbClr val="00B55A"/>
            </a:solidFill>
            <a:prstDash val="solid"/>
          </a:ln>
        </p:spPr>
      </p:sp>
      <p:sp>
        <p:nvSpPr>
          <p:cNvPr id="51" name="Text 47"/>
          <p:cNvSpPr/>
          <p:nvPr/>
        </p:nvSpPr>
        <p:spPr>
          <a:xfrm>
            <a:off x="5749200" y="6591600"/>
            <a:ext cx="110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TVA réduite à 5,5 %</a:t>
            </a:r>
            <a:endParaRPr lang="en-US" sz="770" dirty="0"/>
          </a:p>
        </p:txBody>
      </p:sp>
      <p:sp>
        <p:nvSpPr>
          <p:cNvPr id="52" name="Shape 48"/>
          <p:cNvSpPr/>
          <p:nvPr/>
        </p:nvSpPr>
        <p:spPr>
          <a:xfrm>
            <a:off x="648000" y="7020000"/>
            <a:ext cx="972000" cy="612000"/>
          </a:xfrm>
          <a:prstGeom prst="rect">
            <a:avLst/>
          </a:prstGeom>
          <a:solidFill>
            <a:srgbClr val="FFFFFF"/>
          </a:solidFill>
          <a:ln w="6985">
            <a:solidFill>
              <a:srgbClr val="2442F5"/>
            </a:solidFill>
            <a:prstDash val="solid"/>
          </a:ln>
        </p:spPr>
      </p:sp>
      <p:sp>
        <p:nvSpPr>
          <p:cNvPr id="53" name="Text 49"/>
          <p:cNvSpPr/>
          <p:nvPr/>
        </p:nvSpPr>
        <p:spPr>
          <a:xfrm>
            <a:off x="709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 cumulable avec Ma Prime Rénov’ Copro</a:t>
            </a:r>
            <a:endParaRPr lang="en-US" sz="770" dirty="0"/>
          </a:p>
        </p:txBody>
      </p:sp>
      <p:sp>
        <p:nvSpPr>
          <p:cNvPr id="54" name="Shape 50"/>
          <p:cNvSpPr/>
          <p:nvPr/>
        </p:nvSpPr>
        <p:spPr>
          <a:xfrm>
            <a:off x="1620000" y="7020000"/>
            <a:ext cx="972000" cy="612000"/>
          </a:xfrm>
          <a:prstGeom prst="rect">
            <a:avLst/>
          </a:prstGeom>
          <a:solidFill>
            <a:srgbClr val="FFFFFF"/>
          </a:solidFill>
          <a:ln w="6985">
            <a:solidFill>
              <a:srgbClr val="FFC700"/>
            </a:solidFill>
            <a:prstDash val="solid"/>
          </a:ln>
        </p:spPr>
      </p:sp>
      <p:sp>
        <p:nvSpPr>
          <p:cNvPr id="55" name="Text 51"/>
          <p:cNvSpPr/>
          <p:nvPr/>
        </p:nvSpPr>
        <p:spPr>
          <a:xfrm>
            <a:off x="1681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Cumul possible en parties privatives et parties communes</a:t>
            </a:r>
            <a:endParaRPr lang="en-US" sz="770" dirty="0"/>
          </a:p>
        </p:txBody>
      </p:sp>
      <p:sp>
        <p:nvSpPr>
          <p:cNvPr id="56" name="Shape 52"/>
          <p:cNvSpPr/>
          <p:nvPr/>
        </p:nvSpPr>
        <p:spPr>
          <a:xfrm>
            <a:off x="2592000" y="7020000"/>
            <a:ext cx="972000" cy="612000"/>
          </a:xfrm>
          <a:prstGeom prst="rect">
            <a:avLst/>
          </a:prstGeom>
          <a:solidFill>
            <a:srgbClr val="FFFFFF"/>
          </a:solidFill>
          <a:ln w="6985">
            <a:solidFill>
              <a:srgbClr val="00B55A"/>
            </a:solidFill>
            <a:prstDash val="solid"/>
          </a:ln>
        </p:spPr>
      </p:sp>
      <p:sp>
        <p:nvSpPr>
          <p:cNvPr id="57" name="Text 53"/>
          <p:cNvSpPr/>
          <p:nvPr/>
        </p:nvSpPr>
        <p:spPr>
          <a:xfrm>
            <a:off x="2653200" y="7059600"/>
            <a:ext cx="849600" cy="532800"/>
          </a:xfrm>
          <a:prstGeom prst="rect">
            <a:avLst/>
          </a:prstGeom>
          <a:noFill/>
          <a:ln/>
        </p:spPr>
        <p:txBody>
          <a:bodyPr wrap="square" lIns="0" tIns="0" rIns="0" bIns="0" rtlCol="0" anchor="ctr"/>
          <a:lstStyle/>
          <a:p>
            <a:pPr algn="ctr" indent="0" marL="0">
              <a:buNone/>
            </a:pPr>
            <a:endParaRPr lang="en-US" sz="770" dirty="0"/>
          </a:p>
        </p:txBody>
      </p:sp>
      <p:sp>
        <p:nvSpPr>
          <p:cNvPr id="58" name="Shape 54"/>
          <p:cNvSpPr/>
          <p:nvPr/>
        </p:nvSpPr>
        <p:spPr>
          <a:xfrm>
            <a:off x="3564000" y="7020000"/>
            <a:ext cx="1044000" cy="612000"/>
          </a:xfrm>
          <a:prstGeom prst="rect">
            <a:avLst/>
          </a:prstGeom>
          <a:solidFill>
            <a:srgbClr val="FFFFFF"/>
          </a:solidFill>
          <a:ln w="6985">
            <a:solidFill>
              <a:srgbClr val="2442F5"/>
            </a:solidFill>
            <a:prstDash val="solid"/>
          </a:ln>
        </p:spPr>
      </p:sp>
      <p:sp>
        <p:nvSpPr>
          <p:cNvPr id="59" name="Text 55"/>
          <p:cNvSpPr/>
          <p:nvPr/>
        </p:nvSpPr>
        <p:spPr>
          <a:xfrm>
            <a:off x="3625200" y="7059600"/>
            <a:ext cx="921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Sauf en cas de copropriétés en difficultés et copropriétés fragiles</a:t>
            </a:r>
            <a:endParaRPr lang="en-US" sz="770" dirty="0"/>
          </a:p>
        </p:txBody>
      </p:sp>
      <p:sp>
        <p:nvSpPr>
          <p:cNvPr id="60" name="Shape 56"/>
          <p:cNvSpPr/>
          <p:nvPr/>
        </p:nvSpPr>
        <p:spPr>
          <a:xfrm>
            <a:off x="4608000" y="7020000"/>
            <a:ext cx="1080000" cy="612000"/>
          </a:xfrm>
          <a:prstGeom prst="rect">
            <a:avLst/>
          </a:prstGeom>
          <a:solidFill>
            <a:srgbClr val="FFFFFF"/>
          </a:solidFill>
          <a:ln w="6985">
            <a:solidFill>
              <a:srgbClr val="FFC700"/>
            </a:solidFill>
            <a:prstDash val="solid"/>
          </a:ln>
        </p:spPr>
      </p:sp>
      <p:sp>
        <p:nvSpPr>
          <p:cNvPr id="61" name="Text 57"/>
          <p:cNvSpPr/>
          <p:nvPr/>
        </p:nvSpPr>
        <p:spPr>
          <a:xfrm>
            <a:off x="4669200" y="7059600"/>
            <a:ext cx="957600" cy="532800"/>
          </a:xfrm>
          <a:prstGeom prst="rect">
            <a:avLst/>
          </a:prstGeom>
          <a:noFill/>
          <a:ln/>
        </p:spPr>
        <p:txBody>
          <a:bodyPr wrap="square" lIns="0" tIns="0" rIns="0" bIns="0" rtlCol="0" anchor="ctr"/>
          <a:lstStyle/>
          <a:p>
            <a:pPr algn="ctr" indent="0" marL="0">
              <a:buNone/>
            </a:pPr>
            <a:endParaRPr lang="en-US" sz="770" dirty="0"/>
          </a:p>
        </p:txBody>
      </p:sp>
      <p:sp>
        <p:nvSpPr>
          <p:cNvPr id="62" name="Shape 58"/>
          <p:cNvSpPr/>
          <p:nvPr/>
        </p:nvSpPr>
        <p:spPr>
          <a:xfrm>
            <a:off x="5688000" y="7020000"/>
            <a:ext cx="1224000" cy="612000"/>
          </a:xfrm>
          <a:prstGeom prst="rect">
            <a:avLst/>
          </a:prstGeom>
          <a:solidFill>
            <a:srgbClr val="FFFFFF"/>
          </a:solidFill>
          <a:ln w="6985">
            <a:solidFill>
              <a:srgbClr val="00B55A"/>
            </a:solidFill>
            <a:prstDash val="solid"/>
          </a:ln>
        </p:spPr>
      </p:sp>
      <p:sp>
        <p:nvSpPr>
          <p:cNvPr id="63" name="Text 59"/>
          <p:cNvSpPr/>
          <p:nvPr/>
        </p:nvSpPr>
        <p:spPr>
          <a:xfrm>
            <a:off x="5749200" y="7059600"/>
            <a:ext cx="1101600" cy="532800"/>
          </a:xfrm>
          <a:prstGeom prst="rect">
            <a:avLst/>
          </a:prstGeom>
          <a:noFill/>
          <a:ln/>
        </p:spPr>
        <p:txBody>
          <a:bodyPr wrap="square" lIns="0" tIns="0" rIns="0" bIns="0" rtlCol="0" anchor="ctr"/>
          <a:lstStyle/>
          <a:p>
            <a:pPr algn="ctr" indent="0" marL="0">
              <a:buNone/>
            </a:pPr>
            <a:endParaRPr lang="en-US" sz="770" dirty="0"/>
          </a:p>
        </p:txBody>
      </p:sp>
      <p:sp>
        <p:nvSpPr>
          <p:cNvPr id="64" name="Shape 60"/>
          <p:cNvSpPr/>
          <p:nvPr/>
        </p:nvSpPr>
        <p:spPr>
          <a:xfrm>
            <a:off x="2415600" y="7063200"/>
            <a:ext cx="115200" cy="115200"/>
          </a:xfrm>
          <a:prstGeom prst="ellipse">
            <a:avLst/>
          </a:prstGeom>
          <a:solidFill>
            <a:srgbClr val="FFFFFF"/>
          </a:solidFill>
          <a:ln w="13970">
            <a:solidFill>
              <a:srgbClr val="FFC700"/>
            </a:solidFill>
            <a:prstDash val="solid"/>
          </a:ln>
        </p:spPr>
      </p:sp>
      <p:sp>
        <p:nvSpPr>
          <p:cNvPr id="65" name="Text 61"/>
          <p:cNvSpPr/>
          <p:nvPr/>
        </p:nvSpPr>
        <p:spPr>
          <a:xfrm>
            <a:off x="2428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66" name="Shape 62"/>
          <p:cNvSpPr/>
          <p:nvPr/>
        </p:nvSpPr>
        <p:spPr>
          <a:xfrm>
            <a:off x="3387600" y="7063200"/>
            <a:ext cx="115200" cy="115200"/>
          </a:xfrm>
          <a:prstGeom prst="ellipse">
            <a:avLst/>
          </a:prstGeom>
          <a:solidFill>
            <a:srgbClr val="FFFFFF"/>
          </a:solidFill>
          <a:ln w="13970">
            <a:solidFill>
              <a:srgbClr val="00B55A"/>
            </a:solidFill>
            <a:prstDash val="solid"/>
          </a:ln>
        </p:spPr>
      </p:sp>
      <p:sp>
        <p:nvSpPr>
          <p:cNvPr id="67" name="Text 63"/>
          <p:cNvSpPr/>
          <p:nvPr/>
        </p:nvSpPr>
        <p:spPr>
          <a:xfrm>
            <a:off x="3400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68" name="Shape 64"/>
          <p:cNvSpPr/>
          <p:nvPr/>
        </p:nvSpPr>
        <p:spPr>
          <a:xfrm>
            <a:off x="4431600" y="7063200"/>
            <a:ext cx="115200" cy="115200"/>
          </a:xfrm>
          <a:prstGeom prst="ellipse">
            <a:avLst/>
          </a:prstGeom>
          <a:solidFill>
            <a:srgbClr val="FFFFFF"/>
          </a:solidFill>
          <a:ln w="13970">
            <a:solidFill>
              <a:srgbClr val="2442F5"/>
            </a:solidFill>
            <a:prstDash val="solid"/>
          </a:ln>
        </p:spPr>
      </p:sp>
      <p:sp>
        <p:nvSpPr>
          <p:cNvPr id="69" name="Text 65"/>
          <p:cNvSpPr/>
          <p:nvPr/>
        </p:nvSpPr>
        <p:spPr>
          <a:xfrm>
            <a:off x="4444200" y="7072200"/>
            <a:ext cx="90000" cy="90000"/>
          </a:xfrm>
          <a:prstGeom prst="rect">
            <a:avLst/>
          </a:prstGeom>
          <a:noFill/>
          <a:ln/>
        </p:spPr>
        <p:txBody>
          <a:bodyPr wrap="square" lIns="0" tIns="0" rIns="0" bIns="0" rtlCol="0" anchor="ctr"/>
          <a:lstStyle/>
          <a:p>
            <a:pPr algn="ctr" indent="0" marL="0">
              <a:buNone/>
            </a:pPr>
            <a:r>
              <a:rPr lang="en-US" sz="550" b="1" dirty="0">
                <a:solidFill>
                  <a:srgbClr val="2442F5"/>
                </a:solidFill>
                <a:latin typeface="Aptos" pitchFamily="34" charset="0"/>
                <a:ea typeface="Aptos" pitchFamily="34" charset="-122"/>
                <a:cs typeface="Aptos" pitchFamily="34" charset="-120"/>
              </a:rPr>
              <a:t>✓</a:t>
            </a:r>
            <a:endParaRPr lang="en-US" sz="550" dirty="0"/>
          </a:p>
        </p:txBody>
      </p:sp>
      <p:sp>
        <p:nvSpPr>
          <p:cNvPr id="70" name="Shape 66"/>
          <p:cNvSpPr/>
          <p:nvPr/>
        </p:nvSpPr>
        <p:spPr>
          <a:xfrm>
            <a:off x="5511600" y="7063200"/>
            <a:ext cx="115200" cy="115200"/>
          </a:xfrm>
          <a:prstGeom prst="ellipse">
            <a:avLst/>
          </a:prstGeom>
          <a:solidFill>
            <a:srgbClr val="FFFFFF"/>
          </a:solidFill>
          <a:ln w="13970">
            <a:solidFill>
              <a:srgbClr val="FFC700"/>
            </a:solidFill>
            <a:prstDash val="solid"/>
          </a:ln>
        </p:spPr>
      </p:sp>
      <p:sp>
        <p:nvSpPr>
          <p:cNvPr id="71" name="Text 67"/>
          <p:cNvSpPr/>
          <p:nvPr/>
        </p:nvSpPr>
        <p:spPr>
          <a:xfrm>
            <a:off x="5524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72" name="Shape 68"/>
          <p:cNvSpPr/>
          <p:nvPr/>
        </p:nvSpPr>
        <p:spPr>
          <a:xfrm>
            <a:off x="6735600" y="7063200"/>
            <a:ext cx="115200" cy="115200"/>
          </a:xfrm>
          <a:prstGeom prst="ellipse">
            <a:avLst/>
          </a:prstGeom>
          <a:solidFill>
            <a:srgbClr val="FFFFFF"/>
          </a:solidFill>
          <a:ln w="13970">
            <a:solidFill>
              <a:srgbClr val="00B55A"/>
            </a:solidFill>
            <a:prstDash val="solid"/>
          </a:ln>
        </p:spPr>
      </p:sp>
      <p:sp>
        <p:nvSpPr>
          <p:cNvPr id="73" name="Text 69"/>
          <p:cNvSpPr/>
          <p:nvPr/>
        </p:nvSpPr>
        <p:spPr>
          <a:xfrm>
            <a:off x="6748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74" name="Text 70"/>
          <p:cNvSpPr/>
          <p:nvPr/>
        </p:nvSpPr>
        <p:spPr>
          <a:xfrm>
            <a:off x="648000" y="7776000"/>
            <a:ext cx="6264000" cy="180000"/>
          </a:xfrm>
          <a:prstGeom prst="rect">
            <a:avLst/>
          </a:prstGeom>
          <a:noFill/>
          <a:ln/>
        </p:spPr>
        <p:txBody>
          <a:bodyPr wrap="square" lIns="0" tIns="0" rIns="0" bIns="0" rtlCol="0" anchor="t"/>
          <a:lstStyle/>
          <a:p>
            <a:pPr indent="0" marL="0">
              <a:buNone/>
            </a:pPr>
            <a:r>
              <a:rPr lang="en-US" sz="960" b="1" dirty="0">
                <a:solidFill>
                  <a:srgbClr val="00B55A"/>
                </a:solidFill>
                <a:latin typeface="Aptos" pitchFamily="34" charset="0"/>
                <a:ea typeface="Aptos" pitchFamily="34" charset="-122"/>
                <a:cs typeface="Aptos" pitchFamily="34" charset="-120"/>
              </a:rPr>
              <a:t>Les principales étapes sont les suivantes :</a:t>
            </a:r>
            <a:endParaRPr lang="en-US" sz="960" dirty="0"/>
          </a:p>
        </p:txBody>
      </p:sp>
      <p:sp>
        <p:nvSpPr>
          <p:cNvPr id="75" name="Text 71"/>
          <p:cNvSpPr/>
          <p:nvPr/>
        </p:nvSpPr>
        <p:spPr>
          <a:xfrm>
            <a:off x="648000" y="7956000"/>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6" name="Text 72"/>
          <p:cNvSpPr/>
          <p:nvPr/>
        </p:nvSpPr>
        <p:spPr>
          <a:xfrm>
            <a:off x="792000" y="7956000"/>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840" dirty="0"/>
          </a:p>
        </p:txBody>
      </p:sp>
      <p:sp>
        <p:nvSpPr>
          <p:cNvPr id="77" name="Text 73"/>
          <p:cNvSpPr/>
          <p:nvPr/>
        </p:nvSpPr>
        <p:spPr>
          <a:xfrm>
            <a:off x="648000" y="813830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8" name="Text 74"/>
          <p:cNvSpPr/>
          <p:nvPr/>
        </p:nvSpPr>
        <p:spPr>
          <a:xfrm>
            <a:off x="792000" y="813830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840" dirty="0"/>
          </a:p>
        </p:txBody>
      </p:sp>
      <p:sp>
        <p:nvSpPr>
          <p:cNvPr id="79" name="Text 75"/>
          <p:cNvSpPr/>
          <p:nvPr/>
        </p:nvSpPr>
        <p:spPr>
          <a:xfrm>
            <a:off x="648000" y="832060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0" name="Text 76"/>
          <p:cNvSpPr/>
          <p:nvPr/>
        </p:nvSpPr>
        <p:spPr>
          <a:xfrm>
            <a:off x="792000" y="832060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840" dirty="0"/>
          </a:p>
        </p:txBody>
      </p:sp>
      <p:sp>
        <p:nvSpPr>
          <p:cNvPr id="81" name="Text 77"/>
          <p:cNvSpPr/>
          <p:nvPr/>
        </p:nvSpPr>
        <p:spPr>
          <a:xfrm>
            <a:off x="648000" y="8642016"/>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2" name="Text 78"/>
          <p:cNvSpPr/>
          <p:nvPr/>
        </p:nvSpPr>
        <p:spPr>
          <a:xfrm>
            <a:off x="792000" y="8642016"/>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840" dirty="0"/>
          </a:p>
        </p:txBody>
      </p:sp>
      <p:sp>
        <p:nvSpPr>
          <p:cNvPr id="83" name="Text 79"/>
          <p:cNvSpPr/>
          <p:nvPr/>
        </p:nvSpPr>
        <p:spPr>
          <a:xfrm>
            <a:off x="648000" y="896342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4" name="Text 80"/>
          <p:cNvSpPr/>
          <p:nvPr/>
        </p:nvSpPr>
        <p:spPr>
          <a:xfrm>
            <a:off x="792000" y="896342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840" dirty="0"/>
          </a:p>
        </p:txBody>
      </p:sp>
      <p:sp>
        <p:nvSpPr>
          <p:cNvPr id="85" name="Text 81"/>
          <p:cNvSpPr/>
          <p:nvPr/>
        </p:nvSpPr>
        <p:spPr>
          <a:xfrm>
            <a:off x="648000" y="914572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6" name="Text 82"/>
          <p:cNvSpPr/>
          <p:nvPr/>
        </p:nvSpPr>
        <p:spPr>
          <a:xfrm>
            <a:off x="792000" y="914572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840" dirty="0"/>
          </a:p>
        </p:txBody>
      </p:sp>
      <p:sp>
        <p:nvSpPr>
          <p:cNvPr id="87" name="Text 83"/>
          <p:cNvSpPr/>
          <p:nvPr/>
        </p:nvSpPr>
        <p:spPr>
          <a:xfrm>
            <a:off x="648000" y="9648000"/>
            <a:ext cx="6264000" cy="144000"/>
          </a:xfrm>
          <a:prstGeom prst="rect">
            <a:avLst/>
          </a:prstGeom>
          <a:noFill/>
          <a:ln/>
        </p:spPr>
        <p:txBody>
          <a:bodyPr wrap="square" lIns="0" tIns="0" rIns="0" bIns="0" rtlCol="0" anchor="t"/>
          <a:lstStyle/>
          <a:p>
            <a:pPr indent="0" marL="0">
              <a:buNone/>
            </a:pPr>
            <a:r>
              <a:rPr lang="en-US" sz="900" b="1" dirty="0">
                <a:solidFill>
                  <a:srgbClr val="00B55A"/>
                </a:solidFill>
                <a:latin typeface="Aptos" pitchFamily="34" charset="0"/>
                <a:ea typeface="Aptos" pitchFamily="34" charset="-122"/>
                <a:cs typeface="Aptos" pitchFamily="34" charset="-120"/>
              </a:rPr>
              <a:t>Pour en savoir plus :</a:t>
            </a:r>
            <a:endParaRPr lang="en-US" sz="900" dirty="0"/>
          </a:p>
        </p:txBody>
      </p:sp>
      <p:sp>
        <p:nvSpPr>
          <p:cNvPr id="88" name="Text 84"/>
          <p:cNvSpPr/>
          <p:nvPr/>
        </p:nvSpPr>
        <p:spPr>
          <a:xfrm>
            <a:off x="648000" y="9792000"/>
            <a:ext cx="6264000" cy="180000"/>
          </a:xfrm>
          <a:prstGeom prst="rect">
            <a:avLst/>
          </a:prstGeom>
          <a:noFill/>
          <a:ln/>
        </p:spPr>
        <p:txBody>
          <a:bodyPr wrap="square" lIns="0" tIns="0" rIns="0" bIns="0" rtlCol="0" anchor="t"/>
          <a:lstStyle/>
          <a:p>
            <a:pPr indent="0" marL="0">
              <a:buNone/>
            </a:pPr>
            <a:r>
              <a:rPr lang="en-US" sz="850" dirty="0">
                <a:solidFill>
                  <a:srgbClr val="4B8BA5"/>
                </a:solidFill>
                <a:uFill>
                  <a:solidFill>
                    <a:srgbClr val="4B8BA5"/>
                  </a:solidFill>
                </a:uFill>
                <a:latin typeface="Aptos" pitchFamily="34" charset="0"/>
                <a:ea typeface="Aptos" pitchFamily="34" charset="-122"/>
                <a:cs typeface="Aptos" pitchFamily="34" charset="-120"/>
              </a:rPr>
              <a:t>MaPrimeRénov’ Copropriété : tout savoir sur l’aide à la rénovation des parties communes | economie.gouv.fr</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pic>
        <p:nvPicPr>
          <p:cNvPr id="8" name="Image 1" descr="Logo CEE">    </p:cNvPr>
          <p:cNvPicPr>
            <a:picLocks noChangeAspect="1"/>
          </p:cNvPicPr>
          <p:nvPr/>
        </p:nvPicPr>
        <p:blipFill>
          <a:blip r:embed="rId2"/>
          <a:srcRect l="0" r="0" t="0" b="0"/>
          <a:stretch/>
        </p:blipFill>
        <p:spPr>
          <a:xfrm>
            <a:off x="5040000" y="1836000"/>
            <a:ext cx="2055600" cy="864000"/>
          </a:xfrm>
          <a:prstGeom prst="rect">
            <a:avLst/>
          </a:prstGeom>
        </p:spPr>
      </p:pic>
      <p:sp>
        <p:nvSpPr>
          <p:cNvPr id="9" name="Text 5"/>
          <p:cNvSpPr/>
          <p:nvPr/>
        </p:nvSpPr>
        <p:spPr>
          <a:xfrm>
            <a:off x="648000" y="1710000"/>
            <a:ext cx="4032000" cy="15552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1000" dirty="0"/>
          </a:p>
          <a:p>
            <a:pPr algn="just" indent="0" marL="0">
              <a:buNone/>
            </a:pPr>
            <a:endParaRPr lang="en-US" sz="1000" dirty="0"/>
          </a:p>
          <a:p>
            <a:pPr algn="just" indent="0" marL="0">
              <a:buNone/>
            </a:pPr>
            <a:r>
              <a:rPr lang="en-US" sz="100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1000" dirty="0"/>
          </a:p>
        </p:txBody>
      </p:sp>
      <p:sp>
        <p:nvSpPr>
          <p:cNvPr id="10" name="Text 6"/>
          <p:cNvSpPr/>
          <p:nvPr/>
        </p:nvSpPr>
        <p:spPr>
          <a:xfrm>
            <a:off x="648000" y="336600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poste par poste</a:t>
            </a:r>
            <a:endParaRPr lang="en-US" sz="1000" dirty="0"/>
          </a:p>
        </p:txBody>
      </p:sp>
      <p:sp>
        <p:nvSpPr>
          <p:cNvPr id="11" name="Text 7"/>
          <p:cNvSpPr/>
          <p:nvPr/>
        </p:nvSpPr>
        <p:spPr>
          <a:xfrm>
            <a:off x="648000" y="3618000"/>
            <a:ext cx="6264000" cy="69408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Les opérations les plus couramment éligibles sont notamment :</a:t>
            </a:r>
            <a:endParaRPr lang="en-US" sz="950" dirty="0"/>
          </a:p>
        </p:txBody>
      </p:sp>
      <p:sp>
        <p:nvSpPr>
          <p:cNvPr id="12" name="Text 8"/>
          <p:cNvSpPr/>
          <p:nvPr/>
        </p:nvSpPr>
        <p:spPr>
          <a:xfrm>
            <a:off x="756000" y="434808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9"/>
          <p:cNvSpPr/>
          <p:nvPr/>
        </p:nvSpPr>
        <p:spPr>
          <a:xfrm>
            <a:off x="900000" y="434808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L’isolation des murs, toitures, combles et planchers bas ;</a:t>
            </a:r>
            <a:endParaRPr lang="en-US" sz="950" dirty="0"/>
          </a:p>
        </p:txBody>
      </p:sp>
      <p:sp>
        <p:nvSpPr>
          <p:cNvPr id="14" name="Text 10"/>
          <p:cNvSpPr/>
          <p:nvPr/>
        </p:nvSpPr>
        <p:spPr>
          <a:xfrm>
            <a:off x="756000" y="458820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1"/>
          <p:cNvSpPr/>
          <p:nvPr/>
        </p:nvSpPr>
        <p:spPr>
          <a:xfrm>
            <a:off x="900000" y="458820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remplacement des menuiseries extérieures ;</a:t>
            </a:r>
            <a:endParaRPr lang="en-US" sz="950" dirty="0"/>
          </a:p>
        </p:txBody>
      </p:sp>
      <p:sp>
        <p:nvSpPr>
          <p:cNvPr id="16" name="Text 12"/>
          <p:cNvSpPr/>
          <p:nvPr/>
        </p:nvSpPr>
        <p:spPr>
          <a:xfrm>
            <a:off x="756000" y="482832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7" name="Text 13"/>
          <p:cNvSpPr/>
          <p:nvPr/>
        </p:nvSpPr>
        <p:spPr>
          <a:xfrm>
            <a:off x="900000" y="482832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L’amélioration des systèmes de chauffage ;</a:t>
            </a:r>
            <a:endParaRPr lang="en-US" sz="950" dirty="0"/>
          </a:p>
        </p:txBody>
      </p:sp>
      <p:sp>
        <p:nvSpPr>
          <p:cNvPr id="18" name="Text 14"/>
          <p:cNvSpPr/>
          <p:nvPr/>
        </p:nvSpPr>
        <p:spPr>
          <a:xfrm>
            <a:off x="756000" y="506844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9" name="Text 15"/>
          <p:cNvSpPr/>
          <p:nvPr/>
        </p:nvSpPr>
        <p:spPr>
          <a:xfrm>
            <a:off x="900000" y="506844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L’installation de systèmes de ventilation performants ;</a:t>
            </a:r>
            <a:endParaRPr lang="en-US" sz="950" dirty="0"/>
          </a:p>
        </p:txBody>
      </p:sp>
      <p:sp>
        <p:nvSpPr>
          <p:cNvPr id="20" name="Text 16"/>
          <p:cNvSpPr/>
          <p:nvPr/>
        </p:nvSpPr>
        <p:spPr>
          <a:xfrm>
            <a:off x="756000" y="530856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21" name="Text 17"/>
          <p:cNvSpPr/>
          <p:nvPr/>
        </p:nvSpPr>
        <p:spPr>
          <a:xfrm>
            <a:off x="900000" y="530856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raccordement à un réseau de chaleur.</a:t>
            </a:r>
            <a:endParaRPr lang="en-US" sz="950" dirty="0"/>
          </a:p>
        </p:txBody>
      </p:sp>
      <p:sp>
        <p:nvSpPr>
          <p:cNvPr id="22" name="Text 18"/>
          <p:cNvSpPr/>
          <p:nvPr/>
        </p:nvSpPr>
        <p:spPr>
          <a:xfrm>
            <a:off x="648000" y="558468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50" dirty="0"/>
          </a:p>
        </p:txBody>
      </p:sp>
      <p:sp>
        <p:nvSpPr>
          <p:cNvPr id="23" name="Text 19"/>
          <p:cNvSpPr/>
          <p:nvPr/>
        </p:nvSpPr>
        <p:spPr>
          <a:xfrm>
            <a:off x="648000" y="615384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 Rénovation globale » (BAR-TH-177)</a:t>
            </a:r>
            <a:endParaRPr lang="en-US" sz="1000" dirty="0"/>
          </a:p>
        </p:txBody>
      </p:sp>
      <p:sp>
        <p:nvSpPr>
          <p:cNvPr id="24" name="Text 20"/>
          <p:cNvSpPr/>
          <p:nvPr/>
        </p:nvSpPr>
        <p:spPr>
          <a:xfrm>
            <a:off x="648000" y="6405840"/>
            <a:ext cx="6264000" cy="21099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50" dirty="0"/>
          </a:p>
        </p:txBody>
      </p:sp>
      <p:sp>
        <p:nvSpPr>
          <p:cNvPr id="25" name="Text 21"/>
          <p:cNvSpPr/>
          <p:nvPr/>
        </p:nvSpPr>
        <p:spPr>
          <a:xfrm>
            <a:off x="648000" y="9468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26" name="Text 22"/>
          <p:cNvSpPr/>
          <p:nvPr/>
        </p:nvSpPr>
        <p:spPr>
          <a:xfrm>
            <a:off x="648000" y="9612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Certificats d’économie d’énergie (CEE) | Service Public</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807200"/>
            <a:ext cx="3877200" cy="1080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1000" dirty="0"/>
          </a:p>
        </p:txBody>
      </p:sp>
      <p:sp>
        <p:nvSpPr>
          <p:cNvPr id="9" name="Text 6"/>
          <p:cNvSpPr/>
          <p:nvPr/>
        </p:nvSpPr>
        <p:spPr>
          <a:xfrm>
            <a:off x="648000" y="3027600"/>
            <a:ext cx="3877200" cy="666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1000" dirty="0"/>
          </a:p>
        </p:txBody>
      </p:sp>
      <p:pic>
        <p:nvPicPr>
          <p:cNvPr id="10" name="Image 1" descr="Illustration Éco-PTZ">    </p:cNvPr>
          <p:cNvPicPr>
            <a:picLocks noChangeAspect="1"/>
          </p:cNvPicPr>
          <p:nvPr/>
        </p:nvPicPr>
        <p:blipFill>
          <a:blip r:embed="rId2"/>
          <a:srcRect l="0" r="0" t="0" b="0"/>
          <a:stretch/>
        </p:blipFill>
        <p:spPr>
          <a:xfrm>
            <a:off x="4748400" y="1879200"/>
            <a:ext cx="2412000" cy="1440000"/>
          </a:xfrm>
          <a:prstGeom prst="rect">
            <a:avLst/>
          </a:prstGeom>
        </p:spPr>
      </p:pic>
      <p:sp>
        <p:nvSpPr>
          <p:cNvPr id="11" name="Text 7"/>
          <p:cNvSpPr/>
          <p:nvPr/>
        </p:nvSpPr>
        <p:spPr>
          <a:xfrm>
            <a:off x="648000" y="379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a:t>
            </a:r>
            <a:endParaRPr lang="en-US" sz="1000" dirty="0"/>
          </a:p>
        </p:txBody>
      </p:sp>
      <p:sp>
        <p:nvSpPr>
          <p:cNvPr id="12" name="Text 8"/>
          <p:cNvSpPr/>
          <p:nvPr/>
        </p:nvSpPr>
        <p:spPr>
          <a:xfrm>
            <a:off x="648000" y="39492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1000" dirty="0"/>
          </a:p>
        </p:txBody>
      </p:sp>
      <p:sp>
        <p:nvSpPr>
          <p:cNvPr id="13" name="Text 9"/>
          <p:cNvSpPr/>
          <p:nvPr/>
        </p:nvSpPr>
        <p:spPr>
          <a:xfrm>
            <a:off x="756000" y="41040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4" name="Text 10"/>
          <p:cNvSpPr/>
          <p:nvPr/>
        </p:nvSpPr>
        <p:spPr>
          <a:xfrm>
            <a:off x="900000" y="41040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1000" dirty="0"/>
          </a:p>
        </p:txBody>
      </p:sp>
      <p:sp>
        <p:nvSpPr>
          <p:cNvPr id="15" name="Text 11"/>
          <p:cNvSpPr/>
          <p:nvPr/>
        </p:nvSpPr>
        <p:spPr>
          <a:xfrm>
            <a:off x="756000" y="42552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6" name="Text 12"/>
          <p:cNvSpPr/>
          <p:nvPr/>
        </p:nvSpPr>
        <p:spPr>
          <a:xfrm>
            <a:off x="900000" y="42552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1000" dirty="0"/>
          </a:p>
        </p:txBody>
      </p:sp>
      <p:sp>
        <p:nvSpPr>
          <p:cNvPr id="17" name="Text 13"/>
          <p:cNvSpPr/>
          <p:nvPr/>
        </p:nvSpPr>
        <p:spPr>
          <a:xfrm>
            <a:off x="756000" y="4406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8" name="Text 14"/>
          <p:cNvSpPr/>
          <p:nvPr/>
        </p:nvSpPr>
        <p:spPr>
          <a:xfrm>
            <a:off x="900000" y="4406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1000" dirty="0"/>
          </a:p>
        </p:txBody>
      </p:sp>
      <p:sp>
        <p:nvSpPr>
          <p:cNvPr id="19" name="Text 15"/>
          <p:cNvSpPr/>
          <p:nvPr/>
        </p:nvSpPr>
        <p:spPr>
          <a:xfrm>
            <a:off x="756000" y="45576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0" name="Text 16"/>
          <p:cNvSpPr/>
          <p:nvPr/>
        </p:nvSpPr>
        <p:spPr>
          <a:xfrm>
            <a:off x="900000" y="45576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1000" dirty="0"/>
          </a:p>
        </p:txBody>
      </p:sp>
      <p:sp>
        <p:nvSpPr>
          <p:cNvPr id="21" name="Text 17"/>
          <p:cNvSpPr/>
          <p:nvPr/>
        </p:nvSpPr>
        <p:spPr>
          <a:xfrm>
            <a:off x="648000" y="48636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engagés doivent permettre :</a:t>
            </a:r>
            <a:endParaRPr lang="en-US" sz="1000" dirty="0"/>
          </a:p>
        </p:txBody>
      </p:sp>
      <p:sp>
        <p:nvSpPr>
          <p:cNvPr id="22" name="Text 18"/>
          <p:cNvSpPr/>
          <p:nvPr/>
        </p:nvSpPr>
        <p:spPr>
          <a:xfrm>
            <a:off x="756000" y="5018400"/>
            <a:ext cx="108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3" name="Text 19"/>
          <p:cNvSpPr/>
          <p:nvPr/>
        </p:nvSpPr>
        <p:spPr>
          <a:xfrm>
            <a:off x="900000" y="5018400"/>
            <a:ext cx="6012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1000" dirty="0"/>
          </a:p>
        </p:txBody>
      </p:sp>
      <p:sp>
        <p:nvSpPr>
          <p:cNvPr id="24" name="Text 20"/>
          <p:cNvSpPr/>
          <p:nvPr/>
        </p:nvSpPr>
        <p:spPr>
          <a:xfrm>
            <a:off x="756000" y="5342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5" name="Text 21"/>
          <p:cNvSpPr/>
          <p:nvPr/>
        </p:nvSpPr>
        <p:spPr>
          <a:xfrm>
            <a:off x="900000" y="5342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1000" dirty="0"/>
          </a:p>
        </p:txBody>
      </p:sp>
      <p:sp>
        <p:nvSpPr>
          <p:cNvPr id="26" name="Text 22"/>
          <p:cNvSpPr/>
          <p:nvPr/>
        </p:nvSpPr>
        <p:spPr>
          <a:xfrm>
            <a:off x="648000" y="577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Montant et durée du prêt</a:t>
            </a:r>
            <a:endParaRPr lang="en-US" sz="1000" dirty="0"/>
          </a:p>
        </p:txBody>
      </p:sp>
      <p:sp>
        <p:nvSpPr>
          <p:cNvPr id="27" name="Text 23"/>
          <p:cNvSpPr/>
          <p:nvPr/>
        </p:nvSpPr>
        <p:spPr>
          <a:xfrm>
            <a:off x="648000" y="59328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1000" dirty="0"/>
          </a:p>
        </p:txBody>
      </p:sp>
      <p:sp>
        <p:nvSpPr>
          <p:cNvPr id="28" name="Text 24"/>
          <p:cNvSpPr/>
          <p:nvPr/>
        </p:nvSpPr>
        <p:spPr>
          <a:xfrm>
            <a:off x="648000" y="69984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Fonctionnement en copropriété</a:t>
            </a:r>
            <a:endParaRPr lang="en-US" sz="1000" dirty="0"/>
          </a:p>
        </p:txBody>
      </p:sp>
      <p:sp>
        <p:nvSpPr>
          <p:cNvPr id="29" name="Text 25"/>
          <p:cNvSpPr/>
          <p:nvPr/>
        </p:nvSpPr>
        <p:spPr>
          <a:xfrm>
            <a:off x="648000" y="71496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1000" dirty="0"/>
          </a:p>
        </p:txBody>
      </p:sp>
      <p:sp>
        <p:nvSpPr>
          <p:cNvPr id="30" name="Text 26"/>
          <p:cNvSpPr/>
          <p:nvPr/>
        </p:nvSpPr>
        <p:spPr>
          <a:xfrm>
            <a:off x="648000" y="82188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À retenir</a:t>
            </a:r>
            <a:endParaRPr lang="en-US" sz="1000" dirty="0"/>
          </a:p>
        </p:txBody>
      </p:sp>
      <p:sp>
        <p:nvSpPr>
          <p:cNvPr id="31" name="Text 27"/>
          <p:cNvSpPr/>
          <p:nvPr/>
        </p:nvSpPr>
        <p:spPr>
          <a:xfrm>
            <a:off x="648000" y="8370000"/>
            <a:ext cx="6264000" cy="540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1000" dirty="0"/>
          </a:p>
        </p:txBody>
      </p:sp>
      <p:sp>
        <p:nvSpPr>
          <p:cNvPr id="32" name="Text 28"/>
          <p:cNvSpPr/>
          <p:nvPr/>
        </p:nvSpPr>
        <p:spPr>
          <a:xfrm>
            <a:off x="648000" y="91332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 en savoir plus :</a:t>
            </a:r>
            <a:endParaRPr lang="en-US" sz="1000" dirty="0"/>
          </a:p>
        </p:txBody>
      </p:sp>
      <p:sp>
        <p:nvSpPr>
          <p:cNvPr id="33" name="Text 29"/>
          <p:cNvSpPr/>
          <p:nvPr/>
        </p:nvSpPr>
        <p:spPr>
          <a:xfrm>
            <a:off x="648000" y="9291600"/>
            <a:ext cx="6264000" cy="180000"/>
          </a:xfrm>
          <a:prstGeom prst="rect">
            <a:avLst/>
          </a:prstGeom>
          <a:noFill/>
          <a:ln/>
        </p:spPr>
        <p:txBody>
          <a:bodyPr wrap="square" lIns="0" tIns="0" rIns="0" bIns="0" rtlCol="0" anchor="t"/>
          <a:lstStyle/>
          <a:p>
            <a:pPr indent="0" marL="0">
              <a:buNone/>
            </a:pPr>
            <a:r>
              <a:rPr lang="en-US" sz="1000" dirty="0">
                <a:solidFill>
                  <a:srgbClr val="4B8BA5"/>
                </a:solidFill>
                <a:uFill>
                  <a:solidFill>
                    <a:srgbClr val="4B8BA5"/>
                  </a:solidFill>
                </a:uFill>
                <a:latin typeface="Aptos" pitchFamily="34" charset="0"/>
                <a:ea typeface="Aptos" pitchFamily="34" charset="-122"/>
                <a:cs typeface="Aptos" pitchFamily="34" charset="-120"/>
              </a:rPr>
              <a:t>Éco-prêt à taux zéro (éco-PTZ) Copropriétés | Service Public</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pic>
        <p:nvPicPr>
          <p:cNvPr id="8" name="Image 1" descr="Illustration TVA à 5,5 %">    </p:cNvPr>
          <p:cNvPicPr>
            <a:picLocks noChangeAspect="1"/>
          </p:cNvPicPr>
          <p:nvPr/>
        </p:nvPicPr>
        <p:blipFill>
          <a:blip r:embed="rId2"/>
          <a:srcRect l="0" r="0" t="0" b="0"/>
          <a:stretch/>
        </p:blipFill>
        <p:spPr>
          <a:xfrm>
            <a:off x="4795200" y="1641600"/>
            <a:ext cx="1296000" cy="1332000"/>
          </a:xfrm>
          <a:prstGeom prst="rect">
            <a:avLst/>
          </a:prstGeom>
        </p:spPr>
      </p:pic>
      <p:sp>
        <p:nvSpPr>
          <p:cNvPr id="9" name="Text 5"/>
          <p:cNvSpPr/>
          <p:nvPr/>
        </p:nvSpPr>
        <p:spPr>
          <a:xfrm>
            <a:off x="648000" y="1710000"/>
            <a:ext cx="4032000" cy="8928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1000" dirty="0"/>
          </a:p>
        </p:txBody>
      </p:sp>
      <p:sp>
        <p:nvSpPr>
          <p:cNvPr id="10" name="Text 6"/>
          <p:cNvSpPr/>
          <p:nvPr/>
        </p:nvSpPr>
        <p:spPr>
          <a:xfrm>
            <a:off x="648000" y="327600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1" name="Text 7"/>
          <p:cNvSpPr/>
          <p:nvPr/>
        </p:nvSpPr>
        <p:spPr>
          <a:xfrm>
            <a:off x="648000" y="351972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2"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4"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6"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8"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20" name="Text 16"/>
          <p:cNvSpPr/>
          <p:nvPr/>
        </p:nvSpPr>
        <p:spPr>
          <a:xfrm>
            <a:off x="648000" y="473292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1" name="Text 17"/>
          <p:cNvSpPr/>
          <p:nvPr/>
        </p:nvSpPr>
        <p:spPr>
          <a:xfrm>
            <a:off x="648000" y="497664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2"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4"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5"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6"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7"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8"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9"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30"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1"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2"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3"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4"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5"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6" name="Text 32"/>
          <p:cNvSpPr/>
          <p:nvPr/>
        </p:nvSpPr>
        <p:spPr>
          <a:xfrm>
            <a:off x="648000" y="688536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7" name="Text 33"/>
          <p:cNvSpPr/>
          <p:nvPr/>
        </p:nvSpPr>
        <p:spPr>
          <a:xfrm>
            <a:off x="648000" y="7129080"/>
            <a:ext cx="6264000" cy="66096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8" name="Text 34"/>
          <p:cNvSpPr/>
          <p:nvPr/>
        </p:nvSpPr>
        <p:spPr>
          <a:xfrm>
            <a:off x="648000" y="782604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9" name="Text 35"/>
          <p:cNvSpPr/>
          <p:nvPr/>
        </p:nvSpPr>
        <p:spPr>
          <a:xfrm>
            <a:off x="648000" y="8069760"/>
            <a:ext cx="6264000" cy="51192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40" name="Text 36"/>
          <p:cNvSpPr/>
          <p:nvPr/>
        </p:nvSpPr>
        <p:spPr>
          <a:xfrm>
            <a:off x="648000" y="9000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41" name="Text 37"/>
          <p:cNvSpPr/>
          <p:nvPr/>
        </p:nvSpPr>
        <p:spPr>
          <a:xfrm>
            <a:off x="648000" y="9144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TVA à taux réduit : pour quels travaux ? | economie.gouv.fr</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692000"/>
            <a:ext cx="1332000" cy="864000"/>
          </a:xfrm>
          <a:prstGeom prst="rect">
            <a:avLst/>
          </a:prstGeom>
          <a:solidFill>
            <a:srgbClr val="FFFFFF"/>
          </a:solidFill>
          <a:ln w="6985">
            <a:solidFill>
              <a:srgbClr val="FFFFFF"/>
            </a:solidFill>
            <a:prstDash val="solid"/>
          </a:ln>
        </p:spPr>
      </p:sp>
      <p:sp>
        <p:nvSpPr>
          <p:cNvPr id="9" name="Text 6"/>
          <p:cNvSpPr/>
          <p:nvPr/>
        </p:nvSpPr>
        <p:spPr>
          <a:xfrm>
            <a:off x="601200" y="1731600"/>
            <a:ext cx="1209600" cy="784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692000"/>
            <a:ext cx="1287000" cy="864000"/>
          </a:xfrm>
          <a:prstGeom prst="rect">
            <a:avLst/>
          </a:prstGeom>
          <a:solidFill>
            <a:srgbClr val="0874BD"/>
          </a:solidFill>
          <a:ln w="6985">
            <a:solidFill>
              <a:srgbClr val="202020"/>
            </a:solidFill>
            <a:prstDash val="solid"/>
          </a:ln>
        </p:spPr>
      </p:sp>
      <p:sp>
        <p:nvSpPr>
          <p:cNvPr id="11" name="Text 8"/>
          <p:cNvSpPr/>
          <p:nvPr/>
        </p:nvSpPr>
        <p:spPr>
          <a:xfrm>
            <a:off x="1933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12" name="Shape 9"/>
          <p:cNvSpPr/>
          <p:nvPr/>
        </p:nvSpPr>
        <p:spPr>
          <a:xfrm>
            <a:off x="3159000" y="1692000"/>
            <a:ext cx="1287000" cy="864000"/>
          </a:xfrm>
          <a:prstGeom prst="rect">
            <a:avLst/>
          </a:prstGeom>
          <a:solidFill>
            <a:srgbClr val="0874BD"/>
          </a:solidFill>
          <a:ln w="6985">
            <a:solidFill>
              <a:srgbClr val="202020"/>
            </a:solidFill>
            <a:prstDash val="solid"/>
          </a:ln>
        </p:spPr>
      </p:sp>
      <p:sp>
        <p:nvSpPr>
          <p:cNvPr id="13" name="Text 10"/>
          <p:cNvSpPr/>
          <p:nvPr/>
        </p:nvSpPr>
        <p:spPr>
          <a:xfrm>
            <a:off x="3220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14" name="Shape 11"/>
          <p:cNvSpPr/>
          <p:nvPr/>
        </p:nvSpPr>
        <p:spPr>
          <a:xfrm>
            <a:off x="4446000" y="1692000"/>
            <a:ext cx="1287000" cy="864000"/>
          </a:xfrm>
          <a:prstGeom prst="rect">
            <a:avLst/>
          </a:prstGeom>
          <a:solidFill>
            <a:srgbClr val="0874BD"/>
          </a:solidFill>
          <a:ln w="6985">
            <a:solidFill>
              <a:srgbClr val="202020"/>
            </a:solidFill>
            <a:prstDash val="solid"/>
          </a:ln>
        </p:spPr>
      </p:sp>
      <p:sp>
        <p:nvSpPr>
          <p:cNvPr id="15" name="Text 12"/>
          <p:cNvSpPr/>
          <p:nvPr/>
        </p:nvSpPr>
        <p:spPr>
          <a:xfrm>
            <a:off x="4507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16" name="Shape 13"/>
          <p:cNvSpPr/>
          <p:nvPr/>
        </p:nvSpPr>
        <p:spPr>
          <a:xfrm>
            <a:off x="5733000" y="1692000"/>
            <a:ext cx="1287000" cy="864000"/>
          </a:xfrm>
          <a:prstGeom prst="rect">
            <a:avLst/>
          </a:prstGeom>
          <a:solidFill>
            <a:srgbClr val="0874BD"/>
          </a:solidFill>
          <a:ln w="6985">
            <a:solidFill>
              <a:srgbClr val="202020"/>
            </a:solidFill>
            <a:prstDash val="solid"/>
          </a:ln>
        </p:spPr>
      </p:sp>
      <p:sp>
        <p:nvSpPr>
          <p:cNvPr id="17" name="Text 14"/>
          <p:cNvSpPr/>
          <p:nvPr/>
        </p:nvSpPr>
        <p:spPr>
          <a:xfrm>
            <a:off x="5794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18" name="Shape 15"/>
          <p:cNvSpPr/>
          <p:nvPr/>
        </p:nvSpPr>
        <p:spPr>
          <a:xfrm>
            <a:off x="540000" y="2556000"/>
            <a:ext cx="1332000" cy="1728000"/>
          </a:xfrm>
          <a:prstGeom prst="rect">
            <a:avLst/>
          </a:prstGeom>
          <a:solidFill>
            <a:srgbClr val="0874BD"/>
          </a:solidFill>
          <a:ln w="6985">
            <a:solidFill>
              <a:srgbClr val="202020"/>
            </a:solidFill>
            <a:prstDash val="solid"/>
          </a:ln>
        </p:spPr>
      </p:sp>
      <p:sp>
        <p:nvSpPr>
          <p:cNvPr id="19" name="Text 16"/>
          <p:cNvSpPr/>
          <p:nvPr/>
        </p:nvSpPr>
        <p:spPr>
          <a:xfrm>
            <a:off x="601200" y="2595600"/>
            <a:ext cx="1209600" cy="164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20" name="Shape 17"/>
          <p:cNvSpPr/>
          <p:nvPr/>
        </p:nvSpPr>
        <p:spPr>
          <a:xfrm>
            <a:off x="1872000" y="2556000"/>
            <a:ext cx="1287000" cy="1728000"/>
          </a:xfrm>
          <a:prstGeom prst="rect">
            <a:avLst/>
          </a:prstGeom>
          <a:solidFill>
            <a:srgbClr val="149DCE"/>
          </a:solidFill>
          <a:ln w="6985">
            <a:solidFill>
              <a:srgbClr val="202020"/>
            </a:solidFill>
            <a:prstDash val="solid"/>
          </a:ln>
        </p:spPr>
      </p:sp>
      <p:sp>
        <p:nvSpPr>
          <p:cNvPr id="21" name="Text 18"/>
          <p:cNvSpPr/>
          <p:nvPr/>
        </p:nvSpPr>
        <p:spPr>
          <a:xfrm>
            <a:off x="1933200" y="2595600"/>
            <a:ext cx="1164600" cy="1648800"/>
          </a:xfrm>
          <a:prstGeom prst="rect">
            <a:avLst/>
          </a:prstGeom>
          <a:noFill/>
          <a:ln/>
        </p:spPr>
        <p:txBody>
          <a:bodyPr wrap="square" lIns="0" tIns="0" rIns="0" bIns="0" rtlCol="0" anchor="ctr"/>
          <a:lstStyle/>
          <a:p>
            <a:pPr algn="ctr" indent="0" marL="0">
              <a:buNone/>
            </a:pPr>
            <a:endParaRPr lang="en-US" sz="1000" dirty="0"/>
          </a:p>
        </p:txBody>
      </p:sp>
      <p:sp>
        <p:nvSpPr>
          <p:cNvPr id="22" name="Shape 19"/>
          <p:cNvSpPr/>
          <p:nvPr/>
        </p:nvSpPr>
        <p:spPr>
          <a:xfrm>
            <a:off x="3159000" y="2556000"/>
            <a:ext cx="1287000" cy="1728000"/>
          </a:xfrm>
          <a:prstGeom prst="rect">
            <a:avLst/>
          </a:prstGeom>
          <a:solidFill>
            <a:srgbClr val="FFFFFF"/>
          </a:solidFill>
          <a:ln w="6985">
            <a:solidFill>
              <a:srgbClr val="202020"/>
            </a:solidFill>
            <a:prstDash val="solid"/>
          </a:ln>
        </p:spPr>
      </p:sp>
      <p:sp>
        <p:nvSpPr>
          <p:cNvPr id="23" name="Text 20"/>
          <p:cNvSpPr/>
          <p:nvPr/>
        </p:nvSpPr>
        <p:spPr>
          <a:xfrm>
            <a:off x="3220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4" name="Shape 21"/>
          <p:cNvSpPr/>
          <p:nvPr/>
        </p:nvSpPr>
        <p:spPr>
          <a:xfrm>
            <a:off x="4446000" y="2556000"/>
            <a:ext cx="1287000" cy="1728000"/>
          </a:xfrm>
          <a:prstGeom prst="rect">
            <a:avLst/>
          </a:prstGeom>
          <a:solidFill>
            <a:srgbClr val="FFFFFF"/>
          </a:solidFill>
          <a:ln w="6985">
            <a:solidFill>
              <a:srgbClr val="202020"/>
            </a:solidFill>
            <a:prstDash val="solid"/>
          </a:ln>
        </p:spPr>
      </p:sp>
      <p:sp>
        <p:nvSpPr>
          <p:cNvPr id="25" name="Text 22"/>
          <p:cNvSpPr/>
          <p:nvPr/>
        </p:nvSpPr>
        <p:spPr>
          <a:xfrm>
            <a:off x="4518000" y="3060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6" name="Text 23"/>
          <p:cNvSpPr/>
          <p:nvPr/>
        </p:nvSpPr>
        <p:spPr>
          <a:xfrm>
            <a:off x="4518000" y="3420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27" name="Shape 24"/>
          <p:cNvSpPr/>
          <p:nvPr/>
        </p:nvSpPr>
        <p:spPr>
          <a:xfrm>
            <a:off x="5733000" y="2556000"/>
            <a:ext cx="1287000" cy="1728000"/>
          </a:xfrm>
          <a:prstGeom prst="rect">
            <a:avLst/>
          </a:prstGeom>
          <a:solidFill>
            <a:srgbClr val="FFFFFF"/>
          </a:solidFill>
          <a:ln w="6985">
            <a:solidFill>
              <a:srgbClr val="202020"/>
            </a:solidFill>
            <a:prstDash val="solid"/>
          </a:ln>
        </p:spPr>
      </p:sp>
      <p:sp>
        <p:nvSpPr>
          <p:cNvPr id="28" name="Text 25"/>
          <p:cNvSpPr/>
          <p:nvPr/>
        </p:nvSpPr>
        <p:spPr>
          <a:xfrm>
            <a:off x="5794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9" name="Shape 26"/>
          <p:cNvSpPr/>
          <p:nvPr/>
        </p:nvSpPr>
        <p:spPr>
          <a:xfrm>
            <a:off x="540000" y="4284000"/>
            <a:ext cx="1332000" cy="1368000"/>
          </a:xfrm>
          <a:prstGeom prst="rect">
            <a:avLst/>
          </a:prstGeom>
          <a:solidFill>
            <a:srgbClr val="0874BD"/>
          </a:solidFill>
          <a:ln w="6985">
            <a:solidFill>
              <a:srgbClr val="202020"/>
            </a:solidFill>
            <a:prstDash val="solid"/>
          </a:ln>
        </p:spPr>
      </p:sp>
      <p:sp>
        <p:nvSpPr>
          <p:cNvPr id="30" name="Text 27"/>
          <p:cNvSpPr/>
          <p:nvPr/>
        </p:nvSpPr>
        <p:spPr>
          <a:xfrm>
            <a:off x="601200" y="4323600"/>
            <a:ext cx="1209600" cy="128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31" name="Shape 28"/>
          <p:cNvSpPr/>
          <p:nvPr/>
        </p:nvSpPr>
        <p:spPr>
          <a:xfrm>
            <a:off x="1872000" y="4284000"/>
            <a:ext cx="1287000" cy="1368000"/>
          </a:xfrm>
          <a:prstGeom prst="rect">
            <a:avLst/>
          </a:prstGeom>
          <a:solidFill>
            <a:srgbClr val="FFFFFF"/>
          </a:solidFill>
          <a:ln w="6985">
            <a:solidFill>
              <a:srgbClr val="202020"/>
            </a:solidFill>
            <a:prstDash val="solid"/>
          </a:ln>
        </p:spPr>
      </p:sp>
      <p:sp>
        <p:nvSpPr>
          <p:cNvPr id="32" name="Text 29"/>
          <p:cNvSpPr/>
          <p:nvPr/>
        </p:nvSpPr>
        <p:spPr>
          <a:xfrm>
            <a:off x="1933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3" name="Shape 30"/>
          <p:cNvSpPr/>
          <p:nvPr/>
        </p:nvSpPr>
        <p:spPr>
          <a:xfrm>
            <a:off x="3159000" y="4284000"/>
            <a:ext cx="1287000" cy="1368000"/>
          </a:xfrm>
          <a:prstGeom prst="rect">
            <a:avLst/>
          </a:prstGeom>
          <a:solidFill>
            <a:srgbClr val="149DCE"/>
          </a:solidFill>
          <a:ln w="6985">
            <a:solidFill>
              <a:srgbClr val="202020"/>
            </a:solidFill>
            <a:prstDash val="solid"/>
          </a:ln>
        </p:spPr>
      </p:sp>
      <p:sp>
        <p:nvSpPr>
          <p:cNvPr id="34" name="Text 31"/>
          <p:cNvSpPr/>
          <p:nvPr/>
        </p:nvSpPr>
        <p:spPr>
          <a:xfrm>
            <a:off x="3220200" y="4323600"/>
            <a:ext cx="1164600" cy="128880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4446000" y="4284000"/>
            <a:ext cx="1287000" cy="1368000"/>
          </a:xfrm>
          <a:prstGeom prst="rect">
            <a:avLst/>
          </a:prstGeom>
          <a:solidFill>
            <a:srgbClr val="FFFFFF"/>
          </a:solidFill>
          <a:ln w="6985">
            <a:solidFill>
              <a:srgbClr val="202020"/>
            </a:solidFill>
            <a:prstDash val="solid"/>
          </a:ln>
        </p:spPr>
      </p:sp>
      <p:sp>
        <p:nvSpPr>
          <p:cNvPr id="36" name="Text 33"/>
          <p:cNvSpPr/>
          <p:nvPr/>
        </p:nvSpPr>
        <p:spPr>
          <a:xfrm>
            <a:off x="4507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7" name="Shape 34"/>
          <p:cNvSpPr/>
          <p:nvPr/>
        </p:nvSpPr>
        <p:spPr>
          <a:xfrm>
            <a:off x="5733000" y="4284000"/>
            <a:ext cx="1287000" cy="1368000"/>
          </a:xfrm>
          <a:prstGeom prst="rect">
            <a:avLst/>
          </a:prstGeom>
          <a:solidFill>
            <a:srgbClr val="FFFFFF"/>
          </a:solidFill>
          <a:ln w="6985">
            <a:solidFill>
              <a:srgbClr val="202020"/>
            </a:solidFill>
            <a:prstDash val="solid"/>
          </a:ln>
        </p:spPr>
      </p:sp>
      <p:sp>
        <p:nvSpPr>
          <p:cNvPr id="38" name="Text 35"/>
          <p:cNvSpPr/>
          <p:nvPr/>
        </p:nvSpPr>
        <p:spPr>
          <a:xfrm>
            <a:off x="5794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9" name="Shape 36"/>
          <p:cNvSpPr/>
          <p:nvPr/>
        </p:nvSpPr>
        <p:spPr>
          <a:xfrm>
            <a:off x="540000" y="5652000"/>
            <a:ext cx="1332000" cy="1584000"/>
          </a:xfrm>
          <a:prstGeom prst="rect">
            <a:avLst/>
          </a:prstGeom>
          <a:solidFill>
            <a:srgbClr val="0874BD"/>
          </a:solidFill>
          <a:ln w="6985">
            <a:solidFill>
              <a:srgbClr val="202020"/>
            </a:solidFill>
            <a:prstDash val="solid"/>
          </a:ln>
        </p:spPr>
      </p:sp>
      <p:sp>
        <p:nvSpPr>
          <p:cNvPr id="40" name="Text 37"/>
          <p:cNvSpPr/>
          <p:nvPr/>
        </p:nvSpPr>
        <p:spPr>
          <a:xfrm>
            <a:off x="601200" y="5691600"/>
            <a:ext cx="1209600" cy="150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41" name="Shape 38"/>
          <p:cNvSpPr/>
          <p:nvPr/>
        </p:nvSpPr>
        <p:spPr>
          <a:xfrm>
            <a:off x="1872000" y="5652000"/>
            <a:ext cx="1287000" cy="1584000"/>
          </a:xfrm>
          <a:prstGeom prst="rect">
            <a:avLst/>
          </a:prstGeom>
          <a:solidFill>
            <a:srgbClr val="FFFFFF"/>
          </a:solidFill>
          <a:ln w="6985">
            <a:solidFill>
              <a:srgbClr val="202020"/>
            </a:solidFill>
            <a:prstDash val="solid"/>
          </a:ln>
        </p:spPr>
      </p:sp>
      <p:sp>
        <p:nvSpPr>
          <p:cNvPr id="42" name="Text 39"/>
          <p:cNvSpPr/>
          <p:nvPr/>
        </p:nvSpPr>
        <p:spPr>
          <a:xfrm>
            <a:off x="1944000" y="6012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3" name="Text 40"/>
          <p:cNvSpPr/>
          <p:nvPr/>
        </p:nvSpPr>
        <p:spPr>
          <a:xfrm>
            <a:off x="1944000" y="6372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44" name="Shape 41"/>
          <p:cNvSpPr/>
          <p:nvPr/>
        </p:nvSpPr>
        <p:spPr>
          <a:xfrm>
            <a:off x="3159000" y="5652000"/>
            <a:ext cx="1287000" cy="1584000"/>
          </a:xfrm>
          <a:prstGeom prst="rect">
            <a:avLst/>
          </a:prstGeom>
          <a:solidFill>
            <a:srgbClr val="FFFFFF"/>
          </a:solidFill>
          <a:ln w="6985">
            <a:solidFill>
              <a:srgbClr val="202020"/>
            </a:solidFill>
            <a:prstDash val="solid"/>
          </a:ln>
        </p:spPr>
      </p:sp>
      <p:sp>
        <p:nvSpPr>
          <p:cNvPr id="45" name="Text 42"/>
          <p:cNvSpPr/>
          <p:nvPr/>
        </p:nvSpPr>
        <p:spPr>
          <a:xfrm>
            <a:off x="3220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6" name="Shape 43"/>
          <p:cNvSpPr/>
          <p:nvPr/>
        </p:nvSpPr>
        <p:spPr>
          <a:xfrm>
            <a:off x="4446000" y="5652000"/>
            <a:ext cx="1287000" cy="1584000"/>
          </a:xfrm>
          <a:prstGeom prst="rect">
            <a:avLst/>
          </a:prstGeom>
          <a:solidFill>
            <a:srgbClr val="149DCE"/>
          </a:solidFill>
          <a:ln w="6985">
            <a:solidFill>
              <a:srgbClr val="202020"/>
            </a:solidFill>
            <a:prstDash val="solid"/>
          </a:ln>
        </p:spPr>
      </p:sp>
      <p:sp>
        <p:nvSpPr>
          <p:cNvPr id="47" name="Text 44"/>
          <p:cNvSpPr/>
          <p:nvPr/>
        </p:nvSpPr>
        <p:spPr>
          <a:xfrm>
            <a:off x="4507200" y="5691600"/>
            <a:ext cx="1164600" cy="1504800"/>
          </a:xfrm>
          <a:prstGeom prst="rect">
            <a:avLst/>
          </a:prstGeom>
          <a:noFill/>
          <a:ln/>
        </p:spPr>
        <p:txBody>
          <a:bodyPr wrap="square" lIns="0" tIns="0" rIns="0" bIns="0" rtlCol="0" anchor="ctr"/>
          <a:lstStyle/>
          <a:p>
            <a:pPr algn="ctr" indent="0" marL="0">
              <a:buNone/>
            </a:pPr>
            <a:endParaRPr lang="en-US" sz="1000" dirty="0"/>
          </a:p>
        </p:txBody>
      </p:sp>
      <p:sp>
        <p:nvSpPr>
          <p:cNvPr id="48" name="Shape 45"/>
          <p:cNvSpPr/>
          <p:nvPr/>
        </p:nvSpPr>
        <p:spPr>
          <a:xfrm>
            <a:off x="5733000" y="5652000"/>
            <a:ext cx="1287000" cy="1584000"/>
          </a:xfrm>
          <a:prstGeom prst="rect">
            <a:avLst/>
          </a:prstGeom>
          <a:solidFill>
            <a:srgbClr val="FFFFFF"/>
          </a:solidFill>
          <a:ln w="6985">
            <a:solidFill>
              <a:srgbClr val="202020"/>
            </a:solidFill>
            <a:prstDash val="solid"/>
          </a:ln>
        </p:spPr>
      </p:sp>
      <p:sp>
        <p:nvSpPr>
          <p:cNvPr id="49" name="Text 46"/>
          <p:cNvSpPr/>
          <p:nvPr/>
        </p:nvSpPr>
        <p:spPr>
          <a:xfrm>
            <a:off x="5794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0" name="Shape 47"/>
          <p:cNvSpPr/>
          <p:nvPr/>
        </p:nvSpPr>
        <p:spPr>
          <a:xfrm>
            <a:off x="540000" y="7236000"/>
            <a:ext cx="1332000" cy="1080000"/>
          </a:xfrm>
          <a:prstGeom prst="rect">
            <a:avLst/>
          </a:prstGeom>
          <a:solidFill>
            <a:srgbClr val="0874BD"/>
          </a:solidFill>
          <a:ln w="6985">
            <a:solidFill>
              <a:srgbClr val="202020"/>
            </a:solidFill>
            <a:prstDash val="solid"/>
          </a:ln>
        </p:spPr>
      </p:sp>
      <p:sp>
        <p:nvSpPr>
          <p:cNvPr id="51" name="Text 48"/>
          <p:cNvSpPr/>
          <p:nvPr/>
        </p:nvSpPr>
        <p:spPr>
          <a:xfrm>
            <a:off x="601200" y="7275600"/>
            <a:ext cx="1209600" cy="1000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52" name="Shape 49"/>
          <p:cNvSpPr/>
          <p:nvPr/>
        </p:nvSpPr>
        <p:spPr>
          <a:xfrm>
            <a:off x="1872000" y="7236000"/>
            <a:ext cx="1287000" cy="1080000"/>
          </a:xfrm>
          <a:prstGeom prst="rect">
            <a:avLst/>
          </a:prstGeom>
          <a:solidFill>
            <a:srgbClr val="FFFFFF"/>
          </a:solidFill>
          <a:ln w="6985">
            <a:solidFill>
              <a:srgbClr val="202020"/>
            </a:solidFill>
            <a:prstDash val="solid"/>
          </a:ln>
        </p:spPr>
      </p:sp>
      <p:sp>
        <p:nvSpPr>
          <p:cNvPr id="53" name="Text 50"/>
          <p:cNvSpPr/>
          <p:nvPr/>
        </p:nvSpPr>
        <p:spPr>
          <a:xfrm>
            <a:off x="1933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4" name="Shape 51"/>
          <p:cNvSpPr/>
          <p:nvPr/>
        </p:nvSpPr>
        <p:spPr>
          <a:xfrm>
            <a:off x="3159000" y="7236000"/>
            <a:ext cx="1287000" cy="1080000"/>
          </a:xfrm>
          <a:prstGeom prst="rect">
            <a:avLst/>
          </a:prstGeom>
          <a:solidFill>
            <a:srgbClr val="FFFFFF"/>
          </a:solidFill>
          <a:ln w="6985">
            <a:solidFill>
              <a:srgbClr val="202020"/>
            </a:solidFill>
            <a:prstDash val="solid"/>
          </a:ln>
        </p:spPr>
      </p:sp>
      <p:sp>
        <p:nvSpPr>
          <p:cNvPr id="55" name="Text 52"/>
          <p:cNvSpPr/>
          <p:nvPr/>
        </p:nvSpPr>
        <p:spPr>
          <a:xfrm>
            <a:off x="3220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6" name="Shape 53"/>
          <p:cNvSpPr/>
          <p:nvPr/>
        </p:nvSpPr>
        <p:spPr>
          <a:xfrm>
            <a:off x="4446000" y="7236000"/>
            <a:ext cx="1287000" cy="1080000"/>
          </a:xfrm>
          <a:prstGeom prst="rect">
            <a:avLst/>
          </a:prstGeom>
          <a:solidFill>
            <a:srgbClr val="FFFFFF"/>
          </a:solidFill>
          <a:ln w="6985">
            <a:solidFill>
              <a:srgbClr val="202020"/>
            </a:solidFill>
            <a:prstDash val="solid"/>
          </a:ln>
        </p:spPr>
      </p:sp>
      <p:sp>
        <p:nvSpPr>
          <p:cNvPr id="57" name="Text 54"/>
          <p:cNvSpPr/>
          <p:nvPr/>
        </p:nvSpPr>
        <p:spPr>
          <a:xfrm>
            <a:off x="4507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8" name="Shape 55"/>
          <p:cNvSpPr/>
          <p:nvPr/>
        </p:nvSpPr>
        <p:spPr>
          <a:xfrm>
            <a:off x="5733000" y="7236000"/>
            <a:ext cx="1287000" cy="1080000"/>
          </a:xfrm>
          <a:prstGeom prst="rect">
            <a:avLst/>
          </a:prstGeom>
          <a:solidFill>
            <a:srgbClr val="149DCE"/>
          </a:solidFill>
          <a:ln w="6985">
            <a:solidFill>
              <a:srgbClr val="202020"/>
            </a:solidFill>
            <a:prstDash val="solid"/>
          </a:ln>
        </p:spPr>
      </p:sp>
      <p:sp>
        <p:nvSpPr>
          <p:cNvPr id="59" name="Text 56"/>
          <p:cNvSpPr/>
          <p:nvPr/>
        </p:nvSpPr>
        <p:spPr>
          <a:xfrm>
            <a:off x="5794200" y="7275600"/>
            <a:ext cx="1164600" cy="10008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Text 5"/>
          <p:cNvSpPr/>
          <p:nvPr/>
        </p:nvSpPr>
        <p:spPr>
          <a:xfrm>
            <a:off x="648000" y="176400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1 - Réalisation du PPPT et du DPE collectif</a:t>
            </a:r>
            <a:endParaRPr lang="en-US" sz="940" dirty="0"/>
          </a:p>
        </p:txBody>
      </p:sp>
      <p:sp>
        <p:nvSpPr>
          <p:cNvPr id="9" name="Text 6"/>
          <p:cNvSpPr/>
          <p:nvPr/>
        </p:nvSpPr>
        <p:spPr>
          <a:xfrm>
            <a:off x="648000" y="195926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10" dirty="0"/>
          </a:p>
        </p:txBody>
      </p:sp>
      <p:sp>
        <p:nvSpPr>
          <p:cNvPr id="10" name="Text 7"/>
          <p:cNvSpPr/>
          <p:nvPr/>
        </p:nvSpPr>
        <p:spPr>
          <a:xfrm>
            <a:off x="648000" y="245095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2 - Réalisation de l’audit énergétique</a:t>
            </a:r>
            <a:endParaRPr lang="en-US" sz="940" dirty="0"/>
          </a:p>
        </p:txBody>
      </p:sp>
      <p:sp>
        <p:nvSpPr>
          <p:cNvPr id="11" name="Text 8"/>
          <p:cNvSpPr/>
          <p:nvPr/>
        </p:nvSpPr>
        <p:spPr>
          <a:xfrm>
            <a:off x="648000" y="264621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10" dirty="0"/>
          </a:p>
        </p:txBody>
      </p:sp>
      <p:sp>
        <p:nvSpPr>
          <p:cNvPr id="12" name="Text 9"/>
          <p:cNvSpPr/>
          <p:nvPr/>
        </p:nvSpPr>
        <p:spPr>
          <a:xfrm>
            <a:off x="648000" y="313790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3 - Choix d’un scénario de rénovation</a:t>
            </a:r>
            <a:endParaRPr lang="en-US" sz="940" dirty="0"/>
          </a:p>
        </p:txBody>
      </p:sp>
      <p:sp>
        <p:nvSpPr>
          <p:cNvPr id="13" name="Text 10"/>
          <p:cNvSpPr/>
          <p:nvPr/>
        </p:nvSpPr>
        <p:spPr>
          <a:xfrm>
            <a:off x="648000" y="3333168"/>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10" dirty="0"/>
          </a:p>
        </p:txBody>
      </p:sp>
      <p:sp>
        <p:nvSpPr>
          <p:cNvPr id="14" name="Text 11"/>
          <p:cNvSpPr/>
          <p:nvPr/>
        </p:nvSpPr>
        <p:spPr>
          <a:xfrm>
            <a:off x="648000" y="367416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4 - Désignation d’un Assistant à Maîtrise d’Ouvrage (AMO)</a:t>
            </a:r>
            <a:endParaRPr lang="en-US" sz="940" dirty="0"/>
          </a:p>
        </p:txBody>
      </p:sp>
      <p:sp>
        <p:nvSpPr>
          <p:cNvPr id="15" name="Text 12"/>
          <p:cNvSpPr/>
          <p:nvPr/>
        </p:nvSpPr>
        <p:spPr>
          <a:xfrm>
            <a:off x="648000" y="386942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10" dirty="0"/>
          </a:p>
        </p:txBody>
      </p:sp>
      <p:sp>
        <p:nvSpPr>
          <p:cNvPr id="16" name="Text 13"/>
          <p:cNvSpPr/>
          <p:nvPr/>
        </p:nvSpPr>
        <p:spPr>
          <a:xfrm>
            <a:off x="648000" y="436111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5 - Désignation d’un Maître d’Œuvre (MOE)</a:t>
            </a:r>
            <a:endParaRPr lang="en-US" sz="940" dirty="0"/>
          </a:p>
        </p:txBody>
      </p:sp>
      <p:sp>
        <p:nvSpPr>
          <p:cNvPr id="17" name="Text 14"/>
          <p:cNvSpPr/>
          <p:nvPr/>
        </p:nvSpPr>
        <p:spPr>
          <a:xfrm>
            <a:off x="648000" y="455637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10" dirty="0"/>
          </a:p>
        </p:txBody>
      </p:sp>
      <p:sp>
        <p:nvSpPr>
          <p:cNvPr id="18" name="Text 15"/>
          <p:cNvSpPr/>
          <p:nvPr/>
        </p:nvSpPr>
        <p:spPr>
          <a:xfrm>
            <a:off x="648000" y="504806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6 - Consultation des entreprises</a:t>
            </a:r>
            <a:endParaRPr lang="en-US" sz="940" dirty="0"/>
          </a:p>
        </p:txBody>
      </p:sp>
      <p:sp>
        <p:nvSpPr>
          <p:cNvPr id="19" name="Text 16"/>
          <p:cNvSpPr/>
          <p:nvPr/>
        </p:nvSpPr>
        <p:spPr>
          <a:xfrm>
            <a:off x="648000" y="5243328"/>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10" dirty="0"/>
          </a:p>
        </p:txBody>
      </p:sp>
      <p:sp>
        <p:nvSpPr>
          <p:cNvPr id="20" name="Text 17"/>
          <p:cNvSpPr/>
          <p:nvPr/>
        </p:nvSpPr>
        <p:spPr>
          <a:xfrm>
            <a:off x="648000" y="573501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7 - Finalisation du plan de financement</a:t>
            </a:r>
            <a:endParaRPr lang="en-US" sz="940" dirty="0"/>
          </a:p>
        </p:txBody>
      </p:sp>
      <p:sp>
        <p:nvSpPr>
          <p:cNvPr id="21" name="Text 18"/>
          <p:cNvSpPr/>
          <p:nvPr/>
        </p:nvSpPr>
        <p:spPr>
          <a:xfrm>
            <a:off x="648000" y="593028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10" dirty="0"/>
          </a:p>
        </p:txBody>
      </p:sp>
      <p:sp>
        <p:nvSpPr>
          <p:cNvPr id="22" name="Text 19"/>
          <p:cNvSpPr/>
          <p:nvPr/>
        </p:nvSpPr>
        <p:spPr>
          <a:xfrm>
            <a:off x="648000" y="627127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8 - Vote des travaux en assemblée générale</a:t>
            </a:r>
            <a:endParaRPr lang="en-US" sz="940" dirty="0"/>
          </a:p>
        </p:txBody>
      </p:sp>
      <p:sp>
        <p:nvSpPr>
          <p:cNvPr id="23" name="Text 20"/>
          <p:cNvSpPr/>
          <p:nvPr/>
        </p:nvSpPr>
        <p:spPr>
          <a:xfrm>
            <a:off x="648000" y="6466536"/>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10" dirty="0"/>
          </a:p>
        </p:txBody>
      </p:sp>
      <p:sp>
        <p:nvSpPr>
          <p:cNvPr id="24" name="Text 21"/>
          <p:cNvSpPr/>
          <p:nvPr/>
        </p:nvSpPr>
        <p:spPr>
          <a:xfrm>
            <a:off x="648000" y="6807528"/>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9 - Dépôt et validation des demandes d’aides</a:t>
            </a:r>
            <a:endParaRPr lang="en-US" sz="940" dirty="0"/>
          </a:p>
        </p:txBody>
      </p:sp>
      <p:sp>
        <p:nvSpPr>
          <p:cNvPr id="25" name="Text 22"/>
          <p:cNvSpPr/>
          <p:nvPr/>
        </p:nvSpPr>
        <p:spPr>
          <a:xfrm>
            <a:off x="648000" y="7002792"/>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10" dirty="0"/>
          </a:p>
        </p:txBody>
      </p:sp>
      <p:sp>
        <p:nvSpPr>
          <p:cNvPr id="26" name="Text 23"/>
          <p:cNvSpPr/>
          <p:nvPr/>
        </p:nvSpPr>
        <p:spPr>
          <a:xfrm>
            <a:off x="648000" y="749448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10 - Réalisation et suivi des travaux</a:t>
            </a:r>
            <a:endParaRPr lang="en-US" sz="940" dirty="0"/>
          </a:p>
        </p:txBody>
      </p:sp>
      <p:sp>
        <p:nvSpPr>
          <p:cNvPr id="27" name="Text 24"/>
          <p:cNvSpPr/>
          <p:nvPr/>
        </p:nvSpPr>
        <p:spPr>
          <a:xfrm>
            <a:off x="648000" y="7689744"/>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10" dirty="0"/>
          </a:p>
        </p:txBody>
      </p:sp>
      <p:sp>
        <p:nvSpPr>
          <p:cNvPr id="28" name="Text 25"/>
          <p:cNvSpPr/>
          <p:nvPr/>
        </p:nvSpPr>
        <p:spPr>
          <a:xfrm>
            <a:off x="648000" y="803073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11 - Réception des travaux et versement des aides</a:t>
            </a:r>
            <a:endParaRPr lang="en-US" sz="940" dirty="0"/>
          </a:p>
        </p:txBody>
      </p:sp>
      <p:sp>
        <p:nvSpPr>
          <p:cNvPr id="29" name="Text 26"/>
          <p:cNvSpPr/>
          <p:nvPr/>
        </p:nvSpPr>
        <p:spPr>
          <a:xfrm>
            <a:off x="648000" y="822600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10" dirty="0"/>
          </a:p>
        </p:txBody>
      </p:sp>
      <p:sp>
        <p:nvSpPr>
          <p:cNvPr id="30" name="Text 27"/>
          <p:cNvSpPr/>
          <p:nvPr/>
        </p:nvSpPr>
        <p:spPr>
          <a:xfrm>
            <a:off x="648000" y="856699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12 - Suivi des performances</a:t>
            </a:r>
            <a:endParaRPr lang="en-US" sz="940" dirty="0"/>
          </a:p>
        </p:txBody>
      </p:sp>
      <p:sp>
        <p:nvSpPr>
          <p:cNvPr id="31" name="Text 28"/>
          <p:cNvSpPr/>
          <p:nvPr/>
        </p:nvSpPr>
        <p:spPr>
          <a:xfrm>
            <a:off x="648000" y="876225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1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34</a:t>
            </a:r>
            <a:endParaRPr lang="en-US" sz="950" dirty="0"/>
          </a:p>
        </p:txBody>
      </p:sp>
      <p:sp>
        <p:nvSpPr>
          <p:cNvPr id="7" name="Text 4"/>
          <p:cNvSpPr/>
          <p:nvPr/>
        </p:nvSpPr>
        <p:spPr>
          <a:xfrm>
            <a:off x="648000" y="136800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50" dirty="0"/>
          </a:p>
        </p:txBody>
      </p:sp>
      <p:sp>
        <p:nvSpPr>
          <p:cNvPr id="8" name="Text 5"/>
          <p:cNvSpPr/>
          <p:nvPr/>
        </p:nvSpPr>
        <p:spPr>
          <a:xfrm>
            <a:off x="648000" y="1790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648000" y="1973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50" dirty="0"/>
          </a:p>
        </p:txBody>
      </p:sp>
      <p:sp>
        <p:nvSpPr>
          <p:cNvPr id="10" name="Text 7"/>
          <p:cNvSpPr/>
          <p:nvPr/>
        </p:nvSpPr>
        <p:spPr>
          <a:xfrm>
            <a:off x="648000" y="23274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648000" y="25099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50" dirty="0"/>
          </a:p>
        </p:txBody>
      </p:sp>
      <p:sp>
        <p:nvSpPr>
          <p:cNvPr id="12" name="Text 9"/>
          <p:cNvSpPr/>
          <p:nvPr/>
        </p:nvSpPr>
        <p:spPr>
          <a:xfrm>
            <a:off x="648000" y="2864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648000" y="3046680"/>
            <a:ext cx="6264000" cy="4971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50" dirty="0"/>
          </a:p>
        </p:txBody>
      </p:sp>
      <p:sp>
        <p:nvSpPr>
          <p:cNvPr id="14" name="Text 11"/>
          <p:cNvSpPr/>
          <p:nvPr/>
        </p:nvSpPr>
        <p:spPr>
          <a:xfrm>
            <a:off x="648000" y="35582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648000" y="37407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50" dirty="0"/>
          </a:p>
        </p:txBody>
      </p:sp>
      <p:sp>
        <p:nvSpPr>
          <p:cNvPr id="16" name="Text 13"/>
          <p:cNvSpPr/>
          <p:nvPr/>
        </p:nvSpPr>
        <p:spPr>
          <a:xfrm>
            <a:off x="648000" y="4095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648000" y="4277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50" dirty="0"/>
          </a:p>
        </p:txBody>
      </p:sp>
      <p:sp>
        <p:nvSpPr>
          <p:cNvPr id="18" name="Text 15"/>
          <p:cNvSpPr/>
          <p:nvPr/>
        </p:nvSpPr>
        <p:spPr>
          <a:xfrm>
            <a:off x="648000" y="46317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648000" y="48142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50" dirty="0"/>
          </a:p>
        </p:txBody>
      </p:sp>
      <p:sp>
        <p:nvSpPr>
          <p:cNvPr id="20" name="Text 17"/>
          <p:cNvSpPr/>
          <p:nvPr/>
        </p:nvSpPr>
        <p:spPr>
          <a:xfrm>
            <a:off x="648000" y="51685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648000" y="53510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50" dirty="0"/>
          </a:p>
        </p:txBody>
      </p:sp>
      <p:sp>
        <p:nvSpPr>
          <p:cNvPr id="22" name="Text 19"/>
          <p:cNvSpPr/>
          <p:nvPr/>
        </p:nvSpPr>
        <p:spPr>
          <a:xfrm>
            <a:off x="648000" y="5705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648000" y="5887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50" dirty="0"/>
          </a:p>
        </p:txBody>
      </p:sp>
      <p:sp>
        <p:nvSpPr>
          <p:cNvPr id="24" name="Text 21"/>
          <p:cNvSpPr/>
          <p:nvPr/>
        </p:nvSpPr>
        <p:spPr>
          <a:xfrm>
            <a:off x="648000" y="62420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648000" y="64245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50" dirty="0"/>
          </a:p>
        </p:txBody>
      </p:sp>
      <p:sp>
        <p:nvSpPr>
          <p:cNvPr id="26" name="Text 23"/>
          <p:cNvSpPr/>
          <p:nvPr/>
        </p:nvSpPr>
        <p:spPr>
          <a:xfrm>
            <a:off x="648000" y="6778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648000" y="6961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50" dirty="0"/>
          </a:p>
        </p:txBody>
      </p:sp>
      <p:sp>
        <p:nvSpPr>
          <p:cNvPr id="28" name="Text 25"/>
          <p:cNvSpPr/>
          <p:nvPr/>
        </p:nvSpPr>
        <p:spPr>
          <a:xfrm>
            <a:off x="648000" y="7315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648000" y="7498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50" dirty="0"/>
          </a:p>
        </p:txBody>
      </p:sp>
      <p:sp>
        <p:nvSpPr>
          <p:cNvPr id="30" name="Text 27"/>
          <p:cNvSpPr/>
          <p:nvPr/>
        </p:nvSpPr>
        <p:spPr>
          <a:xfrm>
            <a:off x="648000" y="78523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648000" y="80348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50" dirty="0"/>
          </a:p>
        </p:txBody>
      </p:sp>
      <p:sp>
        <p:nvSpPr>
          <p:cNvPr id="32" name="Text 29"/>
          <p:cNvSpPr/>
          <p:nvPr/>
        </p:nvSpPr>
        <p:spPr>
          <a:xfrm>
            <a:off x="648000" y="8389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648000" y="8571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50" dirty="0"/>
          </a:p>
        </p:txBody>
      </p:sp>
      <p:sp>
        <p:nvSpPr>
          <p:cNvPr id="34" name="Text 31"/>
          <p:cNvSpPr/>
          <p:nvPr/>
        </p:nvSpPr>
        <p:spPr>
          <a:xfrm>
            <a:off x="648000" y="89258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648000" y="91083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35</a:t>
            </a:r>
            <a:endParaRPr lang="en-US" sz="950" dirty="0"/>
          </a:p>
        </p:txBody>
      </p:sp>
      <p:sp>
        <p:nvSpPr>
          <p:cNvPr id="7" name="Text 4"/>
          <p:cNvSpPr/>
          <p:nvPr/>
        </p:nvSpPr>
        <p:spPr>
          <a:xfrm>
            <a:off x="648000" y="1260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8" name="Text 5"/>
          <p:cNvSpPr/>
          <p:nvPr/>
        </p:nvSpPr>
        <p:spPr>
          <a:xfrm>
            <a:off x="648000" y="1442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50" dirty="0"/>
          </a:p>
        </p:txBody>
      </p:sp>
      <p:sp>
        <p:nvSpPr>
          <p:cNvPr id="9" name="Text 6"/>
          <p:cNvSpPr/>
          <p:nvPr/>
        </p:nvSpPr>
        <p:spPr>
          <a:xfrm>
            <a:off x="648000" y="1791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10" name="Text 7"/>
          <p:cNvSpPr/>
          <p:nvPr/>
        </p:nvSpPr>
        <p:spPr>
          <a:xfrm>
            <a:off x="648000" y="1973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50" dirty="0"/>
          </a:p>
        </p:txBody>
      </p:sp>
      <p:sp>
        <p:nvSpPr>
          <p:cNvPr id="11" name="Text 8"/>
          <p:cNvSpPr/>
          <p:nvPr/>
        </p:nvSpPr>
        <p:spPr>
          <a:xfrm>
            <a:off x="648000" y="2322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12" name="Text 9"/>
          <p:cNvSpPr/>
          <p:nvPr/>
        </p:nvSpPr>
        <p:spPr>
          <a:xfrm>
            <a:off x="648000" y="2505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50" dirty="0"/>
          </a:p>
        </p:txBody>
      </p:sp>
      <p:sp>
        <p:nvSpPr>
          <p:cNvPr id="13" name="Text 10"/>
          <p:cNvSpPr/>
          <p:nvPr/>
        </p:nvSpPr>
        <p:spPr>
          <a:xfrm>
            <a:off x="648000" y="2854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4" name="Text 11"/>
          <p:cNvSpPr/>
          <p:nvPr/>
        </p:nvSpPr>
        <p:spPr>
          <a:xfrm>
            <a:off x="648000" y="3036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50" dirty="0"/>
          </a:p>
        </p:txBody>
      </p:sp>
      <p:sp>
        <p:nvSpPr>
          <p:cNvPr id="15" name="Text 12"/>
          <p:cNvSpPr/>
          <p:nvPr/>
        </p:nvSpPr>
        <p:spPr>
          <a:xfrm>
            <a:off x="648000" y="3385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6" name="Text 13"/>
          <p:cNvSpPr/>
          <p:nvPr/>
        </p:nvSpPr>
        <p:spPr>
          <a:xfrm>
            <a:off x="648000" y="3567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50" dirty="0"/>
          </a:p>
        </p:txBody>
      </p:sp>
      <p:sp>
        <p:nvSpPr>
          <p:cNvPr id="17" name="Text 14"/>
          <p:cNvSpPr/>
          <p:nvPr/>
        </p:nvSpPr>
        <p:spPr>
          <a:xfrm>
            <a:off x="648000" y="3916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8" name="Text 15"/>
          <p:cNvSpPr/>
          <p:nvPr/>
        </p:nvSpPr>
        <p:spPr>
          <a:xfrm>
            <a:off x="648000" y="4099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50" dirty="0"/>
          </a:p>
        </p:txBody>
      </p:sp>
      <p:sp>
        <p:nvSpPr>
          <p:cNvPr id="19" name="Text 16"/>
          <p:cNvSpPr/>
          <p:nvPr/>
        </p:nvSpPr>
        <p:spPr>
          <a:xfrm>
            <a:off x="648000" y="4448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20" name="Text 17"/>
          <p:cNvSpPr/>
          <p:nvPr/>
        </p:nvSpPr>
        <p:spPr>
          <a:xfrm>
            <a:off x="648000" y="4630680"/>
            <a:ext cx="6264000" cy="18252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50" dirty="0"/>
          </a:p>
        </p:txBody>
      </p:sp>
      <p:sp>
        <p:nvSpPr>
          <p:cNvPr id="21" name="Text 18"/>
          <p:cNvSpPr/>
          <p:nvPr/>
        </p:nvSpPr>
        <p:spPr>
          <a:xfrm>
            <a:off x="648000" y="4822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22" name="Text 19"/>
          <p:cNvSpPr/>
          <p:nvPr/>
        </p:nvSpPr>
        <p:spPr>
          <a:xfrm>
            <a:off x="648000" y="5004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50" dirty="0"/>
          </a:p>
        </p:txBody>
      </p:sp>
      <p:sp>
        <p:nvSpPr>
          <p:cNvPr id="23" name="Text 20"/>
          <p:cNvSpPr/>
          <p:nvPr/>
        </p:nvSpPr>
        <p:spPr>
          <a:xfrm>
            <a:off x="648000" y="5353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4" name="Text 21"/>
          <p:cNvSpPr/>
          <p:nvPr/>
        </p:nvSpPr>
        <p:spPr>
          <a:xfrm>
            <a:off x="648000" y="5536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50" dirty="0"/>
          </a:p>
        </p:txBody>
      </p:sp>
      <p:sp>
        <p:nvSpPr>
          <p:cNvPr id="25" name="Text 22"/>
          <p:cNvSpPr/>
          <p:nvPr/>
        </p:nvSpPr>
        <p:spPr>
          <a:xfrm>
            <a:off x="648000" y="5884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6" name="Text 23"/>
          <p:cNvSpPr/>
          <p:nvPr/>
        </p:nvSpPr>
        <p:spPr>
          <a:xfrm>
            <a:off x="648000" y="6067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50" dirty="0"/>
          </a:p>
        </p:txBody>
      </p:sp>
      <p:sp>
        <p:nvSpPr>
          <p:cNvPr id="27" name="Text 24"/>
          <p:cNvSpPr/>
          <p:nvPr/>
        </p:nvSpPr>
        <p:spPr>
          <a:xfrm>
            <a:off x="648000" y="6416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8" name="Text 25"/>
          <p:cNvSpPr/>
          <p:nvPr/>
        </p:nvSpPr>
        <p:spPr>
          <a:xfrm>
            <a:off x="648000" y="6598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50" dirty="0"/>
          </a:p>
        </p:txBody>
      </p:sp>
      <p:sp>
        <p:nvSpPr>
          <p:cNvPr id="29" name="Text 26"/>
          <p:cNvSpPr/>
          <p:nvPr/>
        </p:nvSpPr>
        <p:spPr>
          <a:xfrm>
            <a:off x="648000" y="6947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30" name="Text 27"/>
          <p:cNvSpPr/>
          <p:nvPr/>
        </p:nvSpPr>
        <p:spPr>
          <a:xfrm>
            <a:off x="648000" y="7130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50" dirty="0"/>
          </a:p>
        </p:txBody>
      </p:sp>
      <p:sp>
        <p:nvSpPr>
          <p:cNvPr id="31" name="Text 28"/>
          <p:cNvSpPr/>
          <p:nvPr/>
        </p:nvSpPr>
        <p:spPr>
          <a:xfrm>
            <a:off x="648000" y="7479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32" name="Text 29"/>
          <p:cNvSpPr/>
          <p:nvPr/>
        </p:nvSpPr>
        <p:spPr>
          <a:xfrm>
            <a:off x="648000" y="7661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50" dirty="0"/>
          </a:p>
        </p:txBody>
      </p:sp>
      <p:sp>
        <p:nvSpPr>
          <p:cNvPr id="33" name="Text 30"/>
          <p:cNvSpPr/>
          <p:nvPr/>
        </p:nvSpPr>
        <p:spPr>
          <a:xfrm>
            <a:off x="648000" y="8010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4" name="Text 31"/>
          <p:cNvSpPr/>
          <p:nvPr/>
        </p:nvSpPr>
        <p:spPr>
          <a:xfrm>
            <a:off x="648000" y="8192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50" dirty="0"/>
          </a:p>
        </p:txBody>
      </p:sp>
      <p:sp>
        <p:nvSpPr>
          <p:cNvPr id="35" name="Text 32"/>
          <p:cNvSpPr/>
          <p:nvPr/>
        </p:nvSpPr>
        <p:spPr>
          <a:xfrm>
            <a:off x="648000" y="854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6" name="Text 33"/>
          <p:cNvSpPr/>
          <p:nvPr/>
        </p:nvSpPr>
        <p:spPr>
          <a:xfrm>
            <a:off x="648000" y="872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50" dirty="0"/>
          </a:p>
        </p:txBody>
      </p:sp>
      <p:sp>
        <p:nvSpPr>
          <p:cNvPr id="37" name="Text 34"/>
          <p:cNvSpPr/>
          <p:nvPr/>
        </p:nvSpPr>
        <p:spPr>
          <a:xfrm>
            <a:off x="648000" y="9073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8" name="Text 35"/>
          <p:cNvSpPr/>
          <p:nvPr/>
        </p:nvSpPr>
        <p:spPr>
          <a:xfrm>
            <a:off x="648000" y="9255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test PPPT</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36</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algn="just"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algn="just"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Plan Pluriannuel de Travaux</dc:title>
  <dc:subject>PptxGenJS Presentation</dc:subject>
  <dc:creator>France Verte</dc:creator>
  <cp:lastModifiedBy>France Verte</cp:lastModifiedBy>
  <cp:revision>1</cp:revision>
  <dcterms:created xsi:type="dcterms:W3CDTF">2026-10-08T12:09:17Z</dcterms:created>
  <dcterms:modified xsi:type="dcterms:W3CDTF">2026-10-08T12:09:17Z</dcterms:modified>
</cp:coreProperties>
</file>