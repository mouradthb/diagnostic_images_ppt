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7559675" cy="10691813"/>
  <p:notesSz cx="10691813" cy="75596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jpeg"/><Relationship Id="rId6" Type="http://schemas.openxmlformats.org/officeDocument/2006/relationships/image" Target="../media/image-1-6.pn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jpe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jpe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jpe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jpe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jpe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jpe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jpe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jpe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jpe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jpe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image" Target="../media/image-32-7.png"/><Relationship Id="rId8" Type="http://schemas.openxmlformats.org/officeDocument/2006/relationships/image" Target="../media/image-32-8.png"/><Relationship Id="rId9" Type="http://schemas.openxmlformats.org/officeDocument/2006/relationships/image" Target="../media/image-32-9.png"/><Relationship Id="rId10" Type="http://schemas.openxmlformats.org/officeDocument/2006/relationships/image" Target="../media/image-32-10.png"/><Relationship Id="rId11" Type="http://schemas.openxmlformats.org/officeDocument/2006/relationships/image" Target="../media/image-32-11.png"/><Relationship Id="rId12" Type="http://schemas.openxmlformats.org/officeDocument/2006/relationships/slideLayout" Target="../slideLayouts/slideLayout1.xml"/><Relationship Id="rId1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slideLayout" Target="../slideLayouts/slideLayout1.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jpeg"/><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jpe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Décor bleu France Verte">    </p:cNvPr>
          <p:cNvPicPr>
            <a:picLocks noChangeAspect="1"/>
          </p:cNvPicPr>
          <p:nvPr/>
        </p:nvPicPr>
        <p:blipFill>
          <a:blip r:embed="rId1"/>
          <a:srcRect l="0" r="0" t="0" b="0"/>
          <a:stretch/>
        </p:blipFill>
        <p:spPr>
          <a:xfrm>
            <a:off x="0" y="684000"/>
            <a:ext cx="979200" cy="2149200"/>
          </a:xfrm>
          <a:prstGeom prst="rect">
            <a:avLst/>
          </a:prstGeom>
        </p:spPr>
      </p:pic>
      <p:pic>
        <p:nvPicPr>
          <p:cNvPr id="3" name="Image 1" descr="Décor jaune France Verte">    </p:cNvPr>
          <p:cNvPicPr>
            <a:picLocks noChangeAspect="1"/>
          </p:cNvPicPr>
          <p:nvPr/>
        </p:nvPicPr>
        <p:blipFill>
          <a:blip r:embed="rId2"/>
          <a:srcRect l="0" r="0" t="0" b="0"/>
          <a:stretch/>
        </p:blipFill>
        <p:spPr>
          <a:xfrm rot="21360000">
            <a:off x="6656400" y="8172000"/>
            <a:ext cx="982800" cy="1944000"/>
          </a:xfrm>
          <a:prstGeom prst="rect">
            <a:avLst/>
          </a:prstGeom>
        </p:spPr>
      </p:pic>
      <p:pic>
        <p:nvPicPr>
          <p:cNvPr id="4" name="Image 2" descr="Logo France Verte">    </p:cNvPr>
          <p:cNvPicPr>
            <a:picLocks noChangeAspect="1"/>
          </p:cNvPicPr>
          <p:nvPr/>
        </p:nvPicPr>
        <p:blipFill>
          <a:blip r:embed="rId3"/>
          <a:srcRect l="0" r="0" t="0" b="0"/>
          <a:stretch/>
        </p:blipFill>
        <p:spPr>
          <a:xfrm>
            <a:off x="493200" y="97200"/>
            <a:ext cx="2246400" cy="594000"/>
          </a:xfrm>
          <a:prstGeom prst="rect">
            <a:avLst/>
          </a:prstGeom>
        </p:spPr>
      </p:pic>
      <p:pic>
        <p:nvPicPr>
          <p:cNvPr id="5" name="Image 3" descr="Logo RGE OPQIBI du modèle">    </p:cNvPr>
          <p:cNvPicPr>
            <a:picLocks noChangeAspect="1"/>
          </p:cNvPicPr>
          <p:nvPr/>
        </p:nvPicPr>
        <p:blipFill>
          <a:blip r:embed="rId4"/>
          <a:srcRect l="0" r="0" t="0" b="0"/>
          <a:stretch/>
        </p:blipFill>
        <p:spPr>
          <a:xfrm>
            <a:off x="5580000" y="122400"/>
            <a:ext cx="900000" cy="594000"/>
          </a:xfrm>
          <a:prstGeom prst="rect">
            <a:avLst/>
          </a:prstGeom>
        </p:spPr>
      </p:pic>
      <p:sp>
        <p:nvSpPr>
          <p:cNvPr id="6" name="Shape 0"/>
          <p:cNvSpPr/>
          <p:nvPr/>
        </p:nvSpPr>
        <p:spPr>
          <a:xfrm>
            <a:off x="486000" y="975600"/>
            <a:ext cx="6516000" cy="23400"/>
          </a:xfrm>
          <a:prstGeom prst="rect">
            <a:avLst/>
          </a:prstGeom>
          <a:solidFill>
            <a:srgbClr val="FFC700"/>
          </a:solidFill>
          <a:ln w="12700">
            <a:solidFill>
              <a:srgbClr val="FFC700">
                <a:alpha val="0"/>
              </a:srgbClr>
            </a:solidFill>
            <a:prstDash val="solid"/>
          </a:ln>
        </p:spPr>
      </p:sp>
      <p:sp>
        <p:nvSpPr>
          <p:cNvPr id="7" name="Shape 1"/>
          <p:cNvSpPr/>
          <p:nvPr/>
        </p:nvSpPr>
        <p:spPr>
          <a:xfrm>
            <a:off x="7012800" y="1083600"/>
            <a:ext cx="22320" cy="7261200"/>
          </a:xfrm>
          <a:prstGeom prst="rect">
            <a:avLst/>
          </a:prstGeom>
          <a:solidFill>
            <a:srgbClr val="24C879"/>
          </a:solidFill>
          <a:ln w="12700">
            <a:solidFill>
              <a:srgbClr val="24C879">
                <a:alpha val="0"/>
              </a:srgbClr>
            </a:solidFill>
            <a:prstDash val="solid"/>
          </a:ln>
        </p:spPr>
      </p:sp>
      <p:sp>
        <p:nvSpPr>
          <p:cNvPr id="8" name="Shape 2"/>
          <p:cNvSpPr/>
          <p:nvPr/>
        </p:nvSpPr>
        <p:spPr>
          <a:xfrm>
            <a:off x="504000" y="2448000"/>
            <a:ext cx="22320" cy="7524000"/>
          </a:xfrm>
          <a:prstGeom prst="rect">
            <a:avLst/>
          </a:prstGeom>
          <a:solidFill>
            <a:srgbClr val="FFC700"/>
          </a:solidFill>
          <a:ln w="12700">
            <a:solidFill>
              <a:srgbClr val="FFC700">
                <a:alpha val="0"/>
              </a:srgbClr>
            </a:solidFill>
            <a:prstDash val="solid"/>
          </a:ln>
        </p:spPr>
      </p:sp>
      <p:sp>
        <p:nvSpPr>
          <p:cNvPr id="9" name="Shape 3"/>
          <p:cNvSpPr/>
          <p:nvPr/>
        </p:nvSpPr>
        <p:spPr>
          <a:xfrm>
            <a:off x="648000" y="9979200"/>
            <a:ext cx="6210000" cy="24480"/>
          </a:xfrm>
          <a:prstGeom prst="rect">
            <a:avLst/>
          </a:prstGeom>
          <a:solidFill>
            <a:srgbClr val="2D44FF"/>
          </a:solidFill>
          <a:ln w="12700">
            <a:solidFill>
              <a:srgbClr val="2D44FF">
                <a:alpha val="0"/>
              </a:srgbClr>
            </a:solidFill>
            <a:prstDash val="solid"/>
          </a:ln>
        </p:spPr>
      </p:sp>
      <p:sp>
        <p:nvSpPr>
          <p:cNvPr id="10" name="Text 4"/>
          <p:cNvSpPr/>
          <p:nvPr/>
        </p:nvSpPr>
        <p:spPr>
          <a:xfrm>
            <a:off x="2088000" y="1260000"/>
            <a:ext cx="3384000" cy="360000"/>
          </a:xfrm>
          <a:prstGeom prst="rect">
            <a:avLst/>
          </a:prstGeom>
          <a:noFill/>
          <a:ln/>
        </p:spPr>
        <p:txBody>
          <a:bodyPr wrap="square" lIns="0" tIns="0" rIns="0" bIns="0" rtlCol="0" anchor="ctr">
            <a:normAutofit/>
          </a:bodyPr>
          <a:lstStyle/>
          <a:p>
            <a:pPr algn="ctr" indent="0" marL="0">
              <a:buNone/>
            </a:pPr>
            <a:r>
              <a:rPr lang="en-US" sz="2800" b="1" dirty="0">
                <a:solidFill>
                  <a:srgbClr val="2D44FF"/>
                </a:solidFill>
                <a:latin typeface="Calibri" pitchFamily="34" charset="0"/>
                <a:ea typeface="Calibri" pitchFamily="34" charset="-122"/>
                <a:cs typeface="Calibri" pitchFamily="34" charset="-120"/>
              </a:rPr>
              <a:t>PPPT</a:t>
            </a:r>
            <a:endParaRPr lang="en-US" sz="2800" dirty="0"/>
          </a:p>
        </p:txBody>
      </p:sp>
      <p:sp>
        <p:nvSpPr>
          <p:cNvPr id="11" name="Text 5"/>
          <p:cNvSpPr/>
          <p:nvPr/>
        </p:nvSpPr>
        <p:spPr>
          <a:xfrm>
            <a:off x="1116000" y="1656000"/>
            <a:ext cx="5328000" cy="288000"/>
          </a:xfrm>
          <a:prstGeom prst="rect">
            <a:avLst/>
          </a:prstGeom>
          <a:noFill/>
          <a:ln/>
        </p:spPr>
        <p:txBody>
          <a:bodyPr wrap="square" lIns="0" tIns="0" rIns="0" bIns="0" rtlCol="0" anchor="ctr">
            <a:normAutofit/>
          </a:bodyPr>
          <a:lstStyle/>
          <a:p>
            <a:pPr algn="ctr" indent="0" marL="0">
              <a:buNone/>
            </a:pPr>
            <a:r>
              <a:rPr lang="en-US" sz="1800" b="1" dirty="0">
                <a:solidFill>
                  <a:srgbClr val="2D44FF"/>
                </a:solidFill>
                <a:latin typeface="Calibri" pitchFamily="34" charset="0"/>
                <a:ea typeface="Calibri" pitchFamily="34" charset="-122"/>
                <a:cs typeface="Calibri" pitchFamily="34" charset="-120"/>
              </a:rPr>
              <a:t>Projet de Plan Pluriannuel de Travaux</a:t>
            </a:r>
            <a:endParaRPr lang="en-US" sz="1800" dirty="0"/>
          </a:p>
        </p:txBody>
      </p:sp>
      <p:sp>
        <p:nvSpPr>
          <p:cNvPr id="12" name="Text 6"/>
          <p:cNvSpPr/>
          <p:nvPr/>
        </p:nvSpPr>
        <p:spPr>
          <a:xfrm>
            <a:off x="1440000" y="2142000"/>
            <a:ext cx="4680000" cy="270000"/>
          </a:xfrm>
          <a:prstGeom prst="rect">
            <a:avLst/>
          </a:prstGeom>
          <a:noFill/>
          <a:ln/>
        </p:spPr>
        <p:txBody>
          <a:bodyPr wrap="square" lIns="0" tIns="0" rIns="0" bIns="0" rtlCol="0" anchor="ctr">
            <a:normAutofit/>
          </a:bodyPr>
          <a:lstStyle/>
          <a:p>
            <a:pPr algn="ctr" indent="0" marL="0">
              <a:buNone/>
            </a:pPr>
            <a:r>
              <a:rPr lang="en-US" sz="1300" b="1" dirty="0">
                <a:solidFill>
                  <a:srgbClr val="1C1C1C"/>
                </a:solidFill>
                <a:latin typeface="Calibri" pitchFamily="34" charset="0"/>
                <a:ea typeface="Calibri" pitchFamily="34" charset="-122"/>
                <a:cs typeface="Calibri" pitchFamily="34" charset="-120"/>
              </a:rPr>
              <a:t>Bureau d’études thermiques et fluides</a:t>
            </a:r>
            <a:endParaRPr lang="en-US" sz="1300" dirty="0"/>
          </a:p>
        </p:txBody>
      </p:sp>
      <p:sp>
        <p:nvSpPr>
          <p:cNvPr id="13" name="Text 7"/>
          <p:cNvSpPr/>
          <p:nvPr/>
        </p:nvSpPr>
        <p:spPr>
          <a:xfrm>
            <a:off x="622800" y="2592000"/>
            <a:ext cx="2880000" cy="180000"/>
          </a:xfrm>
          <a:prstGeom prst="rect">
            <a:avLst/>
          </a:prstGeom>
          <a:noFill/>
          <a:ln/>
        </p:spPr>
        <p:txBody>
          <a:bodyPr wrap="square" lIns="0" tIns="0" rIns="0" bIns="0" rtlCol="0" anchor="ctr">
            <a:normAutofit/>
          </a:bodyPr>
          <a:lstStyle/>
          <a:p>
            <a:pPr indent="0" marL="0">
              <a:buNone/>
            </a:pPr>
            <a:r>
              <a:rPr lang="en-US" sz="1080" b="1" dirty="0">
                <a:solidFill>
                  <a:srgbClr val="1C1C1C"/>
                </a:solidFill>
                <a:latin typeface="Calibri" pitchFamily="34" charset="0"/>
                <a:ea typeface="Calibri" pitchFamily="34" charset="-122"/>
                <a:cs typeface="Calibri" pitchFamily="34" charset="-120"/>
              </a:rPr>
              <a:t>FRANCE VERTE</a:t>
            </a:r>
            <a:endParaRPr lang="en-US" sz="1080" dirty="0"/>
          </a:p>
        </p:txBody>
      </p:sp>
      <p:sp>
        <p:nvSpPr>
          <p:cNvPr id="14" name="Text 8"/>
          <p:cNvSpPr/>
          <p:nvPr/>
        </p:nvSpPr>
        <p:spPr>
          <a:xfrm>
            <a:off x="622800" y="2844000"/>
            <a:ext cx="3960000" cy="180000"/>
          </a:xfrm>
          <a:prstGeom prst="rect">
            <a:avLst/>
          </a:prstGeom>
          <a:noFill/>
          <a:ln/>
        </p:spPr>
        <p:txBody>
          <a:bodyPr wrap="square" lIns="0" tIns="0" rIns="0" bIns="0" rtlCol="0" anchor="ctr">
            <a:normAutofit/>
          </a:bodyPr>
          <a:lstStyle/>
          <a:p>
            <a:pPr indent="0" marL="0">
              <a:buNone/>
            </a:pPr>
            <a:r>
              <a:rPr lang="en-US" sz="1050" dirty="0">
                <a:solidFill>
                  <a:srgbClr val="1C1C1C"/>
                </a:solidFill>
                <a:latin typeface="Calibri" pitchFamily="34" charset="0"/>
                <a:ea typeface="Calibri" pitchFamily="34" charset="-122"/>
                <a:cs typeface="Calibri" pitchFamily="34" charset="-120"/>
              </a:rPr>
              <a:t>E-mail : contact@groupefranceverte.fr</a:t>
            </a:r>
            <a:endParaRPr lang="en-US" sz="1050" dirty="0"/>
          </a:p>
        </p:txBody>
      </p:sp>
      <p:sp>
        <p:nvSpPr>
          <p:cNvPr id="15" name="Text 9"/>
          <p:cNvSpPr/>
          <p:nvPr/>
        </p:nvSpPr>
        <p:spPr>
          <a:xfrm>
            <a:off x="622800" y="3096000"/>
            <a:ext cx="3960000" cy="180000"/>
          </a:xfrm>
          <a:prstGeom prst="rect">
            <a:avLst/>
          </a:prstGeom>
          <a:noFill/>
          <a:ln/>
        </p:spPr>
        <p:txBody>
          <a:bodyPr wrap="square" lIns="0" tIns="0" rIns="0" bIns="0" rtlCol="0" anchor="ctr">
            <a:normAutofit/>
          </a:bodyPr>
          <a:lstStyle/>
          <a:p>
            <a:pPr indent="0" marL="0">
              <a:buNone/>
            </a:pPr>
            <a:r>
              <a:rPr lang="en-US" sz="1050" dirty="0">
                <a:solidFill>
                  <a:srgbClr val="1C1C1C"/>
                </a:solidFill>
                <a:latin typeface="Calibri" pitchFamily="34" charset="0"/>
                <a:ea typeface="Calibri" pitchFamily="34" charset="-122"/>
                <a:cs typeface="Calibri" pitchFamily="34" charset="-120"/>
              </a:rPr>
              <a:t>Téléphone : 09 86 08 79 79</a:t>
            </a:r>
            <a:endParaRPr lang="en-US" sz="1050" dirty="0"/>
          </a:p>
        </p:txBody>
      </p:sp>
      <p:sp>
        <p:nvSpPr>
          <p:cNvPr id="16" name="Text 10"/>
          <p:cNvSpPr/>
          <p:nvPr/>
        </p:nvSpPr>
        <p:spPr>
          <a:xfrm>
            <a:off x="622800" y="3348000"/>
            <a:ext cx="4500000" cy="324000"/>
          </a:xfrm>
          <a:prstGeom prst="rect">
            <a:avLst/>
          </a:prstGeom>
          <a:noFill/>
          <a:ln/>
        </p:spPr>
        <p:txBody>
          <a:bodyPr wrap="square" lIns="0" tIns="0" rIns="0" bIns="0" rtlCol="0" anchor="t">
            <a:normAutofit/>
          </a:bodyPr>
          <a:lstStyle/>
          <a:p>
            <a:pPr indent="0" marL="0">
              <a:buNone/>
            </a:pPr>
            <a:r>
              <a:rPr lang="en-US" sz="1050" dirty="0">
                <a:solidFill>
                  <a:srgbClr val="1C1C1C"/>
                </a:solidFill>
                <a:latin typeface="Calibri" pitchFamily="34" charset="0"/>
                <a:ea typeface="Calibri" pitchFamily="34" charset="-122"/>
                <a:cs typeface="Calibri" pitchFamily="34" charset="-120"/>
              </a:rPr>
              <a:t>Adresse : 22 Avenue Barthélémy Thimonnier,</a:t>
            </a:r>
            <a:endParaRPr lang="en-US" sz="1050" dirty="0"/>
          </a:p>
          <a:p>
            <a:pPr indent="0" marL="0">
              <a:buNone/>
            </a:pPr>
            <a:r>
              <a:rPr lang="en-US" sz="1050" dirty="0">
                <a:solidFill>
                  <a:srgbClr val="1C1C1C"/>
                </a:solidFill>
                <a:latin typeface="Calibri" pitchFamily="34" charset="0"/>
                <a:ea typeface="Calibri" pitchFamily="34" charset="-122"/>
                <a:cs typeface="Calibri" pitchFamily="34" charset="-120"/>
              </a:rPr>
              <a:t>69300 Caluire-et-Cuire</a:t>
            </a:r>
            <a:endParaRPr lang="en-US" sz="1050" dirty="0"/>
          </a:p>
        </p:txBody>
      </p:sp>
      <p:sp>
        <p:nvSpPr>
          <p:cNvPr id="17" name="Text 11"/>
          <p:cNvSpPr/>
          <p:nvPr/>
        </p:nvSpPr>
        <p:spPr>
          <a:xfrm>
            <a:off x="1180800" y="3794400"/>
            <a:ext cx="5184000" cy="262800"/>
          </a:xfrm>
          <a:prstGeom prst="rect">
            <a:avLst/>
          </a:prstGeom>
          <a:noFill/>
          <a:ln/>
        </p:spPr>
        <p:txBody>
          <a:bodyPr wrap="square" lIns="0" tIns="0" rIns="0" bIns="0" rtlCol="0" anchor="ctr">
            <a:normAutofit/>
          </a:bodyPr>
          <a:lstStyle/>
          <a:p>
            <a:pPr algn="ctr" indent="0" marL="0">
              <a:buNone/>
            </a:pPr>
            <a:r>
              <a:rPr lang="en-US" sz="1240" b="1" dirty="0">
                <a:solidFill>
                  <a:srgbClr val="1C1C1C"/>
                </a:solidFill>
                <a:latin typeface="Calibri" pitchFamily="34" charset="0"/>
                <a:ea typeface="Calibri" pitchFamily="34" charset="-122"/>
                <a:cs typeface="Calibri" pitchFamily="34" charset="-120"/>
              </a:rPr>
              <a:t>Copropriété Résidence des Tilleuls</a:t>
            </a:r>
            <a:endParaRPr lang="en-US" sz="1240" dirty="0"/>
          </a:p>
        </p:txBody>
      </p:sp>
      <p:sp>
        <p:nvSpPr>
          <p:cNvPr id="18" name="Text 12"/>
          <p:cNvSpPr/>
          <p:nvPr/>
        </p:nvSpPr>
        <p:spPr>
          <a:xfrm>
            <a:off x="1180800" y="4060800"/>
            <a:ext cx="5184000" cy="266400"/>
          </a:xfrm>
          <a:prstGeom prst="rect">
            <a:avLst/>
          </a:prstGeom>
          <a:noFill/>
          <a:ln/>
        </p:spPr>
        <p:txBody>
          <a:bodyPr wrap="square" lIns="0" tIns="0" rIns="0" bIns="0" rtlCol="0" anchor="ctr">
            <a:normAutofit/>
          </a:bodyPr>
          <a:lstStyle/>
          <a:p>
            <a:pPr algn="ctr" indent="0" marL="0">
              <a:buNone/>
            </a:pPr>
            <a:r>
              <a:rPr lang="en-US" sz="1100" dirty="0">
                <a:solidFill>
                  <a:srgbClr val="1C1C1C"/>
                </a:solidFill>
                <a:latin typeface="Calibri" pitchFamily="34" charset="0"/>
                <a:ea typeface="Calibri" pitchFamily="34" charset="-122"/>
                <a:cs typeface="Calibri" pitchFamily="34" charset="-120"/>
              </a:rPr>
              <a:t>Adresse : 24 avenue des Érables, 69003 Lyon</a:t>
            </a:r>
            <a:endParaRPr lang="en-US" sz="1100" dirty="0"/>
          </a:p>
        </p:txBody>
      </p:sp>
      <p:pic>
        <p:nvPicPr>
          <p:cNvPr id="19" name="Image 4" descr="Photographie principale de la copropriété">    </p:cNvPr>
          <p:cNvPicPr>
            <a:picLocks noChangeAspect="1"/>
          </p:cNvPicPr>
          <p:nvPr/>
        </p:nvPicPr>
        <p:blipFill>
          <a:blip r:embed="rId5"/>
          <a:srcRect l="0" r="0" t="0" b="0"/>
          <a:stretch/>
        </p:blipFill>
        <p:spPr>
          <a:xfrm>
            <a:off x="1166400" y="4485600"/>
            <a:ext cx="5220000" cy="3211200"/>
          </a:xfrm>
          <a:prstGeom prst="rect">
            <a:avLst/>
          </a:prstGeom>
        </p:spPr>
      </p:pic>
      <p:sp>
        <p:nvSpPr>
          <p:cNvPr id="20" name="Text 13"/>
          <p:cNvSpPr/>
          <p:nvPr/>
        </p:nvSpPr>
        <p:spPr>
          <a:xfrm>
            <a:off x="1260000" y="7837200"/>
            <a:ext cx="3780000" cy="234000"/>
          </a:xfrm>
          <a:prstGeom prst="rect">
            <a:avLst/>
          </a:prstGeom>
          <a:noFill/>
          <a:ln/>
        </p:spPr>
        <p:txBody>
          <a:bodyPr wrap="square" lIns="0" tIns="0" rIns="0" bIns="0" rtlCol="0" anchor="ctr">
            <a:normAutofit/>
          </a:bodyPr>
          <a:lstStyle/>
          <a:p>
            <a:pPr indent="0" marL="0">
              <a:buNone/>
            </a:pPr>
            <a:r>
              <a:rPr lang="en-US" sz="1130" b="1" dirty="0">
                <a:solidFill>
                  <a:srgbClr val="1C1C1C"/>
                </a:solidFill>
                <a:latin typeface="Calibri" pitchFamily="34" charset="0"/>
                <a:ea typeface="Calibri" pitchFamily="34" charset="-122"/>
                <a:cs typeface="Calibri" pitchFamily="34" charset="-120"/>
              </a:rPr>
              <a:t>Date de visite : </a:t>
            </a:r>
            <a:pPr indent="0" marL="0">
              <a:buNone/>
            </a:pPr>
            <a:r>
              <a:rPr lang="en-US" sz="1130" dirty="0">
                <a:solidFill>
                  <a:srgbClr val="1C1C1C"/>
                </a:solidFill>
                <a:latin typeface="Calibri" pitchFamily="34" charset="0"/>
                <a:ea typeface="Calibri" pitchFamily="34" charset="-122"/>
                <a:cs typeface="Calibri" pitchFamily="34" charset="-120"/>
              </a:rPr>
              <a:t>05/09/2026</a:t>
            </a:r>
            <a:endParaRPr lang="en-US" sz="1130" dirty="0"/>
          </a:p>
        </p:txBody>
      </p:sp>
      <p:sp>
        <p:nvSpPr>
          <p:cNvPr id="21" name="Text 14"/>
          <p:cNvSpPr/>
          <p:nvPr/>
        </p:nvSpPr>
        <p:spPr>
          <a:xfrm>
            <a:off x="1260000" y="8089200"/>
            <a:ext cx="3780000" cy="234000"/>
          </a:xfrm>
          <a:prstGeom prst="rect">
            <a:avLst/>
          </a:prstGeom>
          <a:noFill/>
          <a:ln/>
        </p:spPr>
        <p:txBody>
          <a:bodyPr wrap="square" lIns="0" tIns="0" rIns="0" bIns="0" rtlCol="0" anchor="ctr">
            <a:normAutofit/>
          </a:bodyPr>
          <a:lstStyle/>
          <a:p>
            <a:pPr indent="0" marL="0">
              <a:buNone/>
            </a:pPr>
            <a:r>
              <a:rPr lang="en-US" sz="1130" b="1" dirty="0">
                <a:solidFill>
                  <a:srgbClr val="1C1C1C"/>
                </a:solidFill>
                <a:latin typeface="Calibri" pitchFamily="34" charset="0"/>
                <a:ea typeface="Calibri" pitchFamily="34" charset="-122"/>
                <a:cs typeface="Calibri" pitchFamily="34" charset="-120"/>
              </a:rPr>
              <a:t>Date du rapport : </a:t>
            </a:r>
            <a:pPr indent="0" marL="0">
              <a:buNone/>
            </a:pPr>
            <a:r>
              <a:rPr lang="en-US" sz="1130" dirty="0">
                <a:solidFill>
                  <a:srgbClr val="1C1C1C"/>
                </a:solidFill>
                <a:latin typeface="Calibri" pitchFamily="34" charset="0"/>
                <a:ea typeface="Calibri" pitchFamily="34" charset="-122"/>
                <a:cs typeface="Calibri" pitchFamily="34" charset="-120"/>
              </a:rPr>
              <a:t>12/09/2026</a:t>
            </a:r>
            <a:endParaRPr lang="en-US" sz="1130" dirty="0"/>
          </a:p>
        </p:txBody>
      </p:sp>
      <p:sp>
        <p:nvSpPr>
          <p:cNvPr id="22" name="Text 15"/>
          <p:cNvSpPr/>
          <p:nvPr/>
        </p:nvSpPr>
        <p:spPr>
          <a:xfrm>
            <a:off x="1260000" y="8341200"/>
            <a:ext cx="3780000" cy="234000"/>
          </a:xfrm>
          <a:prstGeom prst="rect">
            <a:avLst/>
          </a:prstGeom>
          <a:noFill/>
          <a:ln/>
        </p:spPr>
        <p:txBody>
          <a:bodyPr wrap="square" lIns="0" tIns="0" rIns="0" bIns="0" rtlCol="0" anchor="ctr">
            <a:normAutofit/>
          </a:bodyPr>
          <a:lstStyle/>
          <a:p>
            <a:pPr indent="0" marL="0">
              <a:buNone/>
            </a:pPr>
            <a:r>
              <a:rPr lang="en-US" sz="1130" b="1" dirty="0">
                <a:solidFill>
                  <a:srgbClr val="1C1C1C"/>
                </a:solidFill>
                <a:latin typeface="Calibri" pitchFamily="34" charset="0"/>
                <a:ea typeface="Calibri" pitchFamily="34" charset="-122"/>
                <a:cs typeface="Calibri" pitchFamily="34" charset="-120"/>
              </a:rPr>
              <a:t>Version du rapport : </a:t>
            </a:r>
            <a:pPr indent="0" marL="0">
              <a:buNone/>
            </a:pPr>
            <a:r>
              <a:rPr lang="en-US" sz="1130" dirty="0">
                <a:solidFill>
                  <a:srgbClr val="1C1C1C"/>
                </a:solidFill>
                <a:latin typeface="Calibri" pitchFamily="34" charset="0"/>
                <a:ea typeface="Calibri" pitchFamily="34" charset="-122"/>
                <a:cs typeface="Calibri" pitchFamily="34" charset="-120"/>
              </a:rPr>
              <a:t>Finale</a:t>
            </a:r>
            <a:endParaRPr lang="en-US" sz="1130" dirty="0"/>
          </a:p>
        </p:txBody>
      </p:sp>
      <p:pic>
        <p:nvPicPr>
          <p:cNvPr id="23" name="Image 5" descr="Tampon France Verte du modèle">    </p:cNvPr>
          <p:cNvPicPr>
            <a:picLocks noChangeAspect="1"/>
          </p:cNvPicPr>
          <p:nvPr/>
        </p:nvPicPr>
        <p:blipFill>
          <a:blip r:embed="rId6"/>
          <a:srcRect l="0" r="0" t="0" b="0"/>
          <a:stretch/>
        </p:blipFill>
        <p:spPr>
          <a:xfrm>
            <a:off x="5022000" y="8010000"/>
            <a:ext cx="1724400" cy="536400"/>
          </a:xfrm>
          <a:prstGeom prst="rect">
            <a:avLst/>
          </a:prstGeom>
        </p:spPr>
      </p:pic>
      <p:sp>
        <p:nvSpPr>
          <p:cNvPr id="24" name="Text 16"/>
          <p:cNvSpPr/>
          <p:nvPr/>
        </p:nvSpPr>
        <p:spPr>
          <a:xfrm>
            <a:off x="1368000" y="9108000"/>
            <a:ext cx="4824000" cy="540000"/>
          </a:xfrm>
          <a:prstGeom prst="rect">
            <a:avLst/>
          </a:prstGeom>
          <a:noFill/>
          <a:ln/>
        </p:spPr>
        <p:txBody>
          <a:bodyPr wrap="square" lIns="0" tIns="0" rIns="0" bIns="0" rtlCol="0" anchor="ctr">
            <a:normAutofit/>
          </a:bodyPr>
          <a:lstStyle/>
          <a:p>
            <a:pPr algn="ctr" indent="0" marL="0">
              <a:buNone/>
            </a:pPr>
            <a:r>
              <a:rPr lang="en-US" sz="1120" dirty="0">
                <a:solidFill>
                  <a:srgbClr val="1C1C1C"/>
                </a:solidFill>
                <a:latin typeface="Calibri" pitchFamily="34" charset="0"/>
                <a:ea typeface="Calibri" pitchFamily="34" charset="-122"/>
                <a:cs typeface="Calibri" pitchFamily="34" charset="-120"/>
              </a:rPr>
              <a:t>Mission réalisée pour la copropriété </a:t>
            </a:r>
            <a:pPr algn="ctr" indent="0" marL="0">
              <a:buNone/>
            </a:pPr>
            <a:r>
              <a:rPr lang="en-US" sz="1120" b="1" dirty="0">
                <a:solidFill>
                  <a:srgbClr val="1C1C1C"/>
                </a:solidFill>
                <a:latin typeface="Calibri" pitchFamily="34" charset="0"/>
                <a:ea typeface="Calibri" pitchFamily="34" charset="-122"/>
                <a:cs typeface="Calibri" pitchFamily="34" charset="-120"/>
              </a:rPr>
              <a:t>Résidence des Tilleuls</a:t>
            </a:r>
            <a:pPr algn="ctr" indent="0" marL="0">
              <a:buNone/>
            </a:pPr>
            <a:r>
              <a:rPr lang="en-US" sz="1120" dirty="0">
                <a:solidFill>
                  <a:srgbClr val="1C1C1C"/>
                </a:solidFill>
                <a:latin typeface="Calibri" pitchFamily="34" charset="0"/>
                <a:ea typeface="Calibri" pitchFamily="34" charset="-122"/>
                <a:cs typeface="Calibri" pitchFamily="34" charset="-120"/>
              </a:rPr>
              <a:t>, représentée par son syndic, </a:t>
            </a:r>
            <a:pPr algn="ctr" indent="0" marL="0">
              <a:buNone/>
            </a:pPr>
            <a:r>
              <a:rPr lang="en-US" sz="1120" b="1" dirty="0">
                <a:solidFill>
                  <a:srgbClr val="1C1C1C"/>
                </a:solidFill>
                <a:latin typeface="Calibri" pitchFamily="34" charset="0"/>
                <a:ea typeface="Calibri" pitchFamily="34" charset="-122"/>
                <a:cs typeface="Calibri" pitchFamily="34" charset="-120"/>
              </a:rPr>
              <a:t>Syndic Équilibre</a:t>
            </a:r>
            <a:endParaRPr lang="en-US" sz="1120" dirty="0"/>
          </a:p>
        </p:txBody>
      </p:sp>
      <p:sp>
        <p:nvSpPr>
          <p:cNvPr id="25" name="Text 17"/>
          <p:cNvSpPr/>
          <p:nvPr/>
        </p:nvSpPr>
        <p:spPr>
          <a:xfrm>
            <a:off x="936000" y="10170000"/>
            <a:ext cx="5688000" cy="396000"/>
          </a:xfrm>
          <a:prstGeom prst="rect">
            <a:avLst/>
          </a:prstGeom>
          <a:noFill/>
          <a:ln/>
        </p:spPr>
        <p:txBody>
          <a:bodyPr wrap="square" lIns="0" tIns="0" rIns="0" bIns="0" rtlCol="0" anchor="ctr">
            <a:normAutofit/>
          </a:bodyPr>
          <a:lstStyle/>
          <a:p>
            <a:pPr algn="ctr" indent="0" marL="0">
              <a:buNone/>
            </a:pPr>
            <a:r>
              <a:rPr lang="en-US" sz="960" dirty="0">
                <a:solidFill>
                  <a:srgbClr val="1C1C1C"/>
                </a:solidFill>
                <a:latin typeface="Calibri" pitchFamily="34" charset="0"/>
                <a:ea typeface="Calibri" pitchFamily="34" charset="-122"/>
                <a:cs typeface="Calibri" pitchFamily="34" charset="-120"/>
              </a:rPr>
              <a:t>Le présent rapport forme un ensemble indivisible. Il ne peut être interprété ou diffusé partiellement et doit être communiqué dans son intégralité.</a:t>
            </a:r>
            <a:endParaRPr lang="en-US" sz="960" dirty="0"/>
          </a:p>
        </p:txBody>
      </p:sp>
      <p:sp>
        <p:nvSpPr>
          <p:cNvPr id="26" name="Text 18"/>
          <p:cNvSpPr/>
          <p:nvPr/>
        </p:nvSpPr>
        <p:spPr>
          <a:xfrm>
            <a:off x="1260000" y="8593200"/>
            <a:ext cx="3780000" cy="230400"/>
          </a:xfrm>
          <a:prstGeom prst="rect">
            <a:avLst/>
          </a:prstGeom>
          <a:noFill/>
          <a:ln/>
        </p:spPr>
        <p:txBody>
          <a:bodyPr wrap="square" lIns="0" tIns="0" rIns="0" bIns="0" rtlCol="0" anchor="ctr">
            <a:normAutofit/>
          </a:bodyPr>
          <a:lstStyle/>
          <a:p>
            <a:pPr indent="0" marL="0">
              <a:buNone/>
            </a:pPr>
            <a:r>
              <a:rPr lang="en-US" sz="1130" dirty="0">
                <a:solidFill>
                  <a:srgbClr val="1C1C1C"/>
                </a:solidFill>
                <a:latin typeface="Calibri" pitchFamily="34" charset="0"/>
                <a:ea typeface="Calibri" pitchFamily="34" charset="-122"/>
                <a:cs typeface="Calibri" pitchFamily="34" charset="-120"/>
              </a:rPr>
              <a:t>Ce rapport contient : 47 pages</a:t>
            </a:r>
            <a:endParaRPr lang="en-US" sz="113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algn="ctr" indent="0" marL="0">
              <a:buNone/>
            </a:pPr>
            <a:r>
              <a:rPr lang="en-US" sz="1580" b="1" dirty="0">
                <a:solidFill>
                  <a:srgbClr val="FFFFFF"/>
                </a:solidFill>
                <a:latin typeface="Calibri" pitchFamily="34" charset="0"/>
                <a:ea typeface="Calibri" pitchFamily="34" charset="-122"/>
                <a:cs typeface="Calibri" pitchFamily="34" charset="-120"/>
              </a:rPr>
              <a:t>INFORMATIONS ADMINISTRATIVES</a:t>
            </a:r>
            <a:endParaRPr lang="en-US" sz="1580" dirty="0"/>
          </a:p>
        </p:txBody>
      </p:sp>
      <p:sp>
        <p:nvSpPr>
          <p:cNvPr id="5" name="Shape 2"/>
          <p:cNvSpPr/>
          <p:nvPr/>
        </p:nvSpPr>
        <p:spPr>
          <a:xfrm>
            <a:off x="540000" y="1234800"/>
            <a:ext cx="6483600" cy="331200"/>
          </a:xfrm>
          <a:prstGeom prst="rect">
            <a:avLst/>
          </a:prstGeom>
          <a:solidFill>
            <a:srgbClr val="D9D9D9"/>
          </a:solidFill>
          <a:ln w="10160">
            <a:solidFill>
              <a:srgbClr val="242424"/>
            </a:solidFill>
            <a:prstDash val="solid"/>
          </a:ln>
        </p:spPr>
      </p:sp>
      <p:sp>
        <p:nvSpPr>
          <p:cNvPr id="6" name="Text 3"/>
          <p:cNvSpPr/>
          <p:nvPr/>
        </p:nvSpPr>
        <p:spPr>
          <a:xfrm>
            <a:off x="622800" y="1274400"/>
            <a:ext cx="6318000" cy="25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Désignation du donneur d’ordre</a:t>
            </a:r>
            <a:endParaRPr lang="en-US" sz="1050" dirty="0"/>
          </a:p>
        </p:txBody>
      </p:sp>
      <p:sp>
        <p:nvSpPr>
          <p:cNvPr id="7" name="Shape 4"/>
          <p:cNvSpPr/>
          <p:nvPr/>
        </p:nvSpPr>
        <p:spPr>
          <a:xfrm>
            <a:off x="540000" y="1566000"/>
            <a:ext cx="6483600" cy="331200"/>
          </a:xfrm>
          <a:prstGeom prst="rect">
            <a:avLst/>
          </a:prstGeom>
          <a:solidFill>
            <a:srgbClr val="FFFFFF"/>
          </a:solidFill>
          <a:ln w="10160">
            <a:solidFill>
              <a:srgbClr val="242424"/>
            </a:solidFill>
            <a:prstDash val="solid"/>
          </a:ln>
        </p:spPr>
      </p:sp>
      <p:sp>
        <p:nvSpPr>
          <p:cNvPr id="8" name="Text 5"/>
          <p:cNvSpPr/>
          <p:nvPr/>
        </p:nvSpPr>
        <p:spPr>
          <a:xfrm>
            <a:off x="622800" y="1605600"/>
            <a:ext cx="63180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Nom : Syndic Équilibre</a:t>
            </a:r>
            <a:endParaRPr lang="en-US" sz="1050" dirty="0"/>
          </a:p>
        </p:txBody>
      </p:sp>
      <p:sp>
        <p:nvSpPr>
          <p:cNvPr id="9" name="Shape 6"/>
          <p:cNvSpPr/>
          <p:nvPr/>
        </p:nvSpPr>
        <p:spPr>
          <a:xfrm>
            <a:off x="540000" y="1897200"/>
            <a:ext cx="6483600" cy="331200"/>
          </a:xfrm>
          <a:prstGeom prst="rect">
            <a:avLst/>
          </a:prstGeom>
          <a:solidFill>
            <a:srgbClr val="FFFFFF"/>
          </a:solidFill>
          <a:ln w="10160">
            <a:solidFill>
              <a:srgbClr val="242424"/>
            </a:solidFill>
            <a:prstDash val="solid"/>
          </a:ln>
        </p:spPr>
      </p:sp>
      <p:sp>
        <p:nvSpPr>
          <p:cNvPr id="10" name="Text 7"/>
          <p:cNvSpPr/>
          <p:nvPr/>
        </p:nvSpPr>
        <p:spPr>
          <a:xfrm>
            <a:off x="622800" y="1936800"/>
            <a:ext cx="63180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Adresse : 8 place de la République, 69002 Lyon</a:t>
            </a:r>
            <a:endParaRPr lang="en-US" sz="1050" dirty="0"/>
          </a:p>
        </p:txBody>
      </p:sp>
      <p:sp>
        <p:nvSpPr>
          <p:cNvPr id="11" name="Shape 8"/>
          <p:cNvSpPr/>
          <p:nvPr/>
        </p:nvSpPr>
        <p:spPr>
          <a:xfrm>
            <a:off x="540000" y="2458800"/>
            <a:ext cx="3240000" cy="331200"/>
          </a:xfrm>
          <a:prstGeom prst="rect">
            <a:avLst/>
          </a:prstGeom>
          <a:solidFill>
            <a:srgbClr val="D9D9D9"/>
          </a:solidFill>
          <a:ln w="10160">
            <a:solidFill>
              <a:srgbClr val="242424"/>
            </a:solidFill>
            <a:prstDash val="solid"/>
          </a:ln>
        </p:spPr>
      </p:sp>
      <p:sp>
        <p:nvSpPr>
          <p:cNvPr id="12" name="Text 9"/>
          <p:cNvSpPr/>
          <p:nvPr/>
        </p:nvSpPr>
        <p:spPr>
          <a:xfrm>
            <a:off x="622800" y="2498400"/>
            <a:ext cx="3074400" cy="25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Désignation du chargé de projet</a:t>
            </a:r>
            <a:endParaRPr lang="en-US" sz="1050" dirty="0"/>
          </a:p>
        </p:txBody>
      </p:sp>
      <p:sp>
        <p:nvSpPr>
          <p:cNvPr id="13" name="Shape 10"/>
          <p:cNvSpPr/>
          <p:nvPr/>
        </p:nvSpPr>
        <p:spPr>
          <a:xfrm>
            <a:off x="3780000" y="2458800"/>
            <a:ext cx="3243600" cy="331200"/>
          </a:xfrm>
          <a:prstGeom prst="rect">
            <a:avLst/>
          </a:prstGeom>
          <a:solidFill>
            <a:srgbClr val="D9D9D9"/>
          </a:solidFill>
          <a:ln w="10160">
            <a:solidFill>
              <a:srgbClr val="242424"/>
            </a:solidFill>
            <a:prstDash val="solid"/>
          </a:ln>
        </p:spPr>
      </p:sp>
      <p:sp>
        <p:nvSpPr>
          <p:cNvPr id="14" name="Text 11"/>
          <p:cNvSpPr/>
          <p:nvPr/>
        </p:nvSpPr>
        <p:spPr>
          <a:xfrm>
            <a:off x="3862800" y="2498400"/>
            <a:ext cx="3078000" cy="25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Vérificateur</a:t>
            </a:r>
            <a:endParaRPr lang="en-US" sz="1050" dirty="0"/>
          </a:p>
        </p:txBody>
      </p:sp>
      <p:sp>
        <p:nvSpPr>
          <p:cNvPr id="15" name="Shape 12"/>
          <p:cNvSpPr/>
          <p:nvPr/>
        </p:nvSpPr>
        <p:spPr>
          <a:xfrm>
            <a:off x="540000" y="2790000"/>
            <a:ext cx="3240000" cy="331200"/>
          </a:xfrm>
          <a:prstGeom prst="rect">
            <a:avLst/>
          </a:prstGeom>
          <a:solidFill>
            <a:srgbClr val="FFFFFF"/>
          </a:solidFill>
          <a:ln w="10160">
            <a:solidFill>
              <a:srgbClr val="242424"/>
            </a:solidFill>
            <a:prstDash val="solid"/>
          </a:ln>
        </p:spPr>
      </p:sp>
      <p:sp>
        <p:nvSpPr>
          <p:cNvPr id="16" name="Text 13"/>
          <p:cNvSpPr/>
          <p:nvPr/>
        </p:nvSpPr>
        <p:spPr>
          <a:xfrm>
            <a:off x="622800" y="2829600"/>
            <a:ext cx="30744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Nom : Camille Martin</a:t>
            </a:r>
            <a:endParaRPr lang="en-US" sz="1050" dirty="0"/>
          </a:p>
        </p:txBody>
      </p:sp>
      <p:sp>
        <p:nvSpPr>
          <p:cNvPr id="17" name="Shape 14"/>
          <p:cNvSpPr/>
          <p:nvPr/>
        </p:nvSpPr>
        <p:spPr>
          <a:xfrm>
            <a:off x="3780000" y="2790000"/>
            <a:ext cx="3243600" cy="331200"/>
          </a:xfrm>
          <a:prstGeom prst="rect">
            <a:avLst/>
          </a:prstGeom>
          <a:solidFill>
            <a:srgbClr val="FFFFFF"/>
          </a:solidFill>
          <a:ln w="10160">
            <a:solidFill>
              <a:srgbClr val="242424"/>
            </a:solidFill>
            <a:prstDash val="solid"/>
          </a:ln>
        </p:spPr>
      </p:sp>
      <p:sp>
        <p:nvSpPr>
          <p:cNvPr id="18" name="Text 15"/>
          <p:cNvSpPr/>
          <p:nvPr/>
        </p:nvSpPr>
        <p:spPr>
          <a:xfrm>
            <a:off x="3862800" y="2829600"/>
            <a:ext cx="30780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Nom : Alex Durand</a:t>
            </a:r>
            <a:endParaRPr lang="en-US" sz="1050" dirty="0"/>
          </a:p>
        </p:txBody>
      </p:sp>
      <p:sp>
        <p:nvSpPr>
          <p:cNvPr id="19" name="Shape 16"/>
          <p:cNvSpPr/>
          <p:nvPr/>
        </p:nvSpPr>
        <p:spPr>
          <a:xfrm>
            <a:off x="540000" y="3121200"/>
            <a:ext cx="3240000" cy="414000"/>
          </a:xfrm>
          <a:prstGeom prst="rect">
            <a:avLst/>
          </a:prstGeom>
          <a:solidFill>
            <a:srgbClr val="FFFFFF"/>
          </a:solidFill>
          <a:ln w="10160">
            <a:solidFill>
              <a:srgbClr val="242424"/>
            </a:solidFill>
            <a:prstDash val="solid"/>
          </a:ln>
        </p:spPr>
      </p:sp>
      <p:sp>
        <p:nvSpPr>
          <p:cNvPr id="20" name="Text 17"/>
          <p:cNvSpPr/>
          <p:nvPr/>
        </p:nvSpPr>
        <p:spPr>
          <a:xfrm>
            <a:off x="622800" y="3160800"/>
            <a:ext cx="3074400" cy="3348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Poste : Chargée de projet</a:t>
            </a:r>
            <a:endParaRPr lang="en-US" sz="1050" dirty="0"/>
          </a:p>
        </p:txBody>
      </p:sp>
      <p:sp>
        <p:nvSpPr>
          <p:cNvPr id="21" name="Shape 18"/>
          <p:cNvSpPr/>
          <p:nvPr/>
        </p:nvSpPr>
        <p:spPr>
          <a:xfrm>
            <a:off x="3780000" y="3121200"/>
            <a:ext cx="3243600" cy="414000"/>
          </a:xfrm>
          <a:prstGeom prst="rect">
            <a:avLst/>
          </a:prstGeom>
          <a:solidFill>
            <a:srgbClr val="FFFFFF"/>
          </a:solidFill>
          <a:ln w="10160">
            <a:solidFill>
              <a:srgbClr val="242424"/>
            </a:solidFill>
            <a:prstDash val="solid"/>
          </a:ln>
        </p:spPr>
      </p:sp>
      <p:sp>
        <p:nvSpPr>
          <p:cNvPr id="22" name="Text 19"/>
          <p:cNvSpPr/>
          <p:nvPr/>
        </p:nvSpPr>
        <p:spPr>
          <a:xfrm>
            <a:off x="3862800" y="3160800"/>
            <a:ext cx="3078000" cy="3348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Poste : Vérificateur technique</a:t>
            </a:r>
            <a:endParaRPr lang="en-US" sz="1050" dirty="0"/>
          </a:p>
        </p:txBody>
      </p:sp>
      <p:sp>
        <p:nvSpPr>
          <p:cNvPr id="23" name="Shape 20"/>
          <p:cNvSpPr/>
          <p:nvPr/>
        </p:nvSpPr>
        <p:spPr>
          <a:xfrm>
            <a:off x="540000" y="3535200"/>
            <a:ext cx="6483600" cy="331200"/>
          </a:xfrm>
          <a:prstGeom prst="rect">
            <a:avLst/>
          </a:prstGeom>
          <a:solidFill>
            <a:srgbClr val="D9D9D9"/>
          </a:solidFill>
          <a:ln w="10160">
            <a:solidFill>
              <a:srgbClr val="242424"/>
            </a:solidFill>
            <a:prstDash val="solid"/>
          </a:ln>
        </p:spPr>
      </p:sp>
      <p:sp>
        <p:nvSpPr>
          <p:cNvPr id="24" name="Text 21"/>
          <p:cNvSpPr/>
          <p:nvPr/>
        </p:nvSpPr>
        <p:spPr>
          <a:xfrm>
            <a:off x="622800" y="3574800"/>
            <a:ext cx="6318000" cy="25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Intervenant sur site</a:t>
            </a:r>
            <a:endParaRPr lang="en-US" sz="1050" dirty="0"/>
          </a:p>
        </p:txBody>
      </p:sp>
      <p:sp>
        <p:nvSpPr>
          <p:cNvPr id="25" name="Shape 22"/>
          <p:cNvSpPr/>
          <p:nvPr/>
        </p:nvSpPr>
        <p:spPr>
          <a:xfrm>
            <a:off x="540000" y="3866400"/>
            <a:ext cx="6483600" cy="331200"/>
          </a:xfrm>
          <a:prstGeom prst="rect">
            <a:avLst/>
          </a:prstGeom>
          <a:solidFill>
            <a:srgbClr val="FFFFFF"/>
          </a:solidFill>
          <a:ln w="10160">
            <a:solidFill>
              <a:srgbClr val="242424"/>
            </a:solidFill>
            <a:prstDash val="solid"/>
          </a:ln>
        </p:spPr>
      </p:sp>
      <p:sp>
        <p:nvSpPr>
          <p:cNvPr id="26" name="Text 23"/>
          <p:cNvSpPr/>
          <p:nvPr/>
        </p:nvSpPr>
        <p:spPr>
          <a:xfrm>
            <a:off x="622800" y="3906000"/>
            <a:ext cx="63180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Nom : Nora Petit</a:t>
            </a:r>
            <a:endParaRPr lang="en-US" sz="1050" dirty="0"/>
          </a:p>
        </p:txBody>
      </p:sp>
      <p:sp>
        <p:nvSpPr>
          <p:cNvPr id="27" name="Shape 24"/>
          <p:cNvSpPr/>
          <p:nvPr/>
        </p:nvSpPr>
        <p:spPr>
          <a:xfrm>
            <a:off x="540000" y="4428000"/>
            <a:ext cx="6483600" cy="331200"/>
          </a:xfrm>
          <a:prstGeom prst="rect">
            <a:avLst/>
          </a:prstGeom>
          <a:solidFill>
            <a:srgbClr val="D9D9D9"/>
          </a:solidFill>
          <a:ln w="10160">
            <a:solidFill>
              <a:srgbClr val="242424"/>
            </a:solidFill>
            <a:prstDash val="solid"/>
          </a:ln>
        </p:spPr>
      </p:sp>
      <p:sp>
        <p:nvSpPr>
          <p:cNvPr id="28" name="Text 25"/>
          <p:cNvSpPr/>
          <p:nvPr/>
        </p:nvSpPr>
        <p:spPr>
          <a:xfrm>
            <a:off x="622800" y="4467600"/>
            <a:ext cx="6318000" cy="25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Emetteur du rapport</a:t>
            </a:r>
            <a:endParaRPr lang="en-US" sz="1050" dirty="0"/>
          </a:p>
        </p:txBody>
      </p:sp>
      <p:sp>
        <p:nvSpPr>
          <p:cNvPr id="29" name="Shape 26"/>
          <p:cNvSpPr/>
          <p:nvPr/>
        </p:nvSpPr>
        <p:spPr>
          <a:xfrm>
            <a:off x="540000" y="4759200"/>
            <a:ext cx="6483600" cy="331200"/>
          </a:xfrm>
          <a:prstGeom prst="rect">
            <a:avLst/>
          </a:prstGeom>
          <a:solidFill>
            <a:srgbClr val="FFFFFF"/>
          </a:solidFill>
          <a:ln w="10160">
            <a:solidFill>
              <a:srgbClr val="242424"/>
            </a:solidFill>
            <a:prstDash val="solid"/>
          </a:ln>
        </p:spPr>
      </p:sp>
      <p:sp>
        <p:nvSpPr>
          <p:cNvPr id="30" name="Text 27"/>
          <p:cNvSpPr/>
          <p:nvPr/>
        </p:nvSpPr>
        <p:spPr>
          <a:xfrm>
            <a:off x="622800" y="4798800"/>
            <a:ext cx="63180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Raison sociale : SAS France Verte</a:t>
            </a:r>
            <a:endParaRPr lang="en-US" sz="1050" dirty="0"/>
          </a:p>
        </p:txBody>
      </p:sp>
      <p:sp>
        <p:nvSpPr>
          <p:cNvPr id="31" name="Shape 28"/>
          <p:cNvSpPr/>
          <p:nvPr/>
        </p:nvSpPr>
        <p:spPr>
          <a:xfrm>
            <a:off x="540000" y="5090400"/>
            <a:ext cx="6483600" cy="331200"/>
          </a:xfrm>
          <a:prstGeom prst="rect">
            <a:avLst/>
          </a:prstGeom>
          <a:solidFill>
            <a:srgbClr val="FFFFFF"/>
          </a:solidFill>
          <a:ln w="10160">
            <a:solidFill>
              <a:srgbClr val="242424"/>
            </a:solidFill>
            <a:prstDash val="solid"/>
          </a:ln>
        </p:spPr>
      </p:sp>
      <p:sp>
        <p:nvSpPr>
          <p:cNvPr id="32" name="Text 29"/>
          <p:cNvSpPr/>
          <p:nvPr/>
        </p:nvSpPr>
        <p:spPr>
          <a:xfrm>
            <a:off x="622800" y="5130000"/>
            <a:ext cx="63180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Adresse : 22 Avenue Barthélémy Thimonnier, 69300 Caluire-et-Cuire</a:t>
            </a:r>
            <a:endParaRPr lang="en-US" sz="1050" dirty="0"/>
          </a:p>
        </p:txBody>
      </p:sp>
      <p:sp>
        <p:nvSpPr>
          <p:cNvPr id="33" name="Shape 30"/>
          <p:cNvSpPr/>
          <p:nvPr/>
        </p:nvSpPr>
        <p:spPr>
          <a:xfrm>
            <a:off x="540000" y="5421600"/>
            <a:ext cx="6483600" cy="331200"/>
          </a:xfrm>
          <a:prstGeom prst="rect">
            <a:avLst/>
          </a:prstGeom>
          <a:solidFill>
            <a:srgbClr val="FFFFFF"/>
          </a:solidFill>
          <a:ln w="10160">
            <a:solidFill>
              <a:srgbClr val="242424"/>
            </a:solidFill>
            <a:prstDash val="solid"/>
          </a:ln>
        </p:spPr>
      </p:sp>
      <p:sp>
        <p:nvSpPr>
          <p:cNvPr id="34" name="Text 31"/>
          <p:cNvSpPr/>
          <p:nvPr/>
        </p:nvSpPr>
        <p:spPr>
          <a:xfrm>
            <a:off x="622800" y="5461200"/>
            <a:ext cx="63180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Contact : contact@groupefranceverte.fr / 09 86 08 79 79</a:t>
            </a:r>
            <a:endParaRPr lang="en-US" sz="1050" dirty="0"/>
          </a:p>
        </p:txBody>
      </p:sp>
      <p:sp>
        <p:nvSpPr>
          <p:cNvPr id="35" name="Shape 32"/>
          <p:cNvSpPr/>
          <p:nvPr/>
        </p:nvSpPr>
        <p:spPr>
          <a:xfrm>
            <a:off x="540000" y="5752800"/>
            <a:ext cx="6483600" cy="331200"/>
          </a:xfrm>
          <a:prstGeom prst="rect">
            <a:avLst/>
          </a:prstGeom>
          <a:solidFill>
            <a:srgbClr val="FFFFFF"/>
          </a:solidFill>
          <a:ln w="10160">
            <a:solidFill>
              <a:srgbClr val="242424"/>
            </a:solidFill>
            <a:prstDash val="solid"/>
          </a:ln>
        </p:spPr>
      </p:sp>
      <p:sp>
        <p:nvSpPr>
          <p:cNvPr id="36" name="Text 33"/>
          <p:cNvSpPr/>
          <p:nvPr/>
        </p:nvSpPr>
        <p:spPr>
          <a:xfrm>
            <a:off x="622800" y="5792400"/>
            <a:ext cx="63180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Site internet : https://www.francevertepro.fr/</a:t>
            </a:r>
            <a:endParaRPr lang="en-US" sz="1050" dirty="0"/>
          </a:p>
        </p:txBody>
      </p:sp>
      <p:sp>
        <p:nvSpPr>
          <p:cNvPr id="37" name="Shape 34"/>
          <p:cNvSpPr/>
          <p:nvPr/>
        </p:nvSpPr>
        <p:spPr>
          <a:xfrm>
            <a:off x="540000" y="6300000"/>
            <a:ext cx="6483600" cy="331200"/>
          </a:xfrm>
          <a:prstGeom prst="rect">
            <a:avLst/>
          </a:prstGeom>
          <a:solidFill>
            <a:srgbClr val="D9D9D9"/>
          </a:solidFill>
          <a:ln w="10160">
            <a:solidFill>
              <a:srgbClr val="242424"/>
            </a:solidFill>
            <a:prstDash val="solid"/>
          </a:ln>
        </p:spPr>
      </p:sp>
      <p:sp>
        <p:nvSpPr>
          <p:cNvPr id="38" name="Text 35"/>
          <p:cNvSpPr/>
          <p:nvPr/>
        </p:nvSpPr>
        <p:spPr>
          <a:xfrm>
            <a:off x="622800" y="6339600"/>
            <a:ext cx="6318000" cy="25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Localisation de la copropriété</a:t>
            </a:r>
            <a:endParaRPr lang="en-US" sz="1050" dirty="0"/>
          </a:p>
        </p:txBody>
      </p:sp>
      <p:sp>
        <p:nvSpPr>
          <p:cNvPr id="39" name="Shape 36"/>
          <p:cNvSpPr/>
          <p:nvPr/>
        </p:nvSpPr>
        <p:spPr>
          <a:xfrm>
            <a:off x="540000" y="6631200"/>
            <a:ext cx="3240000" cy="334800"/>
          </a:xfrm>
          <a:prstGeom prst="rect">
            <a:avLst/>
          </a:prstGeom>
          <a:solidFill>
            <a:srgbClr val="FFFFFF"/>
          </a:solidFill>
          <a:ln w="10160">
            <a:solidFill>
              <a:srgbClr val="242424"/>
            </a:solidFill>
            <a:prstDash val="solid"/>
          </a:ln>
        </p:spPr>
      </p:sp>
      <p:sp>
        <p:nvSpPr>
          <p:cNvPr id="40" name="Text 37"/>
          <p:cNvSpPr/>
          <p:nvPr/>
        </p:nvSpPr>
        <p:spPr>
          <a:xfrm>
            <a:off x="622800" y="6670800"/>
            <a:ext cx="3074400" cy="2556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Adresse : 24 avenue des Érables, 69003 Lyon</a:t>
            </a:r>
            <a:endParaRPr lang="en-US" sz="1050" dirty="0"/>
          </a:p>
        </p:txBody>
      </p:sp>
      <p:sp>
        <p:nvSpPr>
          <p:cNvPr id="41" name="Shape 38"/>
          <p:cNvSpPr/>
          <p:nvPr/>
        </p:nvSpPr>
        <p:spPr>
          <a:xfrm>
            <a:off x="3780000" y="6631200"/>
            <a:ext cx="3243600" cy="334800"/>
          </a:xfrm>
          <a:prstGeom prst="rect">
            <a:avLst/>
          </a:prstGeom>
          <a:solidFill>
            <a:srgbClr val="FFFFFF"/>
          </a:solidFill>
          <a:ln w="10160">
            <a:solidFill>
              <a:srgbClr val="242424"/>
            </a:solidFill>
            <a:prstDash val="solid"/>
          </a:ln>
        </p:spPr>
      </p:sp>
      <p:sp>
        <p:nvSpPr>
          <p:cNvPr id="42" name="Text 39"/>
          <p:cNvSpPr/>
          <p:nvPr/>
        </p:nvSpPr>
        <p:spPr>
          <a:xfrm>
            <a:off x="3862800" y="6670800"/>
            <a:ext cx="3078000" cy="2556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Référence cadastrale : AZ 0421</a:t>
            </a:r>
            <a:endParaRPr lang="en-US" sz="1050" dirty="0"/>
          </a:p>
        </p:txBody>
      </p:sp>
      <p:sp>
        <p:nvSpPr>
          <p:cNvPr id="43" name="Shape 40"/>
          <p:cNvSpPr/>
          <p:nvPr/>
        </p:nvSpPr>
        <p:spPr>
          <a:xfrm>
            <a:off x="540000" y="6966000"/>
            <a:ext cx="6483600" cy="3110400"/>
          </a:xfrm>
          <a:prstGeom prst="rect">
            <a:avLst/>
          </a:prstGeom>
          <a:solidFill>
            <a:srgbClr val="FFFFFF"/>
          </a:solidFill>
          <a:ln w="10160">
            <a:solidFill>
              <a:srgbClr val="242424"/>
            </a:solidFill>
            <a:prstDash val="solid"/>
          </a:ln>
        </p:spPr>
      </p:sp>
      <p:pic>
        <p:nvPicPr>
          <p:cNvPr id="44" name="Image 1" descr="Extrait cadastral fourni pour la copropriété">    </p:cNvPr>
          <p:cNvPicPr>
            <a:picLocks noChangeAspect="1"/>
          </p:cNvPicPr>
          <p:nvPr/>
        </p:nvPicPr>
        <p:blipFill>
          <a:blip r:embed="rId2"/>
          <a:srcRect l="0" r="0" t="0" b="0"/>
          <a:stretch/>
        </p:blipFill>
        <p:spPr>
          <a:xfrm>
            <a:off x="1843200" y="7153200"/>
            <a:ext cx="3960000" cy="2520000"/>
          </a:xfrm>
          <a:prstGeom prst="rect">
            <a:avLst/>
          </a:prstGeom>
        </p:spPr>
      </p:pic>
      <p:sp>
        <p:nvSpPr>
          <p:cNvPr id="45" name="Text 41"/>
          <p:cNvSpPr/>
          <p:nvPr/>
        </p:nvSpPr>
        <p:spPr>
          <a:xfrm>
            <a:off x="2232000" y="10242000"/>
            <a:ext cx="3096000" cy="180000"/>
          </a:xfrm>
          <a:prstGeom prst="rect">
            <a:avLst/>
          </a:prstGeom>
          <a:noFill/>
          <a:ln/>
        </p:spPr>
        <p:txBody>
          <a:bodyPr wrap="square" lIns="0" tIns="0" rIns="0" bIns="0" rtlCol="0" anchor="ctr">
            <a:normAutofit/>
          </a:bodyPr>
          <a:lstStyle/>
          <a:p>
            <a:pPr algn="ctr" indent="0" marL="0">
              <a:buNone/>
            </a:pPr>
            <a:r>
              <a:rPr lang="en-US" sz="950" dirty="0">
                <a:solidFill>
                  <a:srgbClr val="808080"/>
                </a:solidFill>
                <a:latin typeface="Calibri" pitchFamily="34" charset="0"/>
                <a:ea typeface="Calibri" pitchFamily="34" charset="-122"/>
                <a:cs typeface="Calibri" pitchFamily="34" charset="-120"/>
              </a:rPr>
              <a:t>Copropriété Résidence des Tilleuls</a:t>
            </a:r>
            <a:endParaRPr lang="en-US" sz="950" dirty="0"/>
          </a:p>
        </p:txBody>
      </p:sp>
      <p:sp>
        <p:nvSpPr>
          <p:cNvPr id="46" name="Text 42"/>
          <p:cNvSpPr/>
          <p:nvPr/>
        </p:nvSpPr>
        <p:spPr>
          <a:xfrm>
            <a:off x="6174000" y="10242000"/>
            <a:ext cx="252000" cy="180000"/>
          </a:xfrm>
          <a:prstGeom prst="rect">
            <a:avLst/>
          </a:prstGeom>
          <a:noFill/>
          <a:ln/>
        </p:spPr>
        <p:txBody>
          <a:bodyPr wrap="square" lIns="0" tIns="0" rIns="0" bIns="0" rtlCol="0" anchor="ctr">
            <a:normAutofit/>
          </a:bodyPr>
          <a:lstStyle/>
          <a:p>
            <a:pPr algn="r" indent="0" marL="0">
              <a:buNone/>
            </a:pPr>
            <a:r>
              <a:rPr lang="en-US" sz="950" dirty="0">
                <a:solidFill>
                  <a:srgbClr val="808080"/>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algn="ctr" indent="0" marL="0">
              <a:buNone/>
            </a:pPr>
            <a:r>
              <a:rPr lang="en-US" sz="1580" b="1" dirty="0">
                <a:solidFill>
                  <a:srgbClr val="FFFFFF"/>
                </a:solidFill>
                <a:latin typeface="Calibri" pitchFamily="34" charset="0"/>
                <a:ea typeface="Calibri" pitchFamily="34" charset="-122"/>
                <a:cs typeface="Calibri" pitchFamily="34" charset="-120"/>
              </a:rPr>
              <a:t>INFORMATIONS ADMINISTRATIVES</a:t>
            </a:r>
            <a:endParaRPr lang="en-US" sz="1580" dirty="0"/>
          </a:p>
        </p:txBody>
      </p:sp>
      <p:sp>
        <p:nvSpPr>
          <p:cNvPr id="5" name="Text 2"/>
          <p:cNvSpPr/>
          <p:nvPr/>
        </p:nvSpPr>
        <p:spPr>
          <a:xfrm>
            <a:off x="622800" y="1368000"/>
            <a:ext cx="6300000" cy="252000"/>
          </a:xfrm>
          <a:prstGeom prst="rect">
            <a:avLst/>
          </a:prstGeom>
          <a:noFill/>
          <a:ln/>
        </p:spPr>
        <p:txBody>
          <a:bodyPr wrap="square" lIns="0" tIns="0" rIns="0" bIns="0" rtlCol="0" anchor="ctr">
            <a:normAutofit/>
          </a:bodyPr>
          <a:lstStyle/>
          <a:p>
            <a:pPr indent="0" marL="0">
              <a:buNone/>
            </a:pPr>
            <a:r>
              <a:rPr lang="en-US" sz="1200" b="1" dirty="0">
                <a:solidFill>
                  <a:srgbClr val="1C1C1C"/>
                </a:solidFill>
                <a:latin typeface="Calibri" pitchFamily="34" charset="0"/>
                <a:ea typeface="Calibri" pitchFamily="34" charset="-122"/>
                <a:cs typeface="Calibri" pitchFamily="34" charset="-120"/>
              </a:rPr>
              <a:t>Description de la copropriété :</a:t>
            </a:r>
            <a:endParaRPr lang="en-US" sz="1200" dirty="0"/>
          </a:p>
        </p:txBody>
      </p:sp>
      <p:sp>
        <p:nvSpPr>
          <p:cNvPr id="6" name="Shape 3"/>
          <p:cNvSpPr/>
          <p:nvPr/>
        </p:nvSpPr>
        <p:spPr>
          <a:xfrm>
            <a:off x="540000" y="1879200"/>
            <a:ext cx="6483600" cy="324000"/>
          </a:xfrm>
          <a:prstGeom prst="rect">
            <a:avLst/>
          </a:prstGeom>
          <a:solidFill>
            <a:srgbClr val="D9D9D9"/>
          </a:solidFill>
          <a:ln w="10160">
            <a:solidFill>
              <a:srgbClr val="242424"/>
            </a:solidFill>
            <a:prstDash val="solid"/>
          </a:ln>
        </p:spPr>
      </p:sp>
      <p:sp>
        <p:nvSpPr>
          <p:cNvPr id="7" name="Text 4"/>
          <p:cNvSpPr/>
          <p:nvPr/>
        </p:nvSpPr>
        <p:spPr>
          <a:xfrm>
            <a:off x="622800" y="1918800"/>
            <a:ext cx="6318000" cy="244800"/>
          </a:xfrm>
          <a:prstGeom prst="rect">
            <a:avLst/>
          </a:prstGeom>
          <a:noFill/>
          <a:ln/>
        </p:spPr>
        <p:txBody>
          <a:bodyPr wrap="square" lIns="0" tIns="0" rIns="0" bIns="0" rtlCol="0" anchor="ctr">
            <a:normAutofit/>
          </a:bodyPr>
          <a:lstStyle/>
          <a:p>
            <a:pPr algn="ctr" indent="0" marL="0">
              <a:buNone/>
            </a:pPr>
            <a:r>
              <a:rPr lang="en-US" sz="1050" b="1" dirty="0">
                <a:solidFill>
                  <a:srgbClr val="1C1C1C"/>
                </a:solidFill>
                <a:latin typeface="Calibri" pitchFamily="34" charset="0"/>
                <a:ea typeface="Calibri" pitchFamily="34" charset="-122"/>
                <a:cs typeface="Calibri" pitchFamily="34" charset="-120"/>
              </a:rPr>
              <a:t>Résidence Résidence des Tilleuls</a:t>
            </a:r>
            <a:endParaRPr lang="en-US" sz="1050" dirty="0"/>
          </a:p>
        </p:txBody>
      </p:sp>
      <p:sp>
        <p:nvSpPr>
          <p:cNvPr id="8" name="Shape 5"/>
          <p:cNvSpPr/>
          <p:nvPr/>
        </p:nvSpPr>
        <p:spPr>
          <a:xfrm>
            <a:off x="540000" y="2203200"/>
            <a:ext cx="1620000" cy="331200"/>
          </a:xfrm>
          <a:prstGeom prst="rect">
            <a:avLst/>
          </a:prstGeom>
          <a:solidFill>
            <a:srgbClr val="D9D9D9"/>
          </a:solidFill>
          <a:ln w="10160">
            <a:solidFill>
              <a:srgbClr val="242424"/>
            </a:solidFill>
            <a:prstDash val="solid"/>
          </a:ln>
        </p:spPr>
      </p:sp>
      <p:sp>
        <p:nvSpPr>
          <p:cNvPr id="9" name="Text 6"/>
          <p:cNvSpPr/>
          <p:nvPr/>
        </p:nvSpPr>
        <p:spPr>
          <a:xfrm>
            <a:off x="622800" y="2242800"/>
            <a:ext cx="1454400" cy="25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Adresse du site</a:t>
            </a:r>
            <a:endParaRPr lang="en-US" sz="1050" dirty="0"/>
          </a:p>
        </p:txBody>
      </p:sp>
      <p:sp>
        <p:nvSpPr>
          <p:cNvPr id="10" name="Shape 7"/>
          <p:cNvSpPr/>
          <p:nvPr/>
        </p:nvSpPr>
        <p:spPr>
          <a:xfrm>
            <a:off x="2160000" y="2203200"/>
            <a:ext cx="4863600" cy="331200"/>
          </a:xfrm>
          <a:prstGeom prst="rect">
            <a:avLst/>
          </a:prstGeom>
          <a:solidFill>
            <a:srgbClr val="FFFFFF"/>
          </a:solidFill>
          <a:ln w="10160">
            <a:solidFill>
              <a:srgbClr val="242424"/>
            </a:solidFill>
            <a:prstDash val="solid"/>
          </a:ln>
        </p:spPr>
      </p:sp>
      <p:sp>
        <p:nvSpPr>
          <p:cNvPr id="11" name="Text 8"/>
          <p:cNvSpPr/>
          <p:nvPr/>
        </p:nvSpPr>
        <p:spPr>
          <a:xfrm>
            <a:off x="2242800" y="2242800"/>
            <a:ext cx="46980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24 avenue des Érables, 69003 Lyon</a:t>
            </a:r>
            <a:endParaRPr lang="en-US" sz="1050" dirty="0"/>
          </a:p>
        </p:txBody>
      </p:sp>
      <p:sp>
        <p:nvSpPr>
          <p:cNvPr id="12" name="Shape 9"/>
          <p:cNvSpPr/>
          <p:nvPr/>
        </p:nvSpPr>
        <p:spPr>
          <a:xfrm>
            <a:off x="540000" y="2534400"/>
            <a:ext cx="1620000" cy="421200"/>
          </a:xfrm>
          <a:prstGeom prst="rect">
            <a:avLst/>
          </a:prstGeom>
          <a:solidFill>
            <a:srgbClr val="D9D9D9"/>
          </a:solidFill>
          <a:ln w="10160">
            <a:solidFill>
              <a:srgbClr val="242424"/>
            </a:solidFill>
            <a:prstDash val="solid"/>
          </a:ln>
        </p:spPr>
      </p:sp>
      <p:sp>
        <p:nvSpPr>
          <p:cNvPr id="13" name="Text 10"/>
          <p:cNvSpPr/>
          <p:nvPr/>
        </p:nvSpPr>
        <p:spPr>
          <a:xfrm>
            <a:off x="622800" y="2574000"/>
            <a:ext cx="1454400" cy="34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Année de construction</a:t>
            </a:r>
            <a:endParaRPr lang="en-US" sz="1050" dirty="0"/>
          </a:p>
        </p:txBody>
      </p:sp>
      <p:sp>
        <p:nvSpPr>
          <p:cNvPr id="14" name="Shape 11"/>
          <p:cNvSpPr/>
          <p:nvPr/>
        </p:nvSpPr>
        <p:spPr>
          <a:xfrm>
            <a:off x="2160000" y="2534400"/>
            <a:ext cx="1620000" cy="421200"/>
          </a:xfrm>
          <a:prstGeom prst="rect">
            <a:avLst/>
          </a:prstGeom>
          <a:solidFill>
            <a:srgbClr val="FFFFFF"/>
          </a:solidFill>
          <a:ln w="10160">
            <a:solidFill>
              <a:srgbClr val="242424"/>
            </a:solidFill>
            <a:prstDash val="solid"/>
          </a:ln>
        </p:spPr>
      </p:sp>
      <p:sp>
        <p:nvSpPr>
          <p:cNvPr id="15" name="Text 12"/>
          <p:cNvSpPr/>
          <p:nvPr/>
        </p:nvSpPr>
        <p:spPr>
          <a:xfrm>
            <a:off x="2242800" y="2574000"/>
            <a:ext cx="1454400" cy="342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Entre 1980 et 1990</a:t>
            </a:r>
            <a:endParaRPr lang="en-US" sz="1050" dirty="0"/>
          </a:p>
        </p:txBody>
      </p:sp>
      <p:sp>
        <p:nvSpPr>
          <p:cNvPr id="16" name="Shape 13"/>
          <p:cNvSpPr/>
          <p:nvPr/>
        </p:nvSpPr>
        <p:spPr>
          <a:xfrm>
            <a:off x="3780000" y="2534400"/>
            <a:ext cx="1566000" cy="421200"/>
          </a:xfrm>
          <a:prstGeom prst="rect">
            <a:avLst/>
          </a:prstGeom>
          <a:solidFill>
            <a:srgbClr val="D9D9D9"/>
          </a:solidFill>
          <a:ln w="10160">
            <a:solidFill>
              <a:srgbClr val="242424"/>
            </a:solidFill>
            <a:prstDash val="solid"/>
          </a:ln>
        </p:spPr>
      </p:sp>
      <p:sp>
        <p:nvSpPr>
          <p:cNvPr id="17" name="Text 14"/>
          <p:cNvSpPr/>
          <p:nvPr/>
        </p:nvSpPr>
        <p:spPr>
          <a:xfrm>
            <a:off x="3862800" y="2574000"/>
            <a:ext cx="1400400" cy="34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Date du règlement de copropriété</a:t>
            </a:r>
            <a:endParaRPr lang="en-US" sz="1050" dirty="0"/>
          </a:p>
        </p:txBody>
      </p:sp>
      <p:sp>
        <p:nvSpPr>
          <p:cNvPr id="18" name="Shape 15"/>
          <p:cNvSpPr/>
          <p:nvPr/>
        </p:nvSpPr>
        <p:spPr>
          <a:xfrm>
            <a:off x="5346000" y="2534400"/>
            <a:ext cx="1677600" cy="421200"/>
          </a:xfrm>
          <a:prstGeom prst="rect">
            <a:avLst/>
          </a:prstGeom>
          <a:solidFill>
            <a:srgbClr val="FFFFFF"/>
          </a:solidFill>
          <a:ln w="10160">
            <a:solidFill>
              <a:srgbClr val="242424"/>
            </a:solidFill>
            <a:prstDash val="solid"/>
          </a:ln>
        </p:spPr>
      </p:sp>
      <p:sp>
        <p:nvSpPr>
          <p:cNvPr id="19" name="Text 16"/>
          <p:cNvSpPr/>
          <p:nvPr/>
        </p:nvSpPr>
        <p:spPr>
          <a:xfrm>
            <a:off x="5428800" y="2574000"/>
            <a:ext cx="1512000" cy="342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02/03/1986</a:t>
            </a:r>
            <a:endParaRPr lang="en-US" sz="1050" dirty="0"/>
          </a:p>
        </p:txBody>
      </p:sp>
      <p:sp>
        <p:nvSpPr>
          <p:cNvPr id="20" name="Shape 17"/>
          <p:cNvSpPr/>
          <p:nvPr/>
        </p:nvSpPr>
        <p:spPr>
          <a:xfrm>
            <a:off x="540000" y="2955600"/>
            <a:ext cx="1620000" cy="421200"/>
          </a:xfrm>
          <a:prstGeom prst="rect">
            <a:avLst/>
          </a:prstGeom>
          <a:solidFill>
            <a:srgbClr val="D9D9D9"/>
          </a:solidFill>
          <a:ln w="10160">
            <a:solidFill>
              <a:srgbClr val="242424"/>
            </a:solidFill>
            <a:prstDash val="solid"/>
          </a:ln>
        </p:spPr>
      </p:sp>
      <p:sp>
        <p:nvSpPr>
          <p:cNvPr id="21" name="Text 18"/>
          <p:cNvSpPr/>
          <p:nvPr/>
        </p:nvSpPr>
        <p:spPr>
          <a:xfrm>
            <a:off x="622800" y="2995200"/>
            <a:ext cx="1454400" cy="34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Date d’immatriculation</a:t>
            </a:r>
            <a:endParaRPr lang="en-US" sz="1050" dirty="0"/>
          </a:p>
        </p:txBody>
      </p:sp>
      <p:sp>
        <p:nvSpPr>
          <p:cNvPr id="22" name="Shape 19"/>
          <p:cNvSpPr/>
          <p:nvPr/>
        </p:nvSpPr>
        <p:spPr>
          <a:xfrm>
            <a:off x="2160000" y="2955600"/>
            <a:ext cx="1620000" cy="421200"/>
          </a:xfrm>
          <a:prstGeom prst="rect">
            <a:avLst/>
          </a:prstGeom>
          <a:solidFill>
            <a:srgbClr val="FFFFFF"/>
          </a:solidFill>
          <a:ln w="10160">
            <a:solidFill>
              <a:srgbClr val="242424"/>
            </a:solidFill>
            <a:prstDash val="solid"/>
          </a:ln>
        </p:spPr>
      </p:sp>
      <p:sp>
        <p:nvSpPr>
          <p:cNvPr id="23" name="Text 20"/>
          <p:cNvSpPr/>
          <p:nvPr/>
        </p:nvSpPr>
        <p:spPr>
          <a:xfrm>
            <a:off x="2242800" y="2995200"/>
            <a:ext cx="1454400" cy="342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17/06/2018</a:t>
            </a:r>
            <a:endParaRPr lang="en-US" sz="1050" dirty="0"/>
          </a:p>
        </p:txBody>
      </p:sp>
      <p:sp>
        <p:nvSpPr>
          <p:cNvPr id="24" name="Shape 21"/>
          <p:cNvSpPr/>
          <p:nvPr/>
        </p:nvSpPr>
        <p:spPr>
          <a:xfrm>
            <a:off x="3780000" y="2955600"/>
            <a:ext cx="1566000" cy="421200"/>
          </a:xfrm>
          <a:prstGeom prst="rect">
            <a:avLst/>
          </a:prstGeom>
          <a:solidFill>
            <a:srgbClr val="D9D9D9"/>
          </a:solidFill>
          <a:ln w="10160">
            <a:solidFill>
              <a:srgbClr val="242424"/>
            </a:solidFill>
            <a:prstDash val="solid"/>
          </a:ln>
        </p:spPr>
      </p:sp>
      <p:sp>
        <p:nvSpPr>
          <p:cNvPr id="25" name="Text 22"/>
          <p:cNvSpPr/>
          <p:nvPr/>
        </p:nvSpPr>
        <p:spPr>
          <a:xfrm>
            <a:off x="3862800" y="2995200"/>
            <a:ext cx="1400400" cy="34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Numéro d’immatriculation</a:t>
            </a:r>
            <a:endParaRPr lang="en-US" sz="1050" dirty="0"/>
          </a:p>
        </p:txBody>
      </p:sp>
      <p:sp>
        <p:nvSpPr>
          <p:cNvPr id="26" name="Shape 23"/>
          <p:cNvSpPr/>
          <p:nvPr/>
        </p:nvSpPr>
        <p:spPr>
          <a:xfrm>
            <a:off x="5346000" y="2955600"/>
            <a:ext cx="1677600" cy="421200"/>
          </a:xfrm>
          <a:prstGeom prst="rect">
            <a:avLst/>
          </a:prstGeom>
          <a:solidFill>
            <a:srgbClr val="FFFFFF"/>
          </a:solidFill>
          <a:ln w="10160">
            <a:solidFill>
              <a:srgbClr val="242424"/>
            </a:solidFill>
            <a:prstDash val="solid"/>
          </a:ln>
        </p:spPr>
      </p:sp>
      <p:sp>
        <p:nvSpPr>
          <p:cNvPr id="27" name="Text 24"/>
          <p:cNvSpPr/>
          <p:nvPr/>
        </p:nvSpPr>
        <p:spPr>
          <a:xfrm>
            <a:off x="5428800" y="2995200"/>
            <a:ext cx="1512000" cy="342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BB9876543</a:t>
            </a:r>
            <a:endParaRPr lang="en-US" sz="1050" dirty="0"/>
          </a:p>
        </p:txBody>
      </p:sp>
      <p:sp>
        <p:nvSpPr>
          <p:cNvPr id="28" name="Shape 25"/>
          <p:cNvSpPr/>
          <p:nvPr/>
        </p:nvSpPr>
        <p:spPr>
          <a:xfrm>
            <a:off x="540000" y="3708000"/>
            <a:ext cx="1620000" cy="403200"/>
          </a:xfrm>
          <a:prstGeom prst="rect">
            <a:avLst/>
          </a:prstGeom>
          <a:solidFill>
            <a:srgbClr val="D9D9D9"/>
          </a:solidFill>
          <a:ln w="10160">
            <a:solidFill>
              <a:srgbClr val="242424"/>
            </a:solidFill>
            <a:prstDash val="solid"/>
          </a:ln>
        </p:spPr>
      </p:sp>
      <p:sp>
        <p:nvSpPr>
          <p:cNvPr id="29" name="Text 26"/>
          <p:cNvSpPr/>
          <p:nvPr/>
        </p:nvSpPr>
        <p:spPr>
          <a:xfrm>
            <a:off x="622800" y="3747600"/>
            <a:ext cx="1454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Nombre de bâtiments</a:t>
            </a:r>
            <a:endParaRPr lang="en-US" sz="1000" dirty="0"/>
          </a:p>
        </p:txBody>
      </p:sp>
      <p:sp>
        <p:nvSpPr>
          <p:cNvPr id="30" name="Shape 27"/>
          <p:cNvSpPr/>
          <p:nvPr/>
        </p:nvSpPr>
        <p:spPr>
          <a:xfrm>
            <a:off x="2160000" y="3708000"/>
            <a:ext cx="1620000" cy="403200"/>
          </a:xfrm>
          <a:prstGeom prst="rect">
            <a:avLst/>
          </a:prstGeom>
          <a:solidFill>
            <a:srgbClr val="FFFFFF"/>
          </a:solidFill>
          <a:ln w="10160">
            <a:solidFill>
              <a:srgbClr val="242424"/>
            </a:solidFill>
            <a:prstDash val="solid"/>
          </a:ln>
        </p:spPr>
      </p:sp>
      <p:sp>
        <p:nvSpPr>
          <p:cNvPr id="31" name="Text 28"/>
          <p:cNvSpPr/>
          <p:nvPr/>
        </p:nvSpPr>
        <p:spPr>
          <a:xfrm>
            <a:off x="2242800" y="3747600"/>
            <a:ext cx="14544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2</a:t>
            </a:r>
            <a:endParaRPr lang="en-US" sz="1050" dirty="0"/>
          </a:p>
        </p:txBody>
      </p:sp>
      <p:sp>
        <p:nvSpPr>
          <p:cNvPr id="32" name="Shape 29"/>
          <p:cNvSpPr/>
          <p:nvPr/>
        </p:nvSpPr>
        <p:spPr>
          <a:xfrm>
            <a:off x="3780000" y="3708000"/>
            <a:ext cx="1566000" cy="403200"/>
          </a:xfrm>
          <a:prstGeom prst="rect">
            <a:avLst/>
          </a:prstGeom>
          <a:solidFill>
            <a:srgbClr val="D9D9D9"/>
          </a:solidFill>
          <a:ln w="10160">
            <a:solidFill>
              <a:srgbClr val="242424"/>
            </a:solidFill>
            <a:prstDash val="solid"/>
          </a:ln>
        </p:spPr>
      </p:sp>
      <p:sp>
        <p:nvSpPr>
          <p:cNvPr id="33" name="Text 30"/>
          <p:cNvSpPr/>
          <p:nvPr/>
        </p:nvSpPr>
        <p:spPr>
          <a:xfrm>
            <a:off x="3862800" y="3747600"/>
            <a:ext cx="1400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Nombre d’entrées</a:t>
            </a:r>
            <a:endParaRPr lang="en-US" sz="1000" dirty="0"/>
          </a:p>
        </p:txBody>
      </p:sp>
      <p:sp>
        <p:nvSpPr>
          <p:cNvPr id="34" name="Shape 31"/>
          <p:cNvSpPr/>
          <p:nvPr/>
        </p:nvSpPr>
        <p:spPr>
          <a:xfrm>
            <a:off x="5346000" y="3708000"/>
            <a:ext cx="1677600" cy="403200"/>
          </a:xfrm>
          <a:prstGeom prst="rect">
            <a:avLst/>
          </a:prstGeom>
          <a:solidFill>
            <a:srgbClr val="FFFFFF"/>
          </a:solidFill>
          <a:ln w="10160">
            <a:solidFill>
              <a:srgbClr val="242424"/>
            </a:solidFill>
            <a:prstDash val="solid"/>
          </a:ln>
        </p:spPr>
      </p:sp>
      <p:sp>
        <p:nvSpPr>
          <p:cNvPr id="35" name="Text 32"/>
          <p:cNvSpPr/>
          <p:nvPr/>
        </p:nvSpPr>
        <p:spPr>
          <a:xfrm>
            <a:off x="5428800" y="3747600"/>
            <a:ext cx="15120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3</a:t>
            </a:r>
            <a:endParaRPr lang="en-US" sz="1050" dirty="0"/>
          </a:p>
        </p:txBody>
      </p:sp>
      <p:sp>
        <p:nvSpPr>
          <p:cNvPr id="36" name="Shape 33"/>
          <p:cNvSpPr/>
          <p:nvPr/>
        </p:nvSpPr>
        <p:spPr>
          <a:xfrm>
            <a:off x="540000" y="4111200"/>
            <a:ext cx="1620000" cy="403200"/>
          </a:xfrm>
          <a:prstGeom prst="rect">
            <a:avLst/>
          </a:prstGeom>
          <a:solidFill>
            <a:srgbClr val="D9D9D9"/>
          </a:solidFill>
          <a:ln w="10160">
            <a:solidFill>
              <a:srgbClr val="242424"/>
            </a:solidFill>
            <a:prstDash val="solid"/>
          </a:ln>
        </p:spPr>
      </p:sp>
      <p:sp>
        <p:nvSpPr>
          <p:cNvPr id="37" name="Text 34"/>
          <p:cNvSpPr/>
          <p:nvPr/>
        </p:nvSpPr>
        <p:spPr>
          <a:xfrm>
            <a:off x="622800" y="4150800"/>
            <a:ext cx="1454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Nombre total de lots</a:t>
            </a:r>
            <a:endParaRPr lang="en-US" sz="1000" dirty="0"/>
          </a:p>
        </p:txBody>
      </p:sp>
      <p:sp>
        <p:nvSpPr>
          <p:cNvPr id="38" name="Shape 35"/>
          <p:cNvSpPr/>
          <p:nvPr/>
        </p:nvSpPr>
        <p:spPr>
          <a:xfrm>
            <a:off x="2160000" y="4111200"/>
            <a:ext cx="1620000" cy="403200"/>
          </a:xfrm>
          <a:prstGeom prst="rect">
            <a:avLst/>
          </a:prstGeom>
          <a:solidFill>
            <a:srgbClr val="FFFFFF"/>
          </a:solidFill>
          <a:ln w="10160">
            <a:solidFill>
              <a:srgbClr val="242424"/>
            </a:solidFill>
            <a:prstDash val="solid"/>
          </a:ln>
        </p:spPr>
      </p:sp>
      <p:sp>
        <p:nvSpPr>
          <p:cNvPr id="39" name="Text 36"/>
          <p:cNvSpPr/>
          <p:nvPr/>
        </p:nvSpPr>
        <p:spPr>
          <a:xfrm>
            <a:off x="2242800" y="4150800"/>
            <a:ext cx="14544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48</a:t>
            </a:r>
            <a:endParaRPr lang="en-US" sz="1050" dirty="0"/>
          </a:p>
        </p:txBody>
      </p:sp>
      <p:sp>
        <p:nvSpPr>
          <p:cNvPr id="40" name="Shape 37"/>
          <p:cNvSpPr/>
          <p:nvPr/>
        </p:nvSpPr>
        <p:spPr>
          <a:xfrm>
            <a:off x="3780000" y="4111200"/>
            <a:ext cx="1566000" cy="403200"/>
          </a:xfrm>
          <a:prstGeom prst="rect">
            <a:avLst/>
          </a:prstGeom>
          <a:solidFill>
            <a:srgbClr val="D9D9D9"/>
          </a:solidFill>
          <a:ln w="10160">
            <a:solidFill>
              <a:srgbClr val="242424"/>
            </a:solidFill>
            <a:prstDash val="solid"/>
          </a:ln>
        </p:spPr>
      </p:sp>
      <p:sp>
        <p:nvSpPr>
          <p:cNvPr id="41" name="Text 38"/>
          <p:cNvSpPr/>
          <p:nvPr/>
        </p:nvSpPr>
        <p:spPr>
          <a:xfrm>
            <a:off x="3862800" y="4150800"/>
            <a:ext cx="1400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Nombre de niveaux</a:t>
            </a:r>
            <a:endParaRPr lang="en-US" sz="1000" dirty="0"/>
          </a:p>
        </p:txBody>
      </p:sp>
      <p:sp>
        <p:nvSpPr>
          <p:cNvPr id="42" name="Shape 39"/>
          <p:cNvSpPr/>
          <p:nvPr/>
        </p:nvSpPr>
        <p:spPr>
          <a:xfrm>
            <a:off x="5346000" y="4111200"/>
            <a:ext cx="1677600" cy="403200"/>
          </a:xfrm>
          <a:prstGeom prst="rect">
            <a:avLst/>
          </a:prstGeom>
          <a:solidFill>
            <a:srgbClr val="FFFFFF"/>
          </a:solidFill>
          <a:ln w="10160">
            <a:solidFill>
              <a:srgbClr val="242424"/>
            </a:solidFill>
            <a:prstDash val="solid"/>
          </a:ln>
        </p:spPr>
      </p:sp>
      <p:sp>
        <p:nvSpPr>
          <p:cNvPr id="43" name="Text 40"/>
          <p:cNvSpPr/>
          <p:nvPr/>
        </p:nvSpPr>
        <p:spPr>
          <a:xfrm>
            <a:off x="5428800" y="4150800"/>
            <a:ext cx="15120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5</a:t>
            </a:r>
            <a:endParaRPr lang="en-US" sz="1050" dirty="0"/>
          </a:p>
        </p:txBody>
      </p:sp>
      <p:sp>
        <p:nvSpPr>
          <p:cNvPr id="44" name="Shape 41"/>
          <p:cNvSpPr/>
          <p:nvPr/>
        </p:nvSpPr>
        <p:spPr>
          <a:xfrm>
            <a:off x="540000" y="4514400"/>
            <a:ext cx="1620000" cy="403200"/>
          </a:xfrm>
          <a:prstGeom prst="rect">
            <a:avLst/>
          </a:prstGeom>
          <a:solidFill>
            <a:srgbClr val="D9D9D9"/>
          </a:solidFill>
          <a:ln w="10160">
            <a:solidFill>
              <a:srgbClr val="242424"/>
            </a:solidFill>
            <a:prstDash val="solid"/>
          </a:ln>
        </p:spPr>
      </p:sp>
      <p:sp>
        <p:nvSpPr>
          <p:cNvPr id="45" name="Text 42"/>
          <p:cNvSpPr/>
          <p:nvPr/>
        </p:nvSpPr>
        <p:spPr>
          <a:xfrm>
            <a:off x="622800" y="4554000"/>
            <a:ext cx="1454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Nombre total de lots principaux</a:t>
            </a:r>
            <a:endParaRPr lang="en-US" sz="1000" dirty="0"/>
          </a:p>
        </p:txBody>
      </p:sp>
      <p:sp>
        <p:nvSpPr>
          <p:cNvPr id="46" name="Shape 43"/>
          <p:cNvSpPr/>
          <p:nvPr/>
        </p:nvSpPr>
        <p:spPr>
          <a:xfrm>
            <a:off x="2160000" y="4514400"/>
            <a:ext cx="1620000" cy="403200"/>
          </a:xfrm>
          <a:prstGeom prst="rect">
            <a:avLst/>
          </a:prstGeom>
          <a:solidFill>
            <a:srgbClr val="FFFFFF"/>
          </a:solidFill>
          <a:ln w="10160">
            <a:solidFill>
              <a:srgbClr val="242424"/>
            </a:solidFill>
            <a:prstDash val="solid"/>
          </a:ln>
        </p:spPr>
      </p:sp>
      <p:sp>
        <p:nvSpPr>
          <p:cNvPr id="47" name="Text 44"/>
          <p:cNvSpPr/>
          <p:nvPr/>
        </p:nvSpPr>
        <p:spPr>
          <a:xfrm>
            <a:off x="2242800" y="4554000"/>
            <a:ext cx="14544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32</a:t>
            </a:r>
            <a:endParaRPr lang="en-US" sz="1050" dirty="0"/>
          </a:p>
        </p:txBody>
      </p:sp>
      <p:sp>
        <p:nvSpPr>
          <p:cNvPr id="48" name="Shape 45"/>
          <p:cNvSpPr/>
          <p:nvPr/>
        </p:nvSpPr>
        <p:spPr>
          <a:xfrm>
            <a:off x="3780000" y="4514400"/>
            <a:ext cx="1566000" cy="403200"/>
          </a:xfrm>
          <a:prstGeom prst="rect">
            <a:avLst/>
          </a:prstGeom>
          <a:solidFill>
            <a:srgbClr val="D9D9D9"/>
          </a:solidFill>
          <a:ln w="10160">
            <a:solidFill>
              <a:srgbClr val="242424"/>
            </a:solidFill>
            <a:prstDash val="solid"/>
          </a:ln>
        </p:spPr>
      </p:sp>
      <p:sp>
        <p:nvSpPr>
          <p:cNvPr id="49" name="Text 46"/>
          <p:cNvSpPr/>
          <p:nvPr/>
        </p:nvSpPr>
        <p:spPr>
          <a:xfrm>
            <a:off x="3862800" y="4554000"/>
            <a:ext cx="1400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Type de chauffage</a:t>
            </a:r>
            <a:endParaRPr lang="en-US" sz="1000" dirty="0"/>
          </a:p>
        </p:txBody>
      </p:sp>
      <p:sp>
        <p:nvSpPr>
          <p:cNvPr id="50" name="Shape 47"/>
          <p:cNvSpPr/>
          <p:nvPr/>
        </p:nvSpPr>
        <p:spPr>
          <a:xfrm>
            <a:off x="5346000" y="4514400"/>
            <a:ext cx="1677600" cy="403200"/>
          </a:xfrm>
          <a:prstGeom prst="rect">
            <a:avLst/>
          </a:prstGeom>
          <a:solidFill>
            <a:srgbClr val="FFFFFF"/>
          </a:solidFill>
          <a:ln w="10160">
            <a:solidFill>
              <a:srgbClr val="242424"/>
            </a:solidFill>
            <a:prstDash val="solid"/>
          </a:ln>
        </p:spPr>
      </p:sp>
      <p:sp>
        <p:nvSpPr>
          <p:cNvPr id="51" name="Text 48"/>
          <p:cNvSpPr/>
          <p:nvPr/>
        </p:nvSpPr>
        <p:spPr>
          <a:xfrm>
            <a:off x="5428800" y="4554000"/>
            <a:ext cx="15120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Collectif gaz</a:t>
            </a:r>
            <a:endParaRPr lang="en-US" sz="1050" dirty="0"/>
          </a:p>
        </p:txBody>
      </p:sp>
      <p:sp>
        <p:nvSpPr>
          <p:cNvPr id="52" name="Shape 49"/>
          <p:cNvSpPr/>
          <p:nvPr/>
        </p:nvSpPr>
        <p:spPr>
          <a:xfrm>
            <a:off x="540000" y="4917600"/>
            <a:ext cx="1620000" cy="403200"/>
          </a:xfrm>
          <a:prstGeom prst="rect">
            <a:avLst/>
          </a:prstGeom>
          <a:solidFill>
            <a:srgbClr val="D9D9D9"/>
          </a:solidFill>
          <a:ln w="10160">
            <a:solidFill>
              <a:srgbClr val="242424"/>
            </a:solidFill>
            <a:prstDash val="solid"/>
          </a:ln>
        </p:spPr>
      </p:sp>
      <p:sp>
        <p:nvSpPr>
          <p:cNvPr id="53" name="Text 50"/>
          <p:cNvSpPr/>
          <p:nvPr/>
        </p:nvSpPr>
        <p:spPr>
          <a:xfrm>
            <a:off x="622800" y="4957200"/>
            <a:ext cx="1454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Nombre total de lots à usage d’habitation</a:t>
            </a:r>
            <a:endParaRPr lang="en-US" sz="1000" dirty="0"/>
          </a:p>
        </p:txBody>
      </p:sp>
      <p:sp>
        <p:nvSpPr>
          <p:cNvPr id="54" name="Shape 51"/>
          <p:cNvSpPr/>
          <p:nvPr/>
        </p:nvSpPr>
        <p:spPr>
          <a:xfrm>
            <a:off x="2160000" y="4917600"/>
            <a:ext cx="1620000" cy="403200"/>
          </a:xfrm>
          <a:prstGeom prst="rect">
            <a:avLst/>
          </a:prstGeom>
          <a:solidFill>
            <a:srgbClr val="FFFFFF"/>
          </a:solidFill>
          <a:ln w="10160">
            <a:solidFill>
              <a:srgbClr val="242424"/>
            </a:solidFill>
            <a:prstDash val="solid"/>
          </a:ln>
        </p:spPr>
      </p:sp>
      <p:sp>
        <p:nvSpPr>
          <p:cNvPr id="55" name="Text 52"/>
          <p:cNvSpPr/>
          <p:nvPr/>
        </p:nvSpPr>
        <p:spPr>
          <a:xfrm>
            <a:off x="2242800" y="4957200"/>
            <a:ext cx="14544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30</a:t>
            </a:r>
            <a:endParaRPr lang="en-US" sz="1050" dirty="0"/>
          </a:p>
        </p:txBody>
      </p:sp>
      <p:sp>
        <p:nvSpPr>
          <p:cNvPr id="56" name="Shape 53"/>
          <p:cNvSpPr/>
          <p:nvPr/>
        </p:nvSpPr>
        <p:spPr>
          <a:xfrm>
            <a:off x="3780000" y="4917600"/>
            <a:ext cx="1566000" cy="403200"/>
          </a:xfrm>
          <a:prstGeom prst="rect">
            <a:avLst/>
          </a:prstGeom>
          <a:solidFill>
            <a:srgbClr val="D9D9D9"/>
          </a:solidFill>
          <a:ln w="10160">
            <a:solidFill>
              <a:srgbClr val="242424"/>
            </a:solidFill>
            <a:prstDash val="solid"/>
          </a:ln>
        </p:spPr>
      </p:sp>
      <p:sp>
        <p:nvSpPr>
          <p:cNvPr id="57" name="Text 54"/>
          <p:cNvSpPr/>
          <p:nvPr/>
        </p:nvSpPr>
        <p:spPr>
          <a:xfrm>
            <a:off x="3862800" y="4957200"/>
            <a:ext cx="1400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Nombre d’ascenseurs</a:t>
            </a:r>
            <a:endParaRPr lang="en-US" sz="1000" dirty="0"/>
          </a:p>
        </p:txBody>
      </p:sp>
      <p:sp>
        <p:nvSpPr>
          <p:cNvPr id="58" name="Shape 55"/>
          <p:cNvSpPr/>
          <p:nvPr/>
        </p:nvSpPr>
        <p:spPr>
          <a:xfrm>
            <a:off x="5346000" y="4917600"/>
            <a:ext cx="1677600" cy="403200"/>
          </a:xfrm>
          <a:prstGeom prst="rect">
            <a:avLst/>
          </a:prstGeom>
          <a:solidFill>
            <a:srgbClr val="FFFFFF"/>
          </a:solidFill>
          <a:ln w="10160">
            <a:solidFill>
              <a:srgbClr val="242424"/>
            </a:solidFill>
            <a:prstDash val="solid"/>
          </a:ln>
        </p:spPr>
      </p:sp>
      <p:sp>
        <p:nvSpPr>
          <p:cNvPr id="59" name="Text 56"/>
          <p:cNvSpPr/>
          <p:nvPr/>
        </p:nvSpPr>
        <p:spPr>
          <a:xfrm>
            <a:off x="5428800" y="4957200"/>
            <a:ext cx="15120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2</a:t>
            </a:r>
            <a:endParaRPr lang="en-US" sz="1050" dirty="0"/>
          </a:p>
        </p:txBody>
      </p:sp>
      <p:sp>
        <p:nvSpPr>
          <p:cNvPr id="60" name="Shape 57"/>
          <p:cNvSpPr/>
          <p:nvPr/>
        </p:nvSpPr>
        <p:spPr>
          <a:xfrm>
            <a:off x="540000" y="5320800"/>
            <a:ext cx="1620000" cy="403200"/>
          </a:xfrm>
          <a:prstGeom prst="rect">
            <a:avLst/>
          </a:prstGeom>
          <a:solidFill>
            <a:srgbClr val="D9D9D9"/>
          </a:solidFill>
          <a:ln w="10160">
            <a:solidFill>
              <a:srgbClr val="242424"/>
            </a:solidFill>
            <a:prstDash val="solid"/>
          </a:ln>
        </p:spPr>
      </p:sp>
      <p:sp>
        <p:nvSpPr>
          <p:cNvPr id="61" name="Text 58"/>
          <p:cNvSpPr/>
          <p:nvPr/>
        </p:nvSpPr>
        <p:spPr>
          <a:xfrm>
            <a:off x="622800" y="5360400"/>
            <a:ext cx="1454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SHAB approximative</a:t>
            </a:r>
            <a:endParaRPr lang="en-US" sz="1000" dirty="0"/>
          </a:p>
        </p:txBody>
      </p:sp>
      <p:sp>
        <p:nvSpPr>
          <p:cNvPr id="62" name="Shape 59"/>
          <p:cNvSpPr/>
          <p:nvPr/>
        </p:nvSpPr>
        <p:spPr>
          <a:xfrm>
            <a:off x="2160000" y="5320800"/>
            <a:ext cx="1620000" cy="403200"/>
          </a:xfrm>
          <a:prstGeom prst="rect">
            <a:avLst/>
          </a:prstGeom>
          <a:solidFill>
            <a:srgbClr val="FFFFFF"/>
          </a:solidFill>
          <a:ln w="10160">
            <a:solidFill>
              <a:srgbClr val="242424"/>
            </a:solidFill>
            <a:prstDash val="solid"/>
          </a:ln>
        </p:spPr>
      </p:sp>
      <p:sp>
        <p:nvSpPr>
          <p:cNvPr id="63" name="Text 60"/>
          <p:cNvSpPr/>
          <p:nvPr/>
        </p:nvSpPr>
        <p:spPr>
          <a:xfrm>
            <a:off x="2242800" y="5360400"/>
            <a:ext cx="14544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2 140,5 m²</a:t>
            </a:r>
            <a:endParaRPr lang="en-US" sz="1050" dirty="0"/>
          </a:p>
        </p:txBody>
      </p:sp>
      <p:sp>
        <p:nvSpPr>
          <p:cNvPr id="64" name="Shape 61"/>
          <p:cNvSpPr/>
          <p:nvPr/>
        </p:nvSpPr>
        <p:spPr>
          <a:xfrm>
            <a:off x="3780000" y="5320800"/>
            <a:ext cx="1566000" cy="403200"/>
          </a:xfrm>
          <a:prstGeom prst="rect">
            <a:avLst/>
          </a:prstGeom>
          <a:solidFill>
            <a:srgbClr val="D9D9D9"/>
          </a:solidFill>
          <a:ln w="10160">
            <a:solidFill>
              <a:srgbClr val="242424"/>
            </a:solidFill>
            <a:prstDash val="solid"/>
          </a:ln>
        </p:spPr>
      </p:sp>
      <p:sp>
        <p:nvSpPr>
          <p:cNvPr id="65" name="Text 62"/>
          <p:cNvSpPr/>
          <p:nvPr/>
        </p:nvSpPr>
        <p:spPr>
          <a:xfrm>
            <a:off x="3862800" y="5360400"/>
            <a:ext cx="1400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Altitude</a:t>
            </a:r>
            <a:endParaRPr lang="en-US" sz="1000" dirty="0"/>
          </a:p>
        </p:txBody>
      </p:sp>
      <p:sp>
        <p:nvSpPr>
          <p:cNvPr id="66" name="Shape 63"/>
          <p:cNvSpPr/>
          <p:nvPr/>
        </p:nvSpPr>
        <p:spPr>
          <a:xfrm>
            <a:off x="5346000" y="5320800"/>
            <a:ext cx="1677600" cy="403200"/>
          </a:xfrm>
          <a:prstGeom prst="rect">
            <a:avLst/>
          </a:prstGeom>
          <a:solidFill>
            <a:srgbClr val="FFFFFF"/>
          </a:solidFill>
          <a:ln w="10160">
            <a:solidFill>
              <a:srgbClr val="242424"/>
            </a:solidFill>
            <a:prstDash val="solid"/>
          </a:ln>
        </p:spPr>
      </p:sp>
      <p:sp>
        <p:nvSpPr>
          <p:cNvPr id="67" name="Text 64"/>
          <p:cNvSpPr/>
          <p:nvPr/>
        </p:nvSpPr>
        <p:spPr>
          <a:xfrm>
            <a:off x="5428800" y="5360400"/>
            <a:ext cx="15120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183 m</a:t>
            </a:r>
            <a:endParaRPr lang="en-US" sz="1050" dirty="0"/>
          </a:p>
        </p:txBody>
      </p:sp>
      <p:pic>
        <p:nvPicPr>
          <p:cNvPr id="68" name="Image 1" descr="Vue aérienne rapprochée de la copropriété">    </p:cNvPr>
          <p:cNvPicPr>
            <a:picLocks noChangeAspect="1"/>
          </p:cNvPicPr>
          <p:nvPr/>
        </p:nvPicPr>
        <p:blipFill>
          <a:blip r:embed="rId2"/>
          <a:srcRect l="0" r="0" t="0" b="0"/>
          <a:stretch/>
        </p:blipFill>
        <p:spPr>
          <a:xfrm>
            <a:off x="540000" y="6138000"/>
            <a:ext cx="6480000" cy="3600000"/>
          </a:xfrm>
          <a:prstGeom prst="rect">
            <a:avLst/>
          </a:prstGeom>
        </p:spPr>
      </p:pic>
      <p:sp>
        <p:nvSpPr>
          <p:cNvPr id="69" name="Text 65"/>
          <p:cNvSpPr/>
          <p:nvPr/>
        </p:nvSpPr>
        <p:spPr>
          <a:xfrm>
            <a:off x="2232000" y="10242000"/>
            <a:ext cx="3096000" cy="180000"/>
          </a:xfrm>
          <a:prstGeom prst="rect">
            <a:avLst/>
          </a:prstGeom>
          <a:noFill/>
          <a:ln/>
        </p:spPr>
        <p:txBody>
          <a:bodyPr wrap="square" lIns="0" tIns="0" rIns="0" bIns="0" rtlCol="0" anchor="ctr">
            <a:normAutofit/>
          </a:bodyPr>
          <a:lstStyle/>
          <a:p>
            <a:pPr algn="ctr" indent="0" marL="0">
              <a:buNone/>
            </a:pPr>
            <a:r>
              <a:rPr lang="en-US" sz="950" dirty="0">
                <a:solidFill>
                  <a:srgbClr val="808080"/>
                </a:solidFill>
                <a:latin typeface="Calibri" pitchFamily="34" charset="0"/>
                <a:ea typeface="Calibri" pitchFamily="34" charset="-122"/>
                <a:cs typeface="Calibri" pitchFamily="34" charset="-120"/>
              </a:rPr>
              <a:t>Copropriété Résidence des Tilleuls</a:t>
            </a:r>
            <a:endParaRPr lang="en-US" sz="950" dirty="0"/>
          </a:p>
        </p:txBody>
      </p:sp>
      <p:sp>
        <p:nvSpPr>
          <p:cNvPr id="70" name="Text 66"/>
          <p:cNvSpPr/>
          <p:nvPr/>
        </p:nvSpPr>
        <p:spPr>
          <a:xfrm>
            <a:off x="6174000" y="10242000"/>
            <a:ext cx="252000" cy="180000"/>
          </a:xfrm>
          <a:prstGeom prst="rect">
            <a:avLst/>
          </a:prstGeom>
          <a:noFill/>
          <a:ln/>
        </p:spPr>
        <p:txBody>
          <a:bodyPr wrap="square" lIns="0" tIns="0" rIns="0" bIns="0" rtlCol="0" anchor="ctr">
            <a:normAutofit/>
          </a:bodyPr>
          <a:lstStyle/>
          <a:p>
            <a:pPr algn="r" indent="0" marL="0">
              <a:buNone/>
            </a:pPr>
            <a:r>
              <a:rPr lang="en-US" sz="950" dirty="0">
                <a:solidFill>
                  <a:srgbClr val="808080"/>
                </a:solidFill>
                <a:latin typeface="Calibri" pitchFamily="34" charset="0"/>
                <a:ea typeface="Calibri" pitchFamily="34" charset="-122"/>
                <a:cs typeface="Calibri"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algn="ctr" indent="0" marL="0">
              <a:buNone/>
            </a:pPr>
            <a:r>
              <a:rPr lang="en-US" sz="1580" b="1" dirty="0">
                <a:solidFill>
                  <a:srgbClr val="FFFFFF"/>
                </a:solidFill>
                <a:latin typeface="Calibri" pitchFamily="34" charset="0"/>
                <a:ea typeface="Calibri" pitchFamily="34" charset="-122"/>
                <a:cs typeface="Calibri" pitchFamily="34" charset="-120"/>
              </a:rPr>
              <a:t>INFORMATIONS ADMINISTRATIVES</a:t>
            </a:r>
            <a:endParaRPr lang="en-US" sz="1580" dirty="0"/>
          </a:p>
        </p:txBody>
      </p:sp>
      <p:sp>
        <p:nvSpPr>
          <p:cNvPr id="5" name="Text 2"/>
          <p:cNvSpPr/>
          <p:nvPr/>
        </p:nvSpPr>
        <p:spPr>
          <a:xfrm>
            <a:off x="630000" y="1278000"/>
            <a:ext cx="6300000" cy="216000"/>
          </a:xfrm>
          <a:prstGeom prst="rect">
            <a:avLst/>
          </a:prstGeom>
          <a:noFill/>
          <a:ln/>
        </p:spPr>
        <p:txBody>
          <a:bodyPr wrap="square" lIns="0" tIns="0" rIns="0" bIns="0" rtlCol="0" anchor="ctr">
            <a:normAutofit/>
          </a:bodyPr>
          <a:lstStyle/>
          <a:p>
            <a:pPr indent="0" marL="0">
              <a:buNone/>
            </a:pPr>
            <a:r>
              <a:rPr lang="en-US" sz="1230" b="1" dirty="0">
                <a:solidFill>
                  <a:srgbClr val="1C1C1C"/>
                </a:solidFill>
                <a:latin typeface="Calibri" pitchFamily="34" charset="0"/>
                <a:ea typeface="Calibri" pitchFamily="34" charset="-122"/>
                <a:cs typeface="Calibri" pitchFamily="34" charset="-120"/>
              </a:rPr>
              <a:t>Statut patrimonial du bâtiment :</a:t>
            </a:r>
            <a:endParaRPr lang="en-US" sz="1230" dirty="0"/>
          </a:p>
        </p:txBody>
      </p:sp>
      <p:sp>
        <p:nvSpPr>
          <p:cNvPr id="6" name="Text 3"/>
          <p:cNvSpPr/>
          <p:nvPr/>
        </p:nvSpPr>
        <p:spPr>
          <a:xfrm>
            <a:off x="630000" y="1620000"/>
            <a:ext cx="6300000" cy="972000"/>
          </a:xfrm>
          <a:prstGeom prst="rect">
            <a:avLst/>
          </a:prstGeom>
          <a:noFill/>
          <a:ln/>
        </p:spPr>
        <p:txBody>
          <a:bodyPr wrap="square" lIns="0" tIns="0" rIns="0" bIns="0" rtlCol="0" anchor="t">
            <a:normAutofit/>
          </a:bodyPr>
          <a:lstStyle/>
          <a:p>
            <a:pPr indent="0" marL="0">
              <a:buNone/>
            </a:pPr>
            <a:r>
              <a:rPr lang="en-US" sz="1020" dirty="0">
                <a:solidFill>
                  <a:srgbClr val="1C1C1C"/>
                </a:solidFill>
                <a:latin typeface="Calibri" pitchFamily="34" charset="0"/>
                <a:ea typeface="Calibri" pitchFamily="34" charset="-122"/>
                <a:cs typeface="Calibri" pitchFamily="34" charset="-120"/>
              </a:rPr>
              <a:t>Le statut patrimonial d'un bâtiment peut avoir une incidence sur les travaux de rénovation énergétique, notamment lorsqu'ils modifient l'aspect extérieur de l'immeuble (isolation thermique par l'extérieur, remplacement des menuiseries, réfection de toiture, installation de panneaux solaires, etc.). Dans un secteur protégé, certains travaux peuvent nécessiter des autorisations spécifiques ou l'avis de l'Architecte des Bâtiments de France (ABF).</a:t>
            </a:r>
            <a:endParaRPr lang="en-US" sz="1020" dirty="0"/>
          </a:p>
        </p:txBody>
      </p:sp>
      <p:sp>
        <p:nvSpPr>
          <p:cNvPr id="7" name="Shape 4"/>
          <p:cNvSpPr/>
          <p:nvPr/>
        </p:nvSpPr>
        <p:spPr>
          <a:xfrm>
            <a:off x="540000" y="2908800"/>
            <a:ext cx="1134000" cy="432000"/>
          </a:xfrm>
          <a:prstGeom prst="rect">
            <a:avLst/>
          </a:prstGeom>
          <a:solidFill>
            <a:srgbClr val="FFFFFF"/>
          </a:solidFill>
          <a:ln w="10160">
            <a:solidFill>
              <a:srgbClr val="242424"/>
            </a:solidFill>
            <a:prstDash val="solid"/>
          </a:ln>
        </p:spPr>
      </p:sp>
      <p:sp>
        <p:nvSpPr>
          <p:cNvPr id="8" name="Text 5"/>
          <p:cNvSpPr/>
          <p:nvPr/>
        </p:nvSpPr>
        <p:spPr>
          <a:xfrm>
            <a:off x="622800" y="2948400"/>
            <a:ext cx="968400" cy="352800"/>
          </a:xfrm>
          <a:prstGeom prst="rect">
            <a:avLst/>
          </a:prstGeom>
          <a:noFill/>
          <a:ln/>
        </p:spPr>
        <p:txBody>
          <a:bodyPr wrap="square" lIns="0" tIns="0" rIns="0" bIns="0" rtlCol="0" anchor="ctr">
            <a:normAutofit/>
          </a:bodyPr>
          <a:lstStyle/>
          <a:p>
            <a:pPr algn="ctr" indent="0" marL="0">
              <a:buNone/>
            </a:pPr>
            <a:r>
              <a:rPr lang="en-US" sz="1050" b="1" dirty="0">
                <a:solidFill>
                  <a:srgbClr val="1C1C1C"/>
                </a:solidFill>
                <a:latin typeface="Calibri" pitchFamily="34" charset="0"/>
                <a:ea typeface="Calibri" pitchFamily="34" charset="-122"/>
                <a:cs typeface="Calibri" pitchFamily="34" charset="-120"/>
              </a:rPr>
              <a:t>Statut patrimonial</a:t>
            </a:r>
            <a:endParaRPr lang="en-US" sz="1050" dirty="0"/>
          </a:p>
        </p:txBody>
      </p:sp>
      <p:sp>
        <p:nvSpPr>
          <p:cNvPr id="9" name="Shape 6"/>
          <p:cNvSpPr/>
          <p:nvPr/>
        </p:nvSpPr>
        <p:spPr>
          <a:xfrm>
            <a:off x="1674000" y="2908800"/>
            <a:ext cx="2178000" cy="432000"/>
          </a:xfrm>
          <a:prstGeom prst="rect">
            <a:avLst/>
          </a:prstGeom>
          <a:solidFill>
            <a:srgbClr val="FFFFFF"/>
          </a:solidFill>
          <a:ln w="10160">
            <a:solidFill>
              <a:srgbClr val="242424"/>
            </a:solidFill>
            <a:prstDash val="solid"/>
          </a:ln>
        </p:spPr>
      </p:sp>
      <p:sp>
        <p:nvSpPr>
          <p:cNvPr id="10" name="Text 7"/>
          <p:cNvSpPr/>
          <p:nvPr/>
        </p:nvSpPr>
        <p:spPr>
          <a:xfrm>
            <a:off x="1756800" y="2948400"/>
            <a:ext cx="2012400" cy="352800"/>
          </a:xfrm>
          <a:prstGeom prst="rect">
            <a:avLst/>
          </a:prstGeom>
          <a:noFill/>
          <a:ln/>
        </p:spPr>
        <p:txBody>
          <a:bodyPr wrap="square" lIns="0" tIns="0" rIns="0" bIns="0" rtlCol="0" anchor="ctr">
            <a:normAutofit/>
          </a:bodyPr>
          <a:lstStyle/>
          <a:p>
            <a:pPr algn="ctr" indent="0" marL="0">
              <a:buNone/>
            </a:pPr>
            <a:r>
              <a:rPr lang="en-US" sz="1050" b="1" dirty="0">
                <a:solidFill>
                  <a:srgbClr val="1C1C1C"/>
                </a:solidFill>
                <a:latin typeface="Calibri" pitchFamily="34" charset="0"/>
                <a:ea typeface="Calibri" pitchFamily="34" charset="-122"/>
                <a:cs typeface="Calibri" pitchFamily="34" charset="-120"/>
              </a:rPr>
              <a:t>Description</a:t>
            </a:r>
            <a:endParaRPr lang="en-US" sz="1050" dirty="0"/>
          </a:p>
        </p:txBody>
      </p:sp>
      <p:sp>
        <p:nvSpPr>
          <p:cNvPr id="11" name="Shape 8"/>
          <p:cNvSpPr/>
          <p:nvPr/>
        </p:nvSpPr>
        <p:spPr>
          <a:xfrm>
            <a:off x="3852000" y="2908800"/>
            <a:ext cx="3171600" cy="432000"/>
          </a:xfrm>
          <a:prstGeom prst="rect">
            <a:avLst/>
          </a:prstGeom>
          <a:solidFill>
            <a:srgbClr val="FFFFFF"/>
          </a:solidFill>
          <a:ln w="10160">
            <a:solidFill>
              <a:srgbClr val="242424"/>
            </a:solidFill>
            <a:prstDash val="solid"/>
          </a:ln>
        </p:spPr>
      </p:sp>
      <p:sp>
        <p:nvSpPr>
          <p:cNvPr id="12" name="Text 9"/>
          <p:cNvSpPr/>
          <p:nvPr/>
        </p:nvSpPr>
        <p:spPr>
          <a:xfrm>
            <a:off x="3934800" y="2948400"/>
            <a:ext cx="3006000" cy="352800"/>
          </a:xfrm>
          <a:prstGeom prst="rect">
            <a:avLst/>
          </a:prstGeom>
          <a:noFill/>
          <a:ln/>
        </p:spPr>
        <p:txBody>
          <a:bodyPr wrap="square" lIns="0" tIns="0" rIns="0" bIns="0" rtlCol="0" anchor="ctr">
            <a:normAutofit/>
          </a:bodyPr>
          <a:lstStyle/>
          <a:p>
            <a:pPr algn="ctr" indent="0" marL="0">
              <a:buNone/>
            </a:pPr>
            <a:r>
              <a:rPr lang="en-US" sz="1050" b="1" dirty="0">
                <a:solidFill>
                  <a:srgbClr val="1C1C1C"/>
                </a:solidFill>
                <a:latin typeface="Calibri" pitchFamily="34" charset="0"/>
                <a:ea typeface="Calibri" pitchFamily="34" charset="-122"/>
                <a:cs typeface="Calibri" pitchFamily="34" charset="-120"/>
              </a:rPr>
              <a:t>Conséquences sur les travaux</a:t>
            </a:r>
            <a:endParaRPr lang="en-US" sz="1050" dirty="0"/>
          </a:p>
        </p:txBody>
      </p:sp>
      <p:sp>
        <p:nvSpPr>
          <p:cNvPr id="13" name="Shape 10"/>
          <p:cNvSpPr/>
          <p:nvPr/>
        </p:nvSpPr>
        <p:spPr>
          <a:xfrm>
            <a:off x="540000" y="3340800"/>
            <a:ext cx="1134000" cy="601200"/>
          </a:xfrm>
          <a:prstGeom prst="rect">
            <a:avLst/>
          </a:prstGeom>
          <a:solidFill>
            <a:srgbClr val="FFFFFF"/>
          </a:solidFill>
          <a:ln w="10160">
            <a:solidFill>
              <a:srgbClr val="242424"/>
            </a:solidFill>
            <a:prstDash val="solid"/>
          </a:ln>
        </p:spPr>
      </p:sp>
      <p:sp>
        <p:nvSpPr>
          <p:cNvPr id="14" name="Text 11"/>
          <p:cNvSpPr/>
          <p:nvPr/>
        </p:nvSpPr>
        <p:spPr>
          <a:xfrm>
            <a:off x="622800" y="3380400"/>
            <a:ext cx="968400" cy="522000"/>
          </a:xfrm>
          <a:prstGeom prst="rect">
            <a:avLst/>
          </a:prstGeom>
          <a:noFill/>
          <a:ln/>
        </p:spPr>
        <p:txBody>
          <a:bodyPr wrap="square" lIns="0" tIns="0" rIns="0" bIns="0" rtlCol="0" anchor="ctr">
            <a:normAutofit/>
          </a:bodyPr>
          <a:lstStyle/>
          <a:p>
            <a:pPr algn="ctr" indent="0" marL="0">
              <a:buNone/>
            </a:pPr>
            <a:r>
              <a:rPr lang="en-US" sz="950" b="1" dirty="0">
                <a:solidFill>
                  <a:srgbClr val="1C1C1C"/>
                </a:solidFill>
                <a:latin typeface="Calibri" pitchFamily="34" charset="0"/>
                <a:ea typeface="Calibri" pitchFamily="34" charset="-122"/>
                <a:cs typeface="Calibri" pitchFamily="34" charset="-120"/>
              </a:rPr>
              <a:t>Aucun périmètre de protection</a:t>
            </a:r>
            <a:endParaRPr lang="en-US" sz="950" dirty="0"/>
          </a:p>
        </p:txBody>
      </p:sp>
      <p:sp>
        <p:nvSpPr>
          <p:cNvPr id="15" name="Shape 12"/>
          <p:cNvSpPr/>
          <p:nvPr/>
        </p:nvSpPr>
        <p:spPr>
          <a:xfrm>
            <a:off x="1674000" y="3340800"/>
            <a:ext cx="2178000" cy="601200"/>
          </a:xfrm>
          <a:prstGeom prst="rect">
            <a:avLst/>
          </a:prstGeom>
          <a:solidFill>
            <a:srgbClr val="FFFFFF"/>
          </a:solidFill>
          <a:ln w="10160">
            <a:solidFill>
              <a:srgbClr val="242424"/>
            </a:solidFill>
            <a:prstDash val="solid"/>
          </a:ln>
        </p:spPr>
      </p:sp>
      <p:sp>
        <p:nvSpPr>
          <p:cNvPr id="16" name="Text 13"/>
          <p:cNvSpPr/>
          <p:nvPr/>
        </p:nvSpPr>
        <p:spPr>
          <a:xfrm>
            <a:off x="1756800" y="3380400"/>
            <a:ext cx="2012400" cy="522000"/>
          </a:xfrm>
          <a:prstGeom prst="rect">
            <a:avLst/>
          </a:prstGeom>
          <a:noFill/>
          <a:ln/>
        </p:spPr>
        <p:txBody>
          <a:bodyPr wrap="square" lIns="0" tIns="0" rIns="0" bIns="0" rtlCol="0" anchor="ctr">
            <a:normAutofit/>
          </a:bodyPr>
          <a:lstStyle/>
          <a:p>
            <a:pPr algn="l" indent="0" marL="0">
              <a:buNone/>
            </a:pPr>
            <a:r>
              <a:rPr lang="en-US" sz="930" dirty="0">
                <a:solidFill>
                  <a:srgbClr val="1C1C1C"/>
                </a:solidFill>
                <a:latin typeface="Calibri" pitchFamily="34" charset="0"/>
                <a:ea typeface="Calibri" pitchFamily="34" charset="-122"/>
                <a:cs typeface="Calibri" pitchFamily="34" charset="-120"/>
              </a:rPr>
              <a:t>L'immeuble n'est soumis à aucune protection patrimoniale particulière.</a:t>
            </a:r>
            <a:endParaRPr lang="en-US" sz="930" dirty="0"/>
          </a:p>
        </p:txBody>
      </p:sp>
      <p:sp>
        <p:nvSpPr>
          <p:cNvPr id="17" name="Shape 14"/>
          <p:cNvSpPr/>
          <p:nvPr/>
        </p:nvSpPr>
        <p:spPr>
          <a:xfrm>
            <a:off x="3852000" y="3340800"/>
            <a:ext cx="3171600" cy="601200"/>
          </a:xfrm>
          <a:prstGeom prst="rect">
            <a:avLst/>
          </a:prstGeom>
          <a:solidFill>
            <a:srgbClr val="FFFFFF"/>
          </a:solidFill>
          <a:ln w="10160">
            <a:solidFill>
              <a:srgbClr val="242424"/>
            </a:solidFill>
            <a:prstDash val="solid"/>
          </a:ln>
        </p:spPr>
      </p:sp>
      <p:sp>
        <p:nvSpPr>
          <p:cNvPr id="18" name="Text 15"/>
          <p:cNvSpPr/>
          <p:nvPr/>
        </p:nvSpPr>
        <p:spPr>
          <a:xfrm>
            <a:off x="3934800" y="3380400"/>
            <a:ext cx="3006000" cy="522000"/>
          </a:xfrm>
          <a:prstGeom prst="rect">
            <a:avLst/>
          </a:prstGeom>
          <a:noFill/>
          <a:ln/>
        </p:spPr>
        <p:txBody>
          <a:bodyPr wrap="square" lIns="0" tIns="0" rIns="0" bIns="0" rtlCol="0" anchor="ctr">
            <a:normAutofit/>
          </a:bodyPr>
          <a:lstStyle/>
          <a:p>
            <a:pPr algn="l" indent="0" marL="0">
              <a:buNone/>
            </a:pPr>
            <a:r>
              <a:rPr lang="en-US" sz="930" dirty="0">
                <a:solidFill>
                  <a:srgbClr val="1C1C1C"/>
                </a:solidFill>
                <a:latin typeface="Calibri" pitchFamily="34" charset="0"/>
                <a:ea typeface="Calibri" pitchFamily="34" charset="-122"/>
                <a:cs typeface="Calibri" pitchFamily="34" charset="-120"/>
              </a:rPr>
              <a:t>Les travaux peuvent être réalisés dans le respect des règles d'urbanisme en vigueur, sans contrainte patrimoniale spécifique.</a:t>
            </a:r>
            <a:endParaRPr lang="en-US" sz="930" dirty="0"/>
          </a:p>
        </p:txBody>
      </p:sp>
      <p:sp>
        <p:nvSpPr>
          <p:cNvPr id="19" name="Shape 16"/>
          <p:cNvSpPr/>
          <p:nvPr/>
        </p:nvSpPr>
        <p:spPr>
          <a:xfrm>
            <a:off x="540000" y="3942000"/>
            <a:ext cx="1134000" cy="932400"/>
          </a:xfrm>
          <a:prstGeom prst="rect">
            <a:avLst/>
          </a:prstGeom>
          <a:solidFill>
            <a:srgbClr val="FFFFFF"/>
          </a:solidFill>
          <a:ln w="10160">
            <a:solidFill>
              <a:srgbClr val="242424"/>
            </a:solidFill>
            <a:prstDash val="solid"/>
          </a:ln>
        </p:spPr>
      </p:sp>
      <p:sp>
        <p:nvSpPr>
          <p:cNvPr id="20" name="Text 17"/>
          <p:cNvSpPr/>
          <p:nvPr/>
        </p:nvSpPr>
        <p:spPr>
          <a:xfrm>
            <a:off x="622800" y="3981600"/>
            <a:ext cx="968400" cy="853200"/>
          </a:xfrm>
          <a:prstGeom prst="rect">
            <a:avLst/>
          </a:prstGeom>
          <a:noFill/>
          <a:ln/>
        </p:spPr>
        <p:txBody>
          <a:bodyPr wrap="square" lIns="0" tIns="0" rIns="0" bIns="0" rtlCol="0" anchor="ctr">
            <a:normAutofit/>
          </a:bodyPr>
          <a:lstStyle/>
          <a:p>
            <a:pPr algn="ctr" indent="0" marL="0">
              <a:buNone/>
            </a:pPr>
            <a:r>
              <a:rPr lang="en-US" sz="950" b="1" dirty="0">
                <a:solidFill>
                  <a:srgbClr val="1C1C1C"/>
                </a:solidFill>
                <a:latin typeface="Calibri" pitchFamily="34" charset="0"/>
                <a:ea typeface="Calibri" pitchFamily="34" charset="-122"/>
                <a:cs typeface="Calibri" pitchFamily="34" charset="-120"/>
              </a:rPr>
              <a:t>Site patrimonial remarquable</a:t>
            </a:r>
            <a:endParaRPr lang="en-US" sz="950" dirty="0"/>
          </a:p>
        </p:txBody>
      </p:sp>
      <p:sp>
        <p:nvSpPr>
          <p:cNvPr id="21" name="Shape 18"/>
          <p:cNvSpPr/>
          <p:nvPr/>
        </p:nvSpPr>
        <p:spPr>
          <a:xfrm>
            <a:off x="1674000" y="3942000"/>
            <a:ext cx="2178000" cy="932400"/>
          </a:xfrm>
          <a:prstGeom prst="rect">
            <a:avLst/>
          </a:prstGeom>
          <a:solidFill>
            <a:srgbClr val="FFFFFF"/>
          </a:solidFill>
          <a:ln w="10160">
            <a:solidFill>
              <a:srgbClr val="242424"/>
            </a:solidFill>
            <a:prstDash val="solid"/>
          </a:ln>
        </p:spPr>
      </p:sp>
      <p:sp>
        <p:nvSpPr>
          <p:cNvPr id="22" name="Text 19"/>
          <p:cNvSpPr/>
          <p:nvPr/>
        </p:nvSpPr>
        <p:spPr>
          <a:xfrm>
            <a:off x="1756800" y="3981600"/>
            <a:ext cx="2012400" cy="853200"/>
          </a:xfrm>
          <a:prstGeom prst="rect">
            <a:avLst/>
          </a:prstGeom>
          <a:noFill/>
          <a:ln/>
        </p:spPr>
        <p:txBody>
          <a:bodyPr wrap="square" lIns="0" tIns="0" rIns="0" bIns="0" rtlCol="0" anchor="ctr">
            <a:normAutofit/>
          </a:bodyPr>
          <a:lstStyle/>
          <a:p>
            <a:pPr algn="l" indent="0" marL="0">
              <a:buNone/>
            </a:pPr>
            <a:r>
              <a:rPr lang="en-US" sz="930" dirty="0">
                <a:solidFill>
                  <a:srgbClr val="1C1C1C"/>
                </a:solidFill>
                <a:latin typeface="Calibri" pitchFamily="34" charset="0"/>
                <a:ea typeface="Calibri" pitchFamily="34" charset="-122"/>
                <a:cs typeface="Calibri" pitchFamily="34" charset="-120"/>
              </a:rPr>
              <a:t>Secteur présentant un intérêt historique, architectural ou paysager bénéficiant d'une protection particulière.</a:t>
            </a:r>
            <a:endParaRPr lang="en-US" sz="930" dirty="0"/>
          </a:p>
        </p:txBody>
      </p:sp>
      <p:sp>
        <p:nvSpPr>
          <p:cNvPr id="23" name="Shape 20"/>
          <p:cNvSpPr/>
          <p:nvPr/>
        </p:nvSpPr>
        <p:spPr>
          <a:xfrm>
            <a:off x="3852000" y="3942000"/>
            <a:ext cx="3171600" cy="932400"/>
          </a:xfrm>
          <a:prstGeom prst="rect">
            <a:avLst/>
          </a:prstGeom>
          <a:solidFill>
            <a:srgbClr val="FFFFFF"/>
          </a:solidFill>
          <a:ln w="10160">
            <a:solidFill>
              <a:srgbClr val="242424"/>
            </a:solidFill>
            <a:prstDash val="solid"/>
          </a:ln>
        </p:spPr>
      </p:sp>
      <p:sp>
        <p:nvSpPr>
          <p:cNvPr id="24" name="Text 21"/>
          <p:cNvSpPr/>
          <p:nvPr/>
        </p:nvSpPr>
        <p:spPr>
          <a:xfrm>
            <a:off x="3934800" y="3981600"/>
            <a:ext cx="3006000" cy="853200"/>
          </a:xfrm>
          <a:prstGeom prst="rect">
            <a:avLst/>
          </a:prstGeom>
          <a:noFill/>
          <a:ln/>
        </p:spPr>
        <p:txBody>
          <a:bodyPr wrap="square" lIns="0" tIns="0" rIns="0" bIns="0" rtlCol="0" anchor="ctr">
            <a:normAutofit/>
          </a:bodyPr>
          <a:lstStyle/>
          <a:p>
            <a:pPr algn="l" indent="0" marL="0">
              <a:buNone/>
            </a:pPr>
            <a:r>
              <a:rPr lang="en-US" sz="930" dirty="0">
                <a:solidFill>
                  <a:srgbClr val="1C1C1C"/>
                </a:solidFill>
                <a:latin typeface="Calibri" pitchFamily="34" charset="0"/>
                <a:ea typeface="Calibri" pitchFamily="34" charset="-122"/>
                <a:cs typeface="Calibri" pitchFamily="34" charset="-120"/>
              </a:rPr>
              <a:t>Les travaux modifiant l'aspect extérieur du bâtiment (façades, toiture, menuiseries, isolation par l'extérieur, etc.) sont soumis à des prescriptions architecturales et peuvent nécessiter l'accord de l'Architecte des Bâtiments de France (ABF).</a:t>
            </a:r>
            <a:endParaRPr lang="en-US" sz="930" dirty="0"/>
          </a:p>
        </p:txBody>
      </p:sp>
      <p:sp>
        <p:nvSpPr>
          <p:cNvPr id="25" name="Shape 22"/>
          <p:cNvSpPr/>
          <p:nvPr/>
        </p:nvSpPr>
        <p:spPr>
          <a:xfrm>
            <a:off x="540000" y="4874400"/>
            <a:ext cx="1134000" cy="1083600"/>
          </a:xfrm>
          <a:prstGeom prst="rect">
            <a:avLst/>
          </a:prstGeom>
          <a:solidFill>
            <a:srgbClr val="FFFFFF"/>
          </a:solidFill>
          <a:ln w="10160">
            <a:solidFill>
              <a:srgbClr val="242424"/>
            </a:solidFill>
            <a:prstDash val="solid"/>
          </a:ln>
        </p:spPr>
      </p:sp>
      <p:sp>
        <p:nvSpPr>
          <p:cNvPr id="26" name="Text 23"/>
          <p:cNvSpPr/>
          <p:nvPr/>
        </p:nvSpPr>
        <p:spPr>
          <a:xfrm>
            <a:off x="622800" y="4914000"/>
            <a:ext cx="968400" cy="1004400"/>
          </a:xfrm>
          <a:prstGeom prst="rect">
            <a:avLst/>
          </a:prstGeom>
          <a:noFill/>
          <a:ln/>
        </p:spPr>
        <p:txBody>
          <a:bodyPr wrap="square" lIns="0" tIns="0" rIns="0" bIns="0" rtlCol="0" anchor="ctr">
            <a:normAutofit/>
          </a:bodyPr>
          <a:lstStyle/>
          <a:p>
            <a:pPr algn="ctr" indent="0" marL="0">
              <a:buNone/>
            </a:pPr>
            <a:r>
              <a:rPr lang="en-US" sz="950" b="1" dirty="0">
                <a:solidFill>
                  <a:srgbClr val="1C1C1C"/>
                </a:solidFill>
                <a:latin typeface="Calibri" pitchFamily="34" charset="0"/>
                <a:ea typeface="Calibri" pitchFamily="34" charset="-122"/>
                <a:cs typeface="Calibri" pitchFamily="34" charset="-120"/>
              </a:rPr>
              <a:t>Abords d'un Monument Historique</a:t>
            </a:r>
            <a:endParaRPr lang="en-US" sz="950" dirty="0"/>
          </a:p>
        </p:txBody>
      </p:sp>
      <p:sp>
        <p:nvSpPr>
          <p:cNvPr id="27" name="Shape 24"/>
          <p:cNvSpPr/>
          <p:nvPr/>
        </p:nvSpPr>
        <p:spPr>
          <a:xfrm>
            <a:off x="1674000" y="4874400"/>
            <a:ext cx="2178000" cy="1083600"/>
          </a:xfrm>
          <a:prstGeom prst="rect">
            <a:avLst/>
          </a:prstGeom>
          <a:solidFill>
            <a:srgbClr val="FFFFFF"/>
          </a:solidFill>
          <a:ln w="10160">
            <a:solidFill>
              <a:srgbClr val="242424"/>
            </a:solidFill>
            <a:prstDash val="solid"/>
          </a:ln>
        </p:spPr>
      </p:sp>
      <p:sp>
        <p:nvSpPr>
          <p:cNvPr id="28" name="Text 25"/>
          <p:cNvSpPr/>
          <p:nvPr/>
        </p:nvSpPr>
        <p:spPr>
          <a:xfrm>
            <a:off x="1756800" y="4914000"/>
            <a:ext cx="2012400" cy="1004400"/>
          </a:xfrm>
          <a:prstGeom prst="rect">
            <a:avLst/>
          </a:prstGeom>
          <a:noFill/>
          <a:ln/>
        </p:spPr>
        <p:txBody>
          <a:bodyPr wrap="square" lIns="0" tIns="0" rIns="0" bIns="0" rtlCol="0" anchor="ctr">
            <a:normAutofit/>
          </a:bodyPr>
          <a:lstStyle/>
          <a:p>
            <a:pPr algn="l" indent="0" marL="0">
              <a:buNone/>
            </a:pPr>
            <a:r>
              <a:rPr lang="en-US" sz="930" dirty="0">
                <a:solidFill>
                  <a:srgbClr val="1C1C1C"/>
                </a:solidFill>
                <a:latin typeface="Calibri" pitchFamily="34" charset="0"/>
                <a:ea typeface="Calibri" pitchFamily="34" charset="-122"/>
                <a:cs typeface="Calibri" pitchFamily="34" charset="-120"/>
              </a:rPr>
              <a:t>L'immeuble est situé dans un périmètre de 500 mètres autour d'un monument historique classé ou inscrit et est susceptible d'être visible depuis celui-ci ou visible en même temps que celui-ci.</a:t>
            </a:r>
            <a:endParaRPr lang="en-US" sz="930" dirty="0"/>
          </a:p>
        </p:txBody>
      </p:sp>
      <p:sp>
        <p:nvSpPr>
          <p:cNvPr id="29" name="Shape 26"/>
          <p:cNvSpPr/>
          <p:nvPr/>
        </p:nvSpPr>
        <p:spPr>
          <a:xfrm>
            <a:off x="3852000" y="4874400"/>
            <a:ext cx="3171600" cy="1083600"/>
          </a:xfrm>
          <a:prstGeom prst="rect">
            <a:avLst/>
          </a:prstGeom>
          <a:solidFill>
            <a:srgbClr val="FFFFFF"/>
          </a:solidFill>
          <a:ln w="10160">
            <a:solidFill>
              <a:srgbClr val="242424"/>
            </a:solidFill>
            <a:prstDash val="solid"/>
          </a:ln>
        </p:spPr>
      </p:sp>
      <p:sp>
        <p:nvSpPr>
          <p:cNvPr id="30" name="Text 27"/>
          <p:cNvSpPr/>
          <p:nvPr/>
        </p:nvSpPr>
        <p:spPr>
          <a:xfrm>
            <a:off x="3934800" y="4914000"/>
            <a:ext cx="3006000" cy="1004400"/>
          </a:xfrm>
          <a:prstGeom prst="rect">
            <a:avLst/>
          </a:prstGeom>
          <a:noFill/>
          <a:ln/>
        </p:spPr>
        <p:txBody>
          <a:bodyPr wrap="square" lIns="0" tIns="0" rIns="0" bIns="0" rtlCol="0" anchor="ctr">
            <a:normAutofit/>
          </a:bodyPr>
          <a:lstStyle/>
          <a:p>
            <a:pPr algn="l" indent="0" marL="0">
              <a:buNone/>
            </a:pPr>
            <a:r>
              <a:rPr lang="en-US" sz="930" dirty="0">
                <a:solidFill>
                  <a:srgbClr val="1C1C1C"/>
                </a:solidFill>
                <a:latin typeface="Calibri" pitchFamily="34" charset="0"/>
                <a:ea typeface="Calibri" pitchFamily="34" charset="-122"/>
                <a:cs typeface="Calibri" pitchFamily="34" charset="-120"/>
              </a:rPr>
              <a:t>Les travaux visibles depuis l'espace public sont susceptibles d'être soumis à l'avis conforme de l'Architecte des Bâtiments de France (ABF). Des prescriptions concernant les matériaux, les couleurs ou l'aspect des ouvrages peuvent être imposées.</a:t>
            </a:r>
            <a:endParaRPr lang="en-US" sz="930" dirty="0"/>
          </a:p>
        </p:txBody>
      </p:sp>
      <p:sp>
        <p:nvSpPr>
          <p:cNvPr id="31" name="Shape 28"/>
          <p:cNvSpPr/>
          <p:nvPr/>
        </p:nvSpPr>
        <p:spPr>
          <a:xfrm>
            <a:off x="540000" y="6296400"/>
            <a:ext cx="6483600" cy="3780000"/>
          </a:xfrm>
          <a:prstGeom prst="rect">
            <a:avLst/>
          </a:prstGeom>
          <a:solidFill>
            <a:srgbClr val="FFFFFF"/>
          </a:solidFill>
          <a:ln w="10160">
            <a:solidFill>
              <a:srgbClr val="242424"/>
            </a:solidFill>
            <a:prstDash val="solid"/>
          </a:ln>
        </p:spPr>
      </p:sp>
      <p:sp>
        <p:nvSpPr>
          <p:cNvPr id="32" name="Text 29"/>
          <p:cNvSpPr/>
          <p:nvPr/>
        </p:nvSpPr>
        <p:spPr>
          <a:xfrm>
            <a:off x="630000" y="6426000"/>
            <a:ext cx="2340000" cy="216000"/>
          </a:xfrm>
          <a:prstGeom prst="rect">
            <a:avLst/>
          </a:prstGeom>
          <a:noFill/>
          <a:ln/>
        </p:spPr>
        <p:txBody>
          <a:bodyPr wrap="square" lIns="0" tIns="0" rIns="0" bIns="0" rtlCol="0" anchor="ctr">
            <a:normAutofit/>
          </a:bodyPr>
          <a:lstStyle/>
          <a:p>
            <a:pPr indent="0" marL="0">
              <a:buNone/>
            </a:pPr>
            <a:r>
              <a:rPr lang="en-US" sz="1130" b="1" dirty="0">
                <a:solidFill>
                  <a:srgbClr val="1C1C1C"/>
                </a:solidFill>
                <a:latin typeface="Calibri" pitchFamily="34" charset="0"/>
                <a:ea typeface="Calibri" pitchFamily="34" charset="-122"/>
                <a:cs typeface="Calibri" pitchFamily="34" charset="-120"/>
              </a:rPr>
              <a:t>Votre situation :</a:t>
            </a:r>
            <a:endParaRPr lang="en-US" sz="1130" dirty="0"/>
          </a:p>
        </p:txBody>
      </p:sp>
      <p:sp>
        <p:nvSpPr>
          <p:cNvPr id="33" name="Text 30"/>
          <p:cNvSpPr/>
          <p:nvPr/>
        </p:nvSpPr>
        <p:spPr>
          <a:xfrm>
            <a:off x="630000" y="6750000"/>
            <a:ext cx="2340000" cy="262800"/>
          </a:xfrm>
          <a:prstGeom prst="rect">
            <a:avLst/>
          </a:prstGeom>
          <a:noFill/>
          <a:ln/>
        </p:spPr>
        <p:txBody>
          <a:bodyPr wrap="square" lIns="0" tIns="0" rIns="0" bIns="0" rtlCol="0" anchor="ctr">
            <a:normAutofit/>
          </a:bodyPr>
          <a:lstStyle/>
          <a:p>
            <a:pPr indent="0" marL="0">
              <a:buNone/>
            </a:pPr>
            <a:r>
              <a:rPr lang="en-US" sz="1050" dirty="0">
                <a:solidFill>
                  <a:srgbClr val="1C1C1C"/>
                </a:solidFill>
                <a:latin typeface="Calibri" pitchFamily="34" charset="0"/>
                <a:ea typeface="Calibri" pitchFamily="34" charset="-122"/>
                <a:cs typeface="Calibri" pitchFamily="34" charset="-120"/>
              </a:rPr>
              <a:t>•  Aucun périmètre de protection</a:t>
            </a:r>
            <a:endParaRPr lang="en-US" sz="1050" dirty="0"/>
          </a:p>
        </p:txBody>
      </p:sp>
      <p:sp>
        <p:nvSpPr>
          <p:cNvPr id="34" name="Text 31"/>
          <p:cNvSpPr/>
          <p:nvPr/>
        </p:nvSpPr>
        <p:spPr>
          <a:xfrm>
            <a:off x="630000" y="7016400"/>
            <a:ext cx="720000" cy="241200"/>
          </a:xfrm>
          <a:prstGeom prst="rect">
            <a:avLst/>
          </a:prstGeom>
          <a:solidFill>
            <a:srgbClr val="FFF176"/>
          </a:solidFill>
          <a:ln/>
        </p:spPr>
        <p:txBody>
          <a:bodyPr wrap="square" lIns="0" tIns="0" rIns="0" bIns="0" rtlCol="0" anchor="ctr">
            <a:normAutofit/>
          </a:bodyPr>
          <a:lstStyle/>
          <a:p>
            <a:pPr indent="0" marL="0">
              <a:buNone/>
            </a:pPr>
            <a:r>
              <a:rPr lang="en-US" sz="1050" b="1" dirty="0">
                <a:solidFill>
                  <a:srgbClr val="009B55"/>
                </a:solidFill>
                <a:latin typeface="Calibri" pitchFamily="34" charset="0"/>
                <a:ea typeface="Calibri" pitchFamily="34" charset="-122"/>
                <a:cs typeface="Calibri" pitchFamily="34" charset="-120"/>
              </a:rPr>
              <a:t>Concerné</a:t>
            </a:r>
            <a:endParaRPr lang="en-US" sz="1050" dirty="0"/>
          </a:p>
        </p:txBody>
      </p:sp>
      <p:sp>
        <p:nvSpPr>
          <p:cNvPr id="35" name="Text 32"/>
          <p:cNvSpPr/>
          <p:nvPr/>
        </p:nvSpPr>
        <p:spPr>
          <a:xfrm>
            <a:off x="630000" y="7416000"/>
            <a:ext cx="2340000" cy="262800"/>
          </a:xfrm>
          <a:prstGeom prst="rect">
            <a:avLst/>
          </a:prstGeom>
          <a:noFill/>
          <a:ln/>
        </p:spPr>
        <p:txBody>
          <a:bodyPr wrap="square" lIns="0" tIns="0" rIns="0" bIns="0" rtlCol="0" anchor="ctr">
            <a:normAutofit/>
          </a:bodyPr>
          <a:lstStyle/>
          <a:p>
            <a:pPr indent="0" marL="0">
              <a:buNone/>
            </a:pPr>
            <a:r>
              <a:rPr lang="en-US" sz="1050" dirty="0">
                <a:solidFill>
                  <a:srgbClr val="1C1C1C"/>
                </a:solidFill>
                <a:latin typeface="Calibri" pitchFamily="34" charset="0"/>
                <a:ea typeface="Calibri" pitchFamily="34" charset="-122"/>
                <a:cs typeface="Calibri" pitchFamily="34" charset="-120"/>
              </a:rPr>
              <a:t>•  Site patrimonial remarquable</a:t>
            </a:r>
            <a:endParaRPr lang="en-US" sz="1050" dirty="0"/>
          </a:p>
        </p:txBody>
      </p:sp>
      <p:sp>
        <p:nvSpPr>
          <p:cNvPr id="36" name="Text 33"/>
          <p:cNvSpPr/>
          <p:nvPr/>
        </p:nvSpPr>
        <p:spPr>
          <a:xfrm>
            <a:off x="630000" y="7682400"/>
            <a:ext cx="1008000" cy="241200"/>
          </a:xfrm>
          <a:prstGeom prst="rect">
            <a:avLst/>
          </a:prstGeom>
          <a:solidFill>
            <a:srgbClr val="FFF176"/>
          </a:solidFill>
          <a:ln/>
        </p:spPr>
        <p:txBody>
          <a:bodyPr wrap="square" lIns="0" tIns="0" rIns="0" bIns="0" rtlCol="0" anchor="ctr">
            <a:normAutofit/>
          </a:bodyPr>
          <a:lstStyle/>
          <a:p>
            <a:pPr indent="0" marL="0">
              <a:buNone/>
            </a:pPr>
            <a:r>
              <a:rPr lang="en-US" sz="1050" b="1" dirty="0">
                <a:solidFill>
                  <a:srgbClr val="D52234"/>
                </a:solidFill>
                <a:latin typeface="Calibri" pitchFamily="34" charset="0"/>
                <a:ea typeface="Calibri" pitchFamily="34" charset="-122"/>
                <a:cs typeface="Calibri" pitchFamily="34" charset="-120"/>
              </a:rPr>
              <a:t>Non concerné</a:t>
            </a:r>
            <a:endParaRPr lang="en-US" sz="1050" dirty="0"/>
          </a:p>
        </p:txBody>
      </p:sp>
      <p:sp>
        <p:nvSpPr>
          <p:cNvPr id="37" name="Text 34"/>
          <p:cNvSpPr/>
          <p:nvPr/>
        </p:nvSpPr>
        <p:spPr>
          <a:xfrm>
            <a:off x="630000" y="8082000"/>
            <a:ext cx="2340000" cy="262800"/>
          </a:xfrm>
          <a:prstGeom prst="rect">
            <a:avLst/>
          </a:prstGeom>
          <a:noFill/>
          <a:ln/>
        </p:spPr>
        <p:txBody>
          <a:bodyPr wrap="square" lIns="0" tIns="0" rIns="0" bIns="0" rtlCol="0" anchor="ctr">
            <a:normAutofit/>
          </a:bodyPr>
          <a:lstStyle/>
          <a:p>
            <a:pPr indent="0" marL="0">
              <a:buNone/>
            </a:pPr>
            <a:r>
              <a:rPr lang="en-US" sz="1050" dirty="0">
                <a:solidFill>
                  <a:srgbClr val="1C1C1C"/>
                </a:solidFill>
                <a:latin typeface="Calibri" pitchFamily="34" charset="0"/>
                <a:ea typeface="Calibri" pitchFamily="34" charset="-122"/>
                <a:cs typeface="Calibri" pitchFamily="34" charset="-120"/>
              </a:rPr>
              <a:t>•  Abords d'un monument historique</a:t>
            </a:r>
            <a:endParaRPr lang="en-US" sz="1050" dirty="0"/>
          </a:p>
        </p:txBody>
      </p:sp>
      <p:sp>
        <p:nvSpPr>
          <p:cNvPr id="38" name="Text 35"/>
          <p:cNvSpPr/>
          <p:nvPr/>
        </p:nvSpPr>
        <p:spPr>
          <a:xfrm>
            <a:off x="630000" y="8348400"/>
            <a:ext cx="1008000" cy="241200"/>
          </a:xfrm>
          <a:prstGeom prst="rect">
            <a:avLst/>
          </a:prstGeom>
          <a:solidFill>
            <a:srgbClr val="FFF176"/>
          </a:solidFill>
          <a:ln/>
        </p:spPr>
        <p:txBody>
          <a:bodyPr wrap="square" lIns="0" tIns="0" rIns="0" bIns="0" rtlCol="0" anchor="ctr">
            <a:normAutofit/>
          </a:bodyPr>
          <a:lstStyle/>
          <a:p>
            <a:pPr indent="0" marL="0">
              <a:buNone/>
            </a:pPr>
            <a:r>
              <a:rPr lang="en-US" sz="1050" b="1" dirty="0">
                <a:solidFill>
                  <a:srgbClr val="D52234"/>
                </a:solidFill>
                <a:latin typeface="Calibri" pitchFamily="34" charset="0"/>
                <a:ea typeface="Calibri" pitchFamily="34" charset="-122"/>
                <a:cs typeface="Calibri" pitchFamily="34" charset="-120"/>
              </a:rPr>
              <a:t>Non concerné</a:t>
            </a:r>
            <a:endParaRPr lang="en-US" sz="1050" dirty="0"/>
          </a:p>
        </p:txBody>
      </p:sp>
      <p:pic>
        <p:nvPicPr>
          <p:cNvPr id="39" name="Image 1" descr="Vue patrimoniale fournie pour la copropriété">    </p:cNvPr>
          <p:cNvPicPr>
            <a:picLocks noChangeAspect="1"/>
          </p:cNvPicPr>
          <p:nvPr/>
        </p:nvPicPr>
        <p:blipFill>
          <a:blip r:embed="rId2"/>
          <a:srcRect l="0" r="0" t="0" b="0"/>
          <a:stretch/>
        </p:blipFill>
        <p:spPr>
          <a:xfrm>
            <a:off x="3121200" y="6436800"/>
            <a:ext cx="3747600" cy="3049200"/>
          </a:xfrm>
          <a:prstGeom prst="rect">
            <a:avLst/>
          </a:prstGeom>
        </p:spPr>
      </p:pic>
      <p:sp>
        <p:nvSpPr>
          <p:cNvPr id="40" name="Text 36"/>
          <p:cNvSpPr/>
          <p:nvPr/>
        </p:nvSpPr>
        <p:spPr>
          <a:xfrm>
            <a:off x="2232000" y="10242000"/>
            <a:ext cx="3096000" cy="180000"/>
          </a:xfrm>
          <a:prstGeom prst="rect">
            <a:avLst/>
          </a:prstGeom>
          <a:noFill/>
          <a:ln/>
        </p:spPr>
        <p:txBody>
          <a:bodyPr wrap="square" lIns="0" tIns="0" rIns="0" bIns="0" rtlCol="0" anchor="ctr">
            <a:normAutofit/>
          </a:bodyPr>
          <a:lstStyle/>
          <a:p>
            <a:pPr algn="ctr" indent="0" marL="0">
              <a:buNone/>
            </a:pPr>
            <a:r>
              <a:rPr lang="en-US" sz="950" dirty="0">
                <a:solidFill>
                  <a:srgbClr val="808080"/>
                </a:solidFill>
                <a:latin typeface="Calibri" pitchFamily="34" charset="0"/>
                <a:ea typeface="Calibri" pitchFamily="34" charset="-122"/>
                <a:cs typeface="Calibri" pitchFamily="34" charset="-120"/>
              </a:rPr>
              <a:t>Copropriété Résidence des Tilleuls</a:t>
            </a:r>
            <a:endParaRPr lang="en-US" sz="950" dirty="0"/>
          </a:p>
        </p:txBody>
      </p:sp>
      <p:sp>
        <p:nvSpPr>
          <p:cNvPr id="41" name="Text 37"/>
          <p:cNvSpPr/>
          <p:nvPr/>
        </p:nvSpPr>
        <p:spPr>
          <a:xfrm>
            <a:off x="6174000" y="10242000"/>
            <a:ext cx="252000" cy="180000"/>
          </a:xfrm>
          <a:prstGeom prst="rect">
            <a:avLst/>
          </a:prstGeom>
          <a:noFill/>
          <a:ln/>
        </p:spPr>
        <p:txBody>
          <a:bodyPr wrap="square" lIns="0" tIns="0" rIns="0" bIns="0" rtlCol="0" anchor="ctr">
            <a:normAutofit/>
          </a:bodyPr>
          <a:lstStyle/>
          <a:p>
            <a:pPr algn="r" indent="0" marL="0">
              <a:buNone/>
            </a:pPr>
            <a:r>
              <a:rPr lang="en-US" sz="950" dirty="0">
                <a:solidFill>
                  <a:srgbClr val="808080"/>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algn="ctr" indent="0" marL="0">
              <a:buNone/>
            </a:pPr>
            <a:r>
              <a:rPr lang="en-US" sz="1580" b="1" dirty="0">
                <a:solidFill>
                  <a:srgbClr val="FFFFFF"/>
                </a:solidFill>
                <a:latin typeface="Calibri" pitchFamily="34" charset="0"/>
                <a:ea typeface="Calibri" pitchFamily="34" charset="-122"/>
                <a:cs typeface="Calibri" pitchFamily="34" charset="-120"/>
              </a:rPr>
              <a:t>SOMMAIRE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normAutofit/>
          </a:bodyPr>
          <a:lstStyle/>
          <a:p>
            <a:pPr algn="ctr" indent="0" marL="0">
              <a:buNone/>
            </a:pPr>
            <a:r>
              <a:rPr lang="en-US" sz="950" dirty="0">
                <a:solidFill>
                  <a:srgbClr val="808080"/>
                </a:solidFill>
                <a:latin typeface="Calibri" pitchFamily="34" charset="0"/>
                <a:ea typeface="Calibri" pitchFamily="34" charset="-122"/>
                <a:cs typeface="Calibri"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normAutofit/>
          </a:bodyPr>
          <a:lstStyle/>
          <a:p>
            <a:pPr algn="r" indent="0" marL="0">
              <a:buNone/>
            </a:pPr>
            <a:r>
              <a:rPr lang="en-US" sz="950" dirty="0">
                <a:solidFill>
                  <a:srgbClr val="808080"/>
                </a:solidFill>
                <a:latin typeface="Calibri" pitchFamily="34" charset="0"/>
                <a:ea typeface="Calibri" pitchFamily="34" charset="-122"/>
                <a:cs typeface="Calibri" pitchFamily="34" charset="-120"/>
              </a:rPr>
              <a:t>5</a:t>
            </a:r>
            <a:endParaRPr lang="en-US" sz="950" dirty="0"/>
          </a:p>
        </p:txBody>
      </p:sp>
      <p:sp>
        <p:nvSpPr>
          <p:cNvPr id="7" name="Shape 4"/>
          <p:cNvSpPr/>
          <p:nvPr/>
        </p:nvSpPr>
        <p:spPr>
          <a:xfrm>
            <a:off x="2754000" y="1666800"/>
            <a:ext cx="3762000" cy="0"/>
          </a:xfrm>
          <a:prstGeom prst="line">
            <a:avLst/>
          </a:prstGeom>
          <a:noFill/>
          <a:ln w="11430">
            <a:solidFill>
              <a:srgbClr val="1C1C1C"/>
            </a:solidFill>
            <a:prstDash val="sysDot"/>
          </a:ln>
        </p:spPr>
      </p:sp>
      <p:sp>
        <p:nvSpPr>
          <p:cNvPr id="8" name="Text 5"/>
          <p:cNvSpPr/>
          <p:nvPr/>
        </p:nvSpPr>
        <p:spPr>
          <a:xfrm>
            <a:off x="630000" y="1468800"/>
            <a:ext cx="2124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Informations administratives</a:t>
            </a:r>
            <a:endParaRPr lang="en-US" sz="1160" dirty="0"/>
          </a:p>
        </p:txBody>
      </p:sp>
      <p:sp>
        <p:nvSpPr>
          <p:cNvPr id="9" name="Text 6"/>
          <p:cNvSpPr/>
          <p:nvPr/>
        </p:nvSpPr>
        <p:spPr>
          <a:xfrm>
            <a:off x="6595200" y="14688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2</a:t>
            </a:r>
            <a:endParaRPr lang="en-US" sz="1160" dirty="0"/>
          </a:p>
        </p:txBody>
      </p:sp>
      <p:sp>
        <p:nvSpPr>
          <p:cNvPr id="10" name="Shape 7"/>
          <p:cNvSpPr/>
          <p:nvPr/>
        </p:nvSpPr>
        <p:spPr>
          <a:xfrm>
            <a:off x="1818000" y="2043000"/>
            <a:ext cx="4698000" cy="0"/>
          </a:xfrm>
          <a:prstGeom prst="line">
            <a:avLst/>
          </a:prstGeom>
          <a:noFill/>
          <a:ln w="11430">
            <a:solidFill>
              <a:srgbClr val="1C1C1C"/>
            </a:solidFill>
            <a:prstDash val="sysDot"/>
          </a:ln>
        </p:spPr>
      </p:sp>
      <p:sp>
        <p:nvSpPr>
          <p:cNvPr id="11" name="Text 8"/>
          <p:cNvSpPr/>
          <p:nvPr/>
        </p:nvSpPr>
        <p:spPr>
          <a:xfrm>
            <a:off x="630000" y="1845000"/>
            <a:ext cx="1188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1. Introduction</a:t>
            </a:r>
            <a:endParaRPr lang="en-US" sz="1160" dirty="0"/>
          </a:p>
        </p:txBody>
      </p:sp>
      <p:sp>
        <p:nvSpPr>
          <p:cNvPr id="12" name="Text 9"/>
          <p:cNvSpPr/>
          <p:nvPr/>
        </p:nvSpPr>
        <p:spPr>
          <a:xfrm>
            <a:off x="6595200" y="18450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8</a:t>
            </a:r>
            <a:endParaRPr lang="en-US" sz="1160" dirty="0"/>
          </a:p>
        </p:txBody>
      </p:sp>
      <p:sp>
        <p:nvSpPr>
          <p:cNvPr id="13" name="Shape 10"/>
          <p:cNvSpPr/>
          <p:nvPr/>
        </p:nvSpPr>
        <p:spPr>
          <a:xfrm>
            <a:off x="5569920" y="2419200"/>
            <a:ext cx="946080" cy="0"/>
          </a:xfrm>
          <a:prstGeom prst="line">
            <a:avLst/>
          </a:prstGeom>
          <a:noFill/>
          <a:ln w="11430">
            <a:solidFill>
              <a:srgbClr val="1C1C1C"/>
            </a:solidFill>
            <a:prstDash val="sysDot"/>
          </a:ln>
        </p:spPr>
      </p:sp>
      <p:sp>
        <p:nvSpPr>
          <p:cNvPr id="14" name="Text 11"/>
          <p:cNvSpPr/>
          <p:nvPr/>
        </p:nvSpPr>
        <p:spPr>
          <a:xfrm>
            <a:off x="810000" y="2221200"/>
            <a:ext cx="47599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1.1 Cadre réglementaire du Projet de Plan Pluriannuel de Travaux (PPPT)</a:t>
            </a:r>
            <a:endParaRPr lang="en-US" sz="1090" dirty="0"/>
          </a:p>
        </p:txBody>
      </p:sp>
      <p:sp>
        <p:nvSpPr>
          <p:cNvPr id="15" name="Text 12"/>
          <p:cNvSpPr/>
          <p:nvPr/>
        </p:nvSpPr>
        <p:spPr>
          <a:xfrm>
            <a:off x="6595200" y="22212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8</a:t>
            </a:r>
            <a:endParaRPr lang="en-US" sz="1090" dirty="0"/>
          </a:p>
        </p:txBody>
      </p:sp>
      <p:sp>
        <p:nvSpPr>
          <p:cNvPr id="16" name="Shape 13"/>
          <p:cNvSpPr/>
          <p:nvPr/>
        </p:nvSpPr>
        <p:spPr>
          <a:xfrm>
            <a:off x="2949120" y="2795400"/>
            <a:ext cx="3566880" cy="0"/>
          </a:xfrm>
          <a:prstGeom prst="line">
            <a:avLst/>
          </a:prstGeom>
          <a:noFill/>
          <a:ln w="11430">
            <a:solidFill>
              <a:srgbClr val="1C1C1C"/>
            </a:solidFill>
            <a:prstDash val="sysDot"/>
          </a:ln>
        </p:spPr>
      </p:sp>
      <p:sp>
        <p:nvSpPr>
          <p:cNvPr id="17" name="Text 14"/>
          <p:cNvSpPr/>
          <p:nvPr/>
        </p:nvSpPr>
        <p:spPr>
          <a:xfrm>
            <a:off x="810000" y="2597400"/>
            <a:ext cx="21391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1.2 Validité du présent rapport</a:t>
            </a:r>
            <a:endParaRPr lang="en-US" sz="1090" dirty="0"/>
          </a:p>
        </p:txBody>
      </p:sp>
      <p:sp>
        <p:nvSpPr>
          <p:cNvPr id="18" name="Text 15"/>
          <p:cNvSpPr/>
          <p:nvPr/>
        </p:nvSpPr>
        <p:spPr>
          <a:xfrm>
            <a:off x="6595200" y="25974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9</a:t>
            </a:r>
            <a:endParaRPr lang="en-US" sz="1090" dirty="0"/>
          </a:p>
        </p:txBody>
      </p:sp>
      <p:sp>
        <p:nvSpPr>
          <p:cNvPr id="19" name="Shape 16"/>
          <p:cNvSpPr/>
          <p:nvPr/>
        </p:nvSpPr>
        <p:spPr>
          <a:xfrm>
            <a:off x="3473280" y="3171600"/>
            <a:ext cx="3042720" cy="0"/>
          </a:xfrm>
          <a:prstGeom prst="line">
            <a:avLst/>
          </a:prstGeom>
          <a:noFill/>
          <a:ln w="11430">
            <a:solidFill>
              <a:srgbClr val="1C1C1C"/>
            </a:solidFill>
            <a:prstDash val="sysDot"/>
          </a:ln>
        </p:spPr>
      </p:sp>
      <p:sp>
        <p:nvSpPr>
          <p:cNvPr id="20" name="Text 17"/>
          <p:cNvSpPr/>
          <p:nvPr/>
        </p:nvSpPr>
        <p:spPr>
          <a:xfrm>
            <a:off x="810000" y="2973600"/>
            <a:ext cx="266328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1.3 Périmètre de la mission et réserves</a:t>
            </a:r>
            <a:endParaRPr lang="en-US" sz="1090" dirty="0"/>
          </a:p>
        </p:txBody>
      </p:sp>
      <p:sp>
        <p:nvSpPr>
          <p:cNvPr id="21" name="Text 18"/>
          <p:cNvSpPr/>
          <p:nvPr/>
        </p:nvSpPr>
        <p:spPr>
          <a:xfrm>
            <a:off x="6595200" y="29736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9</a:t>
            </a:r>
            <a:endParaRPr lang="en-US" sz="1090" dirty="0"/>
          </a:p>
        </p:txBody>
      </p:sp>
      <p:sp>
        <p:nvSpPr>
          <p:cNvPr id="22" name="Shape 19"/>
          <p:cNvSpPr/>
          <p:nvPr/>
        </p:nvSpPr>
        <p:spPr>
          <a:xfrm>
            <a:off x="2490480" y="3547800"/>
            <a:ext cx="4025520" cy="0"/>
          </a:xfrm>
          <a:prstGeom prst="line">
            <a:avLst/>
          </a:prstGeom>
          <a:noFill/>
          <a:ln w="11430">
            <a:solidFill>
              <a:srgbClr val="1C1C1C"/>
            </a:solidFill>
            <a:prstDash val="sysDot"/>
          </a:ln>
        </p:spPr>
      </p:sp>
      <p:sp>
        <p:nvSpPr>
          <p:cNvPr id="23" name="Text 20"/>
          <p:cNvSpPr/>
          <p:nvPr/>
        </p:nvSpPr>
        <p:spPr>
          <a:xfrm>
            <a:off x="810000" y="3349800"/>
            <a:ext cx="168048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1.4 Limite de la mission</a:t>
            </a:r>
            <a:endParaRPr lang="en-US" sz="1090" dirty="0"/>
          </a:p>
        </p:txBody>
      </p:sp>
      <p:sp>
        <p:nvSpPr>
          <p:cNvPr id="24" name="Text 21"/>
          <p:cNvSpPr/>
          <p:nvPr/>
        </p:nvSpPr>
        <p:spPr>
          <a:xfrm>
            <a:off x="6595200" y="33498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10</a:t>
            </a:r>
            <a:endParaRPr lang="en-US" sz="1090" dirty="0"/>
          </a:p>
        </p:txBody>
      </p:sp>
      <p:sp>
        <p:nvSpPr>
          <p:cNvPr id="25" name="Shape 22"/>
          <p:cNvSpPr/>
          <p:nvPr/>
        </p:nvSpPr>
        <p:spPr>
          <a:xfrm>
            <a:off x="4259520" y="3924000"/>
            <a:ext cx="2256480" cy="0"/>
          </a:xfrm>
          <a:prstGeom prst="line">
            <a:avLst/>
          </a:prstGeom>
          <a:noFill/>
          <a:ln w="11430">
            <a:solidFill>
              <a:srgbClr val="1C1C1C"/>
            </a:solidFill>
            <a:prstDash val="sysDot"/>
          </a:ln>
        </p:spPr>
      </p:sp>
      <p:sp>
        <p:nvSpPr>
          <p:cNvPr id="26" name="Text 23"/>
          <p:cNvSpPr/>
          <p:nvPr/>
        </p:nvSpPr>
        <p:spPr>
          <a:xfrm>
            <a:off x="810000" y="3726000"/>
            <a:ext cx="34495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1.5 Hiérarchisation des travaux et des observations</a:t>
            </a:r>
            <a:endParaRPr lang="en-US" sz="1090" dirty="0"/>
          </a:p>
        </p:txBody>
      </p:sp>
      <p:sp>
        <p:nvSpPr>
          <p:cNvPr id="27" name="Text 24"/>
          <p:cNvSpPr/>
          <p:nvPr/>
        </p:nvSpPr>
        <p:spPr>
          <a:xfrm>
            <a:off x="6595200" y="37260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10</a:t>
            </a:r>
            <a:endParaRPr lang="en-US" sz="1090" dirty="0"/>
          </a:p>
        </p:txBody>
      </p:sp>
      <p:sp>
        <p:nvSpPr>
          <p:cNvPr id="28" name="Shape 25"/>
          <p:cNvSpPr/>
          <p:nvPr/>
        </p:nvSpPr>
        <p:spPr>
          <a:xfrm>
            <a:off x="5346000" y="4300200"/>
            <a:ext cx="1170000" cy="0"/>
          </a:xfrm>
          <a:prstGeom prst="line">
            <a:avLst/>
          </a:prstGeom>
          <a:noFill/>
          <a:ln w="11430">
            <a:solidFill>
              <a:srgbClr val="1C1C1C"/>
            </a:solidFill>
            <a:prstDash val="sysDot"/>
          </a:ln>
        </p:spPr>
      </p:sp>
      <p:sp>
        <p:nvSpPr>
          <p:cNvPr id="29" name="Text 26"/>
          <p:cNvSpPr/>
          <p:nvPr/>
        </p:nvSpPr>
        <p:spPr>
          <a:xfrm>
            <a:off x="630000" y="4102200"/>
            <a:ext cx="4716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2. Identification et hiérarchisation des travaux et observations</a:t>
            </a:r>
            <a:endParaRPr lang="en-US" sz="1160" dirty="0"/>
          </a:p>
        </p:txBody>
      </p:sp>
      <p:sp>
        <p:nvSpPr>
          <p:cNvPr id="30" name="Text 27"/>
          <p:cNvSpPr/>
          <p:nvPr/>
        </p:nvSpPr>
        <p:spPr>
          <a:xfrm>
            <a:off x="6595200" y="41022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11</a:t>
            </a:r>
            <a:endParaRPr lang="en-US" sz="1160" dirty="0"/>
          </a:p>
        </p:txBody>
      </p:sp>
      <p:sp>
        <p:nvSpPr>
          <p:cNvPr id="31" name="Shape 28"/>
          <p:cNvSpPr/>
          <p:nvPr/>
        </p:nvSpPr>
        <p:spPr>
          <a:xfrm>
            <a:off x="1769760" y="4676400"/>
            <a:ext cx="4746240" cy="0"/>
          </a:xfrm>
          <a:prstGeom prst="line">
            <a:avLst/>
          </a:prstGeom>
          <a:noFill/>
          <a:ln w="11430">
            <a:solidFill>
              <a:srgbClr val="1C1C1C"/>
            </a:solidFill>
            <a:prstDash val="sysDot"/>
          </a:ln>
        </p:spPr>
      </p:sp>
      <p:sp>
        <p:nvSpPr>
          <p:cNvPr id="32" name="Text 29"/>
          <p:cNvSpPr/>
          <p:nvPr/>
        </p:nvSpPr>
        <p:spPr>
          <a:xfrm>
            <a:off x="810000" y="4478400"/>
            <a:ext cx="95976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2.1 Entretien</a:t>
            </a:r>
            <a:endParaRPr lang="en-US" sz="1090" dirty="0"/>
          </a:p>
        </p:txBody>
      </p:sp>
      <p:sp>
        <p:nvSpPr>
          <p:cNvPr id="33" name="Text 30"/>
          <p:cNvSpPr/>
          <p:nvPr/>
        </p:nvSpPr>
        <p:spPr>
          <a:xfrm>
            <a:off x="6595200" y="44784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11</a:t>
            </a:r>
            <a:endParaRPr lang="en-US" sz="1090" dirty="0"/>
          </a:p>
        </p:txBody>
      </p:sp>
      <p:sp>
        <p:nvSpPr>
          <p:cNvPr id="34" name="Shape 31"/>
          <p:cNvSpPr/>
          <p:nvPr/>
        </p:nvSpPr>
        <p:spPr>
          <a:xfrm>
            <a:off x="1900800" y="5052600"/>
            <a:ext cx="4615200" cy="0"/>
          </a:xfrm>
          <a:prstGeom prst="line">
            <a:avLst/>
          </a:prstGeom>
          <a:noFill/>
          <a:ln w="11430">
            <a:solidFill>
              <a:srgbClr val="1C1C1C"/>
            </a:solidFill>
            <a:prstDash val="sysDot"/>
          </a:ln>
        </p:spPr>
      </p:sp>
      <p:sp>
        <p:nvSpPr>
          <p:cNvPr id="35" name="Text 32"/>
          <p:cNvSpPr/>
          <p:nvPr/>
        </p:nvSpPr>
        <p:spPr>
          <a:xfrm>
            <a:off x="810000" y="4854600"/>
            <a:ext cx="109080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2.2 Signalement</a:t>
            </a:r>
            <a:endParaRPr lang="en-US" sz="1090" dirty="0"/>
          </a:p>
        </p:txBody>
      </p:sp>
      <p:sp>
        <p:nvSpPr>
          <p:cNvPr id="36" name="Text 33"/>
          <p:cNvSpPr/>
          <p:nvPr/>
        </p:nvSpPr>
        <p:spPr>
          <a:xfrm>
            <a:off x="6595200" y="48546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12</a:t>
            </a:r>
            <a:endParaRPr lang="en-US" sz="1090" dirty="0"/>
          </a:p>
        </p:txBody>
      </p:sp>
      <p:sp>
        <p:nvSpPr>
          <p:cNvPr id="37" name="Shape 34"/>
          <p:cNvSpPr/>
          <p:nvPr/>
        </p:nvSpPr>
        <p:spPr>
          <a:xfrm>
            <a:off x="2228400" y="5428800"/>
            <a:ext cx="4287600" cy="0"/>
          </a:xfrm>
          <a:prstGeom prst="line">
            <a:avLst/>
          </a:prstGeom>
          <a:noFill/>
          <a:ln w="11430">
            <a:solidFill>
              <a:srgbClr val="1C1C1C"/>
            </a:solidFill>
            <a:prstDash val="sysDot"/>
          </a:ln>
        </p:spPr>
      </p:sp>
      <p:sp>
        <p:nvSpPr>
          <p:cNvPr id="38" name="Text 35"/>
          <p:cNvSpPr/>
          <p:nvPr/>
        </p:nvSpPr>
        <p:spPr>
          <a:xfrm>
            <a:off x="810000" y="5230800"/>
            <a:ext cx="141840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2.3 Curatif Niveau 1</a:t>
            </a:r>
            <a:endParaRPr lang="en-US" sz="1090" dirty="0"/>
          </a:p>
        </p:txBody>
      </p:sp>
      <p:sp>
        <p:nvSpPr>
          <p:cNvPr id="39" name="Text 36"/>
          <p:cNvSpPr/>
          <p:nvPr/>
        </p:nvSpPr>
        <p:spPr>
          <a:xfrm>
            <a:off x="6595200" y="52308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13</a:t>
            </a:r>
            <a:endParaRPr lang="en-US" sz="1090" dirty="0"/>
          </a:p>
        </p:txBody>
      </p:sp>
      <p:sp>
        <p:nvSpPr>
          <p:cNvPr id="40" name="Shape 37"/>
          <p:cNvSpPr/>
          <p:nvPr/>
        </p:nvSpPr>
        <p:spPr>
          <a:xfrm>
            <a:off x="2228400" y="5805000"/>
            <a:ext cx="4287600" cy="0"/>
          </a:xfrm>
          <a:prstGeom prst="line">
            <a:avLst/>
          </a:prstGeom>
          <a:noFill/>
          <a:ln w="11430">
            <a:solidFill>
              <a:srgbClr val="1C1C1C"/>
            </a:solidFill>
            <a:prstDash val="sysDot"/>
          </a:ln>
        </p:spPr>
      </p:sp>
      <p:sp>
        <p:nvSpPr>
          <p:cNvPr id="41" name="Text 38"/>
          <p:cNvSpPr/>
          <p:nvPr/>
        </p:nvSpPr>
        <p:spPr>
          <a:xfrm>
            <a:off x="810000" y="5607000"/>
            <a:ext cx="141840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2.4 Curatif Niveau 2</a:t>
            </a:r>
            <a:endParaRPr lang="en-US" sz="1090" dirty="0"/>
          </a:p>
        </p:txBody>
      </p:sp>
      <p:sp>
        <p:nvSpPr>
          <p:cNvPr id="42" name="Text 39"/>
          <p:cNvSpPr/>
          <p:nvPr/>
        </p:nvSpPr>
        <p:spPr>
          <a:xfrm>
            <a:off x="6595200" y="56070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16</a:t>
            </a:r>
            <a:endParaRPr lang="en-US" sz="1090" dirty="0"/>
          </a:p>
        </p:txBody>
      </p:sp>
      <p:sp>
        <p:nvSpPr>
          <p:cNvPr id="43" name="Shape 40"/>
          <p:cNvSpPr/>
          <p:nvPr/>
        </p:nvSpPr>
        <p:spPr>
          <a:xfrm>
            <a:off x="2228400" y="6181200"/>
            <a:ext cx="4287600" cy="0"/>
          </a:xfrm>
          <a:prstGeom prst="line">
            <a:avLst/>
          </a:prstGeom>
          <a:noFill/>
          <a:ln w="11430">
            <a:solidFill>
              <a:srgbClr val="1C1C1C"/>
            </a:solidFill>
            <a:prstDash val="sysDot"/>
          </a:ln>
        </p:spPr>
      </p:sp>
      <p:sp>
        <p:nvSpPr>
          <p:cNvPr id="44" name="Text 41"/>
          <p:cNvSpPr/>
          <p:nvPr/>
        </p:nvSpPr>
        <p:spPr>
          <a:xfrm>
            <a:off x="810000" y="5983200"/>
            <a:ext cx="141840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2.5 Curatif Niveau 3</a:t>
            </a:r>
            <a:endParaRPr lang="en-US" sz="1090" dirty="0"/>
          </a:p>
        </p:txBody>
      </p:sp>
      <p:sp>
        <p:nvSpPr>
          <p:cNvPr id="45" name="Text 42"/>
          <p:cNvSpPr/>
          <p:nvPr/>
        </p:nvSpPr>
        <p:spPr>
          <a:xfrm>
            <a:off x="6595200" y="59832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17</a:t>
            </a:r>
            <a:endParaRPr lang="en-US" sz="1090" dirty="0"/>
          </a:p>
        </p:txBody>
      </p:sp>
      <p:sp>
        <p:nvSpPr>
          <p:cNvPr id="46" name="Shape 43"/>
          <p:cNvSpPr/>
          <p:nvPr/>
        </p:nvSpPr>
        <p:spPr>
          <a:xfrm>
            <a:off x="2490480" y="6557400"/>
            <a:ext cx="4025520" cy="0"/>
          </a:xfrm>
          <a:prstGeom prst="line">
            <a:avLst/>
          </a:prstGeom>
          <a:noFill/>
          <a:ln w="11430">
            <a:solidFill>
              <a:srgbClr val="1C1C1C"/>
            </a:solidFill>
            <a:prstDash val="sysDot"/>
          </a:ln>
        </p:spPr>
      </p:sp>
      <p:sp>
        <p:nvSpPr>
          <p:cNvPr id="47" name="Text 44"/>
          <p:cNvSpPr/>
          <p:nvPr/>
        </p:nvSpPr>
        <p:spPr>
          <a:xfrm>
            <a:off x="810000" y="6359400"/>
            <a:ext cx="168048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2.6 Travaux énergétiques</a:t>
            </a:r>
            <a:endParaRPr lang="en-US" sz="1090" dirty="0"/>
          </a:p>
        </p:txBody>
      </p:sp>
      <p:sp>
        <p:nvSpPr>
          <p:cNvPr id="48" name="Text 45"/>
          <p:cNvSpPr/>
          <p:nvPr/>
        </p:nvSpPr>
        <p:spPr>
          <a:xfrm>
            <a:off x="6595200" y="63594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18</a:t>
            </a:r>
            <a:endParaRPr lang="en-US" sz="1090" dirty="0"/>
          </a:p>
        </p:txBody>
      </p:sp>
      <p:sp>
        <p:nvSpPr>
          <p:cNvPr id="49" name="Shape 46"/>
          <p:cNvSpPr/>
          <p:nvPr/>
        </p:nvSpPr>
        <p:spPr>
          <a:xfrm>
            <a:off x="1900800" y="6933600"/>
            <a:ext cx="4615200" cy="0"/>
          </a:xfrm>
          <a:prstGeom prst="line">
            <a:avLst/>
          </a:prstGeom>
          <a:noFill/>
          <a:ln w="11430">
            <a:solidFill>
              <a:srgbClr val="1C1C1C"/>
            </a:solidFill>
            <a:prstDash val="sysDot"/>
          </a:ln>
        </p:spPr>
      </p:sp>
      <p:sp>
        <p:nvSpPr>
          <p:cNvPr id="50" name="Text 47"/>
          <p:cNvSpPr/>
          <p:nvPr/>
        </p:nvSpPr>
        <p:spPr>
          <a:xfrm>
            <a:off x="810000" y="6735600"/>
            <a:ext cx="109080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2.7 À confirmer</a:t>
            </a:r>
            <a:endParaRPr lang="en-US" sz="1090" dirty="0"/>
          </a:p>
        </p:txBody>
      </p:sp>
      <p:sp>
        <p:nvSpPr>
          <p:cNvPr id="51" name="Text 48"/>
          <p:cNvSpPr/>
          <p:nvPr/>
        </p:nvSpPr>
        <p:spPr>
          <a:xfrm>
            <a:off x="6595200" y="67356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19</a:t>
            </a:r>
            <a:endParaRPr lang="en-US" sz="1090" dirty="0"/>
          </a:p>
        </p:txBody>
      </p:sp>
      <p:sp>
        <p:nvSpPr>
          <p:cNvPr id="52" name="Shape 49"/>
          <p:cNvSpPr/>
          <p:nvPr/>
        </p:nvSpPr>
        <p:spPr>
          <a:xfrm>
            <a:off x="3762000" y="7309800"/>
            <a:ext cx="2754000" cy="0"/>
          </a:xfrm>
          <a:prstGeom prst="line">
            <a:avLst/>
          </a:prstGeom>
          <a:noFill/>
          <a:ln w="11430">
            <a:solidFill>
              <a:srgbClr val="1C1C1C"/>
            </a:solidFill>
            <a:prstDash val="sysDot"/>
          </a:ln>
        </p:spPr>
      </p:sp>
      <p:sp>
        <p:nvSpPr>
          <p:cNvPr id="53" name="Text 50"/>
          <p:cNvSpPr/>
          <p:nvPr/>
        </p:nvSpPr>
        <p:spPr>
          <a:xfrm>
            <a:off x="630000" y="7111800"/>
            <a:ext cx="3132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3. Évolutions réglementaires et normatives</a:t>
            </a:r>
            <a:endParaRPr lang="en-US" sz="1160" dirty="0"/>
          </a:p>
        </p:txBody>
      </p:sp>
      <p:sp>
        <p:nvSpPr>
          <p:cNvPr id="54" name="Text 51"/>
          <p:cNvSpPr/>
          <p:nvPr/>
        </p:nvSpPr>
        <p:spPr>
          <a:xfrm>
            <a:off x="6595200" y="71118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20</a:t>
            </a:r>
            <a:endParaRPr lang="en-US" sz="1160" dirty="0"/>
          </a:p>
        </p:txBody>
      </p:sp>
      <p:sp>
        <p:nvSpPr>
          <p:cNvPr id="55" name="Shape 52"/>
          <p:cNvSpPr/>
          <p:nvPr/>
        </p:nvSpPr>
        <p:spPr>
          <a:xfrm>
            <a:off x="3407760" y="7686000"/>
            <a:ext cx="3108240" cy="0"/>
          </a:xfrm>
          <a:prstGeom prst="line">
            <a:avLst/>
          </a:prstGeom>
          <a:noFill/>
          <a:ln w="11430">
            <a:solidFill>
              <a:srgbClr val="1C1C1C"/>
            </a:solidFill>
            <a:prstDash val="sysDot"/>
          </a:ln>
        </p:spPr>
      </p:sp>
      <p:sp>
        <p:nvSpPr>
          <p:cNvPr id="56" name="Text 53"/>
          <p:cNvSpPr/>
          <p:nvPr/>
        </p:nvSpPr>
        <p:spPr>
          <a:xfrm>
            <a:off x="810000" y="7488000"/>
            <a:ext cx="259776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3.1 Décret thermostat et calorifugeage</a:t>
            </a:r>
            <a:endParaRPr lang="en-US" sz="1090" dirty="0"/>
          </a:p>
        </p:txBody>
      </p:sp>
      <p:sp>
        <p:nvSpPr>
          <p:cNvPr id="57" name="Text 54"/>
          <p:cNvSpPr/>
          <p:nvPr/>
        </p:nvSpPr>
        <p:spPr>
          <a:xfrm>
            <a:off x="6595200" y="74880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20</a:t>
            </a:r>
            <a:endParaRPr lang="en-US" sz="1090" dirty="0"/>
          </a:p>
        </p:txBody>
      </p:sp>
      <p:sp>
        <p:nvSpPr>
          <p:cNvPr id="58" name="Shape 55"/>
          <p:cNvSpPr/>
          <p:nvPr/>
        </p:nvSpPr>
        <p:spPr>
          <a:xfrm>
            <a:off x="4783680" y="8062200"/>
            <a:ext cx="1732320" cy="0"/>
          </a:xfrm>
          <a:prstGeom prst="line">
            <a:avLst/>
          </a:prstGeom>
          <a:noFill/>
          <a:ln w="11430">
            <a:solidFill>
              <a:srgbClr val="1C1C1C"/>
            </a:solidFill>
            <a:prstDash val="sysDot"/>
          </a:ln>
        </p:spPr>
      </p:sp>
      <p:sp>
        <p:nvSpPr>
          <p:cNvPr id="59" name="Text 56"/>
          <p:cNvSpPr/>
          <p:nvPr/>
        </p:nvSpPr>
        <p:spPr>
          <a:xfrm>
            <a:off x="810000" y="7864200"/>
            <a:ext cx="397368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3.2 Evolution des normes de contrôle d’accès en copropriété</a:t>
            </a:r>
            <a:endParaRPr lang="en-US" sz="1090" dirty="0"/>
          </a:p>
        </p:txBody>
      </p:sp>
      <p:sp>
        <p:nvSpPr>
          <p:cNvPr id="60" name="Text 57"/>
          <p:cNvSpPr/>
          <p:nvPr/>
        </p:nvSpPr>
        <p:spPr>
          <a:xfrm>
            <a:off x="6595200" y="78642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21</a:t>
            </a:r>
            <a:endParaRPr lang="en-US" sz="1090" dirty="0"/>
          </a:p>
        </p:txBody>
      </p:sp>
      <p:sp>
        <p:nvSpPr>
          <p:cNvPr id="61" name="Shape 58"/>
          <p:cNvSpPr/>
          <p:nvPr/>
        </p:nvSpPr>
        <p:spPr>
          <a:xfrm>
            <a:off x="3211200" y="8438400"/>
            <a:ext cx="3304800" cy="0"/>
          </a:xfrm>
          <a:prstGeom prst="line">
            <a:avLst/>
          </a:prstGeom>
          <a:noFill/>
          <a:ln w="11430">
            <a:solidFill>
              <a:srgbClr val="1C1C1C"/>
            </a:solidFill>
            <a:prstDash val="sysDot"/>
          </a:ln>
        </p:spPr>
      </p:sp>
      <p:sp>
        <p:nvSpPr>
          <p:cNvPr id="62" name="Text 59"/>
          <p:cNvSpPr/>
          <p:nvPr/>
        </p:nvSpPr>
        <p:spPr>
          <a:xfrm>
            <a:off x="810000" y="8240400"/>
            <a:ext cx="240120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3.3 Extinction des réseaux 2G et 3G</a:t>
            </a:r>
            <a:endParaRPr lang="en-US" sz="1090" dirty="0"/>
          </a:p>
        </p:txBody>
      </p:sp>
      <p:sp>
        <p:nvSpPr>
          <p:cNvPr id="63" name="Text 60"/>
          <p:cNvSpPr/>
          <p:nvPr/>
        </p:nvSpPr>
        <p:spPr>
          <a:xfrm>
            <a:off x="6595200" y="82404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22</a:t>
            </a:r>
            <a:endParaRPr lang="en-US" sz="1090" dirty="0"/>
          </a:p>
        </p:txBody>
      </p:sp>
      <p:sp>
        <p:nvSpPr>
          <p:cNvPr id="64" name="Shape 61"/>
          <p:cNvSpPr/>
          <p:nvPr/>
        </p:nvSpPr>
        <p:spPr>
          <a:xfrm>
            <a:off x="3186000" y="8814600"/>
            <a:ext cx="3330000" cy="0"/>
          </a:xfrm>
          <a:prstGeom prst="line">
            <a:avLst/>
          </a:prstGeom>
          <a:noFill/>
          <a:ln w="11430">
            <a:solidFill>
              <a:srgbClr val="1C1C1C"/>
            </a:solidFill>
            <a:prstDash val="sysDot"/>
          </a:ln>
        </p:spPr>
      </p:sp>
      <p:sp>
        <p:nvSpPr>
          <p:cNvPr id="65" name="Text 62"/>
          <p:cNvSpPr/>
          <p:nvPr/>
        </p:nvSpPr>
        <p:spPr>
          <a:xfrm>
            <a:off x="630000" y="8616600"/>
            <a:ext cx="2556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4. Recommandations complémentaires</a:t>
            </a:r>
            <a:endParaRPr lang="en-US" sz="1160" dirty="0"/>
          </a:p>
        </p:txBody>
      </p:sp>
      <p:sp>
        <p:nvSpPr>
          <p:cNvPr id="66" name="Text 63"/>
          <p:cNvSpPr/>
          <p:nvPr/>
        </p:nvSpPr>
        <p:spPr>
          <a:xfrm>
            <a:off x="6595200" y="86166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23</a:t>
            </a:r>
            <a:endParaRPr lang="en-US" sz="116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algn="ctr" indent="0" marL="0">
              <a:buNone/>
            </a:pPr>
            <a:r>
              <a:rPr lang="en-US" sz="1580" b="1" dirty="0">
                <a:solidFill>
                  <a:srgbClr val="FFFFFF"/>
                </a:solidFill>
                <a:latin typeface="Calibri" pitchFamily="34" charset="0"/>
                <a:ea typeface="Calibri" pitchFamily="34" charset="-122"/>
                <a:cs typeface="Calibri" pitchFamily="34" charset="-120"/>
              </a:rPr>
              <a:t>SOMMAIRE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normAutofit/>
          </a:bodyPr>
          <a:lstStyle/>
          <a:p>
            <a:pPr algn="ctr" indent="0" marL="0">
              <a:buNone/>
            </a:pPr>
            <a:r>
              <a:rPr lang="en-US" sz="950" dirty="0">
                <a:solidFill>
                  <a:srgbClr val="808080"/>
                </a:solidFill>
                <a:latin typeface="Calibri" pitchFamily="34" charset="0"/>
                <a:ea typeface="Calibri" pitchFamily="34" charset="-122"/>
                <a:cs typeface="Calibri"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normAutofit/>
          </a:bodyPr>
          <a:lstStyle/>
          <a:p>
            <a:pPr algn="r" indent="0" marL="0">
              <a:buNone/>
            </a:pPr>
            <a:r>
              <a:rPr lang="en-US" sz="950" dirty="0">
                <a:solidFill>
                  <a:srgbClr val="808080"/>
                </a:solidFill>
                <a:latin typeface="Calibri" pitchFamily="34" charset="0"/>
                <a:ea typeface="Calibri" pitchFamily="34" charset="-122"/>
                <a:cs typeface="Calibri" pitchFamily="34" charset="-120"/>
              </a:rPr>
              <a:t>6</a:t>
            </a:r>
            <a:endParaRPr lang="en-US" sz="950" dirty="0"/>
          </a:p>
        </p:txBody>
      </p:sp>
      <p:sp>
        <p:nvSpPr>
          <p:cNvPr id="7" name="Shape 4"/>
          <p:cNvSpPr/>
          <p:nvPr/>
        </p:nvSpPr>
        <p:spPr>
          <a:xfrm>
            <a:off x="3145680" y="1666800"/>
            <a:ext cx="3370320" cy="0"/>
          </a:xfrm>
          <a:prstGeom prst="line">
            <a:avLst/>
          </a:prstGeom>
          <a:noFill/>
          <a:ln w="11430">
            <a:solidFill>
              <a:srgbClr val="1C1C1C"/>
            </a:solidFill>
            <a:prstDash val="sysDot"/>
          </a:ln>
        </p:spPr>
      </p:sp>
      <p:sp>
        <p:nvSpPr>
          <p:cNvPr id="8" name="Text 5"/>
          <p:cNvSpPr/>
          <p:nvPr/>
        </p:nvSpPr>
        <p:spPr>
          <a:xfrm>
            <a:off x="810000" y="1468800"/>
            <a:ext cx="233568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4.1 Défibrillateurs en copropriété</a:t>
            </a:r>
            <a:endParaRPr lang="en-US" sz="1090" dirty="0"/>
          </a:p>
        </p:txBody>
      </p:sp>
      <p:sp>
        <p:nvSpPr>
          <p:cNvPr id="9" name="Text 6"/>
          <p:cNvSpPr/>
          <p:nvPr/>
        </p:nvSpPr>
        <p:spPr>
          <a:xfrm>
            <a:off x="6595200" y="14688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23</a:t>
            </a:r>
            <a:endParaRPr lang="en-US" sz="1090" dirty="0"/>
          </a:p>
        </p:txBody>
      </p:sp>
      <p:sp>
        <p:nvSpPr>
          <p:cNvPr id="10" name="Shape 7"/>
          <p:cNvSpPr/>
          <p:nvPr/>
        </p:nvSpPr>
        <p:spPr>
          <a:xfrm>
            <a:off x="3690000" y="2043000"/>
            <a:ext cx="2826000" cy="0"/>
          </a:xfrm>
          <a:prstGeom prst="line">
            <a:avLst/>
          </a:prstGeom>
          <a:noFill/>
          <a:ln w="11430">
            <a:solidFill>
              <a:srgbClr val="1C1C1C"/>
            </a:solidFill>
            <a:prstDash val="sysDot"/>
          </a:ln>
        </p:spPr>
      </p:sp>
      <p:sp>
        <p:nvSpPr>
          <p:cNvPr id="11" name="Text 8"/>
          <p:cNvSpPr/>
          <p:nvPr/>
        </p:nvSpPr>
        <p:spPr>
          <a:xfrm>
            <a:off x="630000" y="1845000"/>
            <a:ext cx="3060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5. Analyse documentaire de la copropriété</a:t>
            </a:r>
            <a:endParaRPr lang="en-US" sz="1160" dirty="0"/>
          </a:p>
        </p:txBody>
      </p:sp>
      <p:sp>
        <p:nvSpPr>
          <p:cNvPr id="12" name="Text 9"/>
          <p:cNvSpPr/>
          <p:nvPr/>
        </p:nvSpPr>
        <p:spPr>
          <a:xfrm>
            <a:off x="6595200" y="18450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24</a:t>
            </a:r>
            <a:endParaRPr lang="en-US" sz="1160" dirty="0"/>
          </a:p>
        </p:txBody>
      </p:sp>
      <p:sp>
        <p:nvSpPr>
          <p:cNvPr id="13" name="Shape 10"/>
          <p:cNvSpPr/>
          <p:nvPr/>
        </p:nvSpPr>
        <p:spPr>
          <a:xfrm>
            <a:off x="3931920" y="2419200"/>
            <a:ext cx="2584080" cy="0"/>
          </a:xfrm>
          <a:prstGeom prst="line">
            <a:avLst/>
          </a:prstGeom>
          <a:noFill/>
          <a:ln w="11430">
            <a:solidFill>
              <a:srgbClr val="1C1C1C"/>
            </a:solidFill>
            <a:prstDash val="sysDot"/>
          </a:ln>
        </p:spPr>
      </p:sp>
      <p:sp>
        <p:nvSpPr>
          <p:cNvPr id="14" name="Text 11"/>
          <p:cNvSpPr/>
          <p:nvPr/>
        </p:nvSpPr>
        <p:spPr>
          <a:xfrm>
            <a:off x="810000" y="2221200"/>
            <a:ext cx="31219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5.1 Documents réglementaires et administratifs</a:t>
            </a:r>
            <a:endParaRPr lang="en-US" sz="1090" dirty="0"/>
          </a:p>
        </p:txBody>
      </p:sp>
      <p:sp>
        <p:nvSpPr>
          <p:cNvPr id="15" name="Text 12"/>
          <p:cNvSpPr/>
          <p:nvPr/>
        </p:nvSpPr>
        <p:spPr>
          <a:xfrm>
            <a:off x="6595200" y="22212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24</a:t>
            </a:r>
            <a:endParaRPr lang="en-US" sz="1090" dirty="0"/>
          </a:p>
        </p:txBody>
      </p:sp>
      <p:sp>
        <p:nvSpPr>
          <p:cNvPr id="16" name="Shape 13"/>
          <p:cNvSpPr/>
          <p:nvPr/>
        </p:nvSpPr>
        <p:spPr>
          <a:xfrm>
            <a:off x="3473280" y="2795400"/>
            <a:ext cx="3042720" cy="0"/>
          </a:xfrm>
          <a:prstGeom prst="line">
            <a:avLst/>
          </a:prstGeom>
          <a:noFill/>
          <a:ln w="11430">
            <a:solidFill>
              <a:srgbClr val="1C1C1C"/>
            </a:solidFill>
            <a:prstDash val="sysDot"/>
          </a:ln>
        </p:spPr>
      </p:sp>
      <p:sp>
        <p:nvSpPr>
          <p:cNvPr id="17" name="Text 14"/>
          <p:cNvSpPr/>
          <p:nvPr/>
        </p:nvSpPr>
        <p:spPr>
          <a:xfrm>
            <a:off x="810000" y="2597400"/>
            <a:ext cx="266328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5.2 Diagnostics techniques obligatoires</a:t>
            </a:r>
            <a:endParaRPr lang="en-US" sz="1090" dirty="0"/>
          </a:p>
        </p:txBody>
      </p:sp>
      <p:sp>
        <p:nvSpPr>
          <p:cNvPr id="18" name="Text 15"/>
          <p:cNvSpPr/>
          <p:nvPr/>
        </p:nvSpPr>
        <p:spPr>
          <a:xfrm>
            <a:off x="6595200" y="25974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28</a:t>
            </a:r>
            <a:endParaRPr lang="en-US" sz="1090" dirty="0"/>
          </a:p>
        </p:txBody>
      </p:sp>
      <p:sp>
        <p:nvSpPr>
          <p:cNvPr id="19" name="Shape 16"/>
          <p:cNvSpPr/>
          <p:nvPr/>
        </p:nvSpPr>
        <p:spPr>
          <a:xfrm>
            <a:off x="2424960" y="3171600"/>
            <a:ext cx="4091040" cy="0"/>
          </a:xfrm>
          <a:prstGeom prst="line">
            <a:avLst/>
          </a:prstGeom>
          <a:noFill/>
          <a:ln w="11430">
            <a:solidFill>
              <a:srgbClr val="1C1C1C"/>
            </a:solidFill>
            <a:prstDash val="sysDot"/>
          </a:ln>
        </p:spPr>
      </p:sp>
      <p:sp>
        <p:nvSpPr>
          <p:cNvPr id="20" name="Text 17"/>
          <p:cNvSpPr/>
          <p:nvPr/>
        </p:nvSpPr>
        <p:spPr>
          <a:xfrm>
            <a:off x="810000" y="2973600"/>
            <a:ext cx="161496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5.3 Contrat d’entretien</a:t>
            </a:r>
            <a:endParaRPr lang="en-US" sz="1090" dirty="0"/>
          </a:p>
        </p:txBody>
      </p:sp>
      <p:sp>
        <p:nvSpPr>
          <p:cNvPr id="21" name="Text 18"/>
          <p:cNvSpPr/>
          <p:nvPr/>
        </p:nvSpPr>
        <p:spPr>
          <a:xfrm>
            <a:off x="6595200" y="29736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29</a:t>
            </a:r>
            <a:endParaRPr lang="en-US" sz="1090" dirty="0"/>
          </a:p>
        </p:txBody>
      </p:sp>
      <p:sp>
        <p:nvSpPr>
          <p:cNvPr id="22" name="Shape 19"/>
          <p:cNvSpPr/>
          <p:nvPr/>
        </p:nvSpPr>
        <p:spPr>
          <a:xfrm>
            <a:off x="2556000" y="3547800"/>
            <a:ext cx="3960000" cy="0"/>
          </a:xfrm>
          <a:prstGeom prst="line">
            <a:avLst/>
          </a:prstGeom>
          <a:noFill/>
          <a:ln w="11430">
            <a:solidFill>
              <a:srgbClr val="1C1C1C"/>
            </a:solidFill>
            <a:prstDash val="sysDot"/>
          </a:ln>
        </p:spPr>
      </p:sp>
      <p:sp>
        <p:nvSpPr>
          <p:cNvPr id="23" name="Text 20"/>
          <p:cNvSpPr/>
          <p:nvPr/>
        </p:nvSpPr>
        <p:spPr>
          <a:xfrm>
            <a:off x="810000" y="3349800"/>
            <a:ext cx="174600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Travaux recensés et votés</a:t>
            </a:r>
            <a:endParaRPr lang="en-US" sz="1090" dirty="0"/>
          </a:p>
        </p:txBody>
      </p:sp>
      <p:sp>
        <p:nvSpPr>
          <p:cNvPr id="24" name="Text 21"/>
          <p:cNvSpPr/>
          <p:nvPr/>
        </p:nvSpPr>
        <p:spPr>
          <a:xfrm>
            <a:off x="6595200" y="33498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30</a:t>
            </a:r>
            <a:endParaRPr lang="en-US" sz="1090" dirty="0"/>
          </a:p>
        </p:txBody>
      </p:sp>
      <p:sp>
        <p:nvSpPr>
          <p:cNvPr id="25" name="Shape 22"/>
          <p:cNvSpPr/>
          <p:nvPr/>
        </p:nvSpPr>
        <p:spPr>
          <a:xfrm>
            <a:off x="2293920" y="3924000"/>
            <a:ext cx="4222080" cy="0"/>
          </a:xfrm>
          <a:prstGeom prst="line">
            <a:avLst/>
          </a:prstGeom>
          <a:noFill/>
          <a:ln w="11430">
            <a:solidFill>
              <a:srgbClr val="1C1C1C"/>
            </a:solidFill>
            <a:prstDash val="sysDot"/>
          </a:ln>
        </p:spPr>
      </p:sp>
      <p:sp>
        <p:nvSpPr>
          <p:cNvPr id="26" name="Text 23"/>
          <p:cNvSpPr/>
          <p:nvPr/>
        </p:nvSpPr>
        <p:spPr>
          <a:xfrm>
            <a:off x="810000" y="3726000"/>
            <a:ext cx="14839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5.4 Sécurité incendie</a:t>
            </a:r>
            <a:endParaRPr lang="en-US" sz="1090" dirty="0"/>
          </a:p>
        </p:txBody>
      </p:sp>
      <p:sp>
        <p:nvSpPr>
          <p:cNvPr id="27" name="Text 24"/>
          <p:cNvSpPr/>
          <p:nvPr/>
        </p:nvSpPr>
        <p:spPr>
          <a:xfrm>
            <a:off x="6595200" y="37260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31</a:t>
            </a:r>
            <a:endParaRPr lang="en-US" sz="1090" dirty="0"/>
          </a:p>
        </p:txBody>
      </p:sp>
      <p:sp>
        <p:nvSpPr>
          <p:cNvPr id="28" name="Shape 25"/>
          <p:cNvSpPr/>
          <p:nvPr/>
        </p:nvSpPr>
        <p:spPr>
          <a:xfrm>
            <a:off x="2106000" y="4300200"/>
            <a:ext cx="4410000" cy="0"/>
          </a:xfrm>
          <a:prstGeom prst="line">
            <a:avLst/>
          </a:prstGeom>
          <a:noFill/>
          <a:ln w="11430">
            <a:solidFill>
              <a:srgbClr val="1C1C1C"/>
            </a:solidFill>
            <a:prstDash val="sysDot"/>
          </a:ln>
        </p:spPr>
      </p:sp>
      <p:sp>
        <p:nvSpPr>
          <p:cNvPr id="29" name="Text 26"/>
          <p:cNvSpPr/>
          <p:nvPr/>
        </p:nvSpPr>
        <p:spPr>
          <a:xfrm>
            <a:off x="630000" y="4102200"/>
            <a:ext cx="1476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6. Synthèse du PPPT</a:t>
            </a:r>
            <a:endParaRPr lang="en-US" sz="1160" dirty="0"/>
          </a:p>
        </p:txBody>
      </p:sp>
      <p:sp>
        <p:nvSpPr>
          <p:cNvPr id="30" name="Text 27"/>
          <p:cNvSpPr/>
          <p:nvPr/>
        </p:nvSpPr>
        <p:spPr>
          <a:xfrm>
            <a:off x="6595200" y="41022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32</a:t>
            </a:r>
            <a:endParaRPr lang="en-US" sz="1160" dirty="0"/>
          </a:p>
        </p:txBody>
      </p:sp>
      <p:sp>
        <p:nvSpPr>
          <p:cNvPr id="31" name="Shape 28"/>
          <p:cNvSpPr/>
          <p:nvPr/>
        </p:nvSpPr>
        <p:spPr>
          <a:xfrm>
            <a:off x="3211200" y="4676400"/>
            <a:ext cx="3304800" cy="0"/>
          </a:xfrm>
          <a:prstGeom prst="line">
            <a:avLst/>
          </a:prstGeom>
          <a:noFill/>
          <a:ln w="11430">
            <a:solidFill>
              <a:srgbClr val="1C1C1C"/>
            </a:solidFill>
            <a:prstDash val="sysDot"/>
          </a:ln>
        </p:spPr>
      </p:sp>
      <p:sp>
        <p:nvSpPr>
          <p:cNvPr id="32" name="Text 29"/>
          <p:cNvSpPr/>
          <p:nvPr/>
        </p:nvSpPr>
        <p:spPr>
          <a:xfrm>
            <a:off x="810000" y="4478400"/>
            <a:ext cx="240120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6.1 La loi « Climat et Résilience »</a:t>
            </a:r>
            <a:endParaRPr lang="en-US" sz="1090" dirty="0"/>
          </a:p>
        </p:txBody>
      </p:sp>
      <p:sp>
        <p:nvSpPr>
          <p:cNvPr id="33" name="Text 30"/>
          <p:cNvSpPr/>
          <p:nvPr/>
        </p:nvSpPr>
        <p:spPr>
          <a:xfrm>
            <a:off x="6595200" y="44784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32</a:t>
            </a:r>
            <a:endParaRPr lang="en-US" sz="1090" dirty="0"/>
          </a:p>
        </p:txBody>
      </p:sp>
      <p:sp>
        <p:nvSpPr>
          <p:cNvPr id="34" name="Shape 31"/>
          <p:cNvSpPr/>
          <p:nvPr/>
        </p:nvSpPr>
        <p:spPr>
          <a:xfrm>
            <a:off x="4914720" y="5052600"/>
            <a:ext cx="1601280" cy="0"/>
          </a:xfrm>
          <a:prstGeom prst="line">
            <a:avLst/>
          </a:prstGeom>
          <a:noFill/>
          <a:ln w="11430">
            <a:solidFill>
              <a:srgbClr val="1C1C1C"/>
            </a:solidFill>
            <a:prstDash val="sysDot"/>
          </a:ln>
        </p:spPr>
      </p:sp>
      <p:sp>
        <p:nvSpPr>
          <p:cNvPr id="35" name="Text 32"/>
          <p:cNvSpPr/>
          <p:nvPr/>
        </p:nvSpPr>
        <p:spPr>
          <a:xfrm>
            <a:off x="810000" y="4854600"/>
            <a:ext cx="41047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6.2 Le diagnostic de performance énergétiques (DPE Collectif)</a:t>
            </a:r>
            <a:endParaRPr lang="en-US" sz="1090" dirty="0"/>
          </a:p>
        </p:txBody>
      </p:sp>
      <p:sp>
        <p:nvSpPr>
          <p:cNvPr id="36" name="Text 33"/>
          <p:cNvSpPr/>
          <p:nvPr/>
        </p:nvSpPr>
        <p:spPr>
          <a:xfrm>
            <a:off x="6595200" y="48546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33</a:t>
            </a:r>
            <a:endParaRPr lang="en-US" sz="1090" dirty="0"/>
          </a:p>
        </p:txBody>
      </p:sp>
      <p:sp>
        <p:nvSpPr>
          <p:cNvPr id="37" name="Shape 34"/>
          <p:cNvSpPr/>
          <p:nvPr/>
        </p:nvSpPr>
        <p:spPr>
          <a:xfrm>
            <a:off x="2556000" y="5428800"/>
            <a:ext cx="3960000" cy="0"/>
          </a:xfrm>
          <a:prstGeom prst="line">
            <a:avLst/>
          </a:prstGeom>
          <a:noFill/>
          <a:ln w="11430">
            <a:solidFill>
              <a:srgbClr val="1C1C1C"/>
            </a:solidFill>
            <a:prstDash val="sysDot"/>
          </a:ln>
        </p:spPr>
      </p:sp>
      <p:sp>
        <p:nvSpPr>
          <p:cNvPr id="38" name="Text 35"/>
          <p:cNvSpPr/>
          <p:nvPr/>
        </p:nvSpPr>
        <p:spPr>
          <a:xfrm>
            <a:off x="810000" y="5230800"/>
            <a:ext cx="174600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6.3 Synthèse des curatifs</a:t>
            </a:r>
            <a:endParaRPr lang="en-US" sz="1090" dirty="0"/>
          </a:p>
        </p:txBody>
      </p:sp>
      <p:sp>
        <p:nvSpPr>
          <p:cNvPr id="39" name="Text 36"/>
          <p:cNvSpPr/>
          <p:nvPr/>
        </p:nvSpPr>
        <p:spPr>
          <a:xfrm>
            <a:off x="6595200" y="52308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35</a:t>
            </a:r>
            <a:endParaRPr lang="en-US" sz="1090" dirty="0"/>
          </a:p>
        </p:txBody>
      </p:sp>
      <p:sp>
        <p:nvSpPr>
          <p:cNvPr id="40" name="Shape 37"/>
          <p:cNvSpPr/>
          <p:nvPr/>
        </p:nvSpPr>
        <p:spPr>
          <a:xfrm>
            <a:off x="4456080" y="5805000"/>
            <a:ext cx="2059920" cy="0"/>
          </a:xfrm>
          <a:prstGeom prst="line">
            <a:avLst/>
          </a:prstGeom>
          <a:noFill/>
          <a:ln w="11430">
            <a:solidFill>
              <a:srgbClr val="1C1C1C"/>
            </a:solidFill>
            <a:prstDash val="sysDot"/>
          </a:ln>
        </p:spPr>
      </p:sp>
      <p:sp>
        <p:nvSpPr>
          <p:cNvPr id="41" name="Text 38"/>
          <p:cNvSpPr/>
          <p:nvPr/>
        </p:nvSpPr>
        <p:spPr>
          <a:xfrm>
            <a:off x="810000" y="5607000"/>
            <a:ext cx="364608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Tableau 1 – Tableau récapitulatif des travaux curatifs</a:t>
            </a:r>
            <a:endParaRPr lang="en-US" sz="1090" dirty="0"/>
          </a:p>
        </p:txBody>
      </p:sp>
      <p:sp>
        <p:nvSpPr>
          <p:cNvPr id="42" name="Text 39"/>
          <p:cNvSpPr/>
          <p:nvPr/>
        </p:nvSpPr>
        <p:spPr>
          <a:xfrm>
            <a:off x="6595200" y="56070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36</a:t>
            </a:r>
            <a:endParaRPr lang="en-US" sz="1090" dirty="0"/>
          </a:p>
        </p:txBody>
      </p:sp>
      <p:sp>
        <p:nvSpPr>
          <p:cNvPr id="43" name="Shape 40"/>
          <p:cNvSpPr/>
          <p:nvPr/>
        </p:nvSpPr>
        <p:spPr>
          <a:xfrm>
            <a:off x="4718160" y="6181200"/>
            <a:ext cx="1797840" cy="0"/>
          </a:xfrm>
          <a:prstGeom prst="line">
            <a:avLst/>
          </a:prstGeom>
          <a:noFill/>
          <a:ln w="11430">
            <a:solidFill>
              <a:srgbClr val="1C1C1C"/>
            </a:solidFill>
            <a:prstDash val="sysDot"/>
          </a:ln>
        </p:spPr>
      </p:sp>
      <p:sp>
        <p:nvSpPr>
          <p:cNvPr id="44" name="Text 41"/>
          <p:cNvSpPr/>
          <p:nvPr/>
        </p:nvSpPr>
        <p:spPr>
          <a:xfrm>
            <a:off x="810000" y="5983200"/>
            <a:ext cx="390816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Tableau 2 – Tableau récapitulatif des travaux énergétiques</a:t>
            </a:r>
            <a:endParaRPr lang="en-US" sz="1090" dirty="0"/>
          </a:p>
        </p:txBody>
      </p:sp>
      <p:sp>
        <p:nvSpPr>
          <p:cNvPr id="45" name="Text 42"/>
          <p:cNvSpPr/>
          <p:nvPr/>
        </p:nvSpPr>
        <p:spPr>
          <a:xfrm>
            <a:off x="6595200" y="59832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37</a:t>
            </a:r>
            <a:endParaRPr lang="en-US" sz="1090" dirty="0"/>
          </a:p>
        </p:txBody>
      </p:sp>
      <p:sp>
        <p:nvSpPr>
          <p:cNvPr id="46" name="Shape 43"/>
          <p:cNvSpPr/>
          <p:nvPr/>
        </p:nvSpPr>
        <p:spPr>
          <a:xfrm>
            <a:off x="1674000" y="6557400"/>
            <a:ext cx="4842000" cy="0"/>
          </a:xfrm>
          <a:prstGeom prst="line">
            <a:avLst/>
          </a:prstGeom>
          <a:noFill/>
          <a:ln w="11430">
            <a:solidFill>
              <a:srgbClr val="1C1C1C"/>
            </a:solidFill>
            <a:prstDash val="sysDot"/>
          </a:ln>
        </p:spPr>
      </p:sp>
      <p:sp>
        <p:nvSpPr>
          <p:cNvPr id="47" name="Text 44"/>
          <p:cNvSpPr/>
          <p:nvPr/>
        </p:nvSpPr>
        <p:spPr>
          <a:xfrm>
            <a:off x="630000" y="6359400"/>
            <a:ext cx="1044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7. CONCLUSION</a:t>
            </a:r>
            <a:endParaRPr lang="en-US" sz="1160" dirty="0"/>
          </a:p>
        </p:txBody>
      </p:sp>
      <p:sp>
        <p:nvSpPr>
          <p:cNvPr id="48" name="Text 45"/>
          <p:cNvSpPr/>
          <p:nvPr/>
        </p:nvSpPr>
        <p:spPr>
          <a:xfrm>
            <a:off x="6595200" y="63594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38</a:t>
            </a:r>
            <a:endParaRPr lang="en-US" sz="1160" dirty="0"/>
          </a:p>
        </p:txBody>
      </p:sp>
      <p:sp>
        <p:nvSpPr>
          <p:cNvPr id="49" name="Shape 46"/>
          <p:cNvSpPr/>
          <p:nvPr/>
        </p:nvSpPr>
        <p:spPr>
          <a:xfrm>
            <a:off x="2424960" y="6933600"/>
            <a:ext cx="4091040" cy="0"/>
          </a:xfrm>
          <a:prstGeom prst="line">
            <a:avLst/>
          </a:prstGeom>
          <a:noFill/>
          <a:ln w="11430">
            <a:solidFill>
              <a:srgbClr val="1C1C1C"/>
            </a:solidFill>
            <a:prstDash val="sysDot"/>
          </a:ln>
        </p:spPr>
      </p:sp>
      <p:sp>
        <p:nvSpPr>
          <p:cNvPr id="50" name="Text 47"/>
          <p:cNvSpPr/>
          <p:nvPr/>
        </p:nvSpPr>
        <p:spPr>
          <a:xfrm>
            <a:off x="810000" y="6735600"/>
            <a:ext cx="161496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7.1 Conclusion générale</a:t>
            </a:r>
            <a:endParaRPr lang="en-US" sz="1090" dirty="0"/>
          </a:p>
        </p:txBody>
      </p:sp>
      <p:sp>
        <p:nvSpPr>
          <p:cNvPr id="51" name="Text 48"/>
          <p:cNvSpPr/>
          <p:nvPr/>
        </p:nvSpPr>
        <p:spPr>
          <a:xfrm>
            <a:off x="6595200" y="67356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38</a:t>
            </a:r>
            <a:endParaRPr lang="en-US" sz="1090" dirty="0"/>
          </a:p>
        </p:txBody>
      </p:sp>
      <p:sp>
        <p:nvSpPr>
          <p:cNvPr id="52" name="Shape 49"/>
          <p:cNvSpPr/>
          <p:nvPr/>
        </p:nvSpPr>
        <p:spPr>
          <a:xfrm>
            <a:off x="3834000" y="7309800"/>
            <a:ext cx="2682000" cy="0"/>
          </a:xfrm>
          <a:prstGeom prst="line">
            <a:avLst/>
          </a:prstGeom>
          <a:noFill/>
          <a:ln w="11430">
            <a:solidFill>
              <a:srgbClr val="1C1C1C"/>
            </a:solidFill>
            <a:prstDash val="sysDot"/>
          </a:ln>
        </p:spPr>
      </p:sp>
      <p:sp>
        <p:nvSpPr>
          <p:cNvPr id="53" name="Text 50"/>
          <p:cNvSpPr/>
          <p:nvPr/>
        </p:nvSpPr>
        <p:spPr>
          <a:xfrm>
            <a:off x="630000" y="7111800"/>
            <a:ext cx="3204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8. FINANCEMENTS À LA RÉNOVATION ÉNERGÉTIQUE</a:t>
            </a:r>
            <a:endParaRPr lang="en-US" sz="1160" dirty="0"/>
          </a:p>
        </p:txBody>
      </p:sp>
      <p:sp>
        <p:nvSpPr>
          <p:cNvPr id="54" name="Text 51"/>
          <p:cNvSpPr/>
          <p:nvPr/>
        </p:nvSpPr>
        <p:spPr>
          <a:xfrm>
            <a:off x="6595200" y="71118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39</a:t>
            </a:r>
            <a:endParaRPr lang="en-US" sz="1160" dirty="0"/>
          </a:p>
        </p:txBody>
      </p:sp>
      <p:sp>
        <p:nvSpPr>
          <p:cNvPr id="55" name="Shape 52"/>
          <p:cNvSpPr/>
          <p:nvPr/>
        </p:nvSpPr>
        <p:spPr>
          <a:xfrm>
            <a:off x="2949120" y="7686000"/>
            <a:ext cx="3566880" cy="0"/>
          </a:xfrm>
          <a:prstGeom prst="line">
            <a:avLst/>
          </a:prstGeom>
          <a:noFill/>
          <a:ln w="11430">
            <a:solidFill>
              <a:srgbClr val="1C1C1C"/>
            </a:solidFill>
            <a:prstDash val="sysDot"/>
          </a:ln>
        </p:spPr>
      </p:sp>
      <p:sp>
        <p:nvSpPr>
          <p:cNvPr id="56" name="Text 53"/>
          <p:cNvSpPr/>
          <p:nvPr/>
        </p:nvSpPr>
        <p:spPr>
          <a:xfrm>
            <a:off x="810000" y="7488000"/>
            <a:ext cx="21391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8.1 Ma Prime Rénov’Copropriétés</a:t>
            </a:r>
            <a:endParaRPr lang="en-US" sz="1090" dirty="0"/>
          </a:p>
        </p:txBody>
      </p:sp>
      <p:sp>
        <p:nvSpPr>
          <p:cNvPr id="57" name="Text 54"/>
          <p:cNvSpPr/>
          <p:nvPr/>
        </p:nvSpPr>
        <p:spPr>
          <a:xfrm>
            <a:off x="6595200" y="74880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39</a:t>
            </a:r>
            <a:endParaRPr lang="en-US" sz="1090" dirty="0"/>
          </a:p>
        </p:txBody>
      </p:sp>
      <p:sp>
        <p:nvSpPr>
          <p:cNvPr id="58" name="Shape 55"/>
          <p:cNvSpPr/>
          <p:nvPr/>
        </p:nvSpPr>
        <p:spPr>
          <a:xfrm>
            <a:off x="3604320" y="8062200"/>
            <a:ext cx="2911680" cy="0"/>
          </a:xfrm>
          <a:prstGeom prst="line">
            <a:avLst/>
          </a:prstGeom>
          <a:noFill/>
          <a:ln w="11430">
            <a:solidFill>
              <a:srgbClr val="1C1C1C"/>
            </a:solidFill>
            <a:prstDash val="sysDot"/>
          </a:ln>
        </p:spPr>
      </p:sp>
      <p:sp>
        <p:nvSpPr>
          <p:cNvPr id="59" name="Text 56"/>
          <p:cNvSpPr/>
          <p:nvPr/>
        </p:nvSpPr>
        <p:spPr>
          <a:xfrm>
            <a:off x="810000" y="7864200"/>
            <a:ext cx="27943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8.2 Les Certificats d’Économies d’Énergie</a:t>
            </a:r>
            <a:endParaRPr lang="en-US" sz="1090" dirty="0"/>
          </a:p>
        </p:txBody>
      </p:sp>
      <p:sp>
        <p:nvSpPr>
          <p:cNvPr id="60" name="Text 57"/>
          <p:cNvSpPr/>
          <p:nvPr/>
        </p:nvSpPr>
        <p:spPr>
          <a:xfrm>
            <a:off x="6595200" y="78642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40</a:t>
            </a:r>
            <a:endParaRPr lang="en-US" sz="1090" dirty="0"/>
          </a:p>
        </p:txBody>
      </p:sp>
      <p:sp>
        <p:nvSpPr>
          <p:cNvPr id="61" name="Shape 58"/>
          <p:cNvSpPr/>
          <p:nvPr/>
        </p:nvSpPr>
        <p:spPr>
          <a:xfrm>
            <a:off x="3407760" y="8438400"/>
            <a:ext cx="3108240" cy="0"/>
          </a:xfrm>
          <a:prstGeom prst="line">
            <a:avLst/>
          </a:prstGeom>
          <a:noFill/>
          <a:ln w="11430">
            <a:solidFill>
              <a:srgbClr val="1C1C1C"/>
            </a:solidFill>
            <a:prstDash val="sysDot"/>
          </a:ln>
        </p:spPr>
      </p:sp>
      <p:sp>
        <p:nvSpPr>
          <p:cNvPr id="62" name="Text 59"/>
          <p:cNvSpPr/>
          <p:nvPr/>
        </p:nvSpPr>
        <p:spPr>
          <a:xfrm>
            <a:off x="810000" y="8240400"/>
            <a:ext cx="259776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8.3 L’Éco-Prêt à Taux Zéro Copropriété</a:t>
            </a:r>
            <a:endParaRPr lang="en-US" sz="1090" dirty="0"/>
          </a:p>
        </p:txBody>
      </p:sp>
      <p:sp>
        <p:nvSpPr>
          <p:cNvPr id="63" name="Text 60"/>
          <p:cNvSpPr/>
          <p:nvPr/>
        </p:nvSpPr>
        <p:spPr>
          <a:xfrm>
            <a:off x="6595200" y="82404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41</a:t>
            </a:r>
            <a:endParaRPr lang="en-US" sz="1090" dirty="0"/>
          </a:p>
        </p:txBody>
      </p:sp>
      <p:sp>
        <p:nvSpPr>
          <p:cNvPr id="64" name="Shape 61"/>
          <p:cNvSpPr/>
          <p:nvPr/>
        </p:nvSpPr>
        <p:spPr>
          <a:xfrm>
            <a:off x="3014640" y="8814600"/>
            <a:ext cx="3501360" cy="0"/>
          </a:xfrm>
          <a:prstGeom prst="line">
            <a:avLst/>
          </a:prstGeom>
          <a:noFill/>
          <a:ln w="11430">
            <a:solidFill>
              <a:srgbClr val="1C1C1C"/>
            </a:solidFill>
            <a:prstDash val="sysDot"/>
          </a:ln>
        </p:spPr>
      </p:sp>
      <p:sp>
        <p:nvSpPr>
          <p:cNvPr id="65" name="Text 62"/>
          <p:cNvSpPr/>
          <p:nvPr/>
        </p:nvSpPr>
        <p:spPr>
          <a:xfrm>
            <a:off x="810000" y="8616600"/>
            <a:ext cx="220464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8.4 La TVA à taux réduite à 5,5%</a:t>
            </a:r>
            <a:endParaRPr lang="en-US" sz="1090" dirty="0"/>
          </a:p>
        </p:txBody>
      </p:sp>
      <p:sp>
        <p:nvSpPr>
          <p:cNvPr id="66" name="Text 63"/>
          <p:cNvSpPr/>
          <p:nvPr/>
        </p:nvSpPr>
        <p:spPr>
          <a:xfrm>
            <a:off x="6595200" y="86166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42</a:t>
            </a:r>
            <a:endParaRPr lang="en-US" sz="109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algn="ctr" indent="0" marL="0">
              <a:buNone/>
            </a:pPr>
            <a:r>
              <a:rPr lang="en-US" sz="1580" b="1" dirty="0">
                <a:solidFill>
                  <a:srgbClr val="FFFFFF"/>
                </a:solidFill>
                <a:latin typeface="Calibri" pitchFamily="34" charset="0"/>
                <a:ea typeface="Calibri" pitchFamily="34" charset="-122"/>
                <a:cs typeface="Calibri" pitchFamily="34" charset="-120"/>
              </a:rPr>
              <a:t>SOMMAIRE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normAutofit/>
          </a:bodyPr>
          <a:lstStyle/>
          <a:p>
            <a:pPr algn="ctr" indent="0" marL="0">
              <a:buNone/>
            </a:pPr>
            <a:r>
              <a:rPr lang="en-US" sz="950" dirty="0">
                <a:solidFill>
                  <a:srgbClr val="808080"/>
                </a:solidFill>
                <a:latin typeface="Calibri" pitchFamily="34" charset="0"/>
                <a:ea typeface="Calibri" pitchFamily="34" charset="-122"/>
                <a:cs typeface="Calibri"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normAutofit/>
          </a:bodyPr>
          <a:lstStyle/>
          <a:p>
            <a:pPr algn="r" indent="0" marL="0">
              <a:buNone/>
            </a:pPr>
            <a:r>
              <a:rPr lang="en-US" sz="950" dirty="0">
                <a:solidFill>
                  <a:srgbClr val="808080"/>
                </a:solidFill>
                <a:latin typeface="Calibri" pitchFamily="34" charset="0"/>
                <a:ea typeface="Calibri" pitchFamily="34" charset="-122"/>
                <a:cs typeface="Calibri" pitchFamily="34" charset="-120"/>
              </a:rPr>
              <a:t>7</a:t>
            </a:r>
            <a:endParaRPr lang="en-US" sz="950" dirty="0"/>
          </a:p>
        </p:txBody>
      </p:sp>
      <p:sp>
        <p:nvSpPr>
          <p:cNvPr id="7" name="Shape 4"/>
          <p:cNvSpPr/>
          <p:nvPr/>
        </p:nvSpPr>
        <p:spPr>
          <a:xfrm>
            <a:off x="4062960" y="1666800"/>
            <a:ext cx="2453040" cy="0"/>
          </a:xfrm>
          <a:prstGeom prst="line">
            <a:avLst/>
          </a:prstGeom>
          <a:noFill/>
          <a:ln w="11430">
            <a:solidFill>
              <a:srgbClr val="1C1C1C"/>
            </a:solidFill>
            <a:prstDash val="sysDot"/>
          </a:ln>
        </p:spPr>
      </p:sp>
      <p:sp>
        <p:nvSpPr>
          <p:cNvPr id="8" name="Text 5"/>
          <p:cNvSpPr/>
          <p:nvPr/>
        </p:nvSpPr>
        <p:spPr>
          <a:xfrm>
            <a:off x="810000" y="1468800"/>
            <a:ext cx="325296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8.5 Précision sur le cumul des aides financières</a:t>
            </a:r>
            <a:endParaRPr lang="en-US" sz="1090" dirty="0"/>
          </a:p>
        </p:txBody>
      </p:sp>
      <p:sp>
        <p:nvSpPr>
          <p:cNvPr id="9" name="Text 6"/>
          <p:cNvSpPr/>
          <p:nvPr/>
        </p:nvSpPr>
        <p:spPr>
          <a:xfrm>
            <a:off x="6595200" y="14688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43</a:t>
            </a:r>
            <a:endParaRPr lang="en-US" sz="1090" dirty="0"/>
          </a:p>
        </p:txBody>
      </p:sp>
      <p:sp>
        <p:nvSpPr>
          <p:cNvPr id="10" name="Shape 7"/>
          <p:cNvSpPr/>
          <p:nvPr/>
        </p:nvSpPr>
        <p:spPr>
          <a:xfrm>
            <a:off x="4849200" y="2043000"/>
            <a:ext cx="1666800" cy="0"/>
          </a:xfrm>
          <a:prstGeom prst="line">
            <a:avLst/>
          </a:prstGeom>
          <a:noFill/>
          <a:ln w="11430">
            <a:solidFill>
              <a:srgbClr val="1C1C1C"/>
            </a:solidFill>
            <a:prstDash val="sysDot"/>
          </a:ln>
        </p:spPr>
      </p:sp>
      <p:sp>
        <p:nvSpPr>
          <p:cNvPr id="11" name="Text 8"/>
          <p:cNvSpPr/>
          <p:nvPr/>
        </p:nvSpPr>
        <p:spPr>
          <a:xfrm>
            <a:off x="810000" y="1845000"/>
            <a:ext cx="403920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8.6 Les étapes d’un projet de rénovation énergétique globale</a:t>
            </a:r>
            <a:endParaRPr lang="en-US" sz="1090" dirty="0"/>
          </a:p>
        </p:txBody>
      </p:sp>
      <p:sp>
        <p:nvSpPr>
          <p:cNvPr id="12" name="Text 9"/>
          <p:cNvSpPr/>
          <p:nvPr/>
        </p:nvSpPr>
        <p:spPr>
          <a:xfrm>
            <a:off x="6595200" y="18450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44</a:t>
            </a:r>
            <a:endParaRPr lang="en-US" sz="1090" dirty="0"/>
          </a:p>
        </p:txBody>
      </p:sp>
      <p:sp>
        <p:nvSpPr>
          <p:cNvPr id="13" name="Shape 10"/>
          <p:cNvSpPr/>
          <p:nvPr/>
        </p:nvSpPr>
        <p:spPr>
          <a:xfrm>
            <a:off x="1458000" y="2419200"/>
            <a:ext cx="5058000" cy="0"/>
          </a:xfrm>
          <a:prstGeom prst="line">
            <a:avLst/>
          </a:prstGeom>
          <a:noFill/>
          <a:ln w="11430">
            <a:solidFill>
              <a:srgbClr val="1C1C1C"/>
            </a:solidFill>
            <a:prstDash val="sysDot"/>
          </a:ln>
        </p:spPr>
      </p:sp>
      <p:sp>
        <p:nvSpPr>
          <p:cNvPr id="14" name="Text 11"/>
          <p:cNvSpPr/>
          <p:nvPr/>
        </p:nvSpPr>
        <p:spPr>
          <a:xfrm>
            <a:off x="630000" y="2221200"/>
            <a:ext cx="828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9. Lexique</a:t>
            </a:r>
            <a:endParaRPr lang="en-US" sz="1160" dirty="0"/>
          </a:p>
        </p:txBody>
      </p:sp>
      <p:sp>
        <p:nvSpPr>
          <p:cNvPr id="15" name="Text 12"/>
          <p:cNvSpPr/>
          <p:nvPr/>
        </p:nvSpPr>
        <p:spPr>
          <a:xfrm>
            <a:off x="6595200" y="22212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45</a:t>
            </a:r>
            <a:endParaRPr lang="en-US" sz="1160" dirty="0"/>
          </a:p>
        </p:txBody>
      </p:sp>
      <p:sp>
        <p:nvSpPr>
          <p:cNvPr id="16" name="Shape 13"/>
          <p:cNvSpPr/>
          <p:nvPr/>
        </p:nvSpPr>
        <p:spPr>
          <a:xfrm>
            <a:off x="1638720" y="2795400"/>
            <a:ext cx="4877280" cy="0"/>
          </a:xfrm>
          <a:prstGeom prst="line">
            <a:avLst/>
          </a:prstGeom>
          <a:noFill/>
          <a:ln w="11430">
            <a:solidFill>
              <a:srgbClr val="1C1C1C"/>
            </a:solidFill>
            <a:prstDash val="sysDot"/>
          </a:ln>
        </p:spPr>
      </p:sp>
      <p:sp>
        <p:nvSpPr>
          <p:cNvPr id="17" name="Text 14"/>
          <p:cNvSpPr/>
          <p:nvPr/>
        </p:nvSpPr>
        <p:spPr>
          <a:xfrm>
            <a:off x="810000" y="2597400"/>
            <a:ext cx="8287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9.1 Lexique</a:t>
            </a:r>
            <a:endParaRPr lang="en-US" sz="1090" dirty="0"/>
          </a:p>
        </p:txBody>
      </p:sp>
      <p:sp>
        <p:nvSpPr>
          <p:cNvPr id="18" name="Text 15"/>
          <p:cNvSpPr/>
          <p:nvPr/>
        </p:nvSpPr>
        <p:spPr>
          <a:xfrm>
            <a:off x="6595200" y="25974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45</a:t>
            </a:r>
            <a:endParaRPr lang="en-US" sz="1090" dirty="0"/>
          </a:p>
        </p:txBody>
      </p:sp>
      <p:sp>
        <p:nvSpPr>
          <p:cNvPr id="19" name="Shape 16"/>
          <p:cNvSpPr/>
          <p:nvPr/>
        </p:nvSpPr>
        <p:spPr>
          <a:xfrm>
            <a:off x="1638720" y="3171600"/>
            <a:ext cx="4877280" cy="0"/>
          </a:xfrm>
          <a:prstGeom prst="line">
            <a:avLst/>
          </a:prstGeom>
          <a:noFill/>
          <a:ln w="11430">
            <a:solidFill>
              <a:srgbClr val="1C1C1C"/>
            </a:solidFill>
            <a:prstDash val="sysDot"/>
          </a:ln>
        </p:spPr>
      </p:sp>
      <p:sp>
        <p:nvSpPr>
          <p:cNvPr id="20" name="Text 17"/>
          <p:cNvSpPr/>
          <p:nvPr/>
        </p:nvSpPr>
        <p:spPr>
          <a:xfrm>
            <a:off x="810000" y="2973600"/>
            <a:ext cx="8287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9.2 Lexique</a:t>
            </a:r>
            <a:endParaRPr lang="en-US" sz="1090" dirty="0"/>
          </a:p>
        </p:txBody>
      </p:sp>
      <p:sp>
        <p:nvSpPr>
          <p:cNvPr id="21" name="Text 18"/>
          <p:cNvSpPr/>
          <p:nvPr/>
        </p:nvSpPr>
        <p:spPr>
          <a:xfrm>
            <a:off x="6595200" y="29736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46</a:t>
            </a:r>
            <a:endParaRPr lang="en-US" sz="1090" dirty="0"/>
          </a:p>
        </p:txBody>
      </p:sp>
      <p:sp>
        <p:nvSpPr>
          <p:cNvPr id="22" name="Shape 19"/>
          <p:cNvSpPr/>
          <p:nvPr/>
        </p:nvSpPr>
        <p:spPr>
          <a:xfrm>
            <a:off x="2826000" y="3547800"/>
            <a:ext cx="3690000" cy="0"/>
          </a:xfrm>
          <a:prstGeom prst="line">
            <a:avLst/>
          </a:prstGeom>
          <a:noFill/>
          <a:ln w="11430">
            <a:solidFill>
              <a:srgbClr val="1C1C1C"/>
            </a:solidFill>
            <a:prstDash val="sysDot"/>
          </a:ln>
        </p:spPr>
      </p:sp>
      <p:sp>
        <p:nvSpPr>
          <p:cNvPr id="23" name="Text 20"/>
          <p:cNvSpPr/>
          <p:nvPr/>
        </p:nvSpPr>
        <p:spPr>
          <a:xfrm>
            <a:off x="630000" y="3349800"/>
            <a:ext cx="2196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10. Déclaration sur l’honneur</a:t>
            </a:r>
            <a:endParaRPr lang="en-US" sz="1160" dirty="0"/>
          </a:p>
        </p:txBody>
      </p:sp>
      <p:sp>
        <p:nvSpPr>
          <p:cNvPr id="24" name="Text 21"/>
          <p:cNvSpPr/>
          <p:nvPr/>
        </p:nvSpPr>
        <p:spPr>
          <a:xfrm>
            <a:off x="6595200" y="33498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47</a:t>
            </a:r>
            <a:endParaRPr lang="en-US" sz="1160" dirty="0"/>
          </a:p>
        </p:txBody>
      </p:sp>
      <p:sp>
        <p:nvSpPr>
          <p:cNvPr id="25" name="Shape 22"/>
          <p:cNvSpPr/>
          <p:nvPr/>
        </p:nvSpPr>
        <p:spPr>
          <a:xfrm>
            <a:off x="1458000" y="3924000"/>
            <a:ext cx="5058000" cy="0"/>
          </a:xfrm>
          <a:prstGeom prst="line">
            <a:avLst/>
          </a:prstGeom>
          <a:noFill/>
          <a:ln w="11430">
            <a:solidFill>
              <a:srgbClr val="1C1C1C"/>
            </a:solidFill>
            <a:prstDash val="sysDot"/>
          </a:ln>
        </p:spPr>
      </p:sp>
      <p:sp>
        <p:nvSpPr>
          <p:cNvPr id="26" name="Text 23"/>
          <p:cNvSpPr/>
          <p:nvPr/>
        </p:nvSpPr>
        <p:spPr>
          <a:xfrm>
            <a:off x="630000" y="3726000"/>
            <a:ext cx="828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11. Annexe</a:t>
            </a:r>
            <a:endParaRPr lang="en-US" sz="1160" dirty="0"/>
          </a:p>
        </p:txBody>
      </p:sp>
      <p:sp>
        <p:nvSpPr>
          <p:cNvPr id="27" name="Text 24"/>
          <p:cNvSpPr/>
          <p:nvPr/>
        </p:nvSpPr>
        <p:spPr>
          <a:xfrm>
            <a:off x="6595200" y="37260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47</a:t>
            </a:r>
            <a:endParaRPr lang="en-US" sz="1160" dirty="0"/>
          </a:p>
        </p:txBody>
      </p:sp>
      <p:sp>
        <p:nvSpPr>
          <p:cNvPr id="28" name="Shape 25"/>
          <p:cNvSpPr/>
          <p:nvPr/>
        </p:nvSpPr>
        <p:spPr>
          <a:xfrm>
            <a:off x="4062960" y="4300200"/>
            <a:ext cx="2453040" cy="0"/>
          </a:xfrm>
          <a:prstGeom prst="line">
            <a:avLst/>
          </a:prstGeom>
          <a:noFill/>
          <a:ln w="11430">
            <a:solidFill>
              <a:srgbClr val="1C1C1C"/>
            </a:solidFill>
            <a:prstDash val="sysDot"/>
          </a:ln>
        </p:spPr>
      </p:sp>
      <p:sp>
        <p:nvSpPr>
          <p:cNvPr id="29" name="Text 26"/>
          <p:cNvSpPr/>
          <p:nvPr/>
        </p:nvSpPr>
        <p:spPr>
          <a:xfrm>
            <a:off x="810000" y="4102200"/>
            <a:ext cx="325296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11.1 Etat des risques et informations Géorisques</a:t>
            </a:r>
            <a:endParaRPr lang="en-US" sz="1090" dirty="0"/>
          </a:p>
        </p:txBody>
      </p:sp>
      <p:sp>
        <p:nvSpPr>
          <p:cNvPr id="30" name="Text 27"/>
          <p:cNvSpPr/>
          <p:nvPr/>
        </p:nvSpPr>
        <p:spPr>
          <a:xfrm>
            <a:off x="6595200" y="41022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47</a:t>
            </a:r>
            <a:endParaRPr lang="en-US" sz="109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algn="ctr" indent="0" marL="0">
              <a:buNone/>
            </a:pPr>
            <a:r>
              <a:rPr lang="en-US" sz="1580" b="1" dirty="0">
                <a:solidFill>
                  <a:srgbClr val="FFFFFF"/>
                </a:solidFill>
                <a:latin typeface="Calibri" pitchFamily="34" charset="0"/>
                <a:ea typeface="Calibri" pitchFamily="34" charset="-122"/>
                <a:cs typeface="Calibri" pitchFamily="34" charset="-120"/>
              </a:rPr>
              <a:t>1. INTRODUCTION</a:t>
            </a:r>
            <a:endParaRPr lang="en-US" sz="1580" dirty="0"/>
          </a:p>
        </p:txBody>
      </p:sp>
      <p:sp>
        <p:nvSpPr>
          <p:cNvPr id="5" name="Text 2"/>
          <p:cNvSpPr/>
          <p:nvPr/>
        </p:nvSpPr>
        <p:spPr>
          <a:xfrm>
            <a:off x="541080" y="1284840"/>
            <a:ext cx="6484680" cy="8268120"/>
          </a:xfrm>
          <a:prstGeom prst="rect">
            <a:avLst/>
          </a:prstGeom>
          <a:noFill/>
          <a:ln/>
        </p:spPr>
        <p:txBody>
          <a:bodyPr wrap="square" lIns="88900" tIns="44450" rIns="88900" bIns="44450" rtlCol="0" anchor="t">
            <a:spAutoFit/>
          </a:bodyPr>
          <a:lstStyle/>
          <a:p>
            <a:pPr algn="just" indent="0" marL="0">
              <a:buNone/>
            </a:pPr>
            <a:r>
              <a:rPr lang="en-US" sz="1300" b="1" dirty="0">
                <a:solidFill>
                  <a:srgbClr val="1C1C1C"/>
                </a:solidFill>
                <a:latin typeface="Calibri" pitchFamily="34" charset="0"/>
                <a:ea typeface="Calibri" pitchFamily="34" charset="-122"/>
                <a:cs typeface="Calibri" pitchFamily="34" charset="-120"/>
              </a:rPr>
              <a:t>1.1 Cadre réglementaire du Projet de Plan Pluriannuel de Travaux (PPPT)</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Le présent document constitue un </a:t>
            </a:r>
            <a:pPr algn="just" indent="0" marL="0">
              <a:buNone/>
            </a:pPr>
            <a:r>
              <a:rPr lang="en-US" sz="1100" b="1" dirty="0">
                <a:solidFill>
                  <a:srgbClr val="1C1C1C"/>
                </a:solidFill>
                <a:latin typeface="Calibri" pitchFamily="34" charset="0"/>
                <a:ea typeface="Calibri" pitchFamily="34" charset="-122"/>
                <a:cs typeface="Calibri" pitchFamily="34" charset="-120"/>
              </a:rPr>
              <a:t>Projet de Plan Pluriannuel de Travaux (PPPT)</a:t>
            </a:r>
            <a:pPr algn="just" indent="0" marL="0">
              <a:buNone/>
            </a:pPr>
            <a:r>
              <a:rPr lang="en-US" sz="1100" dirty="0">
                <a:solidFill>
                  <a:srgbClr val="1C1C1C"/>
                </a:solidFill>
                <a:latin typeface="Calibri" pitchFamily="34" charset="0"/>
                <a:ea typeface="Calibri" pitchFamily="34" charset="-122"/>
                <a:cs typeface="Calibri" pitchFamily="34" charset="-120"/>
              </a:rPr>
              <a:t> établi conformément aux dispositions de la </a:t>
            </a:r>
            <a:pPr algn="just" indent="0" marL="0">
              <a:buNone/>
            </a:pPr>
            <a:r>
              <a:rPr lang="en-US" sz="1100" b="1" dirty="0">
                <a:solidFill>
                  <a:srgbClr val="1C1C1C"/>
                </a:solidFill>
                <a:latin typeface="Calibri" pitchFamily="34" charset="0"/>
                <a:ea typeface="Calibri" pitchFamily="34" charset="-122"/>
                <a:cs typeface="Calibri" pitchFamily="34" charset="-120"/>
              </a:rPr>
              <a:t>loi n° 2021-1104 du 22 août 2021</a:t>
            </a:r>
            <a:pPr algn="just" indent="0" marL="0">
              <a:buNone/>
            </a:pPr>
            <a:r>
              <a:rPr lang="en-US" sz="1100" dirty="0">
                <a:solidFill>
                  <a:srgbClr val="1C1C1C"/>
                </a:solidFill>
                <a:latin typeface="Calibri" pitchFamily="34" charset="0"/>
                <a:ea typeface="Calibri" pitchFamily="34" charset="-122"/>
                <a:cs typeface="Calibri" pitchFamily="34" charset="-120"/>
              </a:rPr>
              <a:t>, dite « Climat et Résilience », codifiées aux </a:t>
            </a:r>
            <a:pPr algn="just" indent="0" marL="0">
              <a:buNone/>
            </a:pPr>
            <a:r>
              <a:rPr lang="en-US" sz="1100" b="1" dirty="0">
                <a:solidFill>
                  <a:srgbClr val="1C1C1C"/>
                </a:solidFill>
                <a:latin typeface="Calibri" pitchFamily="34" charset="0"/>
                <a:ea typeface="Calibri" pitchFamily="34" charset="-122"/>
                <a:cs typeface="Calibri" pitchFamily="34" charset="-120"/>
              </a:rPr>
              <a:t>articles L.731-1 à L.731-5</a:t>
            </a:r>
            <a:pPr algn="just" indent="0" marL="0">
              <a:buNone/>
            </a:pPr>
            <a:r>
              <a:rPr lang="en-US" sz="1100" dirty="0">
                <a:solidFill>
                  <a:srgbClr val="1C1C1C"/>
                </a:solidFill>
                <a:latin typeface="Calibri" pitchFamily="34" charset="0"/>
                <a:ea typeface="Calibri" pitchFamily="34" charset="-122"/>
                <a:cs typeface="Calibri" pitchFamily="34" charset="-120"/>
              </a:rPr>
              <a:t> et </a:t>
            </a:r>
            <a:pPr algn="just" indent="0" marL="0">
              <a:buNone/>
            </a:pPr>
            <a:r>
              <a:rPr lang="en-US" sz="1100" b="1" dirty="0">
                <a:solidFill>
                  <a:srgbClr val="1C1C1C"/>
                </a:solidFill>
                <a:latin typeface="Calibri" pitchFamily="34" charset="0"/>
                <a:ea typeface="Calibri" pitchFamily="34" charset="-122"/>
                <a:cs typeface="Calibri" pitchFamily="34" charset="-120"/>
              </a:rPr>
              <a:t>R.731-1 à R.731-3 du Code de la construction et de l'habitation</a:t>
            </a:r>
            <a:pPr algn="just" indent="0" marL="0">
              <a:buNone/>
            </a:pPr>
            <a:r>
              <a:rPr lang="en-US" sz="1100" dirty="0">
                <a:solidFill>
                  <a:srgbClr val="1C1C1C"/>
                </a:solidFill>
                <a:latin typeface="Calibri" pitchFamily="34" charset="0"/>
                <a:ea typeface="Calibri" pitchFamily="34" charset="-122"/>
                <a:cs typeface="Calibri" pitchFamily="34" charset="-120"/>
              </a:rPr>
              <a:t>, ainsi qu'à </a:t>
            </a:r>
            <a:pPr algn="just" indent="0" marL="0">
              <a:buNone/>
            </a:pPr>
            <a:r>
              <a:rPr lang="en-US" sz="1100" b="1" dirty="0">
                <a:solidFill>
                  <a:srgbClr val="1C1C1C"/>
                </a:solidFill>
                <a:latin typeface="Calibri" pitchFamily="34" charset="0"/>
                <a:ea typeface="Calibri" pitchFamily="34" charset="-122"/>
                <a:cs typeface="Calibri" pitchFamily="34" charset="-120"/>
              </a:rPr>
              <a:t>l'arrêté du 30 mars 2022 relatif au contenu du Projet de Plan Pluriannuel de Travaux</a:t>
            </a:r>
            <a:pPr algn="just" indent="0" marL="0">
              <a:buNone/>
            </a:pPr>
            <a:r>
              <a:rPr lang="en-US" sz="1100" dirty="0">
                <a:solidFill>
                  <a:srgbClr val="1C1C1C"/>
                </a:solidFill>
                <a:latin typeface="Calibri" pitchFamily="34" charset="0"/>
                <a:ea typeface="Calibri" pitchFamily="34" charset="-122"/>
                <a:cs typeface="Calibri" pitchFamily="34" charset="-120"/>
              </a:rPr>
              <a:t>.</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Le PPPT est obligatoire pour les copropriétés de plus de 15 ans soumises au statut de la copropriété. Il a pour objectif d’anticiper les besoins de travaux sur les parties communes et les équipements collectifs de l’immeuble, de planifier leur réalisation sur une période de dix ans et d’en estimer les coûts prévisionnels.</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Son élaboration repose sur l’analyse de l’état apparent du bâti, des équipements communs et des informations communiquées par le syndicat des copropriétaires ou son représentant. Elle prend également en compte le Diagnostic de Performance Énergétique (DPE) collectif et, lorsqu’il existe, le Diagnostic Technique Global (DTG).</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Le PPPT répond à trois objectifs majeurs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Assurer la conservation et la pérennité du patrimoine immobilier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Garantir la sécurité et le confort des occupants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Favoriser l’amélioration de la performance énergétique du bâtiment.</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Le projet présenté dans ce rapport constitue un outil d’aide à la décision permettant à la copropriété d’identifier les travaux à prévoir, de hiérarchiser les interventions et d’anticiper les investissements futurs.</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Après sa présentation en assemblée générale, le PPPT pourra être adopté en tout ou partie par les copropriétaires. Une fois approuvé, il devient un </a:t>
            </a:r>
            <a:pPr algn="just" indent="0" marL="0">
              <a:buNone/>
            </a:pPr>
            <a:r>
              <a:rPr lang="en-US" sz="1100" b="1" dirty="0">
                <a:solidFill>
                  <a:srgbClr val="1C1C1C"/>
                </a:solidFill>
                <a:latin typeface="Calibri" pitchFamily="34" charset="0"/>
                <a:ea typeface="Calibri" pitchFamily="34" charset="-122"/>
                <a:cs typeface="Calibri" pitchFamily="34" charset="-120"/>
              </a:rPr>
              <a:t>Plan Pluriannuel de Travaux (PPT)</a:t>
            </a:r>
            <a:pPr algn="just" indent="0" marL="0">
              <a:buNone/>
            </a:pPr>
            <a:r>
              <a:rPr lang="en-US" sz="1100" dirty="0">
                <a:solidFill>
                  <a:srgbClr val="1C1C1C"/>
                </a:solidFill>
                <a:latin typeface="Calibri" pitchFamily="34" charset="0"/>
                <a:ea typeface="Calibri" pitchFamily="34" charset="-122"/>
                <a:cs typeface="Calibri" pitchFamily="34" charset="-120"/>
              </a:rPr>
              <a:t> et sert de référence pour la programmation des opérations à venir. Les travaux sont ensuite soumis au vote des copropriétaires selon les règles de majorité applicables à leur nature.</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Conformément à la réglementation en vigueur, l’adoption d’un PPT entraîne également l’obligation de constituer ou d’alimenter le fonds de travaux de la copropriété afin de financer progressivement les opérations programmées.</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Il est rappelé que le PPPT constitue un document prévisionnel et évolutif. Il a vocation à être actualisé périodiquement afin de tenir compte de l’évolution de l’état du bâtiment, des obligations réglementaires et des décisions prises par le syndicat des copropriétaires.</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Dans le cadre de l’exercice de ses pouvoirs de contrôle en matière de sécurité et de salubrité des immeubles, l’autorité administrative compétente peut demander à tout moment la transmission du Plan Pluriannuel de Travaux (PPT) adopté par la copropriété. En l’absence de transmission dans un délai d’un mois suivant cette demande, ou lorsque le document transmis ne prévoit manifestement pas les travaux nécessaires à la préservation de la sécurité des occupants et à la conservation de l’immeuble, l’autorité administrative peut faire élaborer ou actualiser d’office le projet de plan pluriannuel de travaux, aux frais du syndicat des copropriétaires.</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Par ailleurs, le non-respect des obligations relatives à l’élaboration du PPPT est susceptible d’engager la responsabilité du syndicat des copropriétaires. Les copropriétaires estimant avoir subi un préjudice du fait de l’absence de réalisation du PPPT peuvent solliciter réparation conformément aux dispositions de l’article 14 de la loi du 10 juillet 1965.</a:t>
            </a:r>
            <a:endParaRPr lang="en-US" sz="1100" dirty="0"/>
          </a:p>
        </p:txBody>
      </p:sp>
      <p:sp>
        <p:nvSpPr>
          <p:cNvPr id="6" name="Text 3"/>
          <p:cNvSpPr/>
          <p:nvPr/>
        </p:nvSpPr>
        <p:spPr>
          <a:xfrm>
            <a:off x="2232000" y="10242000"/>
            <a:ext cx="3096000" cy="180000"/>
          </a:xfrm>
          <a:prstGeom prst="rect">
            <a:avLst/>
          </a:prstGeom>
          <a:noFill/>
          <a:ln/>
        </p:spPr>
        <p:txBody>
          <a:bodyPr wrap="square" lIns="0" tIns="0" rIns="0" bIns="0" rtlCol="0" anchor="ctr">
            <a:normAutofit/>
          </a:bodyPr>
          <a:lstStyle/>
          <a:p>
            <a:pPr algn="ctr" indent="0" marL="0">
              <a:buNone/>
            </a:pPr>
            <a:r>
              <a:rPr lang="en-US" sz="950" dirty="0">
                <a:solidFill>
                  <a:srgbClr val="808080"/>
                </a:solidFill>
                <a:latin typeface="Calibri" pitchFamily="34" charset="0"/>
                <a:ea typeface="Calibri" pitchFamily="34" charset="-122"/>
                <a:cs typeface="Calibri" pitchFamily="34" charset="-120"/>
              </a:rPr>
              <a:t>Copropriété Résidence des Tilleuls</a:t>
            </a:r>
            <a:endParaRPr lang="en-US" sz="950" dirty="0"/>
          </a:p>
        </p:txBody>
      </p:sp>
      <p:sp>
        <p:nvSpPr>
          <p:cNvPr id="7" name="Text 4"/>
          <p:cNvSpPr/>
          <p:nvPr/>
        </p:nvSpPr>
        <p:spPr>
          <a:xfrm>
            <a:off x="6174000" y="10242000"/>
            <a:ext cx="252000" cy="180000"/>
          </a:xfrm>
          <a:prstGeom prst="rect">
            <a:avLst/>
          </a:prstGeom>
          <a:noFill/>
          <a:ln/>
        </p:spPr>
        <p:txBody>
          <a:bodyPr wrap="square" lIns="0" tIns="0" rIns="0" bIns="0" rtlCol="0" anchor="ctr">
            <a:normAutofit/>
          </a:bodyPr>
          <a:lstStyle/>
          <a:p>
            <a:pPr algn="r" indent="0" marL="0">
              <a:buNone/>
            </a:pPr>
            <a:r>
              <a:rPr lang="en-US" sz="950" dirty="0">
                <a:solidFill>
                  <a:srgbClr val="808080"/>
                </a:solidFill>
                <a:latin typeface="Calibri" pitchFamily="34" charset="0"/>
                <a:ea typeface="Calibri" pitchFamily="34" charset="-122"/>
                <a:cs typeface="Calibri" pitchFamily="34" charset="-120"/>
              </a:rPr>
              <a:t>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algn="ctr" indent="0" marL="0">
              <a:buNone/>
            </a:pPr>
            <a:r>
              <a:rPr lang="en-US" sz="1580" b="1" dirty="0">
                <a:solidFill>
                  <a:srgbClr val="FFFFFF"/>
                </a:solidFill>
                <a:latin typeface="Calibri" pitchFamily="34" charset="0"/>
                <a:ea typeface="Calibri" pitchFamily="34" charset="-122"/>
                <a:cs typeface="Calibri" pitchFamily="34" charset="-120"/>
              </a:rPr>
              <a:t>1. INTRODUCTION</a:t>
            </a:r>
            <a:endParaRPr lang="en-US" sz="1580" dirty="0"/>
          </a:p>
        </p:txBody>
      </p:sp>
      <p:sp>
        <p:nvSpPr>
          <p:cNvPr id="5" name="Text 2"/>
          <p:cNvSpPr/>
          <p:nvPr/>
        </p:nvSpPr>
        <p:spPr>
          <a:xfrm>
            <a:off x="541080" y="1341000"/>
            <a:ext cx="6484680" cy="8188560"/>
          </a:xfrm>
          <a:prstGeom prst="rect">
            <a:avLst/>
          </a:prstGeom>
          <a:noFill/>
          <a:ln/>
        </p:spPr>
        <p:txBody>
          <a:bodyPr wrap="square" lIns="88900" tIns="44450" rIns="88900" bIns="44450" rtlCol="0" anchor="t">
            <a:spAutoFit/>
          </a:bodyPr>
          <a:lstStyle/>
          <a:p>
            <a:pPr algn="just" indent="0" marL="0">
              <a:buNone/>
            </a:pPr>
            <a:r>
              <a:rPr lang="en-US" sz="1300" b="1" dirty="0">
                <a:solidFill>
                  <a:srgbClr val="1C1C1C"/>
                </a:solidFill>
                <a:latin typeface="Calibri" pitchFamily="34" charset="0"/>
                <a:ea typeface="Calibri" pitchFamily="34" charset="-122"/>
                <a:cs typeface="Calibri" pitchFamily="34" charset="-120"/>
              </a:rPr>
              <a:t>1.2 Validité du présent rapport</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Les constats et observations présentés dans ce rapport sont établis sur la base des éléments visibles et accessibles au jour de la visite. Ils reflètent l'état apparent de l'immeuble à cette date uniquement.</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Toute modification, intervention ou dégradation survenue postérieurement à notre passage ne peut être prise en compte dans la présente étude. L'évolution naturelle du bâtiment, les conditions climatiques, les sinistres, les travaux ou tout autre événement susceptible d'affecter son état peuvent entraîner l'apparition ou l'aggravation de désordres non observables lors de la visite.</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En conséquence, les conclusions du présent rapport doivent être appréciées au regard de la date de réalisation de la mission.</a:t>
            </a:r>
            <a:endParaRPr lang="en-US" sz="1100" dirty="0"/>
          </a:p>
          <a:p>
            <a:pPr algn="just" indent="0" marL="0">
              <a:buNone/>
            </a:pPr>
            <a:endParaRPr lang="en-US" sz="1100" dirty="0"/>
          </a:p>
          <a:p>
            <a:pPr algn="just" indent="0" marL="0">
              <a:buNone/>
            </a:pPr>
            <a:endParaRPr lang="en-US" sz="1100" dirty="0"/>
          </a:p>
          <a:p>
            <a:pPr algn="just" indent="0" marL="0">
              <a:buNone/>
            </a:pPr>
            <a:r>
              <a:rPr lang="en-US" sz="1300" b="1" dirty="0">
                <a:solidFill>
                  <a:srgbClr val="1C1C1C"/>
                </a:solidFill>
                <a:latin typeface="Calibri" pitchFamily="34" charset="0"/>
                <a:ea typeface="Calibri" pitchFamily="34" charset="-122"/>
                <a:cs typeface="Calibri" pitchFamily="34" charset="-120"/>
              </a:rPr>
              <a:t>1.3 Périmètre de la mission et réserves</a:t>
            </a:r>
            <a:endParaRPr lang="en-US" sz="1100" dirty="0"/>
          </a:p>
          <a:p>
            <a:pPr algn="just" indent="0" marL="0">
              <a:buNone/>
            </a:pPr>
            <a:endParaRPr lang="en-US" sz="1100" dirty="0"/>
          </a:p>
          <a:p>
            <a:pPr algn="just" indent="0" marL="0">
              <a:buNone/>
            </a:pPr>
            <a:r>
              <a:rPr lang="en-US" sz="1100" u="sng" dirty="0">
                <a:solidFill>
                  <a:srgbClr val="1C1C1C"/>
                </a:solidFill>
                <a:uFill>
                  <a:solidFill>
                    <a:srgbClr val="1C1C1C"/>
                  </a:solidFill>
                </a:uFill>
                <a:latin typeface="Calibri" pitchFamily="34" charset="0"/>
                <a:ea typeface="Calibri" pitchFamily="34" charset="-122"/>
                <a:cs typeface="Calibri" pitchFamily="34" charset="-120"/>
              </a:rPr>
              <a:t>Nature de la mission</a:t>
            </a: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La présente mission consiste en une analyse visuelle de l'état apparent des parties communes et des équipements collectifs de la copropriété. Elle vise à identifier les principales pathologies, désordres, défauts d'entretien ou besoins de travaux susceptibles d'affecter la conservation du bâtiment, la sécurité des occupants ou la performance énergétique de l'immeuble.</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Cette mission est réalisée sans sondage, démontage, essai destructif ou investigation intrusive.</a:t>
            </a:r>
            <a:endParaRPr lang="en-US" sz="1100" dirty="0"/>
          </a:p>
          <a:p>
            <a:pPr algn="just" indent="0" marL="0">
              <a:buNone/>
            </a:pPr>
            <a:endParaRPr lang="en-US" sz="1100" dirty="0"/>
          </a:p>
          <a:p>
            <a:pPr algn="just" indent="0" marL="0">
              <a:buNone/>
            </a:pPr>
            <a:r>
              <a:rPr lang="en-US" sz="1100" u="sng" dirty="0">
                <a:solidFill>
                  <a:srgbClr val="1C1C1C"/>
                </a:solidFill>
                <a:uFill>
                  <a:solidFill>
                    <a:srgbClr val="1C1C1C"/>
                  </a:solidFill>
                </a:uFill>
                <a:latin typeface="Calibri" pitchFamily="34" charset="0"/>
                <a:ea typeface="Calibri" pitchFamily="34" charset="-122"/>
                <a:cs typeface="Calibri" pitchFamily="34" charset="-120"/>
              </a:rPr>
              <a:t>Sources d’information</a:t>
            </a: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Les observations et préconisations formulées dans ce rapport s'appuient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sur les documents et informations transmis par le syndicat des copropriétaires ou son représentant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sur les constatations réalisées lors de la visite des lieux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sur les éléments visibles et accessibles au moment de l'intervention.</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Les conclusions présentées ne peuvent donc être considérées comme exhaustives et demeurent limitées aux conditions d'observation rencontrées lors de la visite.</a:t>
            </a:r>
            <a:endParaRPr lang="en-US" sz="1100" dirty="0"/>
          </a:p>
          <a:p>
            <a:pPr algn="just" indent="0" marL="0">
              <a:buNone/>
            </a:pPr>
            <a:endParaRPr lang="en-US" sz="1100" dirty="0"/>
          </a:p>
          <a:p>
            <a:pPr algn="just" indent="0" marL="0">
              <a:buNone/>
            </a:pPr>
            <a:r>
              <a:rPr lang="en-US" sz="1100" u="sng" dirty="0">
                <a:solidFill>
                  <a:srgbClr val="1C1C1C"/>
                </a:solidFill>
                <a:uFill>
                  <a:solidFill>
                    <a:srgbClr val="1C1C1C"/>
                  </a:solidFill>
                </a:uFill>
                <a:latin typeface="Calibri" pitchFamily="34" charset="0"/>
                <a:ea typeface="Calibri" pitchFamily="34" charset="-122"/>
                <a:cs typeface="Calibri" pitchFamily="34" charset="-120"/>
              </a:rPr>
              <a:t>Éléments non visités ou non accessibles</a:t>
            </a: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Sauf mention contraire, les éléments suivants n'ont pas pu être inspectés ou ont fait l'objet d'une observation limitée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les locaux nécessitant un accès spécifique ou l'accompagnement d'une personne habilitée (chaufferie, machinerie d'ascenseur, locaux techniques, postes de transformation, etc.)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les ouvrages situés à plus de 3 mètres de hauteur lorsqu'aucun moyen d'accès adapté n'était disponible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les combles perdus, vides sanitaires, volumes confinés ou zones rendues inaccessibles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les réseaux, canalisations, gaines techniques et structures non visibles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les éléments situés sous les complexes d'étanchéité ou d'isolation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les parties dont l'accès présentait un risque pour la sécurité des intervenants.</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Les éventuels désordres affectant ces ouvrages ne peuvent donc être identifiés dans le cadre de la présente mission.</a:t>
            </a:r>
            <a:endParaRPr lang="en-US" sz="1100" dirty="0"/>
          </a:p>
        </p:txBody>
      </p:sp>
      <p:sp>
        <p:nvSpPr>
          <p:cNvPr id="6" name="Text 3"/>
          <p:cNvSpPr/>
          <p:nvPr/>
        </p:nvSpPr>
        <p:spPr>
          <a:xfrm>
            <a:off x="2232000" y="10242000"/>
            <a:ext cx="3096000" cy="180000"/>
          </a:xfrm>
          <a:prstGeom prst="rect">
            <a:avLst/>
          </a:prstGeom>
          <a:noFill/>
          <a:ln/>
        </p:spPr>
        <p:txBody>
          <a:bodyPr wrap="square" lIns="0" tIns="0" rIns="0" bIns="0" rtlCol="0" anchor="ctr">
            <a:normAutofit/>
          </a:bodyPr>
          <a:lstStyle/>
          <a:p>
            <a:pPr algn="ctr" indent="0" marL="0">
              <a:buNone/>
            </a:pPr>
            <a:r>
              <a:rPr lang="en-US" sz="950" dirty="0">
                <a:solidFill>
                  <a:srgbClr val="808080"/>
                </a:solidFill>
                <a:latin typeface="Calibri" pitchFamily="34" charset="0"/>
                <a:ea typeface="Calibri" pitchFamily="34" charset="-122"/>
                <a:cs typeface="Calibri" pitchFamily="34" charset="-120"/>
              </a:rPr>
              <a:t>Copropriété Résidence des Tilleuls</a:t>
            </a:r>
            <a:endParaRPr lang="en-US" sz="950" dirty="0"/>
          </a:p>
        </p:txBody>
      </p:sp>
      <p:sp>
        <p:nvSpPr>
          <p:cNvPr id="7" name="Text 4"/>
          <p:cNvSpPr/>
          <p:nvPr/>
        </p:nvSpPr>
        <p:spPr>
          <a:xfrm>
            <a:off x="6174000" y="10242000"/>
            <a:ext cx="252000" cy="180000"/>
          </a:xfrm>
          <a:prstGeom prst="rect">
            <a:avLst/>
          </a:prstGeom>
          <a:noFill/>
          <a:ln/>
        </p:spPr>
        <p:txBody>
          <a:bodyPr wrap="square" lIns="0" tIns="0" rIns="0" bIns="0" rtlCol="0" anchor="ctr">
            <a:normAutofit/>
          </a:bodyPr>
          <a:lstStyle/>
          <a:p>
            <a:pPr algn="r" indent="0" marL="0">
              <a:buNone/>
            </a:pPr>
            <a:r>
              <a:rPr lang="en-US" sz="950" dirty="0">
                <a:solidFill>
                  <a:srgbClr val="808080"/>
                </a:solidFill>
                <a:latin typeface="Calibri" pitchFamily="34" charset="0"/>
                <a:ea typeface="Calibri" pitchFamily="34" charset="-122"/>
                <a:cs typeface="Calibri" pitchFamily="34" charset="-120"/>
              </a:rPr>
              <a:t>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algn="ctr" indent="0" marL="0">
              <a:buNone/>
            </a:pPr>
            <a:r>
              <a:rPr lang="en-US" sz="1580" b="1" dirty="0">
                <a:solidFill>
                  <a:srgbClr val="FFFFFF"/>
                </a:solidFill>
                <a:latin typeface="Calibri" pitchFamily="34" charset="0"/>
                <a:ea typeface="Calibri" pitchFamily="34" charset="-122"/>
                <a:cs typeface="Calibri" pitchFamily="34" charset="-120"/>
              </a:rPr>
              <a:t>1. INTRODUCTION</a:t>
            </a:r>
            <a:endParaRPr lang="en-US" sz="1580" dirty="0"/>
          </a:p>
        </p:txBody>
      </p:sp>
      <p:sp>
        <p:nvSpPr>
          <p:cNvPr id="5" name="Text 2"/>
          <p:cNvSpPr/>
          <p:nvPr/>
        </p:nvSpPr>
        <p:spPr>
          <a:xfrm>
            <a:off x="541080" y="1203480"/>
            <a:ext cx="6484680" cy="2697840"/>
          </a:xfrm>
          <a:prstGeom prst="rect">
            <a:avLst/>
          </a:prstGeom>
          <a:noFill/>
          <a:ln/>
        </p:spPr>
        <p:txBody>
          <a:bodyPr wrap="square" lIns="88900" tIns="44450" rIns="88900" bIns="44450" rtlCol="0" anchor="t"/>
          <a:lstStyle/>
          <a:p>
            <a:pPr algn="just" indent="0" marL="0">
              <a:buNone/>
            </a:pPr>
            <a:r>
              <a:rPr lang="en-US" sz="1300" b="1" dirty="0">
                <a:solidFill>
                  <a:srgbClr val="1C1C1C"/>
                </a:solidFill>
                <a:latin typeface="Calibri" pitchFamily="34" charset="0"/>
                <a:ea typeface="Calibri" pitchFamily="34" charset="-122"/>
                <a:cs typeface="Calibri" pitchFamily="34" charset="-120"/>
              </a:rPr>
              <a:t>1.4 Limite de la mission</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La présente étude constitue un outil d'aide à la décision reposant principalement sur une inspection visuelle des parties communes et des équipements collectifs accessibles lors de la visite. Elle ne saurait être assimilée à une expertise technique approfondie, une mission de maîtrise d'œuvre ou une étude d'exécution.</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Les estimations financières présentées ont un caractère indicatif et visent uniquement à hiérarchiser les interventions. Les préconisations formulées pourront nécessiter des investigations complémentaires réalisées par des professionnels spécialisés avant toute réalisation de travaux.</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FRANCE VERTE décline toute responsabilité en cas d'utilisation du présent document en dehors de son objet, de son périmètre d'intervention.</a:t>
            </a:r>
            <a:endParaRPr lang="en-US" sz="1100" dirty="0"/>
          </a:p>
          <a:p>
            <a:pPr algn="just" indent="0" marL="0">
              <a:buNone/>
            </a:pPr>
            <a:endParaRPr lang="en-US" sz="1100" dirty="0"/>
          </a:p>
          <a:p>
            <a:pPr algn="just" indent="0" marL="0">
              <a:buNone/>
            </a:pPr>
            <a:r>
              <a:rPr lang="en-US" sz="1300" b="1" dirty="0">
                <a:solidFill>
                  <a:srgbClr val="1C1C1C"/>
                </a:solidFill>
                <a:latin typeface="Calibri" pitchFamily="34" charset="0"/>
                <a:ea typeface="Calibri" pitchFamily="34" charset="-122"/>
                <a:cs typeface="Calibri" pitchFamily="34" charset="-120"/>
              </a:rPr>
              <a:t>1.5 Hiérarchisation des travaux et des observations</a:t>
            </a:r>
            <a:endParaRPr lang="en-US" sz="1100" dirty="0"/>
          </a:p>
        </p:txBody>
      </p:sp>
      <p:sp>
        <p:nvSpPr>
          <p:cNvPr id="6" name="Shape 3"/>
          <p:cNvSpPr/>
          <p:nvPr/>
        </p:nvSpPr>
        <p:spPr>
          <a:xfrm>
            <a:off x="541080" y="4195080"/>
            <a:ext cx="1681560" cy="795960"/>
          </a:xfrm>
          <a:prstGeom prst="rect">
            <a:avLst/>
          </a:prstGeom>
          <a:solidFill>
            <a:srgbClr val="FFFFFF"/>
          </a:solidFill>
          <a:ln w="12700">
            <a:solidFill>
              <a:srgbClr val="242424"/>
            </a:solidFill>
            <a:prstDash val="solid"/>
          </a:ln>
        </p:spPr>
      </p:sp>
      <p:sp>
        <p:nvSpPr>
          <p:cNvPr id="7" name="Shape 4"/>
          <p:cNvSpPr/>
          <p:nvPr/>
        </p:nvSpPr>
        <p:spPr>
          <a:xfrm>
            <a:off x="2222640" y="4195080"/>
            <a:ext cx="3352680" cy="795960"/>
          </a:xfrm>
          <a:prstGeom prst="rect">
            <a:avLst/>
          </a:prstGeom>
          <a:solidFill>
            <a:srgbClr val="FFFFFF"/>
          </a:solidFill>
          <a:ln w="12700">
            <a:solidFill>
              <a:srgbClr val="242424"/>
            </a:solidFill>
            <a:prstDash val="solid"/>
          </a:ln>
        </p:spPr>
      </p:sp>
      <p:sp>
        <p:nvSpPr>
          <p:cNvPr id="8" name="Shape 5"/>
          <p:cNvSpPr/>
          <p:nvPr/>
        </p:nvSpPr>
        <p:spPr>
          <a:xfrm>
            <a:off x="5575320" y="4195080"/>
            <a:ext cx="1450440" cy="795960"/>
          </a:xfrm>
          <a:prstGeom prst="rect">
            <a:avLst/>
          </a:prstGeom>
          <a:solidFill>
            <a:srgbClr val="FFFFFF"/>
          </a:solidFill>
          <a:ln w="12700">
            <a:solidFill>
              <a:srgbClr val="242424"/>
            </a:solidFill>
            <a:prstDash val="solid"/>
          </a:ln>
        </p:spPr>
      </p:sp>
      <p:sp>
        <p:nvSpPr>
          <p:cNvPr id="9" name="Shape 6"/>
          <p:cNvSpPr/>
          <p:nvPr/>
        </p:nvSpPr>
        <p:spPr>
          <a:xfrm>
            <a:off x="692460" y="4342500"/>
            <a:ext cx="1411560" cy="501120"/>
          </a:xfrm>
          <a:prstGeom prst="homePlate">
            <a:avLst/>
          </a:prstGeom>
          <a:solidFill>
            <a:srgbClr val="5DCCCC"/>
          </a:solidFill>
          <a:ln w="8890">
            <a:solidFill>
              <a:srgbClr val="242424"/>
            </a:solidFill>
            <a:prstDash val="solid"/>
          </a:ln>
        </p:spPr>
      </p:sp>
      <p:sp>
        <p:nvSpPr>
          <p:cNvPr id="10" name="Text 7"/>
          <p:cNvSpPr/>
          <p:nvPr/>
        </p:nvSpPr>
        <p:spPr>
          <a:xfrm>
            <a:off x="768060" y="4456260"/>
            <a:ext cx="1260360" cy="273600"/>
          </a:xfrm>
          <a:prstGeom prst="rect">
            <a:avLst/>
          </a:prstGeom>
          <a:noFill/>
          <a:ln/>
        </p:spPr>
        <p:txBody>
          <a:bodyPr wrap="square" lIns="0" tIns="0" rIns="0" bIns="0" rtlCol="0" anchor="ctr">
            <a:normAutofit/>
          </a:bodyPr>
          <a:lstStyle/>
          <a:p>
            <a:pPr algn="ctr" indent="0" marL="0">
              <a:buNone/>
            </a:pPr>
            <a:r>
              <a:rPr lang="en-US" sz="1140" b="1" dirty="0">
                <a:solidFill>
                  <a:srgbClr val="FFFFFF"/>
                </a:solidFill>
                <a:latin typeface="Calibri" pitchFamily="34" charset="0"/>
                <a:ea typeface="Calibri" pitchFamily="34" charset="-122"/>
                <a:cs typeface="Calibri" pitchFamily="34" charset="-120"/>
              </a:rPr>
              <a:t>Entretien</a:t>
            </a:r>
            <a:endParaRPr lang="en-US" sz="1140" dirty="0"/>
          </a:p>
        </p:txBody>
      </p:sp>
      <p:sp>
        <p:nvSpPr>
          <p:cNvPr id="11" name="Text 8"/>
          <p:cNvSpPr/>
          <p:nvPr/>
        </p:nvSpPr>
        <p:spPr>
          <a:xfrm>
            <a:off x="2301840" y="4234680"/>
            <a:ext cx="3194280" cy="71676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Entretien</a:t>
            </a: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Opérations d'entretien courant et de maintenance préventive nécessaires au maintien en bon état des équipements et du bâtiment.</a:t>
            </a:r>
            <a:endParaRPr lang="en-US" sz="1100" dirty="0"/>
          </a:p>
        </p:txBody>
      </p:sp>
      <p:sp>
        <p:nvSpPr>
          <p:cNvPr id="12" name="Text 9"/>
          <p:cNvSpPr/>
          <p:nvPr/>
        </p:nvSpPr>
        <p:spPr>
          <a:xfrm>
            <a:off x="5640120" y="4234680"/>
            <a:ext cx="1320840" cy="716760"/>
          </a:xfrm>
          <a:prstGeom prst="rect">
            <a:avLst/>
          </a:prstGeom>
          <a:noFill/>
          <a:ln/>
        </p:spPr>
        <p:txBody>
          <a:bodyPr wrap="square" lIns="0" tIns="0" rIns="0" bIns="0" rtlCol="0" anchor="ctr"/>
          <a:lstStyle/>
          <a:p>
            <a:pPr algn="ctr" indent="0" marL="0">
              <a:buNone/>
            </a:pPr>
            <a:r>
              <a:rPr lang="en-US" sz="1100" dirty="0">
                <a:solidFill>
                  <a:srgbClr val="1C1C1C"/>
                </a:solidFill>
                <a:latin typeface="Calibri" pitchFamily="34" charset="0"/>
                <a:ea typeface="Calibri" pitchFamily="34" charset="-122"/>
                <a:cs typeface="Calibri" pitchFamily="34" charset="-120"/>
              </a:rPr>
              <a:t>Hors PPPT</a:t>
            </a:r>
            <a:endParaRPr lang="en-US" sz="1100" dirty="0"/>
          </a:p>
          <a:p>
            <a:pPr algn="ctr" indent="0" marL="0">
              <a:buNone/>
            </a:pPr>
            <a:r>
              <a:rPr lang="en-US" sz="1100" dirty="0">
                <a:solidFill>
                  <a:srgbClr val="1C1C1C"/>
                </a:solidFill>
                <a:latin typeface="Calibri" pitchFamily="34" charset="0"/>
                <a:ea typeface="Calibri" pitchFamily="34" charset="-122"/>
                <a:cs typeface="Calibri" pitchFamily="34" charset="-120"/>
              </a:rPr>
              <a:t>(à titre informatif)</a:t>
            </a:r>
            <a:endParaRPr lang="en-US" sz="1100" dirty="0"/>
          </a:p>
        </p:txBody>
      </p:sp>
      <p:sp>
        <p:nvSpPr>
          <p:cNvPr id="13" name="Shape 10"/>
          <p:cNvSpPr/>
          <p:nvPr/>
        </p:nvSpPr>
        <p:spPr>
          <a:xfrm>
            <a:off x="541080" y="4991040"/>
            <a:ext cx="1681560" cy="942120"/>
          </a:xfrm>
          <a:prstGeom prst="rect">
            <a:avLst/>
          </a:prstGeom>
          <a:solidFill>
            <a:srgbClr val="FFFFFF"/>
          </a:solidFill>
          <a:ln w="12700">
            <a:solidFill>
              <a:srgbClr val="242424"/>
            </a:solidFill>
            <a:prstDash val="solid"/>
          </a:ln>
        </p:spPr>
      </p:sp>
      <p:sp>
        <p:nvSpPr>
          <p:cNvPr id="14" name="Shape 11"/>
          <p:cNvSpPr/>
          <p:nvPr/>
        </p:nvSpPr>
        <p:spPr>
          <a:xfrm>
            <a:off x="2222640" y="4991040"/>
            <a:ext cx="3352680" cy="942120"/>
          </a:xfrm>
          <a:prstGeom prst="rect">
            <a:avLst/>
          </a:prstGeom>
          <a:solidFill>
            <a:srgbClr val="FFFFFF"/>
          </a:solidFill>
          <a:ln w="12700">
            <a:solidFill>
              <a:srgbClr val="242424"/>
            </a:solidFill>
            <a:prstDash val="solid"/>
          </a:ln>
        </p:spPr>
      </p:sp>
      <p:sp>
        <p:nvSpPr>
          <p:cNvPr id="15" name="Shape 12"/>
          <p:cNvSpPr/>
          <p:nvPr/>
        </p:nvSpPr>
        <p:spPr>
          <a:xfrm>
            <a:off x="5575320" y="4991040"/>
            <a:ext cx="1450440" cy="942120"/>
          </a:xfrm>
          <a:prstGeom prst="rect">
            <a:avLst/>
          </a:prstGeom>
          <a:solidFill>
            <a:srgbClr val="FFFFFF"/>
          </a:solidFill>
          <a:ln w="12700">
            <a:solidFill>
              <a:srgbClr val="242424"/>
            </a:solidFill>
            <a:prstDash val="solid"/>
          </a:ln>
        </p:spPr>
      </p:sp>
      <p:sp>
        <p:nvSpPr>
          <p:cNvPr id="16" name="Shape 13"/>
          <p:cNvSpPr/>
          <p:nvPr/>
        </p:nvSpPr>
        <p:spPr>
          <a:xfrm>
            <a:off x="692460" y="5211540"/>
            <a:ext cx="1411560" cy="501120"/>
          </a:xfrm>
          <a:prstGeom prst="homePlate">
            <a:avLst/>
          </a:prstGeom>
          <a:solidFill>
            <a:srgbClr val="006FC0"/>
          </a:solidFill>
          <a:ln w="8890">
            <a:solidFill>
              <a:srgbClr val="242424"/>
            </a:solidFill>
            <a:prstDash val="solid"/>
          </a:ln>
        </p:spPr>
      </p:sp>
      <p:sp>
        <p:nvSpPr>
          <p:cNvPr id="17" name="Text 14"/>
          <p:cNvSpPr/>
          <p:nvPr/>
        </p:nvSpPr>
        <p:spPr>
          <a:xfrm>
            <a:off x="768060" y="5325300"/>
            <a:ext cx="1260360" cy="273600"/>
          </a:xfrm>
          <a:prstGeom prst="rect">
            <a:avLst/>
          </a:prstGeom>
          <a:noFill/>
          <a:ln/>
        </p:spPr>
        <p:txBody>
          <a:bodyPr wrap="square" lIns="0" tIns="0" rIns="0" bIns="0" rtlCol="0" anchor="ctr">
            <a:normAutofit/>
          </a:bodyPr>
          <a:lstStyle/>
          <a:p>
            <a:pPr algn="ctr" indent="0" marL="0">
              <a:buNone/>
            </a:pPr>
            <a:r>
              <a:rPr lang="en-US" sz="1140" b="1" dirty="0">
                <a:solidFill>
                  <a:srgbClr val="FFFFFF"/>
                </a:solidFill>
                <a:latin typeface="Calibri" pitchFamily="34" charset="0"/>
                <a:ea typeface="Calibri" pitchFamily="34" charset="-122"/>
                <a:cs typeface="Calibri" pitchFamily="34" charset="-120"/>
              </a:rPr>
              <a:t>Signalement</a:t>
            </a:r>
            <a:endParaRPr lang="en-US" sz="1140" dirty="0"/>
          </a:p>
        </p:txBody>
      </p:sp>
      <p:sp>
        <p:nvSpPr>
          <p:cNvPr id="18" name="Text 15"/>
          <p:cNvSpPr/>
          <p:nvPr/>
        </p:nvSpPr>
        <p:spPr>
          <a:xfrm>
            <a:off x="2301840" y="5030640"/>
            <a:ext cx="3194280" cy="86292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Signalements</a:t>
            </a: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Observations et points de vigilance relevés lors de la visite principalement dans les parties privatives. Ces éléments sont présentés à titre informatif afin d'attirer l'attention des copropriétaires.</a:t>
            </a:r>
            <a:endParaRPr lang="en-US" sz="1100" dirty="0"/>
          </a:p>
        </p:txBody>
      </p:sp>
      <p:sp>
        <p:nvSpPr>
          <p:cNvPr id="19" name="Text 16"/>
          <p:cNvSpPr/>
          <p:nvPr/>
        </p:nvSpPr>
        <p:spPr>
          <a:xfrm>
            <a:off x="5640120" y="5030640"/>
            <a:ext cx="1320840" cy="862920"/>
          </a:xfrm>
          <a:prstGeom prst="rect">
            <a:avLst/>
          </a:prstGeom>
          <a:noFill/>
          <a:ln/>
        </p:spPr>
        <p:txBody>
          <a:bodyPr wrap="square" lIns="0" tIns="0" rIns="0" bIns="0" rtlCol="0" anchor="ctr"/>
          <a:lstStyle/>
          <a:p>
            <a:pPr algn="ctr" indent="0" marL="0">
              <a:buNone/>
            </a:pPr>
            <a:r>
              <a:rPr lang="en-US" sz="1100" dirty="0">
                <a:solidFill>
                  <a:srgbClr val="1C1C1C"/>
                </a:solidFill>
                <a:latin typeface="Calibri" pitchFamily="34" charset="0"/>
                <a:ea typeface="Calibri" pitchFamily="34" charset="-122"/>
                <a:cs typeface="Calibri" pitchFamily="34" charset="-120"/>
              </a:rPr>
              <a:t>Hors PPPT</a:t>
            </a:r>
            <a:endParaRPr lang="en-US" sz="1100" dirty="0"/>
          </a:p>
          <a:p>
            <a:pPr algn="ctr" indent="0" marL="0">
              <a:buNone/>
            </a:pPr>
            <a:r>
              <a:rPr lang="en-US" sz="1100" dirty="0">
                <a:solidFill>
                  <a:srgbClr val="1C1C1C"/>
                </a:solidFill>
                <a:latin typeface="Calibri" pitchFamily="34" charset="0"/>
                <a:ea typeface="Calibri" pitchFamily="34" charset="-122"/>
                <a:cs typeface="Calibri" pitchFamily="34" charset="-120"/>
              </a:rPr>
              <a:t>(à titre informatif)</a:t>
            </a:r>
            <a:endParaRPr lang="en-US" sz="1100" dirty="0"/>
          </a:p>
        </p:txBody>
      </p:sp>
      <p:sp>
        <p:nvSpPr>
          <p:cNvPr id="20" name="Shape 17"/>
          <p:cNvSpPr/>
          <p:nvPr/>
        </p:nvSpPr>
        <p:spPr>
          <a:xfrm>
            <a:off x="541080" y="6173640"/>
            <a:ext cx="1681560" cy="806760"/>
          </a:xfrm>
          <a:prstGeom prst="rect">
            <a:avLst/>
          </a:prstGeom>
          <a:solidFill>
            <a:srgbClr val="FFFFFF"/>
          </a:solidFill>
          <a:ln w="12700">
            <a:solidFill>
              <a:srgbClr val="242424"/>
            </a:solidFill>
            <a:prstDash val="solid"/>
          </a:ln>
        </p:spPr>
      </p:sp>
      <p:sp>
        <p:nvSpPr>
          <p:cNvPr id="21" name="Shape 18"/>
          <p:cNvSpPr/>
          <p:nvPr/>
        </p:nvSpPr>
        <p:spPr>
          <a:xfrm>
            <a:off x="2222640" y="6173640"/>
            <a:ext cx="3352680" cy="806760"/>
          </a:xfrm>
          <a:prstGeom prst="rect">
            <a:avLst/>
          </a:prstGeom>
          <a:solidFill>
            <a:srgbClr val="FFFFFF"/>
          </a:solidFill>
          <a:ln w="12700">
            <a:solidFill>
              <a:srgbClr val="242424"/>
            </a:solidFill>
            <a:prstDash val="solid"/>
          </a:ln>
        </p:spPr>
      </p:sp>
      <p:sp>
        <p:nvSpPr>
          <p:cNvPr id="22" name="Shape 19"/>
          <p:cNvSpPr/>
          <p:nvPr/>
        </p:nvSpPr>
        <p:spPr>
          <a:xfrm>
            <a:off x="5575320" y="6173640"/>
            <a:ext cx="1450440" cy="806760"/>
          </a:xfrm>
          <a:prstGeom prst="rect">
            <a:avLst/>
          </a:prstGeom>
          <a:solidFill>
            <a:srgbClr val="FFFFFF"/>
          </a:solidFill>
          <a:ln w="12700">
            <a:solidFill>
              <a:srgbClr val="242424"/>
            </a:solidFill>
            <a:prstDash val="solid"/>
          </a:ln>
        </p:spPr>
      </p:sp>
      <p:sp>
        <p:nvSpPr>
          <p:cNvPr id="23" name="Shape 20"/>
          <p:cNvSpPr/>
          <p:nvPr/>
        </p:nvSpPr>
        <p:spPr>
          <a:xfrm>
            <a:off x="692460" y="6326460"/>
            <a:ext cx="1411560" cy="501120"/>
          </a:xfrm>
          <a:prstGeom prst="homePlate">
            <a:avLst/>
          </a:prstGeom>
          <a:solidFill>
            <a:srgbClr val="D02334"/>
          </a:solidFill>
          <a:ln w="8890">
            <a:solidFill>
              <a:srgbClr val="242424"/>
            </a:solidFill>
            <a:prstDash val="solid"/>
          </a:ln>
        </p:spPr>
      </p:sp>
      <p:sp>
        <p:nvSpPr>
          <p:cNvPr id="24" name="Text 21"/>
          <p:cNvSpPr/>
          <p:nvPr/>
        </p:nvSpPr>
        <p:spPr>
          <a:xfrm>
            <a:off x="768060" y="6440220"/>
            <a:ext cx="1260360" cy="273600"/>
          </a:xfrm>
          <a:prstGeom prst="rect">
            <a:avLst/>
          </a:prstGeom>
          <a:noFill/>
          <a:ln/>
        </p:spPr>
        <p:txBody>
          <a:bodyPr wrap="square" lIns="0" tIns="0" rIns="0" bIns="0" rtlCol="0" anchor="ctr">
            <a:normAutofit/>
          </a:bodyPr>
          <a:lstStyle/>
          <a:p>
            <a:pPr algn="ctr" indent="0" marL="0">
              <a:buNone/>
            </a:pPr>
            <a:r>
              <a:rPr lang="en-US" sz="1140" b="1" dirty="0">
                <a:solidFill>
                  <a:srgbClr val="FFFFFF"/>
                </a:solidFill>
                <a:latin typeface="Calibri" pitchFamily="34" charset="0"/>
                <a:ea typeface="Calibri" pitchFamily="34" charset="-122"/>
                <a:cs typeface="Calibri" pitchFamily="34" charset="-120"/>
              </a:rPr>
              <a:t>Curatif Niveau 1</a:t>
            </a:r>
            <a:endParaRPr lang="en-US" sz="1140" dirty="0"/>
          </a:p>
        </p:txBody>
      </p:sp>
      <p:sp>
        <p:nvSpPr>
          <p:cNvPr id="25" name="Text 22"/>
          <p:cNvSpPr/>
          <p:nvPr/>
        </p:nvSpPr>
        <p:spPr>
          <a:xfrm>
            <a:off x="2301840" y="6213240"/>
            <a:ext cx="3194280" cy="72756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Travaux prioritaires</a:t>
            </a: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Interventions urgentes nécessaires à la sécurité des occupants, à la préservation du bâti ou à la continuité de service des équipements.</a:t>
            </a:r>
            <a:endParaRPr lang="en-US" sz="1100" dirty="0"/>
          </a:p>
        </p:txBody>
      </p:sp>
      <p:sp>
        <p:nvSpPr>
          <p:cNvPr id="26" name="Text 23"/>
          <p:cNvSpPr/>
          <p:nvPr/>
        </p:nvSpPr>
        <p:spPr>
          <a:xfrm>
            <a:off x="5640120" y="6213240"/>
            <a:ext cx="1320840" cy="72756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Travaux à effectuer</a:t>
            </a:r>
            <a:endParaRPr lang="en-US" sz="1100" dirty="0"/>
          </a:p>
          <a:p>
            <a:pPr algn="ctr" indent="0" marL="0">
              <a:buNone/>
            </a:pPr>
            <a:r>
              <a:rPr lang="en-US" sz="1100" dirty="0">
                <a:solidFill>
                  <a:srgbClr val="1C1C1C"/>
                </a:solidFill>
                <a:latin typeface="Calibri" pitchFamily="34" charset="0"/>
                <a:ea typeface="Calibri" pitchFamily="34" charset="-122"/>
                <a:cs typeface="Calibri" pitchFamily="34" charset="-120"/>
              </a:rPr>
              <a:t>Sous 2 ans</a:t>
            </a:r>
            <a:endParaRPr lang="en-US" sz="1100" dirty="0"/>
          </a:p>
        </p:txBody>
      </p:sp>
      <p:sp>
        <p:nvSpPr>
          <p:cNvPr id="27" name="Shape 24"/>
          <p:cNvSpPr/>
          <p:nvPr/>
        </p:nvSpPr>
        <p:spPr>
          <a:xfrm>
            <a:off x="541080" y="6980400"/>
            <a:ext cx="1681560" cy="735120"/>
          </a:xfrm>
          <a:prstGeom prst="rect">
            <a:avLst/>
          </a:prstGeom>
          <a:solidFill>
            <a:srgbClr val="FFFFFF"/>
          </a:solidFill>
          <a:ln w="12700">
            <a:solidFill>
              <a:srgbClr val="242424"/>
            </a:solidFill>
            <a:prstDash val="solid"/>
          </a:ln>
        </p:spPr>
      </p:sp>
      <p:sp>
        <p:nvSpPr>
          <p:cNvPr id="28" name="Shape 25"/>
          <p:cNvSpPr/>
          <p:nvPr/>
        </p:nvSpPr>
        <p:spPr>
          <a:xfrm>
            <a:off x="2222640" y="6980400"/>
            <a:ext cx="3352680" cy="735120"/>
          </a:xfrm>
          <a:prstGeom prst="rect">
            <a:avLst/>
          </a:prstGeom>
          <a:solidFill>
            <a:srgbClr val="FFFFFF"/>
          </a:solidFill>
          <a:ln w="12700">
            <a:solidFill>
              <a:srgbClr val="242424"/>
            </a:solidFill>
            <a:prstDash val="solid"/>
          </a:ln>
        </p:spPr>
      </p:sp>
      <p:sp>
        <p:nvSpPr>
          <p:cNvPr id="29" name="Shape 26"/>
          <p:cNvSpPr/>
          <p:nvPr/>
        </p:nvSpPr>
        <p:spPr>
          <a:xfrm>
            <a:off x="5575320" y="6980400"/>
            <a:ext cx="1450440" cy="735120"/>
          </a:xfrm>
          <a:prstGeom prst="rect">
            <a:avLst/>
          </a:prstGeom>
          <a:solidFill>
            <a:srgbClr val="FFFFFF"/>
          </a:solidFill>
          <a:ln w="12700">
            <a:solidFill>
              <a:srgbClr val="242424"/>
            </a:solidFill>
            <a:prstDash val="solid"/>
          </a:ln>
        </p:spPr>
      </p:sp>
      <p:sp>
        <p:nvSpPr>
          <p:cNvPr id="30" name="Shape 27"/>
          <p:cNvSpPr/>
          <p:nvPr/>
        </p:nvSpPr>
        <p:spPr>
          <a:xfrm>
            <a:off x="692460" y="7097400"/>
            <a:ext cx="1411560" cy="501120"/>
          </a:xfrm>
          <a:prstGeom prst="homePlate">
            <a:avLst/>
          </a:prstGeom>
          <a:solidFill>
            <a:srgbClr val="E96620"/>
          </a:solidFill>
          <a:ln w="8890">
            <a:solidFill>
              <a:srgbClr val="242424"/>
            </a:solidFill>
            <a:prstDash val="solid"/>
          </a:ln>
        </p:spPr>
      </p:sp>
      <p:sp>
        <p:nvSpPr>
          <p:cNvPr id="31" name="Text 28"/>
          <p:cNvSpPr/>
          <p:nvPr/>
        </p:nvSpPr>
        <p:spPr>
          <a:xfrm>
            <a:off x="768060" y="7211160"/>
            <a:ext cx="1260360" cy="273600"/>
          </a:xfrm>
          <a:prstGeom prst="rect">
            <a:avLst/>
          </a:prstGeom>
          <a:noFill/>
          <a:ln/>
        </p:spPr>
        <p:txBody>
          <a:bodyPr wrap="square" lIns="0" tIns="0" rIns="0" bIns="0" rtlCol="0" anchor="ctr">
            <a:normAutofit/>
          </a:bodyPr>
          <a:lstStyle/>
          <a:p>
            <a:pPr algn="ctr" indent="0" marL="0">
              <a:buNone/>
            </a:pPr>
            <a:r>
              <a:rPr lang="en-US" sz="1140" b="1" dirty="0">
                <a:solidFill>
                  <a:srgbClr val="FFFFFF"/>
                </a:solidFill>
                <a:latin typeface="Calibri" pitchFamily="34" charset="0"/>
                <a:ea typeface="Calibri" pitchFamily="34" charset="-122"/>
                <a:cs typeface="Calibri" pitchFamily="34" charset="-120"/>
              </a:rPr>
              <a:t>Curatif Niveau 2</a:t>
            </a:r>
            <a:endParaRPr lang="en-US" sz="1140" dirty="0"/>
          </a:p>
        </p:txBody>
      </p:sp>
      <p:sp>
        <p:nvSpPr>
          <p:cNvPr id="32" name="Text 29"/>
          <p:cNvSpPr/>
          <p:nvPr/>
        </p:nvSpPr>
        <p:spPr>
          <a:xfrm>
            <a:off x="2301840" y="7020000"/>
            <a:ext cx="3194280" cy="65592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Travaux à moyen terme</a:t>
            </a: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Travaux correctifs à programmer afin d'éviter une dégradation progressive du bâtiment ou des équipements.</a:t>
            </a:r>
            <a:endParaRPr lang="en-US" sz="1100" dirty="0"/>
          </a:p>
        </p:txBody>
      </p:sp>
      <p:sp>
        <p:nvSpPr>
          <p:cNvPr id="33" name="Text 30"/>
          <p:cNvSpPr/>
          <p:nvPr/>
        </p:nvSpPr>
        <p:spPr>
          <a:xfrm>
            <a:off x="5640120" y="7020000"/>
            <a:ext cx="1320840" cy="65592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Travaux à effectuer</a:t>
            </a:r>
            <a:endParaRPr lang="en-US" sz="1100" dirty="0"/>
          </a:p>
          <a:p>
            <a:pPr algn="ctr" indent="0" marL="0">
              <a:buNone/>
            </a:pPr>
            <a:r>
              <a:rPr lang="en-US" sz="1100" dirty="0">
                <a:solidFill>
                  <a:srgbClr val="1C1C1C"/>
                </a:solidFill>
                <a:latin typeface="Calibri" pitchFamily="34" charset="0"/>
                <a:ea typeface="Calibri" pitchFamily="34" charset="-122"/>
                <a:cs typeface="Calibri" pitchFamily="34" charset="-120"/>
              </a:rPr>
              <a:t>Entre 3 et 5 ans</a:t>
            </a:r>
            <a:endParaRPr lang="en-US" sz="1100" dirty="0"/>
          </a:p>
        </p:txBody>
      </p:sp>
      <p:sp>
        <p:nvSpPr>
          <p:cNvPr id="34" name="Shape 31"/>
          <p:cNvSpPr/>
          <p:nvPr/>
        </p:nvSpPr>
        <p:spPr>
          <a:xfrm>
            <a:off x="541080" y="7715520"/>
            <a:ext cx="1681560" cy="785880"/>
          </a:xfrm>
          <a:prstGeom prst="rect">
            <a:avLst/>
          </a:prstGeom>
          <a:solidFill>
            <a:srgbClr val="FFFFFF"/>
          </a:solidFill>
          <a:ln w="12700">
            <a:solidFill>
              <a:srgbClr val="242424"/>
            </a:solidFill>
            <a:prstDash val="solid"/>
          </a:ln>
        </p:spPr>
      </p:sp>
      <p:sp>
        <p:nvSpPr>
          <p:cNvPr id="35" name="Shape 32"/>
          <p:cNvSpPr/>
          <p:nvPr/>
        </p:nvSpPr>
        <p:spPr>
          <a:xfrm>
            <a:off x="2222640" y="7715520"/>
            <a:ext cx="3352680" cy="785880"/>
          </a:xfrm>
          <a:prstGeom prst="rect">
            <a:avLst/>
          </a:prstGeom>
          <a:solidFill>
            <a:srgbClr val="FFFFFF"/>
          </a:solidFill>
          <a:ln w="12700">
            <a:solidFill>
              <a:srgbClr val="242424"/>
            </a:solidFill>
            <a:prstDash val="solid"/>
          </a:ln>
        </p:spPr>
      </p:sp>
      <p:sp>
        <p:nvSpPr>
          <p:cNvPr id="36" name="Shape 33"/>
          <p:cNvSpPr/>
          <p:nvPr/>
        </p:nvSpPr>
        <p:spPr>
          <a:xfrm>
            <a:off x="5575320" y="7715520"/>
            <a:ext cx="1450440" cy="785880"/>
          </a:xfrm>
          <a:prstGeom prst="rect">
            <a:avLst/>
          </a:prstGeom>
          <a:solidFill>
            <a:srgbClr val="FFFFFF"/>
          </a:solidFill>
          <a:ln w="12700">
            <a:solidFill>
              <a:srgbClr val="242424"/>
            </a:solidFill>
            <a:prstDash val="solid"/>
          </a:ln>
        </p:spPr>
      </p:sp>
      <p:sp>
        <p:nvSpPr>
          <p:cNvPr id="37" name="Shape 34"/>
          <p:cNvSpPr/>
          <p:nvPr/>
        </p:nvSpPr>
        <p:spPr>
          <a:xfrm>
            <a:off x="692460" y="7857900"/>
            <a:ext cx="1411560" cy="501120"/>
          </a:xfrm>
          <a:prstGeom prst="homePlate">
            <a:avLst/>
          </a:prstGeom>
          <a:solidFill>
            <a:srgbClr val="04CC7E"/>
          </a:solidFill>
          <a:ln w="8890">
            <a:solidFill>
              <a:srgbClr val="242424"/>
            </a:solidFill>
            <a:prstDash val="solid"/>
          </a:ln>
        </p:spPr>
      </p:sp>
      <p:sp>
        <p:nvSpPr>
          <p:cNvPr id="38" name="Text 35"/>
          <p:cNvSpPr/>
          <p:nvPr/>
        </p:nvSpPr>
        <p:spPr>
          <a:xfrm>
            <a:off x="768060" y="7971660"/>
            <a:ext cx="1260360" cy="273600"/>
          </a:xfrm>
          <a:prstGeom prst="rect">
            <a:avLst/>
          </a:prstGeom>
          <a:noFill/>
          <a:ln/>
        </p:spPr>
        <p:txBody>
          <a:bodyPr wrap="square" lIns="0" tIns="0" rIns="0" bIns="0" rtlCol="0" anchor="ctr">
            <a:normAutofit/>
          </a:bodyPr>
          <a:lstStyle/>
          <a:p>
            <a:pPr algn="ctr" indent="0" marL="0">
              <a:buNone/>
            </a:pPr>
            <a:r>
              <a:rPr lang="en-US" sz="1140" b="1" dirty="0">
                <a:solidFill>
                  <a:srgbClr val="FFFFFF"/>
                </a:solidFill>
                <a:latin typeface="Calibri" pitchFamily="34" charset="0"/>
                <a:ea typeface="Calibri" pitchFamily="34" charset="-122"/>
                <a:cs typeface="Calibri" pitchFamily="34" charset="-120"/>
              </a:rPr>
              <a:t>Curatif Niveau 3</a:t>
            </a:r>
            <a:endParaRPr lang="en-US" sz="1140" dirty="0"/>
          </a:p>
        </p:txBody>
      </p:sp>
      <p:sp>
        <p:nvSpPr>
          <p:cNvPr id="39" name="Text 36"/>
          <p:cNvSpPr/>
          <p:nvPr/>
        </p:nvSpPr>
        <p:spPr>
          <a:xfrm>
            <a:off x="2301840" y="7755120"/>
            <a:ext cx="3194280" cy="70668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Travaux d’esthétiques</a:t>
            </a: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Travaux de rénovation ou d'embellissement ne présentant pas de caractère urgent mais contribuant à l'amélioration de l'aspect esthétique.</a:t>
            </a:r>
            <a:endParaRPr lang="en-US" sz="1100" dirty="0"/>
          </a:p>
        </p:txBody>
      </p:sp>
      <p:sp>
        <p:nvSpPr>
          <p:cNvPr id="40" name="Text 37"/>
          <p:cNvSpPr/>
          <p:nvPr/>
        </p:nvSpPr>
        <p:spPr>
          <a:xfrm>
            <a:off x="5640120" y="7755120"/>
            <a:ext cx="1320840" cy="70668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Travaux à effectuer</a:t>
            </a:r>
            <a:endParaRPr lang="en-US" sz="1100" dirty="0"/>
          </a:p>
          <a:p>
            <a:pPr algn="ctr" indent="0" marL="0">
              <a:buNone/>
            </a:pPr>
            <a:r>
              <a:rPr lang="en-US" sz="1100" dirty="0">
                <a:solidFill>
                  <a:srgbClr val="1C1C1C"/>
                </a:solidFill>
                <a:latin typeface="Calibri" pitchFamily="34" charset="0"/>
                <a:ea typeface="Calibri" pitchFamily="34" charset="-122"/>
                <a:cs typeface="Calibri" pitchFamily="34" charset="-120"/>
              </a:rPr>
              <a:t>Entre 6 et 10 ans</a:t>
            </a:r>
            <a:endParaRPr lang="en-US" sz="1100" dirty="0"/>
          </a:p>
        </p:txBody>
      </p:sp>
      <p:sp>
        <p:nvSpPr>
          <p:cNvPr id="41" name="Shape 38"/>
          <p:cNvSpPr/>
          <p:nvPr/>
        </p:nvSpPr>
        <p:spPr>
          <a:xfrm>
            <a:off x="541080" y="8741880"/>
            <a:ext cx="1681560" cy="895320"/>
          </a:xfrm>
          <a:prstGeom prst="rect">
            <a:avLst/>
          </a:prstGeom>
          <a:solidFill>
            <a:srgbClr val="FFFFFF"/>
          </a:solidFill>
          <a:ln w="12700">
            <a:solidFill>
              <a:srgbClr val="242424"/>
            </a:solidFill>
            <a:prstDash val="solid"/>
          </a:ln>
        </p:spPr>
      </p:sp>
      <p:sp>
        <p:nvSpPr>
          <p:cNvPr id="42" name="Shape 39"/>
          <p:cNvSpPr/>
          <p:nvPr/>
        </p:nvSpPr>
        <p:spPr>
          <a:xfrm>
            <a:off x="2222640" y="8741880"/>
            <a:ext cx="3352680" cy="895320"/>
          </a:xfrm>
          <a:prstGeom prst="rect">
            <a:avLst/>
          </a:prstGeom>
          <a:solidFill>
            <a:srgbClr val="FFFFFF"/>
          </a:solidFill>
          <a:ln w="12700">
            <a:solidFill>
              <a:srgbClr val="242424"/>
            </a:solidFill>
            <a:prstDash val="solid"/>
          </a:ln>
        </p:spPr>
      </p:sp>
      <p:sp>
        <p:nvSpPr>
          <p:cNvPr id="43" name="Shape 40"/>
          <p:cNvSpPr/>
          <p:nvPr/>
        </p:nvSpPr>
        <p:spPr>
          <a:xfrm>
            <a:off x="5575320" y="8741880"/>
            <a:ext cx="1450440" cy="895320"/>
          </a:xfrm>
          <a:prstGeom prst="rect">
            <a:avLst/>
          </a:prstGeom>
          <a:solidFill>
            <a:srgbClr val="FFFFFF"/>
          </a:solidFill>
          <a:ln w="12700">
            <a:solidFill>
              <a:srgbClr val="242424"/>
            </a:solidFill>
            <a:prstDash val="solid"/>
          </a:ln>
        </p:spPr>
      </p:sp>
      <p:sp>
        <p:nvSpPr>
          <p:cNvPr id="44" name="Shape 41"/>
          <p:cNvSpPr/>
          <p:nvPr/>
        </p:nvSpPr>
        <p:spPr>
          <a:xfrm>
            <a:off x="692460" y="8938980"/>
            <a:ext cx="1411560" cy="501120"/>
          </a:xfrm>
          <a:prstGeom prst="homePlate">
            <a:avLst/>
          </a:prstGeom>
          <a:solidFill>
            <a:srgbClr val="4EA72E"/>
          </a:solidFill>
          <a:ln w="8890">
            <a:solidFill>
              <a:srgbClr val="242424"/>
            </a:solidFill>
            <a:prstDash val="solid"/>
          </a:ln>
        </p:spPr>
      </p:sp>
      <p:sp>
        <p:nvSpPr>
          <p:cNvPr id="45" name="Text 42"/>
          <p:cNvSpPr/>
          <p:nvPr/>
        </p:nvSpPr>
        <p:spPr>
          <a:xfrm>
            <a:off x="768060" y="9052740"/>
            <a:ext cx="1260360" cy="273600"/>
          </a:xfrm>
          <a:prstGeom prst="rect">
            <a:avLst/>
          </a:prstGeom>
          <a:noFill/>
          <a:ln/>
        </p:spPr>
        <p:txBody>
          <a:bodyPr wrap="square" lIns="0" tIns="0" rIns="0" bIns="0" rtlCol="0" anchor="ctr">
            <a:normAutofit/>
          </a:bodyPr>
          <a:lstStyle/>
          <a:p>
            <a:pPr algn="ctr" indent="0" marL="0">
              <a:buNone/>
            </a:pPr>
            <a:r>
              <a:rPr lang="en-US" sz="1140" b="1" dirty="0">
                <a:solidFill>
                  <a:srgbClr val="FFFFFF"/>
                </a:solidFill>
                <a:latin typeface="Calibri" pitchFamily="34" charset="0"/>
                <a:ea typeface="Calibri" pitchFamily="34" charset="-122"/>
                <a:cs typeface="Calibri" pitchFamily="34" charset="-120"/>
              </a:rPr>
              <a:t>Travaux</a:t>
            </a:r>
            <a:endParaRPr lang="en-US" sz="1140" dirty="0"/>
          </a:p>
          <a:p>
            <a:pPr algn="ctr" indent="0" marL="0">
              <a:buNone/>
            </a:pPr>
            <a:r>
              <a:rPr lang="en-US" sz="1140" b="1" dirty="0">
                <a:solidFill>
                  <a:srgbClr val="FFFFFF"/>
                </a:solidFill>
                <a:latin typeface="Calibri" pitchFamily="34" charset="0"/>
                <a:ea typeface="Calibri" pitchFamily="34" charset="-122"/>
                <a:cs typeface="Calibri" pitchFamily="34" charset="-120"/>
              </a:rPr>
              <a:t>énergétiques</a:t>
            </a:r>
            <a:endParaRPr lang="en-US" sz="1140" dirty="0"/>
          </a:p>
        </p:txBody>
      </p:sp>
      <p:sp>
        <p:nvSpPr>
          <p:cNvPr id="46" name="Text 43"/>
          <p:cNvSpPr/>
          <p:nvPr/>
        </p:nvSpPr>
        <p:spPr>
          <a:xfrm>
            <a:off x="2301840" y="8781480"/>
            <a:ext cx="3194280" cy="81612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Travaux énergétiques</a:t>
            </a: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Travaux visant à améliorer la performance énergétique du bâtiment, réduire les consommations d'énergie et améliorer le confort thermique des occupants.</a:t>
            </a:r>
            <a:endParaRPr lang="en-US" sz="1100" dirty="0"/>
          </a:p>
        </p:txBody>
      </p:sp>
      <p:sp>
        <p:nvSpPr>
          <p:cNvPr id="47" name="Text 44"/>
          <p:cNvSpPr/>
          <p:nvPr/>
        </p:nvSpPr>
        <p:spPr>
          <a:xfrm>
            <a:off x="5640120" y="8781480"/>
            <a:ext cx="1320840" cy="816120"/>
          </a:xfrm>
          <a:prstGeom prst="rect">
            <a:avLst/>
          </a:prstGeom>
          <a:noFill/>
          <a:ln/>
        </p:spPr>
        <p:txBody>
          <a:bodyPr wrap="square" lIns="0" tIns="0" rIns="0" bIns="0" rtlCol="0" anchor="ctr"/>
          <a:lstStyle/>
          <a:p>
            <a:pPr algn="ctr" indent="0" marL="0">
              <a:buNone/>
            </a:pPr>
            <a:r>
              <a:rPr lang="en-US" sz="1100" dirty="0">
                <a:solidFill>
                  <a:srgbClr val="1C1C1C"/>
                </a:solidFill>
                <a:latin typeface="Calibri" pitchFamily="34" charset="0"/>
                <a:ea typeface="Calibri" pitchFamily="34" charset="-122"/>
                <a:cs typeface="Calibri" pitchFamily="34" charset="-120"/>
              </a:rPr>
              <a:t>Selon la stratégie de</a:t>
            </a:r>
            <a:endParaRPr lang="en-US" sz="1100" dirty="0"/>
          </a:p>
          <a:p>
            <a:pPr algn="ctr" indent="0" marL="0">
              <a:buNone/>
            </a:pPr>
            <a:r>
              <a:rPr lang="en-US" sz="1100" dirty="0">
                <a:solidFill>
                  <a:srgbClr val="1C1C1C"/>
                </a:solidFill>
                <a:latin typeface="Calibri" pitchFamily="34" charset="0"/>
                <a:ea typeface="Calibri" pitchFamily="34" charset="-122"/>
                <a:cs typeface="Calibri" pitchFamily="34" charset="-120"/>
              </a:rPr>
              <a:t>rénovation retenue</a:t>
            </a:r>
            <a:endParaRPr lang="en-US" sz="1100" dirty="0"/>
          </a:p>
        </p:txBody>
      </p:sp>
      <p:sp>
        <p:nvSpPr>
          <p:cNvPr id="48" name="Text 45"/>
          <p:cNvSpPr/>
          <p:nvPr/>
        </p:nvSpPr>
        <p:spPr>
          <a:xfrm>
            <a:off x="2232000" y="10242000"/>
            <a:ext cx="3096000" cy="180000"/>
          </a:xfrm>
          <a:prstGeom prst="rect">
            <a:avLst/>
          </a:prstGeom>
          <a:noFill/>
          <a:ln/>
        </p:spPr>
        <p:txBody>
          <a:bodyPr wrap="square" lIns="0" tIns="0" rIns="0" bIns="0" rtlCol="0" anchor="ctr">
            <a:normAutofit/>
          </a:bodyPr>
          <a:lstStyle/>
          <a:p>
            <a:pPr algn="ctr" indent="0" marL="0">
              <a:buNone/>
            </a:pPr>
            <a:r>
              <a:rPr lang="en-US" sz="950" dirty="0">
                <a:solidFill>
                  <a:srgbClr val="808080"/>
                </a:solidFill>
                <a:latin typeface="Calibri" pitchFamily="34" charset="0"/>
                <a:ea typeface="Calibri" pitchFamily="34" charset="-122"/>
                <a:cs typeface="Calibri" pitchFamily="34" charset="-120"/>
              </a:rPr>
              <a:t>Copropriété Résidence des Tilleuls</a:t>
            </a:r>
            <a:endParaRPr lang="en-US" sz="950" dirty="0"/>
          </a:p>
        </p:txBody>
      </p:sp>
      <p:sp>
        <p:nvSpPr>
          <p:cNvPr id="49" name="Text 46"/>
          <p:cNvSpPr/>
          <p:nvPr/>
        </p:nvSpPr>
        <p:spPr>
          <a:xfrm>
            <a:off x="6174000" y="10242000"/>
            <a:ext cx="252000" cy="180000"/>
          </a:xfrm>
          <a:prstGeom prst="rect">
            <a:avLst/>
          </a:prstGeom>
          <a:noFill/>
          <a:ln/>
        </p:spPr>
        <p:txBody>
          <a:bodyPr wrap="square" lIns="0" tIns="0" rIns="0" bIns="0" rtlCol="0" anchor="ctr">
            <a:normAutofit/>
          </a:bodyPr>
          <a:lstStyle/>
          <a:p>
            <a:pPr algn="r" indent="0" marL="0">
              <a:buNone/>
            </a:pPr>
            <a:r>
              <a:rPr lang="en-US" sz="950" dirty="0">
                <a:solidFill>
                  <a:srgbClr val="808080"/>
                </a:solidFill>
                <a:latin typeface="Calibri" pitchFamily="34" charset="0"/>
                <a:ea typeface="Calibri" pitchFamily="34" charset="-122"/>
                <a:cs typeface="Calibri"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France Verte, bureau d’études fluides et thermiques">    </p:cNvPr>
          <p:cNvPicPr>
            <a:picLocks noChangeAspect="1"/>
          </p:cNvPicPr>
          <p:nvPr/>
        </p:nvPicPr>
        <p:blipFill>
          <a:blip r:embed="rId1"/>
          <a:stretch>
            <a:fillRect/>
          </a:stretch>
        </p:blipFill>
        <p:spPr>
          <a:xfrm>
            <a:off x="512064" y="164592"/>
            <a:ext cx="2176272" cy="548640"/>
          </a:xfrm>
          <a:prstGeom prst="rect">
            <a:avLst/>
          </a:prstGeom>
        </p:spPr>
      </p:pic>
      <p:sp>
        <p:nvSpPr>
          <p:cNvPr id="3" name="Shape 0"/>
          <p:cNvSpPr/>
          <p:nvPr/>
        </p:nvSpPr>
        <p:spPr>
          <a:xfrm>
            <a:off x="512064" y="822960"/>
            <a:ext cx="6535547" cy="310896"/>
          </a:xfrm>
          <a:prstGeom prst="rect">
            <a:avLst/>
          </a:prstGeom>
          <a:solidFill>
            <a:srgbClr val="00B55A"/>
          </a:solidFill>
          <a:ln w="12700">
            <a:solidFill>
              <a:srgbClr val="00B55A">
                <a:alpha val="0"/>
              </a:srgbClr>
            </a:solidFill>
            <a:prstDash val="solid"/>
          </a:ln>
        </p:spPr>
      </p:sp>
      <p:sp>
        <p:nvSpPr>
          <p:cNvPr id="4" name="Text 1"/>
          <p:cNvSpPr/>
          <p:nvPr/>
        </p:nvSpPr>
        <p:spPr>
          <a:xfrm>
            <a:off x="640080" y="850392"/>
            <a:ext cx="6306947" cy="237744"/>
          </a:xfrm>
          <a:prstGeom prst="rect">
            <a:avLst/>
          </a:prstGeom>
          <a:noFill/>
          <a:ln/>
        </p:spPr>
        <p:txBody>
          <a:bodyPr wrap="non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2.IDENTIFICATION ET HIÉRARCHISATION DES TRAVAUX ET OBSERVATIONS</a:t>
            </a:r>
            <a:endParaRPr lang="en-US" sz="1150" dirty="0"/>
          </a:p>
        </p:txBody>
      </p:sp>
      <p:sp>
        <p:nvSpPr>
          <p:cNvPr id="5" name="Shape 2"/>
          <p:cNvSpPr/>
          <p:nvPr/>
        </p:nvSpPr>
        <p:spPr>
          <a:xfrm>
            <a:off x="512064" y="1609344"/>
            <a:ext cx="1600200" cy="429768"/>
          </a:xfrm>
          <a:prstGeom prst="chevron">
            <a:avLst/>
          </a:prstGeom>
          <a:solidFill>
            <a:srgbClr val="54C4C5"/>
          </a:solidFill>
          <a:ln w="10160">
            <a:solidFill>
              <a:srgbClr val="2B2B2B"/>
            </a:solidFill>
            <a:prstDash val="solid"/>
          </a:ln>
        </p:spPr>
      </p:sp>
      <p:sp>
        <p:nvSpPr>
          <p:cNvPr id="6" name="Text 3"/>
          <p:cNvSpPr/>
          <p:nvPr/>
        </p:nvSpPr>
        <p:spPr>
          <a:xfrm>
            <a:off x="576072" y="1645920"/>
            <a:ext cx="1307592"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Entretien</a:t>
            </a:r>
            <a:endParaRPr lang="en-US" sz="1000" dirty="0"/>
          </a:p>
        </p:txBody>
      </p:sp>
      <p:sp>
        <p:nvSpPr>
          <p:cNvPr id="7" name="Text 4"/>
          <p:cNvSpPr/>
          <p:nvPr/>
        </p:nvSpPr>
        <p:spPr>
          <a:xfrm>
            <a:off x="2331720" y="1417320"/>
            <a:ext cx="4661027" cy="813816"/>
          </a:xfrm>
          <a:prstGeom prst="rect">
            <a:avLst/>
          </a:prstGeom>
          <a:noFill/>
          <a:ln/>
        </p:spPr>
        <p:txBody>
          <a:bodyPr wrap="square" lIns="0" tIns="0" rIns="0" bIns="0" rtlCol="0" anchor="ctr"/>
          <a:lstStyle/>
          <a:p>
            <a:pPr indent="0" marL="0">
              <a:lnSpc>
                <a:spcPct val="100000"/>
              </a:lnSpc>
              <a:buNone/>
            </a:pPr>
            <a:r>
              <a:rPr lang="en-US" sz="830" b="1" dirty="0">
                <a:solidFill>
                  <a:srgbClr val="171717"/>
                </a:solidFill>
                <a:latin typeface="Arial" pitchFamily="34" charset="0"/>
                <a:ea typeface="Arial" pitchFamily="34" charset="-122"/>
                <a:cs typeface="Arial" pitchFamily="34" charset="-120"/>
              </a:rPr>
              <a:t>Opérations d'entretien courant et de maintenance préventive nécessaires</a:t>
            </a:r>
            <a:endParaRPr lang="en-US" sz="830" dirty="0"/>
          </a:p>
          <a:p>
            <a:pPr indent="0" marL="0">
              <a:lnSpc>
                <a:spcPct val="100000"/>
              </a:lnSpc>
              <a:buNone/>
            </a:pPr>
            <a:r>
              <a:rPr lang="en-US" sz="830" b="1" dirty="0">
                <a:solidFill>
                  <a:srgbClr val="171717"/>
                </a:solidFill>
                <a:latin typeface="Arial" pitchFamily="34" charset="0"/>
                <a:ea typeface="Arial" pitchFamily="34" charset="-122"/>
                <a:cs typeface="Arial" pitchFamily="34" charset="-120"/>
              </a:rPr>
              <a:t>au maintien en bon état des équipements et du bâtiment.</a:t>
            </a:r>
            <a:endParaRPr lang="en-US" sz="830" dirty="0"/>
          </a:p>
        </p:txBody>
      </p:sp>
      <p:sp>
        <p:nvSpPr>
          <p:cNvPr id="8" name="Shape 5"/>
          <p:cNvSpPr/>
          <p:nvPr/>
        </p:nvSpPr>
        <p:spPr>
          <a:xfrm>
            <a:off x="512064" y="2340864"/>
            <a:ext cx="731520" cy="438912"/>
          </a:xfrm>
          <a:prstGeom prst="rect">
            <a:avLst/>
          </a:prstGeom>
          <a:solidFill>
            <a:srgbClr val="FFFFFF"/>
          </a:solidFill>
          <a:ln w="8255">
            <a:solidFill>
              <a:srgbClr val="2B2B2B"/>
            </a:solidFill>
            <a:prstDash val="solid"/>
          </a:ln>
        </p:spPr>
      </p:sp>
      <p:sp>
        <p:nvSpPr>
          <p:cNvPr id="9" name="Shape 6"/>
          <p:cNvSpPr/>
          <p:nvPr/>
        </p:nvSpPr>
        <p:spPr>
          <a:xfrm>
            <a:off x="1243584" y="2340864"/>
            <a:ext cx="3591179" cy="438912"/>
          </a:xfrm>
          <a:prstGeom prst="rect">
            <a:avLst/>
          </a:prstGeom>
          <a:solidFill>
            <a:srgbClr val="FFFFFF"/>
          </a:solidFill>
          <a:ln w="8255">
            <a:solidFill>
              <a:srgbClr val="2B2B2B"/>
            </a:solidFill>
            <a:prstDash val="solid"/>
          </a:ln>
        </p:spPr>
      </p:sp>
      <p:sp>
        <p:nvSpPr>
          <p:cNvPr id="10" name="Shape 7"/>
          <p:cNvSpPr/>
          <p:nvPr/>
        </p:nvSpPr>
        <p:spPr>
          <a:xfrm>
            <a:off x="4834763" y="2340864"/>
            <a:ext cx="2212848" cy="438912"/>
          </a:xfrm>
          <a:prstGeom prst="rect">
            <a:avLst/>
          </a:prstGeom>
          <a:solidFill>
            <a:srgbClr val="54C4C5"/>
          </a:solidFill>
          <a:ln w="8255">
            <a:solidFill>
              <a:srgbClr val="2B2B2B"/>
            </a:solidFill>
            <a:prstDash val="solid"/>
          </a:ln>
        </p:spPr>
      </p:sp>
      <p:sp>
        <p:nvSpPr>
          <p:cNvPr id="11" name="Text 8"/>
          <p:cNvSpPr/>
          <p:nvPr/>
        </p:nvSpPr>
        <p:spPr>
          <a:xfrm>
            <a:off x="548640" y="2450592"/>
            <a:ext cx="658368" cy="219456"/>
          </a:xfrm>
          <a:prstGeom prst="rect">
            <a:avLst/>
          </a:prstGeom>
          <a:noFill/>
          <a:ln/>
        </p:spPr>
        <p:txBody>
          <a:bodyPr wrap="none" lIns="0" tIns="0" rIns="0" bIns="0" rtlCol="0" anchor="ctr"/>
          <a:lstStyle/>
          <a:p>
            <a:pPr algn="ctr" indent="0" marL="0">
              <a:buNone/>
            </a:pPr>
            <a:r>
              <a:rPr lang="en-US" sz="1050" b="1" dirty="0">
                <a:solidFill>
                  <a:srgbClr val="171717"/>
                </a:solidFill>
                <a:latin typeface="Arial" pitchFamily="34" charset="0"/>
                <a:ea typeface="Arial" pitchFamily="34" charset="-122"/>
                <a:cs typeface="Arial" pitchFamily="34" charset="-120"/>
              </a:rPr>
              <a:t>N°1</a:t>
            </a:r>
            <a:endParaRPr lang="en-US" sz="1050" dirty="0"/>
          </a:p>
        </p:txBody>
      </p:sp>
      <p:sp>
        <p:nvSpPr>
          <p:cNvPr id="12" name="Text 9"/>
          <p:cNvSpPr/>
          <p:nvPr/>
        </p:nvSpPr>
        <p:spPr>
          <a:xfrm>
            <a:off x="1316736" y="2414016"/>
            <a:ext cx="3444875" cy="292608"/>
          </a:xfrm>
          <a:prstGeom prst="rect">
            <a:avLst/>
          </a:prstGeom>
          <a:noFill/>
          <a:ln/>
        </p:spPr>
        <p:txBody>
          <a:bodyPr wrap="none" lIns="0" tIns="0" rIns="0" bIns="0" rtlCol="0" anchor="ctr"/>
          <a:lstStyle/>
          <a:p>
            <a:pPr indent="0" marL="0">
              <a:buNone/>
            </a:pPr>
            <a:r>
              <a:rPr lang="en-US" sz="1020" b="1" dirty="0">
                <a:solidFill>
                  <a:srgbClr val="171717"/>
                </a:solidFill>
                <a:latin typeface="Arial" pitchFamily="34" charset="0"/>
                <a:ea typeface="Arial" pitchFamily="34" charset="-122"/>
                <a:cs typeface="Arial" pitchFamily="34" charset="-120"/>
              </a:rPr>
              <a:t>Famille : Famille maintenance</a:t>
            </a:r>
            <a:endParaRPr lang="en-US" sz="1020" dirty="0"/>
          </a:p>
        </p:txBody>
      </p:sp>
      <p:sp>
        <p:nvSpPr>
          <p:cNvPr id="13" name="Text 10"/>
          <p:cNvSpPr/>
          <p:nvPr/>
        </p:nvSpPr>
        <p:spPr>
          <a:xfrm>
            <a:off x="4889627" y="2418588"/>
            <a:ext cx="2103120" cy="283464"/>
          </a:xfrm>
          <a:prstGeom prst="rect">
            <a:avLst/>
          </a:prstGeom>
          <a:noFill/>
          <a:ln/>
        </p:spPr>
        <p:txBody>
          <a:bodyPr wrap="non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ENTRETIEN</a:t>
            </a:r>
            <a:endParaRPr lang="en-US" sz="1050" dirty="0"/>
          </a:p>
        </p:txBody>
      </p:sp>
      <p:sp>
        <p:nvSpPr>
          <p:cNvPr id="14" name="Shape 11"/>
          <p:cNvSpPr/>
          <p:nvPr/>
        </p:nvSpPr>
        <p:spPr>
          <a:xfrm>
            <a:off x="512064" y="2779776"/>
            <a:ext cx="6535547" cy="608076"/>
          </a:xfrm>
          <a:prstGeom prst="rect">
            <a:avLst/>
          </a:prstGeom>
          <a:solidFill>
            <a:srgbClr val="FFFFFF"/>
          </a:solidFill>
          <a:ln w="8255">
            <a:solidFill>
              <a:srgbClr val="2B2B2B"/>
            </a:solidFill>
            <a:prstDash val="solid"/>
          </a:ln>
        </p:spPr>
      </p:sp>
      <p:sp>
        <p:nvSpPr>
          <p:cNvPr id="15" name="Text 12"/>
          <p:cNvSpPr/>
          <p:nvPr/>
        </p:nvSpPr>
        <p:spPr>
          <a:xfrm>
            <a:off x="585216" y="2843784"/>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Localisation :</a:t>
            </a:r>
            <a:endParaRPr lang="en-US" sz="1010" dirty="0"/>
          </a:p>
        </p:txBody>
      </p:sp>
      <p:sp>
        <p:nvSpPr>
          <p:cNvPr id="16" name="Text 13"/>
          <p:cNvSpPr/>
          <p:nvPr/>
        </p:nvSpPr>
        <p:spPr>
          <a:xfrm>
            <a:off x="585216" y="3063240"/>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Parties communes</a:t>
            </a:r>
            <a:endParaRPr lang="en-US" sz="1050" dirty="0"/>
          </a:p>
        </p:txBody>
      </p:sp>
      <p:sp>
        <p:nvSpPr>
          <p:cNvPr id="17" name="Shape 14"/>
          <p:cNvSpPr/>
          <p:nvPr/>
        </p:nvSpPr>
        <p:spPr>
          <a:xfrm>
            <a:off x="512064" y="3387852"/>
            <a:ext cx="6535547" cy="608076"/>
          </a:xfrm>
          <a:prstGeom prst="rect">
            <a:avLst/>
          </a:prstGeom>
          <a:solidFill>
            <a:srgbClr val="FFFFFF"/>
          </a:solidFill>
          <a:ln w="8255">
            <a:solidFill>
              <a:srgbClr val="2B2B2B"/>
            </a:solidFill>
            <a:prstDash val="solid"/>
          </a:ln>
        </p:spPr>
      </p:sp>
      <p:sp>
        <p:nvSpPr>
          <p:cNvPr id="18" name="Text 15"/>
          <p:cNvSpPr/>
          <p:nvPr/>
        </p:nvSpPr>
        <p:spPr>
          <a:xfrm>
            <a:off x="585216" y="3451860"/>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Etat / Observations :</a:t>
            </a:r>
            <a:endParaRPr lang="en-US" sz="1010" dirty="0"/>
          </a:p>
        </p:txBody>
      </p:sp>
      <p:sp>
        <p:nvSpPr>
          <p:cNvPr id="19" name="Text 16"/>
          <p:cNvSpPr/>
          <p:nvPr/>
        </p:nvSpPr>
        <p:spPr>
          <a:xfrm>
            <a:off x="585216" y="3671316"/>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Observation maintenance.</a:t>
            </a:r>
            <a:endParaRPr lang="en-US" sz="1050" dirty="0"/>
          </a:p>
        </p:txBody>
      </p:sp>
      <p:sp>
        <p:nvSpPr>
          <p:cNvPr id="20" name="Shape 17"/>
          <p:cNvSpPr/>
          <p:nvPr/>
        </p:nvSpPr>
        <p:spPr>
          <a:xfrm>
            <a:off x="512064" y="3995928"/>
            <a:ext cx="6535547" cy="608076"/>
          </a:xfrm>
          <a:prstGeom prst="rect">
            <a:avLst/>
          </a:prstGeom>
          <a:solidFill>
            <a:srgbClr val="FFFFFF"/>
          </a:solidFill>
          <a:ln w="8255">
            <a:solidFill>
              <a:srgbClr val="2B2B2B"/>
            </a:solidFill>
            <a:prstDash val="solid"/>
          </a:ln>
        </p:spPr>
      </p:sp>
      <p:sp>
        <p:nvSpPr>
          <p:cNvPr id="21" name="Text 18"/>
          <p:cNvSpPr/>
          <p:nvPr/>
        </p:nvSpPr>
        <p:spPr>
          <a:xfrm>
            <a:off x="585216" y="4059936"/>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Recommandations :</a:t>
            </a:r>
            <a:endParaRPr lang="en-US" sz="1010" dirty="0"/>
          </a:p>
        </p:txBody>
      </p:sp>
      <p:sp>
        <p:nvSpPr>
          <p:cNvPr id="22" name="Text 19"/>
          <p:cNvSpPr/>
          <p:nvPr/>
        </p:nvSpPr>
        <p:spPr>
          <a:xfrm>
            <a:off x="585216" y="4279392"/>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Intervention maintenance.</a:t>
            </a:r>
            <a:endParaRPr lang="en-US" sz="1050" dirty="0"/>
          </a:p>
        </p:txBody>
      </p:sp>
      <p:sp>
        <p:nvSpPr>
          <p:cNvPr id="23" name="Shape 20"/>
          <p:cNvSpPr/>
          <p:nvPr/>
        </p:nvSpPr>
        <p:spPr>
          <a:xfrm>
            <a:off x="512064" y="4604004"/>
            <a:ext cx="6535547" cy="3931920"/>
          </a:xfrm>
          <a:prstGeom prst="rect">
            <a:avLst/>
          </a:prstGeom>
          <a:solidFill>
            <a:srgbClr val="FFFFFF"/>
          </a:solidFill>
          <a:ln w="8255">
            <a:solidFill>
              <a:srgbClr val="2B2B2B"/>
            </a:solidFill>
            <a:prstDash val="solid"/>
          </a:ln>
        </p:spPr>
      </p:sp>
      <p:sp>
        <p:nvSpPr>
          <p:cNvPr id="24" name="Text 21"/>
          <p:cNvSpPr/>
          <p:nvPr/>
        </p:nvSpPr>
        <p:spPr>
          <a:xfrm>
            <a:off x="585216" y="4668012"/>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Illustrations :</a:t>
            </a:r>
            <a:endParaRPr lang="en-US" sz="1010" dirty="0"/>
          </a:p>
        </p:txBody>
      </p:sp>
      <p:pic>
        <p:nvPicPr>
          <p:cNvPr id="25" name="Image 1" descr="Photographie du diagnostic n°1">    </p:cNvPr>
          <p:cNvPicPr>
            <a:picLocks noChangeAspect="1"/>
          </p:cNvPicPr>
          <p:nvPr/>
        </p:nvPicPr>
        <p:blipFill>
          <a:blip r:embed="rId2"/>
          <a:stretch>
            <a:fillRect/>
          </a:stretch>
        </p:blipFill>
        <p:spPr>
          <a:xfrm>
            <a:off x="1420686" y="4914900"/>
            <a:ext cx="4718304" cy="3538728"/>
          </a:xfrm>
          <a:prstGeom prst="rect">
            <a:avLst/>
          </a:prstGeom>
        </p:spPr>
      </p:pic>
      <p:sp>
        <p:nvSpPr>
          <p:cNvPr id="26" name="Text 22"/>
          <p:cNvSpPr/>
          <p:nvPr/>
        </p:nvSpPr>
        <p:spPr>
          <a:xfrm>
            <a:off x="2212848" y="10390061"/>
            <a:ext cx="3200400" cy="146304"/>
          </a:xfrm>
          <a:prstGeom prst="rect">
            <a:avLst/>
          </a:prstGeom>
          <a:noFill/>
          <a:ln/>
        </p:spPr>
        <p:txBody>
          <a:bodyPr wrap="none" lIns="0" tIns="0" rIns="0" bIns="0" rtlCol="0" anchor="ctr"/>
          <a:lstStyle/>
          <a:p>
            <a:pPr algn="ctr" indent="0" marL="0">
              <a:buNone/>
            </a:pPr>
            <a:r>
              <a:rPr lang="en-US" sz="830" dirty="0">
                <a:solidFill>
                  <a:srgbClr val="777777"/>
                </a:solidFill>
                <a:latin typeface="Arial" pitchFamily="34" charset="0"/>
                <a:ea typeface="Arial" pitchFamily="34" charset="-122"/>
                <a:cs typeface="Arial" pitchFamily="34" charset="-120"/>
              </a:rPr>
              <a:t>Copropriété Résidence des Tilleuls</a:t>
            </a:r>
            <a:endParaRPr lang="en-US" sz="830" dirty="0"/>
          </a:p>
        </p:txBody>
      </p:sp>
      <p:sp>
        <p:nvSpPr>
          <p:cNvPr id="27" name="Text 23"/>
          <p:cNvSpPr/>
          <p:nvPr/>
        </p:nvSpPr>
        <p:spPr>
          <a:xfrm>
            <a:off x="6773291" y="10390061"/>
            <a:ext cx="274320" cy="146304"/>
          </a:xfrm>
          <a:prstGeom prst="rect">
            <a:avLst/>
          </a:prstGeom>
          <a:noFill/>
          <a:ln/>
        </p:spPr>
        <p:txBody>
          <a:bodyPr wrap="none" lIns="0" tIns="0" rIns="0" bIns="0" rtlCol="0" anchor="ctr"/>
          <a:lstStyle/>
          <a:p>
            <a:pPr algn="r" indent="0" marL="0">
              <a:buNone/>
            </a:pPr>
            <a:r>
              <a:rPr lang="en-US" sz="830" dirty="0">
                <a:solidFill>
                  <a:srgbClr val="777777"/>
                </a:solidFill>
                <a:latin typeface="Arial" pitchFamily="34" charset="0"/>
                <a:ea typeface="Arial" pitchFamily="34" charset="-122"/>
                <a:cs typeface="Arial" pitchFamily="34" charset="-120"/>
              </a:rPr>
              <a:t>11</a:t>
            </a:r>
            <a:endParaRPr lang="en-US" sz="83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France Verte, bureau d’études fluides et thermiques">    </p:cNvPr>
          <p:cNvPicPr>
            <a:picLocks noChangeAspect="1"/>
          </p:cNvPicPr>
          <p:nvPr/>
        </p:nvPicPr>
        <p:blipFill>
          <a:blip r:embed="rId1"/>
          <a:stretch>
            <a:fillRect/>
          </a:stretch>
        </p:blipFill>
        <p:spPr>
          <a:xfrm>
            <a:off x="512064" y="164592"/>
            <a:ext cx="2176272" cy="548640"/>
          </a:xfrm>
          <a:prstGeom prst="rect">
            <a:avLst/>
          </a:prstGeom>
        </p:spPr>
      </p:pic>
      <p:sp>
        <p:nvSpPr>
          <p:cNvPr id="3" name="Shape 0"/>
          <p:cNvSpPr/>
          <p:nvPr/>
        </p:nvSpPr>
        <p:spPr>
          <a:xfrm>
            <a:off x="512064" y="822960"/>
            <a:ext cx="6535547" cy="310896"/>
          </a:xfrm>
          <a:prstGeom prst="rect">
            <a:avLst/>
          </a:prstGeom>
          <a:solidFill>
            <a:srgbClr val="00B55A"/>
          </a:solidFill>
          <a:ln w="12700">
            <a:solidFill>
              <a:srgbClr val="00B55A">
                <a:alpha val="0"/>
              </a:srgbClr>
            </a:solidFill>
            <a:prstDash val="solid"/>
          </a:ln>
        </p:spPr>
      </p:sp>
      <p:sp>
        <p:nvSpPr>
          <p:cNvPr id="4" name="Text 1"/>
          <p:cNvSpPr/>
          <p:nvPr/>
        </p:nvSpPr>
        <p:spPr>
          <a:xfrm>
            <a:off x="640080" y="850392"/>
            <a:ext cx="6306947" cy="237744"/>
          </a:xfrm>
          <a:prstGeom prst="rect">
            <a:avLst/>
          </a:prstGeom>
          <a:noFill/>
          <a:ln/>
        </p:spPr>
        <p:txBody>
          <a:bodyPr wrap="non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2.IDENTIFICATION ET HIÉRARCHISATION DES TRAVAUX ET OBSERVATIONS</a:t>
            </a:r>
            <a:endParaRPr lang="en-US" sz="1150" dirty="0"/>
          </a:p>
        </p:txBody>
      </p:sp>
      <p:sp>
        <p:nvSpPr>
          <p:cNvPr id="5" name="Shape 2"/>
          <p:cNvSpPr/>
          <p:nvPr/>
        </p:nvSpPr>
        <p:spPr>
          <a:xfrm>
            <a:off x="512064" y="1609344"/>
            <a:ext cx="1600200" cy="429768"/>
          </a:xfrm>
          <a:prstGeom prst="chevron">
            <a:avLst/>
          </a:prstGeom>
          <a:solidFill>
            <a:srgbClr val="0874BD"/>
          </a:solidFill>
          <a:ln w="10160">
            <a:solidFill>
              <a:srgbClr val="2B2B2B"/>
            </a:solidFill>
            <a:prstDash val="solid"/>
          </a:ln>
        </p:spPr>
      </p:sp>
      <p:sp>
        <p:nvSpPr>
          <p:cNvPr id="6" name="Text 3"/>
          <p:cNvSpPr/>
          <p:nvPr/>
        </p:nvSpPr>
        <p:spPr>
          <a:xfrm>
            <a:off x="576072" y="1645920"/>
            <a:ext cx="1307592"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Signalement</a:t>
            </a:r>
            <a:endParaRPr lang="en-US" sz="1000" dirty="0"/>
          </a:p>
        </p:txBody>
      </p:sp>
      <p:sp>
        <p:nvSpPr>
          <p:cNvPr id="7" name="Text 4"/>
          <p:cNvSpPr/>
          <p:nvPr/>
        </p:nvSpPr>
        <p:spPr>
          <a:xfrm>
            <a:off x="2331720" y="1417320"/>
            <a:ext cx="4661027" cy="813816"/>
          </a:xfrm>
          <a:prstGeom prst="rect">
            <a:avLst/>
          </a:prstGeom>
          <a:noFill/>
          <a:ln/>
        </p:spPr>
        <p:txBody>
          <a:bodyPr wrap="square" lIns="0" tIns="0" rIns="0" bIns="0" rtlCol="0" anchor="ctr"/>
          <a:lstStyle/>
          <a:p>
            <a:pPr indent="0" marL="0">
              <a:lnSpc>
                <a:spcPct val="100000"/>
              </a:lnSpc>
              <a:buNone/>
            </a:pPr>
            <a:r>
              <a:rPr lang="en-US" sz="830" b="1" dirty="0">
                <a:solidFill>
                  <a:srgbClr val="171717"/>
                </a:solidFill>
                <a:latin typeface="Arial" pitchFamily="34" charset="0"/>
                <a:ea typeface="Arial" pitchFamily="34" charset="-122"/>
                <a:cs typeface="Arial" pitchFamily="34" charset="-120"/>
              </a:rPr>
              <a:t>Observations et points de vigilance relevés lors de la visite principalement</a:t>
            </a:r>
            <a:endParaRPr lang="en-US" sz="830" dirty="0"/>
          </a:p>
          <a:p>
            <a:pPr indent="0" marL="0">
              <a:lnSpc>
                <a:spcPct val="100000"/>
              </a:lnSpc>
              <a:buNone/>
            </a:pPr>
            <a:r>
              <a:rPr lang="en-US" sz="830" b="1" dirty="0">
                <a:solidFill>
                  <a:srgbClr val="171717"/>
                </a:solidFill>
                <a:latin typeface="Arial" pitchFamily="34" charset="0"/>
                <a:ea typeface="Arial" pitchFamily="34" charset="-122"/>
                <a:cs typeface="Arial" pitchFamily="34" charset="-120"/>
              </a:rPr>
              <a:t>dans les parties privatives.</a:t>
            </a:r>
            <a:endParaRPr lang="en-US" sz="830" dirty="0"/>
          </a:p>
          <a:p>
            <a:pPr indent="0" marL="0">
              <a:lnSpc>
                <a:spcPct val="100000"/>
              </a:lnSpc>
              <a:buNone/>
            </a:pPr>
            <a:r>
              <a:rPr lang="en-US" sz="830" b="1" dirty="0">
                <a:solidFill>
                  <a:srgbClr val="171717"/>
                </a:solidFill>
                <a:latin typeface="Arial" pitchFamily="34" charset="0"/>
                <a:ea typeface="Arial" pitchFamily="34" charset="-122"/>
                <a:cs typeface="Arial" pitchFamily="34" charset="-120"/>
              </a:rPr>
              <a:t>Ces éléments sont présentés à titre informatif afin d'attirer l'attention des copropriétaires.</a:t>
            </a:r>
            <a:endParaRPr lang="en-US" sz="830" dirty="0"/>
          </a:p>
        </p:txBody>
      </p:sp>
      <p:sp>
        <p:nvSpPr>
          <p:cNvPr id="8" name="Shape 5"/>
          <p:cNvSpPr/>
          <p:nvPr/>
        </p:nvSpPr>
        <p:spPr>
          <a:xfrm>
            <a:off x="512064" y="2340864"/>
            <a:ext cx="731520" cy="438912"/>
          </a:xfrm>
          <a:prstGeom prst="rect">
            <a:avLst/>
          </a:prstGeom>
          <a:solidFill>
            <a:srgbClr val="FFFFFF"/>
          </a:solidFill>
          <a:ln w="8255">
            <a:solidFill>
              <a:srgbClr val="2B2B2B"/>
            </a:solidFill>
            <a:prstDash val="solid"/>
          </a:ln>
        </p:spPr>
      </p:sp>
      <p:sp>
        <p:nvSpPr>
          <p:cNvPr id="9" name="Shape 6"/>
          <p:cNvSpPr/>
          <p:nvPr/>
        </p:nvSpPr>
        <p:spPr>
          <a:xfrm>
            <a:off x="1243584" y="2340864"/>
            <a:ext cx="3591179" cy="438912"/>
          </a:xfrm>
          <a:prstGeom prst="rect">
            <a:avLst/>
          </a:prstGeom>
          <a:solidFill>
            <a:srgbClr val="FFFFFF"/>
          </a:solidFill>
          <a:ln w="8255">
            <a:solidFill>
              <a:srgbClr val="2B2B2B"/>
            </a:solidFill>
            <a:prstDash val="solid"/>
          </a:ln>
        </p:spPr>
      </p:sp>
      <p:sp>
        <p:nvSpPr>
          <p:cNvPr id="10" name="Shape 7"/>
          <p:cNvSpPr/>
          <p:nvPr/>
        </p:nvSpPr>
        <p:spPr>
          <a:xfrm>
            <a:off x="4834763" y="2340864"/>
            <a:ext cx="2212848" cy="438912"/>
          </a:xfrm>
          <a:prstGeom prst="rect">
            <a:avLst/>
          </a:prstGeom>
          <a:solidFill>
            <a:srgbClr val="0874BD"/>
          </a:solidFill>
          <a:ln w="8255">
            <a:solidFill>
              <a:srgbClr val="2B2B2B"/>
            </a:solidFill>
            <a:prstDash val="solid"/>
          </a:ln>
        </p:spPr>
      </p:sp>
      <p:sp>
        <p:nvSpPr>
          <p:cNvPr id="11" name="Text 8"/>
          <p:cNvSpPr/>
          <p:nvPr/>
        </p:nvSpPr>
        <p:spPr>
          <a:xfrm>
            <a:off x="548640" y="2450592"/>
            <a:ext cx="658368" cy="219456"/>
          </a:xfrm>
          <a:prstGeom prst="rect">
            <a:avLst/>
          </a:prstGeom>
          <a:noFill/>
          <a:ln/>
        </p:spPr>
        <p:txBody>
          <a:bodyPr wrap="none" lIns="0" tIns="0" rIns="0" bIns="0" rtlCol="0" anchor="ctr"/>
          <a:lstStyle/>
          <a:p>
            <a:pPr algn="ctr" indent="0" marL="0">
              <a:buNone/>
            </a:pPr>
            <a:r>
              <a:rPr lang="en-US" sz="1050" b="1" dirty="0">
                <a:solidFill>
                  <a:srgbClr val="171717"/>
                </a:solidFill>
                <a:latin typeface="Arial" pitchFamily="34" charset="0"/>
                <a:ea typeface="Arial" pitchFamily="34" charset="-122"/>
                <a:cs typeface="Arial" pitchFamily="34" charset="-120"/>
              </a:rPr>
              <a:t>N°2</a:t>
            </a:r>
            <a:endParaRPr lang="en-US" sz="1050" dirty="0"/>
          </a:p>
        </p:txBody>
      </p:sp>
      <p:sp>
        <p:nvSpPr>
          <p:cNvPr id="12" name="Text 9"/>
          <p:cNvSpPr/>
          <p:nvPr/>
        </p:nvSpPr>
        <p:spPr>
          <a:xfrm>
            <a:off x="1316736" y="2414016"/>
            <a:ext cx="3444875" cy="292608"/>
          </a:xfrm>
          <a:prstGeom prst="rect">
            <a:avLst/>
          </a:prstGeom>
          <a:noFill/>
          <a:ln/>
        </p:spPr>
        <p:txBody>
          <a:bodyPr wrap="none" lIns="0" tIns="0" rIns="0" bIns="0" rtlCol="0" anchor="ctr"/>
          <a:lstStyle/>
          <a:p>
            <a:pPr indent="0" marL="0">
              <a:buNone/>
            </a:pPr>
            <a:r>
              <a:rPr lang="en-US" sz="1020" b="1" dirty="0">
                <a:solidFill>
                  <a:srgbClr val="171717"/>
                </a:solidFill>
                <a:latin typeface="Arial" pitchFamily="34" charset="0"/>
                <a:ea typeface="Arial" pitchFamily="34" charset="-122"/>
                <a:cs typeface="Arial" pitchFamily="34" charset="-120"/>
              </a:rPr>
              <a:t>Famille : Famille signalement</a:t>
            </a:r>
            <a:endParaRPr lang="en-US" sz="1020" dirty="0"/>
          </a:p>
        </p:txBody>
      </p:sp>
      <p:sp>
        <p:nvSpPr>
          <p:cNvPr id="13" name="Text 10"/>
          <p:cNvSpPr/>
          <p:nvPr/>
        </p:nvSpPr>
        <p:spPr>
          <a:xfrm>
            <a:off x="4889627" y="2418588"/>
            <a:ext cx="2103120" cy="283464"/>
          </a:xfrm>
          <a:prstGeom prst="rect">
            <a:avLst/>
          </a:prstGeom>
          <a:noFill/>
          <a:ln/>
        </p:spPr>
        <p:txBody>
          <a:bodyPr wrap="non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SIGNALEMENT</a:t>
            </a:r>
            <a:endParaRPr lang="en-US" sz="1050" dirty="0"/>
          </a:p>
        </p:txBody>
      </p:sp>
      <p:sp>
        <p:nvSpPr>
          <p:cNvPr id="14" name="Shape 11"/>
          <p:cNvSpPr/>
          <p:nvPr/>
        </p:nvSpPr>
        <p:spPr>
          <a:xfrm>
            <a:off x="512064" y="2779776"/>
            <a:ext cx="6535547" cy="608076"/>
          </a:xfrm>
          <a:prstGeom prst="rect">
            <a:avLst/>
          </a:prstGeom>
          <a:solidFill>
            <a:srgbClr val="FFFFFF"/>
          </a:solidFill>
          <a:ln w="8255">
            <a:solidFill>
              <a:srgbClr val="2B2B2B"/>
            </a:solidFill>
            <a:prstDash val="solid"/>
          </a:ln>
        </p:spPr>
      </p:sp>
      <p:sp>
        <p:nvSpPr>
          <p:cNvPr id="15" name="Text 12"/>
          <p:cNvSpPr/>
          <p:nvPr/>
        </p:nvSpPr>
        <p:spPr>
          <a:xfrm>
            <a:off x="585216" y="2843784"/>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Localisation :</a:t>
            </a:r>
            <a:endParaRPr lang="en-US" sz="1010" dirty="0"/>
          </a:p>
        </p:txBody>
      </p:sp>
      <p:sp>
        <p:nvSpPr>
          <p:cNvPr id="16" name="Text 13"/>
          <p:cNvSpPr/>
          <p:nvPr/>
        </p:nvSpPr>
        <p:spPr>
          <a:xfrm>
            <a:off x="585216" y="3063240"/>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Parties communes</a:t>
            </a:r>
            <a:endParaRPr lang="en-US" sz="1050" dirty="0"/>
          </a:p>
        </p:txBody>
      </p:sp>
      <p:sp>
        <p:nvSpPr>
          <p:cNvPr id="17" name="Shape 14"/>
          <p:cNvSpPr/>
          <p:nvPr/>
        </p:nvSpPr>
        <p:spPr>
          <a:xfrm>
            <a:off x="512064" y="3387852"/>
            <a:ext cx="6535547" cy="608076"/>
          </a:xfrm>
          <a:prstGeom prst="rect">
            <a:avLst/>
          </a:prstGeom>
          <a:solidFill>
            <a:srgbClr val="FFFFFF"/>
          </a:solidFill>
          <a:ln w="8255">
            <a:solidFill>
              <a:srgbClr val="2B2B2B"/>
            </a:solidFill>
            <a:prstDash val="solid"/>
          </a:ln>
        </p:spPr>
      </p:sp>
      <p:sp>
        <p:nvSpPr>
          <p:cNvPr id="18" name="Text 15"/>
          <p:cNvSpPr/>
          <p:nvPr/>
        </p:nvSpPr>
        <p:spPr>
          <a:xfrm>
            <a:off x="585216" y="3451860"/>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Etat / Observations :</a:t>
            </a:r>
            <a:endParaRPr lang="en-US" sz="1010" dirty="0"/>
          </a:p>
        </p:txBody>
      </p:sp>
      <p:sp>
        <p:nvSpPr>
          <p:cNvPr id="19" name="Text 16"/>
          <p:cNvSpPr/>
          <p:nvPr/>
        </p:nvSpPr>
        <p:spPr>
          <a:xfrm>
            <a:off x="585216" y="3671316"/>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Observation signalement.</a:t>
            </a:r>
            <a:endParaRPr lang="en-US" sz="1050" dirty="0"/>
          </a:p>
        </p:txBody>
      </p:sp>
      <p:sp>
        <p:nvSpPr>
          <p:cNvPr id="20" name="Shape 17"/>
          <p:cNvSpPr/>
          <p:nvPr/>
        </p:nvSpPr>
        <p:spPr>
          <a:xfrm>
            <a:off x="512064" y="3995928"/>
            <a:ext cx="6535547" cy="608076"/>
          </a:xfrm>
          <a:prstGeom prst="rect">
            <a:avLst/>
          </a:prstGeom>
          <a:solidFill>
            <a:srgbClr val="FFFFFF"/>
          </a:solidFill>
          <a:ln w="8255">
            <a:solidFill>
              <a:srgbClr val="2B2B2B"/>
            </a:solidFill>
            <a:prstDash val="solid"/>
          </a:ln>
        </p:spPr>
      </p:sp>
      <p:sp>
        <p:nvSpPr>
          <p:cNvPr id="21" name="Text 18"/>
          <p:cNvSpPr/>
          <p:nvPr/>
        </p:nvSpPr>
        <p:spPr>
          <a:xfrm>
            <a:off x="585216" y="4059936"/>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Recommandations :</a:t>
            </a:r>
            <a:endParaRPr lang="en-US" sz="1010" dirty="0"/>
          </a:p>
        </p:txBody>
      </p:sp>
      <p:sp>
        <p:nvSpPr>
          <p:cNvPr id="22" name="Text 19"/>
          <p:cNvSpPr/>
          <p:nvPr/>
        </p:nvSpPr>
        <p:spPr>
          <a:xfrm>
            <a:off x="585216" y="4279392"/>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Intervention signalement.</a:t>
            </a:r>
            <a:endParaRPr lang="en-US" sz="1050" dirty="0"/>
          </a:p>
        </p:txBody>
      </p:sp>
      <p:sp>
        <p:nvSpPr>
          <p:cNvPr id="23" name="Shape 20"/>
          <p:cNvSpPr/>
          <p:nvPr/>
        </p:nvSpPr>
        <p:spPr>
          <a:xfrm>
            <a:off x="512064" y="4604004"/>
            <a:ext cx="6535547" cy="3931920"/>
          </a:xfrm>
          <a:prstGeom prst="rect">
            <a:avLst/>
          </a:prstGeom>
          <a:solidFill>
            <a:srgbClr val="FFFFFF"/>
          </a:solidFill>
          <a:ln w="8255">
            <a:solidFill>
              <a:srgbClr val="2B2B2B"/>
            </a:solidFill>
            <a:prstDash val="solid"/>
          </a:ln>
        </p:spPr>
      </p:sp>
      <p:sp>
        <p:nvSpPr>
          <p:cNvPr id="24" name="Text 21"/>
          <p:cNvSpPr/>
          <p:nvPr/>
        </p:nvSpPr>
        <p:spPr>
          <a:xfrm>
            <a:off x="585216" y="4668012"/>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Illustrations :</a:t>
            </a:r>
            <a:endParaRPr lang="en-US" sz="1010" dirty="0"/>
          </a:p>
        </p:txBody>
      </p:sp>
      <p:pic>
        <p:nvPicPr>
          <p:cNvPr id="25" name="Image 1" descr="Photographie du diagnostic n°2">    </p:cNvPr>
          <p:cNvPicPr>
            <a:picLocks noChangeAspect="1"/>
          </p:cNvPicPr>
          <p:nvPr/>
        </p:nvPicPr>
        <p:blipFill>
          <a:blip r:embed="rId2"/>
          <a:stretch>
            <a:fillRect/>
          </a:stretch>
        </p:blipFill>
        <p:spPr>
          <a:xfrm>
            <a:off x="1420686" y="4914900"/>
            <a:ext cx="4718304" cy="3538728"/>
          </a:xfrm>
          <a:prstGeom prst="rect">
            <a:avLst/>
          </a:prstGeom>
        </p:spPr>
      </p:pic>
      <p:sp>
        <p:nvSpPr>
          <p:cNvPr id="26" name="Text 22"/>
          <p:cNvSpPr/>
          <p:nvPr/>
        </p:nvSpPr>
        <p:spPr>
          <a:xfrm>
            <a:off x="2212848" y="10390061"/>
            <a:ext cx="3200400" cy="146304"/>
          </a:xfrm>
          <a:prstGeom prst="rect">
            <a:avLst/>
          </a:prstGeom>
          <a:noFill/>
          <a:ln/>
        </p:spPr>
        <p:txBody>
          <a:bodyPr wrap="none" lIns="0" tIns="0" rIns="0" bIns="0" rtlCol="0" anchor="ctr"/>
          <a:lstStyle/>
          <a:p>
            <a:pPr algn="ctr" indent="0" marL="0">
              <a:buNone/>
            </a:pPr>
            <a:r>
              <a:rPr lang="en-US" sz="830" dirty="0">
                <a:solidFill>
                  <a:srgbClr val="777777"/>
                </a:solidFill>
                <a:latin typeface="Arial" pitchFamily="34" charset="0"/>
                <a:ea typeface="Arial" pitchFamily="34" charset="-122"/>
                <a:cs typeface="Arial" pitchFamily="34" charset="-120"/>
              </a:rPr>
              <a:t>Copropriété Résidence des Tilleuls</a:t>
            </a:r>
            <a:endParaRPr lang="en-US" sz="830" dirty="0"/>
          </a:p>
        </p:txBody>
      </p:sp>
      <p:sp>
        <p:nvSpPr>
          <p:cNvPr id="27" name="Text 23"/>
          <p:cNvSpPr/>
          <p:nvPr/>
        </p:nvSpPr>
        <p:spPr>
          <a:xfrm>
            <a:off x="6773291" y="10390061"/>
            <a:ext cx="274320" cy="146304"/>
          </a:xfrm>
          <a:prstGeom prst="rect">
            <a:avLst/>
          </a:prstGeom>
          <a:noFill/>
          <a:ln/>
        </p:spPr>
        <p:txBody>
          <a:bodyPr wrap="none" lIns="0" tIns="0" rIns="0" bIns="0" rtlCol="0" anchor="ctr"/>
          <a:lstStyle/>
          <a:p>
            <a:pPr algn="r" indent="0" marL="0">
              <a:buNone/>
            </a:pPr>
            <a:r>
              <a:rPr lang="en-US" sz="830" dirty="0">
                <a:solidFill>
                  <a:srgbClr val="777777"/>
                </a:solidFill>
                <a:latin typeface="Arial" pitchFamily="34" charset="0"/>
                <a:ea typeface="Arial" pitchFamily="34" charset="-122"/>
                <a:cs typeface="Arial" pitchFamily="34" charset="-120"/>
              </a:rPr>
              <a:t>12</a:t>
            </a:r>
            <a:endParaRPr lang="en-US" sz="83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France Verte, bureau d’études fluides et thermiques">    </p:cNvPr>
          <p:cNvPicPr>
            <a:picLocks noChangeAspect="1"/>
          </p:cNvPicPr>
          <p:nvPr/>
        </p:nvPicPr>
        <p:blipFill>
          <a:blip r:embed="rId1"/>
          <a:stretch>
            <a:fillRect/>
          </a:stretch>
        </p:blipFill>
        <p:spPr>
          <a:xfrm>
            <a:off x="512064" y="164592"/>
            <a:ext cx="2176272" cy="548640"/>
          </a:xfrm>
          <a:prstGeom prst="rect">
            <a:avLst/>
          </a:prstGeom>
        </p:spPr>
      </p:pic>
      <p:sp>
        <p:nvSpPr>
          <p:cNvPr id="3" name="Shape 0"/>
          <p:cNvSpPr/>
          <p:nvPr/>
        </p:nvSpPr>
        <p:spPr>
          <a:xfrm>
            <a:off x="512064" y="822960"/>
            <a:ext cx="6535547" cy="310896"/>
          </a:xfrm>
          <a:prstGeom prst="rect">
            <a:avLst/>
          </a:prstGeom>
          <a:solidFill>
            <a:srgbClr val="00B55A"/>
          </a:solidFill>
          <a:ln w="12700">
            <a:solidFill>
              <a:srgbClr val="00B55A">
                <a:alpha val="0"/>
              </a:srgbClr>
            </a:solidFill>
            <a:prstDash val="solid"/>
          </a:ln>
        </p:spPr>
      </p:sp>
      <p:sp>
        <p:nvSpPr>
          <p:cNvPr id="4" name="Text 1"/>
          <p:cNvSpPr/>
          <p:nvPr/>
        </p:nvSpPr>
        <p:spPr>
          <a:xfrm>
            <a:off x="640080" y="850392"/>
            <a:ext cx="6306947" cy="237744"/>
          </a:xfrm>
          <a:prstGeom prst="rect">
            <a:avLst/>
          </a:prstGeom>
          <a:noFill/>
          <a:ln/>
        </p:spPr>
        <p:txBody>
          <a:bodyPr wrap="non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2.IDENTIFICATION ET HIÉRARCHISATION DES TRAVAUX ET OBSERVATIONS</a:t>
            </a:r>
            <a:endParaRPr lang="en-US" sz="1150" dirty="0"/>
          </a:p>
        </p:txBody>
      </p:sp>
      <p:sp>
        <p:nvSpPr>
          <p:cNvPr id="5" name="Shape 2"/>
          <p:cNvSpPr/>
          <p:nvPr/>
        </p:nvSpPr>
        <p:spPr>
          <a:xfrm>
            <a:off x="512064" y="1609344"/>
            <a:ext cx="1600200" cy="429768"/>
          </a:xfrm>
          <a:prstGeom prst="chevron">
            <a:avLst/>
          </a:prstGeom>
          <a:solidFill>
            <a:srgbClr val="D52234"/>
          </a:solidFill>
          <a:ln w="10160">
            <a:solidFill>
              <a:srgbClr val="2B2B2B"/>
            </a:solidFill>
            <a:prstDash val="solid"/>
          </a:ln>
        </p:spPr>
      </p:sp>
      <p:sp>
        <p:nvSpPr>
          <p:cNvPr id="6" name="Text 3"/>
          <p:cNvSpPr/>
          <p:nvPr/>
        </p:nvSpPr>
        <p:spPr>
          <a:xfrm>
            <a:off x="576072" y="1645920"/>
            <a:ext cx="1307592"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Curatif Niveau 1</a:t>
            </a:r>
            <a:endParaRPr lang="en-US" sz="1000" dirty="0"/>
          </a:p>
        </p:txBody>
      </p:sp>
      <p:sp>
        <p:nvSpPr>
          <p:cNvPr id="7" name="Text 4"/>
          <p:cNvSpPr/>
          <p:nvPr/>
        </p:nvSpPr>
        <p:spPr>
          <a:xfrm>
            <a:off x="2331720" y="1417320"/>
            <a:ext cx="4661027" cy="813816"/>
          </a:xfrm>
          <a:prstGeom prst="rect">
            <a:avLst/>
          </a:prstGeom>
          <a:noFill/>
          <a:ln/>
        </p:spPr>
        <p:txBody>
          <a:bodyPr wrap="square" lIns="0" tIns="0" rIns="0" bIns="0" rtlCol="0" anchor="ctr"/>
          <a:lstStyle/>
          <a:p>
            <a:pPr indent="0" marL="0">
              <a:lnSpc>
                <a:spcPct val="100000"/>
              </a:lnSpc>
              <a:buNone/>
            </a:pPr>
            <a:r>
              <a:rPr lang="en-US" sz="830" b="1" dirty="0">
                <a:solidFill>
                  <a:srgbClr val="171717"/>
                </a:solidFill>
                <a:latin typeface="Arial" pitchFamily="34" charset="0"/>
                <a:ea typeface="Arial" pitchFamily="34" charset="-122"/>
                <a:cs typeface="Arial" pitchFamily="34" charset="-120"/>
              </a:rPr>
              <a:t>Curatif Niveau 1 (impact fort) – Travaux à effectuer sous 2 ans (2027-2028)</a:t>
            </a:r>
            <a:endParaRPr lang="en-US" sz="830" dirty="0"/>
          </a:p>
          <a:p>
            <a:pPr indent="0" marL="0">
              <a:lnSpc>
                <a:spcPct val="100000"/>
              </a:lnSpc>
              <a:buNone/>
            </a:pPr>
            <a:r>
              <a:rPr lang="en-US" sz="830" b="1" dirty="0">
                <a:solidFill>
                  <a:srgbClr val="171717"/>
                </a:solidFill>
                <a:latin typeface="Arial" pitchFamily="34" charset="0"/>
                <a:ea typeface="Arial" pitchFamily="34" charset="-122"/>
                <a:cs typeface="Arial" pitchFamily="34" charset="-120"/>
              </a:rPr>
              <a:t>Interventions urgentes nécessaires à la sécurité des occupants, à la préservation du bâti</a:t>
            </a:r>
            <a:endParaRPr lang="en-US" sz="830" dirty="0"/>
          </a:p>
          <a:p>
            <a:pPr indent="0" marL="0">
              <a:lnSpc>
                <a:spcPct val="100000"/>
              </a:lnSpc>
              <a:buNone/>
            </a:pPr>
            <a:r>
              <a:rPr lang="en-US" sz="830" b="1" dirty="0">
                <a:solidFill>
                  <a:srgbClr val="171717"/>
                </a:solidFill>
                <a:latin typeface="Arial" pitchFamily="34" charset="0"/>
                <a:ea typeface="Arial" pitchFamily="34" charset="-122"/>
                <a:cs typeface="Arial" pitchFamily="34" charset="-120"/>
              </a:rPr>
              <a:t>ou à la continuité de service des équipements.</a:t>
            </a:r>
            <a:endParaRPr lang="en-US" sz="830" dirty="0"/>
          </a:p>
        </p:txBody>
      </p:sp>
      <p:sp>
        <p:nvSpPr>
          <p:cNvPr id="8" name="Shape 5"/>
          <p:cNvSpPr/>
          <p:nvPr/>
        </p:nvSpPr>
        <p:spPr>
          <a:xfrm>
            <a:off x="512064" y="2340864"/>
            <a:ext cx="731520" cy="438912"/>
          </a:xfrm>
          <a:prstGeom prst="rect">
            <a:avLst/>
          </a:prstGeom>
          <a:solidFill>
            <a:srgbClr val="FFFFFF"/>
          </a:solidFill>
          <a:ln w="8255">
            <a:solidFill>
              <a:srgbClr val="2B2B2B"/>
            </a:solidFill>
            <a:prstDash val="solid"/>
          </a:ln>
        </p:spPr>
      </p:sp>
      <p:sp>
        <p:nvSpPr>
          <p:cNvPr id="9" name="Shape 6"/>
          <p:cNvSpPr/>
          <p:nvPr/>
        </p:nvSpPr>
        <p:spPr>
          <a:xfrm>
            <a:off x="1243584" y="2340864"/>
            <a:ext cx="3591179" cy="438912"/>
          </a:xfrm>
          <a:prstGeom prst="rect">
            <a:avLst/>
          </a:prstGeom>
          <a:solidFill>
            <a:srgbClr val="FFFFFF"/>
          </a:solidFill>
          <a:ln w="8255">
            <a:solidFill>
              <a:srgbClr val="2B2B2B"/>
            </a:solidFill>
            <a:prstDash val="solid"/>
          </a:ln>
        </p:spPr>
      </p:sp>
      <p:sp>
        <p:nvSpPr>
          <p:cNvPr id="10" name="Shape 7"/>
          <p:cNvSpPr/>
          <p:nvPr/>
        </p:nvSpPr>
        <p:spPr>
          <a:xfrm>
            <a:off x="4834763" y="2340864"/>
            <a:ext cx="2212848" cy="438912"/>
          </a:xfrm>
          <a:prstGeom prst="rect">
            <a:avLst/>
          </a:prstGeom>
          <a:solidFill>
            <a:srgbClr val="D52234"/>
          </a:solidFill>
          <a:ln w="8255">
            <a:solidFill>
              <a:srgbClr val="2B2B2B"/>
            </a:solidFill>
            <a:prstDash val="solid"/>
          </a:ln>
        </p:spPr>
      </p:sp>
      <p:sp>
        <p:nvSpPr>
          <p:cNvPr id="11" name="Text 8"/>
          <p:cNvSpPr/>
          <p:nvPr/>
        </p:nvSpPr>
        <p:spPr>
          <a:xfrm>
            <a:off x="548640" y="2450592"/>
            <a:ext cx="658368" cy="219456"/>
          </a:xfrm>
          <a:prstGeom prst="rect">
            <a:avLst/>
          </a:prstGeom>
          <a:noFill/>
          <a:ln/>
        </p:spPr>
        <p:txBody>
          <a:bodyPr wrap="none" lIns="0" tIns="0" rIns="0" bIns="0" rtlCol="0" anchor="ctr"/>
          <a:lstStyle/>
          <a:p>
            <a:pPr algn="ctr" indent="0" marL="0">
              <a:buNone/>
            </a:pPr>
            <a:r>
              <a:rPr lang="en-US" sz="1050" b="1" dirty="0">
                <a:solidFill>
                  <a:srgbClr val="171717"/>
                </a:solidFill>
                <a:latin typeface="Arial" pitchFamily="34" charset="0"/>
                <a:ea typeface="Arial" pitchFamily="34" charset="-122"/>
                <a:cs typeface="Arial" pitchFamily="34" charset="-120"/>
              </a:rPr>
              <a:t>N°3</a:t>
            </a:r>
            <a:endParaRPr lang="en-US" sz="1050" dirty="0"/>
          </a:p>
        </p:txBody>
      </p:sp>
      <p:sp>
        <p:nvSpPr>
          <p:cNvPr id="12" name="Text 9"/>
          <p:cNvSpPr/>
          <p:nvPr/>
        </p:nvSpPr>
        <p:spPr>
          <a:xfrm>
            <a:off x="1316736" y="2414016"/>
            <a:ext cx="3444875" cy="292608"/>
          </a:xfrm>
          <a:prstGeom prst="rect">
            <a:avLst/>
          </a:prstGeom>
          <a:noFill/>
          <a:ln/>
        </p:spPr>
        <p:txBody>
          <a:bodyPr wrap="none" lIns="0" tIns="0" rIns="0" bIns="0" rtlCol="0" anchor="ctr"/>
          <a:lstStyle/>
          <a:p>
            <a:pPr indent="0" marL="0">
              <a:buNone/>
            </a:pPr>
            <a:r>
              <a:rPr lang="en-US" sz="1020" b="1" dirty="0">
                <a:solidFill>
                  <a:srgbClr val="171717"/>
                </a:solidFill>
                <a:latin typeface="Arial" pitchFamily="34" charset="0"/>
                <a:ea typeface="Arial" pitchFamily="34" charset="-122"/>
                <a:cs typeface="Arial" pitchFamily="34" charset="-120"/>
              </a:rPr>
              <a:t>Famille : Famille curative-1</a:t>
            </a:r>
            <a:endParaRPr lang="en-US" sz="1020" dirty="0"/>
          </a:p>
        </p:txBody>
      </p:sp>
      <p:sp>
        <p:nvSpPr>
          <p:cNvPr id="13" name="Text 10"/>
          <p:cNvSpPr/>
          <p:nvPr/>
        </p:nvSpPr>
        <p:spPr>
          <a:xfrm>
            <a:off x="4889627" y="2418588"/>
            <a:ext cx="2103120" cy="283464"/>
          </a:xfrm>
          <a:prstGeom prst="rect">
            <a:avLst/>
          </a:prstGeom>
          <a:noFill/>
          <a:ln/>
        </p:spPr>
        <p:txBody>
          <a:bodyPr wrap="non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CURATIF NIVEAU 1</a:t>
            </a:r>
            <a:endParaRPr lang="en-US" sz="1050" dirty="0"/>
          </a:p>
        </p:txBody>
      </p:sp>
      <p:sp>
        <p:nvSpPr>
          <p:cNvPr id="14" name="Shape 11"/>
          <p:cNvSpPr/>
          <p:nvPr/>
        </p:nvSpPr>
        <p:spPr>
          <a:xfrm>
            <a:off x="512064" y="2779776"/>
            <a:ext cx="6535547" cy="608076"/>
          </a:xfrm>
          <a:prstGeom prst="rect">
            <a:avLst/>
          </a:prstGeom>
          <a:solidFill>
            <a:srgbClr val="FFFFFF"/>
          </a:solidFill>
          <a:ln w="8255">
            <a:solidFill>
              <a:srgbClr val="2B2B2B"/>
            </a:solidFill>
            <a:prstDash val="solid"/>
          </a:ln>
        </p:spPr>
      </p:sp>
      <p:sp>
        <p:nvSpPr>
          <p:cNvPr id="15" name="Text 12"/>
          <p:cNvSpPr/>
          <p:nvPr/>
        </p:nvSpPr>
        <p:spPr>
          <a:xfrm>
            <a:off x="585216" y="2843784"/>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Localisation :</a:t>
            </a:r>
            <a:endParaRPr lang="en-US" sz="1010" dirty="0"/>
          </a:p>
        </p:txBody>
      </p:sp>
      <p:sp>
        <p:nvSpPr>
          <p:cNvPr id="16" name="Text 13"/>
          <p:cNvSpPr/>
          <p:nvPr/>
        </p:nvSpPr>
        <p:spPr>
          <a:xfrm>
            <a:off x="585216" y="3063240"/>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Parties communes</a:t>
            </a:r>
            <a:endParaRPr lang="en-US" sz="1050" dirty="0"/>
          </a:p>
        </p:txBody>
      </p:sp>
      <p:sp>
        <p:nvSpPr>
          <p:cNvPr id="17" name="Shape 14"/>
          <p:cNvSpPr/>
          <p:nvPr/>
        </p:nvSpPr>
        <p:spPr>
          <a:xfrm>
            <a:off x="512064" y="3387852"/>
            <a:ext cx="6535547" cy="6419088"/>
          </a:xfrm>
          <a:prstGeom prst="rect">
            <a:avLst/>
          </a:prstGeom>
          <a:solidFill>
            <a:srgbClr val="FFFFFF"/>
          </a:solidFill>
          <a:ln w="8255">
            <a:solidFill>
              <a:srgbClr val="2B2B2B"/>
            </a:solidFill>
            <a:prstDash val="solid"/>
          </a:ln>
        </p:spPr>
      </p:sp>
      <p:sp>
        <p:nvSpPr>
          <p:cNvPr id="18" name="Text 15"/>
          <p:cNvSpPr/>
          <p:nvPr/>
        </p:nvSpPr>
        <p:spPr>
          <a:xfrm>
            <a:off x="585216" y="3451860"/>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Etat / Observations :</a:t>
            </a:r>
            <a:endParaRPr lang="en-US" sz="1010" dirty="0"/>
          </a:p>
        </p:txBody>
      </p:sp>
      <p:sp>
        <p:nvSpPr>
          <p:cNvPr id="19" name="Text 16"/>
          <p:cNvSpPr/>
          <p:nvPr/>
        </p:nvSpPr>
        <p:spPr>
          <a:xfrm>
            <a:off x="585216" y="3671316"/>
            <a:ext cx="6389243" cy="6035040"/>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Observation 1 visible sur la photographie. Observation 2 visible sur la photographie. Observation 3</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visible sur la photographie. Observation 4 visible sur la photographie. Observation 5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6 visible sur la photographie. Observation 7 visible sur la photographie.</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Observation 8 visible sur la photographie. Observation 9 visible sur la photographie. Observation</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10 visible sur la photographie. Observation 11 visible sur la photographie. Observation 12 visible</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sur la photographie. Observation 13 visible sur la photographie. Observation 14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15 visible sur la photographie. Observation 16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17 visible sur la photographie. Observation 18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19 visible sur la photographie. Observation 20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21 visible sur la photographie. Observation 22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23 visible sur la photographie. Observation 24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25 visible sur la photographie. Observation 26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27 visible sur la photographie. Observation 28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29 visible sur la photographie. Observation 30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31 visible sur la photographie. Observation 32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33 visible sur la photographie. Observation 34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35 visible sur la photographie. Observation 36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37 visible sur la photographie. Observation 38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39 visible sur la photographie. Observation 40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41 visible sur la photographie. Observation 42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43 visible sur la photographie. Observation 44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45 visible sur la photographie. Observation 46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47 visible sur la photographie. Observation 48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49 visible sur la photographie. Observation 50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51 visible sur la photographie. Observation 52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53 visible sur la photographie. Observation 54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55 visible sur la photographie. Observation 56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57 visible sur la photographie. Observation 58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59 visible sur la photographie. Observation 60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61 visible sur la photographie. Observation 62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63 visible sur la photographie. Observation 64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65 visible sur la photographie. Observation 66 visible sur la</a:t>
            </a:r>
            <a:endParaRPr lang="en-US" sz="1050" dirty="0"/>
          </a:p>
        </p:txBody>
      </p:sp>
      <p:sp>
        <p:nvSpPr>
          <p:cNvPr id="20" name="Text 17"/>
          <p:cNvSpPr/>
          <p:nvPr/>
        </p:nvSpPr>
        <p:spPr>
          <a:xfrm>
            <a:off x="2212848" y="10390061"/>
            <a:ext cx="3200400" cy="146304"/>
          </a:xfrm>
          <a:prstGeom prst="rect">
            <a:avLst/>
          </a:prstGeom>
          <a:noFill/>
          <a:ln/>
        </p:spPr>
        <p:txBody>
          <a:bodyPr wrap="none" lIns="0" tIns="0" rIns="0" bIns="0" rtlCol="0" anchor="ctr"/>
          <a:lstStyle/>
          <a:p>
            <a:pPr algn="ctr" indent="0" marL="0">
              <a:buNone/>
            </a:pPr>
            <a:r>
              <a:rPr lang="en-US" sz="830" dirty="0">
                <a:solidFill>
                  <a:srgbClr val="777777"/>
                </a:solidFill>
                <a:latin typeface="Arial" pitchFamily="34" charset="0"/>
                <a:ea typeface="Arial" pitchFamily="34" charset="-122"/>
                <a:cs typeface="Arial" pitchFamily="34" charset="-120"/>
              </a:rPr>
              <a:t>Copropriété Résidence des Tilleuls</a:t>
            </a:r>
            <a:endParaRPr lang="en-US" sz="830" dirty="0"/>
          </a:p>
        </p:txBody>
      </p:sp>
      <p:sp>
        <p:nvSpPr>
          <p:cNvPr id="21" name="Text 18"/>
          <p:cNvSpPr/>
          <p:nvPr/>
        </p:nvSpPr>
        <p:spPr>
          <a:xfrm>
            <a:off x="6773291" y="10390061"/>
            <a:ext cx="274320" cy="146304"/>
          </a:xfrm>
          <a:prstGeom prst="rect">
            <a:avLst/>
          </a:prstGeom>
          <a:noFill/>
          <a:ln/>
        </p:spPr>
        <p:txBody>
          <a:bodyPr wrap="none" lIns="0" tIns="0" rIns="0" bIns="0" rtlCol="0" anchor="ctr"/>
          <a:lstStyle/>
          <a:p>
            <a:pPr algn="r" indent="0" marL="0">
              <a:buNone/>
            </a:pPr>
            <a:r>
              <a:rPr lang="en-US" sz="830" dirty="0">
                <a:solidFill>
                  <a:srgbClr val="777777"/>
                </a:solidFill>
                <a:latin typeface="Arial" pitchFamily="34" charset="0"/>
                <a:ea typeface="Arial" pitchFamily="34" charset="-122"/>
                <a:cs typeface="Arial" pitchFamily="34" charset="-120"/>
              </a:rPr>
              <a:t>13</a:t>
            </a:r>
            <a:endParaRPr lang="en-US" sz="83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France Verte, bureau d’études fluides et thermiques">    </p:cNvPr>
          <p:cNvPicPr>
            <a:picLocks noChangeAspect="1"/>
          </p:cNvPicPr>
          <p:nvPr/>
        </p:nvPicPr>
        <p:blipFill>
          <a:blip r:embed="rId1"/>
          <a:stretch>
            <a:fillRect/>
          </a:stretch>
        </p:blipFill>
        <p:spPr>
          <a:xfrm>
            <a:off x="512064" y="164592"/>
            <a:ext cx="2176272" cy="548640"/>
          </a:xfrm>
          <a:prstGeom prst="rect">
            <a:avLst/>
          </a:prstGeom>
        </p:spPr>
      </p:pic>
      <p:sp>
        <p:nvSpPr>
          <p:cNvPr id="3" name="Shape 0"/>
          <p:cNvSpPr/>
          <p:nvPr/>
        </p:nvSpPr>
        <p:spPr>
          <a:xfrm>
            <a:off x="512064" y="822960"/>
            <a:ext cx="6535547" cy="310896"/>
          </a:xfrm>
          <a:prstGeom prst="rect">
            <a:avLst/>
          </a:prstGeom>
          <a:solidFill>
            <a:srgbClr val="00B55A"/>
          </a:solidFill>
          <a:ln w="12700">
            <a:solidFill>
              <a:srgbClr val="00B55A">
                <a:alpha val="0"/>
              </a:srgbClr>
            </a:solidFill>
            <a:prstDash val="solid"/>
          </a:ln>
        </p:spPr>
      </p:sp>
      <p:sp>
        <p:nvSpPr>
          <p:cNvPr id="4" name="Text 1"/>
          <p:cNvSpPr/>
          <p:nvPr/>
        </p:nvSpPr>
        <p:spPr>
          <a:xfrm>
            <a:off x="640080" y="850392"/>
            <a:ext cx="6306947" cy="237744"/>
          </a:xfrm>
          <a:prstGeom prst="rect">
            <a:avLst/>
          </a:prstGeom>
          <a:noFill/>
          <a:ln/>
        </p:spPr>
        <p:txBody>
          <a:bodyPr wrap="non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2.IDENTIFICATION ET HIÉRARCHISATION DES TRAVAUX ET OBSERVATIONS</a:t>
            </a:r>
            <a:endParaRPr lang="en-US" sz="1150" dirty="0"/>
          </a:p>
        </p:txBody>
      </p:sp>
      <p:sp>
        <p:nvSpPr>
          <p:cNvPr id="5" name="Shape 2"/>
          <p:cNvSpPr/>
          <p:nvPr/>
        </p:nvSpPr>
        <p:spPr>
          <a:xfrm>
            <a:off x="512064" y="1353312"/>
            <a:ext cx="731520" cy="438912"/>
          </a:xfrm>
          <a:prstGeom prst="rect">
            <a:avLst/>
          </a:prstGeom>
          <a:solidFill>
            <a:srgbClr val="FFFFFF"/>
          </a:solidFill>
          <a:ln w="8255">
            <a:solidFill>
              <a:srgbClr val="2B2B2B"/>
            </a:solidFill>
            <a:prstDash val="solid"/>
          </a:ln>
        </p:spPr>
      </p:sp>
      <p:sp>
        <p:nvSpPr>
          <p:cNvPr id="6" name="Shape 3"/>
          <p:cNvSpPr/>
          <p:nvPr/>
        </p:nvSpPr>
        <p:spPr>
          <a:xfrm>
            <a:off x="1243584" y="1353312"/>
            <a:ext cx="3591179" cy="438912"/>
          </a:xfrm>
          <a:prstGeom prst="rect">
            <a:avLst/>
          </a:prstGeom>
          <a:solidFill>
            <a:srgbClr val="FFFFFF"/>
          </a:solidFill>
          <a:ln w="8255">
            <a:solidFill>
              <a:srgbClr val="2B2B2B"/>
            </a:solidFill>
            <a:prstDash val="solid"/>
          </a:ln>
        </p:spPr>
      </p:sp>
      <p:sp>
        <p:nvSpPr>
          <p:cNvPr id="7" name="Shape 4"/>
          <p:cNvSpPr/>
          <p:nvPr/>
        </p:nvSpPr>
        <p:spPr>
          <a:xfrm>
            <a:off x="4834763" y="1353312"/>
            <a:ext cx="2212848" cy="438912"/>
          </a:xfrm>
          <a:prstGeom prst="rect">
            <a:avLst/>
          </a:prstGeom>
          <a:solidFill>
            <a:srgbClr val="D52234"/>
          </a:solidFill>
          <a:ln w="8255">
            <a:solidFill>
              <a:srgbClr val="2B2B2B"/>
            </a:solidFill>
            <a:prstDash val="solid"/>
          </a:ln>
        </p:spPr>
      </p:sp>
      <p:sp>
        <p:nvSpPr>
          <p:cNvPr id="8" name="Text 5"/>
          <p:cNvSpPr/>
          <p:nvPr/>
        </p:nvSpPr>
        <p:spPr>
          <a:xfrm>
            <a:off x="548640" y="1463040"/>
            <a:ext cx="658368" cy="219456"/>
          </a:xfrm>
          <a:prstGeom prst="rect">
            <a:avLst/>
          </a:prstGeom>
          <a:noFill/>
          <a:ln/>
        </p:spPr>
        <p:txBody>
          <a:bodyPr wrap="none" lIns="0" tIns="0" rIns="0" bIns="0" rtlCol="0" anchor="ctr"/>
          <a:lstStyle/>
          <a:p>
            <a:pPr algn="ctr" indent="0" marL="0">
              <a:buNone/>
            </a:pPr>
            <a:r>
              <a:rPr lang="en-US" sz="1050" b="1" dirty="0">
                <a:solidFill>
                  <a:srgbClr val="171717"/>
                </a:solidFill>
                <a:latin typeface="Arial" pitchFamily="34" charset="0"/>
                <a:ea typeface="Arial" pitchFamily="34" charset="-122"/>
                <a:cs typeface="Arial" pitchFamily="34" charset="-120"/>
              </a:rPr>
              <a:t>N°3</a:t>
            </a:r>
            <a:endParaRPr lang="en-US" sz="1050" dirty="0"/>
          </a:p>
        </p:txBody>
      </p:sp>
      <p:sp>
        <p:nvSpPr>
          <p:cNvPr id="9" name="Text 6"/>
          <p:cNvSpPr/>
          <p:nvPr/>
        </p:nvSpPr>
        <p:spPr>
          <a:xfrm>
            <a:off x="1316736" y="1426464"/>
            <a:ext cx="3444875" cy="292608"/>
          </a:xfrm>
          <a:prstGeom prst="rect">
            <a:avLst/>
          </a:prstGeom>
          <a:noFill/>
          <a:ln/>
        </p:spPr>
        <p:txBody>
          <a:bodyPr wrap="none" lIns="0" tIns="0" rIns="0" bIns="0" rtlCol="0" anchor="ctr"/>
          <a:lstStyle/>
          <a:p>
            <a:pPr indent="0" marL="0">
              <a:buNone/>
            </a:pPr>
            <a:r>
              <a:rPr lang="en-US" sz="1020" b="1" dirty="0">
                <a:solidFill>
                  <a:srgbClr val="171717"/>
                </a:solidFill>
                <a:latin typeface="Arial" pitchFamily="34" charset="0"/>
                <a:ea typeface="Arial" pitchFamily="34" charset="-122"/>
                <a:cs typeface="Arial" pitchFamily="34" charset="-120"/>
              </a:rPr>
              <a:t>Famille : Famille curative-1</a:t>
            </a:r>
            <a:endParaRPr lang="en-US" sz="1020" dirty="0"/>
          </a:p>
        </p:txBody>
      </p:sp>
      <p:sp>
        <p:nvSpPr>
          <p:cNvPr id="10" name="Text 7"/>
          <p:cNvSpPr/>
          <p:nvPr/>
        </p:nvSpPr>
        <p:spPr>
          <a:xfrm>
            <a:off x="4889627" y="1431036"/>
            <a:ext cx="2103120" cy="283464"/>
          </a:xfrm>
          <a:prstGeom prst="rect">
            <a:avLst/>
          </a:prstGeom>
          <a:noFill/>
          <a:ln/>
        </p:spPr>
        <p:txBody>
          <a:bodyPr wrap="non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CURATIF NIVEAU 1</a:t>
            </a:r>
            <a:endParaRPr lang="en-US" sz="1050" dirty="0"/>
          </a:p>
        </p:txBody>
      </p:sp>
      <p:sp>
        <p:nvSpPr>
          <p:cNvPr id="11" name="Shape 8"/>
          <p:cNvSpPr/>
          <p:nvPr/>
        </p:nvSpPr>
        <p:spPr>
          <a:xfrm>
            <a:off x="512064" y="1792224"/>
            <a:ext cx="6535547" cy="4732020"/>
          </a:xfrm>
          <a:prstGeom prst="rect">
            <a:avLst/>
          </a:prstGeom>
          <a:solidFill>
            <a:srgbClr val="FFFFFF"/>
          </a:solidFill>
          <a:ln w="8255">
            <a:solidFill>
              <a:srgbClr val="2B2B2B"/>
            </a:solidFill>
            <a:prstDash val="solid"/>
          </a:ln>
        </p:spPr>
      </p:sp>
      <p:sp>
        <p:nvSpPr>
          <p:cNvPr id="12" name="Text 9"/>
          <p:cNvSpPr/>
          <p:nvPr/>
        </p:nvSpPr>
        <p:spPr>
          <a:xfrm>
            <a:off x="585216" y="1856232"/>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Etat / Observations (suite) :</a:t>
            </a:r>
            <a:endParaRPr lang="en-US" sz="1010" dirty="0"/>
          </a:p>
        </p:txBody>
      </p:sp>
      <p:sp>
        <p:nvSpPr>
          <p:cNvPr id="13" name="Text 10"/>
          <p:cNvSpPr/>
          <p:nvPr/>
        </p:nvSpPr>
        <p:spPr>
          <a:xfrm>
            <a:off x="585216" y="2075688"/>
            <a:ext cx="6389243" cy="4347972"/>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67 visible sur la photographie. Observation 68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69 visible sur la photographie. Observation 70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71 visible sur la photographie. Observation 72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73 visible sur la photographie. Observation 74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75 visible sur la photographie. Observation 76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77 visible sur la photographie. Observation 78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79 visible sur la photographie. Observation 80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81 visible sur la photographie. Observation 82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83 visible sur la photographie. Observation 84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85 visible sur la photographie. Observation 86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87 visible sur la photographie. Observation 88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89 visible sur la photographie. Observation 90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91 visible sur la photographie. Observation 92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93 visible sur la photographie. Observation 94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95 visible sur la photographie. Observation 96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97 visible sur la photographie. Observation 98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99 visible sur la photographie. Observation 100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101 visible sur la photographie. Observation 102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103 visible sur la photographie. Observation 104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105 visible sur la photographie. Observation 106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107 visible sur la photographie. Observation 108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109 visible sur la photographie. Observation 110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a:t>
            </a:r>
            <a:endParaRPr lang="en-US" sz="1050" dirty="0"/>
          </a:p>
        </p:txBody>
      </p:sp>
      <p:sp>
        <p:nvSpPr>
          <p:cNvPr id="14" name="Shape 11"/>
          <p:cNvSpPr/>
          <p:nvPr/>
        </p:nvSpPr>
        <p:spPr>
          <a:xfrm>
            <a:off x="512064" y="6524244"/>
            <a:ext cx="6535547" cy="608076"/>
          </a:xfrm>
          <a:prstGeom prst="rect">
            <a:avLst/>
          </a:prstGeom>
          <a:solidFill>
            <a:srgbClr val="FFFFFF"/>
          </a:solidFill>
          <a:ln w="8255">
            <a:solidFill>
              <a:srgbClr val="2B2B2B"/>
            </a:solidFill>
            <a:prstDash val="solid"/>
          </a:ln>
        </p:spPr>
      </p:sp>
      <p:sp>
        <p:nvSpPr>
          <p:cNvPr id="15" name="Text 12"/>
          <p:cNvSpPr/>
          <p:nvPr/>
        </p:nvSpPr>
        <p:spPr>
          <a:xfrm>
            <a:off x="585216" y="6588252"/>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Travaux à effectuer :</a:t>
            </a:r>
            <a:endParaRPr lang="en-US" sz="1010" dirty="0"/>
          </a:p>
        </p:txBody>
      </p:sp>
      <p:sp>
        <p:nvSpPr>
          <p:cNvPr id="16" name="Text 13"/>
          <p:cNvSpPr/>
          <p:nvPr/>
        </p:nvSpPr>
        <p:spPr>
          <a:xfrm>
            <a:off x="585216" y="6807708"/>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Intervention curative-1.</a:t>
            </a:r>
            <a:endParaRPr lang="en-US" sz="1050" dirty="0"/>
          </a:p>
        </p:txBody>
      </p:sp>
      <p:sp>
        <p:nvSpPr>
          <p:cNvPr id="17" name="Shape 14"/>
          <p:cNvSpPr/>
          <p:nvPr/>
        </p:nvSpPr>
        <p:spPr>
          <a:xfrm>
            <a:off x="512064" y="7132320"/>
            <a:ext cx="6535547" cy="768096"/>
          </a:xfrm>
          <a:prstGeom prst="rect">
            <a:avLst/>
          </a:prstGeom>
          <a:solidFill>
            <a:srgbClr val="FFFFFF"/>
          </a:solidFill>
          <a:ln w="8255">
            <a:solidFill>
              <a:srgbClr val="2B2B2B"/>
            </a:solidFill>
            <a:prstDash val="solid"/>
          </a:ln>
        </p:spPr>
      </p:sp>
      <p:sp>
        <p:nvSpPr>
          <p:cNvPr id="18" name="Text 15"/>
          <p:cNvSpPr/>
          <p:nvPr/>
        </p:nvSpPr>
        <p:spPr>
          <a:xfrm>
            <a:off x="585216" y="7187184"/>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Chiffrage estimatif :</a:t>
            </a:r>
            <a:endParaRPr lang="en-US" sz="1010" dirty="0"/>
          </a:p>
        </p:txBody>
      </p:sp>
      <p:sp>
        <p:nvSpPr>
          <p:cNvPr id="19" name="Text 16"/>
          <p:cNvSpPr/>
          <p:nvPr/>
        </p:nvSpPr>
        <p:spPr>
          <a:xfrm>
            <a:off x="603504" y="7397496"/>
            <a:ext cx="6352667" cy="210312"/>
          </a:xfrm>
          <a:prstGeom prst="rect">
            <a:avLst/>
          </a:prstGeom>
          <a:noFill/>
          <a:ln/>
        </p:spPr>
        <p:txBody>
          <a:bodyPr wrap="none" lIns="0" tIns="0" rIns="0" bIns="0" rtlCol="0" anchor="ctr"/>
          <a:lstStyle/>
          <a:p>
            <a:pPr algn="ctr" indent="0" marL="0">
              <a:buNone/>
            </a:pPr>
            <a:r>
              <a:rPr lang="en-US" sz="1020" b="1" dirty="0">
                <a:solidFill>
                  <a:srgbClr val="171717"/>
                </a:solidFill>
                <a:latin typeface="Arial" pitchFamily="34" charset="0"/>
                <a:ea typeface="Arial" pitchFamily="34" charset="-122"/>
                <a:cs typeface="Arial" pitchFamily="34" charset="-120"/>
              </a:rPr>
              <a:t>Coût estimé : 1 000 à 1 500 € TTC</a:t>
            </a:r>
            <a:endParaRPr lang="en-US" sz="1020" dirty="0"/>
          </a:p>
        </p:txBody>
      </p:sp>
      <p:sp>
        <p:nvSpPr>
          <p:cNvPr id="20" name="Text 17"/>
          <p:cNvSpPr/>
          <p:nvPr/>
        </p:nvSpPr>
        <p:spPr>
          <a:xfrm>
            <a:off x="603504" y="7635240"/>
            <a:ext cx="6352667" cy="155448"/>
          </a:xfrm>
          <a:prstGeom prst="rect">
            <a:avLst/>
          </a:prstGeom>
          <a:noFill/>
          <a:ln/>
        </p:spPr>
        <p:txBody>
          <a:bodyPr wrap="none" lIns="0" tIns="0" rIns="0" bIns="0" rtlCol="0" anchor="ctr"/>
          <a:lstStyle/>
          <a:p>
            <a:pPr algn="ctr" indent="0" marL="0">
              <a:buNone/>
            </a:pPr>
            <a:r>
              <a:rPr lang="en-US" sz="900" i="1" dirty="0">
                <a:solidFill>
                  <a:srgbClr val="626262"/>
                </a:solidFill>
                <a:latin typeface="Arial" pitchFamily="34" charset="0"/>
                <a:ea typeface="Arial" pitchFamily="34" charset="-122"/>
                <a:cs typeface="Arial" pitchFamily="34" charset="-120"/>
              </a:rPr>
              <a:t>Estimation IA indicative, susceptible d’être ajustée après consultation des entreprises</a:t>
            </a:r>
            <a:endParaRPr lang="en-US" sz="900" dirty="0"/>
          </a:p>
        </p:txBody>
      </p:sp>
      <p:sp>
        <p:nvSpPr>
          <p:cNvPr id="21" name="Text 18"/>
          <p:cNvSpPr/>
          <p:nvPr/>
        </p:nvSpPr>
        <p:spPr>
          <a:xfrm>
            <a:off x="2212848" y="10390061"/>
            <a:ext cx="3200400" cy="146304"/>
          </a:xfrm>
          <a:prstGeom prst="rect">
            <a:avLst/>
          </a:prstGeom>
          <a:noFill/>
          <a:ln/>
        </p:spPr>
        <p:txBody>
          <a:bodyPr wrap="none" lIns="0" tIns="0" rIns="0" bIns="0" rtlCol="0" anchor="ctr"/>
          <a:lstStyle/>
          <a:p>
            <a:pPr algn="ctr" indent="0" marL="0">
              <a:buNone/>
            </a:pPr>
            <a:r>
              <a:rPr lang="en-US" sz="830" dirty="0">
                <a:solidFill>
                  <a:srgbClr val="777777"/>
                </a:solidFill>
                <a:latin typeface="Arial" pitchFamily="34" charset="0"/>
                <a:ea typeface="Arial" pitchFamily="34" charset="-122"/>
                <a:cs typeface="Arial" pitchFamily="34" charset="-120"/>
              </a:rPr>
              <a:t>Copropriété Résidence des Tilleuls</a:t>
            </a:r>
            <a:endParaRPr lang="en-US" sz="830" dirty="0"/>
          </a:p>
        </p:txBody>
      </p:sp>
      <p:sp>
        <p:nvSpPr>
          <p:cNvPr id="22" name="Text 19"/>
          <p:cNvSpPr/>
          <p:nvPr/>
        </p:nvSpPr>
        <p:spPr>
          <a:xfrm>
            <a:off x="6773291" y="10390061"/>
            <a:ext cx="274320" cy="146304"/>
          </a:xfrm>
          <a:prstGeom prst="rect">
            <a:avLst/>
          </a:prstGeom>
          <a:noFill/>
          <a:ln/>
        </p:spPr>
        <p:txBody>
          <a:bodyPr wrap="none" lIns="0" tIns="0" rIns="0" bIns="0" rtlCol="0" anchor="ctr"/>
          <a:lstStyle/>
          <a:p>
            <a:pPr algn="r" indent="0" marL="0">
              <a:buNone/>
            </a:pPr>
            <a:r>
              <a:rPr lang="en-US" sz="830" dirty="0">
                <a:solidFill>
                  <a:srgbClr val="777777"/>
                </a:solidFill>
                <a:latin typeface="Arial" pitchFamily="34" charset="0"/>
                <a:ea typeface="Arial" pitchFamily="34" charset="-122"/>
                <a:cs typeface="Arial" pitchFamily="34" charset="-120"/>
              </a:rPr>
              <a:t>14</a:t>
            </a:r>
            <a:endParaRPr lang="en-US" sz="83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France Verte, bureau d’études fluides et thermiques">    </p:cNvPr>
          <p:cNvPicPr>
            <a:picLocks noChangeAspect="1"/>
          </p:cNvPicPr>
          <p:nvPr/>
        </p:nvPicPr>
        <p:blipFill>
          <a:blip r:embed="rId1"/>
          <a:stretch>
            <a:fillRect/>
          </a:stretch>
        </p:blipFill>
        <p:spPr>
          <a:xfrm>
            <a:off x="512064" y="164592"/>
            <a:ext cx="2176272" cy="548640"/>
          </a:xfrm>
          <a:prstGeom prst="rect">
            <a:avLst/>
          </a:prstGeom>
        </p:spPr>
      </p:pic>
      <p:sp>
        <p:nvSpPr>
          <p:cNvPr id="3" name="Shape 0"/>
          <p:cNvSpPr/>
          <p:nvPr/>
        </p:nvSpPr>
        <p:spPr>
          <a:xfrm>
            <a:off x="512064" y="822960"/>
            <a:ext cx="6535547" cy="310896"/>
          </a:xfrm>
          <a:prstGeom prst="rect">
            <a:avLst/>
          </a:prstGeom>
          <a:solidFill>
            <a:srgbClr val="00B55A"/>
          </a:solidFill>
          <a:ln w="12700">
            <a:solidFill>
              <a:srgbClr val="00B55A">
                <a:alpha val="0"/>
              </a:srgbClr>
            </a:solidFill>
            <a:prstDash val="solid"/>
          </a:ln>
        </p:spPr>
      </p:sp>
      <p:sp>
        <p:nvSpPr>
          <p:cNvPr id="4" name="Text 1"/>
          <p:cNvSpPr/>
          <p:nvPr/>
        </p:nvSpPr>
        <p:spPr>
          <a:xfrm>
            <a:off x="640080" y="850392"/>
            <a:ext cx="6306947" cy="237744"/>
          </a:xfrm>
          <a:prstGeom prst="rect">
            <a:avLst/>
          </a:prstGeom>
          <a:noFill/>
          <a:ln/>
        </p:spPr>
        <p:txBody>
          <a:bodyPr wrap="non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2.IDENTIFICATION ET HIÉRARCHISATION DES TRAVAUX ET OBSERVATIONS</a:t>
            </a:r>
            <a:endParaRPr lang="en-US" sz="1150" dirty="0"/>
          </a:p>
        </p:txBody>
      </p:sp>
      <p:sp>
        <p:nvSpPr>
          <p:cNvPr id="5" name="Shape 2"/>
          <p:cNvSpPr/>
          <p:nvPr/>
        </p:nvSpPr>
        <p:spPr>
          <a:xfrm>
            <a:off x="512064" y="1353312"/>
            <a:ext cx="731520" cy="438912"/>
          </a:xfrm>
          <a:prstGeom prst="rect">
            <a:avLst/>
          </a:prstGeom>
          <a:solidFill>
            <a:srgbClr val="FFFFFF"/>
          </a:solidFill>
          <a:ln w="8255">
            <a:solidFill>
              <a:srgbClr val="2B2B2B"/>
            </a:solidFill>
            <a:prstDash val="solid"/>
          </a:ln>
        </p:spPr>
      </p:sp>
      <p:sp>
        <p:nvSpPr>
          <p:cNvPr id="6" name="Shape 3"/>
          <p:cNvSpPr/>
          <p:nvPr/>
        </p:nvSpPr>
        <p:spPr>
          <a:xfrm>
            <a:off x="1243584" y="1353312"/>
            <a:ext cx="3591179" cy="438912"/>
          </a:xfrm>
          <a:prstGeom prst="rect">
            <a:avLst/>
          </a:prstGeom>
          <a:solidFill>
            <a:srgbClr val="FFFFFF"/>
          </a:solidFill>
          <a:ln w="8255">
            <a:solidFill>
              <a:srgbClr val="2B2B2B"/>
            </a:solidFill>
            <a:prstDash val="solid"/>
          </a:ln>
        </p:spPr>
      </p:sp>
      <p:sp>
        <p:nvSpPr>
          <p:cNvPr id="7" name="Shape 4"/>
          <p:cNvSpPr/>
          <p:nvPr/>
        </p:nvSpPr>
        <p:spPr>
          <a:xfrm>
            <a:off x="4834763" y="1353312"/>
            <a:ext cx="2212848" cy="438912"/>
          </a:xfrm>
          <a:prstGeom prst="rect">
            <a:avLst/>
          </a:prstGeom>
          <a:solidFill>
            <a:srgbClr val="D52234"/>
          </a:solidFill>
          <a:ln w="8255">
            <a:solidFill>
              <a:srgbClr val="2B2B2B"/>
            </a:solidFill>
            <a:prstDash val="solid"/>
          </a:ln>
        </p:spPr>
      </p:sp>
      <p:sp>
        <p:nvSpPr>
          <p:cNvPr id="8" name="Text 5"/>
          <p:cNvSpPr/>
          <p:nvPr/>
        </p:nvSpPr>
        <p:spPr>
          <a:xfrm>
            <a:off x="548640" y="1463040"/>
            <a:ext cx="658368" cy="219456"/>
          </a:xfrm>
          <a:prstGeom prst="rect">
            <a:avLst/>
          </a:prstGeom>
          <a:noFill/>
          <a:ln/>
        </p:spPr>
        <p:txBody>
          <a:bodyPr wrap="none" lIns="0" tIns="0" rIns="0" bIns="0" rtlCol="0" anchor="ctr"/>
          <a:lstStyle/>
          <a:p>
            <a:pPr algn="ctr" indent="0" marL="0">
              <a:buNone/>
            </a:pPr>
            <a:r>
              <a:rPr lang="en-US" sz="1050" b="1" dirty="0">
                <a:solidFill>
                  <a:srgbClr val="171717"/>
                </a:solidFill>
                <a:latin typeface="Arial" pitchFamily="34" charset="0"/>
                <a:ea typeface="Arial" pitchFamily="34" charset="-122"/>
                <a:cs typeface="Arial" pitchFamily="34" charset="-120"/>
              </a:rPr>
              <a:t>N°3</a:t>
            </a:r>
            <a:endParaRPr lang="en-US" sz="1050" dirty="0"/>
          </a:p>
        </p:txBody>
      </p:sp>
      <p:sp>
        <p:nvSpPr>
          <p:cNvPr id="9" name="Text 6"/>
          <p:cNvSpPr/>
          <p:nvPr/>
        </p:nvSpPr>
        <p:spPr>
          <a:xfrm>
            <a:off x="1316736" y="1426464"/>
            <a:ext cx="3444875" cy="292608"/>
          </a:xfrm>
          <a:prstGeom prst="rect">
            <a:avLst/>
          </a:prstGeom>
          <a:noFill/>
          <a:ln/>
        </p:spPr>
        <p:txBody>
          <a:bodyPr wrap="none" lIns="0" tIns="0" rIns="0" bIns="0" rtlCol="0" anchor="ctr"/>
          <a:lstStyle/>
          <a:p>
            <a:pPr indent="0" marL="0">
              <a:buNone/>
            </a:pPr>
            <a:r>
              <a:rPr lang="en-US" sz="1020" b="1" dirty="0">
                <a:solidFill>
                  <a:srgbClr val="171717"/>
                </a:solidFill>
                <a:latin typeface="Arial" pitchFamily="34" charset="0"/>
                <a:ea typeface="Arial" pitchFamily="34" charset="-122"/>
                <a:cs typeface="Arial" pitchFamily="34" charset="-120"/>
              </a:rPr>
              <a:t>Famille : Famille curative-1</a:t>
            </a:r>
            <a:endParaRPr lang="en-US" sz="1020" dirty="0"/>
          </a:p>
        </p:txBody>
      </p:sp>
      <p:sp>
        <p:nvSpPr>
          <p:cNvPr id="10" name="Text 7"/>
          <p:cNvSpPr/>
          <p:nvPr/>
        </p:nvSpPr>
        <p:spPr>
          <a:xfrm>
            <a:off x="4889627" y="1431036"/>
            <a:ext cx="2103120" cy="283464"/>
          </a:xfrm>
          <a:prstGeom prst="rect">
            <a:avLst/>
          </a:prstGeom>
          <a:noFill/>
          <a:ln/>
        </p:spPr>
        <p:txBody>
          <a:bodyPr wrap="non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CURATIF NIVEAU 1</a:t>
            </a:r>
            <a:endParaRPr lang="en-US" sz="1050" dirty="0"/>
          </a:p>
        </p:txBody>
      </p:sp>
      <p:sp>
        <p:nvSpPr>
          <p:cNvPr id="11" name="Shape 8"/>
          <p:cNvSpPr/>
          <p:nvPr/>
        </p:nvSpPr>
        <p:spPr>
          <a:xfrm>
            <a:off x="512064" y="1792224"/>
            <a:ext cx="6535547" cy="3931920"/>
          </a:xfrm>
          <a:prstGeom prst="rect">
            <a:avLst/>
          </a:prstGeom>
          <a:solidFill>
            <a:srgbClr val="FFFFFF"/>
          </a:solidFill>
          <a:ln w="8255">
            <a:solidFill>
              <a:srgbClr val="2B2B2B"/>
            </a:solidFill>
            <a:prstDash val="solid"/>
          </a:ln>
        </p:spPr>
      </p:sp>
      <p:sp>
        <p:nvSpPr>
          <p:cNvPr id="12" name="Text 9"/>
          <p:cNvSpPr/>
          <p:nvPr/>
        </p:nvSpPr>
        <p:spPr>
          <a:xfrm>
            <a:off x="585216" y="1856232"/>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Illustrations :</a:t>
            </a:r>
            <a:endParaRPr lang="en-US" sz="1010" dirty="0"/>
          </a:p>
        </p:txBody>
      </p:sp>
      <p:pic>
        <p:nvPicPr>
          <p:cNvPr id="13" name="Image 1" descr="Photographie du diagnostic n°3">    </p:cNvPr>
          <p:cNvPicPr>
            <a:picLocks noChangeAspect="1"/>
          </p:cNvPicPr>
          <p:nvPr/>
        </p:nvPicPr>
        <p:blipFill>
          <a:blip r:embed="rId2"/>
          <a:stretch>
            <a:fillRect/>
          </a:stretch>
        </p:blipFill>
        <p:spPr>
          <a:xfrm>
            <a:off x="1420686" y="2103120"/>
            <a:ext cx="4718304" cy="3538728"/>
          </a:xfrm>
          <a:prstGeom prst="rect">
            <a:avLst/>
          </a:prstGeom>
        </p:spPr>
      </p:pic>
      <p:sp>
        <p:nvSpPr>
          <p:cNvPr id="14" name="Text 10"/>
          <p:cNvSpPr/>
          <p:nvPr/>
        </p:nvSpPr>
        <p:spPr>
          <a:xfrm>
            <a:off x="2212848" y="10390061"/>
            <a:ext cx="3200400" cy="146304"/>
          </a:xfrm>
          <a:prstGeom prst="rect">
            <a:avLst/>
          </a:prstGeom>
          <a:noFill/>
          <a:ln/>
        </p:spPr>
        <p:txBody>
          <a:bodyPr wrap="none" lIns="0" tIns="0" rIns="0" bIns="0" rtlCol="0" anchor="ctr"/>
          <a:lstStyle/>
          <a:p>
            <a:pPr algn="ctr" indent="0" marL="0">
              <a:buNone/>
            </a:pPr>
            <a:r>
              <a:rPr lang="en-US" sz="830" dirty="0">
                <a:solidFill>
                  <a:srgbClr val="777777"/>
                </a:solidFill>
                <a:latin typeface="Arial" pitchFamily="34" charset="0"/>
                <a:ea typeface="Arial" pitchFamily="34" charset="-122"/>
                <a:cs typeface="Arial" pitchFamily="34" charset="-120"/>
              </a:rPr>
              <a:t>Copropriété Résidence des Tilleuls</a:t>
            </a:r>
            <a:endParaRPr lang="en-US" sz="830" dirty="0"/>
          </a:p>
        </p:txBody>
      </p:sp>
      <p:sp>
        <p:nvSpPr>
          <p:cNvPr id="15" name="Text 11"/>
          <p:cNvSpPr/>
          <p:nvPr/>
        </p:nvSpPr>
        <p:spPr>
          <a:xfrm>
            <a:off x="6773291" y="10390061"/>
            <a:ext cx="274320" cy="146304"/>
          </a:xfrm>
          <a:prstGeom prst="rect">
            <a:avLst/>
          </a:prstGeom>
          <a:noFill/>
          <a:ln/>
        </p:spPr>
        <p:txBody>
          <a:bodyPr wrap="none" lIns="0" tIns="0" rIns="0" bIns="0" rtlCol="0" anchor="ctr"/>
          <a:lstStyle/>
          <a:p>
            <a:pPr algn="r" indent="0" marL="0">
              <a:buNone/>
            </a:pPr>
            <a:r>
              <a:rPr lang="en-US" sz="830" dirty="0">
                <a:solidFill>
                  <a:srgbClr val="777777"/>
                </a:solidFill>
                <a:latin typeface="Arial" pitchFamily="34" charset="0"/>
                <a:ea typeface="Arial" pitchFamily="34" charset="-122"/>
                <a:cs typeface="Arial" pitchFamily="34" charset="-120"/>
              </a:rPr>
              <a:t>15</a:t>
            </a:r>
            <a:endParaRPr lang="en-US" sz="83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France Verte, bureau d’études fluides et thermiques">    </p:cNvPr>
          <p:cNvPicPr>
            <a:picLocks noChangeAspect="1"/>
          </p:cNvPicPr>
          <p:nvPr/>
        </p:nvPicPr>
        <p:blipFill>
          <a:blip r:embed="rId1"/>
          <a:stretch>
            <a:fillRect/>
          </a:stretch>
        </p:blipFill>
        <p:spPr>
          <a:xfrm>
            <a:off x="512064" y="164592"/>
            <a:ext cx="2176272" cy="548640"/>
          </a:xfrm>
          <a:prstGeom prst="rect">
            <a:avLst/>
          </a:prstGeom>
        </p:spPr>
      </p:pic>
      <p:sp>
        <p:nvSpPr>
          <p:cNvPr id="3" name="Shape 0"/>
          <p:cNvSpPr/>
          <p:nvPr/>
        </p:nvSpPr>
        <p:spPr>
          <a:xfrm>
            <a:off x="512064" y="822960"/>
            <a:ext cx="6535547" cy="310896"/>
          </a:xfrm>
          <a:prstGeom prst="rect">
            <a:avLst/>
          </a:prstGeom>
          <a:solidFill>
            <a:srgbClr val="00B55A"/>
          </a:solidFill>
          <a:ln w="12700">
            <a:solidFill>
              <a:srgbClr val="00B55A">
                <a:alpha val="0"/>
              </a:srgbClr>
            </a:solidFill>
            <a:prstDash val="solid"/>
          </a:ln>
        </p:spPr>
      </p:sp>
      <p:sp>
        <p:nvSpPr>
          <p:cNvPr id="4" name="Text 1"/>
          <p:cNvSpPr/>
          <p:nvPr/>
        </p:nvSpPr>
        <p:spPr>
          <a:xfrm>
            <a:off x="640080" y="850392"/>
            <a:ext cx="6306947" cy="237744"/>
          </a:xfrm>
          <a:prstGeom prst="rect">
            <a:avLst/>
          </a:prstGeom>
          <a:noFill/>
          <a:ln/>
        </p:spPr>
        <p:txBody>
          <a:bodyPr wrap="non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2.IDENTIFICATION ET HIÉRARCHISATION DES TRAVAUX ET OBSERVATIONS</a:t>
            </a:r>
            <a:endParaRPr lang="en-US" sz="1150" dirty="0"/>
          </a:p>
        </p:txBody>
      </p:sp>
      <p:sp>
        <p:nvSpPr>
          <p:cNvPr id="5" name="Shape 2"/>
          <p:cNvSpPr/>
          <p:nvPr/>
        </p:nvSpPr>
        <p:spPr>
          <a:xfrm>
            <a:off x="512064" y="1609344"/>
            <a:ext cx="1600200" cy="429768"/>
          </a:xfrm>
          <a:prstGeom prst="chevron">
            <a:avLst/>
          </a:prstGeom>
          <a:solidFill>
            <a:srgbClr val="F97316"/>
          </a:solidFill>
          <a:ln w="10160">
            <a:solidFill>
              <a:srgbClr val="2B2B2B"/>
            </a:solidFill>
            <a:prstDash val="solid"/>
          </a:ln>
        </p:spPr>
      </p:sp>
      <p:sp>
        <p:nvSpPr>
          <p:cNvPr id="6" name="Text 3"/>
          <p:cNvSpPr/>
          <p:nvPr/>
        </p:nvSpPr>
        <p:spPr>
          <a:xfrm>
            <a:off x="576072" y="1645920"/>
            <a:ext cx="1307592"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Curatif Niveau 2</a:t>
            </a:r>
            <a:endParaRPr lang="en-US" sz="1000" dirty="0"/>
          </a:p>
        </p:txBody>
      </p:sp>
      <p:sp>
        <p:nvSpPr>
          <p:cNvPr id="7" name="Text 4"/>
          <p:cNvSpPr/>
          <p:nvPr/>
        </p:nvSpPr>
        <p:spPr>
          <a:xfrm>
            <a:off x="2331720" y="1417320"/>
            <a:ext cx="4661027" cy="813816"/>
          </a:xfrm>
          <a:prstGeom prst="rect">
            <a:avLst/>
          </a:prstGeom>
          <a:noFill/>
          <a:ln/>
        </p:spPr>
        <p:txBody>
          <a:bodyPr wrap="square" lIns="0" tIns="0" rIns="0" bIns="0" rtlCol="0" anchor="ctr"/>
          <a:lstStyle/>
          <a:p>
            <a:pPr indent="0" marL="0">
              <a:lnSpc>
                <a:spcPct val="100000"/>
              </a:lnSpc>
              <a:buNone/>
            </a:pPr>
            <a:r>
              <a:rPr lang="en-US" sz="830" b="1" dirty="0">
                <a:solidFill>
                  <a:srgbClr val="171717"/>
                </a:solidFill>
                <a:latin typeface="Arial" pitchFamily="34" charset="0"/>
                <a:ea typeface="Arial" pitchFamily="34" charset="-122"/>
                <a:cs typeface="Arial" pitchFamily="34" charset="-120"/>
              </a:rPr>
              <a:t>Curatif Niveau 2 (impact modéré) – Travaux à effectuer entre 3 et 5 ans</a:t>
            </a:r>
            <a:endParaRPr lang="en-US" sz="830" dirty="0"/>
          </a:p>
          <a:p>
            <a:pPr indent="0" marL="0">
              <a:lnSpc>
                <a:spcPct val="100000"/>
              </a:lnSpc>
              <a:buNone/>
            </a:pPr>
            <a:r>
              <a:rPr lang="en-US" sz="830" b="1" dirty="0">
                <a:solidFill>
                  <a:srgbClr val="171717"/>
                </a:solidFill>
                <a:latin typeface="Arial" pitchFamily="34" charset="0"/>
                <a:ea typeface="Arial" pitchFamily="34" charset="-122"/>
                <a:cs typeface="Arial" pitchFamily="34" charset="-120"/>
              </a:rPr>
              <a:t>Interventions à programmer afin d'éviter une dégradation progressive</a:t>
            </a:r>
            <a:endParaRPr lang="en-US" sz="830" dirty="0"/>
          </a:p>
          <a:p>
            <a:pPr indent="0" marL="0">
              <a:lnSpc>
                <a:spcPct val="100000"/>
              </a:lnSpc>
              <a:buNone/>
            </a:pPr>
            <a:r>
              <a:rPr lang="en-US" sz="830" b="1" dirty="0">
                <a:solidFill>
                  <a:srgbClr val="171717"/>
                </a:solidFill>
                <a:latin typeface="Arial" pitchFamily="34" charset="0"/>
                <a:ea typeface="Arial" pitchFamily="34" charset="-122"/>
                <a:cs typeface="Arial" pitchFamily="34" charset="-120"/>
              </a:rPr>
              <a:t>du bâtiment ou des équipements.</a:t>
            </a:r>
            <a:endParaRPr lang="en-US" sz="830" dirty="0"/>
          </a:p>
        </p:txBody>
      </p:sp>
      <p:sp>
        <p:nvSpPr>
          <p:cNvPr id="8" name="Shape 5"/>
          <p:cNvSpPr/>
          <p:nvPr/>
        </p:nvSpPr>
        <p:spPr>
          <a:xfrm>
            <a:off x="512064" y="2340864"/>
            <a:ext cx="731520" cy="438912"/>
          </a:xfrm>
          <a:prstGeom prst="rect">
            <a:avLst/>
          </a:prstGeom>
          <a:solidFill>
            <a:srgbClr val="FFFFFF"/>
          </a:solidFill>
          <a:ln w="8255">
            <a:solidFill>
              <a:srgbClr val="2B2B2B"/>
            </a:solidFill>
            <a:prstDash val="solid"/>
          </a:ln>
        </p:spPr>
      </p:sp>
      <p:sp>
        <p:nvSpPr>
          <p:cNvPr id="9" name="Shape 6"/>
          <p:cNvSpPr/>
          <p:nvPr/>
        </p:nvSpPr>
        <p:spPr>
          <a:xfrm>
            <a:off x="1243584" y="2340864"/>
            <a:ext cx="3591179" cy="438912"/>
          </a:xfrm>
          <a:prstGeom prst="rect">
            <a:avLst/>
          </a:prstGeom>
          <a:solidFill>
            <a:srgbClr val="FFFFFF"/>
          </a:solidFill>
          <a:ln w="8255">
            <a:solidFill>
              <a:srgbClr val="2B2B2B"/>
            </a:solidFill>
            <a:prstDash val="solid"/>
          </a:ln>
        </p:spPr>
      </p:sp>
      <p:sp>
        <p:nvSpPr>
          <p:cNvPr id="10" name="Shape 7"/>
          <p:cNvSpPr/>
          <p:nvPr/>
        </p:nvSpPr>
        <p:spPr>
          <a:xfrm>
            <a:off x="4834763" y="2340864"/>
            <a:ext cx="2212848" cy="438912"/>
          </a:xfrm>
          <a:prstGeom prst="rect">
            <a:avLst/>
          </a:prstGeom>
          <a:solidFill>
            <a:srgbClr val="F97316"/>
          </a:solidFill>
          <a:ln w="8255">
            <a:solidFill>
              <a:srgbClr val="2B2B2B"/>
            </a:solidFill>
            <a:prstDash val="solid"/>
          </a:ln>
        </p:spPr>
      </p:sp>
      <p:sp>
        <p:nvSpPr>
          <p:cNvPr id="11" name="Text 8"/>
          <p:cNvSpPr/>
          <p:nvPr/>
        </p:nvSpPr>
        <p:spPr>
          <a:xfrm>
            <a:off x="548640" y="2450592"/>
            <a:ext cx="658368" cy="219456"/>
          </a:xfrm>
          <a:prstGeom prst="rect">
            <a:avLst/>
          </a:prstGeom>
          <a:noFill/>
          <a:ln/>
        </p:spPr>
        <p:txBody>
          <a:bodyPr wrap="none" lIns="0" tIns="0" rIns="0" bIns="0" rtlCol="0" anchor="ctr"/>
          <a:lstStyle/>
          <a:p>
            <a:pPr algn="ctr" indent="0" marL="0">
              <a:buNone/>
            </a:pPr>
            <a:r>
              <a:rPr lang="en-US" sz="1050" b="1" dirty="0">
                <a:solidFill>
                  <a:srgbClr val="171717"/>
                </a:solidFill>
                <a:latin typeface="Arial" pitchFamily="34" charset="0"/>
                <a:ea typeface="Arial" pitchFamily="34" charset="-122"/>
                <a:cs typeface="Arial" pitchFamily="34" charset="-120"/>
              </a:rPr>
              <a:t>N°4</a:t>
            </a:r>
            <a:endParaRPr lang="en-US" sz="1050" dirty="0"/>
          </a:p>
        </p:txBody>
      </p:sp>
      <p:sp>
        <p:nvSpPr>
          <p:cNvPr id="12" name="Text 9"/>
          <p:cNvSpPr/>
          <p:nvPr/>
        </p:nvSpPr>
        <p:spPr>
          <a:xfrm>
            <a:off x="1316736" y="2414016"/>
            <a:ext cx="3444875" cy="292608"/>
          </a:xfrm>
          <a:prstGeom prst="rect">
            <a:avLst/>
          </a:prstGeom>
          <a:noFill/>
          <a:ln/>
        </p:spPr>
        <p:txBody>
          <a:bodyPr wrap="none" lIns="0" tIns="0" rIns="0" bIns="0" rtlCol="0" anchor="ctr"/>
          <a:lstStyle/>
          <a:p>
            <a:pPr indent="0" marL="0">
              <a:buNone/>
            </a:pPr>
            <a:r>
              <a:rPr lang="en-US" sz="1020" b="1" dirty="0">
                <a:solidFill>
                  <a:srgbClr val="171717"/>
                </a:solidFill>
                <a:latin typeface="Arial" pitchFamily="34" charset="0"/>
                <a:ea typeface="Arial" pitchFamily="34" charset="-122"/>
                <a:cs typeface="Arial" pitchFamily="34" charset="-120"/>
              </a:rPr>
              <a:t>Famille : Famille curative-2</a:t>
            </a:r>
            <a:endParaRPr lang="en-US" sz="1020" dirty="0"/>
          </a:p>
        </p:txBody>
      </p:sp>
      <p:sp>
        <p:nvSpPr>
          <p:cNvPr id="13" name="Text 10"/>
          <p:cNvSpPr/>
          <p:nvPr/>
        </p:nvSpPr>
        <p:spPr>
          <a:xfrm>
            <a:off x="4889627" y="2418588"/>
            <a:ext cx="2103120" cy="283464"/>
          </a:xfrm>
          <a:prstGeom prst="rect">
            <a:avLst/>
          </a:prstGeom>
          <a:noFill/>
          <a:ln/>
        </p:spPr>
        <p:txBody>
          <a:bodyPr wrap="non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CURATIF NIVEAU 2</a:t>
            </a:r>
            <a:endParaRPr lang="en-US" sz="1050" dirty="0"/>
          </a:p>
        </p:txBody>
      </p:sp>
      <p:sp>
        <p:nvSpPr>
          <p:cNvPr id="14" name="Shape 11"/>
          <p:cNvSpPr/>
          <p:nvPr/>
        </p:nvSpPr>
        <p:spPr>
          <a:xfrm>
            <a:off x="512064" y="2779776"/>
            <a:ext cx="6535547" cy="608076"/>
          </a:xfrm>
          <a:prstGeom prst="rect">
            <a:avLst/>
          </a:prstGeom>
          <a:solidFill>
            <a:srgbClr val="FFFFFF"/>
          </a:solidFill>
          <a:ln w="8255">
            <a:solidFill>
              <a:srgbClr val="2B2B2B"/>
            </a:solidFill>
            <a:prstDash val="solid"/>
          </a:ln>
        </p:spPr>
      </p:sp>
      <p:sp>
        <p:nvSpPr>
          <p:cNvPr id="15" name="Text 12"/>
          <p:cNvSpPr/>
          <p:nvPr/>
        </p:nvSpPr>
        <p:spPr>
          <a:xfrm>
            <a:off x="585216" y="2843784"/>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Localisation :</a:t>
            </a:r>
            <a:endParaRPr lang="en-US" sz="1010" dirty="0"/>
          </a:p>
        </p:txBody>
      </p:sp>
      <p:sp>
        <p:nvSpPr>
          <p:cNvPr id="16" name="Text 13"/>
          <p:cNvSpPr/>
          <p:nvPr/>
        </p:nvSpPr>
        <p:spPr>
          <a:xfrm>
            <a:off x="585216" y="3063240"/>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Parties communes</a:t>
            </a:r>
            <a:endParaRPr lang="en-US" sz="1050" dirty="0"/>
          </a:p>
        </p:txBody>
      </p:sp>
      <p:sp>
        <p:nvSpPr>
          <p:cNvPr id="17" name="Shape 14"/>
          <p:cNvSpPr/>
          <p:nvPr/>
        </p:nvSpPr>
        <p:spPr>
          <a:xfrm>
            <a:off x="512064" y="3387852"/>
            <a:ext cx="6535547" cy="608076"/>
          </a:xfrm>
          <a:prstGeom prst="rect">
            <a:avLst/>
          </a:prstGeom>
          <a:solidFill>
            <a:srgbClr val="FFFFFF"/>
          </a:solidFill>
          <a:ln w="8255">
            <a:solidFill>
              <a:srgbClr val="2B2B2B"/>
            </a:solidFill>
            <a:prstDash val="solid"/>
          </a:ln>
        </p:spPr>
      </p:sp>
      <p:sp>
        <p:nvSpPr>
          <p:cNvPr id="18" name="Text 15"/>
          <p:cNvSpPr/>
          <p:nvPr/>
        </p:nvSpPr>
        <p:spPr>
          <a:xfrm>
            <a:off x="585216" y="3451860"/>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Etat / Observations :</a:t>
            </a:r>
            <a:endParaRPr lang="en-US" sz="1010" dirty="0"/>
          </a:p>
        </p:txBody>
      </p:sp>
      <p:sp>
        <p:nvSpPr>
          <p:cNvPr id="19" name="Text 16"/>
          <p:cNvSpPr/>
          <p:nvPr/>
        </p:nvSpPr>
        <p:spPr>
          <a:xfrm>
            <a:off x="585216" y="3671316"/>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Observation curative-2.</a:t>
            </a:r>
            <a:endParaRPr lang="en-US" sz="1050" dirty="0"/>
          </a:p>
        </p:txBody>
      </p:sp>
      <p:sp>
        <p:nvSpPr>
          <p:cNvPr id="20" name="Shape 17"/>
          <p:cNvSpPr/>
          <p:nvPr/>
        </p:nvSpPr>
        <p:spPr>
          <a:xfrm>
            <a:off x="512064" y="3995928"/>
            <a:ext cx="6535547" cy="608076"/>
          </a:xfrm>
          <a:prstGeom prst="rect">
            <a:avLst/>
          </a:prstGeom>
          <a:solidFill>
            <a:srgbClr val="FFFFFF"/>
          </a:solidFill>
          <a:ln w="8255">
            <a:solidFill>
              <a:srgbClr val="2B2B2B"/>
            </a:solidFill>
            <a:prstDash val="solid"/>
          </a:ln>
        </p:spPr>
      </p:sp>
      <p:sp>
        <p:nvSpPr>
          <p:cNvPr id="21" name="Text 18"/>
          <p:cNvSpPr/>
          <p:nvPr/>
        </p:nvSpPr>
        <p:spPr>
          <a:xfrm>
            <a:off x="585216" y="4059936"/>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Travaux à effectuer :</a:t>
            </a:r>
            <a:endParaRPr lang="en-US" sz="1010" dirty="0"/>
          </a:p>
        </p:txBody>
      </p:sp>
      <p:sp>
        <p:nvSpPr>
          <p:cNvPr id="22" name="Text 19"/>
          <p:cNvSpPr/>
          <p:nvPr/>
        </p:nvSpPr>
        <p:spPr>
          <a:xfrm>
            <a:off x="585216" y="4279392"/>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Intervention curative-2.</a:t>
            </a:r>
            <a:endParaRPr lang="en-US" sz="1050" dirty="0"/>
          </a:p>
        </p:txBody>
      </p:sp>
      <p:sp>
        <p:nvSpPr>
          <p:cNvPr id="23" name="Shape 20"/>
          <p:cNvSpPr/>
          <p:nvPr/>
        </p:nvSpPr>
        <p:spPr>
          <a:xfrm>
            <a:off x="512064" y="4604004"/>
            <a:ext cx="6535547" cy="768096"/>
          </a:xfrm>
          <a:prstGeom prst="rect">
            <a:avLst/>
          </a:prstGeom>
          <a:solidFill>
            <a:srgbClr val="FFFFFF"/>
          </a:solidFill>
          <a:ln w="8255">
            <a:solidFill>
              <a:srgbClr val="2B2B2B"/>
            </a:solidFill>
            <a:prstDash val="solid"/>
          </a:ln>
        </p:spPr>
      </p:sp>
      <p:sp>
        <p:nvSpPr>
          <p:cNvPr id="24" name="Text 21"/>
          <p:cNvSpPr/>
          <p:nvPr/>
        </p:nvSpPr>
        <p:spPr>
          <a:xfrm>
            <a:off x="585216" y="4658868"/>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Chiffrage estimatif :</a:t>
            </a:r>
            <a:endParaRPr lang="en-US" sz="1010" dirty="0"/>
          </a:p>
        </p:txBody>
      </p:sp>
      <p:sp>
        <p:nvSpPr>
          <p:cNvPr id="25" name="Text 22"/>
          <p:cNvSpPr/>
          <p:nvPr/>
        </p:nvSpPr>
        <p:spPr>
          <a:xfrm>
            <a:off x="603504" y="4869180"/>
            <a:ext cx="6352667" cy="210312"/>
          </a:xfrm>
          <a:prstGeom prst="rect">
            <a:avLst/>
          </a:prstGeom>
          <a:noFill/>
          <a:ln/>
        </p:spPr>
        <p:txBody>
          <a:bodyPr wrap="none" lIns="0" tIns="0" rIns="0" bIns="0" rtlCol="0" anchor="ctr"/>
          <a:lstStyle/>
          <a:p>
            <a:pPr algn="ctr" indent="0" marL="0">
              <a:buNone/>
            </a:pPr>
            <a:r>
              <a:rPr lang="en-US" sz="1020" b="1" dirty="0">
                <a:solidFill>
                  <a:srgbClr val="171717"/>
                </a:solidFill>
                <a:latin typeface="Arial" pitchFamily="34" charset="0"/>
                <a:ea typeface="Arial" pitchFamily="34" charset="-122"/>
                <a:cs typeface="Arial" pitchFamily="34" charset="-120"/>
              </a:rPr>
              <a:t>Coût estimé : 1 000 à 1 500 € TTC</a:t>
            </a:r>
            <a:endParaRPr lang="en-US" sz="1020" dirty="0"/>
          </a:p>
        </p:txBody>
      </p:sp>
      <p:sp>
        <p:nvSpPr>
          <p:cNvPr id="26" name="Text 23"/>
          <p:cNvSpPr/>
          <p:nvPr/>
        </p:nvSpPr>
        <p:spPr>
          <a:xfrm>
            <a:off x="603504" y="5106924"/>
            <a:ext cx="6352667" cy="155448"/>
          </a:xfrm>
          <a:prstGeom prst="rect">
            <a:avLst/>
          </a:prstGeom>
          <a:noFill/>
          <a:ln/>
        </p:spPr>
        <p:txBody>
          <a:bodyPr wrap="none" lIns="0" tIns="0" rIns="0" bIns="0" rtlCol="0" anchor="ctr"/>
          <a:lstStyle/>
          <a:p>
            <a:pPr algn="ctr" indent="0" marL="0">
              <a:buNone/>
            </a:pPr>
            <a:r>
              <a:rPr lang="en-US" sz="900" i="1" dirty="0">
                <a:solidFill>
                  <a:srgbClr val="626262"/>
                </a:solidFill>
                <a:latin typeface="Arial" pitchFamily="34" charset="0"/>
                <a:ea typeface="Arial" pitchFamily="34" charset="-122"/>
                <a:cs typeface="Arial" pitchFamily="34" charset="-120"/>
              </a:rPr>
              <a:t>Estimation IA indicative, susceptible d’être ajustée après consultation des entreprises</a:t>
            </a:r>
            <a:endParaRPr lang="en-US" sz="900" dirty="0"/>
          </a:p>
        </p:txBody>
      </p:sp>
      <p:sp>
        <p:nvSpPr>
          <p:cNvPr id="27" name="Shape 24"/>
          <p:cNvSpPr/>
          <p:nvPr/>
        </p:nvSpPr>
        <p:spPr>
          <a:xfrm>
            <a:off x="512064" y="5372100"/>
            <a:ext cx="6535547" cy="3931920"/>
          </a:xfrm>
          <a:prstGeom prst="rect">
            <a:avLst/>
          </a:prstGeom>
          <a:solidFill>
            <a:srgbClr val="FFFFFF"/>
          </a:solidFill>
          <a:ln w="8255">
            <a:solidFill>
              <a:srgbClr val="2B2B2B"/>
            </a:solidFill>
            <a:prstDash val="solid"/>
          </a:ln>
        </p:spPr>
      </p:sp>
      <p:sp>
        <p:nvSpPr>
          <p:cNvPr id="28" name="Text 25"/>
          <p:cNvSpPr/>
          <p:nvPr/>
        </p:nvSpPr>
        <p:spPr>
          <a:xfrm>
            <a:off x="585216" y="5436108"/>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Illustrations :</a:t>
            </a:r>
            <a:endParaRPr lang="en-US" sz="1010" dirty="0"/>
          </a:p>
        </p:txBody>
      </p:sp>
      <p:pic>
        <p:nvPicPr>
          <p:cNvPr id="29" name="Image 1" descr="Photographie du diagnostic n°4">    </p:cNvPr>
          <p:cNvPicPr>
            <a:picLocks noChangeAspect="1"/>
          </p:cNvPicPr>
          <p:nvPr/>
        </p:nvPicPr>
        <p:blipFill>
          <a:blip r:embed="rId2"/>
          <a:stretch>
            <a:fillRect/>
          </a:stretch>
        </p:blipFill>
        <p:spPr>
          <a:xfrm>
            <a:off x="1420686" y="5682996"/>
            <a:ext cx="4718304" cy="3538728"/>
          </a:xfrm>
          <a:prstGeom prst="rect">
            <a:avLst/>
          </a:prstGeom>
        </p:spPr>
      </p:pic>
      <p:sp>
        <p:nvSpPr>
          <p:cNvPr id="30" name="Text 26"/>
          <p:cNvSpPr/>
          <p:nvPr/>
        </p:nvSpPr>
        <p:spPr>
          <a:xfrm>
            <a:off x="2212848" y="10390061"/>
            <a:ext cx="3200400" cy="146304"/>
          </a:xfrm>
          <a:prstGeom prst="rect">
            <a:avLst/>
          </a:prstGeom>
          <a:noFill/>
          <a:ln/>
        </p:spPr>
        <p:txBody>
          <a:bodyPr wrap="none" lIns="0" tIns="0" rIns="0" bIns="0" rtlCol="0" anchor="ctr"/>
          <a:lstStyle/>
          <a:p>
            <a:pPr algn="ctr" indent="0" marL="0">
              <a:buNone/>
            </a:pPr>
            <a:r>
              <a:rPr lang="en-US" sz="830" dirty="0">
                <a:solidFill>
                  <a:srgbClr val="777777"/>
                </a:solidFill>
                <a:latin typeface="Arial" pitchFamily="34" charset="0"/>
                <a:ea typeface="Arial" pitchFamily="34" charset="-122"/>
                <a:cs typeface="Arial" pitchFamily="34" charset="-120"/>
              </a:rPr>
              <a:t>Copropriété Résidence des Tilleuls</a:t>
            </a:r>
            <a:endParaRPr lang="en-US" sz="830" dirty="0"/>
          </a:p>
        </p:txBody>
      </p:sp>
      <p:sp>
        <p:nvSpPr>
          <p:cNvPr id="31" name="Text 27"/>
          <p:cNvSpPr/>
          <p:nvPr/>
        </p:nvSpPr>
        <p:spPr>
          <a:xfrm>
            <a:off x="6773291" y="10390061"/>
            <a:ext cx="274320" cy="146304"/>
          </a:xfrm>
          <a:prstGeom prst="rect">
            <a:avLst/>
          </a:prstGeom>
          <a:noFill/>
          <a:ln/>
        </p:spPr>
        <p:txBody>
          <a:bodyPr wrap="none" lIns="0" tIns="0" rIns="0" bIns="0" rtlCol="0" anchor="ctr"/>
          <a:lstStyle/>
          <a:p>
            <a:pPr algn="r" indent="0" marL="0">
              <a:buNone/>
            </a:pPr>
            <a:r>
              <a:rPr lang="en-US" sz="830" dirty="0">
                <a:solidFill>
                  <a:srgbClr val="777777"/>
                </a:solidFill>
                <a:latin typeface="Arial" pitchFamily="34" charset="0"/>
                <a:ea typeface="Arial" pitchFamily="34" charset="-122"/>
                <a:cs typeface="Arial" pitchFamily="34" charset="-120"/>
              </a:rPr>
              <a:t>16</a:t>
            </a:r>
            <a:endParaRPr lang="en-US" sz="83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France Verte, bureau d’études fluides et thermiques">    </p:cNvPr>
          <p:cNvPicPr>
            <a:picLocks noChangeAspect="1"/>
          </p:cNvPicPr>
          <p:nvPr/>
        </p:nvPicPr>
        <p:blipFill>
          <a:blip r:embed="rId1"/>
          <a:stretch>
            <a:fillRect/>
          </a:stretch>
        </p:blipFill>
        <p:spPr>
          <a:xfrm>
            <a:off x="512064" y="164592"/>
            <a:ext cx="2176272" cy="548640"/>
          </a:xfrm>
          <a:prstGeom prst="rect">
            <a:avLst/>
          </a:prstGeom>
        </p:spPr>
      </p:pic>
      <p:sp>
        <p:nvSpPr>
          <p:cNvPr id="3" name="Shape 0"/>
          <p:cNvSpPr/>
          <p:nvPr/>
        </p:nvSpPr>
        <p:spPr>
          <a:xfrm>
            <a:off x="512064" y="822960"/>
            <a:ext cx="6535547" cy="310896"/>
          </a:xfrm>
          <a:prstGeom prst="rect">
            <a:avLst/>
          </a:prstGeom>
          <a:solidFill>
            <a:srgbClr val="00B55A"/>
          </a:solidFill>
          <a:ln w="12700">
            <a:solidFill>
              <a:srgbClr val="00B55A">
                <a:alpha val="0"/>
              </a:srgbClr>
            </a:solidFill>
            <a:prstDash val="solid"/>
          </a:ln>
        </p:spPr>
      </p:sp>
      <p:sp>
        <p:nvSpPr>
          <p:cNvPr id="4" name="Text 1"/>
          <p:cNvSpPr/>
          <p:nvPr/>
        </p:nvSpPr>
        <p:spPr>
          <a:xfrm>
            <a:off x="640080" y="850392"/>
            <a:ext cx="6306947" cy="237744"/>
          </a:xfrm>
          <a:prstGeom prst="rect">
            <a:avLst/>
          </a:prstGeom>
          <a:noFill/>
          <a:ln/>
        </p:spPr>
        <p:txBody>
          <a:bodyPr wrap="non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2.IDENTIFICATION ET HIÉRARCHISATION DES TRAVAUX ET OBSERVATIONS</a:t>
            </a:r>
            <a:endParaRPr lang="en-US" sz="1150" dirty="0"/>
          </a:p>
        </p:txBody>
      </p:sp>
      <p:sp>
        <p:nvSpPr>
          <p:cNvPr id="5" name="Shape 2"/>
          <p:cNvSpPr/>
          <p:nvPr/>
        </p:nvSpPr>
        <p:spPr>
          <a:xfrm>
            <a:off x="512064" y="1609344"/>
            <a:ext cx="1600200" cy="429768"/>
          </a:xfrm>
          <a:prstGeom prst="chevron">
            <a:avLst/>
          </a:prstGeom>
          <a:solidFill>
            <a:srgbClr val="00BE84"/>
          </a:solidFill>
          <a:ln w="10160">
            <a:solidFill>
              <a:srgbClr val="2B2B2B"/>
            </a:solidFill>
            <a:prstDash val="solid"/>
          </a:ln>
        </p:spPr>
      </p:sp>
      <p:sp>
        <p:nvSpPr>
          <p:cNvPr id="6" name="Text 3"/>
          <p:cNvSpPr/>
          <p:nvPr/>
        </p:nvSpPr>
        <p:spPr>
          <a:xfrm>
            <a:off x="576072" y="1645920"/>
            <a:ext cx="1307592"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Curatif Niveau 3</a:t>
            </a:r>
            <a:endParaRPr lang="en-US" sz="1000" dirty="0"/>
          </a:p>
        </p:txBody>
      </p:sp>
      <p:sp>
        <p:nvSpPr>
          <p:cNvPr id="7" name="Text 4"/>
          <p:cNvSpPr/>
          <p:nvPr/>
        </p:nvSpPr>
        <p:spPr>
          <a:xfrm>
            <a:off x="2331720" y="1417320"/>
            <a:ext cx="4661027" cy="813816"/>
          </a:xfrm>
          <a:prstGeom prst="rect">
            <a:avLst/>
          </a:prstGeom>
          <a:noFill/>
          <a:ln/>
        </p:spPr>
        <p:txBody>
          <a:bodyPr wrap="square" lIns="0" tIns="0" rIns="0" bIns="0" rtlCol="0" anchor="ctr"/>
          <a:lstStyle/>
          <a:p>
            <a:pPr indent="0" marL="0">
              <a:lnSpc>
                <a:spcPct val="100000"/>
              </a:lnSpc>
              <a:buNone/>
            </a:pPr>
            <a:r>
              <a:rPr lang="en-US" sz="830" b="1" dirty="0">
                <a:solidFill>
                  <a:srgbClr val="171717"/>
                </a:solidFill>
                <a:latin typeface="Arial" pitchFamily="34" charset="0"/>
                <a:ea typeface="Arial" pitchFamily="34" charset="-122"/>
                <a:cs typeface="Arial" pitchFamily="34" charset="-120"/>
              </a:rPr>
              <a:t>Curatif Niveau 3 (impact faible) – Travaux à effectuer entre 6 et 10 ans</a:t>
            </a:r>
            <a:endParaRPr lang="en-US" sz="830" dirty="0"/>
          </a:p>
          <a:p>
            <a:pPr indent="0" marL="0">
              <a:lnSpc>
                <a:spcPct val="100000"/>
              </a:lnSpc>
              <a:buNone/>
            </a:pPr>
            <a:r>
              <a:rPr lang="en-US" sz="830" b="1" dirty="0">
                <a:solidFill>
                  <a:srgbClr val="171717"/>
                </a:solidFill>
                <a:latin typeface="Arial" pitchFamily="34" charset="0"/>
                <a:ea typeface="Arial" pitchFamily="34" charset="-122"/>
                <a:cs typeface="Arial" pitchFamily="34" charset="-120"/>
              </a:rPr>
              <a:t>Interventions correctives à programmer afin d'éviter une dégradation progressive</a:t>
            </a:r>
            <a:endParaRPr lang="en-US" sz="830" dirty="0"/>
          </a:p>
          <a:p>
            <a:pPr indent="0" marL="0">
              <a:lnSpc>
                <a:spcPct val="100000"/>
              </a:lnSpc>
              <a:buNone/>
            </a:pPr>
            <a:r>
              <a:rPr lang="en-US" sz="830" b="1" dirty="0">
                <a:solidFill>
                  <a:srgbClr val="171717"/>
                </a:solidFill>
                <a:latin typeface="Arial" pitchFamily="34" charset="0"/>
                <a:ea typeface="Arial" pitchFamily="34" charset="-122"/>
                <a:cs typeface="Arial" pitchFamily="34" charset="-120"/>
              </a:rPr>
              <a:t>du bâtiment ou des équipements.</a:t>
            </a:r>
            <a:endParaRPr lang="en-US" sz="830" dirty="0"/>
          </a:p>
        </p:txBody>
      </p:sp>
      <p:sp>
        <p:nvSpPr>
          <p:cNvPr id="8" name="Shape 5"/>
          <p:cNvSpPr/>
          <p:nvPr/>
        </p:nvSpPr>
        <p:spPr>
          <a:xfrm>
            <a:off x="512064" y="2340864"/>
            <a:ext cx="731520" cy="438912"/>
          </a:xfrm>
          <a:prstGeom prst="rect">
            <a:avLst/>
          </a:prstGeom>
          <a:solidFill>
            <a:srgbClr val="FFFFFF"/>
          </a:solidFill>
          <a:ln w="8255">
            <a:solidFill>
              <a:srgbClr val="2B2B2B"/>
            </a:solidFill>
            <a:prstDash val="solid"/>
          </a:ln>
        </p:spPr>
      </p:sp>
      <p:sp>
        <p:nvSpPr>
          <p:cNvPr id="9" name="Shape 6"/>
          <p:cNvSpPr/>
          <p:nvPr/>
        </p:nvSpPr>
        <p:spPr>
          <a:xfrm>
            <a:off x="1243584" y="2340864"/>
            <a:ext cx="3591179" cy="438912"/>
          </a:xfrm>
          <a:prstGeom prst="rect">
            <a:avLst/>
          </a:prstGeom>
          <a:solidFill>
            <a:srgbClr val="FFFFFF"/>
          </a:solidFill>
          <a:ln w="8255">
            <a:solidFill>
              <a:srgbClr val="2B2B2B"/>
            </a:solidFill>
            <a:prstDash val="solid"/>
          </a:ln>
        </p:spPr>
      </p:sp>
      <p:sp>
        <p:nvSpPr>
          <p:cNvPr id="10" name="Shape 7"/>
          <p:cNvSpPr/>
          <p:nvPr/>
        </p:nvSpPr>
        <p:spPr>
          <a:xfrm>
            <a:off x="4834763" y="2340864"/>
            <a:ext cx="2212848" cy="438912"/>
          </a:xfrm>
          <a:prstGeom prst="rect">
            <a:avLst/>
          </a:prstGeom>
          <a:solidFill>
            <a:srgbClr val="00BE84"/>
          </a:solidFill>
          <a:ln w="8255">
            <a:solidFill>
              <a:srgbClr val="2B2B2B"/>
            </a:solidFill>
            <a:prstDash val="solid"/>
          </a:ln>
        </p:spPr>
      </p:sp>
      <p:sp>
        <p:nvSpPr>
          <p:cNvPr id="11" name="Text 8"/>
          <p:cNvSpPr/>
          <p:nvPr/>
        </p:nvSpPr>
        <p:spPr>
          <a:xfrm>
            <a:off x="548640" y="2450592"/>
            <a:ext cx="658368" cy="219456"/>
          </a:xfrm>
          <a:prstGeom prst="rect">
            <a:avLst/>
          </a:prstGeom>
          <a:noFill/>
          <a:ln/>
        </p:spPr>
        <p:txBody>
          <a:bodyPr wrap="none" lIns="0" tIns="0" rIns="0" bIns="0" rtlCol="0" anchor="ctr"/>
          <a:lstStyle/>
          <a:p>
            <a:pPr algn="ctr" indent="0" marL="0">
              <a:buNone/>
            </a:pPr>
            <a:r>
              <a:rPr lang="en-US" sz="1050" b="1" dirty="0">
                <a:solidFill>
                  <a:srgbClr val="171717"/>
                </a:solidFill>
                <a:latin typeface="Arial" pitchFamily="34" charset="0"/>
                <a:ea typeface="Arial" pitchFamily="34" charset="-122"/>
                <a:cs typeface="Arial" pitchFamily="34" charset="-120"/>
              </a:rPr>
              <a:t>N°5</a:t>
            </a:r>
            <a:endParaRPr lang="en-US" sz="1050" dirty="0"/>
          </a:p>
        </p:txBody>
      </p:sp>
      <p:sp>
        <p:nvSpPr>
          <p:cNvPr id="12" name="Text 9"/>
          <p:cNvSpPr/>
          <p:nvPr/>
        </p:nvSpPr>
        <p:spPr>
          <a:xfrm>
            <a:off x="1316736" y="2414016"/>
            <a:ext cx="3444875" cy="292608"/>
          </a:xfrm>
          <a:prstGeom prst="rect">
            <a:avLst/>
          </a:prstGeom>
          <a:noFill/>
          <a:ln/>
        </p:spPr>
        <p:txBody>
          <a:bodyPr wrap="none" lIns="0" tIns="0" rIns="0" bIns="0" rtlCol="0" anchor="ctr"/>
          <a:lstStyle/>
          <a:p>
            <a:pPr indent="0" marL="0">
              <a:buNone/>
            </a:pPr>
            <a:r>
              <a:rPr lang="en-US" sz="1020" b="1" dirty="0">
                <a:solidFill>
                  <a:srgbClr val="171717"/>
                </a:solidFill>
                <a:latin typeface="Arial" pitchFamily="34" charset="0"/>
                <a:ea typeface="Arial" pitchFamily="34" charset="-122"/>
                <a:cs typeface="Arial" pitchFamily="34" charset="-120"/>
              </a:rPr>
              <a:t>Famille : Famille curative-3</a:t>
            </a:r>
            <a:endParaRPr lang="en-US" sz="1020" dirty="0"/>
          </a:p>
        </p:txBody>
      </p:sp>
      <p:sp>
        <p:nvSpPr>
          <p:cNvPr id="13" name="Text 10"/>
          <p:cNvSpPr/>
          <p:nvPr/>
        </p:nvSpPr>
        <p:spPr>
          <a:xfrm>
            <a:off x="4889627" y="2418588"/>
            <a:ext cx="2103120" cy="283464"/>
          </a:xfrm>
          <a:prstGeom prst="rect">
            <a:avLst/>
          </a:prstGeom>
          <a:noFill/>
          <a:ln/>
        </p:spPr>
        <p:txBody>
          <a:bodyPr wrap="non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CURATIF NIVEAU 3</a:t>
            </a:r>
            <a:endParaRPr lang="en-US" sz="1050" dirty="0"/>
          </a:p>
        </p:txBody>
      </p:sp>
      <p:sp>
        <p:nvSpPr>
          <p:cNvPr id="14" name="Shape 11"/>
          <p:cNvSpPr/>
          <p:nvPr/>
        </p:nvSpPr>
        <p:spPr>
          <a:xfrm>
            <a:off x="512064" y="2779776"/>
            <a:ext cx="6535547" cy="608076"/>
          </a:xfrm>
          <a:prstGeom prst="rect">
            <a:avLst/>
          </a:prstGeom>
          <a:solidFill>
            <a:srgbClr val="FFFFFF"/>
          </a:solidFill>
          <a:ln w="8255">
            <a:solidFill>
              <a:srgbClr val="2B2B2B"/>
            </a:solidFill>
            <a:prstDash val="solid"/>
          </a:ln>
        </p:spPr>
      </p:sp>
      <p:sp>
        <p:nvSpPr>
          <p:cNvPr id="15" name="Text 12"/>
          <p:cNvSpPr/>
          <p:nvPr/>
        </p:nvSpPr>
        <p:spPr>
          <a:xfrm>
            <a:off x="585216" y="2843784"/>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Localisation :</a:t>
            </a:r>
            <a:endParaRPr lang="en-US" sz="1010" dirty="0"/>
          </a:p>
        </p:txBody>
      </p:sp>
      <p:sp>
        <p:nvSpPr>
          <p:cNvPr id="16" name="Text 13"/>
          <p:cNvSpPr/>
          <p:nvPr/>
        </p:nvSpPr>
        <p:spPr>
          <a:xfrm>
            <a:off x="585216" y="3063240"/>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Parties communes</a:t>
            </a:r>
            <a:endParaRPr lang="en-US" sz="1050" dirty="0"/>
          </a:p>
        </p:txBody>
      </p:sp>
      <p:sp>
        <p:nvSpPr>
          <p:cNvPr id="17" name="Shape 14"/>
          <p:cNvSpPr/>
          <p:nvPr/>
        </p:nvSpPr>
        <p:spPr>
          <a:xfrm>
            <a:off x="512064" y="3387852"/>
            <a:ext cx="6535547" cy="608076"/>
          </a:xfrm>
          <a:prstGeom prst="rect">
            <a:avLst/>
          </a:prstGeom>
          <a:solidFill>
            <a:srgbClr val="FFFFFF"/>
          </a:solidFill>
          <a:ln w="8255">
            <a:solidFill>
              <a:srgbClr val="2B2B2B"/>
            </a:solidFill>
            <a:prstDash val="solid"/>
          </a:ln>
        </p:spPr>
      </p:sp>
      <p:sp>
        <p:nvSpPr>
          <p:cNvPr id="18" name="Text 15"/>
          <p:cNvSpPr/>
          <p:nvPr/>
        </p:nvSpPr>
        <p:spPr>
          <a:xfrm>
            <a:off x="585216" y="3451860"/>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Etat / Observations :</a:t>
            </a:r>
            <a:endParaRPr lang="en-US" sz="1010" dirty="0"/>
          </a:p>
        </p:txBody>
      </p:sp>
      <p:sp>
        <p:nvSpPr>
          <p:cNvPr id="19" name="Text 16"/>
          <p:cNvSpPr/>
          <p:nvPr/>
        </p:nvSpPr>
        <p:spPr>
          <a:xfrm>
            <a:off x="585216" y="3671316"/>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Observation curative-3.</a:t>
            </a:r>
            <a:endParaRPr lang="en-US" sz="1050" dirty="0"/>
          </a:p>
        </p:txBody>
      </p:sp>
      <p:sp>
        <p:nvSpPr>
          <p:cNvPr id="20" name="Shape 17"/>
          <p:cNvSpPr/>
          <p:nvPr/>
        </p:nvSpPr>
        <p:spPr>
          <a:xfrm>
            <a:off x="512064" y="3995928"/>
            <a:ext cx="6535547" cy="608076"/>
          </a:xfrm>
          <a:prstGeom prst="rect">
            <a:avLst/>
          </a:prstGeom>
          <a:solidFill>
            <a:srgbClr val="FFFFFF"/>
          </a:solidFill>
          <a:ln w="8255">
            <a:solidFill>
              <a:srgbClr val="2B2B2B"/>
            </a:solidFill>
            <a:prstDash val="solid"/>
          </a:ln>
        </p:spPr>
      </p:sp>
      <p:sp>
        <p:nvSpPr>
          <p:cNvPr id="21" name="Text 18"/>
          <p:cNvSpPr/>
          <p:nvPr/>
        </p:nvSpPr>
        <p:spPr>
          <a:xfrm>
            <a:off x="585216" y="4059936"/>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Travaux à effectuer :</a:t>
            </a:r>
            <a:endParaRPr lang="en-US" sz="1010" dirty="0"/>
          </a:p>
        </p:txBody>
      </p:sp>
      <p:sp>
        <p:nvSpPr>
          <p:cNvPr id="22" name="Text 19"/>
          <p:cNvSpPr/>
          <p:nvPr/>
        </p:nvSpPr>
        <p:spPr>
          <a:xfrm>
            <a:off x="585216" y="4279392"/>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Intervention curative-3.</a:t>
            </a:r>
            <a:endParaRPr lang="en-US" sz="1050" dirty="0"/>
          </a:p>
        </p:txBody>
      </p:sp>
      <p:sp>
        <p:nvSpPr>
          <p:cNvPr id="23" name="Shape 20"/>
          <p:cNvSpPr/>
          <p:nvPr/>
        </p:nvSpPr>
        <p:spPr>
          <a:xfrm>
            <a:off x="512064" y="4604004"/>
            <a:ext cx="6535547" cy="768096"/>
          </a:xfrm>
          <a:prstGeom prst="rect">
            <a:avLst/>
          </a:prstGeom>
          <a:solidFill>
            <a:srgbClr val="FFFFFF"/>
          </a:solidFill>
          <a:ln w="8255">
            <a:solidFill>
              <a:srgbClr val="2B2B2B"/>
            </a:solidFill>
            <a:prstDash val="solid"/>
          </a:ln>
        </p:spPr>
      </p:sp>
      <p:sp>
        <p:nvSpPr>
          <p:cNvPr id="24" name="Text 21"/>
          <p:cNvSpPr/>
          <p:nvPr/>
        </p:nvSpPr>
        <p:spPr>
          <a:xfrm>
            <a:off x="585216" y="4658868"/>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Chiffrage estimatif :</a:t>
            </a:r>
            <a:endParaRPr lang="en-US" sz="1010" dirty="0"/>
          </a:p>
        </p:txBody>
      </p:sp>
      <p:sp>
        <p:nvSpPr>
          <p:cNvPr id="25" name="Text 22"/>
          <p:cNvSpPr/>
          <p:nvPr/>
        </p:nvSpPr>
        <p:spPr>
          <a:xfrm>
            <a:off x="603504" y="4869180"/>
            <a:ext cx="6352667" cy="210312"/>
          </a:xfrm>
          <a:prstGeom prst="rect">
            <a:avLst/>
          </a:prstGeom>
          <a:noFill/>
          <a:ln/>
        </p:spPr>
        <p:txBody>
          <a:bodyPr wrap="none" lIns="0" tIns="0" rIns="0" bIns="0" rtlCol="0" anchor="ctr"/>
          <a:lstStyle/>
          <a:p>
            <a:pPr algn="ctr" indent="0" marL="0">
              <a:buNone/>
            </a:pPr>
            <a:r>
              <a:rPr lang="en-US" sz="1020" b="1" dirty="0">
                <a:solidFill>
                  <a:srgbClr val="171717"/>
                </a:solidFill>
                <a:latin typeface="Arial" pitchFamily="34" charset="0"/>
                <a:ea typeface="Arial" pitchFamily="34" charset="-122"/>
                <a:cs typeface="Arial" pitchFamily="34" charset="-120"/>
              </a:rPr>
              <a:t>Coût estimé : 1 000 à 1 500 € TTC</a:t>
            </a:r>
            <a:endParaRPr lang="en-US" sz="1020" dirty="0"/>
          </a:p>
        </p:txBody>
      </p:sp>
      <p:sp>
        <p:nvSpPr>
          <p:cNvPr id="26" name="Text 23"/>
          <p:cNvSpPr/>
          <p:nvPr/>
        </p:nvSpPr>
        <p:spPr>
          <a:xfrm>
            <a:off x="603504" y="5106924"/>
            <a:ext cx="6352667" cy="155448"/>
          </a:xfrm>
          <a:prstGeom prst="rect">
            <a:avLst/>
          </a:prstGeom>
          <a:noFill/>
          <a:ln/>
        </p:spPr>
        <p:txBody>
          <a:bodyPr wrap="none" lIns="0" tIns="0" rIns="0" bIns="0" rtlCol="0" anchor="ctr"/>
          <a:lstStyle/>
          <a:p>
            <a:pPr algn="ctr" indent="0" marL="0">
              <a:buNone/>
            </a:pPr>
            <a:r>
              <a:rPr lang="en-US" sz="900" i="1" dirty="0">
                <a:solidFill>
                  <a:srgbClr val="626262"/>
                </a:solidFill>
                <a:latin typeface="Arial" pitchFamily="34" charset="0"/>
                <a:ea typeface="Arial" pitchFamily="34" charset="-122"/>
                <a:cs typeface="Arial" pitchFamily="34" charset="-120"/>
              </a:rPr>
              <a:t>Estimation IA indicative, susceptible d’être ajustée après consultation des entreprises</a:t>
            </a:r>
            <a:endParaRPr lang="en-US" sz="900" dirty="0"/>
          </a:p>
        </p:txBody>
      </p:sp>
      <p:sp>
        <p:nvSpPr>
          <p:cNvPr id="27" name="Shape 24"/>
          <p:cNvSpPr/>
          <p:nvPr/>
        </p:nvSpPr>
        <p:spPr>
          <a:xfrm>
            <a:off x="512064" y="5372100"/>
            <a:ext cx="6535547" cy="3931920"/>
          </a:xfrm>
          <a:prstGeom prst="rect">
            <a:avLst/>
          </a:prstGeom>
          <a:solidFill>
            <a:srgbClr val="FFFFFF"/>
          </a:solidFill>
          <a:ln w="8255">
            <a:solidFill>
              <a:srgbClr val="2B2B2B"/>
            </a:solidFill>
            <a:prstDash val="solid"/>
          </a:ln>
        </p:spPr>
      </p:sp>
      <p:sp>
        <p:nvSpPr>
          <p:cNvPr id="28" name="Text 25"/>
          <p:cNvSpPr/>
          <p:nvPr/>
        </p:nvSpPr>
        <p:spPr>
          <a:xfrm>
            <a:off x="585216" y="5436108"/>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Illustrations :</a:t>
            </a:r>
            <a:endParaRPr lang="en-US" sz="1010" dirty="0"/>
          </a:p>
        </p:txBody>
      </p:sp>
      <p:pic>
        <p:nvPicPr>
          <p:cNvPr id="29" name="Image 1" descr="Photographie du diagnostic n°5">    </p:cNvPr>
          <p:cNvPicPr>
            <a:picLocks noChangeAspect="1"/>
          </p:cNvPicPr>
          <p:nvPr/>
        </p:nvPicPr>
        <p:blipFill>
          <a:blip r:embed="rId2"/>
          <a:stretch>
            <a:fillRect/>
          </a:stretch>
        </p:blipFill>
        <p:spPr>
          <a:xfrm>
            <a:off x="1420686" y="5682996"/>
            <a:ext cx="4718304" cy="3538728"/>
          </a:xfrm>
          <a:prstGeom prst="rect">
            <a:avLst/>
          </a:prstGeom>
        </p:spPr>
      </p:pic>
      <p:sp>
        <p:nvSpPr>
          <p:cNvPr id="30" name="Text 26"/>
          <p:cNvSpPr/>
          <p:nvPr/>
        </p:nvSpPr>
        <p:spPr>
          <a:xfrm>
            <a:off x="2212848" y="10390061"/>
            <a:ext cx="3200400" cy="146304"/>
          </a:xfrm>
          <a:prstGeom prst="rect">
            <a:avLst/>
          </a:prstGeom>
          <a:noFill/>
          <a:ln/>
        </p:spPr>
        <p:txBody>
          <a:bodyPr wrap="none" lIns="0" tIns="0" rIns="0" bIns="0" rtlCol="0" anchor="ctr"/>
          <a:lstStyle/>
          <a:p>
            <a:pPr algn="ctr" indent="0" marL="0">
              <a:buNone/>
            </a:pPr>
            <a:r>
              <a:rPr lang="en-US" sz="830" dirty="0">
                <a:solidFill>
                  <a:srgbClr val="777777"/>
                </a:solidFill>
                <a:latin typeface="Arial" pitchFamily="34" charset="0"/>
                <a:ea typeface="Arial" pitchFamily="34" charset="-122"/>
                <a:cs typeface="Arial" pitchFamily="34" charset="-120"/>
              </a:rPr>
              <a:t>Copropriété Résidence des Tilleuls</a:t>
            </a:r>
            <a:endParaRPr lang="en-US" sz="830" dirty="0"/>
          </a:p>
        </p:txBody>
      </p:sp>
      <p:sp>
        <p:nvSpPr>
          <p:cNvPr id="31" name="Text 27"/>
          <p:cNvSpPr/>
          <p:nvPr/>
        </p:nvSpPr>
        <p:spPr>
          <a:xfrm>
            <a:off x="6773291" y="10390061"/>
            <a:ext cx="274320" cy="146304"/>
          </a:xfrm>
          <a:prstGeom prst="rect">
            <a:avLst/>
          </a:prstGeom>
          <a:noFill/>
          <a:ln/>
        </p:spPr>
        <p:txBody>
          <a:bodyPr wrap="none" lIns="0" tIns="0" rIns="0" bIns="0" rtlCol="0" anchor="ctr"/>
          <a:lstStyle/>
          <a:p>
            <a:pPr algn="r" indent="0" marL="0">
              <a:buNone/>
            </a:pPr>
            <a:r>
              <a:rPr lang="en-US" sz="830" dirty="0">
                <a:solidFill>
                  <a:srgbClr val="777777"/>
                </a:solidFill>
                <a:latin typeface="Arial" pitchFamily="34" charset="0"/>
                <a:ea typeface="Arial" pitchFamily="34" charset="-122"/>
                <a:cs typeface="Arial" pitchFamily="34" charset="-120"/>
              </a:rPr>
              <a:t>17</a:t>
            </a:r>
            <a:endParaRPr lang="en-US" sz="83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France Verte, bureau d’études fluides et thermiques">    </p:cNvPr>
          <p:cNvPicPr>
            <a:picLocks noChangeAspect="1"/>
          </p:cNvPicPr>
          <p:nvPr/>
        </p:nvPicPr>
        <p:blipFill>
          <a:blip r:embed="rId1"/>
          <a:stretch>
            <a:fillRect/>
          </a:stretch>
        </p:blipFill>
        <p:spPr>
          <a:xfrm>
            <a:off x="512064" y="164592"/>
            <a:ext cx="2176272" cy="548640"/>
          </a:xfrm>
          <a:prstGeom prst="rect">
            <a:avLst/>
          </a:prstGeom>
        </p:spPr>
      </p:pic>
      <p:sp>
        <p:nvSpPr>
          <p:cNvPr id="3" name="Shape 0"/>
          <p:cNvSpPr/>
          <p:nvPr/>
        </p:nvSpPr>
        <p:spPr>
          <a:xfrm>
            <a:off x="512064" y="822960"/>
            <a:ext cx="6535547" cy="310896"/>
          </a:xfrm>
          <a:prstGeom prst="rect">
            <a:avLst/>
          </a:prstGeom>
          <a:solidFill>
            <a:srgbClr val="00B55A"/>
          </a:solidFill>
          <a:ln w="12700">
            <a:solidFill>
              <a:srgbClr val="00B55A">
                <a:alpha val="0"/>
              </a:srgbClr>
            </a:solidFill>
            <a:prstDash val="solid"/>
          </a:ln>
        </p:spPr>
      </p:sp>
      <p:sp>
        <p:nvSpPr>
          <p:cNvPr id="4" name="Text 1"/>
          <p:cNvSpPr/>
          <p:nvPr/>
        </p:nvSpPr>
        <p:spPr>
          <a:xfrm>
            <a:off x="640080" y="850392"/>
            <a:ext cx="6306947" cy="237744"/>
          </a:xfrm>
          <a:prstGeom prst="rect">
            <a:avLst/>
          </a:prstGeom>
          <a:noFill/>
          <a:ln/>
        </p:spPr>
        <p:txBody>
          <a:bodyPr wrap="non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2.IDENTIFICATION ET HIÉRARCHISATION DES TRAVAUX ET OBSERVATIONS</a:t>
            </a:r>
            <a:endParaRPr lang="en-US" sz="1150" dirty="0"/>
          </a:p>
        </p:txBody>
      </p:sp>
      <p:sp>
        <p:nvSpPr>
          <p:cNvPr id="5" name="Shape 2"/>
          <p:cNvSpPr/>
          <p:nvPr/>
        </p:nvSpPr>
        <p:spPr>
          <a:xfrm>
            <a:off x="512064" y="1609344"/>
            <a:ext cx="1600200" cy="429768"/>
          </a:xfrm>
          <a:prstGeom prst="chevron">
            <a:avLst/>
          </a:prstGeom>
          <a:solidFill>
            <a:srgbClr val="4EAD2B"/>
          </a:solidFill>
          <a:ln w="10160">
            <a:solidFill>
              <a:srgbClr val="2B2B2B"/>
            </a:solidFill>
            <a:prstDash val="solid"/>
          </a:ln>
        </p:spPr>
      </p:sp>
      <p:sp>
        <p:nvSpPr>
          <p:cNvPr id="6" name="Text 3"/>
          <p:cNvSpPr/>
          <p:nvPr/>
        </p:nvSpPr>
        <p:spPr>
          <a:xfrm>
            <a:off x="576072" y="1645920"/>
            <a:ext cx="1307592"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Travaux</a:t>
            </a:r>
            <a:endParaRPr lang="en-US" sz="900" dirty="0"/>
          </a:p>
          <a:p>
            <a:pPr algn="ctr" indent="0" marL="0">
              <a:buNone/>
            </a:pPr>
            <a:r>
              <a:rPr lang="en-US" sz="900" b="1" dirty="0">
                <a:solidFill>
                  <a:srgbClr val="FFFFFF"/>
                </a:solidFill>
                <a:latin typeface="Arial" pitchFamily="34" charset="0"/>
                <a:ea typeface="Arial" pitchFamily="34" charset="-122"/>
                <a:cs typeface="Arial" pitchFamily="34" charset="-120"/>
              </a:rPr>
              <a:t>énergétiques</a:t>
            </a:r>
            <a:endParaRPr lang="en-US" sz="900" dirty="0"/>
          </a:p>
        </p:txBody>
      </p:sp>
      <p:sp>
        <p:nvSpPr>
          <p:cNvPr id="7" name="Text 4"/>
          <p:cNvSpPr/>
          <p:nvPr/>
        </p:nvSpPr>
        <p:spPr>
          <a:xfrm>
            <a:off x="2331720" y="1417320"/>
            <a:ext cx="4661027" cy="813816"/>
          </a:xfrm>
          <a:prstGeom prst="rect">
            <a:avLst/>
          </a:prstGeom>
          <a:noFill/>
          <a:ln/>
        </p:spPr>
        <p:txBody>
          <a:bodyPr wrap="square" lIns="0" tIns="0" rIns="0" bIns="0" rtlCol="0" anchor="ctr"/>
          <a:lstStyle/>
          <a:p>
            <a:pPr indent="0" marL="0">
              <a:lnSpc>
                <a:spcPct val="100000"/>
              </a:lnSpc>
              <a:buNone/>
            </a:pPr>
            <a:r>
              <a:rPr lang="en-US" sz="830" b="1" dirty="0">
                <a:solidFill>
                  <a:srgbClr val="171717"/>
                </a:solidFill>
                <a:latin typeface="Arial" pitchFamily="34" charset="0"/>
                <a:ea typeface="Arial" pitchFamily="34" charset="-122"/>
                <a:cs typeface="Arial" pitchFamily="34" charset="-120"/>
              </a:rPr>
              <a:t>Travaux visant à améliorer la performance énergétique du bâtiment,</a:t>
            </a:r>
            <a:endParaRPr lang="en-US" sz="830" dirty="0"/>
          </a:p>
          <a:p>
            <a:pPr indent="0" marL="0">
              <a:lnSpc>
                <a:spcPct val="100000"/>
              </a:lnSpc>
              <a:buNone/>
            </a:pPr>
            <a:r>
              <a:rPr lang="en-US" sz="830" b="1" dirty="0">
                <a:solidFill>
                  <a:srgbClr val="171717"/>
                </a:solidFill>
                <a:latin typeface="Arial" pitchFamily="34" charset="0"/>
                <a:ea typeface="Arial" pitchFamily="34" charset="-122"/>
                <a:cs typeface="Arial" pitchFamily="34" charset="-120"/>
              </a:rPr>
              <a:t>réduire les consommations d'énergie et améliorer le confort thermique des occupants.</a:t>
            </a:r>
            <a:endParaRPr lang="en-US" sz="830" dirty="0"/>
          </a:p>
        </p:txBody>
      </p:sp>
      <p:sp>
        <p:nvSpPr>
          <p:cNvPr id="8" name="Shape 5"/>
          <p:cNvSpPr/>
          <p:nvPr/>
        </p:nvSpPr>
        <p:spPr>
          <a:xfrm>
            <a:off x="512064" y="2340864"/>
            <a:ext cx="731520" cy="438912"/>
          </a:xfrm>
          <a:prstGeom prst="rect">
            <a:avLst/>
          </a:prstGeom>
          <a:solidFill>
            <a:srgbClr val="FFFFFF"/>
          </a:solidFill>
          <a:ln w="8255">
            <a:solidFill>
              <a:srgbClr val="2B2B2B"/>
            </a:solidFill>
            <a:prstDash val="solid"/>
          </a:ln>
        </p:spPr>
      </p:sp>
      <p:sp>
        <p:nvSpPr>
          <p:cNvPr id="9" name="Shape 6"/>
          <p:cNvSpPr/>
          <p:nvPr/>
        </p:nvSpPr>
        <p:spPr>
          <a:xfrm>
            <a:off x="1243584" y="2340864"/>
            <a:ext cx="3591179" cy="438912"/>
          </a:xfrm>
          <a:prstGeom prst="rect">
            <a:avLst/>
          </a:prstGeom>
          <a:solidFill>
            <a:srgbClr val="FFFFFF"/>
          </a:solidFill>
          <a:ln w="8255">
            <a:solidFill>
              <a:srgbClr val="2B2B2B"/>
            </a:solidFill>
            <a:prstDash val="solid"/>
          </a:ln>
        </p:spPr>
      </p:sp>
      <p:sp>
        <p:nvSpPr>
          <p:cNvPr id="10" name="Shape 7"/>
          <p:cNvSpPr/>
          <p:nvPr/>
        </p:nvSpPr>
        <p:spPr>
          <a:xfrm>
            <a:off x="4834763" y="2340864"/>
            <a:ext cx="2212848" cy="438912"/>
          </a:xfrm>
          <a:prstGeom prst="rect">
            <a:avLst/>
          </a:prstGeom>
          <a:solidFill>
            <a:srgbClr val="4EAD2B"/>
          </a:solidFill>
          <a:ln w="8255">
            <a:solidFill>
              <a:srgbClr val="2B2B2B"/>
            </a:solidFill>
            <a:prstDash val="solid"/>
          </a:ln>
        </p:spPr>
      </p:sp>
      <p:sp>
        <p:nvSpPr>
          <p:cNvPr id="11" name="Text 8"/>
          <p:cNvSpPr/>
          <p:nvPr/>
        </p:nvSpPr>
        <p:spPr>
          <a:xfrm>
            <a:off x="548640" y="2450592"/>
            <a:ext cx="658368" cy="219456"/>
          </a:xfrm>
          <a:prstGeom prst="rect">
            <a:avLst/>
          </a:prstGeom>
          <a:noFill/>
          <a:ln/>
        </p:spPr>
        <p:txBody>
          <a:bodyPr wrap="none" lIns="0" tIns="0" rIns="0" bIns="0" rtlCol="0" anchor="ctr"/>
          <a:lstStyle/>
          <a:p>
            <a:pPr algn="ctr" indent="0" marL="0">
              <a:buNone/>
            </a:pPr>
            <a:r>
              <a:rPr lang="en-US" sz="1050" b="1" dirty="0">
                <a:solidFill>
                  <a:srgbClr val="171717"/>
                </a:solidFill>
                <a:latin typeface="Arial" pitchFamily="34" charset="0"/>
                <a:ea typeface="Arial" pitchFamily="34" charset="-122"/>
                <a:cs typeface="Arial" pitchFamily="34" charset="-120"/>
              </a:rPr>
              <a:t>N°6</a:t>
            </a:r>
            <a:endParaRPr lang="en-US" sz="1050" dirty="0"/>
          </a:p>
        </p:txBody>
      </p:sp>
      <p:sp>
        <p:nvSpPr>
          <p:cNvPr id="12" name="Text 9"/>
          <p:cNvSpPr/>
          <p:nvPr/>
        </p:nvSpPr>
        <p:spPr>
          <a:xfrm>
            <a:off x="1316736" y="2414016"/>
            <a:ext cx="3444875" cy="292608"/>
          </a:xfrm>
          <a:prstGeom prst="rect">
            <a:avLst/>
          </a:prstGeom>
          <a:noFill/>
          <a:ln/>
        </p:spPr>
        <p:txBody>
          <a:bodyPr wrap="none" lIns="0" tIns="0" rIns="0" bIns="0" rtlCol="0" anchor="ctr"/>
          <a:lstStyle/>
          <a:p>
            <a:pPr indent="0" marL="0">
              <a:buNone/>
            </a:pPr>
            <a:r>
              <a:rPr lang="en-US" sz="1020" b="1" dirty="0">
                <a:solidFill>
                  <a:srgbClr val="171717"/>
                </a:solidFill>
                <a:latin typeface="Arial" pitchFamily="34" charset="0"/>
                <a:ea typeface="Arial" pitchFamily="34" charset="-122"/>
                <a:cs typeface="Arial" pitchFamily="34" charset="-120"/>
              </a:rPr>
              <a:t>Famille : Famille energetic</a:t>
            </a:r>
            <a:endParaRPr lang="en-US" sz="1020" dirty="0"/>
          </a:p>
        </p:txBody>
      </p:sp>
      <p:sp>
        <p:nvSpPr>
          <p:cNvPr id="13" name="Text 10"/>
          <p:cNvSpPr/>
          <p:nvPr/>
        </p:nvSpPr>
        <p:spPr>
          <a:xfrm>
            <a:off x="4889627" y="2418588"/>
            <a:ext cx="2103120" cy="283464"/>
          </a:xfrm>
          <a:prstGeom prst="rect">
            <a:avLst/>
          </a:prstGeom>
          <a:noFill/>
          <a:ln/>
        </p:spPr>
        <p:txBody>
          <a:bodyPr wrap="none" lIns="0" tIns="0" rIns="0" bIns="0" rtlCol="0" anchor="ctr"/>
          <a:lstStyle/>
          <a:p>
            <a:pPr algn="ctr" indent="0" marL="0">
              <a:buNone/>
            </a:pPr>
            <a:r>
              <a:rPr lang="en-US" sz="970" b="1" dirty="0">
                <a:solidFill>
                  <a:srgbClr val="FFFFFF"/>
                </a:solidFill>
                <a:latin typeface="Arial" pitchFamily="34" charset="0"/>
                <a:ea typeface="Arial" pitchFamily="34" charset="-122"/>
                <a:cs typeface="Arial" pitchFamily="34" charset="-120"/>
              </a:rPr>
              <a:t>TRAVAUX ÉNERGÉTIQUES</a:t>
            </a:r>
            <a:endParaRPr lang="en-US" sz="970" dirty="0"/>
          </a:p>
        </p:txBody>
      </p:sp>
      <p:sp>
        <p:nvSpPr>
          <p:cNvPr id="14" name="Shape 11"/>
          <p:cNvSpPr/>
          <p:nvPr/>
        </p:nvSpPr>
        <p:spPr>
          <a:xfrm>
            <a:off x="512064" y="2779776"/>
            <a:ext cx="6535547" cy="608076"/>
          </a:xfrm>
          <a:prstGeom prst="rect">
            <a:avLst/>
          </a:prstGeom>
          <a:solidFill>
            <a:srgbClr val="FFFFFF"/>
          </a:solidFill>
          <a:ln w="8255">
            <a:solidFill>
              <a:srgbClr val="2B2B2B"/>
            </a:solidFill>
            <a:prstDash val="solid"/>
          </a:ln>
        </p:spPr>
      </p:sp>
      <p:sp>
        <p:nvSpPr>
          <p:cNvPr id="15" name="Text 12"/>
          <p:cNvSpPr/>
          <p:nvPr/>
        </p:nvSpPr>
        <p:spPr>
          <a:xfrm>
            <a:off x="585216" y="2843784"/>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Localisation :</a:t>
            </a:r>
            <a:endParaRPr lang="en-US" sz="1010" dirty="0"/>
          </a:p>
        </p:txBody>
      </p:sp>
      <p:sp>
        <p:nvSpPr>
          <p:cNvPr id="16" name="Text 13"/>
          <p:cNvSpPr/>
          <p:nvPr/>
        </p:nvSpPr>
        <p:spPr>
          <a:xfrm>
            <a:off x="585216" y="3063240"/>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Parties communes</a:t>
            </a:r>
            <a:endParaRPr lang="en-US" sz="1050" dirty="0"/>
          </a:p>
        </p:txBody>
      </p:sp>
      <p:sp>
        <p:nvSpPr>
          <p:cNvPr id="17" name="Shape 14"/>
          <p:cNvSpPr/>
          <p:nvPr/>
        </p:nvSpPr>
        <p:spPr>
          <a:xfrm>
            <a:off x="512064" y="3387852"/>
            <a:ext cx="6535547" cy="608076"/>
          </a:xfrm>
          <a:prstGeom prst="rect">
            <a:avLst/>
          </a:prstGeom>
          <a:solidFill>
            <a:srgbClr val="FFFFFF"/>
          </a:solidFill>
          <a:ln w="8255">
            <a:solidFill>
              <a:srgbClr val="2B2B2B"/>
            </a:solidFill>
            <a:prstDash val="solid"/>
          </a:ln>
        </p:spPr>
      </p:sp>
      <p:sp>
        <p:nvSpPr>
          <p:cNvPr id="18" name="Text 15"/>
          <p:cNvSpPr/>
          <p:nvPr/>
        </p:nvSpPr>
        <p:spPr>
          <a:xfrm>
            <a:off x="585216" y="3451860"/>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Etat / Observations :</a:t>
            </a:r>
            <a:endParaRPr lang="en-US" sz="1010" dirty="0"/>
          </a:p>
        </p:txBody>
      </p:sp>
      <p:sp>
        <p:nvSpPr>
          <p:cNvPr id="19" name="Text 16"/>
          <p:cNvSpPr/>
          <p:nvPr/>
        </p:nvSpPr>
        <p:spPr>
          <a:xfrm>
            <a:off x="585216" y="3671316"/>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Observation energetic.</a:t>
            </a:r>
            <a:endParaRPr lang="en-US" sz="1050" dirty="0"/>
          </a:p>
        </p:txBody>
      </p:sp>
      <p:sp>
        <p:nvSpPr>
          <p:cNvPr id="20" name="Shape 17"/>
          <p:cNvSpPr/>
          <p:nvPr/>
        </p:nvSpPr>
        <p:spPr>
          <a:xfrm>
            <a:off x="512064" y="3995928"/>
            <a:ext cx="6535547" cy="608076"/>
          </a:xfrm>
          <a:prstGeom prst="rect">
            <a:avLst/>
          </a:prstGeom>
          <a:solidFill>
            <a:srgbClr val="FFFFFF"/>
          </a:solidFill>
          <a:ln w="8255">
            <a:solidFill>
              <a:srgbClr val="2B2B2B"/>
            </a:solidFill>
            <a:prstDash val="solid"/>
          </a:ln>
        </p:spPr>
      </p:sp>
      <p:sp>
        <p:nvSpPr>
          <p:cNvPr id="21" name="Text 18"/>
          <p:cNvSpPr/>
          <p:nvPr/>
        </p:nvSpPr>
        <p:spPr>
          <a:xfrm>
            <a:off x="585216" y="4059936"/>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Travaux à effectuer :</a:t>
            </a:r>
            <a:endParaRPr lang="en-US" sz="1010" dirty="0"/>
          </a:p>
        </p:txBody>
      </p:sp>
      <p:sp>
        <p:nvSpPr>
          <p:cNvPr id="22" name="Text 19"/>
          <p:cNvSpPr/>
          <p:nvPr/>
        </p:nvSpPr>
        <p:spPr>
          <a:xfrm>
            <a:off x="585216" y="4279392"/>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Intervention energetic.</a:t>
            </a:r>
            <a:endParaRPr lang="en-US" sz="1050" dirty="0"/>
          </a:p>
        </p:txBody>
      </p:sp>
      <p:sp>
        <p:nvSpPr>
          <p:cNvPr id="23" name="Shape 20"/>
          <p:cNvSpPr/>
          <p:nvPr/>
        </p:nvSpPr>
        <p:spPr>
          <a:xfrm>
            <a:off x="512064" y="4604004"/>
            <a:ext cx="6535547" cy="585216"/>
          </a:xfrm>
          <a:prstGeom prst="rect">
            <a:avLst/>
          </a:prstGeom>
          <a:solidFill>
            <a:srgbClr val="FFFFFF"/>
          </a:solidFill>
          <a:ln w="8255">
            <a:solidFill>
              <a:srgbClr val="2B2B2B"/>
            </a:solidFill>
            <a:prstDash val="solid"/>
          </a:ln>
        </p:spPr>
      </p:sp>
      <p:sp>
        <p:nvSpPr>
          <p:cNvPr id="24" name="Text 21"/>
          <p:cNvSpPr/>
          <p:nvPr/>
        </p:nvSpPr>
        <p:spPr>
          <a:xfrm>
            <a:off x="585216" y="4658868"/>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Chiffrage estimatif :</a:t>
            </a:r>
            <a:endParaRPr lang="en-US" sz="1010" dirty="0"/>
          </a:p>
        </p:txBody>
      </p:sp>
      <p:sp>
        <p:nvSpPr>
          <p:cNvPr id="25" name="Text 22"/>
          <p:cNvSpPr/>
          <p:nvPr/>
        </p:nvSpPr>
        <p:spPr>
          <a:xfrm>
            <a:off x="603504" y="4869180"/>
            <a:ext cx="6352667" cy="210312"/>
          </a:xfrm>
          <a:prstGeom prst="rect">
            <a:avLst/>
          </a:prstGeom>
          <a:noFill/>
          <a:ln/>
        </p:spPr>
        <p:txBody>
          <a:bodyPr wrap="none" lIns="0" tIns="0" rIns="0" bIns="0" rtlCol="0" anchor="ctr"/>
          <a:lstStyle/>
          <a:p>
            <a:pPr algn="ctr" indent="0" marL="0">
              <a:buNone/>
            </a:pPr>
            <a:r>
              <a:rPr lang="en-US" sz="1020" b="1" dirty="0">
                <a:solidFill>
                  <a:srgbClr val="171717"/>
                </a:solidFill>
                <a:latin typeface="Arial" pitchFamily="34" charset="0"/>
                <a:ea typeface="Arial" pitchFamily="34" charset="-122"/>
                <a:cs typeface="Arial" pitchFamily="34" charset="-120"/>
              </a:rPr>
              <a:t>Coût estimé : À déterminer après visite et définition des travaux.</a:t>
            </a:r>
            <a:endParaRPr lang="en-US" sz="1020" dirty="0"/>
          </a:p>
        </p:txBody>
      </p:sp>
      <p:sp>
        <p:nvSpPr>
          <p:cNvPr id="26" name="Shape 23"/>
          <p:cNvSpPr/>
          <p:nvPr/>
        </p:nvSpPr>
        <p:spPr>
          <a:xfrm>
            <a:off x="512064" y="5189220"/>
            <a:ext cx="6535547" cy="3931920"/>
          </a:xfrm>
          <a:prstGeom prst="rect">
            <a:avLst/>
          </a:prstGeom>
          <a:solidFill>
            <a:srgbClr val="FFFFFF"/>
          </a:solidFill>
          <a:ln w="8255">
            <a:solidFill>
              <a:srgbClr val="2B2B2B"/>
            </a:solidFill>
            <a:prstDash val="solid"/>
          </a:ln>
        </p:spPr>
      </p:sp>
      <p:sp>
        <p:nvSpPr>
          <p:cNvPr id="27" name="Text 24"/>
          <p:cNvSpPr/>
          <p:nvPr/>
        </p:nvSpPr>
        <p:spPr>
          <a:xfrm>
            <a:off x="585216" y="5253228"/>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Illustrations :</a:t>
            </a:r>
            <a:endParaRPr lang="en-US" sz="1010" dirty="0"/>
          </a:p>
        </p:txBody>
      </p:sp>
      <p:pic>
        <p:nvPicPr>
          <p:cNvPr id="28" name="Image 1" descr="Photographie du diagnostic n°6">    </p:cNvPr>
          <p:cNvPicPr>
            <a:picLocks noChangeAspect="1"/>
          </p:cNvPicPr>
          <p:nvPr/>
        </p:nvPicPr>
        <p:blipFill>
          <a:blip r:embed="rId2"/>
          <a:stretch>
            <a:fillRect/>
          </a:stretch>
        </p:blipFill>
        <p:spPr>
          <a:xfrm>
            <a:off x="1420686" y="5500116"/>
            <a:ext cx="4718304" cy="3538728"/>
          </a:xfrm>
          <a:prstGeom prst="rect">
            <a:avLst/>
          </a:prstGeom>
        </p:spPr>
      </p:pic>
      <p:sp>
        <p:nvSpPr>
          <p:cNvPr id="29" name="Text 25"/>
          <p:cNvSpPr/>
          <p:nvPr/>
        </p:nvSpPr>
        <p:spPr>
          <a:xfrm>
            <a:off x="2212848" y="10390061"/>
            <a:ext cx="3200400" cy="146304"/>
          </a:xfrm>
          <a:prstGeom prst="rect">
            <a:avLst/>
          </a:prstGeom>
          <a:noFill/>
          <a:ln/>
        </p:spPr>
        <p:txBody>
          <a:bodyPr wrap="none" lIns="0" tIns="0" rIns="0" bIns="0" rtlCol="0" anchor="ctr"/>
          <a:lstStyle/>
          <a:p>
            <a:pPr algn="ctr" indent="0" marL="0">
              <a:buNone/>
            </a:pPr>
            <a:r>
              <a:rPr lang="en-US" sz="830" dirty="0">
                <a:solidFill>
                  <a:srgbClr val="777777"/>
                </a:solidFill>
                <a:latin typeface="Arial" pitchFamily="34" charset="0"/>
                <a:ea typeface="Arial" pitchFamily="34" charset="-122"/>
                <a:cs typeface="Arial" pitchFamily="34" charset="-120"/>
              </a:rPr>
              <a:t>Copropriété Résidence des Tilleuls</a:t>
            </a:r>
            <a:endParaRPr lang="en-US" sz="830" dirty="0"/>
          </a:p>
        </p:txBody>
      </p:sp>
      <p:sp>
        <p:nvSpPr>
          <p:cNvPr id="30" name="Text 26"/>
          <p:cNvSpPr/>
          <p:nvPr/>
        </p:nvSpPr>
        <p:spPr>
          <a:xfrm>
            <a:off x="6773291" y="10390061"/>
            <a:ext cx="274320" cy="146304"/>
          </a:xfrm>
          <a:prstGeom prst="rect">
            <a:avLst/>
          </a:prstGeom>
          <a:noFill/>
          <a:ln/>
        </p:spPr>
        <p:txBody>
          <a:bodyPr wrap="none" lIns="0" tIns="0" rIns="0" bIns="0" rtlCol="0" anchor="ctr"/>
          <a:lstStyle/>
          <a:p>
            <a:pPr algn="r" indent="0" marL="0">
              <a:buNone/>
            </a:pPr>
            <a:r>
              <a:rPr lang="en-US" sz="830" dirty="0">
                <a:solidFill>
                  <a:srgbClr val="777777"/>
                </a:solidFill>
                <a:latin typeface="Arial" pitchFamily="34" charset="0"/>
                <a:ea typeface="Arial" pitchFamily="34" charset="-122"/>
                <a:cs typeface="Arial" pitchFamily="34" charset="-120"/>
              </a:rPr>
              <a:t>18</a:t>
            </a:r>
            <a:endParaRPr lang="en-US" sz="83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France Verte, bureau d’études fluides et thermiques">    </p:cNvPr>
          <p:cNvPicPr>
            <a:picLocks noChangeAspect="1"/>
          </p:cNvPicPr>
          <p:nvPr/>
        </p:nvPicPr>
        <p:blipFill>
          <a:blip r:embed="rId1"/>
          <a:stretch>
            <a:fillRect/>
          </a:stretch>
        </p:blipFill>
        <p:spPr>
          <a:xfrm>
            <a:off x="512064" y="164592"/>
            <a:ext cx="2176272" cy="548640"/>
          </a:xfrm>
          <a:prstGeom prst="rect">
            <a:avLst/>
          </a:prstGeom>
        </p:spPr>
      </p:pic>
      <p:sp>
        <p:nvSpPr>
          <p:cNvPr id="3" name="Shape 0"/>
          <p:cNvSpPr/>
          <p:nvPr/>
        </p:nvSpPr>
        <p:spPr>
          <a:xfrm>
            <a:off x="512064" y="822960"/>
            <a:ext cx="6535547" cy="310896"/>
          </a:xfrm>
          <a:prstGeom prst="rect">
            <a:avLst/>
          </a:prstGeom>
          <a:solidFill>
            <a:srgbClr val="00B55A"/>
          </a:solidFill>
          <a:ln w="12700">
            <a:solidFill>
              <a:srgbClr val="00B55A">
                <a:alpha val="0"/>
              </a:srgbClr>
            </a:solidFill>
            <a:prstDash val="solid"/>
          </a:ln>
        </p:spPr>
      </p:sp>
      <p:sp>
        <p:nvSpPr>
          <p:cNvPr id="4" name="Text 1"/>
          <p:cNvSpPr/>
          <p:nvPr/>
        </p:nvSpPr>
        <p:spPr>
          <a:xfrm>
            <a:off x="640080" y="850392"/>
            <a:ext cx="6306947" cy="237744"/>
          </a:xfrm>
          <a:prstGeom prst="rect">
            <a:avLst/>
          </a:prstGeom>
          <a:noFill/>
          <a:ln/>
        </p:spPr>
        <p:txBody>
          <a:bodyPr wrap="non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2.IDENTIFICATION ET HIÉRARCHISATION DES TRAVAUX ET OBSERVATIONS</a:t>
            </a:r>
            <a:endParaRPr lang="en-US" sz="1150" dirty="0"/>
          </a:p>
        </p:txBody>
      </p:sp>
      <p:sp>
        <p:nvSpPr>
          <p:cNvPr id="5" name="Shape 2"/>
          <p:cNvSpPr/>
          <p:nvPr/>
        </p:nvSpPr>
        <p:spPr>
          <a:xfrm>
            <a:off x="512064" y="1609344"/>
            <a:ext cx="1600200" cy="429768"/>
          </a:xfrm>
          <a:prstGeom prst="chevron">
            <a:avLst/>
          </a:prstGeom>
          <a:solidFill>
            <a:srgbClr val="FFC700"/>
          </a:solidFill>
          <a:ln w="10160">
            <a:solidFill>
              <a:srgbClr val="2B2B2B"/>
            </a:solidFill>
            <a:prstDash val="solid"/>
          </a:ln>
        </p:spPr>
      </p:sp>
      <p:sp>
        <p:nvSpPr>
          <p:cNvPr id="6" name="Text 3"/>
          <p:cNvSpPr/>
          <p:nvPr/>
        </p:nvSpPr>
        <p:spPr>
          <a:xfrm>
            <a:off x="576072" y="1645920"/>
            <a:ext cx="1307592" cy="347472"/>
          </a:xfrm>
          <a:prstGeom prst="rect">
            <a:avLst/>
          </a:prstGeom>
          <a:noFill/>
          <a:ln/>
        </p:spPr>
        <p:txBody>
          <a:bodyPr wrap="square" lIns="0" tIns="0" rIns="0" bIns="0" rtlCol="0" anchor="ctr"/>
          <a:lstStyle/>
          <a:p>
            <a:pPr algn="ctr" indent="0" marL="0">
              <a:buNone/>
            </a:pPr>
            <a:r>
              <a:rPr lang="en-US" sz="1000" b="1" dirty="0">
                <a:solidFill>
                  <a:srgbClr val="594500"/>
                </a:solidFill>
                <a:latin typeface="Arial" pitchFamily="34" charset="0"/>
                <a:ea typeface="Arial" pitchFamily="34" charset="-122"/>
                <a:cs typeface="Arial" pitchFamily="34" charset="-120"/>
              </a:rPr>
              <a:t>À confirmer</a:t>
            </a:r>
            <a:endParaRPr lang="en-US" sz="1000" dirty="0"/>
          </a:p>
        </p:txBody>
      </p:sp>
      <p:sp>
        <p:nvSpPr>
          <p:cNvPr id="7" name="Text 4"/>
          <p:cNvSpPr/>
          <p:nvPr/>
        </p:nvSpPr>
        <p:spPr>
          <a:xfrm>
            <a:off x="2331720" y="1417320"/>
            <a:ext cx="4661027" cy="813816"/>
          </a:xfrm>
          <a:prstGeom prst="rect">
            <a:avLst/>
          </a:prstGeom>
          <a:noFill/>
          <a:ln/>
        </p:spPr>
        <p:txBody>
          <a:bodyPr wrap="square" lIns="0" tIns="0" rIns="0" bIns="0" rtlCol="0" anchor="ctr"/>
          <a:lstStyle/>
          <a:p>
            <a:pPr indent="0" marL="0">
              <a:lnSpc>
                <a:spcPct val="100000"/>
              </a:lnSpc>
              <a:buNone/>
            </a:pPr>
            <a:r>
              <a:rPr lang="en-US" sz="830" b="1" dirty="0">
                <a:solidFill>
                  <a:srgbClr val="171717"/>
                </a:solidFill>
                <a:latin typeface="Arial" pitchFamily="34" charset="0"/>
                <a:ea typeface="Arial" pitchFamily="34" charset="-122"/>
                <a:cs typeface="Arial" pitchFamily="34" charset="-120"/>
              </a:rPr>
              <a:t>Photo ou gravité incertaine</a:t>
            </a:r>
            <a:endParaRPr lang="en-US" sz="830" dirty="0"/>
          </a:p>
        </p:txBody>
      </p:sp>
      <p:sp>
        <p:nvSpPr>
          <p:cNvPr id="8" name="Shape 5"/>
          <p:cNvSpPr/>
          <p:nvPr/>
        </p:nvSpPr>
        <p:spPr>
          <a:xfrm>
            <a:off x="512064" y="2340864"/>
            <a:ext cx="731520" cy="438912"/>
          </a:xfrm>
          <a:prstGeom prst="rect">
            <a:avLst/>
          </a:prstGeom>
          <a:solidFill>
            <a:srgbClr val="FFFFFF"/>
          </a:solidFill>
          <a:ln w="8255">
            <a:solidFill>
              <a:srgbClr val="2B2B2B"/>
            </a:solidFill>
            <a:prstDash val="solid"/>
          </a:ln>
        </p:spPr>
      </p:sp>
      <p:sp>
        <p:nvSpPr>
          <p:cNvPr id="9" name="Shape 6"/>
          <p:cNvSpPr/>
          <p:nvPr/>
        </p:nvSpPr>
        <p:spPr>
          <a:xfrm>
            <a:off x="1243584" y="2340864"/>
            <a:ext cx="3591179" cy="438912"/>
          </a:xfrm>
          <a:prstGeom prst="rect">
            <a:avLst/>
          </a:prstGeom>
          <a:solidFill>
            <a:srgbClr val="FFFFFF"/>
          </a:solidFill>
          <a:ln w="8255">
            <a:solidFill>
              <a:srgbClr val="2B2B2B"/>
            </a:solidFill>
            <a:prstDash val="solid"/>
          </a:ln>
        </p:spPr>
      </p:sp>
      <p:sp>
        <p:nvSpPr>
          <p:cNvPr id="10" name="Shape 7"/>
          <p:cNvSpPr/>
          <p:nvPr/>
        </p:nvSpPr>
        <p:spPr>
          <a:xfrm>
            <a:off x="4834763" y="2340864"/>
            <a:ext cx="2212848" cy="438912"/>
          </a:xfrm>
          <a:prstGeom prst="rect">
            <a:avLst/>
          </a:prstGeom>
          <a:solidFill>
            <a:srgbClr val="FFC700"/>
          </a:solidFill>
          <a:ln w="8255">
            <a:solidFill>
              <a:srgbClr val="2B2B2B"/>
            </a:solidFill>
            <a:prstDash val="solid"/>
          </a:ln>
        </p:spPr>
      </p:sp>
      <p:sp>
        <p:nvSpPr>
          <p:cNvPr id="11" name="Text 8"/>
          <p:cNvSpPr/>
          <p:nvPr/>
        </p:nvSpPr>
        <p:spPr>
          <a:xfrm>
            <a:off x="548640" y="2450592"/>
            <a:ext cx="658368" cy="219456"/>
          </a:xfrm>
          <a:prstGeom prst="rect">
            <a:avLst/>
          </a:prstGeom>
          <a:noFill/>
          <a:ln/>
        </p:spPr>
        <p:txBody>
          <a:bodyPr wrap="none" lIns="0" tIns="0" rIns="0" bIns="0" rtlCol="0" anchor="ctr"/>
          <a:lstStyle/>
          <a:p>
            <a:pPr algn="ctr" indent="0" marL="0">
              <a:buNone/>
            </a:pPr>
            <a:r>
              <a:rPr lang="en-US" sz="1050" b="1" dirty="0">
                <a:solidFill>
                  <a:srgbClr val="171717"/>
                </a:solidFill>
                <a:latin typeface="Arial" pitchFamily="34" charset="0"/>
                <a:ea typeface="Arial" pitchFamily="34" charset="-122"/>
                <a:cs typeface="Arial" pitchFamily="34" charset="-120"/>
              </a:rPr>
              <a:t>N°7</a:t>
            </a:r>
            <a:endParaRPr lang="en-US" sz="1050" dirty="0"/>
          </a:p>
        </p:txBody>
      </p:sp>
      <p:sp>
        <p:nvSpPr>
          <p:cNvPr id="12" name="Text 9"/>
          <p:cNvSpPr/>
          <p:nvPr/>
        </p:nvSpPr>
        <p:spPr>
          <a:xfrm>
            <a:off x="1316736" y="2414016"/>
            <a:ext cx="3444875" cy="292608"/>
          </a:xfrm>
          <a:prstGeom prst="rect">
            <a:avLst/>
          </a:prstGeom>
          <a:noFill/>
          <a:ln/>
        </p:spPr>
        <p:txBody>
          <a:bodyPr wrap="none" lIns="0" tIns="0" rIns="0" bIns="0" rtlCol="0" anchor="ctr"/>
          <a:lstStyle/>
          <a:p>
            <a:pPr indent="0" marL="0">
              <a:buNone/>
            </a:pPr>
            <a:r>
              <a:rPr lang="en-US" sz="1020" b="1" dirty="0">
                <a:solidFill>
                  <a:srgbClr val="171717"/>
                </a:solidFill>
                <a:latin typeface="Arial" pitchFamily="34" charset="0"/>
                <a:ea typeface="Arial" pitchFamily="34" charset="-122"/>
                <a:cs typeface="Arial" pitchFamily="34" charset="-120"/>
              </a:rPr>
              <a:t>Famille : Famille confirm</a:t>
            </a:r>
            <a:endParaRPr lang="en-US" sz="1020" dirty="0"/>
          </a:p>
        </p:txBody>
      </p:sp>
      <p:sp>
        <p:nvSpPr>
          <p:cNvPr id="13" name="Text 10"/>
          <p:cNvSpPr/>
          <p:nvPr/>
        </p:nvSpPr>
        <p:spPr>
          <a:xfrm>
            <a:off x="4889627" y="2418588"/>
            <a:ext cx="2103120" cy="283464"/>
          </a:xfrm>
          <a:prstGeom prst="rect">
            <a:avLst/>
          </a:prstGeom>
          <a:noFill/>
          <a:ln/>
        </p:spPr>
        <p:txBody>
          <a:bodyPr wrap="none" lIns="0" tIns="0" rIns="0" bIns="0" rtlCol="0" anchor="ctr"/>
          <a:lstStyle/>
          <a:p>
            <a:pPr algn="ctr" indent="0" marL="0">
              <a:buNone/>
            </a:pPr>
            <a:r>
              <a:rPr lang="en-US" sz="1050" b="1" dirty="0">
                <a:solidFill>
                  <a:srgbClr val="594500"/>
                </a:solidFill>
                <a:latin typeface="Arial" pitchFamily="34" charset="0"/>
                <a:ea typeface="Arial" pitchFamily="34" charset="-122"/>
                <a:cs typeface="Arial" pitchFamily="34" charset="-120"/>
              </a:rPr>
              <a:t>À CONFIRMER</a:t>
            </a:r>
            <a:endParaRPr lang="en-US" sz="1050" dirty="0"/>
          </a:p>
        </p:txBody>
      </p:sp>
      <p:sp>
        <p:nvSpPr>
          <p:cNvPr id="14" name="Shape 11"/>
          <p:cNvSpPr/>
          <p:nvPr/>
        </p:nvSpPr>
        <p:spPr>
          <a:xfrm>
            <a:off x="512064" y="2779776"/>
            <a:ext cx="6535547" cy="608076"/>
          </a:xfrm>
          <a:prstGeom prst="rect">
            <a:avLst/>
          </a:prstGeom>
          <a:solidFill>
            <a:srgbClr val="FFFFFF"/>
          </a:solidFill>
          <a:ln w="8255">
            <a:solidFill>
              <a:srgbClr val="2B2B2B"/>
            </a:solidFill>
            <a:prstDash val="solid"/>
          </a:ln>
        </p:spPr>
      </p:sp>
      <p:sp>
        <p:nvSpPr>
          <p:cNvPr id="15" name="Text 12"/>
          <p:cNvSpPr/>
          <p:nvPr/>
        </p:nvSpPr>
        <p:spPr>
          <a:xfrm>
            <a:off x="585216" y="2843784"/>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Localisation :</a:t>
            </a:r>
            <a:endParaRPr lang="en-US" sz="1010" dirty="0"/>
          </a:p>
        </p:txBody>
      </p:sp>
      <p:sp>
        <p:nvSpPr>
          <p:cNvPr id="16" name="Text 13"/>
          <p:cNvSpPr/>
          <p:nvPr/>
        </p:nvSpPr>
        <p:spPr>
          <a:xfrm>
            <a:off x="585216" y="3063240"/>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Parties communes</a:t>
            </a:r>
            <a:endParaRPr lang="en-US" sz="1050" dirty="0"/>
          </a:p>
        </p:txBody>
      </p:sp>
      <p:sp>
        <p:nvSpPr>
          <p:cNvPr id="17" name="Shape 14"/>
          <p:cNvSpPr/>
          <p:nvPr/>
        </p:nvSpPr>
        <p:spPr>
          <a:xfrm>
            <a:off x="512064" y="3387852"/>
            <a:ext cx="6535547" cy="608076"/>
          </a:xfrm>
          <a:prstGeom prst="rect">
            <a:avLst/>
          </a:prstGeom>
          <a:solidFill>
            <a:srgbClr val="FFFFFF"/>
          </a:solidFill>
          <a:ln w="8255">
            <a:solidFill>
              <a:srgbClr val="2B2B2B"/>
            </a:solidFill>
            <a:prstDash val="solid"/>
          </a:ln>
        </p:spPr>
      </p:sp>
      <p:sp>
        <p:nvSpPr>
          <p:cNvPr id="18" name="Text 15"/>
          <p:cNvSpPr/>
          <p:nvPr/>
        </p:nvSpPr>
        <p:spPr>
          <a:xfrm>
            <a:off x="585216" y="3451860"/>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Etat / Observations :</a:t>
            </a:r>
            <a:endParaRPr lang="en-US" sz="1010" dirty="0"/>
          </a:p>
        </p:txBody>
      </p:sp>
      <p:sp>
        <p:nvSpPr>
          <p:cNvPr id="19" name="Text 16"/>
          <p:cNvSpPr/>
          <p:nvPr/>
        </p:nvSpPr>
        <p:spPr>
          <a:xfrm>
            <a:off x="585216" y="3671316"/>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Observation confirm.</a:t>
            </a:r>
            <a:endParaRPr lang="en-US" sz="1050" dirty="0"/>
          </a:p>
        </p:txBody>
      </p:sp>
      <p:sp>
        <p:nvSpPr>
          <p:cNvPr id="20" name="Shape 17"/>
          <p:cNvSpPr/>
          <p:nvPr/>
        </p:nvSpPr>
        <p:spPr>
          <a:xfrm>
            <a:off x="512064" y="3995928"/>
            <a:ext cx="6535547" cy="608076"/>
          </a:xfrm>
          <a:prstGeom prst="rect">
            <a:avLst/>
          </a:prstGeom>
          <a:solidFill>
            <a:srgbClr val="FFFFFF"/>
          </a:solidFill>
          <a:ln w="8255">
            <a:solidFill>
              <a:srgbClr val="2B2B2B"/>
            </a:solidFill>
            <a:prstDash val="solid"/>
          </a:ln>
        </p:spPr>
      </p:sp>
      <p:sp>
        <p:nvSpPr>
          <p:cNvPr id="21" name="Text 18"/>
          <p:cNvSpPr/>
          <p:nvPr/>
        </p:nvSpPr>
        <p:spPr>
          <a:xfrm>
            <a:off x="585216" y="4059936"/>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Travaux à effectuer :</a:t>
            </a:r>
            <a:endParaRPr lang="en-US" sz="1010" dirty="0"/>
          </a:p>
        </p:txBody>
      </p:sp>
      <p:sp>
        <p:nvSpPr>
          <p:cNvPr id="22" name="Text 19"/>
          <p:cNvSpPr/>
          <p:nvPr/>
        </p:nvSpPr>
        <p:spPr>
          <a:xfrm>
            <a:off x="585216" y="4279392"/>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Intervention confirm.</a:t>
            </a:r>
            <a:endParaRPr lang="en-US" sz="1050" dirty="0"/>
          </a:p>
        </p:txBody>
      </p:sp>
      <p:sp>
        <p:nvSpPr>
          <p:cNvPr id="23" name="Shape 20"/>
          <p:cNvSpPr/>
          <p:nvPr/>
        </p:nvSpPr>
        <p:spPr>
          <a:xfrm>
            <a:off x="512064" y="4604004"/>
            <a:ext cx="6535547" cy="585216"/>
          </a:xfrm>
          <a:prstGeom prst="rect">
            <a:avLst/>
          </a:prstGeom>
          <a:solidFill>
            <a:srgbClr val="FFFFFF"/>
          </a:solidFill>
          <a:ln w="8255">
            <a:solidFill>
              <a:srgbClr val="2B2B2B"/>
            </a:solidFill>
            <a:prstDash val="solid"/>
          </a:ln>
        </p:spPr>
      </p:sp>
      <p:sp>
        <p:nvSpPr>
          <p:cNvPr id="24" name="Text 21"/>
          <p:cNvSpPr/>
          <p:nvPr/>
        </p:nvSpPr>
        <p:spPr>
          <a:xfrm>
            <a:off x="585216" y="4658868"/>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Chiffrage estimatif :</a:t>
            </a:r>
            <a:endParaRPr lang="en-US" sz="1010" dirty="0"/>
          </a:p>
        </p:txBody>
      </p:sp>
      <p:sp>
        <p:nvSpPr>
          <p:cNvPr id="25" name="Text 22"/>
          <p:cNvSpPr/>
          <p:nvPr/>
        </p:nvSpPr>
        <p:spPr>
          <a:xfrm>
            <a:off x="603504" y="4869180"/>
            <a:ext cx="6352667" cy="210312"/>
          </a:xfrm>
          <a:prstGeom prst="rect">
            <a:avLst/>
          </a:prstGeom>
          <a:noFill/>
          <a:ln/>
        </p:spPr>
        <p:txBody>
          <a:bodyPr wrap="none" lIns="0" tIns="0" rIns="0" bIns="0" rtlCol="0" anchor="ctr"/>
          <a:lstStyle/>
          <a:p>
            <a:pPr algn="ctr" indent="0" marL="0">
              <a:buNone/>
            </a:pPr>
            <a:r>
              <a:rPr lang="en-US" sz="1020" b="1" dirty="0">
                <a:solidFill>
                  <a:srgbClr val="171717"/>
                </a:solidFill>
                <a:latin typeface="Arial" pitchFamily="34" charset="0"/>
                <a:ea typeface="Arial" pitchFamily="34" charset="-122"/>
                <a:cs typeface="Arial" pitchFamily="34" charset="-120"/>
              </a:rPr>
              <a:t>Coût estimé : À déterminer après visite et définition des travaux.</a:t>
            </a:r>
            <a:endParaRPr lang="en-US" sz="1020" dirty="0"/>
          </a:p>
        </p:txBody>
      </p:sp>
      <p:sp>
        <p:nvSpPr>
          <p:cNvPr id="26" name="Shape 23"/>
          <p:cNvSpPr/>
          <p:nvPr/>
        </p:nvSpPr>
        <p:spPr>
          <a:xfrm>
            <a:off x="512064" y="5189220"/>
            <a:ext cx="6535547" cy="3931920"/>
          </a:xfrm>
          <a:prstGeom prst="rect">
            <a:avLst/>
          </a:prstGeom>
          <a:solidFill>
            <a:srgbClr val="FFFFFF"/>
          </a:solidFill>
          <a:ln w="8255">
            <a:solidFill>
              <a:srgbClr val="2B2B2B"/>
            </a:solidFill>
            <a:prstDash val="solid"/>
          </a:ln>
        </p:spPr>
      </p:sp>
      <p:sp>
        <p:nvSpPr>
          <p:cNvPr id="27" name="Text 24"/>
          <p:cNvSpPr/>
          <p:nvPr/>
        </p:nvSpPr>
        <p:spPr>
          <a:xfrm>
            <a:off x="585216" y="5253228"/>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Illustrations :</a:t>
            </a:r>
            <a:endParaRPr lang="en-US" sz="1010" dirty="0"/>
          </a:p>
        </p:txBody>
      </p:sp>
      <p:pic>
        <p:nvPicPr>
          <p:cNvPr id="28" name="Image 1" descr="Photographie du diagnostic n°7">    </p:cNvPr>
          <p:cNvPicPr>
            <a:picLocks noChangeAspect="1"/>
          </p:cNvPicPr>
          <p:nvPr/>
        </p:nvPicPr>
        <p:blipFill>
          <a:blip r:embed="rId2"/>
          <a:stretch>
            <a:fillRect/>
          </a:stretch>
        </p:blipFill>
        <p:spPr>
          <a:xfrm>
            <a:off x="1420686" y="5500116"/>
            <a:ext cx="4718304" cy="3538728"/>
          </a:xfrm>
          <a:prstGeom prst="rect">
            <a:avLst/>
          </a:prstGeom>
        </p:spPr>
      </p:pic>
      <p:sp>
        <p:nvSpPr>
          <p:cNvPr id="29" name="Text 25"/>
          <p:cNvSpPr/>
          <p:nvPr/>
        </p:nvSpPr>
        <p:spPr>
          <a:xfrm>
            <a:off x="2212848" y="10390061"/>
            <a:ext cx="3200400" cy="146304"/>
          </a:xfrm>
          <a:prstGeom prst="rect">
            <a:avLst/>
          </a:prstGeom>
          <a:noFill/>
          <a:ln/>
        </p:spPr>
        <p:txBody>
          <a:bodyPr wrap="none" lIns="0" tIns="0" rIns="0" bIns="0" rtlCol="0" anchor="ctr"/>
          <a:lstStyle/>
          <a:p>
            <a:pPr algn="ctr" indent="0" marL="0">
              <a:buNone/>
            </a:pPr>
            <a:r>
              <a:rPr lang="en-US" sz="830" dirty="0">
                <a:solidFill>
                  <a:srgbClr val="777777"/>
                </a:solidFill>
                <a:latin typeface="Arial" pitchFamily="34" charset="0"/>
                <a:ea typeface="Arial" pitchFamily="34" charset="-122"/>
                <a:cs typeface="Arial" pitchFamily="34" charset="-120"/>
              </a:rPr>
              <a:t>Copropriété Résidence des Tilleuls</a:t>
            </a:r>
            <a:endParaRPr lang="en-US" sz="830" dirty="0"/>
          </a:p>
        </p:txBody>
      </p:sp>
      <p:sp>
        <p:nvSpPr>
          <p:cNvPr id="30" name="Text 26"/>
          <p:cNvSpPr/>
          <p:nvPr/>
        </p:nvSpPr>
        <p:spPr>
          <a:xfrm>
            <a:off x="6773291" y="10390061"/>
            <a:ext cx="274320" cy="146304"/>
          </a:xfrm>
          <a:prstGeom prst="rect">
            <a:avLst/>
          </a:prstGeom>
          <a:noFill/>
          <a:ln/>
        </p:spPr>
        <p:txBody>
          <a:bodyPr wrap="none" lIns="0" tIns="0" rIns="0" bIns="0" rtlCol="0" anchor="ctr"/>
          <a:lstStyle/>
          <a:p>
            <a:pPr algn="r" indent="0" marL="0">
              <a:buNone/>
            </a:pPr>
            <a:r>
              <a:rPr lang="en-US" sz="830" dirty="0">
                <a:solidFill>
                  <a:srgbClr val="777777"/>
                </a:solidFill>
                <a:latin typeface="Arial" pitchFamily="34" charset="0"/>
                <a:ea typeface="Arial" pitchFamily="34" charset="-122"/>
                <a:cs typeface="Arial" pitchFamily="34" charset="-120"/>
              </a:rPr>
              <a:t>19</a:t>
            </a:r>
            <a:endParaRPr lang="en-US" sz="83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3. ÉVOLUTIONS RÉGLEMENTAIRES ET NORMATIVES</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20</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3.1 Décret thermostat et calorifugeage</a:t>
            </a:r>
            <a:endParaRPr lang="en-US" sz="1300" dirty="0"/>
          </a:p>
        </p:txBody>
      </p:sp>
      <p:sp>
        <p:nvSpPr>
          <p:cNvPr id="8" name="Text 5"/>
          <p:cNvSpPr/>
          <p:nvPr/>
        </p:nvSpPr>
        <p:spPr>
          <a:xfrm>
            <a:off x="648000" y="1710000"/>
            <a:ext cx="6264000" cy="240336"/>
          </a:xfrm>
          <a:prstGeom prst="rect">
            <a:avLst/>
          </a:prstGeom>
          <a:noFill/>
          <a:ln/>
        </p:spPr>
        <p:txBody>
          <a:bodyPr wrap="square" lIns="0" tIns="0" rIns="0" bIns="0" rtlCol="0" anchor="t"/>
          <a:lstStyle/>
          <a:p>
            <a:pPr algn="just" indent="0" marL="0">
              <a:buNone/>
            </a:pPr>
            <a:r>
              <a:rPr lang="en-US" sz="1060" b="1" dirty="0">
                <a:solidFill>
                  <a:srgbClr val="1C1C1C"/>
                </a:solidFill>
                <a:latin typeface="Aptos" pitchFamily="34" charset="0"/>
                <a:ea typeface="Aptos" pitchFamily="34" charset="-122"/>
                <a:cs typeface="Aptos" pitchFamily="34" charset="-120"/>
              </a:rPr>
              <a:t>Installation des systèmes de régulation de la température – Chauffage et refroidissement</a:t>
            </a:r>
            <a:endParaRPr lang="en-US" sz="1060" dirty="0"/>
          </a:p>
        </p:txBody>
      </p:sp>
      <p:sp>
        <p:nvSpPr>
          <p:cNvPr id="9" name="Text 6"/>
          <p:cNvSpPr/>
          <p:nvPr/>
        </p:nvSpPr>
        <p:spPr>
          <a:xfrm>
            <a:off x="648000" y="2043936"/>
            <a:ext cx="6264000" cy="386064"/>
          </a:xfrm>
          <a:prstGeom prst="rect">
            <a:avLst/>
          </a:prstGeom>
          <a:noFill/>
          <a:ln/>
        </p:spPr>
        <p:txBody>
          <a:bodyPr wrap="square" lIns="0" tIns="0" rIns="0" bIns="0" rtlCol="0" anchor="t"/>
          <a:lstStyle/>
          <a:p>
            <a:pPr algn="just" indent="0" marL="0">
              <a:buNone/>
            </a:pPr>
            <a:r>
              <a:rPr lang="en-US" sz="970" dirty="0">
                <a:solidFill>
                  <a:srgbClr val="FF2020"/>
                </a:solidFill>
                <a:latin typeface="Aptos" pitchFamily="34" charset="0"/>
                <a:ea typeface="Aptos" pitchFamily="34" charset="-122"/>
                <a:cs typeface="Aptos" pitchFamily="34" charset="-120"/>
              </a:rPr>
              <a:t>Tous les logements possédant une installation de chauffage et/ou de refroidissement sont concernés par cette obligation.</a:t>
            </a:r>
            <a:endParaRPr lang="en-US" sz="970" dirty="0"/>
          </a:p>
        </p:txBody>
      </p:sp>
      <p:sp>
        <p:nvSpPr>
          <p:cNvPr id="10" name="Text 7"/>
          <p:cNvSpPr/>
          <p:nvPr/>
        </p:nvSpPr>
        <p:spPr>
          <a:xfrm>
            <a:off x="648000" y="2505600"/>
            <a:ext cx="6264000" cy="707328"/>
          </a:xfrm>
          <a:prstGeom prst="rect">
            <a:avLst/>
          </a:prstGeom>
          <a:noFill/>
          <a:ln/>
        </p:spPr>
        <p:txBody>
          <a:bodyPr wrap="square" lIns="0" tIns="0" rIns="0" bIns="0" rtlCol="0" anchor="t"/>
          <a:lstStyle/>
          <a:p>
            <a:pPr algn="just" indent="0" marL="0">
              <a:buNone/>
            </a:pPr>
            <a:r>
              <a:rPr lang="en-US" sz="970" dirty="0">
                <a:solidFill>
                  <a:srgbClr val="1C1C1C"/>
                </a:solidFill>
                <a:latin typeface="Aptos" pitchFamily="34" charset="0"/>
                <a:ea typeface="Aptos" pitchFamily="34" charset="-122"/>
                <a:cs typeface="Aptos" pitchFamily="34" charset="-120"/>
              </a:rPr>
              <a:t>Depuis 2018, toute installation d’un système de chauffage en France doit obligatoirement être équipée d’un système de régulation automatique de la température. Cette régulation permet d’adapter la température intérieure en fonction des besoins, de réduire les consommations énergétiques et d’améliorer le confort des occupants.</a:t>
            </a:r>
            <a:endParaRPr lang="en-US" sz="970" dirty="0"/>
          </a:p>
        </p:txBody>
      </p:sp>
      <p:sp>
        <p:nvSpPr>
          <p:cNvPr id="11" name="Text 8"/>
          <p:cNvSpPr/>
          <p:nvPr/>
        </p:nvSpPr>
        <p:spPr>
          <a:xfrm>
            <a:off x="648000" y="3288528"/>
            <a:ext cx="6264000" cy="546696"/>
          </a:xfrm>
          <a:prstGeom prst="rect">
            <a:avLst/>
          </a:prstGeom>
          <a:noFill/>
          <a:ln/>
        </p:spPr>
        <p:txBody>
          <a:bodyPr wrap="square" lIns="0" tIns="0" rIns="0" bIns="0" rtlCol="0" anchor="t"/>
          <a:lstStyle/>
          <a:p>
            <a:pPr algn="just" indent="0" marL="0">
              <a:buNone/>
            </a:pPr>
            <a:r>
              <a:rPr lang="en-US" sz="970" dirty="0">
                <a:solidFill>
                  <a:srgbClr val="1C1C1C"/>
                </a:solidFill>
                <a:latin typeface="Aptos" pitchFamily="34" charset="0"/>
                <a:ea typeface="Aptos" pitchFamily="34" charset="-122"/>
                <a:cs typeface="Aptos" pitchFamily="34" charset="-120"/>
              </a:rPr>
              <a:t>Dans le cadre du plan de sobriété énergétique lancé par le Gouvernement, ces exigences ont été renforcées. Le décret n°2023-444 du 7 juin 2023 impose désormais que tous les bâtiments résidentiels et tertiaires, neufs comme existants, soient équipés, d’ici 2027, d’un dispositif permettant :</a:t>
            </a:r>
            <a:endParaRPr lang="en-US" sz="970" dirty="0"/>
          </a:p>
        </p:txBody>
      </p:sp>
      <p:sp>
        <p:nvSpPr>
          <p:cNvPr id="12" name="Text 9"/>
          <p:cNvSpPr/>
          <p:nvPr/>
        </p:nvSpPr>
        <p:spPr>
          <a:xfrm>
            <a:off x="756000" y="3910824"/>
            <a:ext cx="126000" cy="225432"/>
          </a:xfrm>
          <a:prstGeom prst="rect">
            <a:avLst/>
          </a:prstGeom>
          <a:noFill/>
          <a:ln/>
        </p:spPr>
        <p:txBody>
          <a:bodyPr wrap="square" lIns="0" tIns="0" rIns="0" bIns="0" rtlCol="0" anchor="t"/>
          <a:lstStyle/>
          <a:p>
            <a:pPr indent="0" marL="0">
              <a:buNone/>
            </a:pPr>
            <a:r>
              <a:rPr lang="en-US" sz="970" dirty="0">
                <a:solidFill>
                  <a:srgbClr val="1C1C1C"/>
                </a:solidFill>
                <a:latin typeface="Aptos" pitchFamily="34" charset="0"/>
                <a:ea typeface="Aptos" pitchFamily="34" charset="-122"/>
                <a:cs typeface="Aptos" pitchFamily="34" charset="-120"/>
              </a:rPr>
              <a:t>•</a:t>
            </a:r>
            <a:endParaRPr lang="en-US" sz="970" dirty="0"/>
          </a:p>
        </p:txBody>
      </p:sp>
      <p:sp>
        <p:nvSpPr>
          <p:cNvPr id="13" name="Text 10"/>
          <p:cNvSpPr/>
          <p:nvPr/>
        </p:nvSpPr>
        <p:spPr>
          <a:xfrm>
            <a:off x="900000" y="3910824"/>
            <a:ext cx="5976000" cy="225432"/>
          </a:xfrm>
          <a:prstGeom prst="rect">
            <a:avLst/>
          </a:prstGeom>
          <a:noFill/>
          <a:ln/>
        </p:spPr>
        <p:txBody>
          <a:bodyPr wrap="square" lIns="0" tIns="0" rIns="0" bIns="0" rtlCol="0" anchor="t"/>
          <a:lstStyle/>
          <a:p>
            <a:pPr indent="0" marL="0">
              <a:buNone/>
            </a:pPr>
            <a:r>
              <a:rPr lang="en-US" sz="970" dirty="0">
                <a:solidFill>
                  <a:srgbClr val="1C1C1C"/>
                </a:solidFill>
                <a:latin typeface="Aptos" pitchFamily="34" charset="0"/>
                <a:ea typeface="Aptos" pitchFamily="34" charset="-122"/>
                <a:cs typeface="Aptos" pitchFamily="34" charset="-120"/>
              </a:rPr>
              <a:t>Une régulation par pièce ou par zone de chauffage,</a:t>
            </a:r>
            <a:endParaRPr lang="en-US" sz="970" dirty="0"/>
          </a:p>
        </p:txBody>
      </p:sp>
      <p:sp>
        <p:nvSpPr>
          <p:cNvPr id="14" name="Text 11"/>
          <p:cNvSpPr/>
          <p:nvPr/>
        </p:nvSpPr>
        <p:spPr>
          <a:xfrm>
            <a:off x="756000" y="4183056"/>
            <a:ext cx="126000" cy="225432"/>
          </a:xfrm>
          <a:prstGeom prst="rect">
            <a:avLst/>
          </a:prstGeom>
          <a:noFill/>
          <a:ln/>
        </p:spPr>
        <p:txBody>
          <a:bodyPr wrap="square" lIns="0" tIns="0" rIns="0" bIns="0" rtlCol="0" anchor="t"/>
          <a:lstStyle/>
          <a:p>
            <a:pPr indent="0" marL="0">
              <a:buNone/>
            </a:pPr>
            <a:r>
              <a:rPr lang="en-US" sz="970" dirty="0">
                <a:solidFill>
                  <a:srgbClr val="1C1C1C"/>
                </a:solidFill>
                <a:latin typeface="Aptos" pitchFamily="34" charset="0"/>
                <a:ea typeface="Aptos" pitchFamily="34" charset="-122"/>
                <a:cs typeface="Aptos" pitchFamily="34" charset="-120"/>
              </a:rPr>
              <a:t>•</a:t>
            </a:r>
            <a:endParaRPr lang="en-US" sz="970" dirty="0"/>
          </a:p>
        </p:txBody>
      </p:sp>
      <p:sp>
        <p:nvSpPr>
          <p:cNvPr id="15" name="Text 12"/>
          <p:cNvSpPr/>
          <p:nvPr/>
        </p:nvSpPr>
        <p:spPr>
          <a:xfrm>
            <a:off x="900000" y="4183056"/>
            <a:ext cx="5976000" cy="225432"/>
          </a:xfrm>
          <a:prstGeom prst="rect">
            <a:avLst/>
          </a:prstGeom>
          <a:noFill/>
          <a:ln/>
        </p:spPr>
        <p:txBody>
          <a:bodyPr wrap="square" lIns="0" tIns="0" rIns="0" bIns="0" rtlCol="0" anchor="t"/>
          <a:lstStyle/>
          <a:p>
            <a:pPr indent="0" marL="0">
              <a:buNone/>
            </a:pPr>
            <a:r>
              <a:rPr lang="en-US" sz="970" dirty="0">
                <a:solidFill>
                  <a:srgbClr val="1C1C1C"/>
                </a:solidFill>
                <a:latin typeface="Aptos" pitchFamily="34" charset="0"/>
                <a:ea typeface="Aptos" pitchFamily="34" charset="-122"/>
                <a:cs typeface="Aptos" pitchFamily="34" charset="-120"/>
              </a:rPr>
              <a:t>Avec un pas de temps horaire (programmation et commande au minimum à l’heure).</a:t>
            </a:r>
            <a:endParaRPr lang="en-US" sz="970" dirty="0"/>
          </a:p>
        </p:txBody>
      </p:sp>
      <p:sp>
        <p:nvSpPr>
          <p:cNvPr id="16" name="Text 13"/>
          <p:cNvSpPr/>
          <p:nvPr/>
        </p:nvSpPr>
        <p:spPr>
          <a:xfrm>
            <a:off x="648000" y="4534488"/>
            <a:ext cx="6264000" cy="546696"/>
          </a:xfrm>
          <a:prstGeom prst="rect">
            <a:avLst/>
          </a:prstGeom>
          <a:noFill/>
          <a:ln/>
        </p:spPr>
        <p:txBody>
          <a:bodyPr wrap="square" lIns="0" tIns="0" rIns="0" bIns="0" rtlCol="0" anchor="t"/>
          <a:lstStyle/>
          <a:p>
            <a:pPr algn="just" indent="0" marL="0">
              <a:buNone/>
            </a:pPr>
            <a:r>
              <a:rPr lang="en-US" sz="970" u="sng" dirty="0">
                <a:solidFill>
                  <a:srgbClr val="1C1C1C"/>
                </a:solidFill>
                <a:latin typeface="Aptos" pitchFamily="34" charset="0"/>
                <a:ea typeface="Aptos" pitchFamily="34" charset="-122"/>
                <a:cs typeface="Aptos" pitchFamily="34" charset="-120"/>
              </a:rPr>
              <a:t>Aides disponibles :</a:t>
            </a:r>
            <a:pPr algn="just" indent="0" marL="0">
              <a:buNone/>
            </a:pPr>
            <a:r>
              <a:rPr lang="en-US" sz="970" dirty="0">
                <a:solidFill>
                  <a:srgbClr val="1C1C1C"/>
                </a:solidFill>
                <a:latin typeface="Aptos" pitchFamily="34" charset="0"/>
                <a:ea typeface="Aptos" pitchFamily="34" charset="-122"/>
                <a:cs typeface="Aptos" pitchFamily="34" charset="-120"/>
              </a:rPr>
              <a:t> Avec les primes des certificats d’économies d’énergie (CEE), l’Etat offre un accompagnement jusqu’à 60 euros par ménage pour l’installation par un professionnel d’un système de régulation de la température et de robinets thermostatiques.</a:t>
            </a:r>
            <a:endParaRPr lang="en-US" sz="970" dirty="0"/>
          </a:p>
        </p:txBody>
      </p:sp>
      <p:sp>
        <p:nvSpPr>
          <p:cNvPr id="17" name="Text 14"/>
          <p:cNvSpPr/>
          <p:nvPr/>
        </p:nvSpPr>
        <p:spPr>
          <a:xfrm>
            <a:off x="648000" y="5153184"/>
            <a:ext cx="6264000" cy="237024"/>
          </a:xfrm>
          <a:prstGeom prst="rect">
            <a:avLst/>
          </a:prstGeom>
          <a:noFill/>
          <a:ln/>
        </p:spPr>
        <p:txBody>
          <a:bodyPr wrap="square" lIns="0" tIns="0" rIns="0" bIns="0" rtlCol="0" anchor="t"/>
          <a:lstStyle/>
          <a:p>
            <a:pPr algn="just" indent="0" marL="0">
              <a:buNone/>
            </a:pPr>
            <a:r>
              <a:rPr lang="en-US" sz="1040" b="1" dirty="0">
                <a:solidFill>
                  <a:srgbClr val="1C1C1C"/>
                </a:solidFill>
                <a:latin typeface="Aptos" pitchFamily="34" charset="0"/>
                <a:ea typeface="Aptos" pitchFamily="34" charset="-122"/>
                <a:cs typeface="Aptos" pitchFamily="34" charset="-120"/>
              </a:rPr>
              <a:t>Calorifugeage des réseaux de distribution de chaleur et de froid</a:t>
            </a:r>
            <a:endParaRPr lang="en-US" sz="1040" dirty="0"/>
          </a:p>
        </p:txBody>
      </p:sp>
      <p:sp>
        <p:nvSpPr>
          <p:cNvPr id="18" name="Text 15"/>
          <p:cNvSpPr/>
          <p:nvPr/>
        </p:nvSpPr>
        <p:spPr>
          <a:xfrm>
            <a:off x="648000" y="5465808"/>
            <a:ext cx="6264000" cy="386064"/>
          </a:xfrm>
          <a:prstGeom prst="rect">
            <a:avLst/>
          </a:prstGeom>
          <a:noFill/>
          <a:ln/>
        </p:spPr>
        <p:txBody>
          <a:bodyPr wrap="square" lIns="0" tIns="0" rIns="0" bIns="0" rtlCol="0" anchor="t"/>
          <a:lstStyle/>
          <a:p>
            <a:pPr algn="just" indent="0" marL="0">
              <a:buNone/>
            </a:pPr>
            <a:r>
              <a:rPr lang="en-US" sz="970" dirty="0">
                <a:solidFill>
                  <a:srgbClr val="FF2020"/>
                </a:solidFill>
                <a:latin typeface="Aptos" pitchFamily="34" charset="0"/>
                <a:ea typeface="Aptos" pitchFamily="34" charset="-122"/>
                <a:cs typeface="Aptos" pitchFamily="34" charset="-120"/>
              </a:rPr>
              <a:t>Tous les logements présents en bâtiments d’habitation collectif et possédant une installation de chauffage et/ou de refroidissement collective sont concernés par cette obligation.</a:t>
            </a:r>
            <a:endParaRPr lang="en-US" sz="970" dirty="0"/>
          </a:p>
        </p:txBody>
      </p:sp>
      <p:sp>
        <p:nvSpPr>
          <p:cNvPr id="19" name="Text 16"/>
          <p:cNvSpPr/>
          <p:nvPr/>
        </p:nvSpPr>
        <p:spPr>
          <a:xfrm>
            <a:off x="648000" y="5913072"/>
            <a:ext cx="6264000" cy="546696"/>
          </a:xfrm>
          <a:prstGeom prst="rect">
            <a:avLst/>
          </a:prstGeom>
          <a:noFill/>
          <a:ln/>
        </p:spPr>
        <p:txBody>
          <a:bodyPr wrap="square" lIns="0" tIns="0" rIns="0" bIns="0" rtlCol="0" anchor="t"/>
          <a:lstStyle/>
          <a:p>
            <a:pPr algn="just" indent="0" marL="0">
              <a:buNone/>
            </a:pPr>
            <a:r>
              <a:rPr lang="en-US" sz="970" dirty="0">
                <a:solidFill>
                  <a:srgbClr val="1C1C1C"/>
                </a:solidFill>
                <a:latin typeface="Aptos" pitchFamily="34" charset="0"/>
                <a:ea typeface="Aptos" pitchFamily="34" charset="-122"/>
                <a:cs typeface="Aptos" pitchFamily="34" charset="-120"/>
              </a:rPr>
              <a:t>Les réseaux de chauffage et de production d’eau chaude sanitaire peuvent générer des pertes thermiques importantes, notamment lorsqu’ils traversent des parties non chauffées : caves, garages, locaux techniques, combles, etc.</a:t>
            </a:r>
            <a:endParaRPr lang="en-US" sz="970" dirty="0"/>
          </a:p>
        </p:txBody>
      </p:sp>
      <p:sp>
        <p:nvSpPr>
          <p:cNvPr id="20" name="Text 17"/>
          <p:cNvSpPr/>
          <p:nvPr/>
        </p:nvSpPr>
        <p:spPr>
          <a:xfrm>
            <a:off x="648000" y="6520968"/>
            <a:ext cx="6264000" cy="546696"/>
          </a:xfrm>
          <a:prstGeom prst="rect">
            <a:avLst/>
          </a:prstGeom>
          <a:noFill/>
          <a:ln/>
        </p:spPr>
        <p:txBody>
          <a:bodyPr wrap="square" lIns="0" tIns="0" rIns="0" bIns="0" rtlCol="0" anchor="t"/>
          <a:lstStyle/>
          <a:p>
            <a:pPr algn="just" indent="0" marL="0">
              <a:buNone/>
            </a:pPr>
            <a:r>
              <a:rPr lang="en-US" sz="970" dirty="0">
                <a:solidFill>
                  <a:srgbClr val="1C1C1C"/>
                </a:solidFill>
                <a:latin typeface="Aptos" pitchFamily="34" charset="0"/>
                <a:ea typeface="Aptos" pitchFamily="34" charset="-122"/>
                <a:cs typeface="Aptos" pitchFamily="34" charset="-120"/>
              </a:rPr>
              <a:t>Lors du transport, l’eau chaude peut perdre jusqu’à 20 % de son énergie en raison de la distance parcourue et du manque d’isolation des tuyauteries. Dans le cadre du plan de sobriété énergétique, cette obligation a été étendue.</a:t>
            </a:r>
            <a:endParaRPr lang="en-US" sz="970" dirty="0"/>
          </a:p>
        </p:txBody>
      </p:sp>
      <p:sp>
        <p:nvSpPr>
          <p:cNvPr id="21" name="Text 18"/>
          <p:cNvSpPr/>
          <p:nvPr/>
        </p:nvSpPr>
        <p:spPr>
          <a:xfrm>
            <a:off x="648000" y="7128864"/>
            <a:ext cx="6264000" cy="867960"/>
          </a:xfrm>
          <a:prstGeom prst="rect">
            <a:avLst/>
          </a:prstGeom>
          <a:noFill/>
          <a:ln/>
        </p:spPr>
        <p:txBody>
          <a:bodyPr wrap="square" lIns="0" tIns="0" rIns="0" bIns="0" rtlCol="0" anchor="t"/>
          <a:lstStyle/>
          <a:p>
            <a:pPr algn="just" indent="0" marL="0">
              <a:buNone/>
            </a:pPr>
            <a:r>
              <a:rPr lang="en-US" sz="970" dirty="0">
                <a:solidFill>
                  <a:srgbClr val="1C1C1C"/>
                </a:solidFill>
                <a:latin typeface="Aptos" pitchFamily="34" charset="0"/>
                <a:ea typeface="Aptos" pitchFamily="34" charset="-122"/>
                <a:cs typeface="Aptos" pitchFamily="34" charset="-120"/>
              </a:rPr>
              <a:t>Le décret n°2023-444 du 7 juin 2023 prévoit que, d’ici 2027, dans tous les bâtiments résidentiels collectifs et tertiaires : les réseaux de distribution de chaleur (chauffage et eau chaude sanitaire) situés hors du volume chauffé, ainsi que les réseaux de distribution de froid situés hors du volume refroidi, doivent être isolés afin de limiter les pertes d’énergie et d’améliorer la performance globale du bâtiment.</a:t>
            </a:r>
            <a:endParaRPr lang="en-US" sz="970" dirty="0"/>
          </a:p>
        </p:txBody>
      </p:sp>
      <p:sp>
        <p:nvSpPr>
          <p:cNvPr id="22" name="Text 19"/>
          <p:cNvSpPr/>
          <p:nvPr/>
        </p:nvSpPr>
        <p:spPr>
          <a:xfrm>
            <a:off x="648000" y="8058024"/>
            <a:ext cx="6264000" cy="386064"/>
          </a:xfrm>
          <a:prstGeom prst="rect">
            <a:avLst/>
          </a:prstGeom>
          <a:noFill/>
          <a:ln/>
        </p:spPr>
        <p:txBody>
          <a:bodyPr wrap="square" lIns="0" tIns="0" rIns="0" bIns="0" rtlCol="0" anchor="t"/>
          <a:lstStyle/>
          <a:p>
            <a:pPr algn="just" indent="0" marL="0">
              <a:buNone/>
            </a:pPr>
            <a:r>
              <a:rPr lang="en-US" sz="970" u="sng" dirty="0">
                <a:solidFill>
                  <a:srgbClr val="1C1C1C"/>
                </a:solidFill>
                <a:latin typeface="Aptos" pitchFamily="34" charset="0"/>
                <a:ea typeface="Aptos" pitchFamily="34" charset="-122"/>
                <a:cs typeface="Aptos" pitchFamily="34" charset="-120"/>
              </a:rPr>
              <a:t>Aides disponibles :</a:t>
            </a:r>
            <a:pPr algn="just" indent="0" marL="0">
              <a:buNone/>
            </a:pPr>
            <a:r>
              <a:rPr lang="en-US" sz="970" dirty="0">
                <a:solidFill>
                  <a:srgbClr val="1C1C1C"/>
                </a:solidFill>
                <a:latin typeface="Aptos" pitchFamily="34" charset="0"/>
                <a:ea typeface="Aptos" pitchFamily="34" charset="-122"/>
                <a:cs typeface="Aptos" pitchFamily="34" charset="-120"/>
              </a:rPr>
              <a:t> La prime relative à l’isolation des points singuliers d’un réseau permet également une subvention de 60 euros par points singuliers par un professionnel.</a:t>
            </a:r>
            <a:endParaRPr lang="en-US" sz="97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3. ÉVOLUTIONS RÉGLEMENTAIRES ET NORMATIVES</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21</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3.2 Evolution des normes de contrôle d’accès en copropriété</a:t>
            </a:r>
            <a:endParaRPr lang="en-US" sz="1300" dirty="0"/>
          </a:p>
        </p:txBody>
      </p:sp>
      <p:sp>
        <p:nvSpPr>
          <p:cNvPr id="8" name="Text 5"/>
          <p:cNvSpPr/>
          <p:nvPr/>
        </p:nvSpPr>
        <p:spPr>
          <a:xfrm>
            <a:off x="648000" y="1710000"/>
            <a:ext cx="6264000" cy="240336"/>
          </a:xfrm>
          <a:prstGeom prst="rect">
            <a:avLst/>
          </a:prstGeom>
          <a:noFill/>
          <a:ln/>
        </p:spPr>
        <p:txBody>
          <a:bodyPr wrap="square" lIns="0" tIns="0" rIns="0" bIns="0" rtlCol="0" anchor="t"/>
          <a:lstStyle/>
          <a:p>
            <a:pPr algn="just" indent="0" marL="0">
              <a:buNone/>
            </a:pPr>
            <a:r>
              <a:rPr lang="en-US" sz="1060" b="1" dirty="0">
                <a:solidFill>
                  <a:srgbClr val="1C1C1C"/>
                </a:solidFill>
                <a:latin typeface="Aptos" pitchFamily="34" charset="0"/>
                <a:ea typeface="Aptos" pitchFamily="34" charset="-122"/>
                <a:cs typeface="Aptos" pitchFamily="34" charset="-120"/>
              </a:rPr>
              <a:t>Passage au système VIGIK+ échéance au 1 er janvier 2030</a:t>
            </a:r>
            <a:endParaRPr lang="en-US" sz="1060" dirty="0"/>
          </a:p>
        </p:txBody>
      </p:sp>
      <p:sp>
        <p:nvSpPr>
          <p:cNvPr id="9" name="Text 6"/>
          <p:cNvSpPr/>
          <p:nvPr/>
        </p:nvSpPr>
        <p:spPr>
          <a:xfrm>
            <a:off x="648000" y="2058336"/>
            <a:ext cx="6264000" cy="233712"/>
          </a:xfrm>
          <a:prstGeom prst="rect">
            <a:avLst/>
          </a:prstGeom>
          <a:noFill/>
          <a:ln/>
        </p:spPr>
        <p:txBody>
          <a:bodyPr wrap="square" lIns="0" tIns="0" rIns="0" bIns="0" rtlCol="0" anchor="t"/>
          <a:lstStyle/>
          <a:p>
            <a:pPr algn="just" indent="0" marL="0">
              <a:buNone/>
            </a:pPr>
            <a:r>
              <a:rPr lang="en-US" sz="1020" b="1" dirty="0">
                <a:solidFill>
                  <a:srgbClr val="00B55A"/>
                </a:solidFill>
                <a:latin typeface="Aptos" pitchFamily="34" charset="0"/>
                <a:ea typeface="Aptos" pitchFamily="34" charset="-122"/>
                <a:cs typeface="Aptos" pitchFamily="34" charset="-120"/>
              </a:rPr>
              <a:t>Contexte</a:t>
            </a:r>
            <a:endParaRPr lang="en-US" sz="1020" dirty="0"/>
          </a:p>
        </p:txBody>
      </p:sp>
      <p:sp>
        <p:nvSpPr>
          <p:cNvPr id="10" name="Text 7"/>
          <p:cNvSpPr/>
          <p:nvPr/>
        </p:nvSpPr>
        <p:spPr>
          <a:xfrm>
            <a:off x="648000" y="2306448"/>
            <a:ext cx="6264000" cy="5616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système VIGIK, actuellement utilisé pour permettre l’accès des prestataires autorisés aux parties communes des immeubles collectifs, tels que La Poste, les services de secours ou les entreprises de maintenance, fera l’objet d’un remplacement progressif par le dispositif VIGIK+.</a:t>
            </a:r>
            <a:endParaRPr lang="en-US" sz="1000" dirty="0"/>
          </a:p>
        </p:txBody>
      </p:sp>
      <p:sp>
        <p:nvSpPr>
          <p:cNvPr id="11" name="Text 8"/>
          <p:cNvSpPr/>
          <p:nvPr/>
        </p:nvSpPr>
        <p:spPr>
          <a:xfrm>
            <a:off x="648000" y="2976048"/>
            <a:ext cx="6264000" cy="396000"/>
          </a:xfrm>
          <a:prstGeom prst="rect">
            <a:avLst/>
          </a:prstGeom>
          <a:noFill/>
          <a:ln/>
        </p:spPr>
        <p:txBody>
          <a:bodyPr wrap="square" lIns="0" tIns="0" rIns="0" bIns="0" rtlCol="0" anchor="t"/>
          <a:lstStyle/>
          <a:p>
            <a:pPr algn="just" indent="0" marL="0">
              <a:buNone/>
            </a:pPr>
            <a:r>
              <a:rPr lang="en-US" sz="1000" dirty="0">
                <a:solidFill>
                  <a:srgbClr val="FF2020"/>
                </a:solidFill>
                <a:latin typeface="Aptos" pitchFamily="34" charset="0"/>
                <a:ea typeface="Aptos" pitchFamily="34" charset="-122"/>
                <a:cs typeface="Aptos" pitchFamily="34" charset="-120"/>
              </a:rPr>
              <a:t>À compter du 1 er janvier 2030 le VIGIK classique ne constituera plus le standard de référence en matière de contrôle d’accès pour les copropriétés.</a:t>
            </a:r>
            <a:endParaRPr lang="en-US" sz="1000" dirty="0"/>
          </a:p>
        </p:txBody>
      </p:sp>
      <p:sp>
        <p:nvSpPr>
          <p:cNvPr id="12" name="Text 9"/>
          <p:cNvSpPr/>
          <p:nvPr/>
        </p:nvSpPr>
        <p:spPr>
          <a:xfrm>
            <a:off x="648000" y="3480048"/>
            <a:ext cx="6264000" cy="233712"/>
          </a:xfrm>
          <a:prstGeom prst="rect">
            <a:avLst/>
          </a:prstGeom>
          <a:noFill/>
          <a:ln/>
        </p:spPr>
        <p:txBody>
          <a:bodyPr wrap="square" lIns="0" tIns="0" rIns="0" bIns="0" rtlCol="0" anchor="t"/>
          <a:lstStyle/>
          <a:p>
            <a:pPr algn="just" indent="0" marL="0">
              <a:buNone/>
            </a:pPr>
            <a:r>
              <a:rPr lang="en-US" sz="1020" b="1" dirty="0">
                <a:solidFill>
                  <a:srgbClr val="00B55A"/>
                </a:solidFill>
                <a:latin typeface="Aptos" pitchFamily="34" charset="0"/>
                <a:ea typeface="Aptos" pitchFamily="34" charset="-122"/>
                <a:cs typeface="Aptos" pitchFamily="34" charset="-120"/>
              </a:rPr>
              <a:t>Qu’est ce que le VIGIK+</a:t>
            </a:r>
            <a:endParaRPr lang="en-US" sz="1020" dirty="0"/>
          </a:p>
        </p:txBody>
      </p:sp>
      <p:sp>
        <p:nvSpPr>
          <p:cNvPr id="13" name="Text 10"/>
          <p:cNvSpPr/>
          <p:nvPr/>
        </p:nvSpPr>
        <p:spPr>
          <a:xfrm>
            <a:off x="648000" y="3728160"/>
            <a:ext cx="6264000" cy="8928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VIGIK+ est une évolution technologique du système existant visant à renforcer la sécurité et la maîtrise des accès aux parties communes des immeubles. Ce dispositif est exclusivement destiné aux prestataires autorisés et ne concerne pas les moyens d’accès des résidents Il répond à la nécessité de moderniser un système devenu vulnérable face aux enjeux actuels de sécurité et de gestion des accès.</a:t>
            </a:r>
            <a:endParaRPr lang="en-US" sz="1000" dirty="0"/>
          </a:p>
        </p:txBody>
      </p:sp>
      <p:sp>
        <p:nvSpPr>
          <p:cNvPr id="14" name="Text 11"/>
          <p:cNvSpPr/>
          <p:nvPr/>
        </p:nvSpPr>
        <p:spPr>
          <a:xfrm>
            <a:off x="648000" y="4728960"/>
            <a:ext cx="6264000" cy="233712"/>
          </a:xfrm>
          <a:prstGeom prst="rect">
            <a:avLst/>
          </a:prstGeom>
          <a:noFill/>
          <a:ln/>
        </p:spPr>
        <p:txBody>
          <a:bodyPr wrap="square" lIns="0" tIns="0" rIns="0" bIns="0" rtlCol="0" anchor="t"/>
          <a:lstStyle/>
          <a:p>
            <a:pPr algn="just" indent="0" marL="0">
              <a:buNone/>
            </a:pPr>
            <a:r>
              <a:rPr lang="en-US" sz="1020" b="1" dirty="0">
                <a:solidFill>
                  <a:srgbClr val="00B55A"/>
                </a:solidFill>
                <a:latin typeface="Aptos" pitchFamily="34" charset="0"/>
                <a:ea typeface="Aptos" pitchFamily="34" charset="-122"/>
                <a:cs typeface="Aptos" pitchFamily="34" charset="-120"/>
              </a:rPr>
              <a:t>Principales évolutions</a:t>
            </a:r>
            <a:endParaRPr lang="en-US" sz="1020" dirty="0"/>
          </a:p>
        </p:txBody>
      </p:sp>
      <p:sp>
        <p:nvSpPr>
          <p:cNvPr id="15" name="Text 12"/>
          <p:cNvSpPr/>
          <p:nvPr/>
        </p:nvSpPr>
        <p:spPr>
          <a:xfrm>
            <a:off x="648000" y="4977072"/>
            <a:ext cx="6264000" cy="10584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passage au VIGIK+ repose sur l’utilisation de moyens d’authentification plus sécurisés, intégrant des technologies de cryptage avancées afin de limiter les risques de copie ou d’usurpation de badges. Il permet également une gestion centralisée des droits d’accès, offrant au gestionnaire la possibilité de définir des autorisations spécifiques selon les prestataires, les plages horaires et les durées de validité. Les accès ne sont ainsi plus permanents mais strictement encadrés dans le temps et selon les usages.</a:t>
            </a:r>
            <a:endParaRPr lang="en-US" sz="1000" dirty="0"/>
          </a:p>
        </p:txBody>
      </p:sp>
      <p:sp>
        <p:nvSpPr>
          <p:cNvPr id="16" name="Text 13"/>
          <p:cNvSpPr/>
          <p:nvPr/>
        </p:nvSpPr>
        <p:spPr>
          <a:xfrm>
            <a:off x="648000" y="6143472"/>
            <a:ext cx="6264000" cy="233712"/>
          </a:xfrm>
          <a:prstGeom prst="rect">
            <a:avLst/>
          </a:prstGeom>
          <a:noFill/>
          <a:ln/>
        </p:spPr>
        <p:txBody>
          <a:bodyPr wrap="square" lIns="0" tIns="0" rIns="0" bIns="0" rtlCol="0" anchor="t"/>
          <a:lstStyle/>
          <a:p>
            <a:pPr algn="just" indent="0" marL="0">
              <a:buNone/>
            </a:pPr>
            <a:r>
              <a:rPr lang="en-US" sz="1020" b="1" dirty="0">
                <a:solidFill>
                  <a:srgbClr val="00B55A"/>
                </a:solidFill>
                <a:latin typeface="Aptos" pitchFamily="34" charset="0"/>
                <a:ea typeface="Aptos" pitchFamily="34" charset="-122"/>
                <a:cs typeface="Aptos" pitchFamily="34" charset="-120"/>
              </a:rPr>
              <a:t>Impacts pour les copropriétés</a:t>
            </a:r>
            <a:endParaRPr lang="en-US" sz="1020" dirty="0"/>
          </a:p>
        </p:txBody>
      </p:sp>
      <p:sp>
        <p:nvSpPr>
          <p:cNvPr id="17" name="Text 14"/>
          <p:cNvSpPr/>
          <p:nvPr/>
        </p:nvSpPr>
        <p:spPr>
          <a:xfrm>
            <a:off x="648000" y="6391584"/>
            <a:ext cx="6264000" cy="8928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Dans la perspective de l’échéance de 2030 les copropriétés devront engager une mise en conformité de leurs équipements de contrôle d’accès. Cela implique notamment le remplacement ou la mise à niveau des platines VIGIK non compatibles avec le standard VIGIK+. Cette évolution nécessitera également une adaptation de la gestion des accès des prestataires, une information claire des copropriétaires ainsi qu’une anticipation des coûts.</a:t>
            </a:r>
            <a:endParaRPr lang="en-US" sz="1000" dirty="0"/>
          </a:p>
        </p:txBody>
      </p:sp>
      <p:sp>
        <p:nvSpPr>
          <p:cNvPr id="18" name="Text 15"/>
          <p:cNvSpPr/>
          <p:nvPr/>
        </p:nvSpPr>
        <p:spPr>
          <a:xfrm>
            <a:off x="648000" y="7392384"/>
            <a:ext cx="6264000" cy="233712"/>
          </a:xfrm>
          <a:prstGeom prst="rect">
            <a:avLst/>
          </a:prstGeom>
          <a:noFill/>
          <a:ln/>
        </p:spPr>
        <p:txBody>
          <a:bodyPr wrap="square" lIns="0" tIns="0" rIns="0" bIns="0" rtlCol="0" anchor="t"/>
          <a:lstStyle/>
          <a:p>
            <a:pPr algn="just" indent="0" marL="0">
              <a:buNone/>
            </a:pPr>
            <a:r>
              <a:rPr lang="en-US" sz="1020" b="1" dirty="0">
                <a:solidFill>
                  <a:srgbClr val="00B55A"/>
                </a:solidFill>
                <a:latin typeface="Aptos" pitchFamily="34" charset="0"/>
                <a:ea typeface="Aptos" pitchFamily="34" charset="-122"/>
                <a:cs typeface="Aptos" pitchFamily="34" charset="-120"/>
              </a:rPr>
              <a:t>Pourquoi anticiper ?</a:t>
            </a:r>
            <a:endParaRPr lang="en-US" sz="1020" dirty="0"/>
          </a:p>
        </p:txBody>
      </p:sp>
      <p:sp>
        <p:nvSpPr>
          <p:cNvPr id="19" name="Text 16"/>
          <p:cNvSpPr/>
          <p:nvPr/>
        </p:nvSpPr>
        <p:spPr>
          <a:xfrm>
            <a:off x="648000" y="7640496"/>
            <a:ext cx="6264000" cy="8928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la transition vers le VIGIK+ permet d’éviter une mise en conformité réalisée dans l’urgence à l’approche de 2030 de garantir la continuité des services essentiels, et de renforcer dès à présent la sécurité des accès aux parties communes. Cette anticipation offre également la possibilité de lisser les investissements dans le temps et de coordonner cette évolution avec d’autres travaux ou opérations de modernisation de l’immeuble.</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3. ÉVOLUTIONS RÉGLEMENTAIRES ET NORMATIVES</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22</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3.3 Extinction des réseaux 2G et 3G</a:t>
            </a:r>
            <a:endParaRPr lang="en-US" sz="1300" dirty="0"/>
          </a:p>
        </p:txBody>
      </p:sp>
      <p:sp>
        <p:nvSpPr>
          <p:cNvPr id="8" name="Text 5"/>
          <p:cNvSpPr/>
          <p:nvPr/>
        </p:nvSpPr>
        <p:spPr>
          <a:xfrm>
            <a:off x="648000" y="1710000"/>
            <a:ext cx="6264000" cy="240336"/>
          </a:xfrm>
          <a:prstGeom prst="rect">
            <a:avLst/>
          </a:prstGeom>
          <a:noFill/>
          <a:ln/>
        </p:spPr>
        <p:txBody>
          <a:bodyPr wrap="square" lIns="0" tIns="0" rIns="0" bIns="0" rtlCol="0" anchor="t"/>
          <a:lstStyle/>
          <a:p>
            <a:pPr algn="just" indent="0" marL="0">
              <a:buNone/>
            </a:pPr>
            <a:r>
              <a:rPr lang="en-US" sz="1060" b="1" dirty="0">
                <a:solidFill>
                  <a:srgbClr val="1C1C1C"/>
                </a:solidFill>
                <a:latin typeface="Aptos" pitchFamily="34" charset="0"/>
                <a:ea typeface="Aptos" pitchFamily="34" charset="-122"/>
                <a:cs typeface="Aptos" pitchFamily="34" charset="-120"/>
              </a:rPr>
              <a:t>Mise à niveau des systèmes de communication des ascenseurs</a:t>
            </a:r>
            <a:endParaRPr lang="en-US" sz="1060" dirty="0"/>
          </a:p>
        </p:txBody>
      </p:sp>
      <p:sp>
        <p:nvSpPr>
          <p:cNvPr id="9" name="Text 6"/>
          <p:cNvSpPr/>
          <p:nvPr/>
        </p:nvSpPr>
        <p:spPr>
          <a:xfrm>
            <a:off x="648000" y="2043936"/>
            <a:ext cx="6264000" cy="230400"/>
          </a:xfrm>
          <a:prstGeom prst="rect">
            <a:avLst/>
          </a:prstGeom>
          <a:noFill/>
          <a:ln/>
        </p:spPr>
        <p:txBody>
          <a:bodyPr wrap="square" lIns="0" tIns="0" rIns="0" bIns="0" rtlCol="0" anchor="t"/>
          <a:lstStyle/>
          <a:p>
            <a:pPr algn="just" indent="0" marL="0">
              <a:buNone/>
            </a:pPr>
            <a:r>
              <a:rPr lang="en-US" sz="1000" b="1" dirty="0">
                <a:solidFill>
                  <a:srgbClr val="00B050"/>
                </a:solidFill>
                <a:latin typeface="Aptos" pitchFamily="34" charset="0"/>
                <a:ea typeface="Aptos" pitchFamily="34" charset="-122"/>
                <a:cs typeface="Aptos" pitchFamily="34" charset="-120"/>
              </a:rPr>
              <a:t>Contexte</a:t>
            </a:r>
            <a:endParaRPr lang="en-US" sz="1000" dirty="0"/>
          </a:p>
        </p:txBody>
      </p:sp>
      <p:sp>
        <p:nvSpPr>
          <p:cNvPr id="10" name="Text 7"/>
          <p:cNvSpPr/>
          <p:nvPr/>
        </p:nvSpPr>
        <p:spPr>
          <a:xfrm>
            <a:off x="648000" y="2313936"/>
            <a:ext cx="6264000" cy="1131264"/>
          </a:xfrm>
          <a:prstGeom prst="rect">
            <a:avLst/>
          </a:prstGeom>
          <a:noFill/>
          <a:ln/>
        </p:spPr>
        <p:txBody>
          <a:bodyPr wrap="square" lIns="0" tIns="0" rIns="0" bIns="0" rtlCol="0" anchor="t"/>
          <a:lstStyle/>
          <a:p>
            <a:pPr algn="just" indent="0" marL="0">
              <a:buNone/>
            </a:pPr>
            <a:r>
              <a:rPr lang="en-US" sz="920" dirty="0">
                <a:solidFill>
                  <a:srgbClr val="1C1C1C"/>
                </a:solidFill>
                <a:latin typeface="Aptos" pitchFamily="34" charset="0"/>
                <a:ea typeface="Aptos" pitchFamily="34" charset="-122"/>
                <a:cs typeface="Aptos" pitchFamily="34" charset="-120"/>
              </a:rPr>
              <a:t>Les opérateurs de télécommunications ont engagé l’arrêt progressif des réseaux mobiles 2G et 3G au profit des technologies 4G et 5G. Cette extinction progressive des anciens réseaux interviendra entre 2026 et 2029 selon les opérateurs. Cette évolution impacte directement les ascenseurs équipés de systèmes de téléalarme ou de communication utilisant encore les réseaux 2G et 3G. La réglementation impose en effet à chaque ascenseur de disposer d’un dispositif d’alerte et de communication permanent avec un service d’intervention. En cas de défaillance de ce système, l’ascenseur peut être mis à l’arrêt pour des raisons de sécurité.</a:t>
            </a:r>
            <a:endParaRPr lang="en-US" sz="920" dirty="0"/>
          </a:p>
        </p:txBody>
      </p:sp>
      <p:sp>
        <p:nvSpPr>
          <p:cNvPr id="11" name="Text 8"/>
          <p:cNvSpPr/>
          <p:nvPr/>
        </p:nvSpPr>
        <p:spPr>
          <a:xfrm>
            <a:off x="648000" y="3470400"/>
            <a:ext cx="6264000" cy="369504"/>
          </a:xfrm>
          <a:prstGeom prst="rect">
            <a:avLst/>
          </a:prstGeom>
          <a:noFill/>
          <a:ln/>
        </p:spPr>
        <p:txBody>
          <a:bodyPr wrap="square" lIns="0" tIns="0" rIns="0" bIns="0" rtlCol="0" anchor="t"/>
          <a:lstStyle/>
          <a:p>
            <a:pPr algn="just" indent="0" marL="0">
              <a:buNone/>
            </a:pPr>
            <a:r>
              <a:rPr lang="en-US" sz="920" dirty="0">
                <a:solidFill>
                  <a:srgbClr val="FF0000"/>
                </a:solidFill>
                <a:latin typeface="Aptos" pitchFamily="34" charset="0"/>
                <a:ea typeface="Aptos" pitchFamily="34" charset="-122"/>
                <a:cs typeface="Aptos" pitchFamily="34" charset="-120"/>
              </a:rPr>
              <a:t>À compter du 31 mars 2026, le démarrage de l’extinction des réseaux 2G pourra rendre certains systèmes de téléalarme d’ascenseurs inopérants.</a:t>
            </a:r>
            <a:endParaRPr lang="en-US" sz="920" dirty="0"/>
          </a:p>
        </p:txBody>
      </p:sp>
      <p:sp>
        <p:nvSpPr>
          <p:cNvPr id="12" name="Text 9"/>
          <p:cNvSpPr/>
          <p:nvPr/>
        </p:nvSpPr>
        <p:spPr>
          <a:xfrm>
            <a:off x="648000" y="3879504"/>
            <a:ext cx="6264000" cy="230400"/>
          </a:xfrm>
          <a:prstGeom prst="rect">
            <a:avLst/>
          </a:prstGeom>
          <a:noFill/>
          <a:ln/>
        </p:spPr>
        <p:txBody>
          <a:bodyPr wrap="square" lIns="0" tIns="0" rIns="0" bIns="0" rtlCol="0" anchor="t"/>
          <a:lstStyle/>
          <a:p>
            <a:pPr algn="just" indent="0" marL="0">
              <a:buNone/>
            </a:pPr>
            <a:r>
              <a:rPr lang="en-US" sz="1000" b="1" dirty="0">
                <a:solidFill>
                  <a:srgbClr val="00B050"/>
                </a:solidFill>
                <a:latin typeface="Aptos" pitchFamily="34" charset="0"/>
                <a:ea typeface="Aptos" pitchFamily="34" charset="-122"/>
                <a:cs typeface="Aptos" pitchFamily="34" charset="-120"/>
              </a:rPr>
              <a:t>Impacts pour les copropriétés</a:t>
            </a:r>
            <a:endParaRPr lang="en-US" sz="1000" dirty="0"/>
          </a:p>
        </p:txBody>
      </p:sp>
      <p:sp>
        <p:nvSpPr>
          <p:cNvPr id="13" name="Text 10"/>
          <p:cNvSpPr/>
          <p:nvPr/>
        </p:nvSpPr>
        <p:spPr>
          <a:xfrm>
            <a:off x="648000" y="4149504"/>
            <a:ext cx="6264000" cy="369504"/>
          </a:xfrm>
          <a:prstGeom prst="rect">
            <a:avLst/>
          </a:prstGeom>
          <a:noFill/>
          <a:ln/>
        </p:spPr>
        <p:txBody>
          <a:bodyPr wrap="square" lIns="0" tIns="0" rIns="0" bIns="0" rtlCol="0" anchor="t"/>
          <a:lstStyle/>
          <a:p>
            <a:pPr algn="just" indent="0" marL="0">
              <a:buNone/>
            </a:pPr>
            <a:r>
              <a:rPr lang="en-US" sz="920" dirty="0">
                <a:solidFill>
                  <a:srgbClr val="1C1C1C"/>
                </a:solidFill>
                <a:latin typeface="Aptos" pitchFamily="34" charset="0"/>
                <a:ea typeface="Aptos" pitchFamily="34" charset="-122"/>
                <a:cs typeface="Aptos" pitchFamily="34" charset="-120"/>
              </a:rPr>
              <a:t>Une partie importante du parc d’ascenseurs français utilise encore des systèmes de communication reposant sur les réseaux 2G ou 3G. Ces équipements devront être modernisés afin de garantir :</a:t>
            </a:r>
            <a:endParaRPr lang="en-US" sz="920" dirty="0"/>
          </a:p>
        </p:txBody>
      </p:sp>
      <p:sp>
        <p:nvSpPr>
          <p:cNvPr id="14" name="Text 11"/>
          <p:cNvSpPr/>
          <p:nvPr/>
        </p:nvSpPr>
        <p:spPr>
          <a:xfrm>
            <a:off x="756000" y="4558608"/>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15" name="Text 12"/>
          <p:cNvSpPr/>
          <p:nvPr/>
        </p:nvSpPr>
        <p:spPr>
          <a:xfrm>
            <a:off x="900000" y="4558608"/>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le maintien du système de téléalarme réglementaire ;</a:t>
            </a:r>
            <a:endParaRPr lang="en-US" sz="920" dirty="0"/>
          </a:p>
        </p:txBody>
      </p:sp>
      <p:sp>
        <p:nvSpPr>
          <p:cNvPr id="16" name="Text 13"/>
          <p:cNvSpPr/>
          <p:nvPr/>
        </p:nvSpPr>
        <p:spPr>
          <a:xfrm>
            <a:off x="756000" y="4788360"/>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17" name="Text 14"/>
          <p:cNvSpPr/>
          <p:nvPr/>
        </p:nvSpPr>
        <p:spPr>
          <a:xfrm>
            <a:off x="900000" y="4788360"/>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la continuité des communications avec les services d’intervention ;</a:t>
            </a:r>
            <a:endParaRPr lang="en-US" sz="920" dirty="0"/>
          </a:p>
        </p:txBody>
      </p:sp>
      <p:sp>
        <p:nvSpPr>
          <p:cNvPr id="18" name="Text 15"/>
          <p:cNvSpPr/>
          <p:nvPr/>
        </p:nvSpPr>
        <p:spPr>
          <a:xfrm>
            <a:off x="756000" y="5018112"/>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19" name="Text 16"/>
          <p:cNvSpPr/>
          <p:nvPr/>
        </p:nvSpPr>
        <p:spPr>
          <a:xfrm>
            <a:off x="900000" y="5018112"/>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le maintien en fonctionnement des appareils ;</a:t>
            </a:r>
            <a:endParaRPr lang="en-US" sz="920" dirty="0"/>
          </a:p>
        </p:txBody>
      </p:sp>
      <p:sp>
        <p:nvSpPr>
          <p:cNvPr id="20" name="Text 17"/>
          <p:cNvSpPr/>
          <p:nvPr/>
        </p:nvSpPr>
        <p:spPr>
          <a:xfrm>
            <a:off x="756000" y="5247864"/>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21" name="Text 18"/>
          <p:cNvSpPr/>
          <p:nvPr/>
        </p:nvSpPr>
        <p:spPr>
          <a:xfrm>
            <a:off x="900000" y="5247864"/>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la conformité réglementaire des installations.</a:t>
            </a:r>
            <a:endParaRPr lang="en-US" sz="920" dirty="0"/>
          </a:p>
        </p:txBody>
      </p:sp>
      <p:sp>
        <p:nvSpPr>
          <p:cNvPr id="22" name="Text 19"/>
          <p:cNvSpPr/>
          <p:nvPr/>
        </p:nvSpPr>
        <p:spPr>
          <a:xfrm>
            <a:off x="648000" y="5517216"/>
            <a:ext cx="6264000" cy="2304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Cette évolution peut nécessiter :</a:t>
            </a:r>
            <a:endParaRPr lang="en-US" sz="1000" dirty="0"/>
          </a:p>
        </p:txBody>
      </p:sp>
      <p:sp>
        <p:nvSpPr>
          <p:cNvPr id="23" name="Text 20"/>
          <p:cNvSpPr/>
          <p:nvPr/>
        </p:nvSpPr>
        <p:spPr>
          <a:xfrm>
            <a:off x="756000" y="5787216"/>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24" name="Text 21"/>
          <p:cNvSpPr/>
          <p:nvPr/>
        </p:nvSpPr>
        <p:spPr>
          <a:xfrm>
            <a:off x="900000" y="5787216"/>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le remplacement des modules GSM ;</a:t>
            </a:r>
            <a:endParaRPr lang="en-US" sz="920" dirty="0"/>
          </a:p>
        </p:txBody>
      </p:sp>
      <p:sp>
        <p:nvSpPr>
          <p:cNvPr id="25" name="Text 22"/>
          <p:cNvSpPr/>
          <p:nvPr/>
        </p:nvSpPr>
        <p:spPr>
          <a:xfrm>
            <a:off x="756000" y="6016968"/>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26" name="Text 23"/>
          <p:cNvSpPr/>
          <p:nvPr/>
        </p:nvSpPr>
        <p:spPr>
          <a:xfrm>
            <a:off x="900000" y="6016968"/>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une mise à niveau des systèmes de télécommunication ;</a:t>
            </a:r>
            <a:endParaRPr lang="en-US" sz="920" dirty="0"/>
          </a:p>
        </p:txBody>
      </p:sp>
      <p:sp>
        <p:nvSpPr>
          <p:cNvPr id="27" name="Text 24"/>
          <p:cNvSpPr/>
          <p:nvPr/>
        </p:nvSpPr>
        <p:spPr>
          <a:xfrm>
            <a:off x="756000" y="6246720"/>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28" name="Text 25"/>
          <p:cNvSpPr/>
          <p:nvPr/>
        </p:nvSpPr>
        <p:spPr>
          <a:xfrm>
            <a:off x="900000" y="6246720"/>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le remplacement de certains équipements anciens incompatibles avec la 4G/5G.</a:t>
            </a:r>
            <a:endParaRPr lang="en-US" sz="920" dirty="0"/>
          </a:p>
        </p:txBody>
      </p:sp>
      <p:sp>
        <p:nvSpPr>
          <p:cNvPr id="29" name="Text 26"/>
          <p:cNvSpPr/>
          <p:nvPr/>
        </p:nvSpPr>
        <p:spPr>
          <a:xfrm>
            <a:off x="648000" y="6516072"/>
            <a:ext cx="6264000" cy="230400"/>
          </a:xfrm>
          <a:prstGeom prst="rect">
            <a:avLst/>
          </a:prstGeom>
          <a:noFill/>
          <a:ln/>
        </p:spPr>
        <p:txBody>
          <a:bodyPr wrap="square" lIns="0" tIns="0" rIns="0" bIns="0" rtlCol="0" anchor="t"/>
          <a:lstStyle/>
          <a:p>
            <a:pPr algn="just" indent="0" marL="0">
              <a:buNone/>
            </a:pPr>
            <a:r>
              <a:rPr lang="en-US" sz="1000" b="1" dirty="0">
                <a:solidFill>
                  <a:srgbClr val="00B050"/>
                </a:solidFill>
                <a:latin typeface="Aptos" pitchFamily="34" charset="0"/>
                <a:ea typeface="Aptos" pitchFamily="34" charset="-122"/>
                <a:cs typeface="Aptos" pitchFamily="34" charset="-120"/>
              </a:rPr>
              <a:t>Mesures réglementaires et obligations à venir</a:t>
            </a:r>
            <a:endParaRPr lang="en-US" sz="1000" dirty="0"/>
          </a:p>
        </p:txBody>
      </p:sp>
      <p:sp>
        <p:nvSpPr>
          <p:cNvPr id="30" name="Text 27"/>
          <p:cNvSpPr/>
          <p:nvPr/>
        </p:nvSpPr>
        <p:spPr>
          <a:xfrm>
            <a:off x="648000" y="6786072"/>
            <a:ext cx="6264000" cy="369504"/>
          </a:xfrm>
          <a:prstGeom prst="rect">
            <a:avLst/>
          </a:prstGeom>
          <a:noFill/>
          <a:ln/>
        </p:spPr>
        <p:txBody>
          <a:bodyPr wrap="square" lIns="0" tIns="0" rIns="0" bIns="0" rtlCol="0" anchor="t"/>
          <a:lstStyle/>
          <a:p>
            <a:pPr algn="just" indent="0" marL="0">
              <a:buNone/>
            </a:pPr>
            <a:r>
              <a:rPr lang="en-US" sz="920" dirty="0">
                <a:solidFill>
                  <a:srgbClr val="1C1C1C"/>
                </a:solidFill>
                <a:latin typeface="Aptos" pitchFamily="34" charset="0"/>
                <a:ea typeface="Aptos" pitchFamily="34" charset="-122"/>
                <a:cs typeface="Aptos" pitchFamily="34" charset="-120"/>
              </a:rPr>
              <a:t>Des évolutions réglementaires sont en cours afin de renforcer l’information et la mise à niveau des équipements concernés. Il est notamment prévu :</a:t>
            </a:r>
            <a:endParaRPr lang="en-US" sz="920" dirty="0"/>
          </a:p>
        </p:txBody>
      </p:sp>
      <p:sp>
        <p:nvSpPr>
          <p:cNvPr id="31" name="Text 28"/>
          <p:cNvSpPr/>
          <p:nvPr/>
        </p:nvSpPr>
        <p:spPr>
          <a:xfrm>
            <a:off x="756000" y="7195176"/>
            <a:ext cx="126000" cy="369504"/>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32" name="Text 29"/>
          <p:cNvSpPr/>
          <p:nvPr/>
        </p:nvSpPr>
        <p:spPr>
          <a:xfrm>
            <a:off x="900000" y="7195176"/>
            <a:ext cx="5976000" cy="369504"/>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une obligation d’information du propriétaire par l’ascensoriste lors des visites de maintenance si l’équipement fonctionne encore en 2G ou 3G ;</a:t>
            </a:r>
            <a:endParaRPr lang="en-US" sz="920" dirty="0"/>
          </a:p>
        </p:txBody>
      </p:sp>
      <p:sp>
        <p:nvSpPr>
          <p:cNvPr id="33" name="Text 30"/>
          <p:cNvSpPr/>
          <p:nvPr/>
        </p:nvSpPr>
        <p:spPr>
          <a:xfrm>
            <a:off x="756000" y="7577280"/>
            <a:ext cx="126000" cy="369504"/>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34" name="Text 31"/>
          <p:cNvSpPr/>
          <p:nvPr/>
        </p:nvSpPr>
        <p:spPr>
          <a:xfrm>
            <a:off x="900000" y="7577280"/>
            <a:ext cx="5976000" cy="369504"/>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une vérification de la mise à niveau des dispositifs de communication lors du contrôle technique quinquennal des ascenseurs.</a:t>
            </a:r>
            <a:endParaRPr lang="en-US" sz="920" dirty="0"/>
          </a:p>
        </p:txBody>
      </p:sp>
      <p:sp>
        <p:nvSpPr>
          <p:cNvPr id="35" name="Text 32"/>
          <p:cNvSpPr/>
          <p:nvPr/>
        </p:nvSpPr>
        <p:spPr>
          <a:xfrm>
            <a:off x="648000" y="7998984"/>
            <a:ext cx="6264000" cy="230400"/>
          </a:xfrm>
          <a:prstGeom prst="rect">
            <a:avLst/>
          </a:prstGeom>
          <a:noFill/>
          <a:ln/>
        </p:spPr>
        <p:txBody>
          <a:bodyPr wrap="square" lIns="0" tIns="0" rIns="0" bIns="0" rtlCol="0" anchor="t"/>
          <a:lstStyle/>
          <a:p>
            <a:pPr algn="just" indent="0" marL="0">
              <a:buNone/>
            </a:pPr>
            <a:r>
              <a:rPr lang="en-US" sz="1000" b="1" dirty="0">
                <a:solidFill>
                  <a:srgbClr val="00B050"/>
                </a:solidFill>
                <a:latin typeface="Aptos" pitchFamily="34" charset="0"/>
                <a:ea typeface="Aptos" pitchFamily="34" charset="-122"/>
                <a:cs typeface="Aptos" pitchFamily="34" charset="-120"/>
              </a:rPr>
              <a:t>Pourquoi anticiper ?</a:t>
            </a:r>
            <a:endParaRPr lang="en-US" sz="1000" dirty="0"/>
          </a:p>
        </p:txBody>
      </p:sp>
      <p:sp>
        <p:nvSpPr>
          <p:cNvPr id="36" name="Text 33"/>
          <p:cNvSpPr/>
          <p:nvPr/>
        </p:nvSpPr>
        <p:spPr>
          <a:xfrm>
            <a:off x="648000" y="8268984"/>
            <a:ext cx="6264000" cy="217152"/>
          </a:xfrm>
          <a:prstGeom prst="rect">
            <a:avLst/>
          </a:prstGeom>
          <a:noFill/>
          <a:ln/>
        </p:spPr>
        <p:txBody>
          <a:bodyPr wrap="square" lIns="0" tIns="0" rIns="0" bIns="0" rtlCol="0" anchor="t"/>
          <a:lstStyle/>
          <a:p>
            <a:pPr algn="just" indent="0" marL="0">
              <a:buNone/>
            </a:pPr>
            <a:r>
              <a:rPr lang="en-US" sz="920" dirty="0">
                <a:solidFill>
                  <a:srgbClr val="1C1C1C"/>
                </a:solidFill>
                <a:latin typeface="Aptos" pitchFamily="34" charset="0"/>
                <a:ea typeface="Aptos" pitchFamily="34" charset="-122"/>
                <a:cs typeface="Aptos" pitchFamily="34" charset="-120"/>
              </a:rPr>
              <a:t>L’anticipation de ces travaux permet :</a:t>
            </a:r>
            <a:endParaRPr lang="en-US" sz="920" dirty="0"/>
          </a:p>
        </p:txBody>
      </p:sp>
      <p:sp>
        <p:nvSpPr>
          <p:cNvPr id="37" name="Text 34"/>
          <p:cNvSpPr/>
          <p:nvPr/>
        </p:nvSpPr>
        <p:spPr>
          <a:xfrm>
            <a:off x="756000" y="8525736"/>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38" name="Text 35"/>
          <p:cNvSpPr/>
          <p:nvPr/>
        </p:nvSpPr>
        <p:spPr>
          <a:xfrm>
            <a:off x="900000" y="8525736"/>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d’éviter une interruption de service des ascenseurs ;</a:t>
            </a:r>
            <a:endParaRPr lang="en-US" sz="920" dirty="0"/>
          </a:p>
        </p:txBody>
      </p:sp>
      <p:sp>
        <p:nvSpPr>
          <p:cNvPr id="39" name="Text 36"/>
          <p:cNvSpPr/>
          <p:nvPr/>
        </p:nvSpPr>
        <p:spPr>
          <a:xfrm>
            <a:off x="756000" y="8755488"/>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40" name="Text 37"/>
          <p:cNvSpPr/>
          <p:nvPr/>
        </p:nvSpPr>
        <p:spPr>
          <a:xfrm>
            <a:off x="900000" y="8755488"/>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de prévenir les mises à l’arrêt pour non-conformité ;</a:t>
            </a:r>
            <a:endParaRPr lang="en-US" sz="920" dirty="0"/>
          </a:p>
        </p:txBody>
      </p:sp>
      <p:sp>
        <p:nvSpPr>
          <p:cNvPr id="41" name="Text 38"/>
          <p:cNvSpPr/>
          <p:nvPr/>
        </p:nvSpPr>
        <p:spPr>
          <a:xfrm>
            <a:off x="756000" y="8985240"/>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42" name="Text 39"/>
          <p:cNvSpPr/>
          <p:nvPr/>
        </p:nvSpPr>
        <p:spPr>
          <a:xfrm>
            <a:off x="900000" y="8985240"/>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de limiter les interventions en urgence ;</a:t>
            </a:r>
            <a:endParaRPr lang="en-US" sz="920" dirty="0"/>
          </a:p>
        </p:txBody>
      </p:sp>
      <p:sp>
        <p:nvSpPr>
          <p:cNvPr id="43" name="Text 40"/>
          <p:cNvSpPr/>
          <p:nvPr/>
        </p:nvSpPr>
        <p:spPr>
          <a:xfrm>
            <a:off x="756000" y="9214992"/>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44" name="Text 41"/>
          <p:cNvSpPr/>
          <p:nvPr/>
        </p:nvSpPr>
        <p:spPr>
          <a:xfrm>
            <a:off x="900000" y="9214992"/>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de planifier les coûts de modernisation des équipements ;</a:t>
            </a:r>
            <a:endParaRPr lang="en-US" sz="920" dirty="0"/>
          </a:p>
        </p:txBody>
      </p:sp>
      <p:sp>
        <p:nvSpPr>
          <p:cNvPr id="45" name="Text 42"/>
          <p:cNvSpPr/>
          <p:nvPr/>
        </p:nvSpPr>
        <p:spPr>
          <a:xfrm>
            <a:off x="756000" y="9444744"/>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46" name="Text 43"/>
          <p:cNvSpPr/>
          <p:nvPr/>
        </p:nvSpPr>
        <p:spPr>
          <a:xfrm>
            <a:off x="900000" y="9444744"/>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de coordonner ces adaptations avec d’autres travaux techniques de la copropriété.</a:t>
            </a:r>
            <a:endParaRPr lang="en-US" sz="92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4. RECOMMANDATIONS COMPLÉMENTAIRES</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23</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4.1 Défibrillateurs en copropriété</a:t>
            </a:r>
            <a:endParaRPr lang="en-US" sz="1300" dirty="0"/>
          </a:p>
        </p:txBody>
      </p:sp>
      <p:sp>
        <p:nvSpPr>
          <p:cNvPr id="8" name="Text 5"/>
          <p:cNvSpPr/>
          <p:nvPr/>
        </p:nvSpPr>
        <p:spPr>
          <a:xfrm>
            <a:off x="648000" y="1710000"/>
            <a:ext cx="3996000" cy="8928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défibrillateur automatisé externe (DAE) est un équipement de secours permettant de prendre en charge rapidement une personne victime d’un arrêt cardiaque. Grâce à une assistance vocale intégrée, son utilisation est accessible à toute personne, même sans formation médicale spécifique.</a:t>
            </a:r>
            <a:endParaRPr lang="en-US" sz="1000" dirty="0"/>
          </a:p>
        </p:txBody>
      </p:sp>
      <p:sp>
        <p:nvSpPr>
          <p:cNvPr id="9" name="Text 6"/>
          <p:cNvSpPr/>
          <p:nvPr/>
        </p:nvSpPr>
        <p:spPr>
          <a:xfrm>
            <a:off x="648000" y="2844000"/>
            <a:ext cx="6264000" cy="5616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Contrairement aux établissements recevant du public (ERP), l’installation d’un défibrillateur n’est actuellement pas obligatoire dans les copropriétés. Toutefois, cet équipement est fortement recommandé, notamment au regard des enjeux de sécurité des occupants.</a:t>
            </a:r>
            <a:endParaRPr lang="en-US" sz="1000" dirty="0"/>
          </a:p>
        </p:txBody>
      </p:sp>
      <p:sp>
        <p:nvSpPr>
          <p:cNvPr id="10" name="Text 7"/>
          <p:cNvSpPr/>
          <p:nvPr/>
        </p:nvSpPr>
        <p:spPr>
          <a:xfrm>
            <a:off x="648000" y="34956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Chaque année en France, environ 80 000 personnes sont victimes d’un arrêt cardiaque, dont près de 75 % surviennent au domicile. Une intervention rapide dans les premières minutes, associée à l’utilisation d’un défibrillateur et à la réalisation d’un massage cardiaque, permet d’augmenter considérablement les chances de survie.</a:t>
            </a:r>
            <a:endParaRPr lang="en-US" sz="1000" dirty="0"/>
          </a:p>
        </p:txBody>
      </p:sp>
      <p:sp>
        <p:nvSpPr>
          <p:cNvPr id="11" name="Text 8"/>
          <p:cNvSpPr/>
          <p:nvPr/>
        </p:nvSpPr>
        <p:spPr>
          <a:xfrm>
            <a:off x="648000" y="4312800"/>
            <a:ext cx="6264000" cy="2304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L’installation d’un défibrillateur au sein d’une copropriété présente plusieurs avantages :</a:t>
            </a:r>
            <a:endParaRPr lang="en-US" sz="1000" dirty="0"/>
          </a:p>
        </p:txBody>
      </p:sp>
      <p:sp>
        <p:nvSpPr>
          <p:cNvPr id="12" name="Text 9"/>
          <p:cNvSpPr/>
          <p:nvPr/>
        </p:nvSpPr>
        <p:spPr>
          <a:xfrm>
            <a:off x="756000" y="4633200"/>
            <a:ext cx="12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13" name="Text 10"/>
          <p:cNvSpPr/>
          <p:nvPr/>
        </p:nvSpPr>
        <p:spPr>
          <a:xfrm>
            <a:off x="900000" y="4633200"/>
            <a:ext cx="597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amélioration de la sécurité des résidents ;</a:t>
            </a:r>
            <a:endParaRPr lang="en-US" sz="1000" dirty="0"/>
          </a:p>
        </p:txBody>
      </p:sp>
      <p:sp>
        <p:nvSpPr>
          <p:cNvPr id="14" name="Text 11"/>
          <p:cNvSpPr/>
          <p:nvPr/>
        </p:nvSpPr>
        <p:spPr>
          <a:xfrm>
            <a:off x="756000" y="4867200"/>
            <a:ext cx="12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15" name="Text 12"/>
          <p:cNvSpPr/>
          <p:nvPr/>
        </p:nvSpPr>
        <p:spPr>
          <a:xfrm>
            <a:off x="900000" y="4867200"/>
            <a:ext cx="597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intervention rapide en cas d’urgence cardiaque ;</a:t>
            </a:r>
            <a:endParaRPr lang="en-US" sz="1000" dirty="0"/>
          </a:p>
        </p:txBody>
      </p:sp>
      <p:sp>
        <p:nvSpPr>
          <p:cNvPr id="16" name="Text 13"/>
          <p:cNvSpPr/>
          <p:nvPr/>
        </p:nvSpPr>
        <p:spPr>
          <a:xfrm>
            <a:off x="756000" y="5101200"/>
            <a:ext cx="12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17" name="Text 14"/>
          <p:cNvSpPr/>
          <p:nvPr/>
        </p:nvSpPr>
        <p:spPr>
          <a:xfrm>
            <a:off x="900000" y="5101200"/>
            <a:ext cx="597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équipement accessible et simple d’utilisation ;</a:t>
            </a:r>
            <a:endParaRPr lang="en-US" sz="1000" dirty="0"/>
          </a:p>
        </p:txBody>
      </p:sp>
      <p:sp>
        <p:nvSpPr>
          <p:cNvPr id="18" name="Text 15"/>
          <p:cNvSpPr/>
          <p:nvPr/>
        </p:nvSpPr>
        <p:spPr>
          <a:xfrm>
            <a:off x="756000" y="5335200"/>
            <a:ext cx="12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19" name="Text 16"/>
          <p:cNvSpPr/>
          <p:nvPr/>
        </p:nvSpPr>
        <p:spPr>
          <a:xfrm>
            <a:off x="900000" y="5335200"/>
            <a:ext cx="597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valorisation des équipements de sécurité de l’immeuble.</a:t>
            </a:r>
            <a:endParaRPr lang="en-US" sz="1000" dirty="0"/>
          </a:p>
        </p:txBody>
      </p:sp>
      <p:sp>
        <p:nvSpPr>
          <p:cNvPr id="20" name="Text 17"/>
          <p:cNvSpPr/>
          <p:nvPr/>
        </p:nvSpPr>
        <p:spPr>
          <a:xfrm>
            <a:off x="648000" y="5634000"/>
            <a:ext cx="6264000" cy="3960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défibrillateur peut être installé dans un espace commun facilement accessible (hall d’entrée, loge gardien, parking ou local commun). Il est recommandé de prévoir :</a:t>
            </a:r>
            <a:endParaRPr lang="en-US" sz="1000" dirty="0"/>
          </a:p>
        </p:txBody>
      </p:sp>
      <p:sp>
        <p:nvSpPr>
          <p:cNvPr id="21" name="Text 18"/>
          <p:cNvSpPr/>
          <p:nvPr/>
        </p:nvSpPr>
        <p:spPr>
          <a:xfrm>
            <a:off x="756000" y="6120000"/>
            <a:ext cx="12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22" name="Text 19"/>
          <p:cNvSpPr/>
          <p:nvPr/>
        </p:nvSpPr>
        <p:spPr>
          <a:xfrm>
            <a:off x="900000" y="6120000"/>
            <a:ext cx="597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une maintenance régulière de l’appareil ;</a:t>
            </a:r>
            <a:endParaRPr lang="en-US" sz="1000" dirty="0"/>
          </a:p>
        </p:txBody>
      </p:sp>
      <p:sp>
        <p:nvSpPr>
          <p:cNvPr id="23" name="Text 20"/>
          <p:cNvSpPr/>
          <p:nvPr/>
        </p:nvSpPr>
        <p:spPr>
          <a:xfrm>
            <a:off x="756000" y="6354000"/>
            <a:ext cx="12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24" name="Text 21"/>
          <p:cNvSpPr/>
          <p:nvPr/>
        </p:nvSpPr>
        <p:spPr>
          <a:xfrm>
            <a:off x="900000" y="6354000"/>
            <a:ext cx="597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le remplacement périodique des consommables (batteries et électrodes) ;</a:t>
            </a:r>
            <a:endParaRPr lang="en-US" sz="1000" dirty="0"/>
          </a:p>
        </p:txBody>
      </p:sp>
      <p:sp>
        <p:nvSpPr>
          <p:cNvPr id="25" name="Text 22"/>
          <p:cNvSpPr/>
          <p:nvPr/>
        </p:nvSpPr>
        <p:spPr>
          <a:xfrm>
            <a:off x="756000" y="6588000"/>
            <a:ext cx="12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26" name="Text 23"/>
          <p:cNvSpPr/>
          <p:nvPr/>
        </p:nvSpPr>
        <p:spPr>
          <a:xfrm>
            <a:off x="900000" y="6588000"/>
            <a:ext cx="597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une assurance contre les dégradations ou le vol.</a:t>
            </a:r>
            <a:endParaRPr lang="en-US" sz="1000" dirty="0"/>
          </a:p>
        </p:txBody>
      </p:sp>
      <p:sp>
        <p:nvSpPr>
          <p:cNvPr id="27" name="Text 24"/>
          <p:cNvSpPr/>
          <p:nvPr/>
        </p:nvSpPr>
        <p:spPr>
          <a:xfrm>
            <a:off x="648000" y="6894000"/>
            <a:ext cx="6264000" cy="10584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La mise en place d’un défibrillateur doit faire l’objet d’un vote en assemblée générale des copropriétaires. De nombreuses offres « tout compris » existent aujourd’hui, incluant la fourniture, l’installation et la maintenance de l’équipement.</a:t>
            </a:r>
            <a:endParaRPr lang="en-US" sz="1000" dirty="0"/>
          </a:p>
          <a:p>
            <a:pPr algn="just" indent="0" marL="0">
              <a:buNone/>
            </a:pPr>
            <a:endParaRPr lang="en-US" sz="1000" dirty="0"/>
          </a:p>
          <a:p>
            <a:pPr algn="just" indent="0" marL="0">
              <a:buNone/>
            </a:pPr>
            <a:r>
              <a:rPr lang="en-US" sz="1000" dirty="0">
                <a:solidFill>
                  <a:srgbClr val="1C1C1C"/>
                </a:solidFill>
                <a:latin typeface="Aptos" pitchFamily="34" charset="0"/>
                <a:ea typeface="Aptos" pitchFamily="34" charset="-122"/>
                <a:cs typeface="Aptos" pitchFamily="34" charset="-120"/>
              </a:rPr>
              <a:t>Cette démarche constitue une amélioration préventive des équipements de sécurité de la copropriété et participe à la protection des occupants.</a:t>
            </a:r>
            <a:endParaRPr lang="en-US" sz="1000" dirty="0"/>
          </a:p>
        </p:txBody>
      </p:sp>
      <p:pic>
        <p:nvPicPr>
          <p:cNvPr id="28" name="Image 1" descr="Illustration de défibrillateur">    </p:cNvPr>
          <p:cNvPicPr>
            <a:picLocks noChangeAspect="1"/>
          </p:cNvPicPr>
          <p:nvPr/>
        </p:nvPicPr>
        <p:blipFill>
          <a:blip r:embed="rId2"/>
          <a:srcRect l="0" r="0" t="0" b="0"/>
          <a:stretch/>
        </p:blipFill>
        <p:spPr>
          <a:xfrm>
            <a:off x="4824000" y="1566000"/>
            <a:ext cx="1404000" cy="118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24</a:t>
            </a:r>
            <a:endParaRPr lang="en-US" sz="950" dirty="0"/>
          </a:p>
        </p:txBody>
      </p:sp>
      <p:sp>
        <p:nvSpPr>
          <p:cNvPr id="7" name="Text 4"/>
          <p:cNvSpPr/>
          <p:nvPr/>
        </p:nvSpPr>
        <p:spPr>
          <a:xfrm>
            <a:off x="648000" y="2664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5.1 Documents réglementaires et administratifs</a:t>
            </a:r>
            <a:endParaRPr lang="en-US" sz="1300" dirty="0"/>
          </a:p>
        </p:txBody>
      </p:sp>
      <p:sp>
        <p:nvSpPr>
          <p:cNvPr id="8" name="Shape 5"/>
          <p:cNvSpPr/>
          <p:nvPr/>
        </p:nvSpPr>
        <p:spPr>
          <a:xfrm>
            <a:off x="540000" y="3024000"/>
            <a:ext cx="3492000" cy="324000"/>
          </a:xfrm>
          <a:prstGeom prst="rect">
            <a:avLst/>
          </a:prstGeom>
          <a:solidFill>
            <a:srgbClr val="FFFFFF"/>
          </a:solidFill>
          <a:ln w="6985">
            <a:solidFill>
              <a:srgbClr val="202020"/>
            </a:solidFill>
            <a:prstDash val="solid"/>
          </a:ln>
        </p:spPr>
      </p:sp>
      <p:sp>
        <p:nvSpPr>
          <p:cNvPr id="9" name="Text 6"/>
          <p:cNvSpPr/>
          <p:nvPr/>
        </p:nvSpPr>
        <p:spPr>
          <a:xfrm>
            <a:off x="601200" y="3063600"/>
            <a:ext cx="336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3024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3063600"/>
            <a:ext cx="102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3024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3063600"/>
            <a:ext cx="1713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3348000"/>
            <a:ext cx="3492000" cy="1461600"/>
          </a:xfrm>
          <a:prstGeom prst="rect">
            <a:avLst/>
          </a:prstGeom>
          <a:solidFill>
            <a:srgbClr val="FFFFFF"/>
          </a:solidFill>
          <a:ln w="6985">
            <a:solidFill>
              <a:srgbClr val="202020"/>
            </a:solidFill>
            <a:prstDash val="solid"/>
          </a:ln>
        </p:spPr>
      </p:sp>
      <p:sp>
        <p:nvSpPr>
          <p:cNvPr id="15" name="Text 12"/>
          <p:cNvSpPr/>
          <p:nvPr/>
        </p:nvSpPr>
        <p:spPr>
          <a:xfrm>
            <a:off x="601200" y="3387600"/>
            <a:ext cx="3369600" cy="13824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9-1</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2014-366 du 24/03/2014 (ALUR)</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souscrire une assurance responsabilité civile pour le compte de la copropriété.</a:t>
            </a:r>
            <a:endParaRPr lang="en-US" sz="1000" dirty="0"/>
          </a:p>
        </p:txBody>
      </p:sp>
      <p:sp>
        <p:nvSpPr>
          <p:cNvPr id="16" name="Shape 13"/>
          <p:cNvSpPr/>
          <p:nvPr/>
        </p:nvSpPr>
        <p:spPr>
          <a:xfrm>
            <a:off x="4032000" y="3348000"/>
            <a:ext cx="1152000" cy="1461600"/>
          </a:xfrm>
          <a:prstGeom prst="rect">
            <a:avLst/>
          </a:prstGeom>
          <a:solidFill>
            <a:srgbClr val="00B55A"/>
          </a:solidFill>
          <a:ln w="6985">
            <a:solidFill>
              <a:srgbClr val="202020"/>
            </a:solidFill>
            <a:prstDash val="solid"/>
          </a:ln>
        </p:spPr>
      </p:sp>
      <p:sp>
        <p:nvSpPr>
          <p:cNvPr id="17" name="Text 14"/>
          <p:cNvSpPr/>
          <p:nvPr/>
        </p:nvSpPr>
        <p:spPr>
          <a:xfrm>
            <a:off x="4093200" y="3387600"/>
            <a:ext cx="1029600" cy="13824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18" name="Shape 15"/>
          <p:cNvSpPr/>
          <p:nvPr/>
        </p:nvSpPr>
        <p:spPr>
          <a:xfrm>
            <a:off x="5184000" y="3348000"/>
            <a:ext cx="1836000" cy="1461600"/>
          </a:xfrm>
          <a:prstGeom prst="rect">
            <a:avLst/>
          </a:prstGeom>
          <a:solidFill>
            <a:srgbClr val="FFFFFF"/>
          </a:solidFill>
          <a:ln w="6985">
            <a:solidFill>
              <a:srgbClr val="202020"/>
            </a:solidFill>
            <a:prstDash val="solid"/>
          </a:ln>
        </p:spPr>
      </p:sp>
      <p:sp>
        <p:nvSpPr>
          <p:cNvPr id="19" name="Text 16"/>
          <p:cNvSpPr/>
          <p:nvPr/>
        </p:nvSpPr>
        <p:spPr>
          <a:xfrm>
            <a:off x="5245200" y="3387600"/>
            <a:ext cx="1713600" cy="13824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Commentaire documentaire long à conserver lors de l’assemblage du rapport complet. Précision 1 transmise par le syndic et à vérifier par l’ingénieur. Précision 2 transmise par le syndic et à vérifier par</a:t>
            </a:r>
            <a:endParaRPr lang="en-US" sz="1000" dirty="0"/>
          </a:p>
        </p:txBody>
      </p:sp>
      <p:sp>
        <p:nvSpPr>
          <p:cNvPr id="20" name="Shape 17"/>
          <p:cNvSpPr/>
          <p:nvPr/>
        </p:nvSpPr>
        <p:spPr>
          <a:xfrm>
            <a:off x="540000" y="4809600"/>
            <a:ext cx="3492000" cy="1461600"/>
          </a:xfrm>
          <a:prstGeom prst="rect">
            <a:avLst/>
          </a:prstGeom>
          <a:solidFill>
            <a:srgbClr val="FFFFFF"/>
          </a:solidFill>
          <a:ln w="6985">
            <a:solidFill>
              <a:srgbClr val="202020"/>
            </a:solidFill>
            <a:prstDash val="solid"/>
          </a:ln>
        </p:spPr>
      </p:sp>
      <p:sp>
        <p:nvSpPr>
          <p:cNvPr id="21" name="Text 18"/>
          <p:cNvSpPr/>
          <p:nvPr/>
        </p:nvSpPr>
        <p:spPr>
          <a:xfrm>
            <a:off x="601200" y="4849200"/>
            <a:ext cx="3369600" cy="13824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22" name="Shape 19"/>
          <p:cNvSpPr/>
          <p:nvPr/>
        </p:nvSpPr>
        <p:spPr>
          <a:xfrm>
            <a:off x="4032000" y="4809600"/>
            <a:ext cx="1152000" cy="1461600"/>
          </a:xfrm>
          <a:prstGeom prst="rect">
            <a:avLst/>
          </a:prstGeom>
          <a:solidFill>
            <a:srgbClr val="FFFFFF"/>
          </a:solidFill>
          <a:ln w="6985">
            <a:solidFill>
              <a:srgbClr val="202020"/>
            </a:solidFill>
            <a:prstDash val="solid"/>
          </a:ln>
        </p:spPr>
      </p:sp>
      <p:sp>
        <p:nvSpPr>
          <p:cNvPr id="23" name="Text 20"/>
          <p:cNvSpPr/>
          <p:nvPr/>
        </p:nvSpPr>
        <p:spPr>
          <a:xfrm>
            <a:off x="4093200" y="4849200"/>
            <a:ext cx="1029600" cy="1382400"/>
          </a:xfrm>
          <a:prstGeom prst="rect">
            <a:avLst/>
          </a:prstGeom>
          <a:noFill/>
          <a:ln/>
        </p:spPr>
        <p:txBody>
          <a:bodyPr wrap="square" lIns="0" tIns="0" rIns="0" bIns="0" rtlCol="0" anchor="ctr"/>
          <a:lstStyle/>
          <a:p>
            <a:pPr algn="ctr" indent="0" marL="0">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24" name="Shape 21"/>
          <p:cNvSpPr/>
          <p:nvPr/>
        </p:nvSpPr>
        <p:spPr>
          <a:xfrm>
            <a:off x="5184000" y="4809600"/>
            <a:ext cx="1836000" cy="1461600"/>
          </a:xfrm>
          <a:prstGeom prst="rect">
            <a:avLst/>
          </a:prstGeom>
          <a:solidFill>
            <a:srgbClr val="FFFFFF"/>
          </a:solidFill>
          <a:ln w="6985">
            <a:solidFill>
              <a:srgbClr val="202020"/>
            </a:solidFill>
            <a:prstDash val="solid"/>
          </a:ln>
        </p:spPr>
      </p:sp>
      <p:sp>
        <p:nvSpPr>
          <p:cNvPr id="25" name="Text 22"/>
          <p:cNvSpPr/>
          <p:nvPr/>
        </p:nvSpPr>
        <p:spPr>
          <a:xfrm>
            <a:off x="5245200" y="4849200"/>
            <a:ext cx="1713600" cy="13824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l’ingénieur. Précision 3 transmise par le syndic et à vérifier par l’ingénieur. Précision 4 transmise par le syndic et à vérifier par l’ingénieur. Précision 5 transmise par le syndic et à vérifier par</a:t>
            </a:r>
            <a:endParaRPr lang="en-US" sz="1000" dirty="0"/>
          </a:p>
        </p:txBody>
      </p:sp>
      <p:sp>
        <p:nvSpPr>
          <p:cNvPr id="26" name="Shape 23"/>
          <p:cNvSpPr/>
          <p:nvPr/>
        </p:nvSpPr>
        <p:spPr>
          <a:xfrm>
            <a:off x="540000" y="6271200"/>
            <a:ext cx="3492000" cy="1461600"/>
          </a:xfrm>
          <a:prstGeom prst="rect">
            <a:avLst/>
          </a:prstGeom>
          <a:solidFill>
            <a:srgbClr val="FFFFFF"/>
          </a:solidFill>
          <a:ln w="6985">
            <a:solidFill>
              <a:srgbClr val="202020"/>
            </a:solidFill>
            <a:prstDash val="solid"/>
          </a:ln>
        </p:spPr>
      </p:sp>
      <p:sp>
        <p:nvSpPr>
          <p:cNvPr id="27" name="Text 24"/>
          <p:cNvSpPr/>
          <p:nvPr/>
        </p:nvSpPr>
        <p:spPr>
          <a:xfrm>
            <a:off x="601200" y="6310800"/>
            <a:ext cx="3369600" cy="13824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28" name="Shape 25"/>
          <p:cNvSpPr/>
          <p:nvPr/>
        </p:nvSpPr>
        <p:spPr>
          <a:xfrm>
            <a:off x="4032000" y="6271200"/>
            <a:ext cx="1152000" cy="1461600"/>
          </a:xfrm>
          <a:prstGeom prst="rect">
            <a:avLst/>
          </a:prstGeom>
          <a:solidFill>
            <a:srgbClr val="FFFFFF"/>
          </a:solidFill>
          <a:ln w="6985">
            <a:solidFill>
              <a:srgbClr val="202020"/>
            </a:solidFill>
            <a:prstDash val="solid"/>
          </a:ln>
        </p:spPr>
      </p:sp>
      <p:sp>
        <p:nvSpPr>
          <p:cNvPr id="29" name="Text 26"/>
          <p:cNvSpPr/>
          <p:nvPr/>
        </p:nvSpPr>
        <p:spPr>
          <a:xfrm>
            <a:off x="4093200" y="6310800"/>
            <a:ext cx="1029600" cy="1382400"/>
          </a:xfrm>
          <a:prstGeom prst="rect">
            <a:avLst/>
          </a:prstGeom>
          <a:noFill/>
          <a:ln/>
        </p:spPr>
        <p:txBody>
          <a:bodyPr wrap="square" lIns="0" tIns="0" rIns="0" bIns="0" rtlCol="0" anchor="ctr"/>
          <a:lstStyle/>
          <a:p>
            <a:pPr algn="ctr" indent="0" marL="0">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30" name="Shape 27"/>
          <p:cNvSpPr/>
          <p:nvPr/>
        </p:nvSpPr>
        <p:spPr>
          <a:xfrm>
            <a:off x="5184000" y="6271200"/>
            <a:ext cx="1836000" cy="1461600"/>
          </a:xfrm>
          <a:prstGeom prst="rect">
            <a:avLst/>
          </a:prstGeom>
          <a:solidFill>
            <a:srgbClr val="FFFFFF"/>
          </a:solidFill>
          <a:ln w="6985">
            <a:solidFill>
              <a:srgbClr val="202020"/>
            </a:solidFill>
            <a:prstDash val="solid"/>
          </a:ln>
        </p:spPr>
      </p:sp>
      <p:sp>
        <p:nvSpPr>
          <p:cNvPr id="31" name="Text 28"/>
          <p:cNvSpPr/>
          <p:nvPr/>
        </p:nvSpPr>
        <p:spPr>
          <a:xfrm>
            <a:off x="5245200" y="6310800"/>
            <a:ext cx="1713600" cy="13824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l’ingénieur. Précision 6 transmise par le syndic et à vérifier par l’ingénieur. Précision 7 transmise par le syndic et à vérifier par l’ingénieur. Précision 8 transmise par le syndic et à vérifier par</a:t>
            </a:r>
            <a:endParaRPr lang="en-US" sz="1000" dirty="0"/>
          </a:p>
        </p:txBody>
      </p:sp>
      <p:sp>
        <p:nvSpPr>
          <p:cNvPr id="32" name="Shape 29"/>
          <p:cNvSpPr/>
          <p:nvPr/>
        </p:nvSpPr>
        <p:spPr>
          <a:xfrm>
            <a:off x="540000" y="7732800"/>
            <a:ext cx="3492000" cy="1461600"/>
          </a:xfrm>
          <a:prstGeom prst="rect">
            <a:avLst/>
          </a:prstGeom>
          <a:solidFill>
            <a:srgbClr val="FFFFFF"/>
          </a:solidFill>
          <a:ln w="6985">
            <a:solidFill>
              <a:srgbClr val="202020"/>
            </a:solidFill>
            <a:prstDash val="solid"/>
          </a:ln>
        </p:spPr>
      </p:sp>
      <p:sp>
        <p:nvSpPr>
          <p:cNvPr id="33" name="Text 30"/>
          <p:cNvSpPr/>
          <p:nvPr/>
        </p:nvSpPr>
        <p:spPr>
          <a:xfrm>
            <a:off x="601200" y="7772400"/>
            <a:ext cx="3369600" cy="13824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34" name="Shape 31"/>
          <p:cNvSpPr/>
          <p:nvPr/>
        </p:nvSpPr>
        <p:spPr>
          <a:xfrm>
            <a:off x="4032000" y="7732800"/>
            <a:ext cx="1152000" cy="1461600"/>
          </a:xfrm>
          <a:prstGeom prst="rect">
            <a:avLst/>
          </a:prstGeom>
          <a:solidFill>
            <a:srgbClr val="FFFFFF"/>
          </a:solidFill>
          <a:ln w="6985">
            <a:solidFill>
              <a:srgbClr val="202020"/>
            </a:solidFill>
            <a:prstDash val="solid"/>
          </a:ln>
        </p:spPr>
      </p:sp>
      <p:sp>
        <p:nvSpPr>
          <p:cNvPr id="35" name="Text 32"/>
          <p:cNvSpPr/>
          <p:nvPr/>
        </p:nvSpPr>
        <p:spPr>
          <a:xfrm>
            <a:off x="4093200" y="7772400"/>
            <a:ext cx="1029600" cy="1382400"/>
          </a:xfrm>
          <a:prstGeom prst="rect">
            <a:avLst/>
          </a:prstGeom>
          <a:noFill/>
          <a:ln/>
        </p:spPr>
        <p:txBody>
          <a:bodyPr wrap="square" lIns="0" tIns="0" rIns="0" bIns="0" rtlCol="0" anchor="ctr"/>
          <a:lstStyle/>
          <a:p>
            <a:pPr algn="ctr" indent="0" marL="0">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36" name="Shape 33"/>
          <p:cNvSpPr/>
          <p:nvPr/>
        </p:nvSpPr>
        <p:spPr>
          <a:xfrm>
            <a:off x="5184000" y="7732800"/>
            <a:ext cx="1836000" cy="1461600"/>
          </a:xfrm>
          <a:prstGeom prst="rect">
            <a:avLst/>
          </a:prstGeom>
          <a:solidFill>
            <a:srgbClr val="FFFFFF"/>
          </a:solidFill>
          <a:ln w="6985">
            <a:solidFill>
              <a:srgbClr val="202020"/>
            </a:solidFill>
            <a:prstDash val="solid"/>
          </a:ln>
        </p:spPr>
      </p:sp>
      <p:sp>
        <p:nvSpPr>
          <p:cNvPr id="37" name="Text 34"/>
          <p:cNvSpPr/>
          <p:nvPr/>
        </p:nvSpPr>
        <p:spPr>
          <a:xfrm>
            <a:off x="5245200" y="7772400"/>
            <a:ext cx="1713600" cy="13824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l’ingénieur. Précision 9 transmise par le syndic et à vérifier par l’ingénieur. Précision 10 transmise par le syndic et à vérifier par l’ingénieur. Précision 11 transmise par le syndic et à vérifier par</a:t>
            </a:r>
            <a:endParaRPr lang="en-US" sz="1000" dirty="0"/>
          </a:p>
        </p:txBody>
      </p:sp>
      <p:sp>
        <p:nvSpPr>
          <p:cNvPr id="38" name="Text 35"/>
          <p:cNvSpPr/>
          <p:nvPr/>
        </p:nvSpPr>
        <p:spPr>
          <a:xfrm>
            <a:off x="648000" y="1332000"/>
            <a:ext cx="6264000" cy="810000"/>
          </a:xfrm>
          <a:prstGeom prst="rect">
            <a:avLst/>
          </a:prstGeom>
          <a:noFill/>
          <a:ln/>
        </p:spPr>
        <p:txBody>
          <a:bodyPr wrap="square" lIns="0" tIns="0" rIns="0" bIns="0" rtlCol="0" anchor="t"/>
          <a:lstStyle/>
          <a:p>
            <a:pPr algn="just" indent="0" marL="0">
              <a:buNone/>
            </a:pPr>
            <a:r>
              <a:rPr lang="en-US" sz="900" dirty="0">
                <a:solidFill>
                  <a:srgbClr val="1C1C1C"/>
                </a:solidFill>
                <a:latin typeface="Aptos" pitchFamily="34" charset="0"/>
                <a:ea typeface="Aptos" pitchFamily="34" charset="-122"/>
                <a:cs typeface="Aptos" pitchFamily="34" charset="-120"/>
              </a:rPr>
              <a:t>Dans le cadre de l’élaboration du présent Projet de Plan Pluriannuel de Travaux (PPPT), une analyse des documents administratifs, réglementaires et techniques mis à disposition par le syndicat des copropriétaires et son représentant a été réalisée. Cette analyse permet de vérifier la conformité de certaines obligations réglementaires de la copropriété et de compléter les observations effectuées lors de la visite de l’immeuble.</a:t>
            </a:r>
            <a:endParaRPr lang="en-US" sz="900" dirty="0"/>
          </a:p>
        </p:txBody>
      </p:sp>
      <p:sp>
        <p:nvSpPr>
          <p:cNvPr id="39" name="Text 36"/>
          <p:cNvSpPr/>
          <p:nvPr/>
        </p:nvSpPr>
        <p:spPr>
          <a:xfrm>
            <a:off x="648000" y="2196000"/>
            <a:ext cx="6264000" cy="362880"/>
          </a:xfrm>
          <a:prstGeom prst="rect">
            <a:avLst/>
          </a:prstGeom>
          <a:noFill/>
          <a:ln/>
        </p:spPr>
        <p:txBody>
          <a:bodyPr wrap="square" lIns="0" tIns="0" rIns="0" bIns="0" rtlCol="0" anchor="t"/>
          <a:lstStyle/>
          <a:p>
            <a:pPr algn="just" indent="0" marL="0">
              <a:buNone/>
            </a:pPr>
            <a:r>
              <a:rPr lang="en-US" sz="900" dirty="0">
                <a:solidFill>
                  <a:srgbClr val="1C1C1C"/>
                </a:solidFill>
                <a:latin typeface="Aptos" pitchFamily="34" charset="0"/>
                <a:ea typeface="Aptos" pitchFamily="34" charset="-122"/>
                <a:cs typeface="Aptos" pitchFamily="34" charset="-120"/>
              </a:rPr>
              <a:t>Le tableau ci-après récapitule les principaux documents examinés ainsi que leur statut de transmission au moment de la réalisation de l’étude.</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25</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5.1 Documents réglementaires et administratifs — suite</a:t>
            </a:r>
            <a:endParaRPr lang="en-US" sz="1300" dirty="0"/>
          </a:p>
        </p:txBody>
      </p:sp>
      <p:sp>
        <p:nvSpPr>
          <p:cNvPr id="8" name="Shape 5"/>
          <p:cNvSpPr/>
          <p:nvPr/>
        </p:nvSpPr>
        <p:spPr>
          <a:xfrm>
            <a:off x="540000" y="1710000"/>
            <a:ext cx="3492000" cy="324000"/>
          </a:xfrm>
          <a:prstGeom prst="rect">
            <a:avLst/>
          </a:prstGeom>
          <a:solidFill>
            <a:srgbClr val="FFFFFF"/>
          </a:solidFill>
          <a:ln w="6985">
            <a:solidFill>
              <a:srgbClr val="202020"/>
            </a:solidFill>
            <a:prstDash val="solid"/>
          </a:ln>
        </p:spPr>
      </p:sp>
      <p:sp>
        <p:nvSpPr>
          <p:cNvPr id="9" name="Text 6"/>
          <p:cNvSpPr/>
          <p:nvPr/>
        </p:nvSpPr>
        <p:spPr>
          <a:xfrm>
            <a:off x="601200" y="1749600"/>
            <a:ext cx="336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1710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1749600"/>
            <a:ext cx="102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1710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1749600"/>
            <a:ext cx="1713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2034000"/>
            <a:ext cx="3492000" cy="1461600"/>
          </a:xfrm>
          <a:prstGeom prst="rect">
            <a:avLst/>
          </a:prstGeom>
          <a:solidFill>
            <a:srgbClr val="FFFFFF"/>
          </a:solidFill>
          <a:ln w="6985">
            <a:solidFill>
              <a:srgbClr val="202020"/>
            </a:solidFill>
            <a:prstDash val="solid"/>
          </a:ln>
        </p:spPr>
      </p:sp>
      <p:sp>
        <p:nvSpPr>
          <p:cNvPr id="15" name="Text 12"/>
          <p:cNvSpPr/>
          <p:nvPr/>
        </p:nvSpPr>
        <p:spPr>
          <a:xfrm>
            <a:off x="601200" y="2073600"/>
            <a:ext cx="3369600" cy="13824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16" name="Shape 13"/>
          <p:cNvSpPr/>
          <p:nvPr/>
        </p:nvSpPr>
        <p:spPr>
          <a:xfrm>
            <a:off x="4032000" y="2034000"/>
            <a:ext cx="1152000" cy="1461600"/>
          </a:xfrm>
          <a:prstGeom prst="rect">
            <a:avLst/>
          </a:prstGeom>
          <a:solidFill>
            <a:srgbClr val="FFFFFF"/>
          </a:solidFill>
          <a:ln w="6985">
            <a:solidFill>
              <a:srgbClr val="202020"/>
            </a:solidFill>
            <a:prstDash val="solid"/>
          </a:ln>
        </p:spPr>
      </p:sp>
      <p:sp>
        <p:nvSpPr>
          <p:cNvPr id="17" name="Text 14"/>
          <p:cNvSpPr/>
          <p:nvPr/>
        </p:nvSpPr>
        <p:spPr>
          <a:xfrm>
            <a:off x="4093200" y="2073600"/>
            <a:ext cx="1029600" cy="1382400"/>
          </a:xfrm>
          <a:prstGeom prst="rect">
            <a:avLst/>
          </a:prstGeom>
          <a:noFill/>
          <a:ln/>
        </p:spPr>
        <p:txBody>
          <a:bodyPr wrap="square" lIns="0" tIns="0" rIns="0" bIns="0" rtlCol="0" anchor="ctr"/>
          <a:lstStyle/>
          <a:p>
            <a:pPr algn="ctr" indent="0" marL="0">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18" name="Shape 15"/>
          <p:cNvSpPr/>
          <p:nvPr/>
        </p:nvSpPr>
        <p:spPr>
          <a:xfrm>
            <a:off x="5184000" y="2034000"/>
            <a:ext cx="1836000" cy="1461600"/>
          </a:xfrm>
          <a:prstGeom prst="rect">
            <a:avLst/>
          </a:prstGeom>
          <a:solidFill>
            <a:srgbClr val="FFFFFF"/>
          </a:solidFill>
          <a:ln w="6985">
            <a:solidFill>
              <a:srgbClr val="202020"/>
            </a:solidFill>
            <a:prstDash val="solid"/>
          </a:ln>
        </p:spPr>
      </p:sp>
      <p:sp>
        <p:nvSpPr>
          <p:cNvPr id="19" name="Text 16"/>
          <p:cNvSpPr/>
          <p:nvPr/>
        </p:nvSpPr>
        <p:spPr>
          <a:xfrm>
            <a:off x="5245200" y="2073600"/>
            <a:ext cx="1713600" cy="13824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l’ingénieur. Précision 12 transmise par le syndic et à vérifier par l’ingénieur. Précision 13 transmise par le syndic et à vérifier par l’ingénieur. Précision 14 transmise par le syndic et à vérifier par</a:t>
            </a:r>
            <a:endParaRPr lang="en-US" sz="1000" dirty="0"/>
          </a:p>
        </p:txBody>
      </p:sp>
      <p:sp>
        <p:nvSpPr>
          <p:cNvPr id="20" name="Shape 17"/>
          <p:cNvSpPr/>
          <p:nvPr/>
        </p:nvSpPr>
        <p:spPr>
          <a:xfrm>
            <a:off x="540000" y="3495600"/>
            <a:ext cx="3492000" cy="1461600"/>
          </a:xfrm>
          <a:prstGeom prst="rect">
            <a:avLst/>
          </a:prstGeom>
          <a:solidFill>
            <a:srgbClr val="FFFFFF"/>
          </a:solidFill>
          <a:ln w="6985">
            <a:solidFill>
              <a:srgbClr val="202020"/>
            </a:solidFill>
            <a:prstDash val="solid"/>
          </a:ln>
        </p:spPr>
      </p:sp>
      <p:sp>
        <p:nvSpPr>
          <p:cNvPr id="21" name="Text 18"/>
          <p:cNvSpPr/>
          <p:nvPr/>
        </p:nvSpPr>
        <p:spPr>
          <a:xfrm>
            <a:off x="601200" y="3535200"/>
            <a:ext cx="3369600" cy="13824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22" name="Shape 19"/>
          <p:cNvSpPr/>
          <p:nvPr/>
        </p:nvSpPr>
        <p:spPr>
          <a:xfrm>
            <a:off x="4032000" y="3495600"/>
            <a:ext cx="1152000" cy="1461600"/>
          </a:xfrm>
          <a:prstGeom prst="rect">
            <a:avLst/>
          </a:prstGeom>
          <a:solidFill>
            <a:srgbClr val="FFFFFF"/>
          </a:solidFill>
          <a:ln w="6985">
            <a:solidFill>
              <a:srgbClr val="202020"/>
            </a:solidFill>
            <a:prstDash val="solid"/>
          </a:ln>
        </p:spPr>
      </p:sp>
      <p:sp>
        <p:nvSpPr>
          <p:cNvPr id="23" name="Text 20"/>
          <p:cNvSpPr/>
          <p:nvPr/>
        </p:nvSpPr>
        <p:spPr>
          <a:xfrm>
            <a:off x="4093200" y="3535200"/>
            <a:ext cx="1029600" cy="1382400"/>
          </a:xfrm>
          <a:prstGeom prst="rect">
            <a:avLst/>
          </a:prstGeom>
          <a:noFill/>
          <a:ln/>
        </p:spPr>
        <p:txBody>
          <a:bodyPr wrap="square" lIns="0" tIns="0" rIns="0" bIns="0" rtlCol="0" anchor="ctr"/>
          <a:lstStyle/>
          <a:p>
            <a:pPr algn="ctr" indent="0" marL="0">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24" name="Shape 21"/>
          <p:cNvSpPr/>
          <p:nvPr/>
        </p:nvSpPr>
        <p:spPr>
          <a:xfrm>
            <a:off x="5184000" y="3495600"/>
            <a:ext cx="1836000" cy="1461600"/>
          </a:xfrm>
          <a:prstGeom prst="rect">
            <a:avLst/>
          </a:prstGeom>
          <a:solidFill>
            <a:srgbClr val="FFFFFF"/>
          </a:solidFill>
          <a:ln w="6985">
            <a:solidFill>
              <a:srgbClr val="202020"/>
            </a:solidFill>
            <a:prstDash val="solid"/>
          </a:ln>
        </p:spPr>
      </p:sp>
      <p:sp>
        <p:nvSpPr>
          <p:cNvPr id="25" name="Text 22"/>
          <p:cNvSpPr/>
          <p:nvPr/>
        </p:nvSpPr>
        <p:spPr>
          <a:xfrm>
            <a:off x="5245200" y="3535200"/>
            <a:ext cx="1713600" cy="13824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l’ingénieur. Précision 15 transmise par le syndic et à vérifier par l’ingénieur. Précision 16 transmise par le syndic et à vérifier par l’ingénieur. Précision 17 transmise par le syndic et à vérifier par</a:t>
            </a:r>
            <a:endParaRPr lang="en-US" sz="1000" dirty="0"/>
          </a:p>
        </p:txBody>
      </p:sp>
      <p:sp>
        <p:nvSpPr>
          <p:cNvPr id="26" name="Shape 23"/>
          <p:cNvSpPr/>
          <p:nvPr/>
        </p:nvSpPr>
        <p:spPr>
          <a:xfrm>
            <a:off x="540000" y="4957200"/>
            <a:ext cx="3492000" cy="1461600"/>
          </a:xfrm>
          <a:prstGeom prst="rect">
            <a:avLst/>
          </a:prstGeom>
          <a:solidFill>
            <a:srgbClr val="FFFFFF"/>
          </a:solidFill>
          <a:ln w="6985">
            <a:solidFill>
              <a:srgbClr val="202020"/>
            </a:solidFill>
            <a:prstDash val="solid"/>
          </a:ln>
        </p:spPr>
      </p:sp>
      <p:sp>
        <p:nvSpPr>
          <p:cNvPr id="27" name="Text 24"/>
          <p:cNvSpPr/>
          <p:nvPr/>
        </p:nvSpPr>
        <p:spPr>
          <a:xfrm>
            <a:off x="601200" y="4996800"/>
            <a:ext cx="3369600" cy="13824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28" name="Shape 25"/>
          <p:cNvSpPr/>
          <p:nvPr/>
        </p:nvSpPr>
        <p:spPr>
          <a:xfrm>
            <a:off x="4032000" y="4957200"/>
            <a:ext cx="1152000" cy="1461600"/>
          </a:xfrm>
          <a:prstGeom prst="rect">
            <a:avLst/>
          </a:prstGeom>
          <a:solidFill>
            <a:srgbClr val="FFFFFF"/>
          </a:solidFill>
          <a:ln w="6985">
            <a:solidFill>
              <a:srgbClr val="202020"/>
            </a:solidFill>
            <a:prstDash val="solid"/>
          </a:ln>
        </p:spPr>
      </p:sp>
      <p:sp>
        <p:nvSpPr>
          <p:cNvPr id="29" name="Text 26"/>
          <p:cNvSpPr/>
          <p:nvPr/>
        </p:nvSpPr>
        <p:spPr>
          <a:xfrm>
            <a:off x="4093200" y="4996800"/>
            <a:ext cx="1029600" cy="1382400"/>
          </a:xfrm>
          <a:prstGeom prst="rect">
            <a:avLst/>
          </a:prstGeom>
          <a:noFill/>
          <a:ln/>
        </p:spPr>
        <p:txBody>
          <a:bodyPr wrap="square" lIns="0" tIns="0" rIns="0" bIns="0" rtlCol="0" anchor="ctr"/>
          <a:lstStyle/>
          <a:p>
            <a:pPr algn="ctr" indent="0" marL="0">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30" name="Shape 27"/>
          <p:cNvSpPr/>
          <p:nvPr/>
        </p:nvSpPr>
        <p:spPr>
          <a:xfrm>
            <a:off x="5184000" y="4957200"/>
            <a:ext cx="1836000" cy="1461600"/>
          </a:xfrm>
          <a:prstGeom prst="rect">
            <a:avLst/>
          </a:prstGeom>
          <a:solidFill>
            <a:srgbClr val="FFFFFF"/>
          </a:solidFill>
          <a:ln w="6985">
            <a:solidFill>
              <a:srgbClr val="202020"/>
            </a:solidFill>
            <a:prstDash val="solid"/>
          </a:ln>
        </p:spPr>
      </p:sp>
      <p:sp>
        <p:nvSpPr>
          <p:cNvPr id="31" name="Text 28"/>
          <p:cNvSpPr/>
          <p:nvPr/>
        </p:nvSpPr>
        <p:spPr>
          <a:xfrm>
            <a:off x="5245200" y="4996800"/>
            <a:ext cx="1713600" cy="13824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l’ingénieur. Précision 18 transmise par le syndic et à vérifier par l’ingénieur. Précision 19 transmise par le syndic et à vérifier par l’ingénieur. Précision 20 transmise par le syndic et à vérifier par</a:t>
            </a:r>
            <a:endParaRPr lang="en-US" sz="1000" dirty="0"/>
          </a:p>
        </p:txBody>
      </p:sp>
      <p:sp>
        <p:nvSpPr>
          <p:cNvPr id="32" name="Shape 29"/>
          <p:cNvSpPr/>
          <p:nvPr/>
        </p:nvSpPr>
        <p:spPr>
          <a:xfrm>
            <a:off x="540000" y="6418800"/>
            <a:ext cx="3492000" cy="1461600"/>
          </a:xfrm>
          <a:prstGeom prst="rect">
            <a:avLst/>
          </a:prstGeom>
          <a:solidFill>
            <a:srgbClr val="FFFFFF"/>
          </a:solidFill>
          <a:ln w="6985">
            <a:solidFill>
              <a:srgbClr val="202020"/>
            </a:solidFill>
            <a:prstDash val="solid"/>
          </a:ln>
        </p:spPr>
      </p:sp>
      <p:sp>
        <p:nvSpPr>
          <p:cNvPr id="33" name="Text 30"/>
          <p:cNvSpPr/>
          <p:nvPr/>
        </p:nvSpPr>
        <p:spPr>
          <a:xfrm>
            <a:off x="601200" y="6458400"/>
            <a:ext cx="3369600" cy="13824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34" name="Shape 31"/>
          <p:cNvSpPr/>
          <p:nvPr/>
        </p:nvSpPr>
        <p:spPr>
          <a:xfrm>
            <a:off x="4032000" y="6418800"/>
            <a:ext cx="1152000" cy="1461600"/>
          </a:xfrm>
          <a:prstGeom prst="rect">
            <a:avLst/>
          </a:prstGeom>
          <a:solidFill>
            <a:srgbClr val="FFFFFF"/>
          </a:solidFill>
          <a:ln w="6985">
            <a:solidFill>
              <a:srgbClr val="202020"/>
            </a:solidFill>
            <a:prstDash val="solid"/>
          </a:ln>
        </p:spPr>
      </p:sp>
      <p:sp>
        <p:nvSpPr>
          <p:cNvPr id="35" name="Text 32"/>
          <p:cNvSpPr/>
          <p:nvPr/>
        </p:nvSpPr>
        <p:spPr>
          <a:xfrm>
            <a:off x="4093200" y="6458400"/>
            <a:ext cx="1029600" cy="1382400"/>
          </a:xfrm>
          <a:prstGeom prst="rect">
            <a:avLst/>
          </a:prstGeom>
          <a:noFill/>
          <a:ln/>
        </p:spPr>
        <p:txBody>
          <a:bodyPr wrap="square" lIns="0" tIns="0" rIns="0" bIns="0" rtlCol="0" anchor="ctr"/>
          <a:lstStyle/>
          <a:p>
            <a:pPr algn="ctr" indent="0" marL="0">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36" name="Shape 33"/>
          <p:cNvSpPr/>
          <p:nvPr/>
        </p:nvSpPr>
        <p:spPr>
          <a:xfrm>
            <a:off x="5184000" y="6418800"/>
            <a:ext cx="1836000" cy="1461600"/>
          </a:xfrm>
          <a:prstGeom prst="rect">
            <a:avLst/>
          </a:prstGeom>
          <a:solidFill>
            <a:srgbClr val="FFFFFF"/>
          </a:solidFill>
          <a:ln w="6985">
            <a:solidFill>
              <a:srgbClr val="202020"/>
            </a:solidFill>
            <a:prstDash val="solid"/>
          </a:ln>
        </p:spPr>
      </p:sp>
      <p:sp>
        <p:nvSpPr>
          <p:cNvPr id="37" name="Text 34"/>
          <p:cNvSpPr/>
          <p:nvPr/>
        </p:nvSpPr>
        <p:spPr>
          <a:xfrm>
            <a:off x="5245200" y="6458400"/>
            <a:ext cx="1713600" cy="13824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l’ingénieur. Précision 21 transmise par le syndic et à vérifier par l’ingénieur. Précision 22 transmise par le syndic et à vérifier par l’ingénieur. Précision 23 transmise par le syndic et à vérifier par</a:t>
            </a:r>
            <a:endParaRPr lang="en-US" sz="1000" dirty="0"/>
          </a:p>
        </p:txBody>
      </p:sp>
      <p:sp>
        <p:nvSpPr>
          <p:cNvPr id="38" name="Shape 35"/>
          <p:cNvSpPr/>
          <p:nvPr/>
        </p:nvSpPr>
        <p:spPr>
          <a:xfrm>
            <a:off x="540000" y="7880400"/>
            <a:ext cx="3492000" cy="1461600"/>
          </a:xfrm>
          <a:prstGeom prst="rect">
            <a:avLst/>
          </a:prstGeom>
          <a:solidFill>
            <a:srgbClr val="FFFFFF"/>
          </a:solidFill>
          <a:ln w="6985">
            <a:solidFill>
              <a:srgbClr val="202020"/>
            </a:solidFill>
            <a:prstDash val="solid"/>
          </a:ln>
        </p:spPr>
      </p:sp>
      <p:sp>
        <p:nvSpPr>
          <p:cNvPr id="39" name="Text 36"/>
          <p:cNvSpPr/>
          <p:nvPr/>
        </p:nvSpPr>
        <p:spPr>
          <a:xfrm>
            <a:off x="601200" y="7920000"/>
            <a:ext cx="3369600" cy="13824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40" name="Shape 37"/>
          <p:cNvSpPr/>
          <p:nvPr/>
        </p:nvSpPr>
        <p:spPr>
          <a:xfrm>
            <a:off x="4032000" y="7880400"/>
            <a:ext cx="1152000" cy="1461600"/>
          </a:xfrm>
          <a:prstGeom prst="rect">
            <a:avLst/>
          </a:prstGeom>
          <a:solidFill>
            <a:srgbClr val="FFFFFF"/>
          </a:solidFill>
          <a:ln w="6985">
            <a:solidFill>
              <a:srgbClr val="202020"/>
            </a:solidFill>
            <a:prstDash val="solid"/>
          </a:ln>
        </p:spPr>
      </p:sp>
      <p:sp>
        <p:nvSpPr>
          <p:cNvPr id="41" name="Text 38"/>
          <p:cNvSpPr/>
          <p:nvPr/>
        </p:nvSpPr>
        <p:spPr>
          <a:xfrm>
            <a:off x="4093200" y="7920000"/>
            <a:ext cx="1029600" cy="1382400"/>
          </a:xfrm>
          <a:prstGeom prst="rect">
            <a:avLst/>
          </a:prstGeom>
          <a:noFill/>
          <a:ln/>
        </p:spPr>
        <p:txBody>
          <a:bodyPr wrap="square" lIns="0" tIns="0" rIns="0" bIns="0" rtlCol="0" anchor="ctr"/>
          <a:lstStyle/>
          <a:p>
            <a:pPr algn="ctr" indent="0" marL="0">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42" name="Shape 39"/>
          <p:cNvSpPr/>
          <p:nvPr/>
        </p:nvSpPr>
        <p:spPr>
          <a:xfrm>
            <a:off x="5184000" y="7880400"/>
            <a:ext cx="1836000" cy="1461600"/>
          </a:xfrm>
          <a:prstGeom prst="rect">
            <a:avLst/>
          </a:prstGeom>
          <a:solidFill>
            <a:srgbClr val="FFFFFF"/>
          </a:solidFill>
          <a:ln w="6985">
            <a:solidFill>
              <a:srgbClr val="202020"/>
            </a:solidFill>
            <a:prstDash val="solid"/>
          </a:ln>
        </p:spPr>
      </p:sp>
      <p:sp>
        <p:nvSpPr>
          <p:cNvPr id="43" name="Text 40"/>
          <p:cNvSpPr/>
          <p:nvPr/>
        </p:nvSpPr>
        <p:spPr>
          <a:xfrm>
            <a:off x="5245200" y="7920000"/>
            <a:ext cx="1713600" cy="13824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l’ingénieur. Précision 24 transmise par le syndic et à vérifier par l’ingénieur. Précision 25 transmise par le syndic et à vérifier par l’ingénieur. Précision 26 transmise par le syndic et à vérifier par</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26</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5.1 Documents réglementaires et administratifs — suite</a:t>
            </a:r>
            <a:endParaRPr lang="en-US" sz="1300" dirty="0"/>
          </a:p>
        </p:txBody>
      </p:sp>
      <p:sp>
        <p:nvSpPr>
          <p:cNvPr id="8" name="Shape 5"/>
          <p:cNvSpPr/>
          <p:nvPr/>
        </p:nvSpPr>
        <p:spPr>
          <a:xfrm>
            <a:off x="540000" y="1710000"/>
            <a:ext cx="3492000" cy="324000"/>
          </a:xfrm>
          <a:prstGeom prst="rect">
            <a:avLst/>
          </a:prstGeom>
          <a:solidFill>
            <a:srgbClr val="FFFFFF"/>
          </a:solidFill>
          <a:ln w="6985">
            <a:solidFill>
              <a:srgbClr val="202020"/>
            </a:solidFill>
            <a:prstDash val="solid"/>
          </a:ln>
        </p:spPr>
      </p:sp>
      <p:sp>
        <p:nvSpPr>
          <p:cNvPr id="9" name="Text 6"/>
          <p:cNvSpPr/>
          <p:nvPr/>
        </p:nvSpPr>
        <p:spPr>
          <a:xfrm>
            <a:off x="601200" y="1749600"/>
            <a:ext cx="336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1710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1749600"/>
            <a:ext cx="102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1710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1749600"/>
            <a:ext cx="1713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2034000"/>
            <a:ext cx="3492000" cy="1461600"/>
          </a:xfrm>
          <a:prstGeom prst="rect">
            <a:avLst/>
          </a:prstGeom>
          <a:solidFill>
            <a:srgbClr val="FFFFFF"/>
          </a:solidFill>
          <a:ln w="6985">
            <a:solidFill>
              <a:srgbClr val="202020"/>
            </a:solidFill>
            <a:prstDash val="solid"/>
          </a:ln>
        </p:spPr>
      </p:sp>
      <p:sp>
        <p:nvSpPr>
          <p:cNvPr id="15" name="Text 12"/>
          <p:cNvSpPr/>
          <p:nvPr/>
        </p:nvSpPr>
        <p:spPr>
          <a:xfrm>
            <a:off x="601200" y="2073600"/>
            <a:ext cx="3369600" cy="13824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16" name="Shape 13"/>
          <p:cNvSpPr/>
          <p:nvPr/>
        </p:nvSpPr>
        <p:spPr>
          <a:xfrm>
            <a:off x="4032000" y="2034000"/>
            <a:ext cx="1152000" cy="1461600"/>
          </a:xfrm>
          <a:prstGeom prst="rect">
            <a:avLst/>
          </a:prstGeom>
          <a:solidFill>
            <a:srgbClr val="FFFFFF"/>
          </a:solidFill>
          <a:ln w="6985">
            <a:solidFill>
              <a:srgbClr val="202020"/>
            </a:solidFill>
            <a:prstDash val="solid"/>
          </a:ln>
        </p:spPr>
      </p:sp>
      <p:sp>
        <p:nvSpPr>
          <p:cNvPr id="17" name="Text 14"/>
          <p:cNvSpPr/>
          <p:nvPr/>
        </p:nvSpPr>
        <p:spPr>
          <a:xfrm>
            <a:off x="4093200" y="2073600"/>
            <a:ext cx="1029600" cy="1382400"/>
          </a:xfrm>
          <a:prstGeom prst="rect">
            <a:avLst/>
          </a:prstGeom>
          <a:noFill/>
          <a:ln/>
        </p:spPr>
        <p:txBody>
          <a:bodyPr wrap="square" lIns="0" tIns="0" rIns="0" bIns="0" rtlCol="0" anchor="ctr"/>
          <a:lstStyle/>
          <a:p>
            <a:pPr algn="ctr" indent="0" marL="0">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18" name="Shape 15"/>
          <p:cNvSpPr/>
          <p:nvPr/>
        </p:nvSpPr>
        <p:spPr>
          <a:xfrm>
            <a:off x="5184000" y="2034000"/>
            <a:ext cx="1836000" cy="1461600"/>
          </a:xfrm>
          <a:prstGeom prst="rect">
            <a:avLst/>
          </a:prstGeom>
          <a:solidFill>
            <a:srgbClr val="FFFFFF"/>
          </a:solidFill>
          <a:ln w="6985">
            <a:solidFill>
              <a:srgbClr val="202020"/>
            </a:solidFill>
            <a:prstDash val="solid"/>
          </a:ln>
        </p:spPr>
      </p:sp>
      <p:sp>
        <p:nvSpPr>
          <p:cNvPr id="19" name="Text 16"/>
          <p:cNvSpPr/>
          <p:nvPr/>
        </p:nvSpPr>
        <p:spPr>
          <a:xfrm>
            <a:off x="5245200" y="2073600"/>
            <a:ext cx="1713600" cy="13824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l’ingénieur. Précision 27 transmise par le syndic et à vérifier par l’ingénieur. Précision 28 transmise par le syndic et à vérifier par l’ingénieur. Précision 29 transmise par le syndic et à vérifier par</a:t>
            </a:r>
            <a:endParaRPr lang="en-US" sz="1000" dirty="0"/>
          </a:p>
        </p:txBody>
      </p:sp>
      <p:sp>
        <p:nvSpPr>
          <p:cNvPr id="20" name="Shape 17"/>
          <p:cNvSpPr/>
          <p:nvPr/>
        </p:nvSpPr>
        <p:spPr>
          <a:xfrm>
            <a:off x="540000" y="3495600"/>
            <a:ext cx="3492000" cy="1461600"/>
          </a:xfrm>
          <a:prstGeom prst="rect">
            <a:avLst/>
          </a:prstGeom>
          <a:solidFill>
            <a:srgbClr val="FFFFFF"/>
          </a:solidFill>
          <a:ln w="6985">
            <a:solidFill>
              <a:srgbClr val="202020"/>
            </a:solidFill>
            <a:prstDash val="solid"/>
          </a:ln>
        </p:spPr>
      </p:sp>
      <p:sp>
        <p:nvSpPr>
          <p:cNvPr id="21" name="Text 18"/>
          <p:cNvSpPr/>
          <p:nvPr/>
        </p:nvSpPr>
        <p:spPr>
          <a:xfrm>
            <a:off x="601200" y="3535200"/>
            <a:ext cx="3369600" cy="13824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22" name="Shape 19"/>
          <p:cNvSpPr/>
          <p:nvPr/>
        </p:nvSpPr>
        <p:spPr>
          <a:xfrm>
            <a:off x="4032000" y="3495600"/>
            <a:ext cx="1152000" cy="1461600"/>
          </a:xfrm>
          <a:prstGeom prst="rect">
            <a:avLst/>
          </a:prstGeom>
          <a:solidFill>
            <a:srgbClr val="FFFFFF"/>
          </a:solidFill>
          <a:ln w="6985">
            <a:solidFill>
              <a:srgbClr val="202020"/>
            </a:solidFill>
            <a:prstDash val="solid"/>
          </a:ln>
        </p:spPr>
      </p:sp>
      <p:sp>
        <p:nvSpPr>
          <p:cNvPr id="23" name="Text 20"/>
          <p:cNvSpPr/>
          <p:nvPr/>
        </p:nvSpPr>
        <p:spPr>
          <a:xfrm>
            <a:off x="4093200" y="3535200"/>
            <a:ext cx="1029600" cy="1382400"/>
          </a:xfrm>
          <a:prstGeom prst="rect">
            <a:avLst/>
          </a:prstGeom>
          <a:noFill/>
          <a:ln/>
        </p:spPr>
        <p:txBody>
          <a:bodyPr wrap="square" lIns="0" tIns="0" rIns="0" bIns="0" rtlCol="0" anchor="ctr"/>
          <a:lstStyle/>
          <a:p>
            <a:pPr algn="ctr" indent="0" marL="0">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24" name="Shape 21"/>
          <p:cNvSpPr/>
          <p:nvPr/>
        </p:nvSpPr>
        <p:spPr>
          <a:xfrm>
            <a:off x="5184000" y="3495600"/>
            <a:ext cx="1836000" cy="1461600"/>
          </a:xfrm>
          <a:prstGeom prst="rect">
            <a:avLst/>
          </a:prstGeom>
          <a:solidFill>
            <a:srgbClr val="FFFFFF"/>
          </a:solidFill>
          <a:ln w="6985">
            <a:solidFill>
              <a:srgbClr val="202020"/>
            </a:solidFill>
            <a:prstDash val="solid"/>
          </a:ln>
        </p:spPr>
      </p:sp>
      <p:sp>
        <p:nvSpPr>
          <p:cNvPr id="25" name="Text 22"/>
          <p:cNvSpPr/>
          <p:nvPr/>
        </p:nvSpPr>
        <p:spPr>
          <a:xfrm>
            <a:off x="5245200" y="3535200"/>
            <a:ext cx="1713600" cy="13824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l’ingénieur. Précision 30 transmise par le syndic et à vérifier par l’ingénieur. Précision 31 transmise par le syndic et à vérifier par l’ingénieur. Précision 32 transmise par le syndic et à vérifier par</a:t>
            </a:r>
            <a:endParaRPr lang="en-US" sz="1000" dirty="0"/>
          </a:p>
        </p:txBody>
      </p:sp>
      <p:sp>
        <p:nvSpPr>
          <p:cNvPr id="26" name="Shape 23"/>
          <p:cNvSpPr/>
          <p:nvPr/>
        </p:nvSpPr>
        <p:spPr>
          <a:xfrm>
            <a:off x="540000" y="4957200"/>
            <a:ext cx="3492000" cy="1461600"/>
          </a:xfrm>
          <a:prstGeom prst="rect">
            <a:avLst/>
          </a:prstGeom>
          <a:solidFill>
            <a:srgbClr val="FFFFFF"/>
          </a:solidFill>
          <a:ln w="6985">
            <a:solidFill>
              <a:srgbClr val="202020"/>
            </a:solidFill>
            <a:prstDash val="solid"/>
          </a:ln>
        </p:spPr>
      </p:sp>
      <p:sp>
        <p:nvSpPr>
          <p:cNvPr id="27" name="Text 24"/>
          <p:cNvSpPr/>
          <p:nvPr/>
        </p:nvSpPr>
        <p:spPr>
          <a:xfrm>
            <a:off x="601200" y="4996800"/>
            <a:ext cx="3369600" cy="13824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28" name="Shape 25"/>
          <p:cNvSpPr/>
          <p:nvPr/>
        </p:nvSpPr>
        <p:spPr>
          <a:xfrm>
            <a:off x="4032000" y="4957200"/>
            <a:ext cx="1152000" cy="1461600"/>
          </a:xfrm>
          <a:prstGeom prst="rect">
            <a:avLst/>
          </a:prstGeom>
          <a:solidFill>
            <a:srgbClr val="FFFFFF"/>
          </a:solidFill>
          <a:ln w="6985">
            <a:solidFill>
              <a:srgbClr val="202020"/>
            </a:solidFill>
            <a:prstDash val="solid"/>
          </a:ln>
        </p:spPr>
      </p:sp>
      <p:sp>
        <p:nvSpPr>
          <p:cNvPr id="29" name="Text 26"/>
          <p:cNvSpPr/>
          <p:nvPr/>
        </p:nvSpPr>
        <p:spPr>
          <a:xfrm>
            <a:off x="4093200" y="4996800"/>
            <a:ext cx="1029600" cy="1382400"/>
          </a:xfrm>
          <a:prstGeom prst="rect">
            <a:avLst/>
          </a:prstGeom>
          <a:noFill/>
          <a:ln/>
        </p:spPr>
        <p:txBody>
          <a:bodyPr wrap="square" lIns="0" tIns="0" rIns="0" bIns="0" rtlCol="0" anchor="ctr"/>
          <a:lstStyle/>
          <a:p>
            <a:pPr algn="ctr" indent="0" marL="0">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30" name="Shape 27"/>
          <p:cNvSpPr/>
          <p:nvPr/>
        </p:nvSpPr>
        <p:spPr>
          <a:xfrm>
            <a:off x="5184000" y="4957200"/>
            <a:ext cx="1836000" cy="1461600"/>
          </a:xfrm>
          <a:prstGeom prst="rect">
            <a:avLst/>
          </a:prstGeom>
          <a:solidFill>
            <a:srgbClr val="FFFFFF"/>
          </a:solidFill>
          <a:ln w="6985">
            <a:solidFill>
              <a:srgbClr val="202020"/>
            </a:solidFill>
            <a:prstDash val="solid"/>
          </a:ln>
        </p:spPr>
      </p:sp>
      <p:sp>
        <p:nvSpPr>
          <p:cNvPr id="31" name="Text 28"/>
          <p:cNvSpPr/>
          <p:nvPr/>
        </p:nvSpPr>
        <p:spPr>
          <a:xfrm>
            <a:off x="5245200" y="4996800"/>
            <a:ext cx="1713600" cy="13824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l’ingénieur. Précision 33 transmise par le syndic et à vérifier par l’ingénieur. Précision 34 transmise par le syndic et à vérifier par l’ingénieur. Précision 35 transmise par le syndic et à vérifier par</a:t>
            </a:r>
            <a:endParaRPr lang="en-US" sz="1000" dirty="0"/>
          </a:p>
        </p:txBody>
      </p:sp>
      <p:sp>
        <p:nvSpPr>
          <p:cNvPr id="32" name="Shape 29"/>
          <p:cNvSpPr/>
          <p:nvPr/>
        </p:nvSpPr>
        <p:spPr>
          <a:xfrm>
            <a:off x="540000" y="6418800"/>
            <a:ext cx="3492000" cy="964800"/>
          </a:xfrm>
          <a:prstGeom prst="rect">
            <a:avLst/>
          </a:prstGeom>
          <a:solidFill>
            <a:srgbClr val="FFFFFF"/>
          </a:solidFill>
          <a:ln w="6985">
            <a:solidFill>
              <a:srgbClr val="202020"/>
            </a:solidFill>
            <a:prstDash val="solid"/>
          </a:ln>
        </p:spPr>
      </p:sp>
      <p:sp>
        <p:nvSpPr>
          <p:cNvPr id="33" name="Text 30"/>
          <p:cNvSpPr/>
          <p:nvPr/>
        </p:nvSpPr>
        <p:spPr>
          <a:xfrm>
            <a:off x="601200" y="6458400"/>
            <a:ext cx="3369600" cy="8856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34" name="Shape 31"/>
          <p:cNvSpPr/>
          <p:nvPr/>
        </p:nvSpPr>
        <p:spPr>
          <a:xfrm>
            <a:off x="4032000" y="6418800"/>
            <a:ext cx="1152000" cy="964800"/>
          </a:xfrm>
          <a:prstGeom prst="rect">
            <a:avLst/>
          </a:prstGeom>
          <a:solidFill>
            <a:srgbClr val="FFFFFF"/>
          </a:solidFill>
          <a:ln w="6985">
            <a:solidFill>
              <a:srgbClr val="202020"/>
            </a:solidFill>
            <a:prstDash val="solid"/>
          </a:ln>
        </p:spPr>
      </p:sp>
      <p:sp>
        <p:nvSpPr>
          <p:cNvPr id="35" name="Text 32"/>
          <p:cNvSpPr/>
          <p:nvPr/>
        </p:nvSpPr>
        <p:spPr>
          <a:xfrm>
            <a:off x="4093200" y="6458400"/>
            <a:ext cx="1029600" cy="885600"/>
          </a:xfrm>
          <a:prstGeom prst="rect">
            <a:avLst/>
          </a:prstGeom>
          <a:noFill/>
          <a:ln/>
        </p:spPr>
        <p:txBody>
          <a:bodyPr wrap="square" lIns="0" tIns="0" rIns="0" bIns="0" rtlCol="0" anchor="ctr"/>
          <a:lstStyle/>
          <a:p>
            <a:pPr algn="ctr" indent="0" marL="0">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36" name="Shape 33"/>
          <p:cNvSpPr/>
          <p:nvPr/>
        </p:nvSpPr>
        <p:spPr>
          <a:xfrm>
            <a:off x="5184000" y="6418800"/>
            <a:ext cx="1836000" cy="964800"/>
          </a:xfrm>
          <a:prstGeom prst="rect">
            <a:avLst/>
          </a:prstGeom>
          <a:solidFill>
            <a:srgbClr val="FFFFFF"/>
          </a:solidFill>
          <a:ln w="6985">
            <a:solidFill>
              <a:srgbClr val="202020"/>
            </a:solidFill>
            <a:prstDash val="solid"/>
          </a:ln>
        </p:spPr>
      </p:sp>
      <p:sp>
        <p:nvSpPr>
          <p:cNvPr id="37" name="Text 34"/>
          <p:cNvSpPr/>
          <p:nvPr/>
        </p:nvSpPr>
        <p:spPr>
          <a:xfrm>
            <a:off x="5245200" y="6458400"/>
            <a:ext cx="1713600" cy="8856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l’ingénieur. Précision 36 transmise par le syndic et à vérifier par l’ingénieur. Fin du commentaire documentaire à conserver.</a:t>
            </a:r>
            <a:endParaRPr lang="en-US" sz="1000" dirty="0"/>
          </a:p>
        </p:txBody>
      </p:sp>
      <p:sp>
        <p:nvSpPr>
          <p:cNvPr id="38" name="Shape 35"/>
          <p:cNvSpPr/>
          <p:nvPr/>
        </p:nvSpPr>
        <p:spPr>
          <a:xfrm>
            <a:off x="540000" y="7383600"/>
            <a:ext cx="3492000" cy="964800"/>
          </a:xfrm>
          <a:prstGeom prst="rect">
            <a:avLst/>
          </a:prstGeom>
          <a:solidFill>
            <a:srgbClr val="FFFFFF"/>
          </a:solidFill>
          <a:ln w="6985">
            <a:solidFill>
              <a:srgbClr val="202020"/>
            </a:solidFill>
            <a:prstDash val="solid"/>
          </a:ln>
        </p:spPr>
      </p:sp>
      <p:sp>
        <p:nvSpPr>
          <p:cNvPr id="39" name="Text 36"/>
          <p:cNvSpPr/>
          <p:nvPr/>
        </p:nvSpPr>
        <p:spPr>
          <a:xfrm>
            <a:off x="601200" y="7423200"/>
            <a:ext cx="3369600" cy="8856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Immatriculation de la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8-2</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2014-366 du 24/03/2014 (ALUR)</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d’immatriculer la copropriété au registre national des copropriétés.</a:t>
            </a:r>
            <a:endParaRPr lang="en-US" sz="1000" dirty="0"/>
          </a:p>
        </p:txBody>
      </p:sp>
      <p:sp>
        <p:nvSpPr>
          <p:cNvPr id="40" name="Shape 37"/>
          <p:cNvSpPr/>
          <p:nvPr/>
        </p:nvSpPr>
        <p:spPr>
          <a:xfrm>
            <a:off x="4032000" y="7383600"/>
            <a:ext cx="1152000" cy="964800"/>
          </a:xfrm>
          <a:prstGeom prst="rect">
            <a:avLst/>
          </a:prstGeom>
          <a:solidFill>
            <a:srgbClr val="00B55A"/>
          </a:solidFill>
          <a:ln w="6985">
            <a:solidFill>
              <a:srgbClr val="202020"/>
            </a:solidFill>
            <a:prstDash val="solid"/>
          </a:ln>
        </p:spPr>
      </p:sp>
      <p:sp>
        <p:nvSpPr>
          <p:cNvPr id="41" name="Text 38"/>
          <p:cNvSpPr/>
          <p:nvPr/>
        </p:nvSpPr>
        <p:spPr>
          <a:xfrm>
            <a:off x="4093200" y="7423200"/>
            <a:ext cx="1029600" cy="8856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42" name="Shape 39"/>
          <p:cNvSpPr/>
          <p:nvPr/>
        </p:nvSpPr>
        <p:spPr>
          <a:xfrm>
            <a:off x="5184000" y="7383600"/>
            <a:ext cx="1836000" cy="964800"/>
          </a:xfrm>
          <a:prstGeom prst="rect">
            <a:avLst/>
          </a:prstGeom>
          <a:solidFill>
            <a:srgbClr val="FFFFFF"/>
          </a:solidFill>
          <a:ln w="6985">
            <a:solidFill>
              <a:srgbClr val="202020"/>
            </a:solidFill>
            <a:prstDash val="solid"/>
          </a:ln>
        </p:spPr>
      </p:sp>
      <p:sp>
        <p:nvSpPr>
          <p:cNvPr id="43" name="Text 40"/>
          <p:cNvSpPr/>
          <p:nvPr/>
        </p:nvSpPr>
        <p:spPr>
          <a:xfrm>
            <a:off x="5245200" y="7423200"/>
            <a:ext cx="1713600" cy="885600"/>
          </a:xfrm>
          <a:prstGeom prst="rect">
            <a:avLst/>
          </a:prstGeom>
          <a:noFill/>
          <a:ln/>
        </p:spPr>
        <p:txBody>
          <a:bodyPr wrap="square" lIns="0" tIns="0" rIns="0" bIns="0" rtlCol="0" anchor="t"/>
          <a:lstStyle/>
          <a:p>
            <a:pPr algn="l" indent="0" marL="0">
              <a:buNone/>
            </a:pPr>
            <a:endParaRPr lang="en-US" sz="1000" dirty="0"/>
          </a:p>
        </p:txBody>
      </p:sp>
      <p:sp>
        <p:nvSpPr>
          <p:cNvPr id="44" name="Shape 41"/>
          <p:cNvSpPr/>
          <p:nvPr/>
        </p:nvSpPr>
        <p:spPr>
          <a:xfrm>
            <a:off x="540000" y="8348400"/>
            <a:ext cx="3492000" cy="964800"/>
          </a:xfrm>
          <a:prstGeom prst="rect">
            <a:avLst/>
          </a:prstGeom>
          <a:solidFill>
            <a:srgbClr val="FFFFFF"/>
          </a:solidFill>
          <a:ln w="6985">
            <a:solidFill>
              <a:srgbClr val="202020"/>
            </a:solidFill>
            <a:prstDash val="solid"/>
          </a:ln>
        </p:spPr>
      </p:sp>
      <p:sp>
        <p:nvSpPr>
          <p:cNvPr id="45" name="Text 42"/>
          <p:cNvSpPr/>
          <p:nvPr/>
        </p:nvSpPr>
        <p:spPr>
          <a:xfrm>
            <a:off x="601200" y="8388000"/>
            <a:ext cx="3369600" cy="8856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Fiche synthétique</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8-2-1</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Décret n° 2016-1822 du 21/12/2016</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d’établir et de mettre à jour annuellement une fiche synthétique de la copropriété.</a:t>
            </a:r>
            <a:endParaRPr lang="en-US" sz="1000" dirty="0"/>
          </a:p>
        </p:txBody>
      </p:sp>
      <p:sp>
        <p:nvSpPr>
          <p:cNvPr id="46" name="Shape 43"/>
          <p:cNvSpPr/>
          <p:nvPr/>
        </p:nvSpPr>
        <p:spPr>
          <a:xfrm>
            <a:off x="4032000" y="8348400"/>
            <a:ext cx="1152000" cy="964800"/>
          </a:xfrm>
          <a:prstGeom prst="rect">
            <a:avLst/>
          </a:prstGeom>
          <a:solidFill>
            <a:srgbClr val="00B55A"/>
          </a:solidFill>
          <a:ln w="6985">
            <a:solidFill>
              <a:srgbClr val="202020"/>
            </a:solidFill>
            <a:prstDash val="solid"/>
          </a:ln>
        </p:spPr>
      </p:sp>
      <p:sp>
        <p:nvSpPr>
          <p:cNvPr id="47" name="Text 44"/>
          <p:cNvSpPr/>
          <p:nvPr/>
        </p:nvSpPr>
        <p:spPr>
          <a:xfrm>
            <a:off x="4093200" y="8388000"/>
            <a:ext cx="1029600" cy="8856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48" name="Shape 45"/>
          <p:cNvSpPr/>
          <p:nvPr/>
        </p:nvSpPr>
        <p:spPr>
          <a:xfrm>
            <a:off x="5184000" y="8348400"/>
            <a:ext cx="1836000" cy="964800"/>
          </a:xfrm>
          <a:prstGeom prst="rect">
            <a:avLst/>
          </a:prstGeom>
          <a:solidFill>
            <a:srgbClr val="FFFFFF"/>
          </a:solidFill>
          <a:ln w="6985">
            <a:solidFill>
              <a:srgbClr val="202020"/>
            </a:solidFill>
            <a:prstDash val="solid"/>
          </a:ln>
        </p:spPr>
      </p:sp>
      <p:sp>
        <p:nvSpPr>
          <p:cNvPr id="49" name="Text 46"/>
          <p:cNvSpPr/>
          <p:nvPr/>
        </p:nvSpPr>
        <p:spPr>
          <a:xfrm>
            <a:off x="5245200" y="8388000"/>
            <a:ext cx="1713600" cy="885600"/>
          </a:xfrm>
          <a:prstGeom prst="rect">
            <a:avLst/>
          </a:prstGeom>
          <a:noFill/>
          <a:ln/>
        </p:spPr>
        <p:txBody>
          <a:bodyPr wrap="square" lIns="0" tIns="0" rIns="0" bIns="0" rtlCol="0" anchor="t"/>
          <a:lstStyle/>
          <a:p>
            <a:pPr algn="l" indent="0" marL="0">
              <a:buNone/>
            </a:pP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27</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5.1 Documents réglementaires et administratifs — suite</a:t>
            </a:r>
            <a:endParaRPr lang="en-US" sz="1300" dirty="0"/>
          </a:p>
        </p:txBody>
      </p:sp>
      <p:sp>
        <p:nvSpPr>
          <p:cNvPr id="8" name="Shape 5"/>
          <p:cNvSpPr/>
          <p:nvPr/>
        </p:nvSpPr>
        <p:spPr>
          <a:xfrm>
            <a:off x="540000" y="1710000"/>
            <a:ext cx="3492000" cy="324000"/>
          </a:xfrm>
          <a:prstGeom prst="rect">
            <a:avLst/>
          </a:prstGeom>
          <a:solidFill>
            <a:srgbClr val="FFFFFF"/>
          </a:solidFill>
          <a:ln w="6985">
            <a:solidFill>
              <a:srgbClr val="202020"/>
            </a:solidFill>
            <a:prstDash val="solid"/>
          </a:ln>
        </p:spPr>
      </p:sp>
      <p:sp>
        <p:nvSpPr>
          <p:cNvPr id="9" name="Text 6"/>
          <p:cNvSpPr/>
          <p:nvPr/>
        </p:nvSpPr>
        <p:spPr>
          <a:xfrm>
            <a:off x="601200" y="1749600"/>
            <a:ext cx="336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1710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1749600"/>
            <a:ext cx="102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1710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1749600"/>
            <a:ext cx="1713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2034000"/>
            <a:ext cx="3492000" cy="1130400"/>
          </a:xfrm>
          <a:prstGeom prst="rect">
            <a:avLst/>
          </a:prstGeom>
          <a:solidFill>
            <a:srgbClr val="FFFFFF"/>
          </a:solidFill>
          <a:ln w="6985">
            <a:solidFill>
              <a:srgbClr val="202020"/>
            </a:solidFill>
            <a:prstDash val="solid"/>
          </a:ln>
        </p:spPr>
      </p:sp>
      <p:sp>
        <p:nvSpPr>
          <p:cNvPr id="15" name="Text 12"/>
          <p:cNvSpPr/>
          <p:nvPr/>
        </p:nvSpPr>
        <p:spPr>
          <a:xfrm>
            <a:off x="601200" y="2073600"/>
            <a:ext cx="3369600" cy="10512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Règlement de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8</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disposer d’un règlement de copropriété définissant l’organisation, les parties communes et privatives, ainsi que les droits et obligations des copropriétaires.</a:t>
            </a:r>
            <a:endParaRPr lang="en-US" sz="1000" dirty="0"/>
          </a:p>
        </p:txBody>
      </p:sp>
      <p:sp>
        <p:nvSpPr>
          <p:cNvPr id="16" name="Shape 13"/>
          <p:cNvSpPr/>
          <p:nvPr/>
        </p:nvSpPr>
        <p:spPr>
          <a:xfrm>
            <a:off x="4032000" y="2034000"/>
            <a:ext cx="1152000" cy="1130400"/>
          </a:xfrm>
          <a:prstGeom prst="rect">
            <a:avLst/>
          </a:prstGeom>
          <a:solidFill>
            <a:srgbClr val="00B55A"/>
          </a:solidFill>
          <a:ln w="6985">
            <a:solidFill>
              <a:srgbClr val="202020"/>
            </a:solidFill>
            <a:prstDash val="solid"/>
          </a:ln>
        </p:spPr>
      </p:sp>
      <p:sp>
        <p:nvSpPr>
          <p:cNvPr id="17" name="Text 14"/>
          <p:cNvSpPr/>
          <p:nvPr/>
        </p:nvSpPr>
        <p:spPr>
          <a:xfrm>
            <a:off x="4093200" y="2073600"/>
            <a:ext cx="1029600" cy="10512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18" name="Shape 15"/>
          <p:cNvSpPr/>
          <p:nvPr/>
        </p:nvSpPr>
        <p:spPr>
          <a:xfrm>
            <a:off x="5184000" y="2034000"/>
            <a:ext cx="1836000" cy="1130400"/>
          </a:xfrm>
          <a:prstGeom prst="rect">
            <a:avLst/>
          </a:prstGeom>
          <a:solidFill>
            <a:srgbClr val="FFFFFF"/>
          </a:solidFill>
          <a:ln w="6985">
            <a:solidFill>
              <a:srgbClr val="202020"/>
            </a:solidFill>
            <a:prstDash val="solid"/>
          </a:ln>
        </p:spPr>
      </p:sp>
      <p:sp>
        <p:nvSpPr>
          <p:cNvPr id="19" name="Text 16"/>
          <p:cNvSpPr/>
          <p:nvPr/>
        </p:nvSpPr>
        <p:spPr>
          <a:xfrm>
            <a:off x="5245200" y="2073600"/>
            <a:ext cx="1713600" cy="1051200"/>
          </a:xfrm>
          <a:prstGeom prst="rect">
            <a:avLst/>
          </a:prstGeom>
          <a:noFill/>
          <a:ln/>
        </p:spPr>
        <p:txBody>
          <a:bodyPr wrap="square" lIns="0" tIns="0" rIns="0" bIns="0" rtlCol="0" anchor="t"/>
          <a:lstStyle/>
          <a:p>
            <a:pPr algn="l" indent="0" marL="0">
              <a:buNone/>
            </a:pPr>
            <a:endParaRPr lang="en-US" sz="1000" dirty="0"/>
          </a:p>
        </p:txBody>
      </p:sp>
      <p:sp>
        <p:nvSpPr>
          <p:cNvPr id="20" name="Shape 17"/>
          <p:cNvSpPr/>
          <p:nvPr/>
        </p:nvSpPr>
        <p:spPr>
          <a:xfrm>
            <a:off x="540000" y="3164400"/>
            <a:ext cx="3492000" cy="964800"/>
          </a:xfrm>
          <a:prstGeom prst="rect">
            <a:avLst/>
          </a:prstGeom>
          <a:solidFill>
            <a:srgbClr val="FFFFFF"/>
          </a:solidFill>
          <a:ln w="6985">
            <a:solidFill>
              <a:srgbClr val="202020"/>
            </a:solidFill>
            <a:prstDash val="solid"/>
          </a:ln>
        </p:spPr>
      </p:sp>
      <p:sp>
        <p:nvSpPr>
          <p:cNvPr id="21" name="Text 18"/>
          <p:cNvSpPr/>
          <p:nvPr/>
        </p:nvSpPr>
        <p:spPr>
          <a:xfrm>
            <a:off x="601200" y="3204000"/>
            <a:ext cx="3369600" cy="8856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Compte bancaire séparé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18</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2014-366 du 24/03/2014 (ALUR)</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d’ouvrir et de tenir un compte bancaire séparé au nom du syndicat des copropriétaires.</a:t>
            </a:r>
            <a:endParaRPr lang="en-US" sz="1000" dirty="0"/>
          </a:p>
        </p:txBody>
      </p:sp>
      <p:sp>
        <p:nvSpPr>
          <p:cNvPr id="22" name="Shape 19"/>
          <p:cNvSpPr/>
          <p:nvPr/>
        </p:nvSpPr>
        <p:spPr>
          <a:xfrm>
            <a:off x="4032000" y="3164400"/>
            <a:ext cx="1152000" cy="964800"/>
          </a:xfrm>
          <a:prstGeom prst="rect">
            <a:avLst/>
          </a:prstGeom>
          <a:solidFill>
            <a:srgbClr val="00B55A"/>
          </a:solidFill>
          <a:ln w="6985">
            <a:solidFill>
              <a:srgbClr val="202020"/>
            </a:solidFill>
            <a:prstDash val="solid"/>
          </a:ln>
        </p:spPr>
      </p:sp>
      <p:sp>
        <p:nvSpPr>
          <p:cNvPr id="23" name="Text 20"/>
          <p:cNvSpPr/>
          <p:nvPr/>
        </p:nvSpPr>
        <p:spPr>
          <a:xfrm>
            <a:off x="4093200" y="3204000"/>
            <a:ext cx="1029600" cy="8856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24" name="Shape 21"/>
          <p:cNvSpPr/>
          <p:nvPr/>
        </p:nvSpPr>
        <p:spPr>
          <a:xfrm>
            <a:off x="5184000" y="3164400"/>
            <a:ext cx="1836000" cy="964800"/>
          </a:xfrm>
          <a:prstGeom prst="rect">
            <a:avLst/>
          </a:prstGeom>
          <a:solidFill>
            <a:srgbClr val="FFFFFF"/>
          </a:solidFill>
          <a:ln w="6985">
            <a:solidFill>
              <a:srgbClr val="202020"/>
            </a:solidFill>
            <a:prstDash val="solid"/>
          </a:ln>
        </p:spPr>
      </p:sp>
      <p:sp>
        <p:nvSpPr>
          <p:cNvPr id="25" name="Text 22"/>
          <p:cNvSpPr/>
          <p:nvPr/>
        </p:nvSpPr>
        <p:spPr>
          <a:xfrm>
            <a:off x="5245200" y="3204000"/>
            <a:ext cx="1713600" cy="885600"/>
          </a:xfrm>
          <a:prstGeom prst="rect">
            <a:avLst/>
          </a:prstGeom>
          <a:noFill/>
          <a:ln/>
        </p:spPr>
        <p:txBody>
          <a:bodyPr wrap="square" lIns="0" tIns="0" rIns="0" bIns="0" rtlCol="0" anchor="t"/>
          <a:lstStyle/>
          <a:p>
            <a:pPr algn="l" indent="0" marL="0">
              <a:buNone/>
            </a:pPr>
            <a:endParaRPr lang="en-US" sz="1000" dirty="0"/>
          </a:p>
        </p:txBody>
      </p:sp>
      <p:sp>
        <p:nvSpPr>
          <p:cNvPr id="26" name="Shape 23"/>
          <p:cNvSpPr/>
          <p:nvPr/>
        </p:nvSpPr>
        <p:spPr>
          <a:xfrm>
            <a:off x="540000" y="4129200"/>
            <a:ext cx="3492000" cy="964800"/>
          </a:xfrm>
          <a:prstGeom prst="rect">
            <a:avLst/>
          </a:prstGeom>
          <a:solidFill>
            <a:srgbClr val="FFFFFF"/>
          </a:solidFill>
          <a:ln w="6985">
            <a:solidFill>
              <a:srgbClr val="202020"/>
            </a:solidFill>
            <a:prstDash val="solid"/>
          </a:ln>
        </p:spPr>
      </p:sp>
      <p:sp>
        <p:nvSpPr>
          <p:cNvPr id="27" name="Text 24"/>
          <p:cNvSpPr/>
          <p:nvPr/>
        </p:nvSpPr>
        <p:spPr>
          <a:xfrm>
            <a:off x="601200" y="4168800"/>
            <a:ext cx="3369600" cy="8856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Procès-verbaux des assemblées générales</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17, 17-1 et 42</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Décret n° 67-223 du 17/03/1967</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Les procès-verbaux des assemblées générales retracent les décisions votées par les copropriétaires.</a:t>
            </a:r>
            <a:endParaRPr lang="en-US" sz="1000" dirty="0"/>
          </a:p>
        </p:txBody>
      </p:sp>
      <p:sp>
        <p:nvSpPr>
          <p:cNvPr id="28" name="Shape 25"/>
          <p:cNvSpPr/>
          <p:nvPr/>
        </p:nvSpPr>
        <p:spPr>
          <a:xfrm>
            <a:off x="4032000" y="4129200"/>
            <a:ext cx="1152000" cy="964800"/>
          </a:xfrm>
          <a:prstGeom prst="rect">
            <a:avLst/>
          </a:prstGeom>
          <a:solidFill>
            <a:srgbClr val="00B55A"/>
          </a:solidFill>
          <a:ln w="6985">
            <a:solidFill>
              <a:srgbClr val="202020"/>
            </a:solidFill>
            <a:prstDash val="solid"/>
          </a:ln>
        </p:spPr>
      </p:sp>
      <p:sp>
        <p:nvSpPr>
          <p:cNvPr id="29" name="Text 26"/>
          <p:cNvSpPr/>
          <p:nvPr/>
        </p:nvSpPr>
        <p:spPr>
          <a:xfrm>
            <a:off x="4093200" y="4168800"/>
            <a:ext cx="1029600" cy="8856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30" name="Shape 27"/>
          <p:cNvSpPr/>
          <p:nvPr/>
        </p:nvSpPr>
        <p:spPr>
          <a:xfrm>
            <a:off x="5184000" y="4129200"/>
            <a:ext cx="1836000" cy="964800"/>
          </a:xfrm>
          <a:prstGeom prst="rect">
            <a:avLst/>
          </a:prstGeom>
          <a:solidFill>
            <a:srgbClr val="FFFFFF"/>
          </a:solidFill>
          <a:ln w="6985">
            <a:solidFill>
              <a:srgbClr val="202020"/>
            </a:solidFill>
            <a:prstDash val="solid"/>
          </a:ln>
        </p:spPr>
      </p:sp>
      <p:sp>
        <p:nvSpPr>
          <p:cNvPr id="31" name="Text 28"/>
          <p:cNvSpPr/>
          <p:nvPr/>
        </p:nvSpPr>
        <p:spPr>
          <a:xfrm>
            <a:off x="5245200" y="4168800"/>
            <a:ext cx="1713600" cy="885600"/>
          </a:xfrm>
          <a:prstGeom prst="rect">
            <a:avLst/>
          </a:prstGeom>
          <a:noFill/>
          <a:ln/>
        </p:spPr>
        <p:txBody>
          <a:bodyPr wrap="square" lIns="0" tIns="0" rIns="0" bIns="0" rtlCol="0" anchor="t"/>
          <a:lstStyle/>
          <a:p>
            <a:pPr algn="l" indent="0" marL="0">
              <a:buNone/>
            </a:pP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28</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5.2 Diagnostics techniques obligatoires</a:t>
            </a:r>
            <a:endParaRPr lang="en-US" sz="1300" dirty="0"/>
          </a:p>
        </p:txBody>
      </p:sp>
      <p:sp>
        <p:nvSpPr>
          <p:cNvPr id="8" name="Shape 5"/>
          <p:cNvSpPr/>
          <p:nvPr/>
        </p:nvSpPr>
        <p:spPr>
          <a:xfrm>
            <a:off x="540000" y="1710000"/>
            <a:ext cx="3492000" cy="324000"/>
          </a:xfrm>
          <a:prstGeom prst="rect">
            <a:avLst/>
          </a:prstGeom>
          <a:solidFill>
            <a:srgbClr val="FFFFFF"/>
          </a:solidFill>
          <a:ln w="6985">
            <a:solidFill>
              <a:srgbClr val="202020"/>
            </a:solidFill>
            <a:prstDash val="solid"/>
          </a:ln>
        </p:spPr>
      </p:sp>
      <p:sp>
        <p:nvSpPr>
          <p:cNvPr id="9" name="Text 6"/>
          <p:cNvSpPr/>
          <p:nvPr/>
        </p:nvSpPr>
        <p:spPr>
          <a:xfrm>
            <a:off x="601200" y="1749600"/>
            <a:ext cx="336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1710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1749600"/>
            <a:ext cx="102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1710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1749600"/>
            <a:ext cx="1713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2034000"/>
            <a:ext cx="3492000" cy="1130400"/>
          </a:xfrm>
          <a:prstGeom prst="rect">
            <a:avLst/>
          </a:prstGeom>
          <a:solidFill>
            <a:srgbClr val="FFFFFF"/>
          </a:solidFill>
          <a:ln w="6985">
            <a:solidFill>
              <a:srgbClr val="202020"/>
            </a:solidFill>
            <a:prstDash val="solid"/>
          </a:ln>
        </p:spPr>
      </p:sp>
      <p:sp>
        <p:nvSpPr>
          <p:cNvPr id="15" name="Text 12"/>
          <p:cNvSpPr/>
          <p:nvPr/>
        </p:nvSpPr>
        <p:spPr>
          <a:xfrm>
            <a:off x="601200" y="2073600"/>
            <a:ext cx="3369600" cy="10512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Dossier Technique Amiante (DTA)</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18</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2014-366 du 24/03/2014 (ALUR)</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d’établir et de tenir à jour un dossier technique amiante pour les immeubles dont le permis de construire est antérieur au 1er juillet 1997.</a:t>
            </a:r>
            <a:endParaRPr lang="en-US" sz="1000" dirty="0"/>
          </a:p>
        </p:txBody>
      </p:sp>
      <p:sp>
        <p:nvSpPr>
          <p:cNvPr id="16" name="Shape 13"/>
          <p:cNvSpPr/>
          <p:nvPr/>
        </p:nvSpPr>
        <p:spPr>
          <a:xfrm>
            <a:off x="4032000" y="2034000"/>
            <a:ext cx="1152000" cy="1130400"/>
          </a:xfrm>
          <a:prstGeom prst="rect">
            <a:avLst/>
          </a:prstGeom>
          <a:solidFill>
            <a:srgbClr val="00B55A"/>
          </a:solidFill>
          <a:ln w="6985">
            <a:solidFill>
              <a:srgbClr val="202020"/>
            </a:solidFill>
            <a:prstDash val="solid"/>
          </a:ln>
        </p:spPr>
      </p:sp>
      <p:sp>
        <p:nvSpPr>
          <p:cNvPr id="17" name="Text 14"/>
          <p:cNvSpPr/>
          <p:nvPr/>
        </p:nvSpPr>
        <p:spPr>
          <a:xfrm>
            <a:off x="4093200" y="2073600"/>
            <a:ext cx="1029600" cy="10512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18" name="Shape 15"/>
          <p:cNvSpPr/>
          <p:nvPr/>
        </p:nvSpPr>
        <p:spPr>
          <a:xfrm>
            <a:off x="5184000" y="2034000"/>
            <a:ext cx="1836000" cy="1130400"/>
          </a:xfrm>
          <a:prstGeom prst="rect">
            <a:avLst/>
          </a:prstGeom>
          <a:solidFill>
            <a:srgbClr val="FFFFFF"/>
          </a:solidFill>
          <a:ln w="6985">
            <a:solidFill>
              <a:srgbClr val="202020"/>
            </a:solidFill>
            <a:prstDash val="solid"/>
          </a:ln>
        </p:spPr>
      </p:sp>
      <p:sp>
        <p:nvSpPr>
          <p:cNvPr id="19" name="Text 16"/>
          <p:cNvSpPr/>
          <p:nvPr/>
        </p:nvSpPr>
        <p:spPr>
          <a:xfrm>
            <a:off x="5245200" y="2073600"/>
            <a:ext cx="1713600" cy="1051200"/>
          </a:xfrm>
          <a:prstGeom prst="rect">
            <a:avLst/>
          </a:prstGeom>
          <a:noFill/>
          <a:ln/>
        </p:spPr>
        <p:txBody>
          <a:bodyPr wrap="square" lIns="0" tIns="0" rIns="0" bIns="0" rtlCol="0" anchor="t"/>
          <a:lstStyle/>
          <a:p>
            <a:pPr algn="l" indent="0" marL="0">
              <a:buNone/>
            </a:pPr>
            <a:endParaRPr lang="en-US" sz="1000" dirty="0"/>
          </a:p>
        </p:txBody>
      </p:sp>
      <p:sp>
        <p:nvSpPr>
          <p:cNvPr id="20" name="Shape 17"/>
          <p:cNvSpPr/>
          <p:nvPr/>
        </p:nvSpPr>
        <p:spPr>
          <a:xfrm>
            <a:off x="540000" y="3164400"/>
            <a:ext cx="3492000" cy="1130400"/>
          </a:xfrm>
          <a:prstGeom prst="rect">
            <a:avLst/>
          </a:prstGeom>
          <a:solidFill>
            <a:srgbClr val="FFFFFF"/>
          </a:solidFill>
          <a:ln w="6985">
            <a:solidFill>
              <a:srgbClr val="202020"/>
            </a:solidFill>
            <a:prstDash val="solid"/>
          </a:ln>
        </p:spPr>
      </p:sp>
      <p:sp>
        <p:nvSpPr>
          <p:cNvPr id="21" name="Text 18"/>
          <p:cNvSpPr/>
          <p:nvPr/>
        </p:nvSpPr>
        <p:spPr>
          <a:xfrm>
            <a:off x="601200" y="3204000"/>
            <a:ext cx="3369600" cy="10512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Diagnostic plomb – Parties communes (CREP)</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Code de la santé publique : art. L1334-5 à L1334-12</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Décret n° 2006-474 du 25/04/2006</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réaliser un diagnostic plomb des parties communes pour les immeubles construits avant 1949, en cas de situation à risque ou avant travaux.</a:t>
            </a:r>
            <a:endParaRPr lang="en-US" sz="1000" dirty="0"/>
          </a:p>
        </p:txBody>
      </p:sp>
      <p:sp>
        <p:nvSpPr>
          <p:cNvPr id="22" name="Shape 19"/>
          <p:cNvSpPr/>
          <p:nvPr/>
        </p:nvSpPr>
        <p:spPr>
          <a:xfrm>
            <a:off x="4032000" y="3164400"/>
            <a:ext cx="1152000" cy="1130400"/>
          </a:xfrm>
          <a:prstGeom prst="rect">
            <a:avLst/>
          </a:prstGeom>
          <a:solidFill>
            <a:srgbClr val="00B55A"/>
          </a:solidFill>
          <a:ln w="6985">
            <a:solidFill>
              <a:srgbClr val="202020"/>
            </a:solidFill>
            <a:prstDash val="solid"/>
          </a:ln>
        </p:spPr>
      </p:sp>
      <p:sp>
        <p:nvSpPr>
          <p:cNvPr id="23" name="Text 20"/>
          <p:cNvSpPr/>
          <p:nvPr/>
        </p:nvSpPr>
        <p:spPr>
          <a:xfrm>
            <a:off x="4093200" y="3204000"/>
            <a:ext cx="1029600" cy="10512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24" name="Shape 21"/>
          <p:cNvSpPr/>
          <p:nvPr/>
        </p:nvSpPr>
        <p:spPr>
          <a:xfrm>
            <a:off x="5184000" y="3164400"/>
            <a:ext cx="1836000" cy="1130400"/>
          </a:xfrm>
          <a:prstGeom prst="rect">
            <a:avLst/>
          </a:prstGeom>
          <a:solidFill>
            <a:srgbClr val="FFFFFF"/>
          </a:solidFill>
          <a:ln w="6985">
            <a:solidFill>
              <a:srgbClr val="202020"/>
            </a:solidFill>
            <a:prstDash val="solid"/>
          </a:ln>
        </p:spPr>
      </p:sp>
      <p:sp>
        <p:nvSpPr>
          <p:cNvPr id="25" name="Text 22"/>
          <p:cNvSpPr/>
          <p:nvPr/>
        </p:nvSpPr>
        <p:spPr>
          <a:xfrm>
            <a:off x="5245200" y="3204000"/>
            <a:ext cx="1713600" cy="1051200"/>
          </a:xfrm>
          <a:prstGeom prst="rect">
            <a:avLst/>
          </a:prstGeom>
          <a:noFill/>
          <a:ln/>
        </p:spPr>
        <p:txBody>
          <a:bodyPr wrap="square" lIns="0" tIns="0" rIns="0" bIns="0" rtlCol="0" anchor="t"/>
          <a:lstStyle/>
          <a:p>
            <a:pPr algn="l" indent="0" marL="0">
              <a:buNone/>
            </a:pPr>
            <a:endParaRPr lang="en-US" sz="1000" dirty="0"/>
          </a:p>
        </p:txBody>
      </p:sp>
      <p:sp>
        <p:nvSpPr>
          <p:cNvPr id="26" name="Shape 23"/>
          <p:cNvSpPr/>
          <p:nvPr/>
        </p:nvSpPr>
        <p:spPr>
          <a:xfrm>
            <a:off x="540000" y="4294800"/>
            <a:ext cx="3492000" cy="1461600"/>
          </a:xfrm>
          <a:prstGeom prst="rect">
            <a:avLst/>
          </a:prstGeom>
          <a:solidFill>
            <a:srgbClr val="FFFFFF"/>
          </a:solidFill>
          <a:ln w="6985">
            <a:solidFill>
              <a:srgbClr val="202020"/>
            </a:solidFill>
            <a:prstDash val="solid"/>
          </a:ln>
        </p:spPr>
      </p:sp>
      <p:sp>
        <p:nvSpPr>
          <p:cNvPr id="27" name="Text 24"/>
          <p:cNvSpPr/>
          <p:nvPr/>
        </p:nvSpPr>
        <p:spPr>
          <a:xfrm>
            <a:off x="601200" y="4334400"/>
            <a:ext cx="3369600" cy="13824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Diagnostic Technique Global (DTG)</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L731-1 et L731-2 du CCH</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2014-366 du 24/03/2014 (ALUR)</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réaliser un diagnostic technique global pour les copropriétés de plus de 10 ans, en cas de mise en copropriété ou sur décision de l’assemblée générale.</a:t>
            </a:r>
            <a:endParaRPr lang="en-US" sz="1000" dirty="0"/>
          </a:p>
        </p:txBody>
      </p:sp>
      <p:sp>
        <p:nvSpPr>
          <p:cNvPr id="28" name="Shape 25"/>
          <p:cNvSpPr/>
          <p:nvPr/>
        </p:nvSpPr>
        <p:spPr>
          <a:xfrm>
            <a:off x="4032000" y="4294800"/>
            <a:ext cx="1152000" cy="1461600"/>
          </a:xfrm>
          <a:prstGeom prst="rect">
            <a:avLst/>
          </a:prstGeom>
          <a:solidFill>
            <a:srgbClr val="00B55A"/>
          </a:solidFill>
          <a:ln w="6985">
            <a:solidFill>
              <a:srgbClr val="202020"/>
            </a:solidFill>
            <a:prstDash val="solid"/>
          </a:ln>
        </p:spPr>
      </p:sp>
      <p:sp>
        <p:nvSpPr>
          <p:cNvPr id="29" name="Text 26"/>
          <p:cNvSpPr/>
          <p:nvPr/>
        </p:nvSpPr>
        <p:spPr>
          <a:xfrm>
            <a:off x="4093200" y="4334400"/>
            <a:ext cx="1029600" cy="13824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30" name="Shape 27"/>
          <p:cNvSpPr/>
          <p:nvPr/>
        </p:nvSpPr>
        <p:spPr>
          <a:xfrm>
            <a:off x="5184000" y="4294800"/>
            <a:ext cx="1836000" cy="1461600"/>
          </a:xfrm>
          <a:prstGeom prst="rect">
            <a:avLst/>
          </a:prstGeom>
          <a:solidFill>
            <a:srgbClr val="FFFFFF"/>
          </a:solidFill>
          <a:ln w="6985">
            <a:solidFill>
              <a:srgbClr val="202020"/>
            </a:solidFill>
            <a:prstDash val="solid"/>
          </a:ln>
        </p:spPr>
      </p:sp>
      <p:sp>
        <p:nvSpPr>
          <p:cNvPr id="31" name="Text 28"/>
          <p:cNvSpPr/>
          <p:nvPr/>
        </p:nvSpPr>
        <p:spPr>
          <a:xfrm>
            <a:off x="5245200" y="4334400"/>
            <a:ext cx="1713600" cy="1382400"/>
          </a:xfrm>
          <a:prstGeom prst="rect">
            <a:avLst/>
          </a:prstGeom>
          <a:noFill/>
          <a:ln/>
        </p:spPr>
        <p:txBody>
          <a:bodyPr wrap="square" lIns="0" tIns="0" rIns="0" bIns="0" rtlCol="0" anchor="t"/>
          <a:lstStyle/>
          <a:p>
            <a:pPr algn="l" indent="0" marL="0">
              <a:buNone/>
            </a:pPr>
            <a:endParaRPr lang="en-US" sz="1000" dirty="0"/>
          </a:p>
        </p:txBody>
      </p:sp>
      <p:sp>
        <p:nvSpPr>
          <p:cNvPr id="32" name="Shape 29"/>
          <p:cNvSpPr/>
          <p:nvPr/>
        </p:nvSpPr>
        <p:spPr>
          <a:xfrm>
            <a:off x="540000" y="5756400"/>
            <a:ext cx="3492000" cy="1461600"/>
          </a:xfrm>
          <a:prstGeom prst="rect">
            <a:avLst/>
          </a:prstGeom>
          <a:solidFill>
            <a:srgbClr val="FFFFFF"/>
          </a:solidFill>
          <a:ln w="6985">
            <a:solidFill>
              <a:srgbClr val="202020"/>
            </a:solidFill>
            <a:prstDash val="solid"/>
          </a:ln>
        </p:spPr>
      </p:sp>
      <p:sp>
        <p:nvSpPr>
          <p:cNvPr id="33" name="Text 30"/>
          <p:cNvSpPr/>
          <p:nvPr/>
        </p:nvSpPr>
        <p:spPr>
          <a:xfrm>
            <a:off x="601200" y="5796000"/>
            <a:ext cx="3369600" cy="13824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Diagnostic termites</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Code de la construction et de l’habitation : art. L133-1 à L133-6</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Arrêté préfectoral de classement en zone termites</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réaliser un diagnostic termites pour les immeubles situés dans une zone déclarée infestée par arrêté préfectoral, notamment en cas de vente ou de travaux.</a:t>
            </a:r>
            <a:endParaRPr lang="en-US" sz="1000" dirty="0"/>
          </a:p>
        </p:txBody>
      </p:sp>
      <p:sp>
        <p:nvSpPr>
          <p:cNvPr id="34" name="Shape 31"/>
          <p:cNvSpPr/>
          <p:nvPr/>
        </p:nvSpPr>
        <p:spPr>
          <a:xfrm>
            <a:off x="4032000" y="5756400"/>
            <a:ext cx="1152000" cy="1461600"/>
          </a:xfrm>
          <a:prstGeom prst="rect">
            <a:avLst/>
          </a:prstGeom>
          <a:solidFill>
            <a:srgbClr val="00B55A"/>
          </a:solidFill>
          <a:ln w="6985">
            <a:solidFill>
              <a:srgbClr val="202020"/>
            </a:solidFill>
            <a:prstDash val="solid"/>
          </a:ln>
        </p:spPr>
      </p:sp>
      <p:sp>
        <p:nvSpPr>
          <p:cNvPr id="35" name="Text 32"/>
          <p:cNvSpPr/>
          <p:nvPr/>
        </p:nvSpPr>
        <p:spPr>
          <a:xfrm>
            <a:off x="4093200" y="5796000"/>
            <a:ext cx="1029600" cy="13824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36" name="Shape 33"/>
          <p:cNvSpPr/>
          <p:nvPr/>
        </p:nvSpPr>
        <p:spPr>
          <a:xfrm>
            <a:off x="5184000" y="5756400"/>
            <a:ext cx="1836000" cy="1461600"/>
          </a:xfrm>
          <a:prstGeom prst="rect">
            <a:avLst/>
          </a:prstGeom>
          <a:solidFill>
            <a:srgbClr val="FFFFFF"/>
          </a:solidFill>
          <a:ln w="6985">
            <a:solidFill>
              <a:srgbClr val="202020"/>
            </a:solidFill>
            <a:prstDash val="solid"/>
          </a:ln>
        </p:spPr>
      </p:sp>
      <p:sp>
        <p:nvSpPr>
          <p:cNvPr id="37" name="Text 34"/>
          <p:cNvSpPr/>
          <p:nvPr/>
        </p:nvSpPr>
        <p:spPr>
          <a:xfrm>
            <a:off x="5245200" y="5796000"/>
            <a:ext cx="1713600" cy="1382400"/>
          </a:xfrm>
          <a:prstGeom prst="rect">
            <a:avLst/>
          </a:prstGeom>
          <a:noFill/>
          <a:ln/>
        </p:spPr>
        <p:txBody>
          <a:bodyPr wrap="square" lIns="0" tIns="0" rIns="0" bIns="0" rtlCol="0" anchor="t"/>
          <a:lstStyle/>
          <a:p>
            <a:pPr algn="l" indent="0" marL="0">
              <a:buNone/>
            </a:pPr>
            <a:endParaRPr lang="en-US" sz="1000" dirty="0"/>
          </a:p>
        </p:txBody>
      </p:sp>
      <p:sp>
        <p:nvSpPr>
          <p:cNvPr id="38" name="Shape 35"/>
          <p:cNvSpPr/>
          <p:nvPr/>
        </p:nvSpPr>
        <p:spPr>
          <a:xfrm>
            <a:off x="540000" y="7218000"/>
            <a:ext cx="3492000" cy="1296000"/>
          </a:xfrm>
          <a:prstGeom prst="rect">
            <a:avLst/>
          </a:prstGeom>
          <a:solidFill>
            <a:srgbClr val="FFFFFF"/>
          </a:solidFill>
          <a:ln w="6985">
            <a:solidFill>
              <a:srgbClr val="202020"/>
            </a:solidFill>
            <a:prstDash val="solid"/>
          </a:ln>
        </p:spPr>
      </p:sp>
      <p:sp>
        <p:nvSpPr>
          <p:cNvPr id="39" name="Text 36"/>
          <p:cNvSpPr/>
          <p:nvPr/>
        </p:nvSpPr>
        <p:spPr>
          <a:xfrm>
            <a:off x="601200" y="7257600"/>
            <a:ext cx="3369600" cy="1216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Diagnostic mérules</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Code de la construction et de l’habitation : art. L133-7 à L133-9</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Code de la santé publique : art. L1331-1</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déclarer en mairie la présence de mérules et d’informer les occupants en cas de contamination du bâtiment.</a:t>
            </a:r>
            <a:endParaRPr lang="en-US" sz="1000" dirty="0"/>
          </a:p>
        </p:txBody>
      </p:sp>
      <p:sp>
        <p:nvSpPr>
          <p:cNvPr id="40" name="Shape 37"/>
          <p:cNvSpPr/>
          <p:nvPr/>
        </p:nvSpPr>
        <p:spPr>
          <a:xfrm>
            <a:off x="4032000" y="7218000"/>
            <a:ext cx="1152000" cy="1296000"/>
          </a:xfrm>
          <a:prstGeom prst="rect">
            <a:avLst/>
          </a:prstGeom>
          <a:solidFill>
            <a:srgbClr val="00B55A"/>
          </a:solidFill>
          <a:ln w="6985">
            <a:solidFill>
              <a:srgbClr val="202020"/>
            </a:solidFill>
            <a:prstDash val="solid"/>
          </a:ln>
        </p:spPr>
      </p:sp>
      <p:sp>
        <p:nvSpPr>
          <p:cNvPr id="41" name="Text 38"/>
          <p:cNvSpPr/>
          <p:nvPr/>
        </p:nvSpPr>
        <p:spPr>
          <a:xfrm>
            <a:off x="4093200" y="7257600"/>
            <a:ext cx="1029600" cy="1216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42" name="Shape 39"/>
          <p:cNvSpPr/>
          <p:nvPr/>
        </p:nvSpPr>
        <p:spPr>
          <a:xfrm>
            <a:off x="5184000" y="7218000"/>
            <a:ext cx="1836000" cy="1296000"/>
          </a:xfrm>
          <a:prstGeom prst="rect">
            <a:avLst/>
          </a:prstGeom>
          <a:solidFill>
            <a:srgbClr val="FFFFFF"/>
          </a:solidFill>
          <a:ln w="6985">
            <a:solidFill>
              <a:srgbClr val="202020"/>
            </a:solidFill>
            <a:prstDash val="solid"/>
          </a:ln>
        </p:spPr>
      </p:sp>
      <p:sp>
        <p:nvSpPr>
          <p:cNvPr id="43" name="Text 40"/>
          <p:cNvSpPr/>
          <p:nvPr/>
        </p:nvSpPr>
        <p:spPr>
          <a:xfrm>
            <a:off x="5245200" y="7257600"/>
            <a:ext cx="1713600" cy="1216800"/>
          </a:xfrm>
          <a:prstGeom prst="rect">
            <a:avLst/>
          </a:prstGeom>
          <a:noFill/>
          <a:ln/>
        </p:spPr>
        <p:txBody>
          <a:bodyPr wrap="square" lIns="0" tIns="0" rIns="0" bIns="0" rtlCol="0" anchor="t"/>
          <a:lstStyle/>
          <a:p>
            <a:pPr algn="l" indent="0" marL="0">
              <a:buNone/>
            </a:pP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29</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5.3 Contrat d’entretien</a:t>
            </a:r>
            <a:endParaRPr lang="en-US" sz="1300" dirty="0"/>
          </a:p>
        </p:txBody>
      </p:sp>
      <p:sp>
        <p:nvSpPr>
          <p:cNvPr id="8" name="Shape 5"/>
          <p:cNvSpPr/>
          <p:nvPr/>
        </p:nvSpPr>
        <p:spPr>
          <a:xfrm>
            <a:off x="540000" y="1710000"/>
            <a:ext cx="3492000" cy="324000"/>
          </a:xfrm>
          <a:prstGeom prst="rect">
            <a:avLst/>
          </a:prstGeom>
          <a:solidFill>
            <a:srgbClr val="FFFFFF"/>
          </a:solidFill>
          <a:ln w="6985">
            <a:solidFill>
              <a:srgbClr val="202020"/>
            </a:solidFill>
            <a:prstDash val="solid"/>
          </a:ln>
        </p:spPr>
      </p:sp>
      <p:sp>
        <p:nvSpPr>
          <p:cNvPr id="9" name="Text 6"/>
          <p:cNvSpPr/>
          <p:nvPr/>
        </p:nvSpPr>
        <p:spPr>
          <a:xfrm>
            <a:off x="601200" y="1749600"/>
            <a:ext cx="336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1710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1749600"/>
            <a:ext cx="102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1710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1749600"/>
            <a:ext cx="1713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2034000"/>
            <a:ext cx="3492000" cy="1130400"/>
          </a:xfrm>
          <a:prstGeom prst="rect">
            <a:avLst/>
          </a:prstGeom>
          <a:solidFill>
            <a:srgbClr val="FFFFFF"/>
          </a:solidFill>
          <a:ln w="6985">
            <a:solidFill>
              <a:srgbClr val="202020"/>
            </a:solidFill>
            <a:prstDash val="solid"/>
          </a:ln>
        </p:spPr>
      </p:sp>
      <p:sp>
        <p:nvSpPr>
          <p:cNvPr id="15" name="Text 12"/>
          <p:cNvSpPr/>
          <p:nvPr/>
        </p:nvSpPr>
        <p:spPr>
          <a:xfrm>
            <a:off x="601200" y="2073600"/>
            <a:ext cx="3369600" cy="10512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Maintenance des chaudières collectives &lt; 400 kW</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Arrêté du 15 septembre 2009 modifié relatif à l’entretien des chaudières</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faire réaliser un entretien annuel des chaudières collectives dont la puissance est comprise entre 4 et 400 kW.</a:t>
            </a:r>
            <a:endParaRPr lang="en-US" sz="1000" dirty="0"/>
          </a:p>
        </p:txBody>
      </p:sp>
      <p:sp>
        <p:nvSpPr>
          <p:cNvPr id="16" name="Shape 13"/>
          <p:cNvSpPr/>
          <p:nvPr/>
        </p:nvSpPr>
        <p:spPr>
          <a:xfrm>
            <a:off x="4032000" y="2034000"/>
            <a:ext cx="1152000" cy="1130400"/>
          </a:xfrm>
          <a:prstGeom prst="rect">
            <a:avLst/>
          </a:prstGeom>
          <a:solidFill>
            <a:srgbClr val="00B55A"/>
          </a:solidFill>
          <a:ln w="6985">
            <a:solidFill>
              <a:srgbClr val="202020"/>
            </a:solidFill>
            <a:prstDash val="solid"/>
          </a:ln>
        </p:spPr>
      </p:sp>
      <p:sp>
        <p:nvSpPr>
          <p:cNvPr id="17" name="Text 14"/>
          <p:cNvSpPr/>
          <p:nvPr/>
        </p:nvSpPr>
        <p:spPr>
          <a:xfrm>
            <a:off x="4093200" y="2073600"/>
            <a:ext cx="1029600" cy="10512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18" name="Shape 15"/>
          <p:cNvSpPr/>
          <p:nvPr/>
        </p:nvSpPr>
        <p:spPr>
          <a:xfrm>
            <a:off x="5184000" y="2034000"/>
            <a:ext cx="1836000" cy="1130400"/>
          </a:xfrm>
          <a:prstGeom prst="rect">
            <a:avLst/>
          </a:prstGeom>
          <a:solidFill>
            <a:srgbClr val="FFFFFF"/>
          </a:solidFill>
          <a:ln w="6985">
            <a:solidFill>
              <a:srgbClr val="202020"/>
            </a:solidFill>
            <a:prstDash val="solid"/>
          </a:ln>
        </p:spPr>
      </p:sp>
      <p:sp>
        <p:nvSpPr>
          <p:cNvPr id="19" name="Text 16"/>
          <p:cNvSpPr/>
          <p:nvPr/>
        </p:nvSpPr>
        <p:spPr>
          <a:xfrm>
            <a:off x="5245200" y="2073600"/>
            <a:ext cx="1713600" cy="1051200"/>
          </a:xfrm>
          <a:prstGeom prst="rect">
            <a:avLst/>
          </a:prstGeom>
          <a:noFill/>
          <a:ln/>
        </p:spPr>
        <p:txBody>
          <a:bodyPr wrap="square" lIns="0" tIns="0" rIns="0" bIns="0" rtlCol="0" anchor="t"/>
          <a:lstStyle/>
          <a:p>
            <a:pPr algn="l" indent="0" marL="0">
              <a:buNone/>
            </a:pPr>
            <a:endParaRPr lang="en-US" sz="1000" dirty="0"/>
          </a:p>
        </p:txBody>
      </p:sp>
      <p:sp>
        <p:nvSpPr>
          <p:cNvPr id="20" name="Shape 17"/>
          <p:cNvSpPr/>
          <p:nvPr/>
        </p:nvSpPr>
        <p:spPr>
          <a:xfrm>
            <a:off x="540000" y="3164400"/>
            <a:ext cx="3492000" cy="1130400"/>
          </a:xfrm>
          <a:prstGeom prst="rect">
            <a:avLst/>
          </a:prstGeom>
          <a:solidFill>
            <a:srgbClr val="FFFFFF"/>
          </a:solidFill>
          <a:ln w="6985">
            <a:solidFill>
              <a:srgbClr val="202020"/>
            </a:solidFill>
            <a:prstDash val="solid"/>
          </a:ln>
        </p:spPr>
      </p:sp>
      <p:sp>
        <p:nvSpPr>
          <p:cNvPr id="21" name="Text 18"/>
          <p:cNvSpPr/>
          <p:nvPr/>
        </p:nvSpPr>
        <p:spPr>
          <a:xfrm>
            <a:off x="601200" y="3204000"/>
            <a:ext cx="3369600" cy="10512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Maintenance des chaudières collectives &gt; 400 kW</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Arrêté du 2 octobre 2009 relatif à l’inspection des chaudières</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Inspection périodique obligatoire tous les 2 ans pour les chaudières collectives de puissance supérieure à 400 kW.</a:t>
            </a:r>
            <a:endParaRPr lang="en-US" sz="1000" dirty="0"/>
          </a:p>
        </p:txBody>
      </p:sp>
      <p:sp>
        <p:nvSpPr>
          <p:cNvPr id="22" name="Shape 19"/>
          <p:cNvSpPr/>
          <p:nvPr/>
        </p:nvSpPr>
        <p:spPr>
          <a:xfrm>
            <a:off x="4032000" y="3164400"/>
            <a:ext cx="1152000" cy="1130400"/>
          </a:xfrm>
          <a:prstGeom prst="rect">
            <a:avLst/>
          </a:prstGeom>
          <a:solidFill>
            <a:srgbClr val="00B55A"/>
          </a:solidFill>
          <a:ln w="6985">
            <a:solidFill>
              <a:srgbClr val="202020"/>
            </a:solidFill>
            <a:prstDash val="solid"/>
          </a:ln>
        </p:spPr>
      </p:sp>
      <p:sp>
        <p:nvSpPr>
          <p:cNvPr id="23" name="Text 20"/>
          <p:cNvSpPr/>
          <p:nvPr/>
        </p:nvSpPr>
        <p:spPr>
          <a:xfrm>
            <a:off x="4093200" y="3204000"/>
            <a:ext cx="1029600" cy="10512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24" name="Shape 21"/>
          <p:cNvSpPr/>
          <p:nvPr/>
        </p:nvSpPr>
        <p:spPr>
          <a:xfrm>
            <a:off x="5184000" y="3164400"/>
            <a:ext cx="1836000" cy="1130400"/>
          </a:xfrm>
          <a:prstGeom prst="rect">
            <a:avLst/>
          </a:prstGeom>
          <a:solidFill>
            <a:srgbClr val="FFFFFF"/>
          </a:solidFill>
          <a:ln w="6985">
            <a:solidFill>
              <a:srgbClr val="202020"/>
            </a:solidFill>
            <a:prstDash val="solid"/>
          </a:ln>
        </p:spPr>
      </p:sp>
      <p:sp>
        <p:nvSpPr>
          <p:cNvPr id="25" name="Text 22"/>
          <p:cNvSpPr/>
          <p:nvPr/>
        </p:nvSpPr>
        <p:spPr>
          <a:xfrm>
            <a:off x="5245200" y="3204000"/>
            <a:ext cx="1713600" cy="1051200"/>
          </a:xfrm>
          <a:prstGeom prst="rect">
            <a:avLst/>
          </a:prstGeom>
          <a:noFill/>
          <a:ln/>
        </p:spPr>
        <p:txBody>
          <a:bodyPr wrap="square" lIns="0" tIns="0" rIns="0" bIns="0" rtlCol="0" anchor="t"/>
          <a:lstStyle/>
          <a:p>
            <a:pPr algn="l" indent="0" marL="0">
              <a:buNone/>
            </a:pPr>
            <a:endParaRPr lang="en-US" sz="1000" dirty="0"/>
          </a:p>
        </p:txBody>
      </p:sp>
      <p:sp>
        <p:nvSpPr>
          <p:cNvPr id="26" name="Shape 23"/>
          <p:cNvSpPr/>
          <p:nvPr/>
        </p:nvSpPr>
        <p:spPr>
          <a:xfrm>
            <a:off x="540000" y="4294800"/>
            <a:ext cx="3492000" cy="936000"/>
          </a:xfrm>
          <a:prstGeom prst="rect">
            <a:avLst/>
          </a:prstGeom>
          <a:solidFill>
            <a:srgbClr val="FFFFFF"/>
          </a:solidFill>
          <a:ln w="6985">
            <a:solidFill>
              <a:srgbClr val="202020"/>
            </a:solidFill>
            <a:prstDash val="solid"/>
          </a:ln>
        </p:spPr>
      </p:sp>
      <p:sp>
        <p:nvSpPr>
          <p:cNvPr id="27" name="Text 24"/>
          <p:cNvSpPr/>
          <p:nvPr/>
        </p:nvSpPr>
        <p:spPr>
          <a:xfrm>
            <a:off x="601200" y="4334400"/>
            <a:ext cx="3369600" cy="856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Carnet d’entretien de l’immeuble</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18</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tenir à jour le carnet d’entretien de la copropriété.</a:t>
            </a:r>
            <a:endParaRPr lang="en-US" sz="1000" dirty="0"/>
          </a:p>
        </p:txBody>
      </p:sp>
      <p:sp>
        <p:nvSpPr>
          <p:cNvPr id="28" name="Shape 25"/>
          <p:cNvSpPr/>
          <p:nvPr/>
        </p:nvSpPr>
        <p:spPr>
          <a:xfrm>
            <a:off x="4032000" y="4294800"/>
            <a:ext cx="1152000" cy="936000"/>
          </a:xfrm>
          <a:prstGeom prst="rect">
            <a:avLst/>
          </a:prstGeom>
          <a:solidFill>
            <a:srgbClr val="00B55A"/>
          </a:solidFill>
          <a:ln w="6985">
            <a:solidFill>
              <a:srgbClr val="202020"/>
            </a:solidFill>
            <a:prstDash val="solid"/>
          </a:ln>
        </p:spPr>
      </p:sp>
      <p:sp>
        <p:nvSpPr>
          <p:cNvPr id="29" name="Text 26"/>
          <p:cNvSpPr/>
          <p:nvPr/>
        </p:nvSpPr>
        <p:spPr>
          <a:xfrm>
            <a:off x="4093200" y="4334400"/>
            <a:ext cx="1029600" cy="856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30" name="Shape 27"/>
          <p:cNvSpPr/>
          <p:nvPr/>
        </p:nvSpPr>
        <p:spPr>
          <a:xfrm>
            <a:off x="5184000" y="4294800"/>
            <a:ext cx="1836000" cy="936000"/>
          </a:xfrm>
          <a:prstGeom prst="rect">
            <a:avLst/>
          </a:prstGeom>
          <a:solidFill>
            <a:srgbClr val="FFFFFF"/>
          </a:solidFill>
          <a:ln w="6985">
            <a:solidFill>
              <a:srgbClr val="202020"/>
            </a:solidFill>
            <a:prstDash val="solid"/>
          </a:ln>
        </p:spPr>
      </p:sp>
      <p:sp>
        <p:nvSpPr>
          <p:cNvPr id="31" name="Text 28"/>
          <p:cNvSpPr/>
          <p:nvPr/>
        </p:nvSpPr>
        <p:spPr>
          <a:xfrm>
            <a:off x="5245200" y="4334400"/>
            <a:ext cx="1713600" cy="856800"/>
          </a:xfrm>
          <a:prstGeom prst="rect">
            <a:avLst/>
          </a:prstGeom>
          <a:noFill/>
          <a:ln/>
        </p:spPr>
        <p:txBody>
          <a:bodyPr wrap="square" lIns="0" tIns="0" rIns="0" bIns="0" rtlCol="0" anchor="t"/>
          <a:lstStyle/>
          <a:p>
            <a:pPr algn="l" indent="0" marL="0">
              <a:buNone/>
            </a:pPr>
            <a:endParaRPr lang="en-US" sz="1000" dirty="0"/>
          </a:p>
        </p:txBody>
      </p:sp>
      <p:sp>
        <p:nvSpPr>
          <p:cNvPr id="32" name="Text 29"/>
          <p:cNvSpPr/>
          <p:nvPr/>
        </p:nvSpPr>
        <p:spPr>
          <a:xfrm>
            <a:off x="648000" y="5410800"/>
            <a:ext cx="6264000" cy="12240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Dans le cadre de l’élaboration du Plan Pluriannuel de Travaux, une analyse des documents mis à disposition par la copropriété a été réalisée, notamment du carnet d’entretien et des procès-verbaux d’assemblées générales. Cette étude a permis d’identifier les contrats d’entretien en vigueur, les travaux réalisés au cours des dernières années ainsi que les opérations déjà votées ou envisagées. Ces informations constituent une base essentielle pour comprendre l’historique de l’immeuble, prendre en compte les engagements existants et assurer la cohérence des préconisations formulées dans le présent PPPT.</a:t>
            </a:r>
            <a:endParaRPr lang="en-US" sz="1000" dirty="0"/>
          </a:p>
        </p:txBody>
      </p:sp>
      <p:sp>
        <p:nvSpPr>
          <p:cNvPr id="33" name="Shape 30"/>
          <p:cNvSpPr/>
          <p:nvPr/>
        </p:nvSpPr>
        <p:spPr>
          <a:xfrm>
            <a:off x="540000" y="6778800"/>
            <a:ext cx="6480000" cy="324000"/>
          </a:xfrm>
          <a:prstGeom prst="rect">
            <a:avLst/>
          </a:prstGeom>
          <a:solidFill>
            <a:srgbClr val="0A2B6B"/>
          </a:solidFill>
          <a:ln w="6985">
            <a:solidFill>
              <a:srgbClr val="202020"/>
            </a:solidFill>
            <a:prstDash val="solid"/>
          </a:ln>
        </p:spPr>
      </p:sp>
      <p:sp>
        <p:nvSpPr>
          <p:cNvPr id="34" name="Text 31"/>
          <p:cNvSpPr/>
          <p:nvPr/>
        </p:nvSpPr>
        <p:spPr>
          <a:xfrm>
            <a:off x="601200" y="6818400"/>
            <a:ext cx="6357600" cy="244800"/>
          </a:xfrm>
          <a:prstGeom prst="rect">
            <a:avLst/>
          </a:prstGeom>
          <a:noFill/>
          <a:ln/>
        </p:spPr>
        <p:txBody>
          <a:bodyPr wrap="square" lIns="0" tIns="0" rIns="0" bIns="0" rtlCol="0" anchor="ctr"/>
          <a:lstStyle/>
          <a:p>
            <a:pPr algn="l" indent="0" marL="0">
              <a:buNone/>
            </a:pPr>
            <a:r>
              <a:rPr lang="en-US" sz="1000" b="1" dirty="0">
                <a:solidFill>
                  <a:srgbClr val="FFFFFF"/>
                </a:solidFill>
                <a:latin typeface="Aptos" pitchFamily="34" charset="0"/>
                <a:ea typeface="Aptos" pitchFamily="34" charset="-122"/>
                <a:cs typeface="Aptos" pitchFamily="34" charset="-120"/>
              </a:rPr>
              <a:t>Contrat d’assurance</a:t>
            </a:r>
            <a:endParaRPr lang="en-US" sz="1000" dirty="0"/>
          </a:p>
        </p:txBody>
      </p:sp>
      <p:sp>
        <p:nvSpPr>
          <p:cNvPr id="35" name="Shape 32"/>
          <p:cNvSpPr/>
          <p:nvPr/>
        </p:nvSpPr>
        <p:spPr>
          <a:xfrm>
            <a:off x="540000" y="7102800"/>
            <a:ext cx="3240000" cy="324000"/>
          </a:xfrm>
          <a:prstGeom prst="rect">
            <a:avLst/>
          </a:prstGeom>
          <a:solidFill>
            <a:srgbClr val="FFFFFF"/>
          </a:solidFill>
          <a:ln w="6985">
            <a:solidFill>
              <a:srgbClr val="202020"/>
            </a:solidFill>
            <a:prstDash val="solid"/>
          </a:ln>
        </p:spPr>
      </p:sp>
      <p:sp>
        <p:nvSpPr>
          <p:cNvPr id="36" name="Text 33"/>
          <p:cNvSpPr/>
          <p:nvPr/>
        </p:nvSpPr>
        <p:spPr>
          <a:xfrm>
            <a:off x="601200" y="7142400"/>
            <a:ext cx="3117600" cy="244800"/>
          </a:xfrm>
          <a:prstGeom prst="rect">
            <a:avLst/>
          </a:prstGeom>
          <a:noFill/>
          <a:ln/>
        </p:spPr>
        <p:txBody>
          <a:bodyPr wrap="square" lIns="0" tIns="0" rIns="0" bIns="0" rtlCol="0" anchor="ctr"/>
          <a:lstStyle/>
          <a:p>
            <a:pPr algn="l" indent="0" marL="0">
              <a:buNone/>
            </a:pPr>
            <a:r>
              <a:rPr lang="en-US" sz="1000" dirty="0">
                <a:solidFill>
                  <a:srgbClr val="1C1C1C"/>
                </a:solidFill>
                <a:latin typeface="Aptos" pitchFamily="34" charset="0"/>
                <a:ea typeface="Aptos" pitchFamily="34" charset="-122"/>
                <a:cs typeface="Aptos" pitchFamily="34" charset="-120"/>
              </a:rPr>
              <a:t>À confirmer</a:t>
            </a:r>
            <a:endParaRPr lang="en-US" sz="1000" dirty="0"/>
          </a:p>
        </p:txBody>
      </p:sp>
      <p:sp>
        <p:nvSpPr>
          <p:cNvPr id="37" name="Shape 34"/>
          <p:cNvSpPr/>
          <p:nvPr/>
        </p:nvSpPr>
        <p:spPr>
          <a:xfrm>
            <a:off x="3780000" y="7102800"/>
            <a:ext cx="3240000" cy="324000"/>
          </a:xfrm>
          <a:prstGeom prst="rect">
            <a:avLst/>
          </a:prstGeom>
          <a:solidFill>
            <a:srgbClr val="FFFFFF"/>
          </a:solidFill>
          <a:ln w="6985">
            <a:solidFill>
              <a:srgbClr val="202020"/>
            </a:solidFill>
            <a:prstDash val="solid"/>
          </a:ln>
        </p:spPr>
      </p:sp>
      <p:sp>
        <p:nvSpPr>
          <p:cNvPr id="38" name="Text 35"/>
          <p:cNvSpPr/>
          <p:nvPr/>
        </p:nvSpPr>
        <p:spPr>
          <a:xfrm>
            <a:off x="3841200" y="7142400"/>
            <a:ext cx="3117600" cy="244800"/>
          </a:xfrm>
          <a:prstGeom prst="rect">
            <a:avLst/>
          </a:prstGeom>
          <a:noFill/>
          <a:ln/>
        </p:spPr>
        <p:txBody>
          <a:bodyPr wrap="square" lIns="0" tIns="0" rIns="0" bIns="0" rtlCol="0" anchor="ctr"/>
          <a:lstStyle/>
          <a:p>
            <a:pPr algn="l" indent="0" marL="0">
              <a:buNone/>
            </a:pPr>
            <a:endParaRPr lang="en-US" sz="1000" dirty="0"/>
          </a:p>
        </p:txBody>
      </p:sp>
      <p:sp>
        <p:nvSpPr>
          <p:cNvPr id="39" name="Shape 36"/>
          <p:cNvSpPr/>
          <p:nvPr/>
        </p:nvSpPr>
        <p:spPr>
          <a:xfrm>
            <a:off x="540000" y="7426800"/>
            <a:ext cx="6480000" cy="324000"/>
          </a:xfrm>
          <a:prstGeom prst="rect">
            <a:avLst/>
          </a:prstGeom>
          <a:solidFill>
            <a:srgbClr val="0A2B6B"/>
          </a:solidFill>
          <a:ln w="6985">
            <a:solidFill>
              <a:srgbClr val="202020"/>
            </a:solidFill>
            <a:prstDash val="solid"/>
          </a:ln>
        </p:spPr>
      </p:sp>
      <p:sp>
        <p:nvSpPr>
          <p:cNvPr id="40" name="Text 37"/>
          <p:cNvSpPr/>
          <p:nvPr/>
        </p:nvSpPr>
        <p:spPr>
          <a:xfrm>
            <a:off x="601200" y="7466400"/>
            <a:ext cx="6357600" cy="244800"/>
          </a:xfrm>
          <a:prstGeom prst="rect">
            <a:avLst/>
          </a:prstGeom>
          <a:noFill/>
          <a:ln/>
        </p:spPr>
        <p:txBody>
          <a:bodyPr wrap="square" lIns="0" tIns="0" rIns="0" bIns="0" rtlCol="0" anchor="ctr"/>
          <a:lstStyle/>
          <a:p>
            <a:pPr algn="l" indent="0" marL="0">
              <a:buNone/>
            </a:pPr>
            <a:r>
              <a:rPr lang="en-US" sz="1000" b="1" dirty="0">
                <a:solidFill>
                  <a:srgbClr val="FFFFFF"/>
                </a:solidFill>
                <a:latin typeface="Aptos" pitchFamily="34" charset="0"/>
                <a:ea typeface="Aptos" pitchFamily="34" charset="-122"/>
                <a:cs typeface="Aptos" pitchFamily="34" charset="-120"/>
              </a:rPr>
              <a:t>Contrats d’entretien des équipements communs</a:t>
            </a:r>
            <a:endParaRPr lang="en-US" sz="1000" dirty="0"/>
          </a:p>
        </p:txBody>
      </p:sp>
      <p:sp>
        <p:nvSpPr>
          <p:cNvPr id="41" name="Shape 38"/>
          <p:cNvSpPr/>
          <p:nvPr/>
        </p:nvSpPr>
        <p:spPr>
          <a:xfrm>
            <a:off x="540000" y="7750800"/>
            <a:ext cx="3240000" cy="324000"/>
          </a:xfrm>
          <a:prstGeom prst="rect">
            <a:avLst/>
          </a:prstGeom>
          <a:solidFill>
            <a:srgbClr val="FFFFFF"/>
          </a:solidFill>
          <a:ln w="6985">
            <a:solidFill>
              <a:srgbClr val="202020"/>
            </a:solidFill>
            <a:prstDash val="solid"/>
          </a:ln>
        </p:spPr>
      </p:sp>
      <p:sp>
        <p:nvSpPr>
          <p:cNvPr id="42" name="Text 39"/>
          <p:cNvSpPr/>
          <p:nvPr/>
        </p:nvSpPr>
        <p:spPr>
          <a:xfrm>
            <a:off x="601200" y="7790400"/>
            <a:ext cx="3117600" cy="244800"/>
          </a:xfrm>
          <a:prstGeom prst="rect">
            <a:avLst/>
          </a:prstGeom>
          <a:noFill/>
          <a:ln/>
        </p:spPr>
        <p:txBody>
          <a:bodyPr wrap="square" lIns="0" tIns="0" rIns="0" bIns="0" rtlCol="0" anchor="ctr"/>
          <a:lstStyle/>
          <a:p>
            <a:pPr algn="l" indent="0" marL="0">
              <a:buNone/>
            </a:pPr>
            <a:r>
              <a:rPr lang="en-US" sz="1000" dirty="0">
                <a:solidFill>
                  <a:srgbClr val="1C1C1C"/>
                </a:solidFill>
                <a:latin typeface="Aptos" pitchFamily="34" charset="0"/>
                <a:ea typeface="Aptos" pitchFamily="34" charset="-122"/>
                <a:cs typeface="Aptos" pitchFamily="34" charset="-120"/>
              </a:rPr>
              <a:t>À confirmer</a:t>
            </a:r>
            <a:endParaRPr lang="en-US" sz="1000" dirty="0"/>
          </a:p>
        </p:txBody>
      </p:sp>
      <p:sp>
        <p:nvSpPr>
          <p:cNvPr id="43" name="Shape 40"/>
          <p:cNvSpPr/>
          <p:nvPr/>
        </p:nvSpPr>
        <p:spPr>
          <a:xfrm>
            <a:off x="3780000" y="7750800"/>
            <a:ext cx="3240000" cy="324000"/>
          </a:xfrm>
          <a:prstGeom prst="rect">
            <a:avLst/>
          </a:prstGeom>
          <a:solidFill>
            <a:srgbClr val="FFFFFF"/>
          </a:solidFill>
          <a:ln w="6985">
            <a:solidFill>
              <a:srgbClr val="202020"/>
            </a:solidFill>
            <a:prstDash val="solid"/>
          </a:ln>
        </p:spPr>
      </p:sp>
      <p:sp>
        <p:nvSpPr>
          <p:cNvPr id="44" name="Text 41"/>
          <p:cNvSpPr/>
          <p:nvPr/>
        </p:nvSpPr>
        <p:spPr>
          <a:xfrm>
            <a:off x="3841200" y="7790400"/>
            <a:ext cx="3117600" cy="244800"/>
          </a:xfrm>
          <a:prstGeom prst="rect">
            <a:avLst/>
          </a:prstGeom>
          <a:noFill/>
          <a:ln/>
        </p:spPr>
        <p:txBody>
          <a:bodyPr wrap="square" lIns="0" tIns="0" rIns="0" bIns="0" rtlCol="0" anchor="ctr"/>
          <a:lstStyle/>
          <a:p>
            <a:pPr algn="l" indent="0" marL="0">
              <a:buNone/>
            </a:pP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30</a:t>
            </a:r>
            <a:endParaRPr lang="en-US" sz="950" dirty="0"/>
          </a:p>
        </p:txBody>
      </p:sp>
      <p:sp>
        <p:nvSpPr>
          <p:cNvPr id="7" name="Shape 4"/>
          <p:cNvSpPr/>
          <p:nvPr/>
        </p:nvSpPr>
        <p:spPr>
          <a:xfrm>
            <a:off x="540000" y="1656000"/>
            <a:ext cx="6480000" cy="324000"/>
          </a:xfrm>
          <a:prstGeom prst="rect">
            <a:avLst/>
          </a:prstGeom>
          <a:solidFill>
            <a:srgbClr val="0A2B6B"/>
          </a:solidFill>
          <a:ln w="6985">
            <a:solidFill>
              <a:srgbClr val="202020"/>
            </a:solidFill>
            <a:prstDash val="solid"/>
          </a:ln>
        </p:spPr>
      </p:sp>
      <p:sp>
        <p:nvSpPr>
          <p:cNvPr id="8" name="Text 5"/>
          <p:cNvSpPr/>
          <p:nvPr/>
        </p:nvSpPr>
        <p:spPr>
          <a:xfrm>
            <a:off x="601200" y="1695600"/>
            <a:ext cx="6357600" cy="244800"/>
          </a:xfrm>
          <a:prstGeom prst="rect">
            <a:avLst/>
          </a:prstGeom>
          <a:noFill/>
          <a:ln/>
        </p:spPr>
        <p:txBody>
          <a:bodyPr wrap="square" lIns="0" tIns="0" rIns="0" bIns="0" rtlCol="0" anchor="ctr"/>
          <a:lstStyle/>
          <a:p>
            <a:pPr algn="l" indent="0" marL="0">
              <a:buNone/>
            </a:pPr>
            <a:r>
              <a:rPr lang="en-US" sz="1000" b="1" dirty="0">
                <a:solidFill>
                  <a:srgbClr val="FFFFFF"/>
                </a:solidFill>
                <a:latin typeface="Aptos" pitchFamily="34" charset="0"/>
                <a:ea typeface="Aptos" pitchFamily="34" charset="-122"/>
                <a:cs typeface="Aptos" pitchFamily="34" charset="-120"/>
              </a:rPr>
              <a:t>Travaux recensés dans le carnet d’entretien</a:t>
            </a:r>
            <a:endParaRPr lang="en-US" sz="1000" dirty="0"/>
          </a:p>
        </p:txBody>
      </p:sp>
      <p:sp>
        <p:nvSpPr>
          <p:cNvPr id="9" name="Shape 6"/>
          <p:cNvSpPr/>
          <p:nvPr/>
        </p:nvSpPr>
        <p:spPr>
          <a:xfrm>
            <a:off x="540000" y="1980000"/>
            <a:ext cx="3240000" cy="324000"/>
          </a:xfrm>
          <a:prstGeom prst="rect">
            <a:avLst/>
          </a:prstGeom>
          <a:solidFill>
            <a:srgbClr val="FFFFFF"/>
          </a:solidFill>
          <a:ln w="6985">
            <a:solidFill>
              <a:srgbClr val="202020"/>
            </a:solidFill>
            <a:prstDash val="solid"/>
          </a:ln>
        </p:spPr>
      </p:sp>
      <p:sp>
        <p:nvSpPr>
          <p:cNvPr id="10" name="Text 7"/>
          <p:cNvSpPr/>
          <p:nvPr/>
        </p:nvSpPr>
        <p:spPr>
          <a:xfrm>
            <a:off x="601200" y="2019600"/>
            <a:ext cx="3117600" cy="244800"/>
          </a:xfrm>
          <a:prstGeom prst="rect">
            <a:avLst/>
          </a:prstGeom>
          <a:noFill/>
          <a:ln/>
        </p:spPr>
        <p:txBody>
          <a:bodyPr wrap="square" lIns="0" tIns="0" rIns="0" bIns="0" rtlCol="0" anchor="ctr"/>
          <a:lstStyle/>
          <a:p>
            <a:pPr algn="l" indent="0" marL="0">
              <a:buNone/>
            </a:pPr>
            <a:r>
              <a:rPr lang="en-US" sz="1000" dirty="0">
                <a:solidFill>
                  <a:srgbClr val="1C1C1C"/>
                </a:solidFill>
                <a:latin typeface="Aptos" pitchFamily="34" charset="0"/>
                <a:ea typeface="Aptos" pitchFamily="34" charset="-122"/>
                <a:cs typeface="Aptos" pitchFamily="34" charset="-120"/>
              </a:rPr>
              <a:t>À confirmer</a:t>
            </a:r>
            <a:endParaRPr lang="en-US" sz="1000" dirty="0"/>
          </a:p>
        </p:txBody>
      </p:sp>
      <p:sp>
        <p:nvSpPr>
          <p:cNvPr id="11" name="Shape 8"/>
          <p:cNvSpPr/>
          <p:nvPr/>
        </p:nvSpPr>
        <p:spPr>
          <a:xfrm>
            <a:off x="3780000" y="1980000"/>
            <a:ext cx="3240000" cy="324000"/>
          </a:xfrm>
          <a:prstGeom prst="rect">
            <a:avLst/>
          </a:prstGeom>
          <a:solidFill>
            <a:srgbClr val="FFFFFF"/>
          </a:solidFill>
          <a:ln w="6985">
            <a:solidFill>
              <a:srgbClr val="202020"/>
            </a:solidFill>
            <a:prstDash val="solid"/>
          </a:ln>
        </p:spPr>
      </p:sp>
      <p:sp>
        <p:nvSpPr>
          <p:cNvPr id="12" name="Text 9"/>
          <p:cNvSpPr/>
          <p:nvPr/>
        </p:nvSpPr>
        <p:spPr>
          <a:xfrm>
            <a:off x="3841200" y="2019600"/>
            <a:ext cx="3117600" cy="244800"/>
          </a:xfrm>
          <a:prstGeom prst="rect">
            <a:avLst/>
          </a:prstGeom>
          <a:noFill/>
          <a:ln/>
        </p:spPr>
        <p:txBody>
          <a:bodyPr wrap="square" lIns="0" tIns="0" rIns="0" bIns="0" rtlCol="0" anchor="ctr"/>
          <a:lstStyle/>
          <a:p>
            <a:pPr algn="l" indent="0" marL="0">
              <a:buNone/>
            </a:pPr>
            <a:endParaRPr lang="en-US" sz="1000" dirty="0"/>
          </a:p>
        </p:txBody>
      </p:sp>
      <p:sp>
        <p:nvSpPr>
          <p:cNvPr id="13" name="Shape 10"/>
          <p:cNvSpPr/>
          <p:nvPr/>
        </p:nvSpPr>
        <p:spPr>
          <a:xfrm>
            <a:off x="540000" y="2592000"/>
            <a:ext cx="6480000" cy="324000"/>
          </a:xfrm>
          <a:prstGeom prst="rect">
            <a:avLst/>
          </a:prstGeom>
          <a:solidFill>
            <a:srgbClr val="0A2B6B"/>
          </a:solidFill>
          <a:ln w="6985">
            <a:solidFill>
              <a:srgbClr val="202020"/>
            </a:solidFill>
            <a:prstDash val="solid"/>
          </a:ln>
        </p:spPr>
      </p:sp>
      <p:sp>
        <p:nvSpPr>
          <p:cNvPr id="14" name="Text 11"/>
          <p:cNvSpPr/>
          <p:nvPr/>
        </p:nvSpPr>
        <p:spPr>
          <a:xfrm>
            <a:off x="601200" y="2631600"/>
            <a:ext cx="6357600" cy="244800"/>
          </a:xfrm>
          <a:prstGeom prst="rect">
            <a:avLst/>
          </a:prstGeom>
          <a:noFill/>
          <a:ln/>
        </p:spPr>
        <p:txBody>
          <a:bodyPr wrap="square" lIns="0" tIns="0" rIns="0" bIns="0" rtlCol="0" anchor="ctr"/>
          <a:lstStyle/>
          <a:p>
            <a:pPr algn="l" indent="0" marL="0">
              <a:buNone/>
            </a:pPr>
            <a:r>
              <a:rPr lang="en-US" sz="1000" b="1" dirty="0">
                <a:solidFill>
                  <a:srgbClr val="FFFFFF"/>
                </a:solidFill>
                <a:latin typeface="Aptos" pitchFamily="34" charset="0"/>
                <a:ea typeface="Aptos" pitchFamily="34" charset="-122"/>
                <a:cs typeface="Aptos" pitchFamily="34" charset="-120"/>
              </a:rPr>
              <a:t>Travaux votés en assemblée générale</a:t>
            </a:r>
            <a:endParaRPr lang="en-US" sz="1000" dirty="0"/>
          </a:p>
        </p:txBody>
      </p:sp>
      <p:sp>
        <p:nvSpPr>
          <p:cNvPr id="15" name="Shape 12"/>
          <p:cNvSpPr/>
          <p:nvPr/>
        </p:nvSpPr>
        <p:spPr>
          <a:xfrm>
            <a:off x="540000" y="2916000"/>
            <a:ext cx="3240000" cy="324000"/>
          </a:xfrm>
          <a:prstGeom prst="rect">
            <a:avLst/>
          </a:prstGeom>
          <a:solidFill>
            <a:srgbClr val="FFFFFF"/>
          </a:solidFill>
          <a:ln w="6985">
            <a:solidFill>
              <a:srgbClr val="202020"/>
            </a:solidFill>
            <a:prstDash val="solid"/>
          </a:ln>
        </p:spPr>
      </p:sp>
      <p:sp>
        <p:nvSpPr>
          <p:cNvPr id="16" name="Text 13"/>
          <p:cNvSpPr/>
          <p:nvPr/>
        </p:nvSpPr>
        <p:spPr>
          <a:xfrm>
            <a:off x="601200" y="2955600"/>
            <a:ext cx="3117600" cy="244800"/>
          </a:xfrm>
          <a:prstGeom prst="rect">
            <a:avLst/>
          </a:prstGeom>
          <a:noFill/>
          <a:ln/>
        </p:spPr>
        <p:txBody>
          <a:bodyPr wrap="square" lIns="0" tIns="0" rIns="0" bIns="0" rtlCol="0" anchor="ctr"/>
          <a:lstStyle/>
          <a:p>
            <a:pPr algn="l" indent="0" marL="0">
              <a:buNone/>
            </a:pPr>
            <a:r>
              <a:rPr lang="en-US" sz="1000" dirty="0">
                <a:solidFill>
                  <a:srgbClr val="1C1C1C"/>
                </a:solidFill>
                <a:latin typeface="Aptos" pitchFamily="34" charset="0"/>
                <a:ea typeface="Aptos" pitchFamily="34" charset="-122"/>
                <a:cs typeface="Aptos" pitchFamily="34" charset="-120"/>
              </a:rPr>
              <a:t>À confirmer</a:t>
            </a:r>
            <a:endParaRPr lang="en-US" sz="1000" dirty="0"/>
          </a:p>
        </p:txBody>
      </p:sp>
      <p:sp>
        <p:nvSpPr>
          <p:cNvPr id="17" name="Shape 14"/>
          <p:cNvSpPr/>
          <p:nvPr/>
        </p:nvSpPr>
        <p:spPr>
          <a:xfrm>
            <a:off x="3780000" y="2916000"/>
            <a:ext cx="3240000" cy="324000"/>
          </a:xfrm>
          <a:prstGeom prst="rect">
            <a:avLst/>
          </a:prstGeom>
          <a:solidFill>
            <a:srgbClr val="FFFFFF"/>
          </a:solidFill>
          <a:ln w="6985">
            <a:solidFill>
              <a:srgbClr val="202020"/>
            </a:solidFill>
            <a:prstDash val="solid"/>
          </a:ln>
        </p:spPr>
      </p:sp>
      <p:sp>
        <p:nvSpPr>
          <p:cNvPr id="18" name="Text 15"/>
          <p:cNvSpPr/>
          <p:nvPr/>
        </p:nvSpPr>
        <p:spPr>
          <a:xfrm>
            <a:off x="3841200" y="2955600"/>
            <a:ext cx="3117600" cy="244800"/>
          </a:xfrm>
          <a:prstGeom prst="rect">
            <a:avLst/>
          </a:prstGeom>
          <a:noFill/>
          <a:ln/>
        </p:spPr>
        <p:txBody>
          <a:bodyPr wrap="square" lIns="0" tIns="0" rIns="0" bIns="0" rtlCol="0" anchor="ctr"/>
          <a:lstStyle/>
          <a:p>
            <a:pPr algn="l" indent="0" marL="0">
              <a:buNone/>
            </a:pP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31</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5.4 Sécurité incendie</a:t>
            </a:r>
            <a:endParaRPr lang="en-US" sz="1300" dirty="0"/>
          </a:p>
        </p:txBody>
      </p:sp>
      <p:sp>
        <p:nvSpPr>
          <p:cNvPr id="8" name="Shape 5"/>
          <p:cNvSpPr/>
          <p:nvPr/>
        </p:nvSpPr>
        <p:spPr>
          <a:xfrm>
            <a:off x="540000" y="1710000"/>
            <a:ext cx="3492000" cy="324000"/>
          </a:xfrm>
          <a:prstGeom prst="rect">
            <a:avLst/>
          </a:prstGeom>
          <a:solidFill>
            <a:srgbClr val="FFFFFF"/>
          </a:solidFill>
          <a:ln w="6985">
            <a:solidFill>
              <a:srgbClr val="202020"/>
            </a:solidFill>
            <a:prstDash val="solid"/>
          </a:ln>
        </p:spPr>
      </p:sp>
      <p:sp>
        <p:nvSpPr>
          <p:cNvPr id="9" name="Text 6"/>
          <p:cNvSpPr/>
          <p:nvPr/>
        </p:nvSpPr>
        <p:spPr>
          <a:xfrm>
            <a:off x="601200" y="1749600"/>
            <a:ext cx="336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1710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1749600"/>
            <a:ext cx="102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1710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1749600"/>
            <a:ext cx="1713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2034000"/>
            <a:ext cx="3492000" cy="1627200"/>
          </a:xfrm>
          <a:prstGeom prst="rect">
            <a:avLst/>
          </a:prstGeom>
          <a:solidFill>
            <a:srgbClr val="FFFFFF"/>
          </a:solidFill>
          <a:ln w="6985">
            <a:solidFill>
              <a:srgbClr val="202020"/>
            </a:solidFill>
            <a:prstDash val="solid"/>
          </a:ln>
        </p:spPr>
      </p:sp>
      <p:sp>
        <p:nvSpPr>
          <p:cNvPr id="15" name="Text 12"/>
          <p:cNvSpPr/>
          <p:nvPr/>
        </p:nvSpPr>
        <p:spPr>
          <a:xfrm>
            <a:off x="601200" y="2073600"/>
            <a:ext cx="3369600" cy="1548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Registre de sécurité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Arrêté du 31 janvier 1986 relatif à la protection contre l’incendie des bâtiments d’habitation</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Code de la construction et de l’habitation : art. R*111-13 et suivants</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tenir à jour un registre de sécurité recensant les contrôles, vérifications et opérations d’entretien liés à la sécurité incendie de l’immeuble.</a:t>
            </a:r>
            <a:endParaRPr lang="en-US" sz="1000" dirty="0"/>
          </a:p>
        </p:txBody>
      </p:sp>
      <p:sp>
        <p:nvSpPr>
          <p:cNvPr id="16" name="Shape 13"/>
          <p:cNvSpPr/>
          <p:nvPr/>
        </p:nvSpPr>
        <p:spPr>
          <a:xfrm>
            <a:off x="4032000" y="2034000"/>
            <a:ext cx="1152000" cy="1627200"/>
          </a:xfrm>
          <a:prstGeom prst="rect">
            <a:avLst/>
          </a:prstGeom>
          <a:solidFill>
            <a:srgbClr val="00B55A"/>
          </a:solidFill>
          <a:ln w="6985">
            <a:solidFill>
              <a:srgbClr val="202020"/>
            </a:solidFill>
            <a:prstDash val="solid"/>
          </a:ln>
        </p:spPr>
      </p:sp>
      <p:sp>
        <p:nvSpPr>
          <p:cNvPr id="17" name="Text 14"/>
          <p:cNvSpPr/>
          <p:nvPr/>
        </p:nvSpPr>
        <p:spPr>
          <a:xfrm>
            <a:off x="4093200" y="2073600"/>
            <a:ext cx="1029600" cy="15480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18" name="Shape 15"/>
          <p:cNvSpPr/>
          <p:nvPr/>
        </p:nvSpPr>
        <p:spPr>
          <a:xfrm>
            <a:off x="5184000" y="2034000"/>
            <a:ext cx="1836000" cy="1627200"/>
          </a:xfrm>
          <a:prstGeom prst="rect">
            <a:avLst/>
          </a:prstGeom>
          <a:solidFill>
            <a:srgbClr val="FFFFFF"/>
          </a:solidFill>
          <a:ln w="6985">
            <a:solidFill>
              <a:srgbClr val="202020"/>
            </a:solidFill>
            <a:prstDash val="solid"/>
          </a:ln>
        </p:spPr>
      </p:sp>
      <p:sp>
        <p:nvSpPr>
          <p:cNvPr id="19" name="Text 16"/>
          <p:cNvSpPr/>
          <p:nvPr/>
        </p:nvSpPr>
        <p:spPr>
          <a:xfrm>
            <a:off x="5245200" y="2073600"/>
            <a:ext cx="1713600" cy="1548000"/>
          </a:xfrm>
          <a:prstGeom prst="rect">
            <a:avLst/>
          </a:prstGeom>
          <a:noFill/>
          <a:ln/>
        </p:spPr>
        <p:txBody>
          <a:bodyPr wrap="square" lIns="0" tIns="0" rIns="0" bIns="0" rtlCol="0" anchor="t"/>
          <a:lstStyle/>
          <a:p>
            <a:pPr algn="l" indent="0" marL="0">
              <a:buNone/>
            </a:pPr>
            <a:endParaRPr lang="en-US" sz="1000" dirty="0"/>
          </a:p>
        </p:txBody>
      </p:sp>
      <p:sp>
        <p:nvSpPr>
          <p:cNvPr id="20" name="Shape 17"/>
          <p:cNvSpPr/>
          <p:nvPr/>
        </p:nvSpPr>
        <p:spPr>
          <a:xfrm>
            <a:off x="540000" y="3661200"/>
            <a:ext cx="3492000" cy="1627200"/>
          </a:xfrm>
          <a:prstGeom prst="rect">
            <a:avLst/>
          </a:prstGeom>
          <a:solidFill>
            <a:srgbClr val="FFFFFF"/>
          </a:solidFill>
          <a:ln w="6985">
            <a:solidFill>
              <a:srgbClr val="202020"/>
            </a:solidFill>
            <a:prstDash val="solid"/>
          </a:ln>
        </p:spPr>
      </p:sp>
      <p:sp>
        <p:nvSpPr>
          <p:cNvPr id="21" name="Text 18"/>
          <p:cNvSpPr/>
          <p:nvPr/>
        </p:nvSpPr>
        <p:spPr>
          <a:xfrm>
            <a:off x="601200" y="3700800"/>
            <a:ext cx="3369600" cy="1548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Affichage des consignes de sécurité – Parties communes</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Arrêté du 31 janvier 1986 relatif à la protection contre l’incendie des bâtiments d’habitation</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Code de la construction et de l’habitation : art. R*111-13 et suivants</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d’afficher dans les parties communes les consignes de sécurité incendie et d’évacuation à destination des occupants.</a:t>
            </a:r>
            <a:endParaRPr lang="en-US" sz="1000" dirty="0"/>
          </a:p>
        </p:txBody>
      </p:sp>
      <p:sp>
        <p:nvSpPr>
          <p:cNvPr id="22" name="Shape 19"/>
          <p:cNvSpPr/>
          <p:nvPr/>
        </p:nvSpPr>
        <p:spPr>
          <a:xfrm>
            <a:off x="4032000" y="3661200"/>
            <a:ext cx="1152000" cy="1627200"/>
          </a:xfrm>
          <a:prstGeom prst="rect">
            <a:avLst/>
          </a:prstGeom>
          <a:solidFill>
            <a:srgbClr val="00B55A"/>
          </a:solidFill>
          <a:ln w="6985">
            <a:solidFill>
              <a:srgbClr val="202020"/>
            </a:solidFill>
            <a:prstDash val="solid"/>
          </a:ln>
        </p:spPr>
      </p:sp>
      <p:sp>
        <p:nvSpPr>
          <p:cNvPr id="23" name="Text 20"/>
          <p:cNvSpPr/>
          <p:nvPr/>
        </p:nvSpPr>
        <p:spPr>
          <a:xfrm>
            <a:off x="4093200" y="3700800"/>
            <a:ext cx="1029600" cy="15480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24" name="Shape 21"/>
          <p:cNvSpPr/>
          <p:nvPr/>
        </p:nvSpPr>
        <p:spPr>
          <a:xfrm>
            <a:off x="5184000" y="3661200"/>
            <a:ext cx="1836000" cy="1627200"/>
          </a:xfrm>
          <a:prstGeom prst="rect">
            <a:avLst/>
          </a:prstGeom>
          <a:solidFill>
            <a:srgbClr val="FFFFFF"/>
          </a:solidFill>
          <a:ln w="6985">
            <a:solidFill>
              <a:srgbClr val="202020"/>
            </a:solidFill>
            <a:prstDash val="solid"/>
          </a:ln>
        </p:spPr>
      </p:sp>
      <p:sp>
        <p:nvSpPr>
          <p:cNvPr id="25" name="Text 22"/>
          <p:cNvSpPr/>
          <p:nvPr/>
        </p:nvSpPr>
        <p:spPr>
          <a:xfrm>
            <a:off x="5245200" y="3700800"/>
            <a:ext cx="1713600" cy="1548000"/>
          </a:xfrm>
          <a:prstGeom prst="rect">
            <a:avLst/>
          </a:prstGeom>
          <a:noFill/>
          <a:ln/>
        </p:spPr>
        <p:txBody>
          <a:bodyPr wrap="square" lIns="0" tIns="0" rIns="0" bIns="0" rtlCol="0" anchor="t"/>
          <a:lstStyle/>
          <a:p>
            <a:pPr algn="l" indent="0" marL="0">
              <a:buNone/>
            </a:pPr>
            <a:endParaRPr lang="en-US" sz="1000" dirty="0"/>
          </a:p>
        </p:txBody>
      </p:sp>
      <p:sp>
        <p:nvSpPr>
          <p:cNvPr id="26" name="Shape 23"/>
          <p:cNvSpPr/>
          <p:nvPr/>
        </p:nvSpPr>
        <p:spPr>
          <a:xfrm>
            <a:off x="540000" y="5288400"/>
            <a:ext cx="3492000" cy="1627200"/>
          </a:xfrm>
          <a:prstGeom prst="rect">
            <a:avLst/>
          </a:prstGeom>
          <a:solidFill>
            <a:srgbClr val="FFFFFF"/>
          </a:solidFill>
          <a:ln w="6985">
            <a:solidFill>
              <a:srgbClr val="202020"/>
            </a:solidFill>
            <a:prstDash val="solid"/>
          </a:ln>
        </p:spPr>
      </p:sp>
      <p:sp>
        <p:nvSpPr>
          <p:cNvPr id="27" name="Text 24"/>
          <p:cNvSpPr/>
          <p:nvPr/>
        </p:nvSpPr>
        <p:spPr>
          <a:xfrm>
            <a:off x="601200" y="5328000"/>
            <a:ext cx="3369600" cy="1548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Vérifications périodiques des installations incendie</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Arrêté du 31 janvier 1986 relatif à la protection contre l’incendie des bâtiments d’habitation</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Code de la construction et de l’habitation : art. R*111-13 et suivants</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faire réaliser des vérifications périodiques des équipements de sécurité incendie et d’en assurer la traçabilité.</a:t>
            </a:r>
            <a:endParaRPr lang="en-US" sz="1000" dirty="0"/>
          </a:p>
        </p:txBody>
      </p:sp>
      <p:sp>
        <p:nvSpPr>
          <p:cNvPr id="28" name="Shape 25"/>
          <p:cNvSpPr/>
          <p:nvPr/>
        </p:nvSpPr>
        <p:spPr>
          <a:xfrm>
            <a:off x="4032000" y="5288400"/>
            <a:ext cx="1152000" cy="1627200"/>
          </a:xfrm>
          <a:prstGeom prst="rect">
            <a:avLst/>
          </a:prstGeom>
          <a:solidFill>
            <a:srgbClr val="00B55A"/>
          </a:solidFill>
          <a:ln w="6985">
            <a:solidFill>
              <a:srgbClr val="202020"/>
            </a:solidFill>
            <a:prstDash val="solid"/>
          </a:ln>
        </p:spPr>
      </p:sp>
      <p:sp>
        <p:nvSpPr>
          <p:cNvPr id="29" name="Text 26"/>
          <p:cNvSpPr/>
          <p:nvPr/>
        </p:nvSpPr>
        <p:spPr>
          <a:xfrm>
            <a:off x="4093200" y="5328000"/>
            <a:ext cx="1029600" cy="15480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30" name="Shape 27"/>
          <p:cNvSpPr/>
          <p:nvPr/>
        </p:nvSpPr>
        <p:spPr>
          <a:xfrm>
            <a:off x="5184000" y="5288400"/>
            <a:ext cx="1836000" cy="1627200"/>
          </a:xfrm>
          <a:prstGeom prst="rect">
            <a:avLst/>
          </a:prstGeom>
          <a:solidFill>
            <a:srgbClr val="FFFFFF"/>
          </a:solidFill>
          <a:ln w="6985">
            <a:solidFill>
              <a:srgbClr val="202020"/>
            </a:solidFill>
            <a:prstDash val="solid"/>
          </a:ln>
        </p:spPr>
      </p:sp>
      <p:sp>
        <p:nvSpPr>
          <p:cNvPr id="31" name="Text 28"/>
          <p:cNvSpPr/>
          <p:nvPr/>
        </p:nvSpPr>
        <p:spPr>
          <a:xfrm>
            <a:off x="5245200" y="5328000"/>
            <a:ext cx="1713600" cy="1548000"/>
          </a:xfrm>
          <a:prstGeom prst="rect">
            <a:avLst/>
          </a:prstGeom>
          <a:noFill/>
          <a:ln/>
        </p:spPr>
        <p:txBody>
          <a:bodyPr wrap="square" lIns="0" tIns="0" rIns="0" bIns="0" rtlCol="0" anchor="t"/>
          <a:lstStyle/>
          <a:p>
            <a:pPr algn="l" indent="0" marL="0">
              <a:buNone/>
            </a:pP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32</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6.1 La loi « Climat et Résilience »</a:t>
            </a:r>
            <a:endParaRPr lang="en-US" sz="1300" dirty="0"/>
          </a:p>
        </p:txBody>
      </p:sp>
      <p:sp>
        <p:nvSpPr>
          <p:cNvPr id="8" name="Text 5"/>
          <p:cNvSpPr/>
          <p:nvPr/>
        </p:nvSpPr>
        <p:spPr>
          <a:xfrm>
            <a:off x="648000" y="17100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Promulguée le 22 août 2021, la loi « Climat et Résilience » vise à accélérer la transition énergétique du parc immobilier français et à réduire les consommations d’énergie des bâtiments les plus énergivores. Elle introduit progressivement de nouvelles obligations pour les propriétaires, tant en matière de vente que de location des logements.</a:t>
            </a:r>
            <a:endParaRPr lang="en-US" sz="1000" dirty="0"/>
          </a:p>
        </p:txBody>
      </p:sp>
      <p:sp>
        <p:nvSpPr>
          <p:cNvPr id="9" name="Text 6"/>
          <p:cNvSpPr/>
          <p:nvPr/>
        </p:nvSpPr>
        <p:spPr>
          <a:xfrm>
            <a:off x="648000" y="2523600"/>
            <a:ext cx="6264000" cy="8928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L’un des principaux objectifs de cette loi est de lutter contre les « passoires énergétiques », c’est-à-dire les logements présentant de faibles performances énergétiques. À cette fin, plusieurs mesures ont été mises en place, notamment l’interdiction progressive de mise en location des logements les plus énergivores, l’obligation de réaliser des audits énergétiques lors de certaines ventes et l’encadrement des loyers pour les logements les moins performants.</a:t>
            </a:r>
            <a:endParaRPr lang="en-US" sz="1000" dirty="0"/>
          </a:p>
        </p:txBody>
      </p:sp>
      <p:sp>
        <p:nvSpPr>
          <p:cNvPr id="10" name="Text 7"/>
          <p:cNvSpPr/>
          <p:nvPr/>
        </p:nvSpPr>
        <p:spPr>
          <a:xfrm>
            <a:off x="648000" y="3502800"/>
            <a:ext cx="6264000" cy="10584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En France métropolitaine, un logement est considéré comme décent s’il respecte des niveaux minimaux de performance énergétique définis par la réglementation. Depuis le 1er janvier 2023, les logements dont la consommation énergétique finale excède 450 kWhEF/m²/an ne peuvent plus être proposés à la location. Cette exigence se renforcera progressivement avec l’interdiction de louer les logements classés G à compter de 2025, les logements classés F à compter de 2028, puis les logements classés E à compter de 2034.</a:t>
            </a:r>
            <a:endParaRPr lang="en-US" sz="1000" dirty="0"/>
          </a:p>
        </p:txBody>
      </p:sp>
      <p:sp>
        <p:nvSpPr>
          <p:cNvPr id="11" name="Text 8"/>
          <p:cNvSpPr/>
          <p:nvPr/>
        </p:nvSpPr>
        <p:spPr>
          <a:xfrm>
            <a:off x="648000" y="4647600"/>
            <a:ext cx="6264000" cy="8928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tableau ci-dessous présente les principales échéances réglementaires applicables aux logements en fonction de leur étiquette énergétique. Ces informations sont fournies à titre informatif afin de permettre aux copropriétaires d’anticiper les futures obligations réglementaires et d’intégrer, lorsque cela est pertinent, une réflexion sur la rénovation énergétique du patrimoine immobilier.</a:t>
            </a:r>
            <a:endParaRPr lang="en-US" sz="1000" dirty="0"/>
          </a:p>
        </p:txBody>
      </p:sp>
      <p:sp>
        <p:nvSpPr>
          <p:cNvPr id="12" name="Shape 9"/>
          <p:cNvSpPr/>
          <p:nvPr/>
        </p:nvSpPr>
        <p:spPr>
          <a:xfrm>
            <a:off x="954000" y="5626800"/>
            <a:ext cx="1872000" cy="324000"/>
          </a:xfrm>
          <a:prstGeom prst="rect">
            <a:avLst/>
          </a:prstGeom>
          <a:solidFill>
            <a:srgbClr val="FFFFFF"/>
          </a:solidFill>
          <a:ln w="6985">
            <a:solidFill>
              <a:srgbClr val="202020"/>
            </a:solidFill>
            <a:prstDash val="solid"/>
          </a:ln>
        </p:spPr>
      </p:sp>
      <p:sp>
        <p:nvSpPr>
          <p:cNvPr id="13" name="Text 10"/>
          <p:cNvSpPr/>
          <p:nvPr/>
        </p:nvSpPr>
        <p:spPr>
          <a:xfrm>
            <a:off x="1015200" y="5666400"/>
            <a:ext cx="1749600" cy="244800"/>
          </a:xfrm>
          <a:prstGeom prst="rect">
            <a:avLst/>
          </a:prstGeom>
          <a:noFill/>
          <a:ln/>
        </p:spPr>
        <p:txBody>
          <a:bodyPr wrap="square" lIns="0" tIns="0" rIns="0" bIns="0" rtlCol="0" anchor="ctr"/>
          <a:lstStyle/>
          <a:p>
            <a:pPr algn="ctr" indent="0" marL="0">
              <a:buNone/>
            </a:pPr>
            <a:r>
              <a:rPr lang="en-US" sz="1000" b="1" dirty="0">
                <a:solidFill>
                  <a:srgbClr val="0070C0"/>
                </a:solidFill>
                <a:latin typeface="Aptos" pitchFamily="34" charset="0"/>
                <a:ea typeface="Aptos" pitchFamily="34" charset="-122"/>
                <a:cs typeface="Aptos" pitchFamily="34" charset="-120"/>
              </a:rPr>
              <a:t>Pour la vente</a:t>
            </a:r>
            <a:endParaRPr lang="en-US" sz="1000" dirty="0"/>
          </a:p>
        </p:txBody>
      </p:sp>
      <p:sp>
        <p:nvSpPr>
          <p:cNvPr id="14" name="Shape 11"/>
          <p:cNvSpPr/>
          <p:nvPr/>
        </p:nvSpPr>
        <p:spPr>
          <a:xfrm>
            <a:off x="2826000" y="5626800"/>
            <a:ext cx="1872000" cy="324000"/>
          </a:xfrm>
          <a:prstGeom prst="rect">
            <a:avLst/>
          </a:prstGeom>
          <a:solidFill>
            <a:srgbClr val="FFFFFF"/>
          </a:solidFill>
          <a:ln w="6985">
            <a:solidFill>
              <a:srgbClr val="202020"/>
            </a:solidFill>
            <a:prstDash val="solid"/>
          </a:ln>
        </p:spPr>
      </p:sp>
      <p:sp>
        <p:nvSpPr>
          <p:cNvPr id="15" name="Text 12"/>
          <p:cNvSpPr/>
          <p:nvPr/>
        </p:nvSpPr>
        <p:spPr>
          <a:xfrm>
            <a:off x="2887200" y="5666400"/>
            <a:ext cx="1749600" cy="244800"/>
          </a:xfrm>
          <a:prstGeom prst="rect">
            <a:avLst/>
          </a:prstGeom>
          <a:noFill/>
          <a:ln/>
        </p:spPr>
        <p:txBody>
          <a:bodyPr wrap="square" lIns="0" tIns="0" rIns="0" bIns="0" rtlCol="0" anchor="ctr"/>
          <a:lstStyle/>
          <a:p>
            <a:pPr algn="ctr" indent="0" marL="0">
              <a:buNone/>
            </a:pPr>
            <a:r>
              <a:rPr lang="en-US" sz="1000" b="1" dirty="0">
                <a:solidFill>
                  <a:srgbClr val="0070C0"/>
                </a:solidFill>
                <a:latin typeface="Aptos" pitchFamily="34" charset="0"/>
                <a:ea typeface="Aptos" pitchFamily="34" charset="-122"/>
                <a:cs typeface="Aptos" pitchFamily="34" charset="-120"/>
              </a:rPr>
              <a:t>Dates clés</a:t>
            </a:r>
            <a:endParaRPr lang="en-US" sz="1000" dirty="0"/>
          </a:p>
        </p:txBody>
      </p:sp>
      <p:sp>
        <p:nvSpPr>
          <p:cNvPr id="16" name="Shape 13"/>
          <p:cNvSpPr/>
          <p:nvPr/>
        </p:nvSpPr>
        <p:spPr>
          <a:xfrm>
            <a:off x="4698000" y="5626800"/>
            <a:ext cx="1872000" cy="324000"/>
          </a:xfrm>
          <a:prstGeom prst="rect">
            <a:avLst/>
          </a:prstGeom>
          <a:solidFill>
            <a:srgbClr val="FFFFFF"/>
          </a:solidFill>
          <a:ln w="6985">
            <a:solidFill>
              <a:srgbClr val="202020"/>
            </a:solidFill>
            <a:prstDash val="solid"/>
          </a:ln>
        </p:spPr>
      </p:sp>
      <p:sp>
        <p:nvSpPr>
          <p:cNvPr id="17" name="Text 14"/>
          <p:cNvSpPr/>
          <p:nvPr/>
        </p:nvSpPr>
        <p:spPr>
          <a:xfrm>
            <a:off x="4759200" y="5666400"/>
            <a:ext cx="1749600" cy="244800"/>
          </a:xfrm>
          <a:prstGeom prst="rect">
            <a:avLst/>
          </a:prstGeom>
          <a:noFill/>
          <a:ln/>
        </p:spPr>
        <p:txBody>
          <a:bodyPr wrap="square" lIns="0" tIns="0" rIns="0" bIns="0" rtlCol="0" anchor="ctr"/>
          <a:lstStyle/>
          <a:p>
            <a:pPr algn="ctr" indent="0" marL="0">
              <a:buNone/>
            </a:pPr>
            <a:r>
              <a:rPr lang="en-US" sz="1000" b="1" dirty="0">
                <a:solidFill>
                  <a:srgbClr val="0070C0"/>
                </a:solidFill>
                <a:latin typeface="Aptos" pitchFamily="34" charset="0"/>
                <a:ea typeface="Aptos" pitchFamily="34" charset="-122"/>
                <a:cs typeface="Aptos" pitchFamily="34" charset="-120"/>
              </a:rPr>
              <a:t>Pour la location</a:t>
            </a:r>
            <a:endParaRPr lang="en-US" sz="1000" dirty="0"/>
          </a:p>
        </p:txBody>
      </p:sp>
      <p:sp>
        <p:nvSpPr>
          <p:cNvPr id="18" name="Shape 15"/>
          <p:cNvSpPr/>
          <p:nvPr/>
        </p:nvSpPr>
        <p:spPr>
          <a:xfrm>
            <a:off x="954000" y="5950800"/>
            <a:ext cx="1872000" cy="648000"/>
          </a:xfrm>
          <a:prstGeom prst="rect">
            <a:avLst/>
          </a:prstGeom>
          <a:solidFill>
            <a:srgbClr val="FFFFFF"/>
          </a:solidFill>
          <a:ln w="6985">
            <a:solidFill>
              <a:srgbClr val="202020"/>
            </a:solidFill>
            <a:prstDash val="solid"/>
          </a:ln>
        </p:spPr>
      </p:sp>
      <p:sp>
        <p:nvSpPr>
          <p:cNvPr id="19" name="Text 16"/>
          <p:cNvSpPr/>
          <p:nvPr/>
        </p:nvSpPr>
        <p:spPr>
          <a:xfrm>
            <a:off x="1015200" y="5990400"/>
            <a:ext cx="1749600" cy="568800"/>
          </a:xfrm>
          <a:prstGeom prst="rect">
            <a:avLst/>
          </a:prstGeom>
          <a:noFill/>
          <a:ln/>
        </p:spPr>
        <p:txBody>
          <a:bodyPr wrap="square" lIns="0" tIns="0" rIns="0" bIns="0" rtlCol="0" anchor="ctr"/>
          <a:lstStyle/>
          <a:p>
            <a:pPr algn="l" indent="0" marL="0">
              <a:buNone/>
            </a:pPr>
            <a:endParaRPr lang="en-US" sz="1000" dirty="0"/>
          </a:p>
        </p:txBody>
      </p:sp>
      <p:sp>
        <p:nvSpPr>
          <p:cNvPr id="20" name="Shape 17"/>
          <p:cNvSpPr/>
          <p:nvPr/>
        </p:nvSpPr>
        <p:spPr>
          <a:xfrm>
            <a:off x="2826000" y="5950800"/>
            <a:ext cx="1872000" cy="648000"/>
          </a:xfrm>
          <a:prstGeom prst="rect">
            <a:avLst/>
          </a:prstGeom>
          <a:solidFill>
            <a:srgbClr val="FFFFFF"/>
          </a:solidFill>
          <a:ln w="6985">
            <a:solidFill>
              <a:srgbClr val="202020"/>
            </a:solidFill>
            <a:prstDash val="solid"/>
          </a:ln>
        </p:spPr>
      </p:sp>
      <p:sp>
        <p:nvSpPr>
          <p:cNvPr id="21" name="Text 18"/>
          <p:cNvSpPr/>
          <p:nvPr/>
        </p:nvSpPr>
        <p:spPr>
          <a:xfrm>
            <a:off x="2887200" y="5990400"/>
            <a:ext cx="1749600" cy="568800"/>
          </a:xfrm>
          <a:prstGeom prst="rect">
            <a:avLst/>
          </a:prstGeom>
          <a:noFill/>
          <a:ln/>
        </p:spPr>
        <p:txBody>
          <a:bodyPr wrap="square" lIns="0" tIns="0" rIns="0" bIns="0" rtlCol="0" anchor="ctr"/>
          <a:lstStyle/>
          <a:p>
            <a:pPr algn="l" indent="0" marL="0">
              <a:buNone/>
            </a:pPr>
            <a:endParaRPr lang="en-US" sz="1000" dirty="0"/>
          </a:p>
        </p:txBody>
      </p:sp>
      <p:sp>
        <p:nvSpPr>
          <p:cNvPr id="22" name="Shape 19"/>
          <p:cNvSpPr/>
          <p:nvPr/>
        </p:nvSpPr>
        <p:spPr>
          <a:xfrm>
            <a:off x="4698000" y="5950800"/>
            <a:ext cx="1872000" cy="648000"/>
          </a:xfrm>
          <a:prstGeom prst="rect">
            <a:avLst/>
          </a:prstGeom>
          <a:solidFill>
            <a:srgbClr val="FFFFFF"/>
          </a:solidFill>
          <a:ln w="6985">
            <a:solidFill>
              <a:srgbClr val="202020"/>
            </a:solidFill>
            <a:prstDash val="solid"/>
          </a:ln>
        </p:spPr>
      </p:sp>
      <p:sp>
        <p:nvSpPr>
          <p:cNvPr id="23" name="Text 20"/>
          <p:cNvSpPr/>
          <p:nvPr/>
        </p:nvSpPr>
        <p:spPr>
          <a:xfrm>
            <a:off x="4759200" y="5990400"/>
            <a:ext cx="1749600" cy="568800"/>
          </a:xfrm>
          <a:prstGeom prst="rect">
            <a:avLst/>
          </a:prstGeom>
          <a:noFill/>
          <a:ln/>
        </p:spPr>
        <p:txBody>
          <a:bodyPr wrap="square" lIns="0" tIns="0" rIns="0" bIns="0" rtlCol="0" anchor="ctr"/>
          <a:lstStyle/>
          <a:p>
            <a:pPr algn="l" indent="0" marL="0">
              <a:buNone/>
            </a:pPr>
            <a:endParaRPr lang="en-US" sz="1000" dirty="0"/>
          </a:p>
        </p:txBody>
      </p:sp>
      <p:sp>
        <p:nvSpPr>
          <p:cNvPr id="24" name="Text 21"/>
          <p:cNvSpPr/>
          <p:nvPr/>
        </p:nvSpPr>
        <p:spPr>
          <a:xfrm>
            <a:off x="2898000" y="6166800"/>
            <a:ext cx="1728000" cy="216000"/>
          </a:xfrm>
          <a:prstGeom prst="rect">
            <a:avLst/>
          </a:prstGeom>
          <a:noFill/>
          <a:ln/>
        </p:spPr>
        <p:txBody>
          <a:bodyPr wrap="square" lIns="0" tIns="0" rIns="0" bIns="0" rtlCol="0" anchor="ctr"/>
          <a:lstStyle/>
          <a:p>
            <a:pPr algn="ctr" indent="0" marL="0">
              <a:buNone/>
            </a:pPr>
            <a:r>
              <a:rPr lang="en-US" sz="1000" b="1" dirty="0">
                <a:solidFill>
                  <a:srgbClr val="00B55A"/>
                </a:solidFill>
                <a:latin typeface="Aptos" pitchFamily="34" charset="0"/>
                <a:ea typeface="Aptos" pitchFamily="34" charset="-122"/>
                <a:cs typeface="Aptos" pitchFamily="34" charset="-120"/>
              </a:rPr>
              <a:t>Août 2022</a:t>
            </a:r>
            <a:endParaRPr lang="en-US" sz="1000" dirty="0"/>
          </a:p>
        </p:txBody>
      </p:sp>
      <p:sp>
        <p:nvSpPr>
          <p:cNvPr id="25" name="Text 22"/>
          <p:cNvSpPr/>
          <p:nvPr/>
        </p:nvSpPr>
        <p:spPr>
          <a:xfrm>
            <a:off x="4770000" y="6022800"/>
            <a:ext cx="1728000" cy="216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Gel des loyers</a:t>
            </a:r>
            <a:endParaRPr lang="en-US" sz="1000" dirty="0"/>
          </a:p>
        </p:txBody>
      </p:sp>
      <p:pic>
        <p:nvPicPr>
          <p:cNvPr id="26" name="Image 1" descr="Étiquette énergétique F">    </p:cNvPr>
          <p:cNvPicPr>
            <a:picLocks noChangeAspect="1"/>
          </p:cNvPicPr>
          <p:nvPr/>
        </p:nvPicPr>
        <p:blipFill>
          <a:blip r:embed="rId2"/>
          <a:srcRect l="0" r="0" t="0" b="0"/>
          <a:stretch/>
        </p:blipFill>
        <p:spPr>
          <a:xfrm>
            <a:off x="4995000" y="6238800"/>
            <a:ext cx="558000" cy="306000"/>
          </a:xfrm>
          <a:prstGeom prst="rect">
            <a:avLst/>
          </a:prstGeom>
        </p:spPr>
      </p:pic>
      <p:pic>
        <p:nvPicPr>
          <p:cNvPr id="27" name="Image 2" descr="Étiquette énergétique G">    </p:cNvPr>
          <p:cNvPicPr>
            <a:picLocks noChangeAspect="1"/>
          </p:cNvPicPr>
          <p:nvPr/>
        </p:nvPicPr>
        <p:blipFill>
          <a:blip r:embed="rId3"/>
          <a:srcRect l="0" r="0" t="0" b="0"/>
          <a:stretch/>
        </p:blipFill>
        <p:spPr>
          <a:xfrm>
            <a:off x="5715000" y="6238800"/>
            <a:ext cx="558000" cy="306000"/>
          </a:xfrm>
          <a:prstGeom prst="rect">
            <a:avLst/>
          </a:prstGeom>
        </p:spPr>
      </p:pic>
      <p:sp>
        <p:nvSpPr>
          <p:cNvPr id="28" name="Shape 23"/>
          <p:cNvSpPr/>
          <p:nvPr/>
        </p:nvSpPr>
        <p:spPr>
          <a:xfrm>
            <a:off x="954000" y="6598800"/>
            <a:ext cx="1872000" cy="1080000"/>
          </a:xfrm>
          <a:prstGeom prst="rect">
            <a:avLst/>
          </a:prstGeom>
          <a:solidFill>
            <a:srgbClr val="FFFFFF"/>
          </a:solidFill>
          <a:ln w="6985">
            <a:solidFill>
              <a:srgbClr val="202020"/>
            </a:solidFill>
            <a:prstDash val="solid"/>
          </a:ln>
        </p:spPr>
      </p:sp>
      <p:sp>
        <p:nvSpPr>
          <p:cNvPr id="29" name="Text 24"/>
          <p:cNvSpPr/>
          <p:nvPr/>
        </p:nvSpPr>
        <p:spPr>
          <a:xfrm>
            <a:off x="1015200" y="6638400"/>
            <a:ext cx="1749600" cy="1000800"/>
          </a:xfrm>
          <a:prstGeom prst="rect">
            <a:avLst/>
          </a:prstGeom>
          <a:noFill/>
          <a:ln/>
        </p:spPr>
        <p:txBody>
          <a:bodyPr wrap="square" lIns="0" tIns="0" rIns="0" bIns="0" rtlCol="0" anchor="ctr"/>
          <a:lstStyle/>
          <a:p>
            <a:pPr algn="l" indent="0" marL="0">
              <a:buNone/>
            </a:pPr>
            <a:endParaRPr lang="en-US" sz="1000" dirty="0"/>
          </a:p>
        </p:txBody>
      </p:sp>
      <p:sp>
        <p:nvSpPr>
          <p:cNvPr id="30" name="Shape 25"/>
          <p:cNvSpPr/>
          <p:nvPr/>
        </p:nvSpPr>
        <p:spPr>
          <a:xfrm>
            <a:off x="2826000" y="6598800"/>
            <a:ext cx="1872000" cy="1080000"/>
          </a:xfrm>
          <a:prstGeom prst="rect">
            <a:avLst/>
          </a:prstGeom>
          <a:solidFill>
            <a:srgbClr val="FFFFFF"/>
          </a:solidFill>
          <a:ln w="6985">
            <a:solidFill>
              <a:srgbClr val="202020"/>
            </a:solidFill>
            <a:prstDash val="solid"/>
          </a:ln>
        </p:spPr>
      </p:sp>
      <p:sp>
        <p:nvSpPr>
          <p:cNvPr id="31" name="Text 26"/>
          <p:cNvSpPr/>
          <p:nvPr/>
        </p:nvSpPr>
        <p:spPr>
          <a:xfrm>
            <a:off x="2887200" y="6638400"/>
            <a:ext cx="1749600" cy="1000800"/>
          </a:xfrm>
          <a:prstGeom prst="rect">
            <a:avLst/>
          </a:prstGeom>
          <a:noFill/>
          <a:ln/>
        </p:spPr>
        <p:txBody>
          <a:bodyPr wrap="square" lIns="0" tIns="0" rIns="0" bIns="0" rtlCol="0" anchor="ctr"/>
          <a:lstStyle/>
          <a:p>
            <a:pPr algn="l" indent="0" marL="0">
              <a:buNone/>
            </a:pPr>
            <a:endParaRPr lang="en-US" sz="1000" dirty="0"/>
          </a:p>
        </p:txBody>
      </p:sp>
      <p:sp>
        <p:nvSpPr>
          <p:cNvPr id="32" name="Shape 27"/>
          <p:cNvSpPr/>
          <p:nvPr/>
        </p:nvSpPr>
        <p:spPr>
          <a:xfrm>
            <a:off x="4698000" y="6598800"/>
            <a:ext cx="1872000" cy="1080000"/>
          </a:xfrm>
          <a:prstGeom prst="rect">
            <a:avLst/>
          </a:prstGeom>
          <a:solidFill>
            <a:srgbClr val="FFFFFF"/>
          </a:solidFill>
          <a:ln w="6985">
            <a:solidFill>
              <a:srgbClr val="202020"/>
            </a:solidFill>
            <a:prstDash val="solid"/>
          </a:ln>
        </p:spPr>
      </p:sp>
      <p:sp>
        <p:nvSpPr>
          <p:cNvPr id="33" name="Text 28"/>
          <p:cNvSpPr/>
          <p:nvPr/>
        </p:nvSpPr>
        <p:spPr>
          <a:xfrm>
            <a:off x="4759200" y="6638400"/>
            <a:ext cx="1749600" cy="1000800"/>
          </a:xfrm>
          <a:prstGeom prst="rect">
            <a:avLst/>
          </a:prstGeom>
          <a:noFill/>
          <a:ln/>
        </p:spPr>
        <p:txBody>
          <a:bodyPr wrap="square" lIns="0" tIns="0" rIns="0" bIns="0" rtlCol="0" anchor="ctr"/>
          <a:lstStyle/>
          <a:p>
            <a:pPr algn="l" indent="0" marL="0">
              <a:buNone/>
            </a:pPr>
            <a:endParaRPr lang="en-US" sz="1000" dirty="0"/>
          </a:p>
        </p:txBody>
      </p:sp>
      <p:sp>
        <p:nvSpPr>
          <p:cNvPr id="34" name="Text 29"/>
          <p:cNvSpPr/>
          <p:nvPr/>
        </p:nvSpPr>
        <p:spPr>
          <a:xfrm>
            <a:off x="2898000" y="7030800"/>
            <a:ext cx="1728000" cy="216000"/>
          </a:xfrm>
          <a:prstGeom prst="rect">
            <a:avLst/>
          </a:prstGeom>
          <a:noFill/>
          <a:ln/>
        </p:spPr>
        <p:txBody>
          <a:bodyPr wrap="square" lIns="0" tIns="0" rIns="0" bIns="0" rtlCol="0" anchor="ctr"/>
          <a:lstStyle/>
          <a:p>
            <a:pPr algn="ctr" indent="0" marL="0">
              <a:buNone/>
            </a:pPr>
            <a:r>
              <a:rPr lang="en-US" sz="1000" b="1" dirty="0">
                <a:solidFill>
                  <a:srgbClr val="00B55A"/>
                </a:solidFill>
                <a:latin typeface="Aptos" pitchFamily="34" charset="0"/>
                <a:ea typeface="Aptos" pitchFamily="34" charset="-122"/>
                <a:cs typeface="Aptos" pitchFamily="34" charset="-120"/>
              </a:rPr>
              <a:t>Janvier 2023</a:t>
            </a:r>
            <a:endParaRPr lang="en-US" sz="1000" dirty="0"/>
          </a:p>
        </p:txBody>
      </p:sp>
      <p:sp>
        <p:nvSpPr>
          <p:cNvPr id="35" name="Text 30"/>
          <p:cNvSpPr/>
          <p:nvPr/>
        </p:nvSpPr>
        <p:spPr>
          <a:xfrm>
            <a:off x="1026000" y="6670800"/>
            <a:ext cx="1728000" cy="324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Audit énergétique</a:t>
            </a:r>
            <a:endParaRPr lang="en-US" sz="1000" dirty="0"/>
          </a:p>
          <a:p>
            <a:pPr algn="ctr" indent="0" marL="0">
              <a:buNone/>
            </a:pPr>
            <a:r>
              <a:rPr lang="en-US" sz="1000" b="1" dirty="0">
                <a:solidFill>
                  <a:srgbClr val="1C1C1C"/>
                </a:solidFill>
                <a:latin typeface="Aptos" pitchFamily="34" charset="0"/>
                <a:ea typeface="Aptos" pitchFamily="34" charset="-122"/>
                <a:cs typeface="Aptos" pitchFamily="34" charset="-120"/>
              </a:rPr>
              <a:t>obligatoire</a:t>
            </a:r>
            <a:endParaRPr lang="en-US" sz="1000" dirty="0"/>
          </a:p>
        </p:txBody>
      </p:sp>
      <p:sp>
        <p:nvSpPr>
          <p:cNvPr id="36" name="Text 31"/>
          <p:cNvSpPr/>
          <p:nvPr/>
        </p:nvSpPr>
        <p:spPr>
          <a:xfrm>
            <a:off x="4770000" y="6670800"/>
            <a:ext cx="1728000" cy="216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Location interdite</a:t>
            </a:r>
            <a:endParaRPr lang="en-US" sz="1000" dirty="0"/>
          </a:p>
        </p:txBody>
      </p:sp>
      <p:pic>
        <p:nvPicPr>
          <p:cNvPr id="37" name="Image 3" descr="Étiquette énergétique F">    </p:cNvPr>
          <p:cNvPicPr>
            <a:picLocks noChangeAspect="1"/>
          </p:cNvPicPr>
          <p:nvPr/>
        </p:nvPicPr>
        <p:blipFill>
          <a:blip r:embed="rId4"/>
          <a:srcRect l="0" r="0" t="0" b="0"/>
          <a:stretch/>
        </p:blipFill>
        <p:spPr>
          <a:xfrm>
            <a:off x="1251000" y="7318800"/>
            <a:ext cx="558000" cy="306000"/>
          </a:xfrm>
          <a:prstGeom prst="rect">
            <a:avLst/>
          </a:prstGeom>
        </p:spPr>
      </p:pic>
      <p:pic>
        <p:nvPicPr>
          <p:cNvPr id="38" name="Image 4" descr="Étiquette énergétique G">    </p:cNvPr>
          <p:cNvPicPr>
            <a:picLocks noChangeAspect="1"/>
          </p:cNvPicPr>
          <p:nvPr/>
        </p:nvPicPr>
        <p:blipFill>
          <a:blip r:embed="rId5"/>
          <a:srcRect l="0" r="0" t="0" b="0"/>
          <a:stretch/>
        </p:blipFill>
        <p:spPr>
          <a:xfrm>
            <a:off x="1971000" y="7318800"/>
            <a:ext cx="558000" cy="306000"/>
          </a:xfrm>
          <a:prstGeom prst="rect">
            <a:avLst/>
          </a:prstGeom>
        </p:spPr>
      </p:pic>
      <p:pic>
        <p:nvPicPr>
          <p:cNvPr id="39" name="Image 5" descr="Étiquette énergétique G">    </p:cNvPr>
          <p:cNvPicPr>
            <a:picLocks noChangeAspect="1"/>
          </p:cNvPicPr>
          <p:nvPr/>
        </p:nvPicPr>
        <p:blipFill>
          <a:blip r:embed="rId6"/>
          <a:srcRect l="0" r="0" t="0" b="0"/>
          <a:stretch/>
        </p:blipFill>
        <p:spPr>
          <a:xfrm>
            <a:off x="5355000" y="6922800"/>
            <a:ext cx="558000" cy="306000"/>
          </a:xfrm>
          <a:prstGeom prst="rect">
            <a:avLst/>
          </a:prstGeom>
        </p:spPr>
      </p:pic>
      <p:sp>
        <p:nvSpPr>
          <p:cNvPr id="40" name="Text 32"/>
          <p:cNvSpPr/>
          <p:nvPr/>
        </p:nvSpPr>
        <p:spPr>
          <a:xfrm>
            <a:off x="4770000" y="7246800"/>
            <a:ext cx="1728000" cy="3600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Si la consommation annuelle</a:t>
            </a:r>
            <a:endParaRPr lang="en-US" sz="950" dirty="0"/>
          </a:p>
          <a:p>
            <a:pPr algn="ctr" indent="0" marL="0">
              <a:buNone/>
            </a:pPr>
            <a:r>
              <a:rPr lang="en-US" sz="950" dirty="0">
                <a:solidFill>
                  <a:srgbClr val="1C1C1C"/>
                </a:solidFill>
                <a:latin typeface="Aptos" pitchFamily="34" charset="0"/>
                <a:ea typeface="Aptos" pitchFamily="34" charset="-122"/>
                <a:cs typeface="Aptos" pitchFamily="34" charset="-120"/>
              </a:rPr>
              <a:t>&gt; 450 kWh/m²</a:t>
            </a:r>
            <a:endParaRPr lang="en-US" sz="950" dirty="0"/>
          </a:p>
        </p:txBody>
      </p:sp>
      <p:sp>
        <p:nvSpPr>
          <p:cNvPr id="41" name="Shape 33"/>
          <p:cNvSpPr/>
          <p:nvPr/>
        </p:nvSpPr>
        <p:spPr>
          <a:xfrm>
            <a:off x="954000" y="7678800"/>
            <a:ext cx="1872000" cy="756000"/>
          </a:xfrm>
          <a:prstGeom prst="rect">
            <a:avLst/>
          </a:prstGeom>
          <a:solidFill>
            <a:srgbClr val="FFFFFF"/>
          </a:solidFill>
          <a:ln w="6985">
            <a:solidFill>
              <a:srgbClr val="202020"/>
            </a:solidFill>
            <a:prstDash val="solid"/>
          </a:ln>
        </p:spPr>
      </p:sp>
      <p:sp>
        <p:nvSpPr>
          <p:cNvPr id="42" name="Text 34"/>
          <p:cNvSpPr/>
          <p:nvPr/>
        </p:nvSpPr>
        <p:spPr>
          <a:xfrm>
            <a:off x="1015200" y="7718400"/>
            <a:ext cx="1749600" cy="676800"/>
          </a:xfrm>
          <a:prstGeom prst="rect">
            <a:avLst/>
          </a:prstGeom>
          <a:noFill/>
          <a:ln/>
        </p:spPr>
        <p:txBody>
          <a:bodyPr wrap="square" lIns="0" tIns="0" rIns="0" bIns="0" rtlCol="0" anchor="ctr"/>
          <a:lstStyle/>
          <a:p>
            <a:pPr algn="l" indent="0" marL="0">
              <a:buNone/>
            </a:pPr>
            <a:endParaRPr lang="en-US" sz="1000" dirty="0"/>
          </a:p>
        </p:txBody>
      </p:sp>
      <p:sp>
        <p:nvSpPr>
          <p:cNvPr id="43" name="Shape 35"/>
          <p:cNvSpPr/>
          <p:nvPr/>
        </p:nvSpPr>
        <p:spPr>
          <a:xfrm>
            <a:off x="2826000" y="7678800"/>
            <a:ext cx="1872000" cy="756000"/>
          </a:xfrm>
          <a:prstGeom prst="rect">
            <a:avLst/>
          </a:prstGeom>
          <a:solidFill>
            <a:srgbClr val="FFFFFF"/>
          </a:solidFill>
          <a:ln w="6985">
            <a:solidFill>
              <a:srgbClr val="202020"/>
            </a:solidFill>
            <a:prstDash val="solid"/>
          </a:ln>
        </p:spPr>
      </p:sp>
      <p:sp>
        <p:nvSpPr>
          <p:cNvPr id="44" name="Text 36"/>
          <p:cNvSpPr/>
          <p:nvPr/>
        </p:nvSpPr>
        <p:spPr>
          <a:xfrm>
            <a:off x="2887200" y="7718400"/>
            <a:ext cx="1749600" cy="676800"/>
          </a:xfrm>
          <a:prstGeom prst="rect">
            <a:avLst/>
          </a:prstGeom>
          <a:noFill/>
          <a:ln/>
        </p:spPr>
        <p:txBody>
          <a:bodyPr wrap="square" lIns="0" tIns="0" rIns="0" bIns="0" rtlCol="0" anchor="ctr"/>
          <a:lstStyle/>
          <a:p>
            <a:pPr algn="l" indent="0" marL="0">
              <a:buNone/>
            </a:pPr>
            <a:endParaRPr lang="en-US" sz="1000" dirty="0"/>
          </a:p>
        </p:txBody>
      </p:sp>
      <p:sp>
        <p:nvSpPr>
          <p:cNvPr id="45" name="Shape 37"/>
          <p:cNvSpPr/>
          <p:nvPr/>
        </p:nvSpPr>
        <p:spPr>
          <a:xfrm>
            <a:off x="4698000" y="7678800"/>
            <a:ext cx="1872000" cy="756000"/>
          </a:xfrm>
          <a:prstGeom prst="rect">
            <a:avLst/>
          </a:prstGeom>
          <a:solidFill>
            <a:srgbClr val="FFFFFF"/>
          </a:solidFill>
          <a:ln w="6985">
            <a:solidFill>
              <a:srgbClr val="202020"/>
            </a:solidFill>
            <a:prstDash val="solid"/>
          </a:ln>
        </p:spPr>
      </p:sp>
      <p:sp>
        <p:nvSpPr>
          <p:cNvPr id="46" name="Text 38"/>
          <p:cNvSpPr/>
          <p:nvPr/>
        </p:nvSpPr>
        <p:spPr>
          <a:xfrm>
            <a:off x="4759200" y="7718400"/>
            <a:ext cx="1749600" cy="676800"/>
          </a:xfrm>
          <a:prstGeom prst="rect">
            <a:avLst/>
          </a:prstGeom>
          <a:noFill/>
          <a:ln/>
        </p:spPr>
        <p:txBody>
          <a:bodyPr wrap="square" lIns="0" tIns="0" rIns="0" bIns="0" rtlCol="0" anchor="ctr"/>
          <a:lstStyle/>
          <a:p>
            <a:pPr algn="l" indent="0" marL="0">
              <a:buNone/>
            </a:pPr>
            <a:endParaRPr lang="en-US" sz="1000" dirty="0"/>
          </a:p>
        </p:txBody>
      </p:sp>
      <p:sp>
        <p:nvSpPr>
          <p:cNvPr id="47" name="Text 39"/>
          <p:cNvSpPr/>
          <p:nvPr/>
        </p:nvSpPr>
        <p:spPr>
          <a:xfrm>
            <a:off x="2898000" y="7948800"/>
            <a:ext cx="1728000" cy="216000"/>
          </a:xfrm>
          <a:prstGeom prst="rect">
            <a:avLst/>
          </a:prstGeom>
          <a:noFill/>
          <a:ln/>
        </p:spPr>
        <p:txBody>
          <a:bodyPr wrap="square" lIns="0" tIns="0" rIns="0" bIns="0" rtlCol="0" anchor="ctr"/>
          <a:lstStyle/>
          <a:p>
            <a:pPr algn="ctr" indent="0" marL="0">
              <a:buNone/>
            </a:pPr>
            <a:r>
              <a:rPr lang="en-US" sz="1000" b="1" dirty="0">
                <a:solidFill>
                  <a:srgbClr val="00B55A"/>
                </a:solidFill>
                <a:latin typeface="Aptos" pitchFamily="34" charset="0"/>
                <a:ea typeface="Aptos" pitchFamily="34" charset="-122"/>
                <a:cs typeface="Aptos" pitchFamily="34" charset="-120"/>
              </a:rPr>
              <a:t>Janvier 2025</a:t>
            </a:r>
            <a:endParaRPr lang="en-US" sz="1000" dirty="0"/>
          </a:p>
        </p:txBody>
      </p:sp>
      <p:sp>
        <p:nvSpPr>
          <p:cNvPr id="48" name="Text 40"/>
          <p:cNvSpPr/>
          <p:nvPr/>
        </p:nvSpPr>
        <p:spPr>
          <a:xfrm>
            <a:off x="1026000" y="7750800"/>
            <a:ext cx="1728000" cy="324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Audit énergétique</a:t>
            </a:r>
            <a:endParaRPr lang="en-US" sz="1000" dirty="0"/>
          </a:p>
          <a:p>
            <a:pPr algn="ctr" indent="0" marL="0">
              <a:buNone/>
            </a:pPr>
            <a:r>
              <a:rPr lang="en-US" sz="1000" b="1" dirty="0">
                <a:solidFill>
                  <a:srgbClr val="1C1C1C"/>
                </a:solidFill>
                <a:latin typeface="Aptos" pitchFamily="34" charset="0"/>
                <a:ea typeface="Aptos" pitchFamily="34" charset="-122"/>
                <a:cs typeface="Aptos" pitchFamily="34" charset="-120"/>
              </a:rPr>
              <a:t>obligatoire</a:t>
            </a:r>
            <a:endParaRPr lang="en-US" sz="1000" dirty="0"/>
          </a:p>
        </p:txBody>
      </p:sp>
      <p:sp>
        <p:nvSpPr>
          <p:cNvPr id="49" name="Text 41"/>
          <p:cNvSpPr/>
          <p:nvPr/>
        </p:nvSpPr>
        <p:spPr>
          <a:xfrm>
            <a:off x="4770000" y="7750800"/>
            <a:ext cx="1728000" cy="216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Location interdite</a:t>
            </a:r>
            <a:endParaRPr lang="en-US" sz="1000" dirty="0"/>
          </a:p>
        </p:txBody>
      </p:sp>
      <p:pic>
        <p:nvPicPr>
          <p:cNvPr id="50" name="Image 6" descr="Étiquette énergétique E">    </p:cNvPr>
          <p:cNvPicPr>
            <a:picLocks noChangeAspect="1"/>
          </p:cNvPicPr>
          <p:nvPr/>
        </p:nvPicPr>
        <p:blipFill>
          <a:blip r:embed="rId7"/>
          <a:srcRect l="0" r="0" t="0" b="0"/>
          <a:stretch/>
        </p:blipFill>
        <p:spPr>
          <a:xfrm>
            <a:off x="1611000" y="8074800"/>
            <a:ext cx="558000" cy="306000"/>
          </a:xfrm>
          <a:prstGeom prst="rect">
            <a:avLst/>
          </a:prstGeom>
        </p:spPr>
      </p:pic>
      <p:pic>
        <p:nvPicPr>
          <p:cNvPr id="51" name="Image 7" descr="Étiquette énergétique G">    </p:cNvPr>
          <p:cNvPicPr>
            <a:picLocks noChangeAspect="1"/>
          </p:cNvPicPr>
          <p:nvPr/>
        </p:nvPicPr>
        <p:blipFill>
          <a:blip r:embed="rId8"/>
          <a:srcRect l="0" r="0" t="0" b="0"/>
          <a:stretch/>
        </p:blipFill>
        <p:spPr>
          <a:xfrm>
            <a:off x="5355000" y="8074800"/>
            <a:ext cx="558000" cy="306000"/>
          </a:xfrm>
          <a:prstGeom prst="rect">
            <a:avLst/>
          </a:prstGeom>
        </p:spPr>
      </p:pic>
      <p:sp>
        <p:nvSpPr>
          <p:cNvPr id="52" name="Shape 42"/>
          <p:cNvSpPr/>
          <p:nvPr/>
        </p:nvSpPr>
        <p:spPr>
          <a:xfrm>
            <a:off x="954000" y="8434800"/>
            <a:ext cx="1872000" cy="612000"/>
          </a:xfrm>
          <a:prstGeom prst="rect">
            <a:avLst/>
          </a:prstGeom>
          <a:solidFill>
            <a:srgbClr val="FFFFFF"/>
          </a:solidFill>
          <a:ln w="6985">
            <a:solidFill>
              <a:srgbClr val="202020"/>
            </a:solidFill>
            <a:prstDash val="solid"/>
          </a:ln>
        </p:spPr>
      </p:sp>
      <p:sp>
        <p:nvSpPr>
          <p:cNvPr id="53" name="Text 43"/>
          <p:cNvSpPr/>
          <p:nvPr/>
        </p:nvSpPr>
        <p:spPr>
          <a:xfrm>
            <a:off x="1015200" y="8474400"/>
            <a:ext cx="1749600" cy="532800"/>
          </a:xfrm>
          <a:prstGeom prst="rect">
            <a:avLst/>
          </a:prstGeom>
          <a:noFill/>
          <a:ln/>
        </p:spPr>
        <p:txBody>
          <a:bodyPr wrap="square" lIns="0" tIns="0" rIns="0" bIns="0" rtlCol="0" anchor="ctr"/>
          <a:lstStyle/>
          <a:p>
            <a:pPr algn="l" indent="0" marL="0">
              <a:buNone/>
            </a:pPr>
            <a:endParaRPr lang="en-US" sz="1000" dirty="0"/>
          </a:p>
        </p:txBody>
      </p:sp>
      <p:sp>
        <p:nvSpPr>
          <p:cNvPr id="54" name="Shape 44"/>
          <p:cNvSpPr/>
          <p:nvPr/>
        </p:nvSpPr>
        <p:spPr>
          <a:xfrm>
            <a:off x="2826000" y="8434800"/>
            <a:ext cx="1872000" cy="612000"/>
          </a:xfrm>
          <a:prstGeom prst="rect">
            <a:avLst/>
          </a:prstGeom>
          <a:solidFill>
            <a:srgbClr val="FFFFFF"/>
          </a:solidFill>
          <a:ln w="6985">
            <a:solidFill>
              <a:srgbClr val="202020"/>
            </a:solidFill>
            <a:prstDash val="solid"/>
          </a:ln>
        </p:spPr>
      </p:sp>
      <p:sp>
        <p:nvSpPr>
          <p:cNvPr id="55" name="Text 45"/>
          <p:cNvSpPr/>
          <p:nvPr/>
        </p:nvSpPr>
        <p:spPr>
          <a:xfrm>
            <a:off x="2887200" y="8474400"/>
            <a:ext cx="1749600" cy="532800"/>
          </a:xfrm>
          <a:prstGeom prst="rect">
            <a:avLst/>
          </a:prstGeom>
          <a:noFill/>
          <a:ln/>
        </p:spPr>
        <p:txBody>
          <a:bodyPr wrap="square" lIns="0" tIns="0" rIns="0" bIns="0" rtlCol="0" anchor="ctr"/>
          <a:lstStyle/>
          <a:p>
            <a:pPr algn="l" indent="0" marL="0">
              <a:buNone/>
            </a:pPr>
            <a:endParaRPr lang="en-US" sz="1000" dirty="0"/>
          </a:p>
        </p:txBody>
      </p:sp>
      <p:sp>
        <p:nvSpPr>
          <p:cNvPr id="56" name="Shape 46"/>
          <p:cNvSpPr/>
          <p:nvPr/>
        </p:nvSpPr>
        <p:spPr>
          <a:xfrm>
            <a:off x="4698000" y="8434800"/>
            <a:ext cx="1872000" cy="612000"/>
          </a:xfrm>
          <a:prstGeom prst="rect">
            <a:avLst/>
          </a:prstGeom>
          <a:solidFill>
            <a:srgbClr val="FFFFFF"/>
          </a:solidFill>
          <a:ln w="6985">
            <a:solidFill>
              <a:srgbClr val="202020"/>
            </a:solidFill>
            <a:prstDash val="solid"/>
          </a:ln>
        </p:spPr>
      </p:sp>
      <p:sp>
        <p:nvSpPr>
          <p:cNvPr id="57" name="Text 47"/>
          <p:cNvSpPr/>
          <p:nvPr/>
        </p:nvSpPr>
        <p:spPr>
          <a:xfrm>
            <a:off x="4759200" y="8474400"/>
            <a:ext cx="1749600" cy="532800"/>
          </a:xfrm>
          <a:prstGeom prst="rect">
            <a:avLst/>
          </a:prstGeom>
          <a:noFill/>
          <a:ln/>
        </p:spPr>
        <p:txBody>
          <a:bodyPr wrap="square" lIns="0" tIns="0" rIns="0" bIns="0" rtlCol="0" anchor="ctr"/>
          <a:lstStyle/>
          <a:p>
            <a:pPr algn="l" indent="0" marL="0">
              <a:buNone/>
            </a:pPr>
            <a:endParaRPr lang="en-US" sz="1000" dirty="0"/>
          </a:p>
        </p:txBody>
      </p:sp>
      <p:sp>
        <p:nvSpPr>
          <p:cNvPr id="58" name="Text 48"/>
          <p:cNvSpPr/>
          <p:nvPr/>
        </p:nvSpPr>
        <p:spPr>
          <a:xfrm>
            <a:off x="2898000" y="8632800"/>
            <a:ext cx="1728000" cy="216000"/>
          </a:xfrm>
          <a:prstGeom prst="rect">
            <a:avLst/>
          </a:prstGeom>
          <a:noFill/>
          <a:ln/>
        </p:spPr>
        <p:txBody>
          <a:bodyPr wrap="square" lIns="0" tIns="0" rIns="0" bIns="0" rtlCol="0" anchor="ctr"/>
          <a:lstStyle/>
          <a:p>
            <a:pPr algn="ctr" indent="0" marL="0">
              <a:buNone/>
            </a:pPr>
            <a:r>
              <a:rPr lang="en-US" sz="1000" b="1" dirty="0">
                <a:solidFill>
                  <a:srgbClr val="00B55A"/>
                </a:solidFill>
                <a:latin typeface="Aptos" pitchFamily="34" charset="0"/>
                <a:ea typeface="Aptos" pitchFamily="34" charset="-122"/>
                <a:cs typeface="Aptos" pitchFamily="34" charset="-120"/>
              </a:rPr>
              <a:t>Janvier 2028</a:t>
            </a:r>
            <a:endParaRPr lang="en-US" sz="1000" dirty="0"/>
          </a:p>
        </p:txBody>
      </p:sp>
      <p:sp>
        <p:nvSpPr>
          <p:cNvPr id="59" name="Text 49"/>
          <p:cNvSpPr/>
          <p:nvPr/>
        </p:nvSpPr>
        <p:spPr>
          <a:xfrm>
            <a:off x="4770000" y="8506800"/>
            <a:ext cx="1728000" cy="216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Location interdite</a:t>
            </a:r>
            <a:endParaRPr lang="en-US" sz="1000" dirty="0"/>
          </a:p>
        </p:txBody>
      </p:sp>
      <p:pic>
        <p:nvPicPr>
          <p:cNvPr id="60" name="Image 8" descr="Étiquette énergétique F">    </p:cNvPr>
          <p:cNvPicPr>
            <a:picLocks noChangeAspect="1"/>
          </p:cNvPicPr>
          <p:nvPr/>
        </p:nvPicPr>
        <p:blipFill>
          <a:blip r:embed="rId9"/>
          <a:srcRect l="0" r="0" t="0" b="0"/>
          <a:stretch/>
        </p:blipFill>
        <p:spPr>
          <a:xfrm>
            <a:off x="5355000" y="8686800"/>
            <a:ext cx="558000" cy="306000"/>
          </a:xfrm>
          <a:prstGeom prst="rect">
            <a:avLst/>
          </a:prstGeom>
        </p:spPr>
      </p:pic>
      <p:sp>
        <p:nvSpPr>
          <p:cNvPr id="61" name="Shape 50"/>
          <p:cNvSpPr/>
          <p:nvPr/>
        </p:nvSpPr>
        <p:spPr>
          <a:xfrm>
            <a:off x="954000" y="9046800"/>
            <a:ext cx="1872000" cy="756000"/>
          </a:xfrm>
          <a:prstGeom prst="rect">
            <a:avLst/>
          </a:prstGeom>
          <a:solidFill>
            <a:srgbClr val="FFFFFF"/>
          </a:solidFill>
          <a:ln w="6985">
            <a:solidFill>
              <a:srgbClr val="202020"/>
            </a:solidFill>
            <a:prstDash val="solid"/>
          </a:ln>
        </p:spPr>
      </p:sp>
      <p:sp>
        <p:nvSpPr>
          <p:cNvPr id="62" name="Text 51"/>
          <p:cNvSpPr/>
          <p:nvPr/>
        </p:nvSpPr>
        <p:spPr>
          <a:xfrm>
            <a:off x="1015200" y="9086400"/>
            <a:ext cx="1749600" cy="676800"/>
          </a:xfrm>
          <a:prstGeom prst="rect">
            <a:avLst/>
          </a:prstGeom>
          <a:noFill/>
          <a:ln/>
        </p:spPr>
        <p:txBody>
          <a:bodyPr wrap="square" lIns="0" tIns="0" rIns="0" bIns="0" rtlCol="0" anchor="ctr"/>
          <a:lstStyle/>
          <a:p>
            <a:pPr algn="l" indent="0" marL="0">
              <a:buNone/>
            </a:pPr>
            <a:endParaRPr lang="en-US" sz="1000" dirty="0"/>
          </a:p>
        </p:txBody>
      </p:sp>
      <p:sp>
        <p:nvSpPr>
          <p:cNvPr id="63" name="Shape 52"/>
          <p:cNvSpPr/>
          <p:nvPr/>
        </p:nvSpPr>
        <p:spPr>
          <a:xfrm>
            <a:off x="2826000" y="9046800"/>
            <a:ext cx="1872000" cy="756000"/>
          </a:xfrm>
          <a:prstGeom prst="rect">
            <a:avLst/>
          </a:prstGeom>
          <a:solidFill>
            <a:srgbClr val="FFFFFF"/>
          </a:solidFill>
          <a:ln w="6985">
            <a:solidFill>
              <a:srgbClr val="202020"/>
            </a:solidFill>
            <a:prstDash val="solid"/>
          </a:ln>
        </p:spPr>
      </p:sp>
      <p:sp>
        <p:nvSpPr>
          <p:cNvPr id="64" name="Text 53"/>
          <p:cNvSpPr/>
          <p:nvPr/>
        </p:nvSpPr>
        <p:spPr>
          <a:xfrm>
            <a:off x="2887200" y="9086400"/>
            <a:ext cx="1749600" cy="676800"/>
          </a:xfrm>
          <a:prstGeom prst="rect">
            <a:avLst/>
          </a:prstGeom>
          <a:noFill/>
          <a:ln/>
        </p:spPr>
        <p:txBody>
          <a:bodyPr wrap="square" lIns="0" tIns="0" rIns="0" bIns="0" rtlCol="0" anchor="ctr"/>
          <a:lstStyle/>
          <a:p>
            <a:pPr algn="l" indent="0" marL="0">
              <a:buNone/>
            </a:pPr>
            <a:endParaRPr lang="en-US" sz="1000" dirty="0"/>
          </a:p>
        </p:txBody>
      </p:sp>
      <p:sp>
        <p:nvSpPr>
          <p:cNvPr id="65" name="Shape 54"/>
          <p:cNvSpPr/>
          <p:nvPr/>
        </p:nvSpPr>
        <p:spPr>
          <a:xfrm>
            <a:off x="4698000" y="9046800"/>
            <a:ext cx="1872000" cy="756000"/>
          </a:xfrm>
          <a:prstGeom prst="rect">
            <a:avLst/>
          </a:prstGeom>
          <a:solidFill>
            <a:srgbClr val="FFFFFF"/>
          </a:solidFill>
          <a:ln w="6985">
            <a:solidFill>
              <a:srgbClr val="202020"/>
            </a:solidFill>
            <a:prstDash val="solid"/>
          </a:ln>
        </p:spPr>
      </p:sp>
      <p:sp>
        <p:nvSpPr>
          <p:cNvPr id="66" name="Text 55"/>
          <p:cNvSpPr/>
          <p:nvPr/>
        </p:nvSpPr>
        <p:spPr>
          <a:xfrm>
            <a:off x="4759200" y="9086400"/>
            <a:ext cx="1749600" cy="676800"/>
          </a:xfrm>
          <a:prstGeom prst="rect">
            <a:avLst/>
          </a:prstGeom>
          <a:noFill/>
          <a:ln/>
        </p:spPr>
        <p:txBody>
          <a:bodyPr wrap="square" lIns="0" tIns="0" rIns="0" bIns="0" rtlCol="0" anchor="ctr"/>
          <a:lstStyle/>
          <a:p>
            <a:pPr algn="l" indent="0" marL="0">
              <a:buNone/>
            </a:pPr>
            <a:endParaRPr lang="en-US" sz="1000" dirty="0"/>
          </a:p>
        </p:txBody>
      </p:sp>
      <p:sp>
        <p:nvSpPr>
          <p:cNvPr id="67" name="Text 56"/>
          <p:cNvSpPr/>
          <p:nvPr/>
        </p:nvSpPr>
        <p:spPr>
          <a:xfrm>
            <a:off x="2898000" y="9316800"/>
            <a:ext cx="1728000" cy="216000"/>
          </a:xfrm>
          <a:prstGeom prst="rect">
            <a:avLst/>
          </a:prstGeom>
          <a:noFill/>
          <a:ln/>
        </p:spPr>
        <p:txBody>
          <a:bodyPr wrap="square" lIns="0" tIns="0" rIns="0" bIns="0" rtlCol="0" anchor="ctr"/>
          <a:lstStyle/>
          <a:p>
            <a:pPr algn="ctr" indent="0" marL="0">
              <a:buNone/>
            </a:pPr>
            <a:r>
              <a:rPr lang="en-US" sz="1000" b="1" dirty="0">
                <a:solidFill>
                  <a:srgbClr val="00B55A"/>
                </a:solidFill>
                <a:latin typeface="Aptos" pitchFamily="34" charset="0"/>
                <a:ea typeface="Aptos" pitchFamily="34" charset="-122"/>
                <a:cs typeface="Aptos" pitchFamily="34" charset="-120"/>
              </a:rPr>
              <a:t>Janvier 2034</a:t>
            </a:r>
            <a:endParaRPr lang="en-US" sz="1000" dirty="0"/>
          </a:p>
        </p:txBody>
      </p:sp>
      <p:sp>
        <p:nvSpPr>
          <p:cNvPr id="68" name="Text 57"/>
          <p:cNvSpPr/>
          <p:nvPr/>
        </p:nvSpPr>
        <p:spPr>
          <a:xfrm>
            <a:off x="1026000" y="9118800"/>
            <a:ext cx="1728000" cy="324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Audit énergétique</a:t>
            </a:r>
            <a:endParaRPr lang="en-US" sz="1000" dirty="0"/>
          </a:p>
          <a:p>
            <a:pPr algn="ctr" indent="0" marL="0">
              <a:buNone/>
            </a:pPr>
            <a:r>
              <a:rPr lang="en-US" sz="1000" b="1" dirty="0">
                <a:solidFill>
                  <a:srgbClr val="1C1C1C"/>
                </a:solidFill>
                <a:latin typeface="Aptos" pitchFamily="34" charset="0"/>
                <a:ea typeface="Aptos" pitchFamily="34" charset="-122"/>
                <a:cs typeface="Aptos" pitchFamily="34" charset="-120"/>
              </a:rPr>
              <a:t>obligatoire</a:t>
            </a:r>
            <a:endParaRPr lang="en-US" sz="1000" dirty="0"/>
          </a:p>
        </p:txBody>
      </p:sp>
      <p:sp>
        <p:nvSpPr>
          <p:cNvPr id="69" name="Text 58"/>
          <p:cNvSpPr/>
          <p:nvPr/>
        </p:nvSpPr>
        <p:spPr>
          <a:xfrm>
            <a:off x="4770000" y="9118800"/>
            <a:ext cx="1728000" cy="216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Location interdite</a:t>
            </a:r>
            <a:endParaRPr lang="en-US" sz="1000" dirty="0"/>
          </a:p>
        </p:txBody>
      </p:sp>
      <p:pic>
        <p:nvPicPr>
          <p:cNvPr id="70" name="Image 9" descr="Étiquette énergétique D">    </p:cNvPr>
          <p:cNvPicPr>
            <a:picLocks noChangeAspect="1"/>
          </p:cNvPicPr>
          <p:nvPr/>
        </p:nvPicPr>
        <p:blipFill>
          <a:blip r:embed="rId10"/>
          <a:srcRect l="0" r="0" t="0" b="0"/>
          <a:stretch/>
        </p:blipFill>
        <p:spPr>
          <a:xfrm>
            <a:off x="1611000" y="9442800"/>
            <a:ext cx="558000" cy="306000"/>
          </a:xfrm>
          <a:prstGeom prst="rect">
            <a:avLst/>
          </a:prstGeom>
        </p:spPr>
      </p:pic>
      <p:pic>
        <p:nvPicPr>
          <p:cNvPr id="71" name="Image 10" descr="Étiquette énergétique E">    </p:cNvPr>
          <p:cNvPicPr>
            <a:picLocks noChangeAspect="1"/>
          </p:cNvPicPr>
          <p:nvPr/>
        </p:nvPicPr>
        <p:blipFill>
          <a:blip r:embed="rId11"/>
          <a:srcRect l="0" r="0" t="0" b="0"/>
          <a:stretch/>
        </p:blipFill>
        <p:spPr>
          <a:xfrm>
            <a:off x="5355000" y="9442800"/>
            <a:ext cx="558000" cy="306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33</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6.2 Le diagnostic de performance énergétiques (DPE Collectif)</a:t>
            </a:r>
            <a:endParaRPr lang="en-US" sz="1300" dirty="0"/>
          </a:p>
        </p:txBody>
      </p:sp>
      <p:sp>
        <p:nvSpPr>
          <p:cNvPr id="8" name="Text 5"/>
          <p:cNvSpPr/>
          <p:nvPr/>
        </p:nvSpPr>
        <p:spPr>
          <a:xfrm>
            <a:off x="648000" y="17100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Diagnostic de Performance Énergétique (DPE) collectif évalue la performance énergétique du bâtiment en analysant les caractéristiques de son enveloppe (isolation, menuiseries, ventilation, etc.) ainsi que ses équipements techniques. Il permet d’attribuer une étiquette énergie et une étiquette climat représentatives de la performance énergétique conventionnelle de l’immeuble.</a:t>
            </a:r>
            <a:endParaRPr lang="en-US" sz="1000" dirty="0"/>
          </a:p>
        </p:txBody>
      </p:sp>
      <p:sp>
        <p:nvSpPr>
          <p:cNvPr id="9" name="Text 6"/>
          <p:cNvSpPr/>
          <p:nvPr/>
        </p:nvSpPr>
        <p:spPr>
          <a:xfrm>
            <a:off x="648000" y="25164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DPE collectif est réalisé selon la méthode réglementaire 3CL-DPE (Calcul de la Consommation Conventionnelle des Logements), définie par les pouvoirs publics. Cette méthode repose sur une modélisation conventionnelle du bâtiment et sur des hypothèses standardisées d’occupation, de chauffage, de production d’eau chaude sanitaire et de conditions climatiques.</a:t>
            </a:r>
            <a:endParaRPr lang="en-US" sz="1000" dirty="0"/>
          </a:p>
        </p:txBody>
      </p:sp>
      <p:sp>
        <p:nvSpPr>
          <p:cNvPr id="10" name="Text 7"/>
          <p:cNvSpPr/>
          <p:nvPr/>
        </p:nvSpPr>
        <p:spPr>
          <a:xfrm>
            <a:off x="648000" y="3322800"/>
            <a:ext cx="6264000" cy="10584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Les comportements réels des occupants (température de chauffage, durée d’occupation, consommation d’eau chaude, habitudes de ventilation, etc.) ne sont donc pas pris en compte. Des écarts peuvent ainsi être constatés entre les consommations conventionnelles calculées par le DPE et les consommations réelles observées sur les factures énergétiques. Malgré cette limite, la méthode 3CL constitue aujourd’hui la référence réglementaire pour comparer objectivement les performances énergétiques des bâtiments.</a:t>
            </a:r>
            <a:endParaRPr lang="en-US" sz="1000" dirty="0"/>
          </a:p>
        </p:txBody>
      </p:sp>
      <p:sp>
        <p:nvSpPr>
          <p:cNvPr id="11" name="Text 8"/>
          <p:cNvSpPr/>
          <p:nvPr/>
        </p:nvSpPr>
        <p:spPr>
          <a:xfrm>
            <a:off x="648000" y="4460400"/>
            <a:ext cx="6264000" cy="2304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La réalisation du DPE collectif : À confirmer.</a:t>
            </a:r>
            <a:endParaRPr lang="en-US" sz="1000" dirty="0"/>
          </a:p>
        </p:txBody>
      </p:sp>
      <p:sp>
        <p:nvSpPr>
          <p:cNvPr id="12" name="Text 9"/>
          <p:cNvSpPr/>
          <p:nvPr/>
        </p:nvSpPr>
        <p:spPr>
          <a:xfrm>
            <a:off x="648000" y="4726800"/>
            <a:ext cx="6264000" cy="3960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Pour bénéficier d’aides financières (CEE, MaPrimeRénov’), un audit énergétique doit être réalisé.</a:t>
            </a:r>
            <a:endParaRPr lang="en-US" sz="1000" dirty="0"/>
          </a:p>
        </p:txBody>
      </p:sp>
      <p:sp>
        <p:nvSpPr>
          <p:cNvPr id="13" name="Text 10"/>
          <p:cNvSpPr/>
          <p:nvPr/>
        </p:nvSpPr>
        <p:spPr>
          <a:xfrm>
            <a:off x="648000" y="5176800"/>
            <a:ext cx="6264000" cy="180000"/>
          </a:xfrm>
          <a:prstGeom prst="rect">
            <a:avLst/>
          </a:prstGeom>
          <a:noFill/>
          <a:ln/>
        </p:spPr>
        <p:txBody>
          <a:bodyPr wrap="square" lIns="0" tIns="0" rIns="0" bIns="0" rtlCol="0" anchor="ctr"/>
          <a:lstStyle/>
          <a:p>
            <a:pPr indent="0" marL="0">
              <a:buNone/>
            </a:pPr>
            <a:r>
              <a:rPr lang="en-US" sz="1000" b="1" dirty="0">
                <a:solidFill>
                  <a:srgbClr val="1C1C1C"/>
                </a:solidFill>
                <a:latin typeface="Aptos" pitchFamily="34" charset="0"/>
                <a:ea typeface="Aptos" pitchFamily="34" charset="-122"/>
                <a:cs typeface="Aptos" pitchFamily="34" charset="-120"/>
              </a:rPr>
              <a:t>Date de réalisation du DPE collectif : À confirmer</a:t>
            </a:r>
            <a:endParaRPr lang="en-US" sz="1000" dirty="0"/>
          </a:p>
        </p:txBody>
      </p:sp>
      <p:sp>
        <p:nvSpPr>
          <p:cNvPr id="14" name="Text 11"/>
          <p:cNvSpPr/>
          <p:nvPr/>
        </p:nvSpPr>
        <p:spPr>
          <a:xfrm>
            <a:off x="648000" y="5356800"/>
            <a:ext cx="6264000" cy="180000"/>
          </a:xfrm>
          <a:prstGeom prst="rect">
            <a:avLst/>
          </a:prstGeom>
          <a:noFill/>
          <a:ln/>
        </p:spPr>
        <p:txBody>
          <a:bodyPr wrap="square" lIns="0" tIns="0" rIns="0" bIns="0" rtlCol="0" anchor="ctr"/>
          <a:lstStyle/>
          <a:p>
            <a:pPr indent="0" marL="0">
              <a:buNone/>
            </a:pPr>
            <a:r>
              <a:rPr lang="en-US" sz="1000" b="1" dirty="0">
                <a:solidFill>
                  <a:srgbClr val="1C1C1C"/>
                </a:solidFill>
                <a:latin typeface="Aptos" pitchFamily="34" charset="0"/>
                <a:ea typeface="Aptos" pitchFamily="34" charset="-122"/>
                <a:cs typeface="Aptos" pitchFamily="34" charset="-120"/>
              </a:rPr>
              <a:t>N° du DPE collectif : À confirmer</a:t>
            </a:r>
            <a:endParaRPr lang="en-US" sz="1000" dirty="0"/>
          </a:p>
        </p:txBody>
      </p:sp>
      <p:sp>
        <p:nvSpPr>
          <p:cNvPr id="15" name="Shape 12"/>
          <p:cNvSpPr/>
          <p:nvPr/>
        </p:nvSpPr>
        <p:spPr>
          <a:xfrm>
            <a:off x="540000" y="6660000"/>
            <a:ext cx="3240000" cy="432000"/>
          </a:xfrm>
          <a:prstGeom prst="rect">
            <a:avLst/>
          </a:prstGeom>
          <a:solidFill>
            <a:srgbClr val="0A2B6B"/>
          </a:solidFill>
          <a:ln w="6985">
            <a:solidFill>
              <a:srgbClr val="202020"/>
            </a:solidFill>
            <a:prstDash val="solid"/>
          </a:ln>
        </p:spPr>
      </p:sp>
      <p:sp>
        <p:nvSpPr>
          <p:cNvPr id="16" name="Text 13"/>
          <p:cNvSpPr/>
          <p:nvPr/>
        </p:nvSpPr>
        <p:spPr>
          <a:xfrm>
            <a:off x="601200" y="6699600"/>
            <a:ext cx="3117600" cy="352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État initial</a:t>
            </a:r>
            <a:endParaRPr lang="en-US" sz="1000" dirty="0"/>
          </a:p>
        </p:txBody>
      </p:sp>
      <p:sp>
        <p:nvSpPr>
          <p:cNvPr id="17" name="Shape 14"/>
          <p:cNvSpPr/>
          <p:nvPr/>
        </p:nvSpPr>
        <p:spPr>
          <a:xfrm>
            <a:off x="540000" y="7092000"/>
            <a:ext cx="3240000" cy="2196000"/>
          </a:xfrm>
          <a:prstGeom prst="rect">
            <a:avLst/>
          </a:prstGeom>
          <a:solidFill>
            <a:srgbClr val="FFFFFF"/>
          </a:solidFill>
          <a:ln w="6985">
            <a:solidFill>
              <a:srgbClr val="202020"/>
            </a:solidFill>
            <a:prstDash val="solid"/>
          </a:ln>
        </p:spPr>
      </p:sp>
      <p:pic>
        <p:nvPicPr>
          <p:cNvPr id="18" name="Image 1" descr="Étiquette DPE — État initial">    </p:cNvPr>
          <p:cNvPicPr>
            <a:picLocks noChangeAspect="1"/>
          </p:cNvPicPr>
          <p:nvPr/>
        </p:nvPicPr>
        <p:blipFill>
          <a:blip r:embed="rId2"/>
          <a:srcRect l="0" r="0" t="0" b="0"/>
          <a:stretch/>
        </p:blipFill>
        <p:spPr>
          <a:xfrm>
            <a:off x="648000" y="7200000"/>
            <a:ext cx="3024000" cy="1980000"/>
          </a:xfrm>
          <a:prstGeom prst="rect">
            <a:avLst/>
          </a:prstGeom>
        </p:spPr>
      </p:pic>
      <p:sp>
        <p:nvSpPr>
          <p:cNvPr id="19" name="Shape 15"/>
          <p:cNvSpPr/>
          <p:nvPr/>
        </p:nvSpPr>
        <p:spPr>
          <a:xfrm>
            <a:off x="3780000" y="6660000"/>
            <a:ext cx="3240000" cy="432000"/>
          </a:xfrm>
          <a:prstGeom prst="rect">
            <a:avLst/>
          </a:prstGeom>
          <a:solidFill>
            <a:srgbClr val="0A2B6B"/>
          </a:solidFill>
          <a:ln w="6985">
            <a:solidFill>
              <a:srgbClr val="202020"/>
            </a:solidFill>
            <a:prstDash val="solid"/>
          </a:ln>
        </p:spPr>
      </p:sp>
      <p:sp>
        <p:nvSpPr>
          <p:cNvPr id="20" name="Text 16"/>
          <p:cNvSpPr/>
          <p:nvPr/>
        </p:nvSpPr>
        <p:spPr>
          <a:xfrm>
            <a:off x="3841200" y="6699600"/>
            <a:ext cx="3117600" cy="352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Scénario de rénovation le plus ambitieux</a:t>
            </a:r>
            <a:endParaRPr lang="en-US" sz="1000" dirty="0"/>
          </a:p>
          <a:p>
            <a:pPr algn="ctr" indent="0" marL="0">
              <a:buNone/>
            </a:pPr>
            <a:r>
              <a:rPr lang="en-US" sz="1000" b="1" dirty="0">
                <a:solidFill>
                  <a:srgbClr val="FFFFFF"/>
                </a:solidFill>
                <a:latin typeface="Aptos" pitchFamily="34" charset="0"/>
                <a:ea typeface="Aptos" pitchFamily="34" charset="-122"/>
                <a:cs typeface="Aptos" pitchFamily="34" charset="-120"/>
              </a:rPr>
              <a:t>(Scénario n° 1)</a:t>
            </a:r>
            <a:endParaRPr lang="en-US" sz="1000" dirty="0"/>
          </a:p>
        </p:txBody>
      </p:sp>
      <p:sp>
        <p:nvSpPr>
          <p:cNvPr id="21" name="Shape 17"/>
          <p:cNvSpPr/>
          <p:nvPr/>
        </p:nvSpPr>
        <p:spPr>
          <a:xfrm>
            <a:off x="3780000" y="7092000"/>
            <a:ext cx="3240000" cy="2196000"/>
          </a:xfrm>
          <a:prstGeom prst="rect">
            <a:avLst/>
          </a:prstGeom>
          <a:solidFill>
            <a:srgbClr val="FFFFFF"/>
          </a:solidFill>
          <a:ln w="6985">
            <a:solidFill>
              <a:srgbClr val="202020"/>
            </a:solidFill>
            <a:prstDash val="solid"/>
          </a:ln>
        </p:spPr>
      </p:sp>
      <p:pic>
        <p:nvPicPr>
          <p:cNvPr id="22" name="Image 2" descr="Étiquette DPE — Scénario de rénovation le plus ambitieux">    </p:cNvPr>
          <p:cNvPicPr>
            <a:picLocks noChangeAspect="1"/>
          </p:cNvPicPr>
          <p:nvPr/>
        </p:nvPicPr>
        <p:blipFill>
          <a:blip r:embed="rId3"/>
          <a:srcRect l="0" r="0" t="0" b="0"/>
          <a:stretch/>
        </p:blipFill>
        <p:spPr>
          <a:xfrm>
            <a:off x="3888000" y="7200000"/>
            <a:ext cx="3024000" cy="1980000"/>
          </a:xfrm>
          <a:prstGeom prst="rect">
            <a:avLst/>
          </a:prstGeom>
        </p:spPr>
      </p:pic>
      <p:sp>
        <p:nvSpPr>
          <p:cNvPr id="23" name="Text 18"/>
          <p:cNvSpPr/>
          <p:nvPr/>
        </p:nvSpPr>
        <p:spPr>
          <a:xfrm>
            <a:off x="648000" y="5724000"/>
            <a:ext cx="6264000" cy="432000"/>
          </a:xfrm>
          <a:prstGeom prst="rect">
            <a:avLst/>
          </a:prstGeom>
          <a:noFill/>
          <a:ln/>
        </p:spPr>
        <p:txBody>
          <a:bodyPr wrap="square" lIns="0" tIns="0" rIns="0" bIns="0" rtlCol="0" anchor="t"/>
          <a:lstStyle/>
          <a:p>
            <a:pPr indent="0" marL="0">
              <a:buNone/>
            </a:pPr>
            <a:r>
              <a:rPr lang="en-US" sz="1000" dirty="0">
                <a:solidFill>
                  <a:srgbClr val="0070C0"/>
                </a:solidFill>
                <a:latin typeface="Aptos" pitchFamily="34" charset="0"/>
                <a:ea typeface="Aptos" pitchFamily="34" charset="-122"/>
                <a:cs typeface="Aptos" pitchFamily="34" charset="-120"/>
              </a:rPr>
              <a:t>EP : énergie non transformée utilisée comme référence de calcul.</a:t>
            </a:r>
            <a:endParaRPr lang="en-US" sz="1000" dirty="0"/>
          </a:p>
          <a:p>
            <a:pPr indent="0" marL="0">
              <a:buNone/>
            </a:pPr>
            <a:r>
              <a:rPr lang="en-US" sz="1000" dirty="0">
                <a:solidFill>
                  <a:srgbClr val="0070C0"/>
                </a:solidFill>
                <a:latin typeface="Aptos" pitchFamily="34" charset="0"/>
                <a:ea typeface="Aptos" pitchFamily="34" charset="-122"/>
                <a:cs typeface="Aptos" pitchFamily="34" charset="-120"/>
              </a:rPr>
              <a:t>GES : gaz contribuant à l’effet de serre en absorbant le rayonnement infrarouge.</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34</a:t>
            </a:r>
            <a:endParaRPr lang="en-US" sz="950" dirty="0"/>
          </a:p>
        </p:txBody>
      </p:sp>
      <p:sp>
        <p:nvSpPr>
          <p:cNvPr id="7" name="Shape 4"/>
          <p:cNvSpPr/>
          <p:nvPr/>
        </p:nvSpPr>
        <p:spPr>
          <a:xfrm>
            <a:off x="540000" y="1332000"/>
            <a:ext cx="3744000" cy="324000"/>
          </a:xfrm>
          <a:prstGeom prst="rect">
            <a:avLst/>
          </a:prstGeom>
          <a:solidFill>
            <a:srgbClr val="0A2B6B"/>
          </a:solidFill>
          <a:ln w="6985">
            <a:solidFill>
              <a:srgbClr val="202020"/>
            </a:solidFill>
            <a:prstDash val="solid"/>
          </a:ln>
        </p:spPr>
      </p:sp>
      <p:sp>
        <p:nvSpPr>
          <p:cNvPr id="8" name="Text 5"/>
          <p:cNvSpPr/>
          <p:nvPr/>
        </p:nvSpPr>
        <p:spPr>
          <a:xfrm>
            <a:off x="601200" y="1371600"/>
            <a:ext cx="3621600" cy="244800"/>
          </a:xfrm>
          <a:prstGeom prst="rect">
            <a:avLst/>
          </a:prstGeom>
          <a:noFill/>
          <a:ln/>
        </p:spPr>
        <p:txBody>
          <a:bodyPr wrap="square" lIns="0" tIns="0" rIns="0" bIns="0" rtlCol="0" anchor="ctr"/>
          <a:lstStyle/>
          <a:p>
            <a:pPr algn="ctr" indent="0" marL="0">
              <a:buNone/>
            </a:pPr>
            <a:r>
              <a:rPr lang="en-US" sz="1000" dirty="0">
                <a:solidFill>
                  <a:srgbClr val="FFFFFF"/>
                </a:solidFill>
                <a:latin typeface="Aptos" pitchFamily="34" charset="0"/>
                <a:ea typeface="Aptos" pitchFamily="34" charset="-122"/>
                <a:cs typeface="Aptos" pitchFamily="34" charset="-120"/>
              </a:rPr>
              <a:t>Travaux énergétiques</a:t>
            </a:r>
            <a:endParaRPr lang="en-US" sz="1000" dirty="0"/>
          </a:p>
        </p:txBody>
      </p:sp>
      <p:sp>
        <p:nvSpPr>
          <p:cNvPr id="9" name="Shape 6"/>
          <p:cNvSpPr/>
          <p:nvPr/>
        </p:nvSpPr>
        <p:spPr>
          <a:xfrm>
            <a:off x="4284000" y="1332000"/>
            <a:ext cx="900000" cy="324000"/>
          </a:xfrm>
          <a:prstGeom prst="rect">
            <a:avLst/>
          </a:prstGeom>
          <a:solidFill>
            <a:srgbClr val="0A2B6B"/>
          </a:solidFill>
          <a:ln w="6985">
            <a:solidFill>
              <a:srgbClr val="202020"/>
            </a:solidFill>
            <a:prstDash val="solid"/>
          </a:ln>
        </p:spPr>
      </p:sp>
      <p:sp>
        <p:nvSpPr>
          <p:cNvPr id="10" name="Text 7"/>
          <p:cNvSpPr/>
          <p:nvPr/>
        </p:nvSpPr>
        <p:spPr>
          <a:xfrm>
            <a:off x="4345200" y="1371600"/>
            <a:ext cx="777600" cy="244800"/>
          </a:xfrm>
          <a:prstGeom prst="rect">
            <a:avLst/>
          </a:prstGeom>
          <a:noFill/>
          <a:ln/>
        </p:spPr>
        <p:txBody>
          <a:bodyPr wrap="square" lIns="0" tIns="0" rIns="0" bIns="0" rtlCol="0" anchor="ctr"/>
          <a:lstStyle/>
          <a:p>
            <a:pPr algn="ctr" indent="0" marL="0">
              <a:buNone/>
            </a:pPr>
            <a:r>
              <a:rPr lang="en-US" sz="1000" dirty="0">
                <a:solidFill>
                  <a:srgbClr val="FFFFFF"/>
                </a:solidFill>
                <a:latin typeface="Aptos" pitchFamily="34" charset="0"/>
                <a:ea typeface="Aptos" pitchFamily="34" charset="-122"/>
                <a:cs typeface="Aptos" pitchFamily="34" charset="-120"/>
              </a:rPr>
              <a:t>Scénario 1</a:t>
            </a:r>
            <a:endParaRPr lang="en-US" sz="1000" dirty="0"/>
          </a:p>
        </p:txBody>
      </p:sp>
      <p:sp>
        <p:nvSpPr>
          <p:cNvPr id="11" name="Shape 8"/>
          <p:cNvSpPr/>
          <p:nvPr/>
        </p:nvSpPr>
        <p:spPr>
          <a:xfrm>
            <a:off x="5184000" y="1332000"/>
            <a:ext cx="936000" cy="324000"/>
          </a:xfrm>
          <a:prstGeom prst="rect">
            <a:avLst/>
          </a:prstGeom>
          <a:solidFill>
            <a:srgbClr val="0A2B6B"/>
          </a:solidFill>
          <a:ln w="6985">
            <a:solidFill>
              <a:srgbClr val="202020"/>
            </a:solidFill>
            <a:prstDash val="solid"/>
          </a:ln>
        </p:spPr>
      </p:sp>
      <p:sp>
        <p:nvSpPr>
          <p:cNvPr id="12" name="Text 9"/>
          <p:cNvSpPr/>
          <p:nvPr/>
        </p:nvSpPr>
        <p:spPr>
          <a:xfrm>
            <a:off x="5245200" y="1371600"/>
            <a:ext cx="813600" cy="244800"/>
          </a:xfrm>
          <a:prstGeom prst="rect">
            <a:avLst/>
          </a:prstGeom>
          <a:noFill/>
          <a:ln/>
        </p:spPr>
        <p:txBody>
          <a:bodyPr wrap="square" lIns="0" tIns="0" rIns="0" bIns="0" rtlCol="0" anchor="ctr"/>
          <a:lstStyle/>
          <a:p>
            <a:pPr algn="ctr" indent="0" marL="0">
              <a:buNone/>
            </a:pPr>
            <a:r>
              <a:rPr lang="en-US" sz="1000" dirty="0">
                <a:solidFill>
                  <a:srgbClr val="FFFFFF"/>
                </a:solidFill>
                <a:latin typeface="Aptos" pitchFamily="34" charset="0"/>
                <a:ea typeface="Aptos" pitchFamily="34" charset="-122"/>
                <a:cs typeface="Aptos" pitchFamily="34" charset="-120"/>
              </a:rPr>
              <a:t>Scénario 2</a:t>
            </a:r>
            <a:endParaRPr lang="en-US" sz="1000" dirty="0"/>
          </a:p>
        </p:txBody>
      </p:sp>
      <p:sp>
        <p:nvSpPr>
          <p:cNvPr id="13" name="Shape 10"/>
          <p:cNvSpPr/>
          <p:nvPr/>
        </p:nvSpPr>
        <p:spPr>
          <a:xfrm>
            <a:off x="6120000" y="1332000"/>
            <a:ext cx="900000" cy="324000"/>
          </a:xfrm>
          <a:prstGeom prst="rect">
            <a:avLst/>
          </a:prstGeom>
          <a:solidFill>
            <a:srgbClr val="0A2B6B"/>
          </a:solidFill>
          <a:ln w="6985">
            <a:solidFill>
              <a:srgbClr val="202020"/>
            </a:solidFill>
            <a:prstDash val="solid"/>
          </a:ln>
        </p:spPr>
      </p:sp>
      <p:sp>
        <p:nvSpPr>
          <p:cNvPr id="14" name="Text 11"/>
          <p:cNvSpPr/>
          <p:nvPr/>
        </p:nvSpPr>
        <p:spPr>
          <a:xfrm>
            <a:off x="6181200" y="1371600"/>
            <a:ext cx="777600" cy="244800"/>
          </a:xfrm>
          <a:prstGeom prst="rect">
            <a:avLst/>
          </a:prstGeom>
          <a:noFill/>
          <a:ln/>
        </p:spPr>
        <p:txBody>
          <a:bodyPr wrap="square" lIns="0" tIns="0" rIns="0" bIns="0" rtlCol="0" anchor="ctr"/>
          <a:lstStyle/>
          <a:p>
            <a:pPr algn="ctr" indent="0" marL="0">
              <a:buNone/>
            </a:pPr>
            <a:r>
              <a:rPr lang="en-US" sz="1000" dirty="0">
                <a:solidFill>
                  <a:srgbClr val="FFFFFF"/>
                </a:solidFill>
                <a:latin typeface="Aptos" pitchFamily="34" charset="0"/>
                <a:ea typeface="Aptos" pitchFamily="34" charset="-122"/>
                <a:cs typeface="Aptos" pitchFamily="34" charset="-120"/>
              </a:rPr>
              <a:t>Scénario 3</a:t>
            </a:r>
            <a:endParaRPr lang="en-US" sz="1000" dirty="0"/>
          </a:p>
        </p:txBody>
      </p:sp>
      <p:sp>
        <p:nvSpPr>
          <p:cNvPr id="15" name="Shape 12"/>
          <p:cNvSpPr/>
          <p:nvPr/>
        </p:nvSpPr>
        <p:spPr>
          <a:xfrm>
            <a:off x="540000" y="1656000"/>
            <a:ext cx="3744000" cy="324000"/>
          </a:xfrm>
          <a:prstGeom prst="rect">
            <a:avLst/>
          </a:prstGeom>
          <a:solidFill>
            <a:srgbClr val="FFFFFF"/>
          </a:solidFill>
          <a:ln w="6985">
            <a:solidFill>
              <a:srgbClr val="202020"/>
            </a:solidFill>
            <a:prstDash val="solid"/>
          </a:ln>
        </p:spPr>
      </p:sp>
      <p:sp>
        <p:nvSpPr>
          <p:cNvPr id="16" name="Text 13"/>
          <p:cNvSpPr/>
          <p:nvPr/>
        </p:nvSpPr>
        <p:spPr>
          <a:xfrm>
            <a:off x="601200" y="1695600"/>
            <a:ext cx="3621600" cy="244800"/>
          </a:xfrm>
          <a:prstGeom prst="rect">
            <a:avLst/>
          </a:prstGeom>
          <a:noFill/>
          <a:ln/>
        </p:spPr>
        <p:txBody>
          <a:bodyPr wrap="square" lIns="0" tIns="0" rIns="0" bIns="0" rtlCol="0" anchor="ctr"/>
          <a:lstStyle/>
          <a:p>
            <a:pPr algn="l" indent="0" marL="0">
              <a:buNone/>
            </a:pPr>
            <a:endParaRPr lang="en-US" sz="1000" dirty="0"/>
          </a:p>
        </p:txBody>
      </p:sp>
      <p:sp>
        <p:nvSpPr>
          <p:cNvPr id="17" name="Shape 14"/>
          <p:cNvSpPr/>
          <p:nvPr/>
        </p:nvSpPr>
        <p:spPr>
          <a:xfrm>
            <a:off x="4284000" y="1656000"/>
            <a:ext cx="900000" cy="324000"/>
          </a:xfrm>
          <a:prstGeom prst="rect">
            <a:avLst/>
          </a:prstGeom>
          <a:solidFill>
            <a:srgbClr val="FFFFFF"/>
          </a:solidFill>
          <a:ln w="6985">
            <a:solidFill>
              <a:srgbClr val="202020"/>
            </a:solidFill>
            <a:prstDash val="solid"/>
          </a:ln>
        </p:spPr>
      </p:sp>
      <p:sp>
        <p:nvSpPr>
          <p:cNvPr id="18" name="Text 15"/>
          <p:cNvSpPr/>
          <p:nvPr/>
        </p:nvSpPr>
        <p:spPr>
          <a:xfrm>
            <a:off x="4345200" y="1695600"/>
            <a:ext cx="777600" cy="244800"/>
          </a:xfrm>
          <a:prstGeom prst="rect">
            <a:avLst/>
          </a:prstGeom>
          <a:noFill/>
          <a:ln/>
        </p:spPr>
        <p:txBody>
          <a:bodyPr wrap="square" lIns="0" tIns="0" rIns="0" bIns="0" rtlCol="0" anchor="ctr"/>
          <a:lstStyle/>
          <a:p>
            <a:pPr algn="l" indent="0" marL="0">
              <a:buNone/>
            </a:pPr>
            <a:endParaRPr lang="en-US" sz="1000" dirty="0"/>
          </a:p>
        </p:txBody>
      </p:sp>
      <p:sp>
        <p:nvSpPr>
          <p:cNvPr id="19" name="Shape 16"/>
          <p:cNvSpPr/>
          <p:nvPr/>
        </p:nvSpPr>
        <p:spPr>
          <a:xfrm>
            <a:off x="5184000" y="1656000"/>
            <a:ext cx="936000" cy="324000"/>
          </a:xfrm>
          <a:prstGeom prst="rect">
            <a:avLst/>
          </a:prstGeom>
          <a:solidFill>
            <a:srgbClr val="FFFFFF"/>
          </a:solidFill>
          <a:ln w="6985">
            <a:solidFill>
              <a:srgbClr val="202020"/>
            </a:solidFill>
            <a:prstDash val="solid"/>
          </a:ln>
        </p:spPr>
      </p:sp>
      <p:sp>
        <p:nvSpPr>
          <p:cNvPr id="20" name="Text 17"/>
          <p:cNvSpPr/>
          <p:nvPr/>
        </p:nvSpPr>
        <p:spPr>
          <a:xfrm>
            <a:off x="5245200" y="1695600"/>
            <a:ext cx="813600" cy="244800"/>
          </a:xfrm>
          <a:prstGeom prst="rect">
            <a:avLst/>
          </a:prstGeom>
          <a:noFill/>
          <a:ln/>
        </p:spPr>
        <p:txBody>
          <a:bodyPr wrap="square" lIns="0" tIns="0" rIns="0" bIns="0" rtlCol="0" anchor="ctr"/>
          <a:lstStyle/>
          <a:p>
            <a:pPr algn="l" indent="0" marL="0">
              <a:buNone/>
            </a:pPr>
            <a:endParaRPr lang="en-US" sz="1000" dirty="0"/>
          </a:p>
        </p:txBody>
      </p:sp>
      <p:sp>
        <p:nvSpPr>
          <p:cNvPr id="21" name="Shape 18"/>
          <p:cNvSpPr/>
          <p:nvPr/>
        </p:nvSpPr>
        <p:spPr>
          <a:xfrm>
            <a:off x="6120000" y="1656000"/>
            <a:ext cx="900000" cy="324000"/>
          </a:xfrm>
          <a:prstGeom prst="rect">
            <a:avLst/>
          </a:prstGeom>
          <a:solidFill>
            <a:srgbClr val="FFFFFF"/>
          </a:solidFill>
          <a:ln w="6985">
            <a:solidFill>
              <a:srgbClr val="202020"/>
            </a:solidFill>
            <a:prstDash val="solid"/>
          </a:ln>
        </p:spPr>
      </p:sp>
      <p:sp>
        <p:nvSpPr>
          <p:cNvPr id="22" name="Text 19"/>
          <p:cNvSpPr/>
          <p:nvPr/>
        </p:nvSpPr>
        <p:spPr>
          <a:xfrm>
            <a:off x="6181200" y="1695600"/>
            <a:ext cx="777600" cy="244800"/>
          </a:xfrm>
          <a:prstGeom prst="rect">
            <a:avLst/>
          </a:prstGeom>
          <a:noFill/>
          <a:ln/>
        </p:spPr>
        <p:txBody>
          <a:bodyPr wrap="square" lIns="0" tIns="0" rIns="0" bIns="0" rtlCol="0" anchor="ctr"/>
          <a:lstStyle/>
          <a:p>
            <a:pPr algn="l" indent="0" marL="0">
              <a:buNone/>
            </a:pPr>
            <a:endParaRPr lang="en-US" sz="1000" dirty="0"/>
          </a:p>
        </p:txBody>
      </p:sp>
      <p:sp>
        <p:nvSpPr>
          <p:cNvPr id="23" name="Shape 20"/>
          <p:cNvSpPr/>
          <p:nvPr/>
        </p:nvSpPr>
        <p:spPr>
          <a:xfrm>
            <a:off x="540000" y="1980000"/>
            <a:ext cx="3744000" cy="324000"/>
          </a:xfrm>
          <a:prstGeom prst="rect">
            <a:avLst/>
          </a:prstGeom>
          <a:solidFill>
            <a:srgbClr val="FFFFFF"/>
          </a:solidFill>
          <a:ln w="6985">
            <a:solidFill>
              <a:srgbClr val="202020"/>
            </a:solidFill>
            <a:prstDash val="solid"/>
          </a:ln>
        </p:spPr>
      </p:sp>
      <p:sp>
        <p:nvSpPr>
          <p:cNvPr id="24" name="Text 21"/>
          <p:cNvSpPr/>
          <p:nvPr/>
        </p:nvSpPr>
        <p:spPr>
          <a:xfrm>
            <a:off x="601200" y="2019600"/>
            <a:ext cx="3621600" cy="244800"/>
          </a:xfrm>
          <a:prstGeom prst="rect">
            <a:avLst/>
          </a:prstGeom>
          <a:noFill/>
          <a:ln/>
        </p:spPr>
        <p:txBody>
          <a:bodyPr wrap="square" lIns="0" tIns="0" rIns="0" bIns="0" rtlCol="0" anchor="ctr"/>
          <a:lstStyle/>
          <a:p>
            <a:pPr algn="l" indent="0" marL="0">
              <a:buNone/>
            </a:pPr>
            <a:endParaRPr lang="en-US" sz="1000" dirty="0"/>
          </a:p>
        </p:txBody>
      </p:sp>
      <p:sp>
        <p:nvSpPr>
          <p:cNvPr id="25" name="Shape 22"/>
          <p:cNvSpPr/>
          <p:nvPr/>
        </p:nvSpPr>
        <p:spPr>
          <a:xfrm>
            <a:off x="4284000" y="1980000"/>
            <a:ext cx="900000" cy="324000"/>
          </a:xfrm>
          <a:prstGeom prst="rect">
            <a:avLst/>
          </a:prstGeom>
          <a:solidFill>
            <a:srgbClr val="FFFFFF"/>
          </a:solidFill>
          <a:ln w="6985">
            <a:solidFill>
              <a:srgbClr val="202020"/>
            </a:solidFill>
            <a:prstDash val="solid"/>
          </a:ln>
        </p:spPr>
      </p:sp>
      <p:sp>
        <p:nvSpPr>
          <p:cNvPr id="26" name="Text 23"/>
          <p:cNvSpPr/>
          <p:nvPr/>
        </p:nvSpPr>
        <p:spPr>
          <a:xfrm>
            <a:off x="4345200" y="2019600"/>
            <a:ext cx="777600" cy="244800"/>
          </a:xfrm>
          <a:prstGeom prst="rect">
            <a:avLst/>
          </a:prstGeom>
          <a:noFill/>
          <a:ln/>
        </p:spPr>
        <p:txBody>
          <a:bodyPr wrap="square" lIns="0" tIns="0" rIns="0" bIns="0" rtlCol="0" anchor="ctr"/>
          <a:lstStyle/>
          <a:p>
            <a:pPr algn="l" indent="0" marL="0">
              <a:buNone/>
            </a:pPr>
            <a:endParaRPr lang="en-US" sz="1000" dirty="0"/>
          </a:p>
        </p:txBody>
      </p:sp>
      <p:sp>
        <p:nvSpPr>
          <p:cNvPr id="27" name="Shape 24"/>
          <p:cNvSpPr/>
          <p:nvPr/>
        </p:nvSpPr>
        <p:spPr>
          <a:xfrm>
            <a:off x="5184000" y="1980000"/>
            <a:ext cx="936000" cy="324000"/>
          </a:xfrm>
          <a:prstGeom prst="rect">
            <a:avLst/>
          </a:prstGeom>
          <a:solidFill>
            <a:srgbClr val="FFFFFF"/>
          </a:solidFill>
          <a:ln w="6985">
            <a:solidFill>
              <a:srgbClr val="202020"/>
            </a:solidFill>
            <a:prstDash val="solid"/>
          </a:ln>
        </p:spPr>
      </p:sp>
      <p:sp>
        <p:nvSpPr>
          <p:cNvPr id="28" name="Text 25"/>
          <p:cNvSpPr/>
          <p:nvPr/>
        </p:nvSpPr>
        <p:spPr>
          <a:xfrm>
            <a:off x="5245200" y="2019600"/>
            <a:ext cx="813600" cy="244800"/>
          </a:xfrm>
          <a:prstGeom prst="rect">
            <a:avLst/>
          </a:prstGeom>
          <a:noFill/>
          <a:ln/>
        </p:spPr>
        <p:txBody>
          <a:bodyPr wrap="square" lIns="0" tIns="0" rIns="0" bIns="0" rtlCol="0" anchor="ctr"/>
          <a:lstStyle/>
          <a:p>
            <a:pPr algn="l" indent="0" marL="0">
              <a:buNone/>
            </a:pPr>
            <a:endParaRPr lang="en-US" sz="1000" dirty="0"/>
          </a:p>
        </p:txBody>
      </p:sp>
      <p:sp>
        <p:nvSpPr>
          <p:cNvPr id="29" name="Shape 26"/>
          <p:cNvSpPr/>
          <p:nvPr/>
        </p:nvSpPr>
        <p:spPr>
          <a:xfrm>
            <a:off x="6120000" y="1980000"/>
            <a:ext cx="900000" cy="324000"/>
          </a:xfrm>
          <a:prstGeom prst="rect">
            <a:avLst/>
          </a:prstGeom>
          <a:solidFill>
            <a:srgbClr val="FFFFFF"/>
          </a:solidFill>
          <a:ln w="6985">
            <a:solidFill>
              <a:srgbClr val="202020"/>
            </a:solidFill>
            <a:prstDash val="solid"/>
          </a:ln>
        </p:spPr>
      </p:sp>
      <p:sp>
        <p:nvSpPr>
          <p:cNvPr id="30" name="Text 27"/>
          <p:cNvSpPr/>
          <p:nvPr/>
        </p:nvSpPr>
        <p:spPr>
          <a:xfrm>
            <a:off x="6181200" y="2019600"/>
            <a:ext cx="777600" cy="244800"/>
          </a:xfrm>
          <a:prstGeom prst="rect">
            <a:avLst/>
          </a:prstGeom>
          <a:noFill/>
          <a:ln/>
        </p:spPr>
        <p:txBody>
          <a:bodyPr wrap="square" lIns="0" tIns="0" rIns="0" bIns="0" rtlCol="0" anchor="ctr"/>
          <a:lstStyle/>
          <a:p>
            <a:pPr algn="l" indent="0" marL="0">
              <a:buNone/>
            </a:pPr>
            <a:endParaRPr lang="en-US" sz="1000" dirty="0"/>
          </a:p>
        </p:txBody>
      </p:sp>
      <p:sp>
        <p:nvSpPr>
          <p:cNvPr id="31" name="Shape 28"/>
          <p:cNvSpPr/>
          <p:nvPr/>
        </p:nvSpPr>
        <p:spPr>
          <a:xfrm>
            <a:off x="540000" y="2304000"/>
            <a:ext cx="3744000" cy="324000"/>
          </a:xfrm>
          <a:prstGeom prst="rect">
            <a:avLst/>
          </a:prstGeom>
          <a:solidFill>
            <a:srgbClr val="FFFFFF"/>
          </a:solidFill>
          <a:ln w="6985">
            <a:solidFill>
              <a:srgbClr val="202020"/>
            </a:solidFill>
            <a:prstDash val="solid"/>
          </a:ln>
        </p:spPr>
      </p:sp>
      <p:sp>
        <p:nvSpPr>
          <p:cNvPr id="32" name="Text 29"/>
          <p:cNvSpPr/>
          <p:nvPr/>
        </p:nvSpPr>
        <p:spPr>
          <a:xfrm>
            <a:off x="601200" y="2343600"/>
            <a:ext cx="3621600" cy="244800"/>
          </a:xfrm>
          <a:prstGeom prst="rect">
            <a:avLst/>
          </a:prstGeom>
          <a:noFill/>
          <a:ln/>
        </p:spPr>
        <p:txBody>
          <a:bodyPr wrap="square" lIns="0" tIns="0" rIns="0" bIns="0" rtlCol="0" anchor="ctr"/>
          <a:lstStyle/>
          <a:p>
            <a:pPr algn="l" indent="0" marL="0">
              <a:buNone/>
            </a:pPr>
            <a:endParaRPr lang="en-US" sz="1000" dirty="0"/>
          </a:p>
        </p:txBody>
      </p:sp>
      <p:sp>
        <p:nvSpPr>
          <p:cNvPr id="33" name="Shape 30"/>
          <p:cNvSpPr/>
          <p:nvPr/>
        </p:nvSpPr>
        <p:spPr>
          <a:xfrm>
            <a:off x="4284000" y="2304000"/>
            <a:ext cx="900000" cy="324000"/>
          </a:xfrm>
          <a:prstGeom prst="rect">
            <a:avLst/>
          </a:prstGeom>
          <a:solidFill>
            <a:srgbClr val="FFFFFF"/>
          </a:solidFill>
          <a:ln w="6985">
            <a:solidFill>
              <a:srgbClr val="202020"/>
            </a:solidFill>
            <a:prstDash val="solid"/>
          </a:ln>
        </p:spPr>
      </p:sp>
      <p:sp>
        <p:nvSpPr>
          <p:cNvPr id="34" name="Text 31"/>
          <p:cNvSpPr/>
          <p:nvPr/>
        </p:nvSpPr>
        <p:spPr>
          <a:xfrm>
            <a:off x="4345200" y="2343600"/>
            <a:ext cx="777600" cy="244800"/>
          </a:xfrm>
          <a:prstGeom prst="rect">
            <a:avLst/>
          </a:prstGeom>
          <a:noFill/>
          <a:ln/>
        </p:spPr>
        <p:txBody>
          <a:bodyPr wrap="square" lIns="0" tIns="0" rIns="0" bIns="0" rtlCol="0" anchor="ctr"/>
          <a:lstStyle/>
          <a:p>
            <a:pPr algn="l" indent="0" marL="0">
              <a:buNone/>
            </a:pPr>
            <a:endParaRPr lang="en-US" sz="1000" dirty="0"/>
          </a:p>
        </p:txBody>
      </p:sp>
      <p:sp>
        <p:nvSpPr>
          <p:cNvPr id="35" name="Shape 32"/>
          <p:cNvSpPr/>
          <p:nvPr/>
        </p:nvSpPr>
        <p:spPr>
          <a:xfrm>
            <a:off x="5184000" y="2304000"/>
            <a:ext cx="936000" cy="324000"/>
          </a:xfrm>
          <a:prstGeom prst="rect">
            <a:avLst/>
          </a:prstGeom>
          <a:solidFill>
            <a:srgbClr val="FFFFFF"/>
          </a:solidFill>
          <a:ln w="6985">
            <a:solidFill>
              <a:srgbClr val="202020"/>
            </a:solidFill>
            <a:prstDash val="solid"/>
          </a:ln>
        </p:spPr>
      </p:sp>
      <p:sp>
        <p:nvSpPr>
          <p:cNvPr id="36" name="Text 33"/>
          <p:cNvSpPr/>
          <p:nvPr/>
        </p:nvSpPr>
        <p:spPr>
          <a:xfrm>
            <a:off x="5245200" y="2343600"/>
            <a:ext cx="813600" cy="244800"/>
          </a:xfrm>
          <a:prstGeom prst="rect">
            <a:avLst/>
          </a:prstGeom>
          <a:noFill/>
          <a:ln/>
        </p:spPr>
        <p:txBody>
          <a:bodyPr wrap="square" lIns="0" tIns="0" rIns="0" bIns="0" rtlCol="0" anchor="ctr"/>
          <a:lstStyle/>
          <a:p>
            <a:pPr algn="l" indent="0" marL="0">
              <a:buNone/>
            </a:pPr>
            <a:endParaRPr lang="en-US" sz="1000" dirty="0"/>
          </a:p>
        </p:txBody>
      </p:sp>
      <p:sp>
        <p:nvSpPr>
          <p:cNvPr id="37" name="Shape 34"/>
          <p:cNvSpPr/>
          <p:nvPr/>
        </p:nvSpPr>
        <p:spPr>
          <a:xfrm>
            <a:off x="6120000" y="2304000"/>
            <a:ext cx="900000" cy="324000"/>
          </a:xfrm>
          <a:prstGeom prst="rect">
            <a:avLst/>
          </a:prstGeom>
          <a:solidFill>
            <a:srgbClr val="FFFFFF"/>
          </a:solidFill>
          <a:ln w="6985">
            <a:solidFill>
              <a:srgbClr val="202020"/>
            </a:solidFill>
            <a:prstDash val="solid"/>
          </a:ln>
        </p:spPr>
      </p:sp>
      <p:sp>
        <p:nvSpPr>
          <p:cNvPr id="38" name="Text 35"/>
          <p:cNvSpPr/>
          <p:nvPr/>
        </p:nvSpPr>
        <p:spPr>
          <a:xfrm>
            <a:off x="6181200" y="2343600"/>
            <a:ext cx="777600" cy="244800"/>
          </a:xfrm>
          <a:prstGeom prst="rect">
            <a:avLst/>
          </a:prstGeom>
          <a:noFill/>
          <a:ln/>
        </p:spPr>
        <p:txBody>
          <a:bodyPr wrap="square" lIns="0" tIns="0" rIns="0" bIns="0" rtlCol="0" anchor="ctr"/>
          <a:lstStyle/>
          <a:p>
            <a:pPr algn="l" indent="0" marL="0">
              <a:buNone/>
            </a:pPr>
            <a:endParaRPr lang="en-US" sz="1000" dirty="0"/>
          </a:p>
        </p:txBody>
      </p:sp>
      <p:sp>
        <p:nvSpPr>
          <p:cNvPr id="39" name="Shape 36"/>
          <p:cNvSpPr/>
          <p:nvPr/>
        </p:nvSpPr>
        <p:spPr>
          <a:xfrm>
            <a:off x="540000" y="2628000"/>
            <a:ext cx="3744000" cy="324000"/>
          </a:xfrm>
          <a:prstGeom prst="rect">
            <a:avLst/>
          </a:prstGeom>
          <a:solidFill>
            <a:srgbClr val="FFFFFF"/>
          </a:solidFill>
          <a:ln w="6985">
            <a:solidFill>
              <a:srgbClr val="202020"/>
            </a:solidFill>
            <a:prstDash val="solid"/>
          </a:ln>
        </p:spPr>
      </p:sp>
      <p:sp>
        <p:nvSpPr>
          <p:cNvPr id="40" name="Text 37"/>
          <p:cNvSpPr/>
          <p:nvPr/>
        </p:nvSpPr>
        <p:spPr>
          <a:xfrm>
            <a:off x="601200" y="2667600"/>
            <a:ext cx="3621600" cy="244800"/>
          </a:xfrm>
          <a:prstGeom prst="rect">
            <a:avLst/>
          </a:prstGeom>
          <a:noFill/>
          <a:ln/>
        </p:spPr>
        <p:txBody>
          <a:bodyPr wrap="square" lIns="0" tIns="0" rIns="0" bIns="0" rtlCol="0" anchor="ctr"/>
          <a:lstStyle/>
          <a:p>
            <a:pPr algn="l" indent="0" marL="0">
              <a:buNone/>
            </a:pPr>
            <a:endParaRPr lang="en-US" sz="1000" dirty="0"/>
          </a:p>
        </p:txBody>
      </p:sp>
      <p:sp>
        <p:nvSpPr>
          <p:cNvPr id="41" name="Shape 38"/>
          <p:cNvSpPr/>
          <p:nvPr/>
        </p:nvSpPr>
        <p:spPr>
          <a:xfrm>
            <a:off x="4284000" y="2628000"/>
            <a:ext cx="900000" cy="324000"/>
          </a:xfrm>
          <a:prstGeom prst="rect">
            <a:avLst/>
          </a:prstGeom>
          <a:solidFill>
            <a:srgbClr val="FFFFFF"/>
          </a:solidFill>
          <a:ln w="6985">
            <a:solidFill>
              <a:srgbClr val="202020"/>
            </a:solidFill>
            <a:prstDash val="solid"/>
          </a:ln>
        </p:spPr>
      </p:sp>
      <p:sp>
        <p:nvSpPr>
          <p:cNvPr id="42" name="Text 39"/>
          <p:cNvSpPr/>
          <p:nvPr/>
        </p:nvSpPr>
        <p:spPr>
          <a:xfrm>
            <a:off x="4345200" y="2667600"/>
            <a:ext cx="777600" cy="244800"/>
          </a:xfrm>
          <a:prstGeom prst="rect">
            <a:avLst/>
          </a:prstGeom>
          <a:noFill/>
          <a:ln/>
        </p:spPr>
        <p:txBody>
          <a:bodyPr wrap="square" lIns="0" tIns="0" rIns="0" bIns="0" rtlCol="0" anchor="ctr"/>
          <a:lstStyle/>
          <a:p>
            <a:pPr algn="l" indent="0" marL="0">
              <a:buNone/>
            </a:pPr>
            <a:endParaRPr lang="en-US" sz="1000" dirty="0"/>
          </a:p>
        </p:txBody>
      </p:sp>
      <p:sp>
        <p:nvSpPr>
          <p:cNvPr id="43" name="Shape 40"/>
          <p:cNvSpPr/>
          <p:nvPr/>
        </p:nvSpPr>
        <p:spPr>
          <a:xfrm>
            <a:off x="5184000" y="2628000"/>
            <a:ext cx="936000" cy="324000"/>
          </a:xfrm>
          <a:prstGeom prst="rect">
            <a:avLst/>
          </a:prstGeom>
          <a:solidFill>
            <a:srgbClr val="FFFFFF"/>
          </a:solidFill>
          <a:ln w="6985">
            <a:solidFill>
              <a:srgbClr val="202020"/>
            </a:solidFill>
            <a:prstDash val="solid"/>
          </a:ln>
        </p:spPr>
      </p:sp>
      <p:sp>
        <p:nvSpPr>
          <p:cNvPr id="44" name="Text 41"/>
          <p:cNvSpPr/>
          <p:nvPr/>
        </p:nvSpPr>
        <p:spPr>
          <a:xfrm>
            <a:off x="5245200" y="2667600"/>
            <a:ext cx="813600" cy="244800"/>
          </a:xfrm>
          <a:prstGeom prst="rect">
            <a:avLst/>
          </a:prstGeom>
          <a:noFill/>
          <a:ln/>
        </p:spPr>
        <p:txBody>
          <a:bodyPr wrap="square" lIns="0" tIns="0" rIns="0" bIns="0" rtlCol="0" anchor="ctr"/>
          <a:lstStyle/>
          <a:p>
            <a:pPr algn="l" indent="0" marL="0">
              <a:buNone/>
            </a:pPr>
            <a:endParaRPr lang="en-US" sz="1000" dirty="0"/>
          </a:p>
        </p:txBody>
      </p:sp>
      <p:sp>
        <p:nvSpPr>
          <p:cNvPr id="45" name="Shape 42"/>
          <p:cNvSpPr/>
          <p:nvPr/>
        </p:nvSpPr>
        <p:spPr>
          <a:xfrm>
            <a:off x="6120000" y="2628000"/>
            <a:ext cx="900000" cy="324000"/>
          </a:xfrm>
          <a:prstGeom prst="rect">
            <a:avLst/>
          </a:prstGeom>
          <a:solidFill>
            <a:srgbClr val="FFFFFF"/>
          </a:solidFill>
          <a:ln w="6985">
            <a:solidFill>
              <a:srgbClr val="202020"/>
            </a:solidFill>
            <a:prstDash val="solid"/>
          </a:ln>
        </p:spPr>
      </p:sp>
      <p:sp>
        <p:nvSpPr>
          <p:cNvPr id="46" name="Text 43"/>
          <p:cNvSpPr/>
          <p:nvPr/>
        </p:nvSpPr>
        <p:spPr>
          <a:xfrm>
            <a:off x="6181200" y="2667600"/>
            <a:ext cx="777600" cy="244800"/>
          </a:xfrm>
          <a:prstGeom prst="rect">
            <a:avLst/>
          </a:prstGeom>
          <a:noFill/>
          <a:ln/>
        </p:spPr>
        <p:txBody>
          <a:bodyPr wrap="square" lIns="0" tIns="0" rIns="0" bIns="0" rtlCol="0" anchor="ctr"/>
          <a:lstStyle/>
          <a:p>
            <a:pPr algn="l" indent="0" marL="0">
              <a:buNone/>
            </a:pPr>
            <a:endParaRPr lang="en-US" sz="1000" dirty="0"/>
          </a:p>
        </p:txBody>
      </p:sp>
      <p:sp>
        <p:nvSpPr>
          <p:cNvPr id="47" name="Shape 44"/>
          <p:cNvSpPr/>
          <p:nvPr/>
        </p:nvSpPr>
        <p:spPr>
          <a:xfrm>
            <a:off x="540000" y="2952000"/>
            <a:ext cx="3744000" cy="324000"/>
          </a:xfrm>
          <a:prstGeom prst="rect">
            <a:avLst/>
          </a:prstGeom>
          <a:solidFill>
            <a:srgbClr val="FFFFFF"/>
          </a:solidFill>
          <a:ln w="6985">
            <a:solidFill>
              <a:srgbClr val="202020"/>
            </a:solidFill>
            <a:prstDash val="solid"/>
          </a:ln>
        </p:spPr>
      </p:sp>
      <p:sp>
        <p:nvSpPr>
          <p:cNvPr id="48" name="Text 45"/>
          <p:cNvSpPr/>
          <p:nvPr/>
        </p:nvSpPr>
        <p:spPr>
          <a:xfrm>
            <a:off x="601200" y="2991600"/>
            <a:ext cx="3621600" cy="244800"/>
          </a:xfrm>
          <a:prstGeom prst="rect">
            <a:avLst/>
          </a:prstGeom>
          <a:noFill/>
          <a:ln/>
        </p:spPr>
        <p:txBody>
          <a:bodyPr wrap="square" lIns="0" tIns="0" rIns="0" bIns="0" rtlCol="0" anchor="ctr"/>
          <a:lstStyle/>
          <a:p>
            <a:pPr algn="l" indent="0" marL="0">
              <a:buNone/>
            </a:pPr>
            <a:endParaRPr lang="en-US" sz="1000" dirty="0"/>
          </a:p>
        </p:txBody>
      </p:sp>
      <p:sp>
        <p:nvSpPr>
          <p:cNvPr id="49" name="Shape 46"/>
          <p:cNvSpPr/>
          <p:nvPr/>
        </p:nvSpPr>
        <p:spPr>
          <a:xfrm>
            <a:off x="4284000" y="2952000"/>
            <a:ext cx="900000" cy="324000"/>
          </a:xfrm>
          <a:prstGeom prst="rect">
            <a:avLst/>
          </a:prstGeom>
          <a:solidFill>
            <a:srgbClr val="FFFFFF"/>
          </a:solidFill>
          <a:ln w="6985">
            <a:solidFill>
              <a:srgbClr val="202020"/>
            </a:solidFill>
            <a:prstDash val="solid"/>
          </a:ln>
        </p:spPr>
      </p:sp>
      <p:sp>
        <p:nvSpPr>
          <p:cNvPr id="50" name="Text 47"/>
          <p:cNvSpPr/>
          <p:nvPr/>
        </p:nvSpPr>
        <p:spPr>
          <a:xfrm>
            <a:off x="4345200" y="2991600"/>
            <a:ext cx="777600" cy="244800"/>
          </a:xfrm>
          <a:prstGeom prst="rect">
            <a:avLst/>
          </a:prstGeom>
          <a:noFill/>
          <a:ln/>
        </p:spPr>
        <p:txBody>
          <a:bodyPr wrap="square" lIns="0" tIns="0" rIns="0" bIns="0" rtlCol="0" anchor="ctr"/>
          <a:lstStyle/>
          <a:p>
            <a:pPr algn="l" indent="0" marL="0">
              <a:buNone/>
            </a:pPr>
            <a:endParaRPr lang="en-US" sz="1000" dirty="0"/>
          </a:p>
        </p:txBody>
      </p:sp>
      <p:sp>
        <p:nvSpPr>
          <p:cNvPr id="51" name="Shape 48"/>
          <p:cNvSpPr/>
          <p:nvPr/>
        </p:nvSpPr>
        <p:spPr>
          <a:xfrm>
            <a:off x="5184000" y="2952000"/>
            <a:ext cx="936000" cy="324000"/>
          </a:xfrm>
          <a:prstGeom prst="rect">
            <a:avLst/>
          </a:prstGeom>
          <a:solidFill>
            <a:srgbClr val="FFFFFF"/>
          </a:solidFill>
          <a:ln w="6985">
            <a:solidFill>
              <a:srgbClr val="202020"/>
            </a:solidFill>
            <a:prstDash val="solid"/>
          </a:ln>
        </p:spPr>
      </p:sp>
      <p:sp>
        <p:nvSpPr>
          <p:cNvPr id="52" name="Text 49"/>
          <p:cNvSpPr/>
          <p:nvPr/>
        </p:nvSpPr>
        <p:spPr>
          <a:xfrm>
            <a:off x="5245200" y="2991600"/>
            <a:ext cx="813600" cy="244800"/>
          </a:xfrm>
          <a:prstGeom prst="rect">
            <a:avLst/>
          </a:prstGeom>
          <a:noFill/>
          <a:ln/>
        </p:spPr>
        <p:txBody>
          <a:bodyPr wrap="square" lIns="0" tIns="0" rIns="0" bIns="0" rtlCol="0" anchor="ctr"/>
          <a:lstStyle/>
          <a:p>
            <a:pPr algn="l" indent="0" marL="0">
              <a:buNone/>
            </a:pPr>
            <a:endParaRPr lang="en-US" sz="1000" dirty="0"/>
          </a:p>
        </p:txBody>
      </p:sp>
      <p:sp>
        <p:nvSpPr>
          <p:cNvPr id="53" name="Shape 50"/>
          <p:cNvSpPr/>
          <p:nvPr/>
        </p:nvSpPr>
        <p:spPr>
          <a:xfrm>
            <a:off x="6120000" y="2952000"/>
            <a:ext cx="900000" cy="324000"/>
          </a:xfrm>
          <a:prstGeom prst="rect">
            <a:avLst/>
          </a:prstGeom>
          <a:solidFill>
            <a:srgbClr val="FFFFFF"/>
          </a:solidFill>
          <a:ln w="6985">
            <a:solidFill>
              <a:srgbClr val="202020"/>
            </a:solidFill>
            <a:prstDash val="solid"/>
          </a:ln>
        </p:spPr>
      </p:sp>
      <p:sp>
        <p:nvSpPr>
          <p:cNvPr id="54" name="Text 51"/>
          <p:cNvSpPr/>
          <p:nvPr/>
        </p:nvSpPr>
        <p:spPr>
          <a:xfrm>
            <a:off x="6181200" y="2991600"/>
            <a:ext cx="777600" cy="244800"/>
          </a:xfrm>
          <a:prstGeom prst="rect">
            <a:avLst/>
          </a:prstGeom>
          <a:noFill/>
          <a:ln/>
        </p:spPr>
        <p:txBody>
          <a:bodyPr wrap="square" lIns="0" tIns="0" rIns="0" bIns="0" rtlCol="0" anchor="ctr"/>
          <a:lstStyle/>
          <a:p>
            <a:pPr algn="l" indent="0" marL="0">
              <a:buNone/>
            </a:pPr>
            <a:endParaRPr lang="en-US" sz="1000" dirty="0"/>
          </a:p>
        </p:txBody>
      </p:sp>
      <p:sp>
        <p:nvSpPr>
          <p:cNvPr id="55" name="Shape 52"/>
          <p:cNvSpPr/>
          <p:nvPr/>
        </p:nvSpPr>
        <p:spPr>
          <a:xfrm>
            <a:off x="540000" y="3276000"/>
            <a:ext cx="3744000" cy="324000"/>
          </a:xfrm>
          <a:prstGeom prst="rect">
            <a:avLst/>
          </a:prstGeom>
          <a:solidFill>
            <a:srgbClr val="FFFFFF"/>
          </a:solidFill>
          <a:ln w="6985">
            <a:solidFill>
              <a:srgbClr val="202020"/>
            </a:solidFill>
            <a:prstDash val="solid"/>
          </a:ln>
        </p:spPr>
      </p:sp>
      <p:sp>
        <p:nvSpPr>
          <p:cNvPr id="56" name="Text 53"/>
          <p:cNvSpPr/>
          <p:nvPr/>
        </p:nvSpPr>
        <p:spPr>
          <a:xfrm>
            <a:off x="601200" y="3315600"/>
            <a:ext cx="3621600" cy="244800"/>
          </a:xfrm>
          <a:prstGeom prst="rect">
            <a:avLst/>
          </a:prstGeom>
          <a:noFill/>
          <a:ln/>
        </p:spPr>
        <p:txBody>
          <a:bodyPr wrap="square" lIns="0" tIns="0" rIns="0" bIns="0" rtlCol="0" anchor="ctr"/>
          <a:lstStyle/>
          <a:p>
            <a:pPr algn="l" indent="0" marL="0">
              <a:buNone/>
            </a:pPr>
            <a:endParaRPr lang="en-US" sz="1000" dirty="0"/>
          </a:p>
        </p:txBody>
      </p:sp>
      <p:sp>
        <p:nvSpPr>
          <p:cNvPr id="57" name="Shape 54"/>
          <p:cNvSpPr/>
          <p:nvPr/>
        </p:nvSpPr>
        <p:spPr>
          <a:xfrm>
            <a:off x="4284000" y="3276000"/>
            <a:ext cx="900000" cy="324000"/>
          </a:xfrm>
          <a:prstGeom prst="rect">
            <a:avLst/>
          </a:prstGeom>
          <a:solidFill>
            <a:srgbClr val="FFFFFF"/>
          </a:solidFill>
          <a:ln w="6985">
            <a:solidFill>
              <a:srgbClr val="202020"/>
            </a:solidFill>
            <a:prstDash val="solid"/>
          </a:ln>
        </p:spPr>
      </p:sp>
      <p:sp>
        <p:nvSpPr>
          <p:cNvPr id="58" name="Text 55"/>
          <p:cNvSpPr/>
          <p:nvPr/>
        </p:nvSpPr>
        <p:spPr>
          <a:xfrm>
            <a:off x="4345200" y="3315600"/>
            <a:ext cx="777600" cy="244800"/>
          </a:xfrm>
          <a:prstGeom prst="rect">
            <a:avLst/>
          </a:prstGeom>
          <a:noFill/>
          <a:ln/>
        </p:spPr>
        <p:txBody>
          <a:bodyPr wrap="square" lIns="0" tIns="0" rIns="0" bIns="0" rtlCol="0" anchor="ctr"/>
          <a:lstStyle/>
          <a:p>
            <a:pPr algn="l" indent="0" marL="0">
              <a:buNone/>
            </a:pPr>
            <a:endParaRPr lang="en-US" sz="1000" dirty="0"/>
          </a:p>
        </p:txBody>
      </p:sp>
      <p:sp>
        <p:nvSpPr>
          <p:cNvPr id="59" name="Shape 56"/>
          <p:cNvSpPr/>
          <p:nvPr/>
        </p:nvSpPr>
        <p:spPr>
          <a:xfrm>
            <a:off x="5184000" y="3276000"/>
            <a:ext cx="936000" cy="324000"/>
          </a:xfrm>
          <a:prstGeom prst="rect">
            <a:avLst/>
          </a:prstGeom>
          <a:solidFill>
            <a:srgbClr val="FFFFFF"/>
          </a:solidFill>
          <a:ln w="6985">
            <a:solidFill>
              <a:srgbClr val="202020"/>
            </a:solidFill>
            <a:prstDash val="solid"/>
          </a:ln>
        </p:spPr>
      </p:sp>
      <p:sp>
        <p:nvSpPr>
          <p:cNvPr id="60" name="Text 57"/>
          <p:cNvSpPr/>
          <p:nvPr/>
        </p:nvSpPr>
        <p:spPr>
          <a:xfrm>
            <a:off x="5245200" y="3315600"/>
            <a:ext cx="813600" cy="244800"/>
          </a:xfrm>
          <a:prstGeom prst="rect">
            <a:avLst/>
          </a:prstGeom>
          <a:noFill/>
          <a:ln/>
        </p:spPr>
        <p:txBody>
          <a:bodyPr wrap="square" lIns="0" tIns="0" rIns="0" bIns="0" rtlCol="0" anchor="ctr"/>
          <a:lstStyle/>
          <a:p>
            <a:pPr algn="l" indent="0" marL="0">
              <a:buNone/>
            </a:pPr>
            <a:endParaRPr lang="en-US" sz="1000" dirty="0"/>
          </a:p>
        </p:txBody>
      </p:sp>
      <p:sp>
        <p:nvSpPr>
          <p:cNvPr id="61" name="Shape 58"/>
          <p:cNvSpPr/>
          <p:nvPr/>
        </p:nvSpPr>
        <p:spPr>
          <a:xfrm>
            <a:off x="6120000" y="3276000"/>
            <a:ext cx="900000" cy="324000"/>
          </a:xfrm>
          <a:prstGeom prst="rect">
            <a:avLst/>
          </a:prstGeom>
          <a:solidFill>
            <a:srgbClr val="FFFFFF"/>
          </a:solidFill>
          <a:ln w="6985">
            <a:solidFill>
              <a:srgbClr val="202020"/>
            </a:solidFill>
            <a:prstDash val="solid"/>
          </a:ln>
        </p:spPr>
      </p:sp>
      <p:sp>
        <p:nvSpPr>
          <p:cNvPr id="62" name="Text 59"/>
          <p:cNvSpPr/>
          <p:nvPr/>
        </p:nvSpPr>
        <p:spPr>
          <a:xfrm>
            <a:off x="6181200" y="3315600"/>
            <a:ext cx="777600" cy="244800"/>
          </a:xfrm>
          <a:prstGeom prst="rect">
            <a:avLst/>
          </a:prstGeom>
          <a:noFill/>
          <a:ln/>
        </p:spPr>
        <p:txBody>
          <a:bodyPr wrap="square" lIns="0" tIns="0" rIns="0" bIns="0" rtlCol="0" anchor="ctr"/>
          <a:lstStyle/>
          <a:p>
            <a:pPr algn="l" indent="0" marL="0">
              <a:buNone/>
            </a:pPr>
            <a:endParaRPr lang="en-US" sz="1000" dirty="0"/>
          </a:p>
        </p:txBody>
      </p:sp>
      <p:sp>
        <p:nvSpPr>
          <p:cNvPr id="63" name="Shape 60"/>
          <p:cNvSpPr/>
          <p:nvPr/>
        </p:nvSpPr>
        <p:spPr>
          <a:xfrm>
            <a:off x="540000" y="3600000"/>
            <a:ext cx="3744000" cy="324000"/>
          </a:xfrm>
          <a:prstGeom prst="rect">
            <a:avLst/>
          </a:prstGeom>
          <a:solidFill>
            <a:srgbClr val="FFFFFF"/>
          </a:solidFill>
          <a:ln w="6985">
            <a:solidFill>
              <a:srgbClr val="202020"/>
            </a:solidFill>
            <a:prstDash val="solid"/>
          </a:ln>
        </p:spPr>
      </p:sp>
      <p:sp>
        <p:nvSpPr>
          <p:cNvPr id="64" name="Text 61"/>
          <p:cNvSpPr/>
          <p:nvPr/>
        </p:nvSpPr>
        <p:spPr>
          <a:xfrm>
            <a:off x="601200" y="3639600"/>
            <a:ext cx="3621600" cy="244800"/>
          </a:xfrm>
          <a:prstGeom prst="rect">
            <a:avLst/>
          </a:prstGeom>
          <a:noFill/>
          <a:ln/>
        </p:spPr>
        <p:txBody>
          <a:bodyPr wrap="square" lIns="0" tIns="0" rIns="0" bIns="0" rtlCol="0" anchor="ctr"/>
          <a:lstStyle/>
          <a:p>
            <a:pPr algn="l" indent="0" marL="0">
              <a:buNone/>
            </a:pPr>
            <a:endParaRPr lang="en-US" sz="1000" dirty="0"/>
          </a:p>
        </p:txBody>
      </p:sp>
      <p:sp>
        <p:nvSpPr>
          <p:cNvPr id="65" name="Shape 62"/>
          <p:cNvSpPr/>
          <p:nvPr/>
        </p:nvSpPr>
        <p:spPr>
          <a:xfrm>
            <a:off x="4284000" y="3600000"/>
            <a:ext cx="900000" cy="324000"/>
          </a:xfrm>
          <a:prstGeom prst="rect">
            <a:avLst/>
          </a:prstGeom>
          <a:solidFill>
            <a:srgbClr val="FFFFFF"/>
          </a:solidFill>
          <a:ln w="6985">
            <a:solidFill>
              <a:srgbClr val="202020"/>
            </a:solidFill>
            <a:prstDash val="solid"/>
          </a:ln>
        </p:spPr>
      </p:sp>
      <p:sp>
        <p:nvSpPr>
          <p:cNvPr id="66" name="Text 63"/>
          <p:cNvSpPr/>
          <p:nvPr/>
        </p:nvSpPr>
        <p:spPr>
          <a:xfrm>
            <a:off x="4345200" y="3639600"/>
            <a:ext cx="777600" cy="244800"/>
          </a:xfrm>
          <a:prstGeom prst="rect">
            <a:avLst/>
          </a:prstGeom>
          <a:noFill/>
          <a:ln/>
        </p:spPr>
        <p:txBody>
          <a:bodyPr wrap="square" lIns="0" tIns="0" rIns="0" bIns="0" rtlCol="0" anchor="ctr"/>
          <a:lstStyle/>
          <a:p>
            <a:pPr algn="l" indent="0" marL="0">
              <a:buNone/>
            </a:pPr>
            <a:endParaRPr lang="en-US" sz="1000" dirty="0"/>
          </a:p>
        </p:txBody>
      </p:sp>
      <p:sp>
        <p:nvSpPr>
          <p:cNvPr id="67" name="Shape 64"/>
          <p:cNvSpPr/>
          <p:nvPr/>
        </p:nvSpPr>
        <p:spPr>
          <a:xfrm>
            <a:off x="5184000" y="3600000"/>
            <a:ext cx="936000" cy="324000"/>
          </a:xfrm>
          <a:prstGeom prst="rect">
            <a:avLst/>
          </a:prstGeom>
          <a:solidFill>
            <a:srgbClr val="FFFFFF"/>
          </a:solidFill>
          <a:ln w="6985">
            <a:solidFill>
              <a:srgbClr val="202020"/>
            </a:solidFill>
            <a:prstDash val="solid"/>
          </a:ln>
        </p:spPr>
      </p:sp>
      <p:sp>
        <p:nvSpPr>
          <p:cNvPr id="68" name="Text 65"/>
          <p:cNvSpPr/>
          <p:nvPr/>
        </p:nvSpPr>
        <p:spPr>
          <a:xfrm>
            <a:off x="5245200" y="3639600"/>
            <a:ext cx="813600" cy="244800"/>
          </a:xfrm>
          <a:prstGeom prst="rect">
            <a:avLst/>
          </a:prstGeom>
          <a:noFill/>
          <a:ln/>
        </p:spPr>
        <p:txBody>
          <a:bodyPr wrap="square" lIns="0" tIns="0" rIns="0" bIns="0" rtlCol="0" anchor="ctr"/>
          <a:lstStyle/>
          <a:p>
            <a:pPr algn="l" indent="0" marL="0">
              <a:buNone/>
            </a:pPr>
            <a:endParaRPr lang="en-US" sz="1000" dirty="0"/>
          </a:p>
        </p:txBody>
      </p:sp>
      <p:sp>
        <p:nvSpPr>
          <p:cNvPr id="69" name="Shape 66"/>
          <p:cNvSpPr/>
          <p:nvPr/>
        </p:nvSpPr>
        <p:spPr>
          <a:xfrm>
            <a:off x="6120000" y="3600000"/>
            <a:ext cx="900000" cy="324000"/>
          </a:xfrm>
          <a:prstGeom prst="rect">
            <a:avLst/>
          </a:prstGeom>
          <a:solidFill>
            <a:srgbClr val="FFFFFF"/>
          </a:solidFill>
          <a:ln w="6985">
            <a:solidFill>
              <a:srgbClr val="202020"/>
            </a:solidFill>
            <a:prstDash val="solid"/>
          </a:ln>
        </p:spPr>
      </p:sp>
      <p:sp>
        <p:nvSpPr>
          <p:cNvPr id="70" name="Text 67"/>
          <p:cNvSpPr/>
          <p:nvPr/>
        </p:nvSpPr>
        <p:spPr>
          <a:xfrm>
            <a:off x="6181200" y="3639600"/>
            <a:ext cx="777600" cy="244800"/>
          </a:xfrm>
          <a:prstGeom prst="rect">
            <a:avLst/>
          </a:prstGeom>
          <a:noFill/>
          <a:ln/>
        </p:spPr>
        <p:txBody>
          <a:bodyPr wrap="square" lIns="0" tIns="0" rIns="0" bIns="0" rtlCol="0" anchor="ctr"/>
          <a:lstStyle/>
          <a:p>
            <a:pPr algn="l" indent="0" marL="0">
              <a:buNone/>
            </a:pPr>
            <a:endParaRPr lang="en-US" sz="1000" dirty="0"/>
          </a:p>
        </p:txBody>
      </p:sp>
      <p:sp>
        <p:nvSpPr>
          <p:cNvPr id="71" name="Shape 68"/>
          <p:cNvSpPr/>
          <p:nvPr/>
        </p:nvSpPr>
        <p:spPr>
          <a:xfrm>
            <a:off x="3402000" y="4284000"/>
            <a:ext cx="900000" cy="324000"/>
          </a:xfrm>
          <a:prstGeom prst="rect">
            <a:avLst/>
          </a:prstGeom>
          <a:solidFill>
            <a:srgbClr val="0A2B6B"/>
          </a:solidFill>
          <a:ln w="6985">
            <a:solidFill>
              <a:srgbClr val="202020"/>
            </a:solidFill>
            <a:prstDash val="solid"/>
          </a:ln>
        </p:spPr>
      </p:sp>
      <p:sp>
        <p:nvSpPr>
          <p:cNvPr id="72" name="Text 69"/>
          <p:cNvSpPr/>
          <p:nvPr/>
        </p:nvSpPr>
        <p:spPr>
          <a:xfrm>
            <a:off x="3463200" y="4323600"/>
            <a:ext cx="777600" cy="244800"/>
          </a:xfrm>
          <a:prstGeom prst="rect">
            <a:avLst/>
          </a:prstGeom>
          <a:noFill/>
          <a:ln/>
        </p:spPr>
        <p:txBody>
          <a:bodyPr wrap="square" lIns="0" tIns="0" rIns="0" bIns="0" rtlCol="0" anchor="ctr"/>
          <a:lstStyle/>
          <a:p>
            <a:pPr algn="ctr" indent="0" marL="0">
              <a:buNone/>
            </a:pPr>
            <a:r>
              <a:rPr lang="en-US" sz="950" dirty="0">
                <a:solidFill>
                  <a:srgbClr val="FFFFFF"/>
                </a:solidFill>
                <a:latin typeface="Aptos" pitchFamily="34" charset="0"/>
                <a:ea typeface="Aptos" pitchFamily="34" charset="-122"/>
                <a:cs typeface="Aptos" pitchFamily="34" charset="-120"/>
              </a:rPr>
              <a:t>État initial</a:t>
            </a:r>
            <a:endParaRPr lang="en-US" sz="950" dirty="0"/>
          </a:p>
        </p:txBody>
      </p:sp>
      <p:sp>
        <p:nvSpPr>
          <p:cNvPr id="73" name="Shape 70"/>
          <p:cNvSpPr/>
          <p:nvPr/>
        </p:nvSpPr>
        <p:spPr>
          <a:xfrm>
            <a:off x="4302000" y="4284000"/>
            <a:ext cx="900000" cy="324000"/>
          </a:xfrm>
          <a:prstGeom prst="rect">
            <a:avLst/>
          </a:prstGeom>
          <a:solidFill>
            <a:srgbClr val="0A2B6B"/>
          </a:solidFill>
          <a:ln w="6985">
            <a:solidFill>
              <a:srgbClr val="202020"/>
            </a:solidFill>
            <a:prstDash val="solid"/>
          </a:ln>
        </p:spPr>
      </p:sp>
      <p:sp>
        <p:nvSpPr>
          <p:cNvPr id="74" name="Text 71"/>
          <p:cNvSpPr/>
          <p:nvPr/>
        </p:nvSpPr>
        <p:spPr>
          <a:xfrm>
            <a:off x="4363200" y="4323600"/>
            <a:ext cx="777600" cy="244800"/>
          </a:xfrm>
          <a:prstGeom prst="rect">
            <a:avLst/>
          </a:prstGeom>
          <a:noFill/>
          <a:ln/>
        </p:spPr>
        <p:txBody>
          <a:bodyPr wrap="square" lIns="0" tIns="0" rIns="0" bIns="0" rtlCol="0" anchor="ctr"/>
          <a:lstStyle/>
          <a:p>
            <a:pPr algn="ctr" indent="0" marL="0">
              <a:buNone/>
            </a:pPr>
            <a:r>
              <a:rPr lang="en-US" sz="950" dirty="0">
                <a:solidFill>
                  <a:srgbClr val="FFFFFF"/>
                </a:solidFill>
                <a:latin typeface="Aptos" pitchFamily="34" charset="0"/>
                <a:ea typeface="Aptos" pitchFamily="34" charset="-122"/>
                <a:cs typeface="Aptos" pitchFamily="34" charset="-120"/>
              </a:rPr>
              <a:t>Scénario 1</a:t>
            </a:r>
            <a:endParaRPr lang="en-US" sz="950" dirty="0"/>
          </a:p>
        </p:txBody>
      </p:sp>
      <p:sp>
        <p:nvSpPr>
          <p:cNvPr id="75" name="Shape 72"/>
          <p:cNvSpPr/>
          <p:nvPr/>
        </p:nvSpPr>
        <p:spPr>
          <a:xfrm>
            <a:off x="5202000" y="4284000"/>
            <a:ext cx="900000" cy="324000"/>
          </a:xfrm>
          <a:prstGeom prst="rect">
            <a:avLst/>
          </a:prstGeom>
          <a:solidFill>
            <a:srgbClr val="0A2B6B"/>
          </a:solidFill>
          <a:ln w="6985">
            <a:solidFill>
              <a:srgbClr val="202020"/>
            </a:solidFill>
            <a:prstDash val="solid"/>
          </a:ln>
        </p:spPr>
      </p:sp>
      <p:sp>
        <p:nvSpPr>
          <p:cNvPr id="76" name="Text 73"/>
          <p:cNvSpPr/>
          <p:nvPr/>
        </p:nvSpPr>
        <p:spPr>
          <a:xfrm>
            <a:off x="5263200" y="4323600"/>
            <a:ext cx="777600" cy="244800"/>
          </a:xfrm>
          <a:prstGeom prst="rect">
            <a:avLst/>
          </a:prstGeom>
          <a:noFill/>
          <a:ln/>
        </p:spPr>
        <p:txBody>
          <a:bodyPr wrap="square" lIns="0" tIns="0" rIns="0" bIns="0" rtlCol="0" anchor="ctr"/>
          <a:lstStyle/>
          <a:p>
            <a:pPr algn="ctr" indent="0" marL="0">
              <a:buNone/>
            </a:pPr>
            <a:r>
              <a:rPr lang="en-US" sz="950" dirty="0">
                <a:solidFill>
                  <a:srgbClr val="FFFFFF"/>
                </a:solidFill>
                <a:latin typeface="Aptos" pitchFamily="34" charset="0"/>
                <a:ea typeface="Aptos" pitchFamily="34" charset="-122"/>
                <a:cs typeface="Aptos" pitchFamily="34" charset="-120"/>
              </a:rPr>
              <a:t>Scénario 2</a:t>
            </a:r>
            <a:endParaRPr lang="en-US" sz="950" dirty="0"/>
          </a:p>
        </p:txBody>
      </p:sp>
      <p:sp>
        <p:nvSpPr>
          <p:cNvPr id="77" name="Shape 74"/>
          <p:cNvSpPr/>
          <p:nvPr/>
        </p:nvSpPr>
        <p:spPr>
          <a:xfrm>
            <a:off x="6102000" y="4284000"/>
            <a:ext cx="918000" cy="324000"/>
          </a:xfrm>
          <a:prstGeom prst="rect">
            <a:avLst/>
          </a:prstGeom>
          <a:solidFill>
            <a:srgbClr val="0A2B6B"/>
          </a:solidFill>
          <a:ln w="6985">
            <a:solidFill>
              <a:srgbClr val="202020"/>
            </a:solidFill>
            <a:prstDash val="solid"/>
          </a:ln>
        </p:spPr>
      </p:sp>
      <p:sp>
        <p:nvSpPr>
          <p:cNvPr id="78" name="Text 75"/>
          <p:cNvSpPr/>
          <p:nvPr/>
        </p:nvSpPr>
        <p:spPr>
          <a:xfrm>
            <a:off x="6163200" y="4323600"/>
            <a:ext cx="795600" cy="244800"/>
          </a:xfrm>
          <a:prstGeom prst="rect">
            <a:avLst/>
          </a:prstGeom>
          <a:noFill/>
          <a:ln/>
        </p:spPr>
        <p:txBody>
          <a:bodyPr wrap="square" lIns="0" tIns="0" rIns="0" bIns="0" rtlCol="0" anchor="ctr"/>
          <a:lstStyle/>
          <a:p>
            <a:pPr algn="ctr" indent="0" marL="0">
              <a:buNone/>
            </a:pPr>
            <a:r>
              <a:rPr lang="en-US" sz="950" dirty="0">
                <a:solidFill>
                  <a:srgbClr val="FFFFFF"/>
                </a:solidFill>
                <a:latin typeface="Aptos" pitchFamily="34" charset="0"/>
                <a:ea typeface="Aptos" pitchFamily="34" charset="-122"/>
                <a:cs typeface="Aptos" pitchFamily="34" charset="-120"/>
              </a:rPr>
              <a:t>Scénario 3</a:t>
            </a:r>
            <a:endParaRPr lang="en-US" sz="950" dirty="0"/>
          </a:p>
        </p:txBody>
      </p:sp>
      <p:sp>
        <p:nvSpPr>
          <p:cNvPr id="79" name="Shape 76"/>
          <p:cNvSpPr/>
          <p:nvPr/>
        </p:nvSpPr>
        <p:spPr>
          <a:xfrm>
            <a:off x="540000" y="4608000"/>
            <a:ext cx="2862000" cy="360000"/>
          </a:xfrm>
          <a:prstGeom prst="rect">
            <a:avLst/>
          </a:prstGeom>
          <a:solidFill>
            <a:srgbClr val="0A2B6B"/>
          </a:solidFill>
          <a:ln w="6985">
            <a:solidFill>
              <a:srgbClr val="202020"/>
            </a:solidFill>
            <a:prstDash val="solid"/>
          </a:ln>
        </p:spPr>
      </p:sp>
      <p:sp>
        <p:nvSpPr>
          <p:cNvPr id="80" name="Text 77"/>
          <p:cNvSpPr/>
          <p:nvPr/>
        </p:nvSpPr>
        <p:spPr>
          <a:xfrm>
            <a:off x="601200" y="4647600"/>
            <a:ext cx="2739600" cy="280800"/>
          </a:xfrm>
          <a:prstGeom prst="rect">
            <a:avLst/>
          </a:prstGeom>
          <a:noFill/>
          <a:ln/>
        </p:spPr>
        <p:txBody>
          <a:bodyPr wrap="square" lIns="0" tIns="0" rIns="0" bIns="0" rtlCol="0" anchor="ctr"/>
          <a:lstStyle/>
          <a:p>
            <a:pPr algn="l" indent="0" marL="0">
              <a:buNone/>
            </a:pPr>
            <a:r>
              <a:rPr lang="en-US" sz="950" dirty="0">
                <a:solidFill>
                  <a:srgbClr val="FFFFFF"/>
                </a:solidFill>
                <a:latin typeface="Aptos" pitchFamily="34" charset="0"/>
                <a:ea typeface="Aptos" pitchFamily="34" charset="-122"/>
                <a:cs typeface="Aptos" pitchFamily="34" charset="-120"/>
              </a:rPr>
              <a:t>Étiquette énergétique</a:t>
            </a:r>
            <a:endParaRPr lang="en-US" sz="950" dirty="0"/>
          </a:p>
        </p:txBody>
      </p:sp>
      <p:sp>
        <p:nvSpPr>
          <p:cNvPr id="81" name="Shape 78"/>
          <p:cNvSpPr/>
          <p:nvPr/>
        </p:nvSpPr>
        <p:spPr>
          <a:xfrm>
            <a:off x="3402000" y="4608000"/>
            <a:ext cx="900000" cy="360000"/>
          </a:xfrm>
          <a:prstGeom prst="rect">
            <a:avLst/>
          </a:prstGeom>
          <a:solidFill>
            <a:srgbClr val="FFFFFF"/>
          </a:solidFill>
          <a:ln w="6985">
            <a:solidFill>
              <a:srgbClr val="202020"/>
            </a:solidFill>
            <a:prstDash val="solid"/>
          </a:ln>
        </p:spPr>
      </p:sp>
      <p:sp>
        <p:nvSpPr>
          <p:cNvPr id="82" name="Text 79"/>
          <p:cNvSpPr/>
          <p:nvPr/>
        </p:nvSpPr>
        <p:spPr>
          <a:xfrm>
            <a:off x="3463200" y="4647600"/>
            <a:ext cx="777600" cy="280800"/>
          </a:xfrm>
          <a:prstGeom prst="rect">
            <a:avLst/>
          </a:prstGeom>
          <a:noFill/>
          <a:ln/>
        </p:spPr>
        <p:txBody>
          <a:bodyPr wrap="square" lIns="0" tIns="0" rIns="0" bIns="0" rtlCol="0" anchor="ctr"/>
          <a:lstStyle/>
          <a:p>
            <a:pPr algn="l" indent="0" marL="0">
              <a:buNone/>
            </a:pPr>
            <a:endParaRPr lang="en-US" sz="950" dirty="0"/>
          </a:p>
        </p:txBody>
      </p:sp>
      <p:sp>
        <p:nvSpPr>
          <p:cNvPr id="83" name="Shape 80"/>
          <p:cNvSpPr/>
          <p:nvPr/>
        </p:nvSpPr>
        <p:spPr>
          <a:xfrm>
            <a:off x="4302000" y="4608000"/>
            <a:ext cx="900000" cy="360000"/>
          </a:xfrm>
          <a:prstGeom prst="rect">
            <a:avLst/>
          </a:prstGeom>
          <a:solidFill>
            <a:srgbClr val="FFFFFF"/>
          </a:solidFill>
          <a:ln w="6985">
            <a:solidFill>
              <a:srgbClr val="202020"/>
            </a:solidFill>
            <a:prstDash val="solid"/>
          </a:ln>
        </p:spPr>
      </p:sp>
      <p:sp>
        <p:nvSpPr>
          <p:cNvPr id="84" name="Text 81"/>
          <p:cNvSpPr/>
          <p:nvPr/>
        </p:nvSpPr>
        <p:spPr>
          <a:xfrm>
            <a:off x="4363200" y="4647600"/>
            <a:ext cx="777600" cy="280800"/>
          </a:xfrm>
          <a:prstGeom prst="rect">
            <a:avLst/>
          </a:prstGeom>
          <a:noFill/>
          <a:ln/>
        </p:spPr>
        <p:txBody>
          <a:bodyPr wrap="square" lIns="0" tIns="0" rIns="0" bIns="0" rtlCol="0" anchor="ctr"/>
          <a:lstStyle/>
          <a:p>
            <a:pPr algn="l" indent="0" marL="0">
              <a:buNone/>
            </a:pPr>
            <a:endParaRPr lang="en-US" sz="950" dirty="0"/>
          </a:p>
        </p:txBody>
      </p:sp>
      <p:sp>
        <p:nvSpPr>
          <p:cNvPr id="85" name="Shape 82"/>
          <p:cNvSpPr/>
          <p:nvPr/>
        </p:nvSpPr>
        <p:spPr>
          <a:xfrm>
            <a:off x="5202000" y="4608000"/>
            <a:ext cx="900000" cy="360000"/>
          </a:xfrm>
          <a:prstGeom prst="rect">
            <a:avLst/>
          </a:prstGeom>
          <a:solidFill>
            <a:srgbClr val="FFFFFF"/>
          </a:solidFill>
          <a:ln w="6985">
            <a:solidFill>
              <a:srgbClr val="202020"/>
            </a:solidFill>
            <a:prstDash val="solid"/>
          </a:ln>
        </p:spPr>
      </p:sp>
      <p:sp>
        <p:nvSpPr>
          <p:cNvPr id="86" name="Text 83"/>
          <p:cNvSpPr/>
          <p:nvPr/>
        </p:nvSpPr>
        <p:spPr>
          <a:xfrm>
            <a:off x="5263200" y="4647600"/>
            <a:ext cx="777600" cy="280800"/>
          </a:xfrm>
          <a:prstGeom prst="rect">
            <a:avLst/>
          </a:prstGeom>
          <a:noFill/>
          <a:ln/>
        </p:spPr>
        <p:txBody>
          <a:bodyPr wrap="square" lIns="0" tIns="0" rIns="0" bIns="0" rtlCol="0" anchor="ctr"/>
          <a:lstStyle/>
          <a:p>
            <a:pPr algn="l" indent="0" marL="0">
              <a:buNone/>
            </a:pPr>
            <a:endParaRPr lang="en-US" sz="950" dirty="0"/>
          </a:p>
        </p:txBody>
      </p:sp>
      <p:sp>
        <p:nvSpPr>
          <p:cNvPr id="87" name="Shape 84"/>
          <p:cNvSpPr/>
          <p:nvPr/>
        </p:nvSpPr>
        <p:spPr>
          <a:xfrm>
            <a:off x="6102000" y="4608000"/>
            <a:ext cx="918000" cy="360000"/>
          </a:xfrm>
          <a:prstGeom prst="rect">
            <a:avLst/>
          </a:prstGeom>
          <a:solidFill>
            <a:srgbClr val="FFFFFF"/>
          </a:solidFill>
          <a:ln w="6985">
            <a:solidFill>
              <a:srgbClr val="202020"/>
            </a:solidFill>
            <a:prstDash val="solid"/>
          </a:ln>
        </p:spPr>
      </p:sp>
      <p:sp>
        <p:nvSpPr>
          <p:cNvPr id="88" name="Text 85"/>
          <p:cNvSpPr/>
          <p:nvPr/>
        </p:nvSpPr>
        <p:spPr>
          <a:xfrm>
            <a:off x="6163200" y="4647600"/>
            <a:ext cx="795600" cy="280800"/>
          </a:xfrm>
          <a:prstGeom prst="rect">
            <a:avLst/>
          </a:prstGeom>
          <a:noFill/>
          <a:ln/>
        </p:spPr>
        <p:txBody>
          <a:bodyPr wrap="square" lIns="0" tIns="0" rIns="0" bIns="0" rtlCol="0" anchor="ctr"/>
          <a:lstStyle/>
          <a:p>
            <a:pPr algn="l" indent="0" marL="0">
              <a:buNone/>
            </a:pPr>
            <a:endParaRPr lang="en-US" sz="950" dirty="0"/>
          </a:p>
        </p:txBody>
      </p:sp>
      <p:sp>
        <p:nvSpPr>
          <p:cNvPr id="89" name="Shape 86"/>
          <p:cNvSpPr/>
          <p:nvPr/>
        </p:nvSpPr>
        <p:spPr>
          <a:xfrm>
            <a:off x="540000" y="4968000"/>
            <a:ext cx="2862000" cy="360000"/>
          </a:xfrm>
          <a:prstGeom prst="rect">
            <a:avLst/>
          </a:prstGeom>
          <a:solidFill>
            <a:srgbClr val="0A2B6B"/>
          </a:solidFill>
          <a:ln w="6985">
            <a:solidFill>
              <a:srgbClr val="202020"/>
            </a:solidFill>
            <a:prstDash val="solid"/>
          </a:ln>
        </p:spPr>
      </p:sp>
      <p:sp>
        <p:nvSpPr>
          <p:cNvPr id="90" name="Text 87"/>
          <p:cNvSpPr/>
          <p:nvPr/>
        </p:nvSpPr>
        <p:spPr>
          <a:xfrm>
            <a:off x="601200" y="5007600"/>
            <a:ext cx="2739600" cy="280800"/>
          </a:xfrm>
          <a:prstGeom prst="rect">
            <a:avLst/>
          </a:prstGeom>
          <a:noFill/>
          <a:ln/>
        </p:spPr>
        <p:txBody>
          <a:bodyPr wrap="square" lIns="0" tIns="0" rIns="0" bIns="0" rtlCol="0" anchor="ctr"/>
          <a:lstStyle/>
          <a:p>
            <a:pPr algn="l" indent="0" marL="0">
              <a:buNone/>
            </a:pPr>
            <a:r>
              <a:rPr lang="en-US" sz="950" dirty="0">
                <a:solidFill>
                  <a:srgbClr val="FFFFFF"/>
                </a:solidFill>
                <a:latin typeface="Aptos" pitchFamily="34" charset="0"/>
                <a:ea typeface="Aptos" pitchFamily="34" charset="-122"/>
                <a:cs typeface="Aptos" pitchFamily="34" charset="-120"/>
              </a:rPr>
              <a:t>Consommation en énergie primaire (kWhEP/m²/an)</a:t>
            </a:r>
            <a:endParaRPr lang="en-US" sz="950" dirty="0"/>
          </a:p>
        </p:txBody>
      </p:sp>
      <p:sp>
        <p:nvSpPr>
          <p:cNvPr id="91" name="Shape 88"/>
          <p:cNvSpPr/>
          <p:nvPr/>
        </p:nvSpPr>
        <p:spPr>
          <a:xfrm>
            <a:off x="3402000" y="4968000"/>
            <a:ext cx="900000" cy="360000"/>
          </a:xfrm>
          <a:prstGeom prst="rect">
            <a:avLst/>
          </a:prstGeom>
          <a:solidFill>
            <a:srgbClr val="FFFFFF"/>
          </a:solidFill>
          <a:ln w="6985">
            <a:solidFill>
              <a:srgbClr val="202020"/>
            </a:solidFill>
            <a:prstDash val="solid"/>
          </a:ln>
        </p:spPr>
      </p:sp>
      <p:sp>
        <p:nvSpPr>
          <p:cNvPr id="92" name="Text 89"/>
          <p:cNvSpPr/>
          <p:nvPr/>
        </p:nvSpPr>
        <p:spPr>
          <a:xfrm>
            <a:off x="3463200" y="5007600"/>
            <a:ext cx="777600" cy="280800"/>
          </a:xfrm>
          <a:prstGeom prst="rect">
            <a:avLst/>
          </a:prstGeom>
          <a:noFill/>
          <a:ln/>
        </p:spPr>
        <p:txBody>
          <a:bodyPr wrap="square" lIns="0" tIns="0" rIns="0" bIns="0" rtlCol="0" anchor="ctr"/>
          <a:lstStyle/>
          <a:p>
            <a:pPr algn="l" indent="0" marL="0">
              <a:buNone/>
            </a:pPr>
            <a:endParaRPr lang="en-US" sz="950" dirty="0"/>
          </a:p>
        </p:txBody>
      </p:sp>
      <p:sp>
        <p:nvSpPr>
          <p:cNvPr id="93" name="Shape 90"/>
          <p:cNvSpPr/>
          <p:nvPr/>
        </p:nvSpPr>
        <p:spPr>
          <a:xfrm>
            <a:off x="4302000" y="4968000"/>
            <a:ext cx="900000" cy="360000"/>
          </a:xfrm>
          <a:prstGeom prst="rect">
            <a:avLst/>
          </a:prstGeom>
          <a:solidFill>
            <a:srgbClr val="FFFFFF"/>
          </a:solidFill>
          <a:ln w="6985">
            <a:solidFill>
              <a:srgbClr val="202020"/>
            </a:solidFill>
            <a:prstDash val="solid"/>
          </a:ln>
        </p:spPr>
      </p:sp>
      <p:sp>
        <p:nvSpPr>
          <p:cNvPr id="94" name="Text 91"/>
          <p:cNvSpPr/>
          <p:nvPr/>
        </p:nvSpPr>
        <p:spPr>
          <a:xfrm>
            <a:off x="4363200" y="5007600"/>
            <a:ext cx="777600" cy="280800"/>
          </a:xfrm>
          <a:prstGeom prst="rect">
            <a:avLst/>
          </a:prstGeom>
          <a:noFill/>
          <a:ln/>
        </p:spPr>
        <p:txBody>
          <a:bodyPr wrap="square" lIns="0" tIns="0" rIns="0" bIns="0" rtlCol="0" anchor="ctr"/>
          <a:lstStyle/>
          <a:p>
            <a:pPr algn="l" indent="0" marL="0">
              <a:buNone/>
            </a:pPr>
            <a:endParaRPr lang="en-US" sz="950" dirty="0"/>
          </a:p>
        </p:txBody>
      </p:sp>
      <p:sp>
        <p:nvSpPr>
          <p:cNvPr id="95" name="Shape 92"/>
          <p:cNvSpPr/>
          <p:nvPr/>
        </p:nvSpPr>
        <p:spPr>
          <a:xfrm>
            <a:off x="5202000" y="4968000"/>
            <a:ext cx="900000" cy="360000"/>
          </a:xfrm>
          <a:prstGeom prst="rect">
            <a:avLst/>
          </a:prstGeom>
          <a:solidFill>
            <a:srgbClr val="FFFFFF"/>
          </a:solidFill>
          <a:ln w="6985">
            <a:solidFill>
              <a:srgbClr val="202020"/>
            </a:solidFill>
            <a:prstDash val="solid"/>
          </a:ln>
        </p:spPr>
      </p:sp>
      <p:sp>
        <p:nvSpPr>
          <p:cNvPr id="96" name="Text 93"/>
          <p:cNvSpPr/>
          <p:nvPr/>
        </p:nvSpPr>
        <p:spPr>
          <a:xfrm>
            <a:off x="5263200" y="5007600"/>
            <a:ext cx="777600" cy="280800"/>
          </a:xfrm>
          <a:prstGeom prst="rect">
            <a:avLst/>
          </a:prstGeom>
          <a:noFill/>
          <a:ln/>
        </p:spPr>
        <p:txBody>
          <a:bodyPr wrap="square" lIns="0" tIns="0" rIns="0" bIns="0" rtlCol="0" anchor="ctr"/>
          <a:lstStyle/>
          <a:p>
            <a:pPr algn="l" indent="0" marL="0">
              <a:buNone/>
            </a:pPr>
            <a:endParaRPr lang="en-US" sz="950" dirty="0"/>
          </a:p>
        </p:txBody>
      </p:sp>
      <p:sp>
        <p:nvSpPr>
          <p:cNvPr id="97" name="Shape 94"/>
          <p:cNvSpPr/>
          <p:nvPr/>
        </p:nvSpPr>
        <p:spPr>
          <a:xfrm>
            <a:off x="6102000" y="4968000"/>
            <a:ext cx="918000" cy="360000"/>
          </a:xfrm>
          <a:prstGeom prst="rect">
            <a:avLst/>
          </a:prstGeom>
          <a:solidFill>
            <a:srgbClr val="FFFFFF"/>
          </a:solidFill>
          <a:ln w="6985">
            <a:solidFill>
              <a:srgbClr val="202020"/>
            </a:solidFill>
            <a:prstDash val="solid"/>
          </a:ln>
        </p:spPr>
      </p:sp>
      <p:sp>
        <p:nvSpPr>
          <p:cNvPr id="98" name="Text 95"/>
          <p:cNvSpPr/>
          <p:nvPr/>
        </p:nvSpPr>
        <p:spPr>
          <a:xfrm>
            <a:off x="6163200" y="5007600"/>
            <a:ext cx="795600" cy="280800"/>
          </a:xfrm>
          <a:prstGeom prst="rect">
            <a:avLst/>
          </a:prstGeom>
          <a:noFill/>
          <a:ln/>
        </p:spPr>
        <p:txBody>
          <a:bodyPr wrap="square" lIns="0" tIns="0" rIns="0" bIns="0" rtlCol="0" anchor="ctr"/>
          <a:lstStyle/>
          <a:p>
            <a:pPr algn="l" indent="0" marL="0">
              <a:buNone/>
            </a:pPr>
            <a:endParaRPr lang="en-US" sz="950" dirty="0"/>
          </a:p>
        </p:txBody>
      </p:sp>
      <p:sp>
        <p:nvSpPr>
          <p:cNvPr id="99" name="Shape 96"/>
          <p:cNvSpPr/>
          <p:nvPr/>
        </p:nvSpPr>
        <p:spPr>
          <a:xfrm>
            <a:off x="540000" y="5328000"/>
            <a:ext cx="2862000" cy="360000"/>
          </a:xfrm>
          <a:prstGeom prst="rect">
            <a:avLst/>
          </a:prstGeom>
          <a:solidFill>
            <a:srgbClr val="0A2B6B"/>
          </a:solidFill>
          <a:ln w="6985">
            <a:solidFill>
              <a:srgbClr val="202020"/>
            </a:solidFill>
            <a:prstDash val="solid"/>
          </a:ln>
        </p:spPr>
      </p:sp>
      <p:sp>
        <p:nvSpPr>
          <p:cNvPr id="100" name="Text 97"/>
          <p:cNvSpPr/>
          <p:nvPr/>
        </p:nvSpPr>
        <p:spPr>
          <a:xfrm>
            <a:off x="601200" y="5367600"/>
            <a:ext cx="2739600" cy="280800"/>
          </a:xfrm>
          <a:prstGeom prst="rect">
            <a:avLst/>
          </a:prstGeom>
          <a:noFill/>
          <a:ln/>
        </p:spPr>
        <p:txBody>
          <a:bodyPr wrap="square" lIns="0" tIns="0" rIns="0" bIns="0" rtlCol="0" anchor="ctr"/>
          <a:lstStyle/>
          <a:p>
            <a:pPr algn="l" indent="0" marL="0">
              <a:buNone/>
            </a:pPr>
            <a:r>
              <a:rPr lang="en-US" sz="950" dirty="0">
                <a:solidFill>
                  <a:srgbClr val="FFFFFF"/>
                </a:solidFill>
                <a:latin typeface="Aptos" pitchFamily="34" charset="0"/>
                <a:ea typeface="Aptos" pitchFamily="34" charset="-122"/>
                <a:cs typeface="Aptos" pitchFamily="34" charset="-120"/>
              </a:rPr>
              <a:t>Gaz à effet de serre (kgCO2/m²/an)</a:t>
            </a:r>
            <a:endParaRPr lang="en-US" sz="950" dirty="0"/>
          </a:p>
        </p:txBody>
      </p:sp>
      <p:sp>
        <p:nvSpPr>
          <p:cNvPr id="101" name="Shape 98"/>
          <p:cNvSpPr/>
          <p:nvPr/>
        </p:nvSpPr>
        <p:spPr>
          <a:xfrm>
            <a:off x="3402000" y="5328000"/>
            <a:ext cx="900000" cy="360000"/>
          </a:xfrm>
          <a:prstGeom prst="rect">
            <a:avLst/>
          </a:prstGeom>
          <a:solidFill>
            <a:srgbClr val="FFFFFF"/>
          </a:solidFill>
          <a:ln w="6985">
            <a:solidFill>
              <a:srgbClr val="202020"/>
            </a:solidFill>
            <a:prstDash val="solid"/>
          </a:ln>
        </p:spPr>
      </p:sp>
      <p:sp>
        <p:nvSpPr>
          <p:cNvPr id="102" name="Text 99"/>
          <p:cNvSpPr/>
          <p:nvPr/>
        </p:nvSpPr>
        <p:spPr>
          <a:xfrm>
            <a:off x="3463200" y="5367600"/>
            <a:ext cx="777600" cy="280800"/>
          </a:xfrm>
          <a:prstGeom prst="rect">
            <a:avLst/>
          </a:prstGeom>
          <a:noFill/>
          <a:ln/>
        </p:spPr>
        <p:txBody>
          <a:bodyPr wrap="square" lIns="0" tIns="0" rIns="0" bIns="0" rtlCol="0" anchor="ctr"/>
          <a:lstStyle/>
          <a:p>
            <a:pPr algn="l" indent="0" marL="0">
              <a:buNone/>
            </a:pPr>
            <a:endParaRPr lang="en-US" sz="950" dirty="0"/>
          </a:p>
        </p:txBody>
      </p:sp>
      <p:sp>
        <p:nvSpPr>
          <p:cNvPr id="103" name="Shape 100"/>
          <p:cNvSpPr/>
          <p:nvPr/>
        </p:nvSpPr>
        <p:spPr>
          <a:xfrm>
            <a:off x="4302000" y="5328000"/>
            <a:ext cx="900000" cy="360000"/>
          </a:xfrm>
          <a:prstGeom prst="rect">
            <a:avLst/>
          </a:prstGeom>
          <a:solidFill>
            <a:srgbClr val="FFFFFF"/>
          </a:solidFill>
          <a:ln w="6985">
            <a:solidFill>
              <a:srgbClr val="202020"/>
            </a:solidFill>
            <a:prstDash val="solid"/>
          </a:ln>
        </p:spPr>
      </p:sp>
      <p:sp>
        <p:nvSpPr>
          <p:cNvPr id="104" name="Text 101"/>
          <p:cNvSpPr/>
          <p:nvPr/>
        </p:nvSpPr>
        <p:spPr>
          <a:xfrm>
            <a:off x="4363200" y="5367600"/>
            <a:ext cx="777600" cy="280800"/>
          </a:xfrm>
          <a:prstGeom prst="rect">
            <a:avLst/>
          </a:prstGeom>
          <a:noFill/>
          <a:ln/>
        </p:spPr>
        <p:txBody>
          <a:bodyPr wrap="square" lIns="0" tIns="0" rIns="0" bIns="0" rtlCol="0" anchor="ctr"/>
          <a:lstStyle/>
          <a:p>
            <a:pPr algn="l" indent="0" marL="0">
              <a:buNone/>
            </a:pPr>
            <a:endParaRPr lang="en-US" sz="950" dirty="0"/>
          </a:p>
        </p:txBody>
      </p:sp>
      <p:sp>
        <p:nvSpPr>
          <p:cNvPr id="105" name="Shape 102"/>
          <p:cNvSpPr/>
          <p:nvPr/>
        </p:nvSpPr>
        <p:spPr>
          <a:xfrm>
            <a:off x="5202000" y="5328000"/>
            <a:ext cx="900000" cy="360000"/>
          </a:xfrm>
          <a:prstGeom prst="rect">
            <a:avLst/>
          </a:prstGeom>
          <a:solidFill>
            <a:srgbClr val="FFFFFF"/>
          </a:solidFill>
          <a:ln w="6985">
            <a:solidFill>
              <a:srgbClr val="202020"/>
            </a:solidFill>
            <a:prstDash val="solid"/>
          </a:ln>
        </p:spPr>
      </p:sp>
      <p:sp>
        <p:nvSpPr>
          <p:cNvPr id="106" name="Text 103"/>
          <p:cNvSpPr/>
          <p:nvPr/>
        </p:nvSpPr>
        <p:spPr>
          <a:xfrm>
            <a:off x="5263200" y="5367600"/>
            <a:ext cx="777600" cy="280800"/>
          </a:xfrm>
          <a:prstGeom prst="rect">
            <a:avLst/>
          </a:prstGeom>
          <a:noFill/>
          <a:ln/>
        </p:spPr>
        <p:txBody>
          <a:bodyPr wrap="square" lIns="0" tIns="0" rIns="0" bIns="0" rtlCol="0" anchor="ctr"/>
          <a:lstStyle/>
          <a:p>
            <a:pPr algn="l" indent="0" marL="0">
              <a:buNone/>
            </a:pPr>
            <a:endParaRPr lang="en-US" sz="950" dirty="0"/>
          </a:p>
        </p:txBody>
      </p:sp>
      <p:sp>
        <p:nvSpPr>
          <p:cNvPr id="107" name="Shape 104"/>
          <p:cNvSpPr/>
          <p:nvPr/>
        </p:nvSpPr>
        <p:spPr>
          <a:xfrm>
            <a:off x="6102000" y="5328000"/>
            <a:ext cx="918000" cy="360000"/>
          </a:xfrm>
          <a:prstGeom prst="rect">
            <a:avLst/>
          </a:prstGeom>
          <a:solidFill>
            <a:srgbClr val="FFFFFF"/>
          </a:solidFill>
          <a:ln w="6985">
            <a:solidFill>
              <a:srgbClr val="202020"/>
            </a:solidFill>
            <a:prstDash val="solid"/>
          </a:ln>
        </p:spPr>
      </p:sp>
      <p:sp>
        <p:nvSpPr>
          <p:cNvPr id="108" name="Text 105"/>
          <p:cNvSpPr/>
          <p:nvPr/>
        </p:nvSpPr>
        <p:spPr>
          <a:xfrm>
            <a:off x="6163200" y="5367600"/>
            <a:ext cx="795600" cy="280800"/>
          </a:xfrm>
          <a:prstGeom prst="rect">
            <a:avLst/>
          </a:prstGeom>
          <a:noFill/>
          <a:ln/>
        </p:spPr>
        <p:txBody>
          <a:bodyPr wrap="square" lIns="0" tIns="0" rIns="0" bIns="0" rtlCol="0" anchor="ctr"/>
          <a:lstStyle/>
          <a:p>
            <a:pPr algn="l" indent="0" marL="0">
              <a:buNone/>
            </a:pPr>
            <a:endParaRPr lang="en-US" sz="950" dirty="0"/>
          </a:p>
        </p:txBody>
      </p:sp>
      <p:sp>
        <p:nvSpPr>
          <p:cNvPr id="109" name="Shape 106"/>
          <p:cNvSpPr/>
          <p:nvPr/>
        </p:nvSpPr>
        <p:spPr>
          <a:xfrm>
            <a:off x="540000" y="5688000"/>
            <a:ext cx="2862000" cy="360000"/>
          </a:xfrm>
          <a:prstGeom prst="rect">
            <a:avLst/>
          </a:prstGeom>
          <a:solidFill>
            <a:srgbClr val="0A2B6B"/>
          </a:solidFill>
          <a:ln w="6985">
            <a:solidFill>
              <a:srgbClr val="202020"/>
            </a:solidFill>
            <a:prstDash val="solid"/>
          </a:ln>
        </p:spPr>
      </p:sp>
      <p:sp>
        <p:nvSpPr>
          <p:cNvPr id="110" name="Text 107"/>
          <p:cNvSpPr/>
          <p:nvPr/>
        </p:nvSpPr>
        <p:spPr>
          <a:xfrm>
            <a:off x="601200" y="5727600"/>
            <a:ext cx="2739600" cy="280800"/>
          </a:xfrm>
          <a:prstGeom prst="rect">
            <a:avLst/>
          </a:prstGeom>
          <a:noFill/>
          <a:ln/>
        </p:spPr>
        <p:txBody>
          <a:bodyPr wrap="square" lIns="0" tIns="0" rIns="0" bIns="0" rtlCol="0" anchor="ctr"/>
          <a:lstStyle/>
          <a:p>
            <a:pPr algn="l" indent="0" marL="0">
              <a:buNone/>
            </a:pPr>
            <a:r>
              <a:rPr lang="en-US" sz="950" dirty="0">
                <a:solidFill>
                  <a:srgbClr val="FFFFFF"/>
                </a:solidFill>
                <a:latin typeface="Aptos" pitchFamily="34" charset="0"/>
                <a:ea typeface="Aptos" pitchFamily="34" charset="-122"/>
                <a:cs typeface="Aptos" pitchFamily="34" charset="-120"/>
              </a:rPr>
              <a:t>Gain énergétique</a:t>
            </a:r>
            <a:endParaRPr lang="en-US" sz="950" dirty="0"/>
          </a:p>
        </p:txBody>
      </p:sp>
      <p:sp>
        <p:nvSpPr>
          <p:cNvPr id="111" name="Shape 108"/>
          <p:cNvSpPr/>
          <p:nvPr/>
        </p:nvSpPr>
        <p:spPr>
          <a:xfrm>
            <a:off x="3402000" y="5688000"/>
            <a:ext cx="900000" cy="360000"/>
          </a:xfrm>
          <a:prstGeom prst="rect">
            <a:avLst/>
          </a:prstGeom>
          <a:solidFill>
            <a:srgbClr val="FFFFFF"/>
          </a:solidFill>
          <a:ln w="6985">
            <a:solidFill>
              <a:srgbClr val="202020"/>
            </a:solidFill>
            <a:prstDash val="solid"/>
          </a:ln>
        </p:spPr>
      </p:sp>
      <p:sp>
        <p:nvSpPr>
          <p:cNvPr id="112" name="Text 109"/>
          <p:cNvSpPr/>
          <p:nvPr/>
        </p:nvSpPr>
        <p:spPr>
          <a:xfrm>
            <a:off x="3463200" y="5727600"/>
            <a:ext cx="777600" cy="280800"/>
          </a:xfrm>
          <a:prstGeom prst="rect">
            <a:avLst/>
          </a:prstGeom>
          <a:noFill/>
          <a:ln/>
        </p:spPr>
        <p:txBody>
          <a:bodyPr wrap="square" lIns="0" tIns="0" rIns="0" bIns="0" rtlCol="0" anchor="ctr"/>
          <a:lstStyle/>
          <a:p>
            <a:pPr algn="l" indent="0" marL="0">
              <a:buNone/>
            </a:pPr>
            <a:endParaRPr lang="en-US" sz="950" dirty="0"/>
          </a:p>
        </p:txBody>
      </p:sp>
      <p:sp>
        <p:nvSpPr>
          <p:cNvPr id="113" name="Shape 110"/>
          <p:cNvSpPr/>
          <p:nvPr/>
        </p:nvSpPr>
        <p:spPr>
          <a:xfrm>
            <a:off x="4302000" y="5688000"/>
            <a:ext cx="900000" cy="360000"/>
          </a:xfrm>
          <a:prstGeom prst="rect">
            <a:avLst/>
          </a:prstGeom>
          <a:solidFill>
            <a:srgbClr val="FFFFFF"/>
          </a:solidFill>
          <a:ln w="6985">
            <a:solidFill>
              <a:srgbClr val="202020"/>
            </a:solidFill>
            <a:prstDash val="solid"/>
          </a:ln>
        </p:spPr>
      </p:sp>
      <p:sp>
        <p:nvSpPr>
          <p:cNvPr id="114" name="Text 111"/>
          <p:cNvSpPr/>
          <p:nvPr/>
        </p:nvSpPr>
        <p:spPr>
          <a:xfrm>
            <a:off x="4363200" y="5727600"/>
            <a:ext cx="777600" cy="280800"/>
          </a:xfrm>
          <a:prstGeom prst="rect">
            <a:avLst/>
          </a:prstGeom>
          <a:noFill/>
          <a:ln/>
        </p:spPr>
        <p:txBody>
          <a:bodyPr wrap="square" lIns="0" tIns="0" rIns="0" bIns="0" rtlCol="0" anchor="ctr"/>
          <a:lstStyle/>
          <a:p>
            <a:pPr algn="l" indent="0" marL="0">
              <a:buNone/>
            </a:pPr>
            <a:endParaRPr lang="en-US" sz="950" dirty="0"/>
          </a:p>
        </p:txBody>
      </p:sp>
      <p:sp>
        <p:nvSpPr>
          <p:cNvPr id="115" name="Shape 112"/>
          <p:cNvSpPr/>
          <p:nvPr/>
        </p:nvSpPr>
        <p:spPr>
          <a:xfrm>
            <a:off x="5202000" y="5688000"/>
            <a:ext cx="900000" cy="360000"/>
          </a:xfrm>
          <a:prstGeom prst="rect">
            <a:avLst/>
          </a:prstGeom>
          <a:solidFill>
            <a:srgbClr val="FFFFFF"/>
          </a:solidFill>
          <a:ln w="6985">
            <a:solidFill>
              <a:srgbClr val="202020"/>
            </a:solidFill>
            <a:prstDash val="solid"/>
          </a:ln>
        </p:spPr>
      </p:sp>
      <p:sp>
        <p:nvSpPr>
          <p:cNvPr id="116" name="Text 113"/>
          <p:cNvSpPr/>
          <p:nvPr/>
        </p:nvSpPr>
        <p:spPr>
          <a:xfrm>
            <a:off x="5263200" y="5727600"/>
            <a:ext cx="777600" cy="280800"/>
          </a:xfrm>
          <a:prstGeom prst="rect">
            <a:avLst/>
          </a:prstGeom>
          <a:noFill/>
          <a:ln/>
        </p:spPr>
        <p:txBody>
          <a:bodyPr wrap="square" lIns="0" tIns="0" rIns="0" bIns="0" rtlCol="0" anchor="ctr"/>
          <a:lstStyle/>
          <a:p>
            <a:pPr algn="l" indent="0" marL="0">
              <a:buNone/>
            </a:pPr>
            <a:endParaRPr lang="en-US" sz="950" dirty="0"/>
          </a:p>
        </p:txBody>
      </p:sp>
      <p:sp>
        <p:nvSpPr>
          <p:cNvPr id="117" name="Shape 114"/>
          <p:cNvSpPr/>
          <p:nvPr/>
        </p:nvSpPr>
        <p:spPr>
          <a:xfrm>
            <a:off x="6102000" y="5688000"/>
            <a:ext cx="918000" cy="360000"/>
          </a:xfrm>
          <a:prstGeom prst="rect">
            <a:avLst/>
          </a:prstGeom>
          <a:solidFill>
            <a:srgbClr val="FFFFFF"/>
          </a:solidFill>
          <a:ln w="6985">
            <a:solidFill>
              <a:srgbClr val="202020"/>
            </a:solidFill>
            <a:prstDash val="solid"/>
          </a:ln>
        </p:spPr>
      </p:sp>
      <p:sp>
        <p:nvSpPr>
          <p:cNvPr id="118" name="Text 115"/>
          <p:cNvSpPr/>
          <p:nvPr/>
        </p:nvSpPr>
        <p:spPr>
          <a:xfrm>
            <a:off x="6163200" y="5727600"/>
            <a:ext cx="795600" cy="280800"/>
          </a:xfrm>
          <a:prstGeom prst="rect">
            <a:avLst/>
          </a:prstGeom>
          <a:noFill/>
          <a:ln/>
        </p:spPr>
        <p:txBody>
          <a:bodyPr wrap="square" lIns="0" tIns="0" rIns="0" bIns="0" rtlCol="0" anchor="ctr"/>
          <a:lstStyle/>
          <a:p>
            <a:pPr algn="l" indent="0" marL="0">
              <a:buNone/>
            </a:pPr>
            <a:endParaRPr lang="en-US" sz="950" dirty="0"/>
          </a:p>
        </p:txBody>
      </p:sp>
      <p:sp>
        <p:nvSpPr>
          <p:cNvPr id="119" name="Shape 116"/>
          <p:cNvSpPr/>
          <p:nvPr/>
        </p:nvSpPr>
        <p:spPr>
          <a:xfrm>
            <a:off x="540000" y="6048000"/>
            <a:ext cx="2862000" cy="360000"/>
          </a:xfrm>
          <a:prstGeom prst="rect">
            <a:avLst/>
          </a:prstGeom>
          <a:solidFill>
            <a:srgbClr val="0A2B6B"/>
          </a:solidFill>
          <a:ln w="6985">
            <a:solidFill>
              <a:srgbClr val="202020"/>
            </a:solidFill>
            <a:prstDash val="solid"/>
          </a:ln>
        </p:spPr>
      </p:sp>
      <p:sp>
        <p:nvSpPr>
          <p:cNvPr id="120" name="Text 117"/>
          <p:cNvSpPr/>
          <p:nvPr/>
        </p:nvSpPr>
        <p:spPr>
          <a:xfrm>
            <a:off x="601200" y="6087600"/>
            <a:ext cx="2739600" cy="280800"/>
          </a:xfrm>
          <a:prstGeom prst="rect">
            <a:avLst/>
          </a:prstGeom>
          <a:noFill/>
          <a:ln/>
        </p:spPr>
        <p:txBody>
          <a:bodyPr wrap="square" lIns="0" tIns="0" rIns="0" bIns="0" rtlCol="0" anchor="ctr"/>
          <a:lstStyle/>
          <a:p>
            <a:pPr algn="l" indent="0" marL="0">
              <a:buNone/>
            </a:pPr>
            <a:r>
              <a:rPr lang="en-US" sz="950" dirty="0">
                <a:solidFill>
                  <a:srgbClr val="FFFFFF"/>
                </a:solidFill>
                <a:latin typeface="Aptos" pitchFamily="34" charset="0"/>
                <a:ea typeface="Aptos" pitchFamily="34" charset="-122"/>
                <a:cs typeface="Aptos" pitchFamily="34" charset="-120"/>
              </a:rPr>
              <a:t>Investissement en TTC (sans les aides)</a:t>
            </a:r>
            <a:endParaRPr lang="en-US" sz="950" dirty="0"/>
          </a:p>
        </p:txBody>
      </p:sp>
      <p:sp>
        <p:nvSpPr>
          <p:cNvPr id="121" name="Shape 118"/>
          <p:cNvSpPr/>
          <p:nvPr/>
        </p:nvSpPr>
        <p:spPr>
          <a:xfrm>
            <a:off x="3402000" y="6048000"/>
            <a:ext cx="900000" cy="360000"/>
          </a:xfrm>
          <a:prstGeom prst="rect">
            <a:avLst/>
          </a:prstGeom>
          <a:solidFill>
            <a:srgbClr val="FFFFFF"/>
          </a:solidFill>
          <a:ln w="6985">
            <a:solidFill>
              <a:srgbClr val="202020"/>
            </a:solidFill>
            <a:prstDash val="solid"/>
          </a:ln>
        </p:spPr>
      </p:sp>
      <p:sp>
        <p:nvSpPr>
          <p:cNvPr id="122" name="Text 119"/>
          <p:cNvSpPr/>
          <p:nvPr/>
        </p:nvSpPr>
        <p:spPr>
          <a:xfrm>
            <a:off x="3463200" y="6087600"/>
            <a:ext cx="777600" cy="280800"/>
          </a:xfrm>
          <a:prstGeom prst="rect">
            <a:avLst/>
          </a:prstGeom>
          <a:noFill/>
          <a:ln/>
        </p:spPr>
        <p:txBody>
          <a:bodyPr wrap="square" lIns="0" tIns="0" rIns="0" bIns="0" rtlCol="0" anchor="ctr"/>
          <a:lstStyle/>
          <a:p>
            <a:pPr algn="l" indent="0" marL="0">
              <a:buNone/>
            </a:pPr>
            <a:endParaRPr lang="en-US" sz="950" dirty="0"/>
          </a:p>
        </p:txBody>
      </p:sp>
      <p:sp>
        <p:nvSpPr>
          <p:cNvPr id="123" name="Shape 120"/>
          <p:cNvSpPr/>
          <p:nvPr/>
        </p:nvSpPr>
        <p:spPr>
          <a:xfrm>
            <a:off x="4302000" y="6048000"/>
            <a:ext cx="900000" cy="360000"/>
          </a:xfrm>
          <a:prstGeom prst="rect">
            <a:avLst/>
          </a:prstGeom>
          <a:solidFill>
            <a:srgbClr val="FFFFFF"/>
          </a:solidFill>
          <a:ln w="6985">
            <a:solidFill>
              <a:srgbClr val="202020"/>
            </a:solidFill>
            <a:prstDash val="solid"/>
          </a:ln>
        </p:spPr>
      </p:sp>
      <p:sp>
        <p:nvSpPr>
          <p:cNvPr id="124" name="Text 121"/>
          <p:cNvSpPr/>
          <p:nvPr/>
        </p:nvSpPr>
        <p:spPr>
          <a:xfrm>
            <a:off x="4363200" y="6087600"/>
            <a:ext cx="777600" cy="280800"/>
          </a:xfrm>
          <a:prstGeom prst="rect">
            <a:avLst/>
          </a:prstGeom>
          <a:noFill/>
          <a:ln/>
        </p:spPr>
        <p:txBody>
          <a:bodyPr wrap="square" lIns="0" tIns="0" rIns="0" bIns="0" rtlCol="0" anchor="ctr"/>
          <a:lstStyle/>
          <a:p>
            <a:pPr algn="l" indent="0" marL="0">
              <a:buNone/>
            </a:pPr>
            <a:endParaRPr lang="en-US" sz="950" dirty="0"/>
          </a:p>
        </p:txBody>
      </p:sp>
      <p:sp>
        <p:nvSpPr>
          <p:cNvPr id="125" name="Shape 122"/>
          <p:cNvSpPr/>
          <p:nvPr/>
        </p:nvSpPr>
        <p:spPr>
          <a:xfrm>
            <a:off x="5202000" y="6048000"/>
            <a:ext cx="900000" cy="360000"/>
          </a:xfrm>
          <a:prstGeom prst="rect">
            <a:avLst/>
          </a:prstGeom>
          <a:solidFill>
            <a:srgbClr val="FFFFFF"/>
          </a:solidFill>
          <a:ln w="6985">
            <a:solidFill>
              <a:srgbClr val="202020"/>
            </a:solidFill>
            <a:prstDash val="solid"/>
          </a:ln>
        </p:spPr>
      </p:sp>
      <p:sp>
        <p:nvSpPr>
          <p:cNvPr id="126" name="Text 123"/>
          <p:cNvSpPr/>
          <p:nvPr/>
        </p:nvSpPr>
        <p:spPr>
          <a:xfrm>
            <a:off x="5263200" y="6087600"/>
            <a:ext cx="777600" cy="280800"/>
          </a:xfrm>
          <a:prstGeom prst="rect">
            <a:avLst/>
          </a:prstGeom>
          <a:noFill/>
          <a:ln/>
        </p:spPr>
        <p:txBody>
          <a:bodyPr wrap="square" lIns="0" tIns="0" rIns="0" bIns="0" rtlCol="0" anchor="ctr"/>
          <a:lstStyle/>
          <a:p>
            <a:pPr algn="l" indent="0" marL="0">
              <a:buNone/>
            </a:pPr>
            <a:endParaRPr lang="en-US" sz="950" dirty="0"/>
          </a:p>
        </p:txBody>
      </p:sp>
      <p:sp>
        <p:nvSpPr>
          <p:cNvPr id="127" name="Shape 124"/>
          <p:cNvSpPr/>
          <p:nvPr/>
        </p:nvSpPr>
        <p:spPr>
          <a:xfrm>
            <a:off x="6102000" y="6048000"/>
            <a:ext cx="918000" cy="360000"/>
          </a:xfrm>
          <a:prstGeom prst="rect">
            <a:avLst/>
          </a:prstGeom>
          <a:solidFill>
            <a:srgbClr val="FFFFFF"/>
          </a:solidFill>
          <a:ln w="6985">
            <a:solidFill>
              <a:srgbClr val="202020"/>
            </a:solidFill>
            <a:prstDash val="solid"/>
          </a:ln>
        </p:spPr>
      </p:sp>
      <p:sp>
        <p:nvSpPr>
          <p:cNvPr id="128" name="Text 125"/>
          <p:cNvSpPr/>
          <p:nvPr/>
        </p:nvSpPr>
        <p:spPr>
          <a:xfrm>
            <a:off x="6163200" y="6087600"/>
            <a:ext cx="795600" cy="280800"/>
          </a:xfrm>
          <a:prstGeom prst="rect">
            <a:avLst/>
          </a:prstGeom>
          <a:noFill/>
          <a:ln/>
        </p:spPr>
        <p:txBody>
          <a:bodyPr wrap="square" lIns="0" tIns="0" rIns="0" bIns="0" rtlCol="0" anchor="ctr"/>
          <a:lstStyle/>
          <a:p>
            <a:pPr algn="l" indent="0" marL="0">
              <a:buNone/>
            </a:pPr>
            <a:endParaRPr lang="en-US" sz="950" dirty="0"/>
          </a:p>
        </p:txBody>
      </p:sp>
      <p:sp>
        <p:nvSpPr>
          <p:cNvPr id="129" name="Shape 126"/>
          <p:cNvSpPr/>
          <p:nvPr/>
        </p:nvSpPr>
        <p:spPr>
          <a:xfrm>
            <a:off x="540000" y="6660000"/>
            <a:ext cx="2862000" cy="432000"/>
          </a:xfrm>
          <a:prstGeom prst="rect">
            <a:avLst/>
          </a:prstGeom>
          <a:solidFill>
            <a:srgbClr val="0A2B6B"/>
          </a:solidFill>
          <a:ln w="6985">
            <a:solidFill>
              <a:srgbClr val="202020"/>
            </a:solidFill>
            <a:prstDash val="solid"/>
          </a:ln>
        </p:spPr>
      </p:sp>
      <p:sp>
        <p:nvSpPr>
          <p:cNvPr id="130" name="Text 127"/>
          <p:cNvSpPr/>
          <p:nvPr/>
        </p:nvSpPr>
        <p:spPr>
          <a:xfrm>
            <a:off x="601200" y="6699600"/>
            <a:ext cx="2739600" cy="352800"/>
          </a:xfrm>
          <a:prstGeom prst="rect">
            <a:avLst/>
          </a:prstGeom>
          <a:noFill/>
          <a:ln/>
        </p:spPr>
        <p:txBody>
          <a:bodyPr wrap="square" lIns="0" tIns="0" rIns="0" bIns="0" rtlCol="0" anchor="ctr"/>
          <a:lstStyle/>
          <a:p>
            <a:pPr algn="l" indent="0" marL="0">
              <a:buNone/>
            </a:pPr>
            <a:r>
              <a:rPr lang="en-US" sz="950" dirty="0">
                <a:solidFill>
                  <a:srgbClr val="FFFFFF"/>
                </a:solidFill>
                <a:latin typeface="Aptos" pitchFamily="34" charset="0"/>
                <a:ea typeface="Aptos" pitchFamily="34" charset="-122"/>
                <a:cs typeface="Aptos" pitchFamily="34" charset="-120"/>
              </a:rPr>
              <a:t>Estimatif de l’aide MaPrimeRénov ’Copropriétés</a:t>
            </a:r>
            <a:endParaRPr lang="en-US" sz="950" dirty="0"/>
          </a:p>
        </p:txBody>
      </p:sp>
      <p:sp>
        <p:nvSpPr>
          <p:cNvPr id="131" name="Shape 128"/>
          <p:cNvSpPr/>
          <p:nvPr/>
        </p:nvSpPr>
        <p:spPr>
          <a:xfrm>
            <a:off x="3402000" y="6660000"/>
            <a:ext cx="900000" cy="432000"/>
          </a:xfrm>
          <a:prstGeom prst="rect">
            <a:avLst/>
          </a:prstGeom>
          <a:solidFill>
            <a:srgbClr val="FFFFFF"/>
          </a:solidFill>
          <a:ln w="6985">
            <a:solidFill>
              <a:srgbClr val="202020"/>
            </a:solidFill>
            <a:prstDash val="solid"/>
          </a:ln>
        </p:spPr>
      </p:sp>
      <p:sp>
        <p:nvSpPr>
          <p:cNvPr id="132" name="Text 129"/>
          <p:cNvSpPr/>
          <p:nvPr/>
        </p:nvSpPr>
        <p:spPr>
          <a:xfrm>
            <a:off x="3463200" y="6699600"/>
            <a:ext cx="777600" cy="352800"/>
          </a:xfrm>
          <a:prstGeom prst="rect">
            <a:avLst/>
          </a:prstGeom>
          <a:noFill/>
          <a:ln/>
        </p:spPr>
        <p:txBody>
          <a:bodyPr wrap="square" lIns="0" tIns="0" rIns="0" bIns="0" rtlCol="0" anchor="ctr"/>
          <a:lstStyle/>
          <a:p>
            <a:pPr algn="l" indent="0" marL="0">
              <a:buNone/>
            </a:pPr>
            <a:endParaRPr lang="en-US" sz="950" dirty="0"/>
          </a:p>
        </p:txBody>
      </p:sp>
      <p:sp>
        <p:nvSpPr>
          <p:cNvPr id="133" name="Shape 130"/>
          <p:cNvSpPr/>
          <p:nvPr/>
        </p:nvSpPr>
        <p:spPr>
          <a:xfrm>
            <a:off x="4302000" y="6660000"/>
            <a:ext cx="900000" cy="432000"/>
          </a:xfrm>
          <a:prstGeom prst="rect">
            <a:avLst/>
          </a:prstGeom>
          <a:solidFill>
            <a:srgbClr val="FFFFFF"/>
          </a:solidFill>
          <a:ln w="6985">
            <a:solidFill>
              <a:srgbClr val="202020"/>
            </a:solidFill>
            <a:prstDash val="solid"/>
          </a:ln>
        </p:spPr>
      </p:sp>
      <p:sp>
        <p:nvSpPr>
          <p:cNvPr id="134" name="Text 131"/>
          <p:cNvSpPr/>
          <p:nvPr/>
        </p:nvSpPr>
        <p:spPr>
          <a:xfrm>
            <a:off x="4363200" y="6699600"/>
            <a:ext cx="777600" cy="352800"/>
          </a:xfrm>
          <a:prstGeom prst="rect">
            <a:avLst/>
          </a:prstGeom>
          <a:noFill/>
          <a:ln/>
        </p:spPr>
        <p:txBody>
          <a:bodyPr wrap="square" lIns="0" tIns="0" rIns="0" bIns="0" rtlCol="0" anchor="ctr"/>
          <a:lstStyle/>
          <a:p>
            <a:pPr algn="l" indent="0" marL="0">
              <a:buNone/>
            </a:pPr>
            <a:endParaRPr lang="en-US" sz="950" dirty="0"/>
          </a:p>
        </p:txBody>
      </p:sp>
      <p:sp>
        <p:nvSpPr>
          <p:cNvPr id="135" name="Shape 132"/>
          <p:cNvSpPr/>
          <p:nvPr/>
        </p:nvSpPr>
        <p:spPr>
          <a:xfrm>
            <a:off x="5202000" y="6660000"/>
            <a:ext cx="900000" cy="432000"/>
          </a:xfrm>
          <a:prstGeom prst="rect">
            <a:avLst/>
          </a:prstGeom>
          <a:solidFill>
            <a:srgbClr val="FFFFFF"/>
          </a:solidFill>
          <a:ln w="6985">
            <a:solidFill>
              <a:srgbClr val="202020"/>
            </a:solidFill>
            <a:prstDash val="solid"/>
          </a:ln>
        </p:spPr>
      </p:sp>
      <p:sp>
        <p:nvSpPr>
          <p:cNvPr id="136" name="Text 133"/>
          <p:cNvSpPr/>
          <p:nvPr/>
        </p:nvSpPr>
        <p:spPr>
          <a:xfrm>
            <a:off x="5263200" y="6699600"/>
            <a:ext cx="777600" cy="352800"/>
          </a:xfrm>
          <a:prstGeom prst="rect">
            <a:avLst/>
          </a:prstGeom>
          <a:noFill/>
          <a:ln/>
        </p:spPr>
        <p:txBody>
          <a:bodyPr wrap="square" lIns="0" tIns="0" rIns="0" bIns="0" rtlCol="0" anchor="ctr"/>
          <a:lstStyle/>
          <a:p>
            <a:pPr algn="l" indent="0" marL="0">
              <a:buNone/>
            </a:pPr>
            <a:endParaRPr lang="en-US" sz="950" dirty="0"/>
          </a:p>
        </p:txBody>
      </p:sp>
      <p:sp>
        <p:nvSpPr>
          <p:cNvPr id="137" name="Shape 134"/>
          <p:cNvSpPr/>
          <p:nvPr/>
        </p:nvSpPr>
        <p:spPr>
          <a:xfrm>
            <a:off x="6102000" y="6660000"/>
            <a:ext cx="918000" cy="432000"/>
          </a:xfrm>
          <a:prstGeom prst="rect">
            <a:avLst/>
          </a:prstGeom>
          <a:solidFill>
            <a:srgbClr val="FFFFFF"/>
          </a:solidFill>
          <a:ln w="6985">
            <a:solidFill>
              <a:srgbClr val="202020"/>
            </a:solidFill>
            <a:prstDash val="solid"/>
          </a:ln>
        </p:spPr>
      </p:sp>
      <p:sp>
        <p:nvSpPr>
          <p:cNvPr id="138" name="Text 135"/>
          <p:cNvSpPr/>
          <p:nvPr/>
        </p:nvSpPr>
        <p:spPr>
          <a:xfrm>
            <a:off x="6163200" y="6699600"/>
            <a:ext cx="795600" cy="352800"/>
          </a:xfrm>
          <a:prstGeom prst="rect">
            <a:avLst/>
          </a:prstGeom>
          <a:noFill/>
          <a:ln/>
        </p:spPr>
        <p:txBody>
          <a:bodyPr wrap="square" lIns="0" tIns="0" rIns="0" bIns="0" rtlCol="0" anchor="ctr"/>
          <a:lstStyle/>
          <a:p>
            <a:pPr algn="l" indent="0" marL="0">
              <a:buNone/>
            </a:pPr>
            <a:endParaRPr lang="en-US" sz="950" dirty="0"/>
          </a:p>
        </p:txBody>
      </p:sp>
      <p:sp>
        <p:nvSpPr>
          <p:cNvPr id="139" name="Shape 136"/>
          <p:cNvSpPr/>
          <p:nvPr/>
        </p:nvSpPr>
        <p:spPr>
          <a:xfrm>
            <a:off x="540000" y="7092000"/>
            <a:ext cx="2862000" cy="432000"/>
          </a:xfrm>
          <a:prstGeom prst="rect">
            <a:avLst/>
          </a:prstGeom>
          <a:solidFill>
            <a:srgbClr val="0A2B6B"/>
          </a:solidFill>
          <a:ln w="6985">
            <a:solidFill>
              <a:srgbClr val="202020"/>
            </a:solidFill>
            <a:prstDash val="solid"/>
          </a:ln>
        </p:spPr>
      </p:sp>
      <p:sp>
        <p:nvSpPr>
          <p:cNvPr id="140" name="Text 137"/>
          <p:cNvSpPr/>
          <p:nvPr/>
        </p:nvSpPr>
        <p:spPr>
          <a:xfrm>
            <a:off x="601200" y="7131600"/>
            <a:ext cx="2739600" cy="352800"/>
          </a:xfrm>
          <a:prstGeom prst="rect">
            <a:avLst/>
          </a:prstGeom>
          <a:noFill/>
          <a:ln/>
        </p:spPr>
        <p:txBody>
          <a:bodyPr wrap="square" lIns="0" tIns="0" rIns="0" bIns="0" rtlCol="0" anchor="ctr"/>
          <a:lstStyle/>
          <a:p>
            <a:pPr algn="l" indent="0" marL="0">
              <a:buNone/>
            </a:pPr>
            <a:r>
              <a:rPr lang="en-US" sz="950" dirty="0">
                <a:solidFill>
                  <a:srgbClr val="FFFFFF"/>
                </a:solidFill>
                <a:latin typeface="Aptos" pitchFamily="34" charset="0"/>
                <a:ea typeface="Aptos" pitchFamily="34" charset="-122"/>
                <a:cs typeface="Aptos" pitchFamily="34" charset="-120"/>
              </a:rPr>
              <a:t>Estimatif de l’aide des CEE (Certificats d’Economies d’Energie)</a:t>
            </a:r>
            <a:endParaRPr lang="en-US" sz="950" dirty="0"/>
          </a:p>
        </p:txBody>
      </p:sp>
      <p:sp>
        <p:nvSpPr>
          <p:cNvPr id="141" name="Shape 138"/>
          <p:cNvSpPr/>
          <p:nvPr/>
        </p:nvSpPr>
        <p:spPr>
          <a:xfrm>
            <a:off x="3402000" y="7092000"/>
            <a:ext cx="900000" cy="432000"/>
          </a:xfrm>
          <a:prstGeom prst="rect">
            <a:avLst/>
          </a:prstGeom>
          <a:solidFill>
            <a:srgbClr val="FFFFFF"/>
          </a:solidFill>
          <a:ln w="6985">
            <a:solidFill>
              <a:srgbClr val="202020"/>
            </a:solidFill>
            <a:prstDash val="solid"/>
          </a:ln>
        </p:spPr>
      </p:sp>
      <p:sp>
        <p:nvSpPr>
          <p:cNvPr id="142" name="Text 139"/>
          <p:cNvSpPr/>
          <p:nvPr/>
        </p:nvSpPr>
        <p:spPr>
          <a:xfrm>
            <a:off x="3463200" y="7131600"/>
            <a:ext cx="777600" cy="352800"/>
          </a:xfrm>
          <a:prstGeom prst="rect">
            <a:avLst/>
          </a:prstGeom>
          <a:noFill/>
          <a:ln/>
        </p:spPr>
        <p:txBody>
          <a:bodyPr wrap="square" lIns="0" tIns="0" rIns="0" bIns="0" rtlCol="0" anchor="ctr"/>
          <a:lstStyle/>
          <a:p>
            <a:pPr algn="l" indent="0" marL="0">
              <a:buNone/>
            </a:pPr>
            <a:endParaRPr lang="en-US" sz="950" dirty="0"/>
          </a:p>
        </p:txBody>
      </p:sp>
      <p:sp>
        <p:nvSpPr>
          <p:cNvPr id="143" name="Shape 140"/>
          <p:cNvSpPr/>
          <p:nvPr/>
        </p:nvSpPr>
        <p:spPr>
          <a:xfrm>
            <a:off x="4302000" y="7092000"/>
            <a:ext cx="900000" cy="432000"/>
          </a:xfrm>
          <a:prstGeom prst="rect">
            <a:avLst/>
          </a:prstGeom>
          <a:solidFill>
            <a:srgbClr val="FFFFFF"/>
          </a:solidFill>
          <a:ln w="6985">
            <a:solidFill>
              <a:srgbClr val="202020"/>
            </a:solidFill>
            <a:prstDash val="solid"/>
          </a:ln>
        </p:spPr>
      </p:sp>
      <p:sp>
        <p:nvSpPr>
          <p:cNvPr id="144" name="Text 141"/>
          <p:cNvSpPr/>
          <p:nvPr/>
        </p:nvSpPr>
        <p:spPr>
          <a:xfrm>
            <a:off x="4363200" y="7131600"/>
            <a:ext cx="777600" cy="352800"/>
          </a:xfrm>
          <a:prstGeom prst="rect">
            <a:avLst/>
          </a:prstGeom>
          <a:noFill/>
          <a:ln/>
        </p:spPr>
        <p:txBody>
          <a:bodyPr wrap="square" lIns="0" tIns="0" rIns="0" bIns="0" rtlCol="0" anchor="ctr"/>
          <a:lstStyle/>
          <a:p>
            <a:pPr algn="l" indent="0" marL="0">
              <a:buNone/>
            </a:pPr>
            <a:endParaRPr lang="en-US" sz="950" dirty="0"/>
          </a:p>
        </p:txBody>
      </p:sp>
      <p:sp>
        <p:nvSpPr>
          <p:cNvPr id="145" name="Shape 142"/>
          <p:cNvSpPr/>
          <p:nvPr/>
        </p:nvSpPr>
        <p:spPr>
          <a:xfrm>
            <a:off x="5202000" y="7092000"/>
            <a:ext cx="900000" cy="432000"/>
          </a:xfrm>
          <a:prstGeom prst="rect">
            <a:avLst/>
          </a:prstGeom>
          <a:solidFill>
            <a:srgbClr val="FFFFFF"/>
          </a:solidFill>
          <a:ln w="6985">
            <a:solidFill>
              <a:srgbClr val="202020"/>
            </a:solidFill>
            <a:prstDash val="solid"/>
          </a:ln>
        </p:spPr>
      </p:sp>
      <p:sp>
        <p:nvSpPr>
          <p:cNvPr id="146" name="Text 143"/>
          <p:cNvSpPr/>
          <p:nvPr/>
        </p:nvSpPr>
        <p:spPr>
          <a:xfrm>
            <a:off x="5263200" y="7131600"/>
            <a:ext cx="777600" cy="352800"/>
          </a:xfrm>
          <a:prstGeom prst="rect">
            <a:avLst/>
          </a:prstGeom>
          <a:noFill/>
          <a:ln/>
        </p:spPr>
        <p:txBody>
          <a:bodyPr wrap="square" lIns="0" tIns="0" rIns="0" bIns="0" rtlCol="0" anchor="ctr"/>
          <a:lstStyle/>
          <a:p>
            <a:pPr algn="l" indent="0" marL="0">
              <a:buNone/>
            </a:pPr>
            <a:endParaRPr lang="en-US" sz="950" dirty="0"/>
          </a:p>
        </p:txBody>
      </p:sp>
      <p:sp>
        <p:nvSpPr>
          <p:cNvPr id="147" name="Shape 144"/>
          <p:cNvSpPr/>
          <p:nvPr/>
        </p:nvSpPr>
        <p:spPr>
          <a:xfrm>
            <a:off x="6102000" y="7092000"/>
            <a:ext cx="918000" cy="432000"/>
          </a:xfrm>
          <a:prstGeom prst="rect">
            <a:avLst/>
          </a:prstGeom>
          <a:solidFill>
            <a:srgbClr val="FFFFFF"/>
          </a:solidFill>
          <a:ln w="6985">
            <a:solidFill>
              <a:srgbClr val="202020"/>
            </a:solidFill>
            <a:prstDash val="solid"/>
          </a:ln>
        </p:spPr>
      </p:sp>
      <p:sp>
        <p:nvSpPr>
          <p:cNvPr id="148" name="Text 145"/>
          <p:cNvSpPr/>
          <p:nvPr/>
        </p:nvSpPr>
        <p:spPr>
          <a:xfrm>
            <a:off x="6163200" y="7131600"/>
            <a:ext cx="795600" cy="352800"/>
          </a:xfrm>
          <a:prstGeom prst="rect">
            <a:avLst/>
          </a:prstGeom>
          <a:noFill/>
          <a:ln/>
        </p:spPr>
        <p:txBody>
          <a:bodyPr wrap="square" lIns="0" tIns="0" rIns="0" bIns="0" rtlCol="0" anchor="ctr"/>
          <a:lstStyle/>
          <a:p>
            <a:pPr algn="l" indent="0" marL="0">
              <a:buNone/>
            </a:pPr>
            <a:endParaRPr lang="en-US" sz="9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35</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6.3 Synthèse des curatifs</a:t>
            </a:r>
            <a:endParaRPr lang="en-US" sz="1300" dirty="0"/>
          </a:p>
        </p:txBody>
      </p:sp>
      <p:sp>
        <p:nvSpPr>
          <p:cNvPr id="8" name="Text 5"/>
          <p:cNvSpPr/>
          <p:nvPr/>
        </p:nvSpPr>
        <p:spPr>
          <a:xfrm>
            <a:off x="648000" y="1710000"/>
            <a:ext cx="6264000" cy="10584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présent Projet de Plan Pluriannuel de Travaux (PPPT) constitue une synthèse des désordres, défauts d’entretien et besoins de travaux identifiés lors de l’inspection visuelle des parties communes et des équipements collectifs de la copropriété. Il a pour objectif d’accompagner le syndicat des copropriétaires dans la planification des interventions nécessaires à la conservation du patrimoine, à la sécurité des occupants et au maintien du bon fonctionnement des équipements communs.</a:t>
            </a:r>
            <a:endParaRPr lang="en-US" sz="1000" dirty="0"/>
          </a:p>
        </p:txBody>
      </p:sp>
      <p:sp>
        <p:nvSpPr>
          <p:cNvPr id="9" name="Text 6"/>
          <p:cNvSpPr/>
          <p:nvPr/>
        </p:nvSpPr>
        <p:spPr>
          <a:xfrm>
            <a:off x="648000" y="28764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Les travaux recensés ont été analysés et hiérarchisés en fonction de leur niveau de priorité, de leur impact sur le bâtiment et des risques associés à leur absence de réalisation. Cette hiérarchisation permet d’établir une programmation cohérente des interventions sur les dix prochaines années et d’anticiper les investissements nécessaires.</a:t>
            </a:r>
            <a:endParaRPr lang="en-US" sz="1000" dirty="0"/>
          </a:p>
        </p:txBody>
      </p:sp>
      <p:sp>
        <p:nvSpPr>
          <p:cNvPr id="10" name="Text 7"/>
          <p:cNvSpPr/>
          <p:nvPr/>
        </p:nvSpPr>
        <p:spPr>
          <a:xfrm>
            <a:off x="648000" y="3711600"/>
            <a:ext cx="6264000" cy="5616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Afin de distinguer les travaux relevant de la conservation du bâtiment de ceux visant à améliorer sa performance énergétique, les préconisations ont été réparties en deux tableaux récapitulatifs distincts :</a:t>
            </a:r>
            <a:endParaRPr lang="en-US" sz="1000" dirty="0"/>
          </a:p>
        </p:txBody>
      </p:sp>
      <p:sp>
        <p:nvSpPr>
          <p:cNvPr id="11" name="Text 8"/>
          <p:cNvSpPr/>
          <p:nvPr/>
        </p:nvSpPr>
        <p:spPr>
          <a:xfrm>
            <a:off x="648000" y="4381200"/>
            <a:ext cx="6264000" cy="2304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  Tableau 1 : Travaux curatifs</a:t>
            </a:r>
            <a:endParaRPr lang="en-US" sz="1000" dirty="0"/>
          </a:p>
        </p:txBody>
      </p:sp>
      <p:sp>
        <p:nvSpPr>
          <p:cNvPr id="12" name="Text 9"/>
          <p:cNvSpPr/>
          <p:nvPr/>
        </p:nvSpPr>
        <p:spPr>
          <a:xfrm>
            <a:off x="648000" y="47016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Ce tableau regroupe l’ensemble des travaux de réparation, de remise en état, de sécurisation, de remplacement d’équipements vétustes et de conservation du patrimoine. Les interventions sont classées selon trois niveaux de priorité (Niveaux 1 à 3) en fonction de leur degré d’urgence et de leur impact sur le bâti et ses occupants.</a:t>
            </a:r>
            <a:endParaRPr lang="en-US" sz="1000" dirty="0"/>
          </a:p>
        </p:txBody>
      </p:sp>
      <p:sp>
        <p:nvSpPr>
          <p:cNvPr id="13" name="Text 10"/>
          <p:cNvSpPr/>
          <p:nvPr/>
        </p:nvSpPr>
        <p:spPr>
          <a:xfrm>
            <a:off x="648000" y="5608800"/>
            <a:ext cx="6264000" cy="2304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  Tableau 2 : Travaux d’amélioration énergétique</a:t>
            </a:r>
            <a:endParaRPr lang="en-US" sz="1000" dirty="0"/>
          </a:p>
        </p:txBody>
      </p:sp>
      <p:sp>
        <p:nvSpPr>
          <p:cNvPr id="14" name="Text 11"/>
          <p:cNvSpPr/>
          <p:nvPr/>
        </p:nvSpPr>
        <p:spPr>
          <a:xfrm>
            <a:off x="648000" y="59292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Ce tableau présente les travaux susceptibles d’améliorer la performance énergétique de l’immeuble, de réduire les consommations d’énergie et d’accroître le confort thermique des occupants. Ces préconisations sont issues de l’analyse énergétique réalisée dans le cadre du PPPT et constituent des pistes d’amélioration indépendantes des travaux curatifs précédemment identifiés.</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36</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Tableau 1 – Tableau récapitulatif des travaux curatifs</a:t>
            </a:r>
            <a:endParaRPr lang="en-US" sz="1300" dirty="0"/>
          </a:p>
        </p:txBody>
      </p:sp>
      <p:sp>
        <p:nvSpPr>
          <p:cNvPr id="8" name="Shape 5"/>
          <p:cNvSpPr/>
          <p:nvPr/>
        </p:nvSpPr>
        <p:spPr>
          <a:xfrm>
            <a:off x="540000" y="1710000"/>
            <a:ext cx="684000" cy="792000"/>
          </a:xfrm>
          <a:prstGeom prst="rect">
            <a:avLst/>
          </a:prstGeom>
          <a:solidFill>
            <a:srgbClr val="176181"/>
          </a:solidFill>
          <a:ln w="6985">
            <a:solidFill>
              <a:srgbClr val="202020"/>
            </a:solidFill>
            <a:prstDash val="solid"/>
          </a:ln>
        </p:spPr>
      </p:sp>
      <p:sp>
        <p:nvSpPr>
          <p:cNvPr id="9" name="Text 6"/>
          <p:cNvSpPr/>
          <p:nvPr/>
        </p:nvSpPr>
        <p:spPr>
          <a:xfrm>
            <a:off x="601200" y="1749600"/>
            <a:ext cx="561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Niveau</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du curatif</a:t>
            </a:r>
            <a:endParaRPr lang="en-US" sz="950" dirty="0"/>
          </a:p>
        </p:txBody>
      </p:sp>
      <p:sp>
        <p:nvSpPr>
          <p:cNvPr id="10" name="Shape 7"/>
          <p:cNvSpPr/>
          <p:nvPr/>
        </p:nvSpPr>
        <p:spPr>
          <a:xfrm>
            <a:off x="1224000" y="1710000"/>
            <a:ext cx="720000" cy="792000"/>
          </a:xfrm>
          <a:prstGeom prst="rect">
            <a:avLst/>
          </a:prstGeom>
          <a:solidFill>
            <a:srgbClr val="176181"/>
          </a:solidFill>
          <a:ln w="6985">
            <a:solidFill>
              <a:srgbClr val="202020"/>
            </a:solidFill>
            <a:prstDash val="solid"/>
          </a:ln>
        </p:spPr>
      </p:sp>
      <p:sp>
        <p:nvSpPr>
          <p:cNvPr id="11" name="Text 8"/>
          <p:cNvSpPr/>
          <p:nvPr/>
        </p:nvSpPr>
        <p:spPr>
          <a:xfrm>
            <a:off x="1285200" y="1749600"/>
            <a:ext cx="597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Numéro</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du curatif</a:t>
            </a:r>
            <a:endParaRPr lang="en-US" sz="950" dirty="0"/>
          </a:p>
        </p:txBody>
      </p:sp>
      <p:sp>
        <p:nvSpPr>
          <p:cNvPr id="12" name="Shape 9"/>
          <p:cNvSpPr/>
          <p:nvPr/>
        </p:nvSpPr>
        <p:spPr>
          <a:xfrm>
            <a:off x="1944000" y="1710000"/>
            <a:ext cx="2160000" cy="792000"/>
          </a:xfrm>
          <a:prstGeom prst="rect">
            <a:avLst/>
          </a:prstGeom>
          <a:solidFill>
            <a:srgbClr val="176181"/>
          </a:solidFill>
          <a:ln w="6985">
            <a:solidFill>
              <a:srgbClr val="202020"/>
            </a:solidFill>
            <a:prstDash val="solid"/>
          </a:ln>
        </p:spPr>
      </p:sp>
      <p:sp>
        <p:nvSpPr>
          <p:cNvPr id="13" name="Text 10"/>
          <p:cNvSpPr/>
          <p:nvPr/>
        </p:nvSpPr>
        <p:spPr>
          <a:xfrm>
            <a:off x="2005200" y="1749600"/>
            <a:ext cx="2037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Nature de travaux</a:t>
            </a:r>
            <a:endParaRPr lang="en-US" sz="950" dirty="0"/>
          </a:p>
        </p:txBody>
      </p:sp>
      <p:sp>
        <p:nvSpPr>
          <p:cNvPr id="14" name="Shape 11"/>
          <p:cNvSpPr/>
          <p:nvPr/>
        </p:nvSpPr>
        <p:spPr>
          <a:xfrm>
            <a:off x="4104000" y="1710000"/>
            <a:ext cx="756000" cy="792000"/>
          </a:xfrm>
          <a:prstGeom prst="rect">
            <a:avLst/>
          </a:prstGeom>
          <a:solidFill>
            <a:srgbClr val="176181"/>
          </a:solidFill>
          <a:ln w="6985">
            <a:solidFill>
              <a:srgbClr val="202020"/>
            </a:solidFill>
            <a:prstDash val="solid"/>
          </a:ln>
        </p:spPr>
      </p:sp>
      <p:sp>
        <p:nvSpPr>
          <p:cNvPr id="15" name="Text 12"/>
          <p:cNvSpPr/>
          <p:nvPr/>
        </p:nvSpPr>
        <p:spPr>
          <a:xfrm>
            <a:off x="4165200" y="1749600"/>
            <a:ext cx="633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Chiffrage</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(TTC)</a:t>
            </a:r>
            <a:endParaRPr lang="en-US" sz="950" dirty="0"/>
          </a:p>
        </p:txBody>
      </p:sp>
      <p:sp>
        <p:nvSpPr>
          <p:cNvPr id="16" name="Shape 13"/>
          <p:cNvSpPr/>
          <p:nvPr/>
        </p:nvSpPr>
        <p:spPr>
          <a:xfrm>
            <a:off x="4860000" y="1710000"/>
            <a:ext cx="720000" cy="792000"/>
          </a:xfrm>
          <a:prstGeom prst="rect">
            <a:avLst/>
          </a:prstGeom>
          <a:solidFill>
            <a:srgbClr val="176181"/>
          </a:solidFill>
          <a:ln w="6985">
            <a:solidFill>
              <a:srgbClr val="202020"/>
            </a:solidFill>
            <a:prstDash val="solid"/>
          </a:ln>
        </p:spPr>
      </p:sp>
      <p:sp>
        <p:nvSpPr>
          <p:cNvPr id="17" name="Text 14"/>
          <p:cNvSpPr/>
          <p:nvPr/>
        </p:nvSpPr>
        <p:spPr>
          <a:xfrm>
            <a:off x="4921200" y="1749600"/>
            <a:ext cx="597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Curatif</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niveau 1</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(Impact</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fort)</a:t>
            </a:r>
            <a:endParaRPr lang="en-US" sz="950" dirty="0"/>
          </a:p>
        </p:txBody>
      </p:sp>
      <p:sp>
        <p:nvSpPr>
          <p:cNvPr id="18" name="Shape 15"/>
          <p:cNvSpPr/>
          <p:nvPr/>
        </p:nvSpPr>
        <p:spPr>
          <a:xfrm>
            <a:off x="5580000" y="1710000"/>
            <a:ext cx="720000" cy="792000"/>
          </a:xfrm>
          <a:prstGeom prst="rect">
            <a:avLst/>
          </a:prstGeom>
          <a:solidFill>
            <a:srgbClr val="176181"/>
          </a:solidFill>
          <a:ln w="6985">
            <a:solidFill>
              <a:srgbClr val="202020"/>
            </a:solidFill>
            <a:prstDash val="solid"/>
          </a:ln>
        </p:spPr>
      </p:sp>
      <p:sp>
        <p:nvSpPr>
          <p:cNvPr id="19" name="Text 16"/>
          <p:cNvSpPr/>
          <p:nvPr/>
        </p:nvSpPr>
        <p:spPr>
          <a:xfrm>
            <a:off x="5641200" y="1749600"/>
            <a:ext cx="597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Curatif</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niveau 2</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(Impact</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modéré)</a:t>
            </a:r>
            <a:endParaRPr lang="en-US" sz="950" dirty="0"/>
          </a:p>
        </p:txBody>
      </p:sp>
      <p:sp>
        <p:nvSpPr>
          <p:cNvPr id="20" name="Shape 17"/>
          <p:cNvSpPr/>
          <p:nvPr/>
        </p:nvSpPr>
        <p:spPr>
          <a:xfrm>
            <a:off x="6300000" y="1710000"/>
            <a:ext cx="720000" cy="792000"/>
          </a:xfrm>
          <a:prstGeom prst="rect">
            <a:avLst/>
          </a:prstGeom>
          <a:solidFill>
            <a:srgbClr val="176181"/>
          </a:solidFill>
          <a:ln w="6985">
            <a:solidFill>
              <a:srgbClr val="202020"/>
            </a:solidFill>
            <a:prstDash val="solid"/>
          </a:ln>
        </p:spPr>
      </p:sp>
      <p:sp>
        <p:nvSpPr>
          <p:cNvPr id="21" name="Text 18"/>
          <p:cNvSpPr/>
          <p:nvPr/>
        </p:nvSpPr>
        <p:spPr>
          <a:xfrm>
            <a:off x="6361200" y="1749600"/>
            <a:ext cx="597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Curatif</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niveau 3</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(Impact</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faible)</a:t>
            </a:r>
            <a:endParaRPr lang="en-US" sz="950" dirty="0"/>
          </a:p>
        </p:txBody>
      </p:sp>
      <p:sp>
        <p:nvSpPr>
          <p:cNvPr id="22" name="Shape 19"/>
          <p:cNvSpPr/>
          <p:nvPr/>
        </p:nvSpPr>
        <p:spPr>
          <a:xfrm>
            <a:off x="540000" y="2502000"/>
            <a:ext cx="684000" cy="576000"/>
          </a:xfrm>
          <a:prstGeom prst="rect">
            <a:avLst/>
          </a:prstGeom>
          <a:solidFill>
            <a:srgbClr val="D52234"/>
          </a:solidFill>
          <a:ln w="6985">
            <a:solidFill>
              <a:srgbClr val="202020"/>
            </a:solidFill>
            <a:prstDash val="solid"/>
          </a:ln>
        </p:spPr>
      </p:sp>
      <p:sp>
        <p:nvSpPr>
          <p:cNvPr id="23" name="Text 20"/>
          <p:cNvSpPr/>
          <p:nvPr/>
        </p:nvSpPr>
        <p:spPr>
          <a:xfrm>
            <a:off x="601200" y="2541600"/>
            <a:ext cx="561600" cy="496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C1</a:t>
            </a:r>
            <a:endParaRPr lang="en-US" sz="900" dirty="0"/>
          </a:p>
        </p:txBody>
      </p:sp>
      <p:sp>
        <p:nvSpPr>
          <p:cNvPr id="24" name="Shape 21"/>
          <p:cNvSpPr/>
          <p:nvPr/>
        </p:nvSpPr>
        <p:spPr>
          <a:xfrm>
            <a:off x="1224000" y="2502000"/>
            <a:ext cx="720000" cy="576000"/>
          </a:xfrm>
          <a:prstGeom prst="rect">
            <a:avLst/>
          </a:prstGeom>
          <a:solidFill>
            <a:srgbClr val="F6A5A8"/>
          </a:solidFill>
          <a:ln w="6985">
            <a:solidFill>
              <a:srgbClr val="202020"/>
            </a:solidFill>
            <a:prstDash val="solid"/>
          </a:ln>
        </p:spPr>
      </p:sp>
      <p:sp>
        <p:nvSpPr>
          <p:cNvPr id="25" name="Text 22"/>
          <p:cNvSpPr/>
          <p:nvPr/>
        </p:nvSpPr>
        <p:spPr>
          <a:xfrm>
            <a:off x="1285200" y="2541600"/>
            <a:ext cx="597600" cy="4968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1</a:t>
            </a:r>
            <a:endParaRPr lang="en-US" sz="950" dirty="0"/>
          </a:p>
        </p:txBody>
      </p:sp>
      <p:sp>
        <p:nvSpPr>
          <p:cNvPr id="26" name="Shape 23"/>
          <p:cNvSpPr/>
          <p:nvPr/>
        </p:nvSpPr>
        <p:spPr>
          <a:xfrm>
            <a:off x="1944000" y="2502000"/>
            <a:ext cx="2160000" cy="576000"/>
          </a:xfrm>
          <a:prstGeom prst="rect">
            <a:avLst/>
          </a:prstGeom>
          <a:solidFill>
            <a:srgbClr val="F6A5A8"/>
          </a:solidFill>
          <a:ln w="6985">
            <a:solidFill>
              <a:srgbClr val="202020"/>
            </a:solidFill>
            <a:prstDash val="solid"/>
          </a:ln>
        </p:spPr>
      </p:sp>
      <p:sp>
        <p:nvSpPr>
          <p:cNvPr id="27" name="Text 24"/>
          <p:cNvSpPr/>
          <p:nvPr/>
        </p:nvSpPr>
        <p:spPr>
          <a:xfrm>
            <a:off x="2005200" y="2541600"/>
            <a:ext cx="2037600" cy="496800"/>
          </a:xfrm>
          <a:prstGeom prst="rect">
            <a:avLst/>
          </a:prstGeom>
          <a:noFill/>
          <a:ln/>
        </p:spPr>
        <p:txBody>
          <a:bodyPr wrap="square" lIns="0" tIns="0" rIns="0" bIns="0" rtlCol="0" anchor="ctr"/>
          <a:lstStyle/>
          <a:p>
            <a:pPr algn="l" indent="0" marL="0">
              <a:buNone/>
            </a:pPr>
            <a:r>
              <a:rPr lang="en-US" sz="950" dirty="0">
                <a:solidFill>
                  <a:srgbClr val="1C1C1C"/>
                </a:solidFill>
                <a:latin typeface="Aptos" pitchFamily="34" charset="0"/>
                <a:ea typeface="Aptos" pitchFamily="34" charset="-122"/>
                <a:cs typeface="Aptos" pitchFamily="34" charset="-120"/>
              </a:rPr>
              <a:t>Intervention curative-1.</a:t>
            </a:r>
            <a:endParaRPr lang="en-US" sz="950" dirty="0"/>
          </a:p>
        </p:txBody>
      </p:sp>
      <p:sp>
        <p:nvSpPr>
          <p:cNvPr id="28" name="Shape 25"/>
          <p:cNvSpPr/>
          <p:nvPr/>
        </p:nvSpPr>
        <p:spPr>
          <a:xfrm>
            <a:off x="4104000" y="2502000"/>
            <a:ext cx="756000" cy="576000"/>
          </a:xfrm>
          <a:prstGeom prst="rect">
            <a:avLst/>
          </a:prstGeom>
          <a:solidFill>
            <a:srgbClr val="F6A5A8"/>
          </a:solidFill>
          <a:ln w="6985">
            <a:solidFill>
              <a:srgbClr val="202020"/>
            </a:solidFill>
            <a:prstDash val="solid"/>
          </a:ln>
        </p:spPr>
      </p:sp>
      <p:sp>
        <p:nvSpPr>
          <p:cNvPr id="29" name="Text 26"/>
          <p:cNvSpPr/>
          <p:nvPr/>
        </p:nvSpPr>
        <p:spPr>
          <a:xfrm>
            <a:off x="4165200" y="2541600"/>
            <a:ext cx="633600" cy="4968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1 250 €</a:t>
            </a:r>
            <a:endParaRPr lang="en-US" sz="950" dirty="0"/>
          </a:p>
        </p:txBody>
      </p:sp>
      <p:sp>
        <p:nvSpPr>
          <p:cNvPr id="30" name="Shape 27"/>
          <p:cNvSpPr/>
          <p:nvPr/>
        </p:nvSpPr>
        <p:spPr>
          <a:xfrm>
            <a:off x="4860000" y="2502000"/>
            <a:ext cx="720000" cy="576000"/>
          </a:xfrm>
          <a:prstGeom prst="rect">
            <a:avLst/>
          </a:prstGeom>
          <a:solidFill>
            <a:srgbClr val="F6A5A8"/>
          </a:solidFill>
          <a:ln w="6985">
            <a:solidFill>
              <a:srgbClr val="202020"/>
            </a:solidFill>
            <a:prstDash val="solid"/>
          </a:ln>
        </p:spPr>
      </p:sp>
      <p:sp>
        <p:nvSpPr>
          <p:cNvPr id="31" name="Text 28"/>
          <p:cNvSpPr/>
          <p:nvPr/>
        </p:nvSpPr>
        <p:spPr>
          <a:xfrm>
            <a:off x="4921200" y="2541600"/>
            <a:ext cx="597600" cy="496800"/>
          </a:xfrm>
          <a:prstGeom prst="rect">
            <a:avLst/>
          </a:prstGeom>
          <a:noFill/>
          <a:ln/>
        </p:spPr>
        <p:txBody>
          <a:bodyPr wrap="square" lIns="0" tIns="0" rIns="0" bIns="0" rtlCol="0" anchor="ctr"/>
          <a:lstStyle/>
          <a:p>
            <a:pPr algn="ctr" indent="0" marL="0">
              <a:buNone/>
            </a:pPr>
            <a:r>
              <a:rPr lang="en-US" sz="1100" b="1" dirty="0">
                <a:solidFill>
                  <a:srgbClr val="1C1C1C"/>
                </a:solidFill>
                <a:latin typeface="Aptos" pitchFamily="34" charset="0"/>
                <a:ea typeface="Aptos" pitchFamily="34" charset="-122"/>
                <a:cs typeface="Aptos" pitchFamily="34" charset="-120"/>
              </a:rPr>
              <a:t>✓</a:t>
            </a:r>
            <a:endParaRPr lang="en-US" sz="1100" dirty="0"/>
          </a:p>
        </p:txBody>
      </p:sp>
      <p:sp>
        <p:nvSpPr>
          <p:cNvPr id="32" name="Shape 29"/>
          <p:cNvSpPr/>
          <p:nvPr/>
        </p:nvSpPr>
        <p:spPr>
          <a:xfrm>
            <a:off x="5580000" y="2502000"/>
            <a:ext cx="720000" cy="576000"/>
          </a:xfrm>
          <a:prstGeom prst="rect">
            <a:avLst/>
          </a:prstGeom>
          <a:solidFill>
            <a:srgbClr val="F6A5A8"/>
          </a:solidFill>
          <a:ln w="6985">
            <a:solidFill>
              <a:srgbClr val="202020"/>
            </a:solidFill>
            <a:prstDash val="solid"/>
          </a:ln>
        </p:spPr>
      </p:sp>
      <p:sp>
        <p:nvSpPr>
          <p:cNvPr id="33" name="Text 30"/>
          <p:cNvSpPr/>
          <p:nvPr/>
        </p:nvSpPr>
        <p:spPr>
          <a:xfrm>
            <a:off x="5641200" y="2541600"/>
            <a:ext cx="597600" cy="496800"/>
          </a:xfrm>
          <a:prstGeom prst="rect">
            <a:avLst/>
          </a:prstGeom>
          <a:noFill/>
          <a:ln/>
        </p:spPr>
        <p:txBody>
          <a:bodyPr wrap="square" lIns="0" tIns="0" rIns="0" bIns="0" rtlCol="0" anchor="ctr"/>
          <a:lstStyle/>
          <a:p>
            <a:pPr algn="ctr" indent="0" marL="0">
              <a:buNone/>
            </a:pPr>
            <a:endParaRPr lang="en-US" sz="1100" dirty="0"/>
          </a:p>
        </p:txBody>
      </p:sp>
      <p:sp>
        <p:nvSpPr>
          <p:cNvPr id="34" name="Shape 31"/>
          <p:cNvSpPr/>
          <p:nvPr/>
        </p:nvSpPr>
        <p:spPr>
          <a:xfrm>
            <a:off x="6300000" y="2502000"/>
            <a:ext cx="720000" cy="576000"/>
          </a:xfrm>
          <a:prstGeom prst="rect">
            <a:avLst/>
          </a:prstGeom>
          <a:solidFill>
            <a:srgbClr val="F6A5A8"/>
          </a:solidFill>
          <a:ln w="6985">
            <a:solidFill>
              <a:srgbClr val="202020"/>
            </a:solidFill>
            <a:prstDash val="solid"/>
          </a:ln>
        </p:spPr>
      </p:sp>
      <p:sp>
        <p:nvSpPr>
          <p:cNvPr id="35" name="Text 32"/>
          <p:cNvSpPr/>
          <p:nvPr/>
        </p:nvSpPr>
        <p:spPr>
          <a:xfrm>
            <a:off x="6361200" y="2541600"/>
            <a:ext cx="597600" cy="496800"/>
          </a:xfrm>
          <a:prstGeom prst="rect">
            <a:avLst/>
          </a:prstGeom>
          <a:noFill/>
          <a:ln/>
        </p:spPr>
        <p:txBody>
          <a:bodyPr wrap="square" lIns="0" tIns="0" rIns="0" bIns="0" rtlCol="0" anchor="ctr"/>
          <a:lstStyle/>
          <a:p>
            <a:pPr algn="ctr" indent="0" marL="0">
              <a:buNone/>
            </a:pPr>
            <a:endParaRPr lang="en-US" sz="1100" dirty="0"/>
          </a:p>
        </p:txBody>
      </p:sp>
      <p:sp>
        <p:nvSpPr>
          <p:cNvPr id="36" name="Shape 33"/>
          <p:cNvSpPr/>
          <p:nvPr/>
        </p:nvSpPr>
        <p:spPr>
          <a:xfrm>
            <a:off x="540000" y="3078000"/>
            <a:ext cx="684000" cy="576000"/>
          </a:xfrm>
          <a:prstGeom prst="rect">
            <a:avLst/>
          </a:prstGeom>
          <a:solidFill>
            <a:srgbClr val="F97316"/>
          </a:solidFill>
          <a:ln w="6985">
            <a:solidFill>
              <a:srgbClr val="202020"/>
            </a:solidFill>
            <a:prstDash val="solid"/>
          </a:ln>
        </p:spPr>
      </p:sp>
      <p:sp>
        <p:nvSpPr>
          <p:cNvPr id="37" name="Text 34"/>
          <p:cNvSpPr/>
          <p:nvPr/>
        </p:nvSpPr>
        <p:spPr>
          <a:xfrm>
            <a:off x="601200" y="3117600"/>
            <a:ext cx="561600" cy="496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C2</a:t>
            </a:r>
            <a:endParaRPr lang="en-US" sz="900" dirty="0"/>
          </a:p>
        </p:txBody>
      </p:sp>
      <p:sp>
        <p:nvSpPr>
          <p:cNvPr id="38" name="Shape 35"/>
          <p:cNvSpPr/>
          <p:nvPr/>
        </p:nvSpPr>
        <p:spPr>
          <a:xfrm>
            <a:off x="1224000" y="3078000"/>
            <a:ext cx="720000" cy="576000"/>
          </a:xfrm>
          <a:prstGeom prst="rect">
            <a:avLst/>
          </a:prstGeom>
          <a:solidFill>
            <a:srgbClr val="FBD3A9"/>
          </a:solidFill>
          <a:ln w="6985">
            <a:solidFill>
              <a:srgbClr val="202020"/>
            </a:solidFill>
            <a:prstDash val="solid"/>
          </a:ln>
        </p:spPr>
      </p:sp>
      <p:sp>
        <p:nvSpPr>
          <p:cNvPr id="39" name="Text 36"/>
          <p:cNvSpPr/>
          <p:nvPr/>
        </p:nvSpPr>
        <p:spPr>
          <a:xfrm>
            <a:off x="1285200" y="3117600"/>
            <a:ext cx="597600" cy="4968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2</a:t>
            </a:r>
            <a:endParaRPr lang="en-US" sz="950" dirty="0"/>
          </a:p>
        </p:txBody>
      </p:sp>
      <p:sp>
        <p:nvSpPr>
          <p:cNvPr id="40" name="Shape 37"/>
          <p:cNvSpPr/>
          <p:nvPr/>
        </p:nvSpPr>
        <p:spPr>
          <a:xfrm>
            <a:off x="1944000" y="3078000"/>
            <a:ext cx="2160000" cy="576000"/>
          </a:xfrm>
          <a:prstGeom prst="rect">
            <a:avLst/>
          </a:prstGeom>
          <a:solidFill>
            <a:srgbClr val="FBD3A9"/>
          </a:solidFill>
          <a:ln w="6985">
            <a:solidFill>
              <a:srgbClr val="202020"/>
            </a:solidFill>
            <a:prstDash val="solid"/>
          </a:ln>
        </p:spPr>
      </p:sp>
      <p:sp>
        <p:nvSpPr>
          <p:cNvPr id="41" name="Text 38"/>
          <p:cNvSpPr/>
          <p:nvPr/>
        </p:nvSpPr>
        <p:spPr>
          <a:xfrm>
            <a:off x="2005200" y="3117600"/>
            <a:ext cx="2037600" cy="496800"/>
          </a:xfrm>
          <a:prstGeom prst="rect">
            <a:avLst/>
          </a:prstGeom>
          <a:noFill/>
          <a:ln/>
        </p:spPr>
        <p:txBody>
          <a:bodyPr wrap="square" lIns="0" tIns="0" rIns="0" bIns="0" rtlCol="0" anchor="ctr"/>
          <a:lstStyle/>
          <a:p>
            <a:pPr algn="l" indent="0" marL="0">
              <a:buNone/>
            </a:pPr>
            <a:r>
              <a:rPr lang="en-US" sz="950" dirty="0">
                <a:solidFill>
                  <a:srgbClr val="1C1C1C"/>
                </a:solidFill>
                <a:latin typeface="Aptos" pitchFamily="34" charset="0"/>
                <a:ea typeface="Aptos" pitchFamily="34" charset="-122"/>
                <a:cs typeface="Aptos" pitchFamily="34" charset="-120"/>
              </a:rPr>
              <a:t>Intervention curative-2.</a:t>
            </a:r>
            <a:endParaRPr lang="en-US" sz="950" dirty="0"/>
          </a:p>
        </p:txBody>
      </p:sp>
      <p:sp>
        <p:nvSpPr>
          <p:cNvPr id="42" name="Shape 39"/>
          <p:cNvSpPr/>
          <p:nvPr/>
        </p:nvSpPr>
        <p:spPr>
          <a:xfrm>
            <a:off x="4104000" y="3078000"/>
            <a:ext cx="756000" cy="576000"/>
          </a:xfrm>
          <a:prstGeom prst="rect">
            <a:avLst/>
          </a:prstGeom>
          <a:solidFill>
            <a:srgbClr val="FBD3A9"/>
          </a:solidFill>
          <a:ln w="6985">
            <a:solidFill>
              <a:srgbClr val="202020"/>
            </a:solidFill>
            <a:prstDash val="solid"/>
          </a:ln>
        </p:spPr>
      </p:sp>
      <p:sp>
        <p:nvSpPr>
          <p:cNvPr id="43" name="Text 40"/>
          <p:cNvSpPr/>
          <p:nvPr/>
        </p:nvSpPr>
        <p:spPr>
          <a:xfrm>
            <a:off x="4165200" y="3117600"/>
            <a:ext cx="633600" cy="4968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1 250 €</a:t>
            </a:r>
            <a:endParaRPr lang="en-US" sz="950" dirty="0"/>
          </a:p>
        </p:txBody>
      </p:sp>
      <p:sp>
        <p:nvSpPr>
          <p:cNvPr id="44" name="Shape 41"/>
          <p:cNvSpPr/>
          <p:nvPr/>
        </p:nvSpPr>
        <p:spPr>
          <a:xfrm>
            <a:off x="4860000" y="3078000"/>
            <a:ext cx="720000" cy="576000"/>
          </a:xfrm>
          <a:prstGeom prst="rect">
            <a:avLst/>
          </a:prstGeom>
          <a:solidFill>
            <a:srgbClr val="FBD3A9"/>
          </a:solidFill>
          <a:ln w="6985">
            <a:solidFill>
              <a:srgbClr val="202020"/>
            </a:solidFill>
            <a:prstDash val="solid"/>
          </a:ln>
        </p:spPr>
      </p:sp>
      <p:sp>
        <p:nvSpPr>
          <p:cNvPr id="45" name="Text 42"/>
          <p:cNvSpPr/>
          <p:nvPr/>
        </p:nvSpPr>
        <p:spPr>
          <a:xfrm>
            <a:off x="4921200" y="3117600"/>
            <a:ext cx="597600" cy="496800"/>
          </a:xfrm>
          <a:prstGeom prst="rect">
            <a:avLst/>
          </a:prstGeom>
          <a:noFill/>
          <a:ln/>
        </p:spPr>
        <p:txBody>
          <a:bodyPr wrap="square" lIns="0" tIns="0" rIns="0" bIns="0" rtlCol="0" anchor="ctr"/>
          <a:lstStyle/>
          <a:p>
            <a:pPr algn="ctr" indent="0" marL="0">
              <a:buNone/>
            </a:pPr>
            <a:endParaRPr lang="en-US" sz="1100" dirty="0"/>
          </a:p>
        </p:txBody>
      </p:sp>
      <p:sp>
        <p:nvSpPr>
          <p:cNvPr id="46" name="Shape 43"/>
          <p:cNvSpPr/>
          <p:nvPr/>
        </p:nvSpPr>
        <p:spPr>
          <a:xfrm>
            <a:off x="5580000" y="3078000"/>
            <a:ext cx="720000" cy="576000"/>
          </a:xfrm>
          <a:prstGeom prst="rect">
            <a:avLst/>
          </a:prstGeom>
          <a:solidFill>
            <a:srgbClr val="FBD3A9"/>
          </a:solidFill>
          <a:ln w="6985">
            <a:solidFill>
              <a:srgbClr val="202020"/>
            </a:solidFill>
            <a:prstDash val="solid"/>
          </a:ln>
        </p:spPr>
      </p:sp>
      <p:sp>
        <p:nvSpPr>
          <p:cNvPr id="47" name="Text 44"/>
          <p:cNvSpPr/>
          <p:nvPr/>
        </p:nvSpPr>
        <p:spPr>
          <a:xfrm>
            <a:off x="5641200" y="3117600"/>
            <a:ext cx="597600" cy="496800"/>
          </a:xfrm>
          <a:prstGeom prst="rect">
            <a:avLst/>
          </a:prstGeom>
          <a:noFill/>
          <a:ln/>
        </p:spPr>
        <p:txBody>
          <a:bodyPr wrap="square" lIns="0" tIns="0" rIns="0" bIns="0" rtlCol="0" anchor="ctr"/>
          <a:lstStyle/>
          <a:p>
            <a:pPr algn="ctr" indent="0" marL="0">
              <a:buNone/>
            </a:pPr>
            <a:r>
              <a:rPr lang="en-US" sz="1100" b="1" dirty="0">
                <a:solidFill>
                  <a:srgbClr val="1C1C1C"/>
                </a:solidFill>
                <a:latin typeface="Aptos" pitchFamily="34" charset="0"/>
                <a:ea typeface="Aptos" pitchFamily="34" charset="-122"/>
                <a:cs typeface="Aptos" pitchFamily="34" charset="-120"/>
              </a:rPr>
              <a:t>✓</a:t>
            </a:r>
            <a:endParaRPr lang="en-US" sz="1100" dirty="0"/>
          </a:p>
        </p:txBody>
      </p:sp>
      <p:sp>
        <p:nvSpPr>
          <p:cNvPr id="48" name="Shape 45"/>
          <p:cNvSpPr/>
          <p:nvPr/>
        </p:nvSpPr>
        <p:spPr>
          <a:xfrm>
            <a:off x="6300000" y="3078000"/>
            <a:ext cx="720000" cy="576000"/>
          </a:xfrm>
          <a:prstGeom prst="rect">
            <a:avLst/>
          </a:prstGeom>
          <a:solidFill>
            <a:srgbClr val="FBD3A9"/>
          </a:solidFill>
          <a:ln w="6985">
            <a:solidFill>
              <a:srgbClr val="202020"/>
            </a:solidFill>
            <a:prstDash val="solid"/>
          </a:ln>
        </p:spPr>
      </p:sp>
      <p:sp>
        <p:nvSpPr>
          <p:cNvPr id="49" name="Text 46"/>
          <p:cNvSpPr/>
          <p:nvPr/>
        </p:nvSpPr>
        <p:spPr>
          <a:xfrm>
            <a:off x="6361200" y="3117600"/>
            <a:ext cx="597600" cy="496800"/>
          </a:xfrm>
          <a:prstGeom prst="rect">
            <a:avLst/>
          </a:prstGeom>
          <a:noFill/>
          <a:ln/>
        </p:spPr>
        <p:txBody>
          <a:bodyPr wrap="square" lIns="0" tIns="0" rIns="0" bIns="0" rtlCol="0" anchor="ctr"/>
          <a:lstStyle/>
          <a:p>
            <a:pPr algn="ctr" indent="0" marL="0">
              <a:buNone/>
            </a:pPr>
            <a:endParaRPr lang="en-US" sz="1100" dirty="0"/>
          </a:p>
        </p:txBody>
      </p:sp>
      <p:sp>
        <p:nvSpPr>
          <p:cNvPr id="50" name="Shape 47"/>
          <p:cNvSpPr/>
          <p:nvPr/>
        </p:nvSpPr>
        <p:spPr>
          <a:xfrm>
            <a:off x="540000" y="3654000"/>
            <a:ext cx="684000" cy="576000"/>
          </a:xfrm>
          <a:prstGeom prst="rect">
            <a:avLst/>
          </a:prstGeom>
          <a:solidFill>
            <a:srgbClr val="00BE84"/>
          </a:solidFill>
          <a:ln w="6985">
            <a:solidFill>
              <a:srgbClr val="202020"/>
            </a:solidFill>
            <a:prstDash val="solid"/>
          </a:ln>
        </p:spPr>
      </p:sp>
      <p:sp>
        <p:nvSpPr>
          <p:cNvPr id="51" name="Text 48"/>
          <p:cNvSpPr/>
          <p:nvPr/>
        </p:nvSpPr>
        <p:spPr>
          <a:xfrm>
            <a:off x="601200" y="3693600"/>
            <a:ext cx="561600" cy="496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C3</a:t>
            </a:r>
            <a:endParaRPr lang="en-US" sz="900" dirty="0"/>
          </a:p>
        </p:txBody>
      </p:sp>
      <p:sp>
        <p:nvSpPr>
          <p:cNvPr id="52" name="Shape 49"/>
          <p:cNvSpPr/>
          <p:nvPr/>
        </p:nvSpPr>
        <p:spPr>
          <a:xfrm>
            <a:off x="1224000" y="3654000"/>
            <a:ext cx="720000" cy="576000"/>
          </a:xfrm>
          <a:prstGeom prst="rect">
            <a:avLst/>
          </a:prstGeom>
          <a:solidFill>
            <a:srgbClr val="C4EDCB"/>
          </a:solidFill>
          <a:ln w="6985">
            <a:solidFill>
              <a:srgbClr val="202020"/>
            </a:solidFill>
            <a:prstDash val="solid"/>
          </a:ln>
        </p:spPr>
      </p:sp>
      <p:sp>
        <p:nvSpPr>
          <p:cNvPr id="53" name="Text 50"/>
          <p:cNvSpPr/>
          <p:nvPr/>
        </p:nvSpPr>
        <p:spPr>
          <a:xfrm>
            <a:off x="1285200" y="3693600"/>
            <a:ext cx="597600" cy="4968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3</a:t>
            </a:r>
            <a:endParaRPr lang="en-US" sz="950" dirty="0"/>
          </a:p>
        </p:txBody>
      </p:sp>
      <p:sp>
        <p:nvSpPr>
          <p:cNvPr id="54" name="Shape 51"/>
          <p:cNvSpPr/>
          <p:nvPr/>
        </p:nvSpPr>
        <p:spPr>
          <a:xfrm>
            <a:off x="1944000" y="3654000"/>
            <a:ext cx="2160000" cy="576000"/>
          </a:xfrm>
          <a:prstGeom prst="rect">
            <a:avLst/>
          </a:prstGeom>
          <a:solidFill>
            <a:srgbClr val="C4EDCB"/>
          </a:solidFill>
          <a:ln w="6985">
            <a:solidFill>
              <a:srgbClr val="202020"/>
            </a:solidFill>
            <a:prstDash val="solid"/>
          </a:ln>
        </p:spPr>
      </p:sp>
      <p:sp>
        <p:nvSpPr>
          <p:cNvPr id="55" name="Text 52"/>
          <p:cNvSpPr/>
          <p:nvPr/>
        </p:nvSpPr>
        <p:spPr>
          <a:xfrm>
            <a:off x="2005200" y="3693600"/>
            <a:ext cx="2037600" cy="496800"/>
          </a:xfrm>
          <a:prstGeom prst="rect">
            <a:avLst/>
          </a:prstGeom>
          <a:noFill/>
          <a:ln/>
        </p:spPr>
        <p:txBody>
          <a:bodyPr wrap="square" lIns="0" tIns="0" rIns="0" bIns="0" rtlCol="0" anchor="ctr"/>
          <a:lstStyle/>
          <a:p>
            <a:pPr algn="l" indent="0" marL="0">
              <a:buNone/>
            </a:pPr>
            <a:r>
              <a:rPr lang="en-US" sz="950" dirty="0">
                <a:solidFill>
                  <a:srgbClr val="1C1C1C"/>
                </a:solidFill>
                <a:latin typeface="Aptos" pitchFamily="34" charset="0"/>
                <a:ea typeface="Aptos" pitchFamily="34" charset="-122"/>
                <a:cs typeface="Aptos" pitchFamily="34" charset="-120"/>
              </a:rPr>
              <a:t>Intervention curative-3.</a:t>
            </a:r>
            <a:endParaRPr lang="en-US" sz="950" dirty="0"/>
          </a:p>
        </p:txBody>
      </p:sp>
      <p:sp>
        <p:nvSpPr>
          <p:cNvPr id="56" name="Shape 53"/>
          <p:cNvSpPr/>
          <p:nvPr/>
        </p:nvSpPr>
        <p:spPr>
          <a:xfrm>
            <a:off x="4104000" y="3654000"/>
            <a:ext cx="756000" cy="576000"/>
          </a:xfrm>
          <a:prstGeom prst="rect">
            <a:avLst/>
          </a:prstGeom>
          <a:solidFill>
            <a:srgbClr val="C4EDCB"/>
          </a:solidFill>
          <a:ln w="6985">
            <a:solidFill>
              <a:srgbClr val="202020"/>
            </a:solidFill>
            <a:prstDash val="solid"/>
          </a:ln>
        </p:spPr>
      </p:sp>
      <p:sp>
        <p:nvSpPr>
          <p:cNvPr id="57" name="Text 54"/>
          <p:cNvSpPr/>
          <p:nvPr/>
        </p:nvSpPr>
        <p:spPr>
          <a:xfrm>
            <a:off x="4165200" y="3693600"/>
            <a:ext cx="633600" cy="4968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1 250 €</a:t>
            </a:r>
            <a:endParaRPr lang="en-US" sz="950" dirty="0"/>
          </a:p>
        </p:txBody>
      </p:sp>
      <p:sp>
        <p:nvSpPr>
          <p:cNvPr id="58" name="Shape 55"/>
          <p:cNvSpPr/>
          <p:nvPr/>
        </p:nvSpPr>
        <p:spPr>
          <a:xfrm>
            <a:off x="4860000" y="3654000"/>
            <a:ext cx="720000" cy="576000"/>
          </a:xfrm>
          <a:prstGeom prst="rect">
            <a:avLst/>
          </a:prstGeom>
          <a:solidFill>
            <a:srgbClr val="C4EDCB"/>
          </a:solidFill>
          <a:ln w="6985">
            <a:solidFill>
              <a:srgbClr val="202020"/>
            </a:solidFill>
            <a:prstDash val="solid"/>
          </a:ln>
        </p:spPr>
      </p:sp>
      <p:sp>
        <p:nvSpPr>
          <p:cNvPr id="59" name="Text 56"/>
          <p:cNvSpPr/>
          <p:nvPr/>
        </p:nvSpPr>
        <p:spPr>
          <a:xfrm>
            <a:off x="4921200" y="3693600"/>
            <a:ext cx="597600" cy="496800"/>
          </a:xfrm>
          <a:prstGeom prst="rect">
            <a:avLst/>
          </a:prstGeom>
          <a:noFill/>
          <a:ln/>
        </p:spPr>
        <p:txBody>
          <a:bodyPr wrap="square" lIns="0" tIns="0" rIns="0" bIns="0" rtlCol="0" anchor="ctr"/>
          <a:lstStyle/>
          <a:p>
            <a:pPr algn="ctr" indent="0" marL="0">
              <a:buNone/>
            </a:pPr>
            <a:endParaRPr lang="en-US" sz="1100" dirty="0"/>
          </a:p>
        </p:txBody>
      </p:sp>
      <p:sp>
        <p:nvSpPr>
          <p:cNvPr id="60" name="Shape 57"/>
          <p:cNvSpPr/>
          <p:nvPr/>
        </p:nvSpPr>
        <p:spPr>
          <a:xfrm>
            <a:off x="5580000" y="3654000"/>
            <a:ext cx="720000" cy="576000"/>
          </a:xfrm>
          <a:prstGeom prst="rect">
            <a:avLst/>
          </a:prstGeom>
          <a:solidFill>
            <a:srgbClr val="C4EDCB"/>
          </a:solidFill>
          <a:ln w="6985">
            <a:solidFill>
              <a:srgbClr val="202020"/>
            </a:solidFill>
            <a:prstDash val="solid"/>
          </a:ln>
        </p:spPr>
      </p:sp>
      <p:sp>
        <p:nvSpPr>
          <p:cNvPr id="61" name="Text 58"/>
          <p:cNvSpPr/>
          <p:nvPr/>
        </p:nvSpPr>
        <p:spPr>
          <a:xfrm>
            <a:off x="5641200" y="3693600"/>
            <a:ext cx="597600" cy="496800"/>
          </a:xfrm>
          <a:prstGeom prst="rect">
            <a:avLst/>
          </a:prstGeom>
          <a:noFill/>
          <a:ln/>
        </p:spPr>
        <p:txBody>
          <a:bodyPr wrap="square" lIns="0" tIns="0" rIns="0" bIns="0" rtlCol="0" anchor="ctr"/>
          <a:lstStyle/>
          <a:p>
            <a:pPr algn="ctr" indent="0" marL="0">
              <a:buNone/>
            </a:pPr>
            <a:endParaRPr lang="en-US" sz="1100" dirty="0"/>
          </a:p>
        </p:txBody>
      </p:sp>
      <p:sp>
        <p:nvSpPr>
          <p:cNvPr id="62" name="Shape 59"/>
          <p:cNvSpPr/>
          <p:nvPr/>
        </p:nvSpPr>
        <p:spPr>
          <a:xfrm>
            <a:off x="6300000" y="3654000"/>
            <a:ext cx="720000" cy="576000"/>
          </a:xfrm>
          <a:prstGeom prst="rect">
            <a:avLst/>
          </a:prstGeom>
          <a:solidFill>
            <a:srgbClr val="C4EDCB"/>
          </a:solidFill>
          <a:ln w="6985">
            <a:solidFill>
              <a:srgbClr val="202020"/>
            </a:solidFill>
            <a:prstDash val="solid"/>
          </a:ln>
        </p:spPr>
      </p:sp>
      <p:sp>
        <p:nvSpPr>
          <p:cNvPr id="63" name="Text 60"/>
          <p:cNvSpPr/>
          <p:nvPr/>
        </p:nvSpPr>
        <p:spPr>
          <a:xfrm>
            <a:off x="6361200" y="3693600"/>
            <a:ext cx="597600" cy="496800"/>
          </a:xfrm>
          <a:prstGeom prst="rect">
            <a:avLst/>
          </a:prstGeom>
          <a:noFill/>
          <a:ln/>
        </p:spPr>
        <p:txBody>
          <a:bodyPr wrap="square" lIns="0" tIns="0" rIns="0" bIns="0" rtlCol="0" anchor="ctr"/>
          <a:lstStyle/>
          <a:p>
            <a:pPr algn="ctr" indent="0" marL="0">
              <a:buNone/>
            </a:pPr>
            <a:r>
              <a:rPr lang="en-US" sz="1100" b="1" dirty="0">
                <a:solidFill>
                  <a:srgbClr val="1C1C1C"/>
                </a:solidFill>
                <a:latin typeface="Aptos" pitchFamily="34" charset="0"/>
                <a:ea typeface="Aptos" pitchFamily="34" charset="-122"/>
                <a:cs typeface="Aptos" pitchFamily="34" charset="-120"/>
              </a:rPr>
              <a:t>✓</a:t>
            </a:r>
            <a:endParaRPr lang="en-US" sz="1100" dirty="0"/>
          </a:p>
        </p:txBody>
      </p:sp>
      <p:sp>
        <p:nvSpPr>
          <p:cNvPr id="64" name="Shape 61"/>
          <p:cNvSpPr/>
          <p:nvPr/>
        </p:nvSpPr>
        <p:spPr>
          <a:xfrm>
            <a:off x="1224000" y="4230000"/>
            <a:ext cx="3636000" cy="432000"/>
          </a:xfrm>
          <a:prstGeom prst="rect">
            <a:avLst/>
          </a:prstGeom>
          <a:solidFill>
            <a:srgbClr val="D9EAF7"/>
          </a:solidFill>
          <a:ln w="6985">
            <a:solidFill>
              <a:srgbClr val="202020"/>
            </a:solidFill>
            <a:prstDash val="solid"/>
          </a:ln>
        </p:spPr>
      </p:sp>
      <p:sp>
        <p:nvSpPr>
          <p:cNvPr id="65" name="Text 62"/>
          <p:cNvSpPr/>
          <p:nvPr/>
        </p:nvSpPr>
        <p:spPr>
          <a:xfrm>
            <a:off x="1285200" y="4269600"/>
            <a:ext cx="3513600" cy="352800"/>
          </a:xfrm>
          <a:prstGeom prst="rect">
            <a:avLst/>
          </a:prstGeom>
          <a:noFill/>
          <a:ln/>
        </p:spPr>
        <p:txBody>
          <a:bodyPr wrap="square" lIns="0" tIns="0" rIns="0" bIns="0" rtlCol="0" anchor="ctr"/>
          <a:lstStyle/>
          <a:p>
            <a:pPr algn="ctr" indent="0" marL="0">
              <a:buNone/>
            </a:pPr>
            <a:r>
              <a:rPr lang="en-US" sz="900" dirty="0">
                <a:solidFill>
                  <a:srgbClr val="1C1C1C"/>
                </a:solidFill>
                <a:latin typeface="Aptos" pitchFamily="34" charset="0"/>
                <a:ea typeface="Aptos" pitchFamily="34" charset="-122"/>
                <a:cs typeface="Aptos" pitchFamily="34" charset="-120"/>
              </a:rPr>
              <a:t>Montant des travaux curatif niveau 1</a:t>
            </a:r>
            <a:endParaRPr lang="en-US" sz="900" dirty="0"/>
          </a:p>
          <a:p>
            <a:pPr algn="ctr" indent="0" marL="0">
              <a:buNone/>
            </a:pPr>
            <a:r>
              <a:rPr lang="en-US" sz="900" dirty="0">
                <a:solidFill>
                  <a:srgbClr val="1C1C1C"/>
                </a:solidFill>
                <a:latin typeface="Aptos" pitchFamily="34" charset="0"/>
                <a:ea typeface="Aptos" pitchFamily="34" charset="-122"/>
                <a:cs typeface="Aptos" pitchFamily="34" charset="-120"/>
              </a:rPr>
              <a:t>Travaux à effectuer sous 2 ans (Année 2027-2028)</a:t>
            </a:r>
            <a:endParaRPr lang="en-US" sz="900" dirty="0"/>
          </a:p>
        </p:txBody>
      </p:sp>
      <p:sp>
        <p:nvSpPr>
          <p:cNvPr id="66" name="Shape 63"/>
          <p:cNvSpPr/>
          <p:nvPr/>
        </p:nvSpPr>
        <p:spPr>
          <a:xfrm>
            <a:off x="4860000" y="4230000"/>
            <a:ext cx="720000" cy="432000"/>
          </a:xfrm>
          <a:prstGeom prst="rect">
            <a:avLst/>
          </a:prstGeom>
          <a:solidFill>
            <a:srgbClr val="D9EAF7"/>
          </a:solidFill>
          <a:ln w="6985">
            <a:solidFill>
              <a:srgbClr val="202020"/>
            </a:solidFill>
            <a:prstDash val="solid"/>
          </a:ln>
        </p:spPr>
      </p:sp>
      <p:sp>
        <p:nvSpPr>
          <p:cNvPr id="67" name="Text 64"/>
          <p:cNvSpPr/>
          <p:nvPr/>
        </p:nvSpPr>
        <p:spPr>
          <a:xfrm>
            <a:off x="4921200" y="4269600"/>
            <a:ext cx="597600" cy="352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1 250 €</a:t>
            </a:r>
            <a:endParaRPr lang="en-US" sz="900" dirty="0"/>
          </a:p>
        </p:txBody>
      </p:sp>
      <p:sp>
        <p:nvSpPr>
          <p:cNvPr id="68" name="Shape 65"/>
          <p:cNvSpPr/>
          <p:nvPr/>
        </p:nvSpPr>
        <p:spPr>
          <a:xfrm>
            <a:off x="5580000" y="4230000"/>
            <a:ext cx="720000" cy="432000"/>
          </a:xfrm>
          <a:prstGeom prst="rect">
            <a:avLst/>
          </a:prstGeom>
          <a:solidFill>
            <a:srgbClr val="D9EAF7"/>
          </a:solidFill>
          <a:ln w="6985">
            <a:solidFill>
              <a:srgbClr val="202020"/>
            </a:solidFill>
            <a:prstDash val="solid"/>
          </a:ln>
        </p:spPr>
      </p:sp>
      <p:sp>
        <p:nvSpPr>
          <p:cNvPr id="69" name="Text 66"/>
          <p:cNvSpPr/>
          <p:nvPr/>
        </p:nvSpPr>
        <p:spPr>
          <a:xfrm>
            <a:off x="5641200" y="4269600"/>
            <a:ext cx="597600" cy="352800"/>
          </a:xfrm>
          <a:prstGeom prst="rect">
            <a:avLst/>
          </a:prstGeom>
          <a:noFill/>
          <a:ln/>
        </p:spPr>
        <p:txBody>
          <a:bodyPr wrap="square" lIns="0" tIns="0" rIns="0" bIns="0" rtlCol="0" anchor="ctr"/>
          <a:lstStyle/>
          <a:p>
            <a:pPr algn="ctr" indent="0" marL="0">
              <a:buNone/>
            </a:pPr>
            <a:endParaRPr lang="en-US" sz="900" dirty="0"/>
          </a:p>
        </p:txBody>
      </p:sp>
      <p:sp>
        <p:nvSpPr>
          <p:cNvPr id="70" name="Shape 67"/>
          <p:cNvSpPr/>
          <p:nvPr/>
        </p:nvSpPr>
        <p:spPr>
          <a:xfrm>
            <a:off x="6300000" y="4230000"/>
            <a:ext cx="720000" cy="432000"/>
          </a:xfrm>
          <a:prstGeom prst="rect">
            <a:avLst/>
          </a:prstGeom>
          <a:solidFill>
            <a:srgbClr val="D9EAF7"/>
          </a:solidFill>
          <a:ln w="6985">
            <a:solidFill>
              <a:srgbClr val="202020"/>
            </a:solidFill>
            <a:prstDash val="solid"/>
          </a:ln>
        </p:spPr>
      </p:sp>
      <p:sp>
        <p:nvSpPr>
          <p:cNvPr id="71" name="Text 68"/>
          <p:cNvSpPr/>
          <p:nvPr/>
        </p:nvSpPr>
        <p:spPr>
          <a:xfrm>
            <a:off x="6361200" y="4269600"/>
            <a:ext cx="597600" cy="352800"/>
          </a:xfrm>
          <a:prstGeom prst="rect">
            <a:avLst/>
          </a:prstGeom>
          <a:noFill/>
          <a:ln/>
        </p:spPr>
        <p:txBody>
          <a:bodyPr wrap="square" lIns="0" tIns="0" rIns="0" bIns="0" rtlCol="0" anchor="ctr"/>
          <a:lstStyle/>
          <a:p>
            <a:pPr algn="ctr" indent="0" marL="0">
              <a:buNone/>
            </a:pPr>
            <a:endParaRPr lang="en-US" sz="900" dirty="0"/>
          </a:p>
        </p:txBody>
      </p:sp>
      <p:sp>
        <p:nvSpPr>
          <p:cNvPr id="72" name="Shape 69"/>
          <p:cNvSpPr/>
          <p:nvPr/>
        </p:nvSpPr>
        <p:spPr>
          <a:xfrm>
            <a:off x="1224000" y="4662000"/>
            <a:ext cx="3636000" cy="432000"/>
          </a:xfrm>
          <a:prstGeom prst="rect">
            <a:avLst/>
          </a:prstGeom>
          <a:solidFill>
            <a:srgbClr val="D9EAF7"/>
          </a:solidFill>
          <a:ln w="6985">
            <a:solidFill>
              <a:srgbClr val="202020"/>
            </a:solidFill>
            <a:prstDash val="solid"/>
          </a:ln>
        </p:spPr>
      </p:sp>
      <p:sp>
        <p:nvSpPr>
          <p:cNvPr id="73" name="Text 70"/>
          <p:cNvSpPr/>
          <p:nvPr/>
        </p:nvSpPr>
        <p:spPr>
          <a:xfrm>
            <a:off x="1285200" y="4701600"/>
            <a:ext cx="3513600" cy="352800"/>
          </a:xfrm>
          <a:prstGeom prst="rect">
            <a:avLst/>
          </a:prstGeom>
          <a:noFill/>
          <a:ln/>
        </p:spPr>
        <p:txBody>
          <a:bodyPr wrap="square" lIns="0" tIns="0" rIns="0" bIns="0" rtlCol="0" anchor="ctr"/>
          <a:lstStyle/>
          <a:p>
            <a:pPr algn="ctr" indent="0" marL="0">
              <a:buNone/>
            </a:pPr>
            <a:r>
              <a:rPr lang="en-US" sz="900" dirty="0">
                <a:solidFill>
                  <a:srgbClr val="1C1C1C"/>
                </a:solidFill>
                <a:latin typeface="Aptos" pitchFamily="34" charset="0"/>
                <a:ea typeface="Aptos" pitchFamily="34" charset="-122"/>
                <a:cs typeface="Aptos" pitchFamily="34" charset="-120"/>
              </a:rPr>
              <a:t>Montant des travaux curatif niveau 2</a:t>
            </a:r>
            <a:endParaRPr lang="en-US" sz="900" dirty="0"/>
          </a:p>
          <a:p>
            <a:pPr algn="ctr" indent="0" marL="0">
              <a:buNone/>
            </a:pPr>
            <a:r>
              <a:rPr lang="en-US" sz="900" dirty="0">
                <a:solidFill>
                  <a:srgbClr val="1C1C1C"/>
                </a:solidFill>
                <a:latin typeface="Aptos" pitchFamily="34" charset="0"/>
                <a:ea typeface="Aptos" pitchFamily="34" charset="-122"/>
                <a:cs typeface="Aptos" pitchFamily="34" charset="-120"/>
              </a:rPr>
              <a:t>Travaux à effectuer entre 3 et 5 ans (Année 2029 à 2031)</a:t>
            </a:r>
            <a:endParaRPr lang="en-US" sz="900" dirty="0"/>
          </a:p>
        </p:txBody>
      </p:sp>
      <p:sp>
        <p:nvSpPr>
          <p:cNvPr id="74" name="Shape 71"/>
          <p:cNvSpPr/>
          <p:nvPr/>
        </p:nvSpPr>
        <p:spPr>
          <a:xfrm>
            <a:off x="4860000" y="4662000"/>
            <a:ext cx="720000" cy="432000"/>
          </a:xfrm>
          <a:prstGeom prst="rect">
            <a:avLst/>
          </a:prstGeom>
          <a:solidFill>
            <a:srgbClr val="D9EAF7"/>
          </a:solidFill>
          <a:ln w="6985">
            <a:solidFill>
              <a:srgbClr val="202020"/>
            </a:solidFill>
            <a:prstDash val="solid"/>
          </a:ln>
        </p:spPr>
      </p:sp>
      <p:sp>
        <p:nvSpPr>
          <p:cNvPr id="75" name="Text 72"/>
          <p:cNvSpPr/>
          <p:nvPr/>
        </p:nvSpPr>
        <p:spPr>
          <a:xfrm>
            <a:off x="4921200" y="4701600"/>
            <a:ext cx="597600" cy="352800"/>
          </a:xfrm>
          <a:prstGeom prst="rect">
            <a:avLst/>
          </a:prstGeom>
          <a:noFill/>
          <a:ln/>
        </p:spPr>
        <p:txBody>
          <a:bodyPr wrap="square" lIns="0" tIns="0" rIns="0" bIns="0" rtlCol="0" anchor="ctr"/>
          <a:lstStyle/>
          <a:p>
            <a:pPr algn="ctr" indent="0" marL="0">
              <a:buNone/>
            </a:pPr>
            <a:endParaRPr lang="en-US" sz="900" dirty="0"/>
          </a:p>
        </p:txBody>
      </p:sp>
      <p:sp>
        <p:nvSpPr>
          <p:cNvPr id="76" name="Shape 73"/>
          <p:cNvSpPr/>
          <p:nvPr/>
        </p:nvSpPr>
        <p:spPr>
          <a:xfrm>
            <a:off x="5580000" y="4662000"/>
            <a:ext cx="720000" cy="432000"/>
          </a:xfrm>
          <a:prstGeom prst="rect">
            <a:avLst/>
          </a:prstGeom>
          <a:solidFill>
            <a:srgbClr val="D9EAF7"/>
          </a:solidFill>
          <a:ln w="6985">
            <a:solidFill>
              <a:srgbClr val="202020"/>
            </a:solidFill>
            <a:prstDash val="solid"/>
          </a:ln>
        </p:spPr>
      </p:sp>
      <p:sp>
        <p:nvSpPr>
          <p:cNvPr id="77" name="Text 74"/>
          <p:cNvSpPr/>
          <p:nvPr/>
        </p:nvSpPr>
        <p:spPr>
          <a:xfrm>
            <a:off x="5641200" y="4701600"/>
            <a:ext cx="597600" cy="352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1 250 €</a:t>
            </a:r>
            <a:endParaRPr lang="en-US" sz="900" dirty="0"/>
          </a:p>
        </p:txBody>
      </p:sp>
      <p:sp>
        <p:nvSpPr>
          <p:cNvPr id="78" name="Shape 75"/>
          <p:cNvSpPr/>
          <p:nvPr/>
        </p:nvSpPr>
        <p:spPr>
          <a:xfrm>
            <a:off x="6300000" y="4662000"/>
            <a:ext cx="720000" cy="432000"/>
          </a:xfrm>
          <a:prstGeom prst="rect">
            <a:avLst/>
          </a:prstGeom>
          <a:solidFill>
            <a:srgbClr val="D9EAF7"/>
          </a:solidFill>
          <a:ln w="6985">
            <a:solidFill>
              <a:srgbClr val="202020"/>
            </a:solidFill>
            <a:prstDash val="solid"/>
          </a:ln>
        </p:spPr>
      </p:sp>
      <p:sp>
        <p:nvSpPr>
          <p:cNvPr id="79" name="Text 76"/>
          <p:cNvSpPr/>
          <p:nvPr/>
        </p:nvSpPr>
        <p:spPr>
          <a:xfrm>
            <a:off x="6361200" y="4701600"/>
            <a:ext cx="597600" cy="352800"/>
          </a:xfrm>
          <a:prstGeom prst="rect">
            <a:avLst/>
          </a:prstGeom>
          <a:noFill/>
          <a:ln/>
        </p:spPr>
        <p:txBody>
          <a:bodyPr wrap="square" lIns="0" tIns="0" rIns="0" bIns="0" rtlCol="0" anchor="ctr"/>
          <a:lstStyle/>
          <a:p>
            <a:pPr algn="ctr" indent="0" marL="0">
              <a:buNone/>
            </a:pPr>
            <a:endParaRPr lang="en-US" sz="900" dirty="0"/>
          </a:p>
        </p:txBody>
      </p:sp>
      <p:sp>
        <p:nvSpPr>
          <p:cNvPr id="80" name="Shape 77"/>
          <p:cNvSpPr/>
          <p:nvPr/>
        </p:nvSpPr>
        <p:spPr>
          <a:xfrm>
            <a:off x="1224000" y="5094000"/>
            <a:ext cx="3636000" cy="432000"/>
          </a:xfrm>
          <a:prstGeom prst="rect">
            <a:avLst/>
          </a:prstGeom>
          <a:solidFill>
            <a:srgbClr val="D9EAF7"/>
          </a:solidFill>
          <a:ln w="6985">
            <a:solidFill>
              <a:srgbClr val="202020"/>
            </a:solidFill>
            <a:prstDash val="solid"/>
          </a:ln>
        </p:spPr>
      </p:sp>
      <p:sp>
        <p:nvSpPr>
          <p:cNvPr id="81" name="Text 78"/>
          <p:cNvSpPr/>
          <p:nvPr/>
        </p:nvSpPr>
        <p:spPr>
          <a:xfrm>
            <a:off x="1285200" y="5133600"/>
            <a:ext cx="3513600" cy="352800"/>
          </a:xfrm>
          <a:prstGeom prst="rect">
            <a:avLst/>
          </a:prstGeom>
          <a:noFill/>
          <a:ln/>
        </p:spPr>
        <p:txBody>
          <a:bodyPr wrap="square" lIns="0" tIns="0" rIns="0" bIns="0" rtlCol="0" anchor="ctr"/>
          <a:lstStyle/>
          <a:p>
            <a:pPr algn="ctr" indent="0" marL="0">
              <a:buNone/>
            </a:pPr>
            <a:r>
              <a:rPr lang="en-US" sz="900" dirty="0">
                <a:solidFill>
                  <a:srgbClr val="1C1C1C"/>
                </a:solidFill>
                <a:latin typeface="Aptos" pitchFamily="34" charset="0"/>
                <a:ea typeface="Aptos" pitchFamily="34" charset="-122"/>
                <a:cs typeface="Aptos" pitchFamily="34" charset="-120"/>
              </a:rPr>
              <a:t>Montant des travaux curatif niveau 3</a:t>
            </a:r>
            <a:endParaRPr lang="en-US" sz="900" dirty="0"/>
          </a:p>
          <a:p>
            <a:pPr algn="ctr" indent="0" marL="0">
              <a:buNone/>
            </a:pPr>
            <a:r>
              <a:rPr lang="en-US" sz="900" dirty="0">
                <a:solidFill>
                  <a:srgbClr val="1C1C1C"/>
                </a:solidFill>
                <a:latin typeface="Aptos" pitchFamily="34" charset="0"/>
                <a:ea typeface="Aptos" pitchFamily="34" charset="-122"/>
                <a:cs typeface="Aptos" pitchFamily="34" charset="-120"/>
              </a:rPr>
              <a:t>Travaux à effectuer entre 6 et 10 ans (Année 2032 à 2036)</a:t>
            </a:r>
            <a:endParaRPr lang="en-US" sz="900" dirty="0"/>
          </a:p>
        </p:txBody>
      </p:sp>
      <p:sp>
        <p:nvSpPr>
          <p:cNvPr id="82" name="Shape 79"/>
          <p:cNvSpPr/>
          <p:nvPr/>
        </p:nvSpPr>
        <p:spPr>
          <a:xfrm>
            <a:off x="4860000" y="5094000"/>
            <a:ext cx="720000" cy="432000"/>
          </a:xfrm>
          <a:prstGeom prst="rect">
            <a:avLst/>
          </a:prstGeom>
          <a:solidFill>
            <a:srgbClr val="D9EAF7"/>
          </a:solidFill>
          <a:ln w="6985">
            <a:solidFill>
              <a:srgbClr val="202020"/>
            </a:solidFill>
            <a:prstDash val="solid"/>
          </a:ln>
        </p:spPr>
      </p:sp>
      <p:sp>
        <p:nvSpPr>
          <p:cNvPr id="83" name="Text 80"/>
          <p:cNvSpPr/>
          <p:nvPr/>
        </p:nvSpPr>
        <p:spPr>
          <a:xfrm>
            <a:off x="4921200" y="5133600"/>
            <a:ext cx="597600" cy="352800"/>
          </a:xfrm>
          <a:prstGeom prst="rect">
            <a:avLst/>
          </a:prstGeom>
          <a:noFill/>
          <a:ln/>
        </p:spPr>
        <p:txBody>
          <a:bodyPr wrap="square" lIns="0" tIns="0" rIns="0" bIns="0" rtlCol="0" anchor="ctr"/>
          <a:lstStyle/>
          <a:p>
            <a:pPr algn="ctr" indent="0" marL="0">
              <a:buNone/>
            </a:pPr>
            <a:endParaRPr lang="en-US" sz="900" dirty="0"/>
          </a:p>
        </p:txBody>
      </p:sp>
      <p:sp>
        <p:nvSpPr>
          <p:cNvPr id="84" name="Shape 81"/>
          <p:cNvSpPr/>
          <p:nvPr/>
        </p:nvSpPr>
        <p:spPr>
          <a:xfrm>
            <a:off x="5580000" y="5094000"/>
            <a:ext cx="720000" cy="432000"/>
          </a:xfrm>
          <a:prstGeom prst="rect">
            <a:avLst/>
          </a:prstGeom>
          <a:solidFill>
            <a:srgbClr val="D9EAF7"/>
          </a:solidFill>
          <a:ln w="6985">
            <a:solidFill>
              <a:srgbClr val="202020"/>
            </a:solidFill>
            <a:prstDash val="solid"/>
          </a:ln>
        </p:spPr>
      </p:sp>
      <p:sp>
        <p:nvSpPr>
          <p:cNvPr id="85" name="Text 82"/>
          <p:cNvSpPr/>
          <p:nvPr/>
        </p:nvSpPr>
        <p:spPr>
          <a:xfrm>
            <a:off x="5641200" y="5133600"/>
            <a:ext cx="597600" cy="352800"/>
          </a:xfrm>
          <a:prstGeom prst="rect">
            <a:avLst/>
          </a:prstGeom>
          <a:noFill/>
          <a:ln/>
        </p:spPr>
        <p:txBody>
          <a:bodyPr wrap="square" lIns="0" tIns="0" rIns="0" bIns="0" rtlCol="0" anchor="ctr"/>
          <a:lstStyle/>
          <a:p>
            <a:pPr algn="ctr" indent="0" marL="0">
              <a:buNone/>
            </a:pPr>
            <a:endParaRPr lang="en-US" sz="900" dirty="0"/>
          </a:p>
        </p:txBody>
      </p:sp>
      <p:sp>
        <p:nvSpPr>
          <p:cNvPr id="86" name="Shape 83"/>
          <p:cNvSpPr/>
          <p:nvPr/>
        </p:nvSpPr>
        <p:spPr>
          <a:xfrm>
            <a:off x="6300000" y="5094000"/>
            <a:ext cx="720000" cy="432000"/>
          </a:xfrm>
          <a:prstGeom prst="rect">
            <a:avLst/>
          </a:prstGeom>
          <a:solidFill>
            <a:srgbClr val="D9EAF7"/>
          </a:solidFill>
          <a:ln w="6985">
            <a:solidFill>
              <a:srgbClr val="202020"/>
            </a:solidFill>
            <a:prstDash val="solid"/>
          </a:ln>
        </p:spPr>
      </p:sp>
      <p:sp>
        <p:nvSpPr>
          <p:cNvPr id="87" name="Text 84"/>
          <p:cNvSpPr/>
          <p:nvPr/>
        </p:nvSpPr>
        <p:spPr>
          <a:xfrm>
            <a:off x="6361200" y="5133600"/>
            <a:ext cx="597600" cy="352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1 250 €</a:t>
            </a:r>
            <a:endParaRPr lang="en-US" sz="900" dirty="0"/>
          </a:p>
        </p:txBody>
      </p:sp>
      <p:sp>
        <p:nvSpPr>
          <p:cNvPr id="88" name="Shape 85"/>
          <p:cNvSpPr/>
          <p:nvPr/>
        </p:nvSpPr>
        <p:spPr>
          <a:xfrm>
            <a:off x="1224000" y="5526000"/>
            <a:ext cx="3636000" cy="396000"/>
          </a:xfrm>
          <a:prstGeom prst="rect">
            <a:avLst/>
          </a:prstGeom>
          <a:solidFill>
            <a:srgbClr val="D9EAF7"/>
          </a:solidFill>
          <a:ln w="6985">
            <a:solidFill>
              <a:srgbClr val="202020"/>
            </a:solidFill>
            <a:prstDash val="solid"/>
          </a:ln>
        </p:spPr>
      </p:sp>
      <p:sp>
        <p:nvSpPr>
          <p:cNvPr id="89" name="Text 86"/>
          <p:cNvSpPr/>
          <p:nvPr/>
        </p:nvSpPr>
        <p:spPr>
          <a:xfrm>
            <a:off x="1285200" y="5565600"/>
            <a:ext cx="3513600" cy="316800"/>
          </a:xfrm>
          <a:prstGeom prst="rect">
            <a:avLst/>
          </a:prstGeom>
          <a:noFill/>
          <a:ln/>
        </p:spPr>
        <p:txBody>
          <a:bodyPr wrap="square" lIns="0" tIns="0" rIns="0" bIns="0" rtlCol="0" anchor="ctr"/>
          <a:lstStyle/>
          <a:p>
            <a:pPr algn="l" indent="0" marL="0">
              <a:buNone/>
            </a:pPr>
            <a:r>
              <a:rPr lang="en-US" sz="900" dirty="0">
                <a:solidFill>
                  <a:srgbClr val="1C1C1C"/>
                </a:solidFill>
                <a:latin typeface="Aptos" pitchFamily="34" charset="0"/>
                <a:ea typeface="Aptos" pitchFamily="34" charset="-122"/>
                <a:cs typeface="Aptos" pitchFamily="34" charset="-120"/>
              </a:rPr>
              <a:t>Montant total de l’investissement des travaux curatifs (TTC)</a:t>
            </a:r>
            <a:endParaRPr lang="en-US" sz="900" dirty="0"/>
          </a:p>
        </p:txBody>
      </p:sp>
      <p:sp>
        <p:nvSpPr>
          <p:cNvPr id="90" name="Shape 87"/>
          <p:cNvSpPr/>
          <p:nvPr/>
        </p:nvSpPr>
        <p:spPr>
          <a:xfrm>
            <a:off x="4860000" y="5526000"/>
            <a:ext cx="2160000" cy="396000"/>
          </a:xfrm>
          <a:prstGeom prst="rect">
            <a:avLst/>
          </a:prstGeom>
          <a:solidFill>
            <a:srgbClr val="D9EAF7"/>
          </a:solidFill>
          <a:ln w="6985">
            <a:solidFill>
              <a:srgbClr val="202020"/>
            </a:solidFill>
            <a:prstDash val="solid"/>
          </a:ln>
        </p:spPr>
      </p:sp>
      <p:sp>
        <p:nvSpPr>
          <p:cNvPr id="91" name="Text 88"/>
          <p:cNvSpPr/>
          <p:nvPr/>
        </p:nvSpPr>
        <p:spPr>
          <a:xfrm>
            <a:off x="4921200" y="5565600"/>
            <a:ext cx="2037600" cy="316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3 750 €</a:t>
            </a:r>
            <a:endParaRPr lang="en-US" sz="900" dirty="0"/>
          </a:p>
        </p:txBody>
      </p:sp>
      <p:sp>
        <p:nvSpPr>
          <p:cNvPr id="92" name="Text 89"/>
          <p:cNvSpPr/>
          <p:nvPr/>
        </p:nvSpPr>
        <p:spPr>
          <a:xfrm>
            <a:off x="540000" y="5994000"/>
            <a:ext cx="6480000" cy="180000"/>
          </a:xfrm>
          <a:prstGeom prst="rect">
            <a:avLst/>
          </a:prstGeom>
          <a:noFill/>
          <a:ln/>
        </p:spPr>
        <p:txBody>
          <a:bodyPr wrap="square" lIns="0" tIns="0" rIns="0" bIns="0" rtlCol="0" anchor="ctr"/>
          <a:lstStyle/>
          <a:p>
            <a:pPr algn="r" indent="0" marL="0">
              <a:buNone/>
            </a:pPr>
            <a:r>
              <a:rPr lang="en-US" sz="900" i="1" dirty="0">
                <a:solidFill>
                  <a:srgbClr val="6E7480"/>
                </a:solidFill>
                <a:latin typeface="Aptos" pitchFamily="34" charset="0"/>
                <a:ea typeface="Aptos" pitchFamily="34" charset="-122"/>
                <a:cs typeface="Aptos" pitchFamily="34" charset="-120"/>
              </a:rPr>
              <a:t>Estimation IA indicative — à vérifier par un ingénieur</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37</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Tableau 2 – Tableau récapitulatif des travaux énergétiques</a:t>
            </a:r>
            <a:endParaRPr lang="en-US" sz="1300" dirty="0"/>
          </a:p>
        </p:txBody>
      </p:sp>
      <p:sp>
        <p:nvSpPr>
          <p:cNvPr id="8" name="Shape 5"/>
          <p:cNvSpPr/>
          <p:nvPr/>
        </p:nvSpPr>
        <p:spPr>
          <a:xfrm>
            <a:off x="540000" y="1692000"/>
            <a:ext cx="1008000" cy="504000"/>
          </a:xfrm>
          <a:prstGeom prst="rect">
            <a:avLst/>
          </a:prstGeom>
          <a:solidFill>
            <a:srgbClr val="176181"/>
          </a:solidFill>
          <a:ln w="6985">
            <a:solidFill>
              <a:srgbClr val="202020"/>
            </a:solidFill>
            <a:prstDash val="solid"/>
          </a:ln>
        </p:spPr>
      </p:sp>
      <p:sp>
        <p:nvSpPr>
          <p:cNvPr id="9" name="Text 6"/>
          <p:cNvSpPr/>
          <p:nvPr/>
        </p:nvSpPr>
        <p:spPr>
          <a:xfrm>
            <a:off x="601200" y="1731600"/>
            <a:ext cx="885600" cy="424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Niveau du curatif</a:t>
            </a:r>
            <a:endParaRPr lang="en-US" sz="950" dirty="0"/>
          </a:p>
        </p:txBody>
      </p:sp>
      <p:sp>
        <p:nvSpPr>
          <p:cNvPr id="10" name="Shape 7"/>
          <p:cNvSpPr/>
          <p:nvPr/>
        </p:nvSpPr>
        <p:spPr>
          <a:xfrm>
            <a:off x="1548000" y="1692000"/>
            <a:ext cx="684000" cy="504000"/>
          </a:xfrm>
          <a:prstGeom prst="rect">
            <a:avLst/>
          </a:prstGeom>
          <a:solidFill>
            <a:srgbClr val="176181"/>
          </a:solidFill>
          <a:ln w="6985">
            <a:solidFill>
              <a:srgbClr val="202020"/>
            </a:solidFill>
            <a:prstDash val="solid"/>
          </a:ln>
        </p:spPr>
      </p:sp>
      <p:sp>
        <p:nvSpPr>
          <p:cNvPr id="11" name="Text 8"/>
          <p:cNvSpPr/>
          <p:nvPr/>
        </p:nvSpPr>
        <p:spPr>
          <a:xfrm>
            <a:off x="1609200" y="1731600"/>
            <a:ext cx="561600" cy="424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Numéro du curatif</a:t>
            </a:r>
            <a:endParaRPr lang="en-US" sz="950" dirty="0"/>
          </a:p>
        </p:txBody>
      </p:sp>
      <p:sp>
        <p:nvSpPr>
          <p:cNvPr id="12" name="Shape 9"/>
          <p:cNvSpPr/>
          <p:nvPr/>
        </p:nvSpPr>
        <p:spPr>
          <a:xfrm>
            <a:off x="2232000" y="1692000"/>
            <a:ext cx="3420000" cy="504000"/>
          </a:xfrm>
          <a:prstGeom prst="rect">
            <a:avLst/>
          </a:prstGeom>
          <a:solidFill>
            <a:srgbClr val="176181"/>
          </a:solidFill>
          <a:ln w="6985">
            <a:solidFill>
              <a:srgbClr val="202020"/>
            </a:solidFill>
            <a:prstDash val="solid"/>
          </a:ln>
        </p:spPr>
      </p:sp>
      <p:sp>
        <p:nvSpPr>
          <p:cNvPr id="13" name="Text 10"/>
          <p:cNvSpPr/>
          <p:nvPr/>
        </p:nvSpPr>
        <p:spPr>
          <a:xfrm>
            <a:off x="2293200" y="1731600"/>
            <a:ext cx="3297600" cy="424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Nature de travaux</a:t>
            </a:r>
            <a:endParaRPr lang="en-US" sz="950" dirty="0"/>
          </a:p>
        </p:txBody>
      </p:sp>
      <p:sp>
        <p:nvSpPr>
          <p:cNvPr id="14" name="Shape 11"/>
          <p:cNvSpPr/>
          <p:nvPr/>
        </p:nvSpPr>
        <p:spPr>
          <a:xfrm>
            <a:off x="5652000" y="1692000"/>
            <a:ext cx="1368000" cy="504000"/>
          </a:xfrm>
          <a:prstGeom prst="rect">
            <a:avLst/>
          </a:prstGeom>
          <a:solidFill>
            <a:srgbClr val="176181"/>
          </a:solidFill>
          <a:ln w="6985">
            <a:solidFill>
              <a:srgbClr val="202020"/>
            </a:solidFill>
            <a:prstDash val="solid"/>
          </a:ln>
        </p:spPr>
      </p:sp>
      <p:sp>
        <p:nvSpPr>
          <p:cNvPr id="15" name="Text 12"/>
          <p:cNvSpPr/>
          <p:nvPr/>
        </p:nvSpPr>
        <p:spPr>
          <a:xfrm>
            <a:off x="5713200" y="1731600"/>
            <a:ext cx="1245600" cy="424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Chiffrage (TTC)</a:t>
            </a:r>
            <a:endParaRPr lang="en-US" sz="950" dirty="0"/>
          </a:p>
        </p:txBody>
      </p:sp>
      <p:sp>
        <p:nvSpPr>
          <p:cNvPr id="16" name="Shape 13"/>
          <p:cNvSpPr/>
          <p:nvPr/>
        </p:nvSpPr>
        <p:spPr>
          <a:xfrm>
            <a:off x="540000" y="2196000"/>
            <a:ext cx="1008000" cy="1440000"/>
          </a:xfrm>
          <a:prstGeom prst="rect">
            <a:avLst/>
          </a:prstGeom>
          <a:solidFill>
            <a:srgbClr val="50AB2C"/>
          </a:solidFill>
          <a:ln w="6985">
            <a:solidFill>
              <a:srgbClr val="202020"/>
            </a:solidFill>
            <a:prstDash val="solid"/>
          </a:ln>
        </p:spPr>
      </p:sp>
      <p:sp>
        <p:nvSpPr>
          <p:cNvPr id="17" name="Text 14"/>
          <p:cNvSpPr/>
          <p:nvPr/>
        </p:nvSpPr>
        <p:spPr>
          <a:xfrm>
            <a:off x="601200" y="2235600"/>
            <a:ext cx="885600" cy="1360800"/>
          </a:xfrm>
          <a:prstGeom prst="rect">
            <a:avLst/>
          </a:prstGeom>
          <a:noFill/>
          <a:ln/>
        </p:spPr>
        <p:txBody>
          <a:bodyPr wrap="square" lIns="0" tIns="0" rIns="0" bIns="0" rtlCol="0" anchor="ctr"/>
          <a:lstStyle/>
          <a:p>
            <a:pPr algn="ctr" indent="0" marL="0">
              <a:buNone/>
            </a:pPr>
            <a:r>
              <a:rPr lang="en-US" sz="1000" dirty="0">
                <a:solidFill>
                  <a:srgbClr val="1C1C1C"/>
                </a:solidFill>
                <a:latin typeface="Aptos" pitchFamily="34" charset="0"/>
                <a:ea typeface="Aptos" pitchFamily="34" charset="-122"/>
                <a:cs typeface="Aptos" pitchFamily="34" charset="-120"/>
              </a:rPr>
              <a:t>Travaux énergétiques</a:t>
            </a:r>
            <a:endParaRPr lang="en-US" sz="1000" dirty="0"/>
          </a:p>
        </p:txBody>
      </p:sp>
      <p:sp>
        <p:nvSpPr>
          <p:cNvPr id="18" name="Shape 15"/>
          <p:cNvSpPr/>
          <p:nvPr/>
        </p:nvSpPr>
        <p:spPr>
          <a:xfrm>
            <a:off x="1548000" y="2196000"/>
            <a:ext cx="684000" cy="360000"/>
          </a:xfrm>
          <a:prstGeom prst="rect">
            <a:avLst/>
          </a:prstGeom>
          <a:solidFill>
            <a:srgbClr val="B6E3A4"/>
          </a:solidFill>
          <a:ln w="6985">
            <a:solidFill>
              <a:srgbClr val="202020"/>
            </a:solidFill>
            <a:prstDash val="solid"/>
          </a:ln>
        </p:spPr>
      </p:sp>
      <p:sp>
        <p:nvSpPr>
          <p:cNvPr id="19" name="Text 16"/>
          <p:cNvSpPr/>
          <p:nvPr/>
        </p:nvSpPr>
        <p:spPr>
          <a:xfrm>
            <a:off x="1609200" y="2235600"/>
            <a:ext cx="561600" cy="280800"/>
          </a:xfrm>
          <a:prstGeom prst="rect">
            <a:avLst/>
          </a:prstGeom>
          <a:noFill/>
          <a:ln/>
        </p:spPr>
        <p:txBody>
          <a:bodyPr wrap="square" lIns="0" tIns="0" rIns="0" bIns="0" rtlCol="0" anchor="ctr"/>
          <a:lstStyle/>
          <a:p>
            <a:pPr algn="l" indent="0" marL="0">
              <a:buNone/>
            </a:pPr>
            <a:endParaRPr lang="en-US" sz="870" dirty="0"/>
          </a:p>
        </p:txBody>
      </p:sp>
      <p:sp>
        <p:nvSpPr>
          <p:cNvPr id="20" name="Shape 17"/>
          <p:cNvSpPr/>
          <p:nvPr/>
        </p:nvSpPr>
        <p:spPr>
          <a:xfrm>
            <a:off x="2232000" y="2196000"/>
            <a:ext cx="3420000" cy="360000"/>
          </a:xfrm>
          <a:prstGeom prst="rect">
            <a:avLst/>
          </a:prstGeom>
          <a:solidFill>
            <a:srgbClr val="B6E3A4"/>
          </a:solidFill>
          <a:ln w="6985">
            <a:solidFill>
              <a:srgbClr val="202020"/>
            </a:solidFill>
            <a:prstDash val="solid"/>
          </a:ln>
        </p:spPr>
      </p:sp>
      <p:sp>
        <p:nvSpPr>
          <p:cNvPr id="21" name="Text 18"/>
          <p:cNvSpPr/>
          <p:nvPr/>
        </p:nvSpPr>
        <p:spPr>
          <a:xfrm>
            <a:off x="2293200" y="2235600"/>
            <a:ext cx="3297600" cy="280800"/>
          </a:xfrm>
          <a:prstGeom prst="rect">
            <a:avLst/>
          </a:prstGeom>
          <a:noFill/>
          <a:ln/>
        </p:spPr>
        <p:txBody>
          <a:bodyPr wrap="square" lIns="0" tIns="0" rIns="0" bIns="0" rtlCol="0" anchor="ctr"/>
          <a:lstStyle/>
          <a:p>
            <a:pPr algn="l" indent="0" marL="0">
              <a:buNone/>
            </a:pPr>
            <a:endParaRPr lang="en-US" sz="870" dirty="0"/>
          </a:p>
        </p:txBody>
      </p:sp>
      <p:sp>
        <p:nvSpPr>
          <p:cNvPr id="22" name="Shape 19"/>
          <p:cNvSpPr/>
          <p:nvPr/>
        </p:nvSpPr>
        <p:spPr>
          <a:xfrm>
            <a:off x="5652000" y="2196000"/>
            <a:ext cx="1368000" cy="360000"/>
          </a:xfrm>
          <a:prstGeom prst="rect">
            <a:avLst/>
          </a:prstGeom>
          <a:solidFill>
            <a:srgbClr val="B6E3A4"/>
          </a:solidFill>
          <a:ln w="6985">
            <a:solidFill>
              <a:srgbClr val="202020"/>
            </a:solidFill>
            <a:prstDash val="solid"/>
          </a:ln>
        </p:spPr>
      </p:sp>
      <p:sp>
        <p:nvSpPr>
          <p:cNvPr id="23" name="Text 20"/>
          <p:cNvSpPr/>
          <p:nvPr/>
        </p:nvSpPr>
        <p:spPr>
          <a:xfrm>
            <a:off x="5713200" y="2235600"/>
            <a:ext cx="1245600" cy="280800"/>
          </a:xfrm>
          <a:prstGeom prst="rect">
            <a:avLst/>
          </a:prstGeom>
          <a:noFill/>
          <a:ln/>
        </p:spPr>
        <p:txBody>
          <a:bodyPr wrap="square" lIns="0" tIns="0" rIns="0" bIns="0" rtlCol="0" anchor="ctr"/>
          <a:lstStyle/>
          <a:p>
            <a:pPr algn="l" indent="0" marL="0">
              <a:buNone/>
            </a:pPr>
            <a:endParaRPr lang="en-US" sz="870" dirty="0"/>
          </a:p>
        </p:txBody>
      </p:sp>
      <p:sp>
        <p:nvSpPr>
          <p:cNvPr id="24" name="Shape 21"/>
          <p:cNvSpPr/>
          <p:nvPr/>
        </p:nvSpPr>
        <p:spPr>
          <a:xfrm>
            <a:off x="1548000" y="2556000"/>
            <a:ext cx="684000" cy="360000"/>
          </a:xfrm>
          <a:prstGeom prst="rect">
            <a:avLst/>
          </a:prstGeom>
          <a:solidFill>
            <a:srgbClr val="B6E3A4"/>
          </a:solidFill>
          <a:ln w="6985">
            <a:solidFill>
              <a:srgbClr val="202020"/>
            </a:solidFill>
            <a:prstDash val="solid"/>
          </a:ln>
        </p:spPr>
      </p:sp>
      <p:sp>
        <p:nvSpPr>
          <p:cNvPr id="25" name="Text 22"/>
          <p:cNvSpPr/>
          <p:nvPr/>
        </p:nvSpPr>
        <p:spPr>
          <a:xfrm>
            <a:off x="1609200" y="2595600"/>
            <a:ext cx="561600" cy="280800"/>
          </a:xfrm>
          <a:prstGeom prst="rect">
            <a:avLst/>
          </a:prstGeom>
          <a:noFill/>
          <a:ln/>
        </p:spPr>
        <p:txBody>
          <a:bodyPr wrap="square" lIns="0" tIns="0" rIns="0" bIns="0" rtlCol="0" anchor="ctr"/>
          <a:lstStyle/>
          <a:p>
            <a:pPr algn="l" indent="0" marL="0">
              <a:buNone/>
            </a:pPr>
            <a:endParaRPr lang="en-US" sz="870" dirty="0"/>
          </a:p>
        </p:txBody>
      </p:sp>
      <p:sp>
        <p:nvSpPr>
          <p:cNvPr id="26" name="Shape 23"/>
          <p:cNvSpPr/>
          <p:nvPr/>
        </p:nvSpPr>
        <p:spPr>
          <a:xfrm>
            <a:off x="2232000" y="2556000"/>
            <a:ext cx="3420000" cy="360000"/>
          </a:xfrm>
          <a:prstGeom prst="rect">
            <a:avLst/>
          </a:prstGeom>
          <a:solidFill>
            <a:srgbClr val="B6E3A4"/>
          </a:solidFill>
          <a:ln w="6985">
            <a:solidFill>
              <a:srgbClr val="202020"/>
            </a:solidFill>
            <a:prstDash val="solid"/>
          </a:ln>
        </p:spPr>
      </p:sp>
      <p:sp>
        <p:nvSpPr>
          <p:cNvPr id="27" name="Text 24"/>
          <p:cNvSpPr/>
          <p:nvPr/>
        </p:nvSpPr>
        <p:spPr>
          <a:xfrm>
            <a:off x="2293200" y="2595600"/>
            <a:ext cx="3297600" cy="280800"/>
          </a:xfrm>
          <a:prstGeom prst="rect">
            <a:avLst/>
          </a:prstGeom>
          <a:noFill/>
          <a:ln/>
        </p:spPr>
        <p:txBody>
          <a:bodyPr wrap="square" lIns="0" tIns="0" rIns="0" bIns="0" rtlCol="0" anchor="ctr"/>
          <a:lstStyle/>
          <a:p>
            <a:pPr algn="l" indent="0" marL="0">
              <a:buNone/>
            </a:pPr>
            <a:endParaRPr lang="en-US" sz="870" dirty="0"/>
          </a:p>
        </p:txBody>
      </p:sp>
      <p:sp>
        <p:nvSpPr>
          <p:cNvPr id="28" name="Shape 25"/>
          <p:cNvSpPr/>
          <p:nvPr/>
        </p:nvSpPr>
        <p:spPr>
          <a:xfrm>
            <a:off x="5652000" y="2556000"/>
            <a:ext cx="1368000" cy="360000"/>
          </a:xfrm>
          <a:prstGeom prst="rect">
            <a:avLst/>
          </a:prstGeom>
          <a:solidFill>
            <a:srgbClr val="B6E3A4"/>
          </a:solidFill>
          <a:ln w="6985">
            <a:solidFill>
              <a:srgbClr val="202020"/>
            </a:solidFill>
            <a:prstDash val="solid"/>
          </a:ln>
        </p:spPr>
      </p:sp>
      <p:sp>
        <p:nvSpPr>
          <p:cNvPr id="29" name="Text 26"/>
          <p:cNvSpPr/>
          <p:nvPr/>
        </p:nvSpPr>
        <p:spPr>
          <a:xfrm>
            <a:off x="5713200" y="2595600"/>
            <a:ext cx="1245600" cy="280800"/>
          </a:xfrm>
          <a:prstGeom prst="rect">
            <a:avLst/>
          </a:prstGeom>
          <a:noFill/>
          <a:ln/>
        </p:spPr>
        <p:txBody>
          <a:bodyPr wrap="square" lIns="0" tIns="0" rIns="0" bIns="0" rtlCol="0" anchor="ctr"/>
          <a:lstStyle/>
          <a:p>
            <a:pPr algn="l" indent="0" marL="0">
              <a:buNone/>
            </a:pPr>
            <a:endParaRPr lang="en-US" sz="870" dirty="0"/>
          </a:p>
        </p:txBody>
      </p:sp>
      <p:sp>
        <p:nvSpPr>
          <p:cNvPr id="30" name="Shape 27"/>
          <p:cNvSpPr/>
          <p:nvPr/>
        </p:nvSpPr>
        <p:spPr>
          <a:xfrm>
            <a:off x="1548000" y="2916000"/>
            <a:ext cx="684000" cy="360000"/>
          </a:xfrm>
          <a:prstGeom prst="rect">
            <a:avLst/>
          </a:prstGeom>
          <a:solidFill>
            <a:srgbClr val="B6E3A4"/>
          </a:solidFill>
          <a:ln w="6985">
            <a:solidFill>
              <a:srgbClr val="202020"/>
            </a:solidFill>
            <a:prstDash val="solid"/>
          </a:ln>
        </p:spPr>
      </p:sp>
      <p:sp>
        <p:nvSpPr>
          <p:cNvPr id="31" name="Text 28"/>
          <p:cNvSpPr/>
          <p:nvPr/>
        </p:nvSpPr>
        <p:spPr>
          <a:xfrm>
            <a:off x="1609200" y="2955600"/>
            <a:ext cx="561600" cy="280800"/>
          </a:xfrm>
          <a:prstGeom prst="rect">
            <a:avLst/>
          </a:prstGeom>
          <a:noFill/>
          <a:ln/>
        </p:spPr>
        <p:txBody>
          <a:bodyPr wrap="square" lIns="0" tIns="0" rIns="0" bIns="0" rtlCol="0" anchor="ctr"/>
          <a:lstStyle/>
          <a:p>
            <a:pPr algn="l" indent="0" marL="0">
              <a:buNone/>
            </a:pPr>
            <a:endParaRPr lang="en-US" sz="870" dirty="0"/>
          </a:p>
        </p:txBody>
      </p:sp>
      <p:sp>
        <p:nvSpPr>
          <p:cNvPr id="32" name="Shape 29"/>
          <p:cNvSpPr/>
          <p:nvPr/>
        </p:nvSpPr>
        <p:spPr>
          <a:xfrm>
            <a:off x="2232000" y="2916000"/>
            <a:ext cx="3420000" cy="360000"/>
          </a:xfrm>
          <a:prstGeom prst="rect">
            <a:avLst/>
          </a:prstGeom>
          <a:solidFill>
            <a:srgbClr val="B6E3A4"/>
          </a:solidFill>
          <a:ln w="6985">
            <a:solidFill>
              <a:srgbClr val="202020"/>
            </a:solidFill>
            <a:prstDash val="solid"/>
          </a:ln>
        </p:spPr>
      </p:sp>
      <p:sp>
        <p:nvSpPr>
          <p:cNvPr id="33" name="Text 30"/>
          <p:cNvSpPr/>
          <p:nvPr/>
        </p:nvSpPr>
        <p:spPr>
          <a:xfrm>
            <a:off x="2293200" y="2955600"/>
            <a:ext cx="3297600" cy="280800"/>
          </a:xfrm>
          <a:prstGeom prst="rect">
            <a:avLst/>
          </a:prstGeom>
          <a:noFill/>
          <a:ln/>
        </p:spPr>
        <p:txBody>
          <a:bodyPr wrap="square" lIns="0" tIns="0" rIns="0" bIns="0" rtlCol="0" anchor="ctr"/>
          <a:lstStyle/>
          <a:p>
            <a:pPr algn="l" indent="0" marL="0">
              <a:buNone/>
            </a:pPr>
            <a:endParaRPr lang="en-US" sz="870" dirty="0"/>
          </a:p>
        </p:txBody>
      </p:sp>
      <p:sp>
        <p:nvSpPr>
          <p:cNvPr id="34" name="Shape 31"/>
          <p:cNvSpPr/>
          <p:nvPr/>
        </p:nvSpPr>
        <p:spPr>
          <a:xfrm>
            <a:off x="5652000" y="2916000"/>
            <a:ext cx="1368000" cy="360000"/>
          </a:xfrm>
          <a:prstGeom prst="rect">
            <a:avLst/>
          </a:prstGeom>
          <a:solidFill>
            <a:srgbClr val="B6E3A4"/>
          </a:solidFill>
          <a:ln w="6985">
            <a:solidFill>
              <a:srgbClr val="202020"/>
            </a:solidFill>
            <a:prstDash val="solid"/>
          </a:ln>
        </p:spPr>
      </p:sp>
      <p:sp>
        <p:nvSpPr>
          <p:cNvPr id="35" name="Text 32"/>
          <p:cNvSpPr/>
          <p:nvPr/>
        </p:nvSpPr>
        <p:spPr>
          <a:xfrm>
            <a:off x="5713200" y="2955600"/>
            <a:ext cx="1245600" cy="280800"/>
          </a:xfrm>
          <a:prstGeom prst="rect">
            <a:avLst/>
          </a:prstGeom>
          <a:noFill/>
          <a:ln/>
        </p:spPr>
        <p:txBody>
          <a:bodyPr wrap="square" lIns="0" tIns="0" rIns="0" bIns="0" rtlCol="0" anchor="ctr"/>
          <a:lstStyle/>
          <a:p>
            <a:pPr algn="l" indent="0" marL="0">
              <a:buNone/>
            </a:pPr>
            <a:endParaRPr lang="en-US" sz="870" dirty="0"/>
          </a:p>
        </p:txBody>
      </p:sp>
      <p:sp>
        <p:nvSpPr>
          <p:cNvPr id="36" name="Shape 33"/>
          <p:cNvSpPr/>
          <p:nvPr/>
        </p:nvSpPr>
        <p:spPr>
          <a:xfrm>
            <a:off x="1548000" y="3276000"/>
            <a:ext cx="684000" cy="360000"/>
          </a:xfrm>
          <a:prstGeom prst="rect">
            <a:avLst/>
          </a:prstGeom>
          <a:solidFill>
            <a:srgbClr val="B6E3A4"/>
          </a:solidFill>
          <a:ln w="6985">
            <a:solidFill>
              <a:srgbClr val="202020"/>
            </a:solidFill>
            <a:prstDash val="solid"/>
          </a:ln>
        </p:spPr>
      </p:sp>
      <p:sp>
        <p:nvSpPr>
          <p:cNvPr id="37" name="Text 34"/>
          <p:cNvSpPr/>
          <p:nvPr/>
        </p:nvSpPr>
        <p:spPr>
          <a:xfrm>
            <a:off x="1609200" y="3315600"/>
            <a:ext cx="561600" cy="280800"/>
          </a:xfrm>
          <a:prstGeom prst="rect">
            <a:avLst/>
          </a:prstGeom>
          <a:noFill/>
          <a:ln/>
        </p:spPr>
        <p:txBody>
          <a:bodyPr wrap="square" lIns="0" tIns="0" rIns="0" bIns="0" rtlCol="0" anchor="ctr"/>
          <a:lstStyle/>
          <a:p>
            <a:pPr algn="l" indent="0" marL="0">
              <a:buNone/>
            </a:pPr>
            <a:endParaRPr lang="en-US" sz="870" dirty="0"/>
          </a:p>
        </p:txBody>
      </p:sp>
      <p:sp>
        <p:nvSpPr>
          <p:cNvPr id="38" name="Shape 35"/>
          <p:cNvSpPr/>
          <p:nvPr/>
        </p:nvSpPr>
        <p:spPr>
          <a:xfrm>
            <a:off x="2232000" y="3276000"/>
            <a:ext cx="3420000" cy="360000"/>
          </a:xfrm>
          <a:prstGeom prst="rect">
            <a:avLst/>
          </a:prstGeom>
          <a:solidFill>
            <a:srgbClr val="B6E3A4"/>
          </a:solidFill>
          <a:ln w="6985">
            <a:solidFill>
              <a:srgbClr val="202020"/>
            </a:solidFill>
            <a:prstDash val="solid"/>
          </a:ln>
        </p:spPr>
      </p:sp>
      <p:sp>
        <p:nvSpPr>
          <p:cNvPr id="39" name="Text 36"/>
          <p:cNvSpPr/>
          <p:nvPr/>
        </p:nvSpPr>
        <p:spPr>
          <a:xfrm>
            <a:off x="2293200" y="3315600"/>
            <a:ext cx="3297600" cy="280800"/>
          </a:xfrm>
          <a:prstGeom prst="rect">
            <a:avLst/>
          </a:prstGeom>
          <a:noFill/>
          <a:ln/>
        </p:spPr>
        <p:txBody>
          <a:bodyPr wrap="square" lIns="0" tIns="0" rIns="0" bIns="0" rtlCol="0" anchor="ctr"/>
          <a:lstStyle/>
          <a:p>
            <a:pPr algn="l" indent="0" marL="0">
              <a:buNone/>
            </a:pPr>
            <a:endParaRPr lang="en-US" sz="870" dirty="0"/>
          </a:p>
        </p:txBody>
      </p:sp>
      <p:sp>
        <p:nvSpPr>
          <p:cNvPr id="40" name="Shape 37"/>
          <p:cNvSpPr/>
          <p:nvPr/>
        </p:nvSpPr>
        <p:spPr>
          <a:xfrm>
            <a:off x="5652000" y="3276000"/>
            <a:ext cx="1368000" cy="360000"/>
          </a:xfrm>
          <a:prstGeom prst="rect">
            <a:avLst/>
          </a:prstGeom>
          <a:solidFill>
            <a:srgbClr val="B6E3A4"/>
          </a:solidFill>
          <a:ln w="6985">
            <a:solidFill>
              <a:srgbClr val="202020"/>
            </a:solidFill>
            <a:prstDash val="solid"/>
          </a:ln>
        </p:spPr>
      </p:sp>
      <p:sp>
        <p:nvSpPr>
          <p:cNvPr id="41" name="Text 38"/>
          <p:cNvSpPr/>
          <p:nvPr/>
        </p:nvSpPr>
        <p:spPr>
          <a:xfrm>
            <a:off x="5713200" y="3315600"/>
            <a:ext cx="1245600" cy="280800"/>
          </a:xfrm>
          <a:prstGeom prst="rect">
            <a:avLst/>
          </a:prstGeom>
          <a:noFill/>
          <a:ln/>
        </p:spPr>
        <p:txBody>
          <a:bodyPr wrap="square" lIns="0" tIns="0" rIns="0" bIns="0" rtlCol="0" anchor="ctr"/>
          <a:lstStyle/>
          <a:p>
            <a:pPr algn="l" indent="0" marL="0">
              <a:buNone/>
            </a:pPr>
            <a:endParaRPr lang="en-US" sz="870" dirty="0"/>
          </a:p>
        </p:txBody>
      </p:sp>
      <p:sp>
        <p:nvSpPr>
          <p:cNvPr id="42" name="Shape 39"/>
          <p:cNvSpPr/>
          <p:nvPr/>
        </p:nvSpPr>
        <p:spPr>
          <a:xfrm>
            <a:off x="2232000" y="3636000"/>
            <a:ext cx="3420000" cy="396000"/>
          </a:xfrm>
          <a:prstGeom prst="rect">
            <a:avLst/>
          </a:prstGeom>
          <a:solidFill>
            <a:srgbClr val="D9EAF7"/>
          </a:solidFill>
          <a:ln w="6985">
            <a:solidFill>
              <a:srgbClr val="202020"/>
            </a:solidFill>
            <a:prstDash val="solid"/>
          </a:ln>
        </p:spPr>
      </p:sp>
      <p:sp>
        <p:nvSpPr>
          <p:cNvPr id="43" name="Text 40"/>
          <p:cNvSpPr/>
          <p:nvPr/>
        </p:nvSpPr>
        <p:spPr>
          <a:xfrm>
            <a:off x="2293200" y="3675600"/>
            <a:ext cx="3297600" cy="3168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Scénario x  - Montant total de l’investissement des travaux énergétiques (TTC)</a:t>
            </a:r>
            <a:endParaRPr lang="en-US" sz="950" dirty="0"/>
          </a:p>
        </p:txBody>
      </p:sp>
      <p:sp>
        <p:nvSpPr>
          <p:cNvPr id="44" name="Shape 41"/>
          <p:cNvSpPr/>
          <p:nvPr/>
        </p:nvSpPr>
        <p:spPr>
          <a:xfrm>
            <a:off x="5652000" y="3636000"/>
            <a:ext cx="1368000" cy="396000"/>
          </a:xfrm>
          <a:prstGeom prst="rect">
            <a:avLst/>
          </a:prstGeom>
          <a:solidFill>
            <a:srgbClr val="D9EAF7"/>
          </a:solidFill>
          <a:ln w="6985">
            <a:solidFill>
              <a:srgbClr val="202020"/>
            </a:solidFill>
            <a:prstDash val="solid"/>
          </a:ln>
        </p:spPr>
      </p:sp>
      <p:sp>
        <p:nvSpPr>
          <p:cNvPr id="45" name="Text 42"/>
          <p:cNvSpPr/>
          <p:nvPr/>
        </p:nvSpPr>
        <p:spPr>
          <a:xfrm>
            <a:off x="5713200" y="3675600"/>
            <a:ext cx="1245600" cy="3168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À confirmer</a:t>
            </a:r>
            <a:endParaRPr lang="en-US" sz="950" dirty="0"/>
          </a:p>
        </p:txBody>
      </p:sp>
      <p:sp>
        <p:nvSpPr>
          <p:cNvPr id="46" name="Text 43"/>
          <p:cNvSpPr/>
          <p:nvPr/>
        </p:nvSpPr>
        <p:spPr>
          <a:xfrm>
            <a:off x="648000" y="7488000"/>
            <a:ext cx="6264000" cy="238680"/>
          </a:xfrm>
          <a:prstGeom prst="rect">
            <a:avLst/>
          </a:prstGeom>
          <a:noFill/>
          <a:ln/>
        </p:spPr>
        <p:txBody>
          <a:bodyPr wrap="square" lIns="0" tIns="0" rIns="0" bIns="0" rtlCol="0" anchor="t"/>
          <a:lstStyle/>
          <a:p>
            <a:pPr algn="l" indent="0" marL="0">
              <a:buNone/>
            </a:pPr>
            <a:r>
              <a:rPr lang="en-US" sz="1050" b="1" dirty="0">
                <a:solidFill>
                  <a:srgbClr val="1C1C1C"/>
                </a:solidFill>
                <a:latin typeface="Aptos" pitchFamily="34" charset="0"/>
                <a:ea typeface="Aptos" pitchFamily="34" charset="-122"/>
                <a:cs typeface="Aptos" pitchFamily="34" charset="-120"/>
              </a:rPr>
              <a:t>Programmation des travaux énergétiques</a:t>
            </a:r>
            <a:endParaRPr lang="en-US" sz="1050" dirty="0"/>
          </a:p>
        </p:txBody>
      </p:sp>
      <p:sp>
        <p:nvSpPr>
          <p:cNvPr id="47" name="Text 44"/>
          <p:cNvSpPr/>
          <p:nvPr/>
        </p:nvSpPr>
        <p:spPr>
          <a:xfrm>
            <a:off x="648000" y="7798680"/>
            <a:ext cx="6264000" cy="5616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Les travaux d’amélioration énergétique sont présentés dans un tableau distinct des travaux curatifs afin de différencier les interventions nécessaires à la conservation du patrimoine de celles visant à améliorer durablement la performance énergétique du bâtiment.</a:t>
            </a:r>
            <a:endParaRPr lang="en-US" sz="1000" dirty="0"/>
          </a:p>
        </p:txBody>
      </p:sp>
      <p:sp>
        <p:nvSpPr>
          <p:cNvPr id="48" name="Text 45"/>
          <p:cNvSpPr/>
          <p:nvPr/>
        </p:nvSpPr>
        <p:spPr>
          <a:xfrm>
            <a:off x="648000" y="845388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Les scénarios proposés ont été élaborés dans une logique de rénovation énergétique globale. La réalisation de l’ensemble des travaux composant un scénario permet d’atteindre les performances énergétiques visées et de répondre, sous réserve d’éligibilité, aux conditions d’obtention de certaines aides financières.</a:t>
            </a:r>
            <a:endParaRPr lang="en-US" sz="1000" dirty="0"/>
          </a:p>
        </p:txBody>
      </p:sp>
      <p:sp>
        <p:nvSpPr>
          <p:cNvPr id="49" name="Text 46"/>
          <p:cNvSpPr/>
          <p:nvPr/>
        </p:nvSpPr>
        <p:spPr>
          <a:xfrm>
            <a:off x="648000" y="927468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En revanche, aucun échéancier prévisionnel n’a été défini pour ces travaux. Leur programmation relève des décisions du syndicat des copropriétaires, qui pourra déterminer le moment le plus opportun pour engager une opération de rénovation globale, en fonction de ses priorités, de ses capacités financières, des aides mobilisables et des décisions prises en assemblée générale.</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7. CONCLUSION</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38</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7.1 Conclusion générale</a:t>
            </a:r>
            <a:endParaRPr lang="en-US" sz="1300" dirty="0"/>
          </a:p>
        </p:txBody>
      </p:sp>
      <p:sp>
        <p:nvSpPr>
          <p:cNvPr id="8" name="Text 5"/>
          <p:cNvSpPr/>
          <p:nvPr/>
        </p:nvSpPr>
        <p:spPr>
          <a:xfrm>
            <a:off x="648000" y="1710000"/>
            <a:ext cx="6264000" cy="5616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présent Projet de Plan Pluriannuel de Travaux (PPPT) a permis d’établir une vision globale de l’état de conservation de la copropriété et d’identifier les interventions nécessaires au maintien de sa pérennité, de sa sécurité et de sa valeur patrimoniale.</a:t>
            </a:r>
            <a:endParaRPr lang="en-US" sz="1000" dirty="0"/>
          </a:p>
        </p:txBody>
      </p:sp>
      <p:sp>
        <p:nvSpPr>
          <p:cNvPr id="9" name="Text 6"/>
          <p:cNvSpPr/>
          <p:nvPr/>
        </p:nvSpPr>
        <p:spPr>
          <a:xfrm>
            <a:off x="648000" y="24156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L’analyse réalisée a conduit à l’identification de 3 fiches curatives, réparties selon différents niveaux de priorité. Parmi celles-ci, 1 curatifs de niveau 1, représentant 33 % du total des actions préconisées, concernent des interventions à engager à court terme afin de traiter les désordres les plus sensibles ou d’éviter une dégradation accélérée des ouvrages et équipements.</a:t>
            </a:r>
            <a:endParaRPr lang="en-US" sz="1000" dirty="0"/>
          </a:p>
        </p:txBody>
      </p:sp>
      <p:sp>
        <p:nvSpPr>
          <p:cNvPr id="10" name="Text 7"/>
          <p:cNvSpPr/>
          <p:nvPr/>
        </p:nvSpPr>
        <p:spPr>
          <a:xfrm>
            <a:off x="648000" y="3250800"/>
            <a:ext cx="6264000" cy="5616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Les curatifs de niveau 2, représentant 33 % des actions identifiées, regroupent les travaux à prévoir à moyen terme afin d’assurer le maintien en bon état du patrimoine et d’anticiper le vieillissement naturel des différents composants du bâtiment.</a:t>
            </a:r>
            <a:endParaRPr lang="en-US" sz="1000" dirty="0"/>
          </a:p>
        </p:txBody>
      </p:sp>
      <p:sp>
        <p:nvSpPr>
          <p:cNvPr id="11" name="Text 8"/>
          <p:cNvSpPr/>
          <p:nvPr/>
        </p:nvSpPr>
        <p:spPr>
          <a:xfrm>
            <a:off x="648000" y="3920400"/>
            <a:ext cx="6264000" cy="5616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Enfin, 1 curatifs de niveau 3, représentant 33 % des préconisations, correspondent principalement à des travaux d’entretien, d’amélioration ou de renouvellement à plus long terme destinés à préserver durablement les performances et l’aspect général de l’immeuble.</a:t>
            </a:r>
            <a:endParaRPr lang="en-US" sz="1000" dirty="0"/>
          </a:p>
        </p:txBody>
      </p:sp>
      <p:sp>
        <p:nvSpPr>
          <p:cNvPr id="12" name="Text 9"/>
          <p:cNvSpPr/>
          <p:nvPr/>
        </p:nvSpPr>
        <p:spPr>
          <a:xfrm>
            <a:off x="648000" y="4590000"/>
            <a:ext cx="6264000" cy="8928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La mise en œuvre progressive de ces interventions permettra de limiter les risques de dégradations futures, d’optimiser la gestion patrimoniale de la copropriété et d’améliorer les conditions d’usage et de confort des occupants. Le PPPT constitue ainsi un outil d’aide à la décision permettant aux copropriétaires de planifier les investissements nécessaires sur les dix prochaines années dans une logique d’entretien préventif et de maîtrise des coûts.</a:t>
            </a:r>
            <a:endParaRPr lang="en-US" sz="1000" dirty="0"/>
          </a:p>
        </p:txBody>
      </p:sp>
      <p:sp>
        <p:nvSpPr>
          <p:cNvPr id="13" name="Text 10"/>
          <p:cNvSpPr/>
          <p:nvPr/>
        </p:nvSpPr>
        <p:spPr>
          <a:xfrm>
            <a:off x="648000" y="5590800"/>
            <a:ext cx="6264000" cy="8928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Il convient de rappeler que l’ensemble des préconisations formulées dans le présent document repose sur les constatations réalisées lors de la visite des parties communes et des éléments accessibles au moment de l’audit. Les travaux proposés ont pour objectif d’anticiper les besoins futurs du bâtiment, de préserver sa durabilité et de réduire le risque d’apparition de désordres plus importants et plus coûteux à traiter à long terme.</a:t>
            </a:r>
            <a:endParaRPr lang="en-US" sz="1000" dirty="0"/>
          </a:p>
        </p:txBody>
      </p:sp>
      <p:sp>
        <p:nvSpPr>
          <p:cNvPr id="14" name="Text 11"/>
          <p:cNvSpPr/>
          <p:nvPr/>
        </p:nvSpPr>
        <p:spPr>
          <a:xfrm>
            <a:off x="648000" y="65916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maintien d’une politique d’entretien régulière, associé à la réalisation progressive des actions préconisées, contribuera à conserver un niveau satisfaisant de sécurité, de fonctionnalité et de confort pour les occupants. Cette démarche permettra également de préserver la valeur patrimoniale de l’immeuble tout en facilitant la maîtrise des dépenses futures de la copropriété.</a:t>
            </a:r>
            <a:endParaRPr lang="en-US" sz="1000" dirty="0"/>
          </a:p>
        </p:txBody>
      </p:sp>
      <p:sp>
        <p:nvSpPr>
          <p:cNvPr id="15" name="Text 12"/>
          <p:cNvSpPr/>
          <p:nvPr/>
        </p:nvSpPr>
        <p:spPr>
          <a:xfrm>
            <a:off x="648000" y="7426800"/>
            <a:ext cx="6264000" cy="5616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présent PPPT constitue ainsi un document évolutif d’aide à la décision, destiné à accompagner la copropriété dans la programmation de ses investissements et dans la définition d’une stratégie cohérente de gestion technique du patrimoine sur les prochaines années.</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39</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8.1 Ma Prime Rénov’Copropriétés</a:t>
            </a:r>
            <a:endParaRPr lang="en-US" sz="1300" dirty="0"/>
          </a:p>
        </p:txBody>
      </p:sp>
      <p:sp>
        <p:nvSpPr>
          <p:cNvPr id="8" name="Text 5"/>
          <p:cNvSpPr/>
          <p:nvPr/>
        </p:nvSpPr>
        <p:spPr>
          <a:xfrm>
            <a:off x="648000" y="1692000"/>
            <a:ext cx="3348000" cy="1480680"/>
          </a:xfrm>
          <a:prstGeom prst="rect">
            <a:avLst/>
          </a:prstGeom>
          <a:noFill/>
          <a:ln/>
        </p:spPr>
        <p:txBody>
          <a:bodyPr wrap="square" lIns="0" tIns="0" rIns="0" bIns="0" rtlCol="0" anchor="t"/>
          <a:lstStyle/>
          <a:p>
            <a:pPr algn="just" indent="0" marL="0">
              <a:buNone/>
            </a:pPr>
            <a:r>
              <a:rPr lang="en-US" sz="950" dirty="0">
                <a:solidFill>
                  <a:srgbClr val="0070C0"/>
                </a:solidFill>
                <a:latin typeface="Aptos" pitchFamily="34" charset="0"/>
                <a:ea typeface="Aptos" pitchFamily="34" charset="-122"/>
                <a:cs typeface="Aptos" pitchFamily="34" charset="-120"/>
              </a:rPr>
              <a:t>Cette prime peut également être versée au syndicat de copropriété lorsque le raccordement s’inscrit dans le cadre d’une opération plus large de rénovation énergétique globale.</a:t>
            </a:r>
            <a:endParaRPr lang="en-US" sz="950" dirty="0"/>
          </a:p>
          <a:p>
            <a:pPr algn="just" indent="0" marL="0">
              <a:buNone/>
            </a:pPr>
            <a:endParaRPr lang="en-US" sz="950" dirty="0"/>
          </a:p>
          <a:p>
            <a:pPr algn="just" indent="0" marL="0">
              <a:buNone/>
            </a:pPr>
            <a:r>
              <a:rPr lang="en-US" sz="950" dirty="0">
                <a:solidFill>
                  <a:srgbClr val="0070C0"/>
                </a:solidFill>
                <a:latin typeface="Aptos" pitchFamily="34" charset="0"/>
                <a:ea typeface="Aptos" pitchFamily="34" charset="-122"/>
                <a:cs typeface="Aptos" pitchFamily="34" charset="-120"/>
              </a:rPr>
              <a:t>Elle dépend du coût des travaux, de la situation de la copropriété et du nombre de logements. Un audit énergétique réglementaire et une assistance à maîtrise d’ouvrage est obligatoire.</a:t>
            </a:r>
            <a:endParaRPr lang="en-US" sz="950" dirty="0"/>
          </a:p>
        </p:txBody>
      </p:sp>
      <p:pic>
        <p:nvPicPr>
          <p:cNvPr id="9" name="Image 1" descr="Logo MaPrimeRénov’ Copropriétés">    </p:cNvPr>
          <p:cNvPicPr>
            <a:picLocks noChangeAspect="1"/>
          </p:cNvPicPr>
          <p:nvPr/>
        </p:nvPicPr>
        <p:blipFill>
          <a:blip r:embed="rId2"/>
          <a:srcRect l="0" r="0" t="0" b="0"/>
          <a:stretch/>
        </p:blipFill>
        <p:spPr>
          <a:xfrm>
            <a:off x="4428000" y="1836000"/>
            <a:ext cx="2484000" cy="1080000"/>
          </a:xfrm>
          <a:prstGeom prst="rect">
            <a:avLst/>
          </a:prstGeom>
        </p:spPr>
      </p:pic>
      <p:sp>
        <p:nvSpPr>
          <p:cNvPr id="10" name="Text 6"/>
          <p:cNvSpPr/>
          <p:nvPr/>
        </p:nvSpPr>
        <p:spPr>
          <a:xfrm>
            <a:off x="648000" y="3060000"/>
            <a:ext cx="6264000" cy="180000"/>
          </a:xfrm>
          <a:prstGeom prst="rect">
            <a:avLst/>
          </a:prstGeom>
          <a:noFill/>
          <a:ln/>
        </p:spPr>
        <p:txBody>
          <a:bodyPr wrap="square" lIns="0" tIns="0" rIns="0" bIns="0" rtlCol="0" anchor="t"/>
          <a:lstStyle/>
          <a:p>
            <a:pPr indent="0" marL="0">
              <a:buNone/>
            </a:pPr>
            <a:r>
              <a:rPr lang="en-US" sz="1000" b="1" dirty="0">
                <a:solidFill>
                  <a:srgbClr val="00B55A"/>
                </a:solidFill>
                <a:latin typeface="Aptos" pitchFamily="34" charset="0"/>
                <a:ea typeface="Aptos" pitchFamily="34" charset="-122"/>
                <a:cs typeface="Aptos" pitchFamily="34" charset="-120"/>
              </a:rPr>
              <a:t>Conditions d’éligibilité :</a:t>
            </a:r>
            <a:endParaRPr lang="en-US" sz="1000" dirty="0"/>
          </a:p>
        </p:txBody>
      </p:sp>
      <p:sp>
        <p:nvSpPr>
          <p:cNvPr id="11" name="Text 7"/>
          <p:cNvSpPr/>
          <p:nvPr/>
        </p:nvSpPr>
        <p:spPr>
          <a:xfrm>
            <a:off x="648000" y="3276000"/>
            <a:ext cx="6264000" cy="3412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 Travaux de rénovation globale, qui garantissent une amélioration significative du confort et de la performance énergétique de la copropriété (35 % minimum de gain énergétique après travaux).</a:t>
            </a:r>
            <a:endParaRPr lang="en-US" sz="900" dirty="0"/>
          </a:p>
        </p:txBody>
      </p:sp>
      <p:sp>
        <p:nvSpPr>
          <p:cNvPr id="12" name="Text 8"/>
          <p:cNvSpPr/>
          <p:nvPr/>
        </p:nvSpPr>
        <p:spPr>
          <a:xfrm>
            <a:off x="648000" y="3617280"/>
            <a:ext cx="6264000" cy="3412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 Être composée d’au moins 65 % de résidences principales (pour les copropriétés de 20 lots ou moins) ou d’au moins 75 % pour les copropriétés de plus de 20 lots.</a:t>
            </a:r>
            <a:endParaRPr lang="en-US" sz="900" dirty="0"/>
          </a:p>
        </p:txBody>
      </p:sp>
      <p:sp>
        <p:nvSpPr>
          <p:cNvPr id="13" name="Text 9"/>
          <p:cNvSpPr/>
          <p:nvPr/>
        </p:nvSpPr>
        <p:spPr>
          <a:xfrm>
            <a:off x="648000" y="3958560"/>
            <a:ext cx="6264000" cy="1922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 Copropriété immatriculée au registre national des copropriétés.</a:t>
            </a:r>
            <a:endParaRPr lang="en-US" sz="900" dirty="0"/>
          </a:p>
        </p:txBody>
      </p:sp>
      <p:sp>
        <p:nvSpPr>
          <p:cNvPr id="14" name="Shape 10"/>
          <p:cNvSpPr/>
          <p:nvPr/>
        </p:nvSpPr>
        <p:spPr>
          <a:xfrm>
            <a:off x="648000" y="4140000"/>
            <a:ext cx="3132000" cy="324000"/>
          </a:xfrm>
          <a:prstGeom prst="rect">
            <a:avLst/>
          </a:prstGeom>
          <a:solidFill>
            <a:srgbClr val="FFFFFF"/>
          </a:solidFill>
          <a:ln w="6985">
            <a:solidFill>
              <a:srgbClr val="FFC700"/>
            </a:solidFill>
            <a:prstDash val="solid"/>
          </a:ln>
        </p:spPr>
      </p:sp>
      <p:sp>
        <p:nvSpPr>
          <p:cNvPr id="15" name="Text 11"/>
          <p:cNvSpPr/>
          <p:nvPr/>
        </p:nvSpPr>
        <p:spPr>
          <a:xfrm>
            <a:off x="709200" y="4179600"/>
            <a:ext cx="3009600" cy="244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Conditions</a:t>
            </a:r>
            <a:endParaRPr lang="en-US" sz="900" dirty="0"/>
          </a:p>
        </p:txBody>
      </p:sp>
      <p:sp>
        <p:nvSpPr>
          <p:cNvPr id="16" name="Shape 12"/>
          <p:cNvSpPr/>
          <p:nvPr/>
        </p:nvSpPr>
        <p:spPr>
          <a:xfrm>
            <a:off x="3780000" y="4140000"/>
            <a:ext cx="3132000" cy="324000"/>
          </a:xfrm>
          <a:prstGeom prst="rect">
            <a:avLst/>
          </a:prstGeom>
          <a:solidFill>
            <a:srgbClr val="FFFFFF"/>
          </a:solidFill>
          <a:ln w="6985">
            <a:solidFill>
              <a:srgbClr val="FFC700"/>
            </a:solidFill>
            <a:prstDash val="solid"/>
          </a:ln>
        </p:spPr>
      </p:sp>
      <p:sp>
        <p:nvSpPr>
          <p:cNvPr id="17" name="Text 13"/>
          <p:cNvSpPr/>
          <p:nvPr/>
        </p:nvSpPr>
        <p:spPr>
          <a:xfrm>
            <a:off x="3841200" y="4179600"/>
            <a:ext cx="3009600" cy="244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Aide pour la copropriété</a:t>
            </a:r>
            <a:endParaRPr lang="en-US" sz="900" dirty="0"/>
          </a:p>
        </p:txBody>
      </p:sp>
      <p:sp>
        <p:nvSpPr>
          <p:cNvPr id="18" name="Shape 14"/>
          <p:cNvSpPr/>
          <p:nvPr/>
        </p:nvSpPr>
        <p:spPr>
          <a:xfrm>
            <a:off x="648000" y="4464000"/>
            <a:ext cx="3132000" cy="324000"/>
          </a:xfrm>
          <a:prstGeom prst="rect">
            <a:avLst/>
          </a:prstGeom>
          <a:solidFill>
            <a:srgbClr val="FFFFFF"/>
          </a:solidFill>
          <a:ln w="6985">
            <a:solidFill>
              <a:srgbClr val="FFC700"/>
            </a:solidFill>
            <a:prstDash val="solid"/>
          </a:ln>
        </p:spPr>
      </p:sp>
      <p:sp>
        <p:nvSpPr>
          <p:cNvPr id="19" name="Text 15"/>
          <p:cNvSpPr/>
          <p:nvPr/>
        </p:nvSpPr>
        <p:spPr>
          <a:xfrm>
            <a:off x="709200" y="4503600"/>
            <a:ext cx="3009600" cy="244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Travaux permettant d’atteindre un gain énergétique d’au moins 35%</a:t>
            </a:r>
            <a:endParaRPr lang="en-US" sz="840" dirty="0"/>
          </a:p>
        </p:txBody>
      </p:sp>
      <p:sp>
        <p:nvSpPr>
          <p:cNvPr id="20" name="Shape 16"/>
          <p:cNvSpPr/>
          <p:nvPr/>
        </p:nvSpPr>
        <p:spPr>
          <a:xfrm>
            <a:off x="3780000" y="4464000"/>
            <a:ext cx="3132000" cy="324000"/>
          </a:xfrm>
          <a:prstGeom prst="rect">
            <a:avLst/>
          </a:prstGeom>
          <a:solidFill>
            <a:srgbClr val="FFFFFF"/>
          </a:solidFill>
          <a:ln w="6985">
            <a:solidFill>
              <a:srgbClr val="FFC700"/>
            </a:solidFill>
            <a:prstDash val="solid"/>
          </a:ln>
        </p:spPr>
      </p:sp>
      <p:sp>
        <p:nvSpPr>
          <p:cNvPr id="21" name="Text 17"/>
          <p:cNvSpPr/>
          <p:nvPr/>
        </p:nvSpPr>
        <p:spPr>
          <a:xfrm>
            <a:off x="3841200" y="4503600"/>
            <a:ext cx="3009600" cy="244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30 % du montant des travaux, plafonné à 7 500 € par lot</a:t>
            </a:r>
            <a:endParaRPr lang="en-US" sz="840" dirty="0"/>
          </a:p>
        </p:txBody>
      </p:sp>
      <p:sp>
        <p:nvSpPr>
          <p:cNvPr id="22" name="Shape 18"/>
          <p:cNvSpPr/>
          <p:nvPr/>
        </p:nvSpPr>
        <p:spPr>
          <a:xfrm>
            <a:off x="648000" y="4788000"/>
            <a:ext cx="3132000" cy="324000"/>
          </a:xfrm>
          <a:prstGeom prst="rect">
            <a:avLst/>
          </a:prstGeom>
          <a:solidFill>
            <a:srgbClr val="FFFFFF"/>
          </a:solidFill>
          <a:ln w="6985">
            <a:solidFill>
              <a:srgbClr val="FFC700"/>
            </a:solidFill>
            <a:prstDash val="solid"/>
          </a:ln>
        </p:spPr>
      </p:sp>
      <p:sp>
        <p:nvSpPr>
          <p:cNvPr id="23" name="Text 19"/>
          <p:cNvSpPr/>
          <p:nvPr/>
        </p:nvSpPr>
        <p:spPr>
          <a:xfrm>
            <a:off x="709200" y="4827600"/>
            <a:ext cx="3009600" cy="244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Travaux permettant d’atteindre un gain énergétique d’au moins 50%</a:t>
            </a:r>
            <a:endParaRPr lang="en-US" sz="840" dirty="0"/>
          </a:p>
        </p:txBody>
      </p:sp>
      <p:sp>
        <p:nvSpPr>
          <p:cNvPr id="24" name="Shape 20"/>
          <p:cNvSpPr/>
          <p:nvPr/>
        </p:nvSpPr>
        <p:spPr>
          <a:xfrm>
            <a:off x="3780000" y="4788000"/>
            <a:ext cx="3132000" cy="324000"/>
          </a:xfrm>
          <a:prstGeom prst="rect">
            <a:avLst/>
          </a:prstGeom>
          <a:solidFill>
            <a:srgbClr val="FFFFFF"/>
          </a:solidFill>
          <a:ln w="6985">
            <a:solidFill>
              <a:srgbClr val="FFC700"/>
            </a:solidFill>
            <a:prstDash val="solid"/>
          </a:ln>
        </p:spPr>
      </p:sp>
      <p:sp>
        <p:nvSpPr>
          <p:cNvPr id="25" name="Text 21"/>
          <p:cNvSpPr/>
          <p:nvPr/>
        </p:nvSpPr>
        <p:spPr>
          <a:xfrm>
            <a:off x="3841200" y="4827600"/>
            <a:ext cx="3009600" cy="244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45 % du montant des travaux, plafonné à 11 250 € par lot</a:t>
            </a:r>
            <a:endParaRPr lang="en-US" sz="840" dirty="0"/>
          </a:p>
        </p:txBody>
      </p:sp>
      <p:sp>
        <p:nvSpPr>
          <p:cNvPr id="26" name="Shape 22"/>
          <p:cNvSpPr/>
          <p:nvPr/>
        </p:nvSpPr>
        <p:spPr>
          <a:xfrm>
            <a:off x="648000" y="5112000"/>
            <a:ext cx="3132000" cy="396000"/>
          </a:xfrm>
          <a:prstGeom prst="rect">
            <a:avLst/>
          </a:prstGeom>
          <a:solidFill>
            <a:srgbClr val="FFFFFF"/>
          </a:solidFill>
          <a:ln w="6985">
            <a:solidFill>
              <a:srgbClr val="FFC700"/>
            </a:solidFill>
            <a:prstDash val="solid"/>
          </a:ln>
        </p:spPr>
      </p:sp>
      <p:sp>
        <p:nvSpPr>
          <p:cNvPr id="27" name="Text 23"/>
          <p:cNvSpPr/>
          <p:nvPr/>
        </p:nvSpPr>
        <p:spPr>
          <a:xfrm>
            <a:off x="709200" y="5151600"/>
            <a:ext cx="3009600" cy="316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Bonification « sortie de passoire thermique » (étiquette avant travaux de F ou G)</a:t>
            </a:r>
            <a:endParaRPr lang="en-US" sz="840" dirty="0"/>
          </a:p>
        </p:txBody>
      </p:sp>
      <p:sp>
        <p:nvSpPr>
          <p:cNvPr id="28" name="Shape 24"/>
          <p:cNvSpPr/>
          <p:nvPr/>
        </p:nvSpPr>
        <p:spPr>
          <a:xfrm>
            <a:off x="3780000" y="5112000"/>
            <a:ext cx="3132000" cy="396000"/>
          </a:xfrm>
          <a:prstGeom prst="rect">
            <a:avLst/>
          </a:prstGeom>
          <a:solidFill>
            <a:srgbClr val="FFFFFF"/>
          </a:solidFill>
          <a:ln w="6985">
            <a:solidFill>
              <a:srgbClr val="FFC700"/>
            </a:solidFill>
            <a:prstDash val="solid"/>
          </a:ln>
        </p:spPr>
      </p:sp>
      <p:sp>
        <p:nvSpPr>
          <p:cNvPr id="29" name="Text 25"/>
          <p:cNvSpPr/>
          <p:nvPr/>
        </p:nvSpPr>
        <p:spPr>
          <a:xfrm>
            <a:off x="3841200" y="5151600"/>
            <a:ext cx="3009600" cy="316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+ 10 % si atteinte de l’étiquette D au minimum</a:t>
            </a:r>
            <a:endParaRPr lang="en-US" sz="840" dirty="0"/>
          </a:p>
        </p:txBody>
      </p:sp>
      <p:sp>
        <p:nvSpPr>
          <p:cNvPr id="30" name="Shape 26"/>
          <p:cNvSpPr/>
          <p:nvPr/>
        </p:nvSpPr>
        <p:spPr>
          <a:xfrm>
            <a:off x="648000" y="5508000"/>
            <a:ext cx="3132000" cy="468000"/>
          </a:xfrm>
          <a:prstGeom prst="rect">
            <a:avLst/>
          </a:prstGeom>
          <a:solidFill>
            <a:srgbClr val="FFFFFF"/>
          </a:solidFill>
          <a:ln w="6985">
            <a:solidFill>
              <a:srgbClr val="FFC700"/>
            </a:solidFill>
            <a:prstDash val="solid"/>
          </a:ln>
        </p:spPr>
      </p:sp>
      <p:sp>
        <p:nvSpPr>
          <p:cNvPr id="31" name="Text 27"/>
          <p:cNvSpPr/>
          <p:nvPr/>
        </p:nvSpPr>
        <p:spPr>
          <a:xfrm>
            <a:off x="709200" y="5547600"/>
            <a:ext cx="3009600" cy="388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Primes individuelles pour les copropriétaires</a:t>
            </a:r>
            <a:endParaRPr lang="en-US" sz="840" dirty="0"/>
          </a:p>
        </p:txBody>
      </p:sp>
      <p:sp>
        <p:nvSpPr>
          <p:cNvPr id="32" name="Shape 28"/>
          <p:cNvSpPr/>
          <p:nvPr/>
        </p:nvSpPr>
        <p:spPr>
          <a:xfrm>
            <a:off x="3780000" y="5508000"/>
            <a:ext cx="1566000" cy="468000"/>
          </a:xfrm>
          <a:prstGeom prst="rect">
            <a:avLst/>
          </a:prstGeom>
          <a:solidFill>
            <a:srgbClr val="FFFFFF"/>
          </a:solidFill>
          <a:ln w="6985">
            <a:solidFill>
              <a:srgbClr val="FFC700"/>
            </a:solidFill>
            <a:prstDash val="solid"/>
          </a:ln>
        </p:spPr>
      </p:sp>
      <p:sp>
        <p:nvSpPr>
          <p:cNvPr id="33" name="Text 29"/>
          <p:cNvSpPr/>
          <p:nvPr/>
        </p:nvSpPr>
        <p:spPr>
          <a:xfrm>
            <a:off x="3841200" y="5547600"/>
            <a:ext cx="1443600" cy="388800"/>
          </a:xfrm>
          <a:prstGeom prst="rect">
            <a:avLst/>
          </a:prstGeom>
          <a:noFill/>
          <a:ln/>
        </p:spPr>
        <p:txBody>
          <a:bodyPr wrap="square" lIns="0" tIns="0" rIns="0" bIns="0" rtlCol="0" anchor="ctr"/>
          <a:lstStyle/>
          <a:p>
            <a:pPr algn="l" indent="0" marL="0">
              <a:buNone/>
            </a:pPr>
            <a:r>
              <a:rPr lang="en-US" sz="820" dirty="0">
                <a:solidFill>
                  <a:srgbClr val="1C1C1C"/>
                </a:solidFill>
                <a:latin typeface="Aptos" pitchFamily="34" charset="0"/>
                <a:ea typeface="Aptos" pitchFamily="34" charset="-122"/>
                <a:cs typeface="Aptos" pitchFamily="34" charset="-120"/>
              </a:rPr>
              <a:t>3 000 € par logement pour les ménages aux ressources très modestes</a:t>
            </a:r>
            <a:endParaRPr lang="en-US" sz="820" dirty="0"/>
          </a:p>
        </p:txBody>
      </p:sp>
      <p:sp>
        <p:nvSpPr>
          <p:cNvPr id="34" name="Shape 30"/>
          <p:cNvSpPr/>
          <p:nvPr/>
        </p:nvSpPr>
        <p:spPr>
          <a:xfrm>
            <a:off x="5346000" y="5508000"/>
            <a:ext cx="1566000" cy="468000"/>
          </a:xfrm>
          <a:prstGeom prst="rect">
            <a:avLst/>
          </a:prstGeom>
          <a:solidFill>
            <a:srgbClr val="FFFFFF"/>
          </a:solidFill>
          <a:ln w="6985">
            <a:solidFill>
              <a:srgbClr val="FFC700"/>
            </a:solidFill>
            <a:prstDash val="solid"/>
          </a:ln>
        </p:spPr>
      </p:sp>
      <p:sp>
        <p:nvSpPr>
          <p:cNvPr id="35" name="Text 31"/>
          <p:cNvSpPr/>
          <p:nvPr/>
        </p:nvSpPr>
        <p:spPr>
          <a:xfrm>
            <a:off x="5407200" y="5547600"/>
            <a:ext cx="1443600" cy="388800"/>
          </a:xfrm>
          <a:prstGeom prst="rect">
            <a:avLst/>
          </a:prstGeom>
          <a:noFill/>
          <a:ln/>
        </p:spPr>
        <p:txBody>
          <a:bodyPr wrap="square" lIns="0" tIns="0" rIns="0" bIns="0" rtlCol="0" anchor="ctr"/>
          <a:lstStyle/>
          <a:p>
            <a:pPr algn="l" indent="0" marL="0">
              <a:buNone/>
            </a:pPr>
            <a:r>
              <a:rPr lang="en-US" sz="820" dirty="0">
                <a:solidFill>
                  <a:srgbClr val="1C1C1C"/>
                </a:solidFill>
                <a:latin typeface="Aptos" pitchFamily="34" charset="0"/>
                <a:ea typeface="Aptos" pitchFamily="34" charset="-122"/>
                <a:cs typeface="Aptos" pitchFamily="34" charset="-120"/>
              </a:rPr>
              <a:t>1 500 € par logement pour les ménages aux ressources modestes</a:t>
            </a:r>
            <a:endParaRPr lang="en-US" sz="820" dirty="0"/>
          </a:p>
        </p:txBody>
      </p:sp>
      <p:sp>
        <p:nvSpPr>
          <p:cNvPr id="36" name="Shape 32"/>
          <p:cNvSpPr/>
          <p:nvPr/>
        </p:nvSpPr>
        <p:spPr>
          <a:xfrm>
            <a:off x="648000" y="5976000"/>
            <a:ext cx="3132000" cy="396000"/>
          </a:xfrm>
          <a:prstGeom prst="rect">
            <a:avLst/>
          </a:prstGeom>
          <a:solidFill>
            <a:srgbClr val="FFFFFF"/>
          </a:solidFill>
          <a:ln w="6985">
            <a:solidFill>
              <a:srgbClr val="FFC700"/>
            </a:solidFill>
            <a:prstDash val="solid"/>
          </a:ln>
        </p:spPr>
      </p:sp>
      <p:sp>
        <p:nvSpPr>
          <p:cNvPr id="37" name="Text 33"/>
          <p:cNvSpPr/>
          <p:nvPr/>
        </p:nvSpPr>
        <p:spPr>
          <a:xfrm>
            <a:off x="709200" y="6015600"/>
            <a:ext cx="3009600" cy="316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Bonification pour les copropriétés fragiles et en difficulté</a:t>
            </a:r>
            <a:endParaRPr lang="en-US" sz="840" dirty="0"/>
          </a:p>
        </p:txBody>
      </p:sp>
      <p:sp>
        <p:nvSpPr>
          <p:cNvPr id="38" name="Shape 34"/>
          <p:cNvSpPr/>
          <p:nvPr/>
        </p:nvSpPr>
        <p:spPr>
          <a:xfrm>
            <a:off x="3780000" y="5976000"/>
            <a:ext cx="3132000" cy="396000"/>
          </a:xfrm>
          <a:prstGeom prst="rect">
            <a:avLst/>
          </a:prstGeom>
          <a:solidFill>
            <a:srgbClr val="FFFFFF"/>
          </a:solidFill>
          <a:ln w="6985">
            <a:solidFill>
              <a:srgbClr val="FFC700"/>
            </a:solidFill>
            <a:prstDash val="solid"/>
          </a:ln>
        </p:spPr>
      </p:sp>
      <p:sp>
        <p:nvSpPr>
          <p:cNvPr id="39" name="Text 35"/>
          <p:cNvSpPr/>
          <p:nvPr/>
        </p:nvSpPr>
        <p:spPr>
          <a:xfrm>
            <a:off x="3841200" y="6015600"/>
            <a:ext cx="3009600" cy="316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+ 20 % (dans le plafond des 25 000 €)</a:t>
            </a:r>
            <a:endParaRPr lang="en-US" sz="840" dirty="0"/>
          </a:p>
          <a:p>
            <a:pPr algn="l" indent="0" marL="0">
              <a:buNone/>
            </a:pPr>
            <a:r>
              <a:rPr lang="en-US" sz="840" dirty="0">
                <a:solidFill>
                  <a:srgbClr val="1C1C1C"/>
                </a:solidFill>
                <a:latin typeface="Aptos" pitchFamily="34" charset="0"/>
                <a:ea typeface="Aptos" pitchFamily="34" charset="-122"/>
                <a:cs typeface="Aptos" pitchFamily="34" charset="-120"/>
              </a:rPr>
              <a:t>Sous conditions d’obtention des CEE par l’Anah</a:t>
            </a:r>
            <a:endParaRPr lang="en-US" sz="840" dirty="0"/>
          </a:p>
        </p:txBody>
      </p:sp>
      <p:sp>
        <p:nvSpPr>
          <p:cNvPr id="40" name="Shape 36"/>
          <p:cNvSpPr/>
          <p:nvPr/>
        </p:nvSpPr>
        <p:spPr>
          <a:xfrm>
            <a:off x="648000" y="6552000"/>
            <a:ext cx="972000" cy="468000"/>
          </a:xfrm>
          <a:prstGeom prst="rect">
            <a:avLst/>
          </a:prstGeom>
          <a:solidFill>
            <a:srgbClr val="FFFFFF"/>
          </a:solidFill>
          <a:ln w="6985">
            <a:solidFill>
              <a:srgbClr val="2442F5"/>
            </a:solidFill>
            <a:prstDash val="solid"/>
          </a:ln>
        </p:spPr>
      </p:sp>
      <p:sp>
        <p:nvSpPr>
          <p:cNvPr id="41" name="Text 37"/>
          <p:cNvSpPr/>
          <p:nvPr/>
        </p:nvSpPr>
        <p:spPr>
          <a:xfrm>
            <a:off x="709200" y="6591600"/>
            <a:ext cx="849600" cy="388800"/>
          </a:xfrm>
          <a:prstGeom prst="rect">
            <a:avLst/>
          </a:prstGeom>
          <a:noFill/>
          <a:ln/>
        </p:spPr>
        <p:txBody>
          <a:bodyPr wrap="square" lIns="0" tIns="0" rIns="0" bIns="0" rtlCol="0" anchor="ctr"/>
          <a:lstStyle/>
          <a:p>
            <a:pPr algn="ctr" indent="0" marL="0">
              <a:buNone/>
            </a:pPr>
            <a:endParaRPr lang="en-US" sz="770" dirty="0"/>
          </a:p>
        </p:txBody>
      </p:sp>
      <p:sp>
        <p:nvSpPr>
          <p:cNvPr id="42" name="Shape 38"/>
          <p:cNvSpPr/>
          <p:nvPr/>
        </p:nvSpPr>
        <p:spPr>
          <a:xfrm>
            <a:off x="1620000" y="6552000"/>
            <a:ext cx="972000" cy="468000"/>
          </a:xfrm>
          <a:prstGeom prst="rect">
            <a:avLst/>
          </a:prstGeom>
          <a:solidFill>
            <a:srgbClr val="FFFFFF"/>
          </a:solidFill>
          <a:ln w="6985">
            <a:solidFill>
              <a:srgbClr val="FFC700"/>
            </a:solidFill>
            <a:prstDash val="solid"/>
          </a:ln>
        </p:spPr>
      </p:sp>
      <p:sp>
        <p:nvSpPr>
          <p:cNvPr id="43" name="Text 39"/>
          <p:cNvSpPr/>
          <p:nvPr/>
        </p:nvSpPr>
        <p:spPr>
          <a:xfrm>
            <a:off x="1681200" y="6591600"/>
            <a:ext cx="849600" cy="388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Ma Prime Rénov’</a:t>
            </a:r>
            <a:endParaRPr lang="en-US" sz="770" dirty="0"/>
          </a:p>
          <a:p>
            <a:pPr algn="ctr" indent="0" marL="0">
              <a:buNone/>
            </a:pPr>
            <a:r>
              <a:rPr lang="en-US" sz="770" dirty="0">
                <a:solidFill>
                  <a:srgbClr val="1C1C1C"/>
                </a:solidFill>
                <a:latin typeface="Aptos" pitchFamily="34" charset="0"/>
                <a:ea typeface="Aptos" pitchFamily="34" charset="-122"/>
                <a:cs typeface="Aptos" pitchFamily="34" charset="-120"/>
              </a:rPr>
              <a:t>pour une rénovation par geste</a:t>
            </a:r>
            <a:endParaRPr lang="en-US" sz="770" dirty="0"/>
          </a:p>
        </p:txBody>
      </p:sp>
      <p:sp>
        <p:nvSpPr>
          <p:cNvPr id="44" name="Shape 40"/>
          <p:cNvSpPr/>
          <p:nvPr/>
        </p:nvSpPr>
        <p:spPr>
          <a:xfrm>
            <a:off x="2592000" y="6552000"/>
            <a:ext cx="972000" cy="468000"/>
          </a:xfrm>
          <a:prstGeom prst="rect">
            <a:avLst/>
          </a:prstGeom>
          <a:solidFill>
            <a:srgbClr val="FFFFFF"/>
          </a:solidFill>
          <a:ln w="6985">
            <a:solidFill>
              <a:srgbClr val="00B55A"/>
            </a:solidFill>
            <a:prstDash val="solid"/>
          </a:ln>
        </p:spPr>
      </p:sp>
      <p:sp>
        <p:nvSpPr>
          <p:cNvPr id="45" name="Text 41"/>
          <p:cNvSpPr/>
          <p:nvPr/>
        </p:nvSpPr>
        <p:spPr>
          <a:xfrm>
            <a:off x="2653200" y="6591600"/>
            <a:ext cx="849600" cy="388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Aides des</a:t>
            </a:r>
            <a:endParaRPr lang="en-US" sz="770" dirty="0"/>
          </a:p>
          <a:p>
            <a:pPr algn="ctr" indent="0" marL="0">
              <a:buNone/>
            </a:pPr>
            <a:r>
              <a:rPr lang="en-US" sz="770" dirty="0">
                <a:solidFill>
                  <a:srgbClr val="1C1C1C"/>
                </a:solidFill>
                <a:latin typeface="Aptos" pitchFamily="34" charset="0"/>
                <a:ea typeface="Aptos" pitchFamily="34" charset="-122"/>
                <a:cs typeface="Aptos" pitchFamily="34" charset="-120"/>
              </a:rPr>
              <a:t>collectivités locales</a:t>
            </a:r>
            <a:endParaRPr lang="en-US" sz="770" dirty="0"/>
          </a:p>
        </p:txBody>
      </p:sp>
      <p:sp>
        <p:nvSpPr>
          <p:cNvPr id="46" name="Shape 42"/>
          <p:cNvSpPr/>
          <p:nvPr/>
        </p:nvSpPr>
        <p:spPr>
          <a:xfrm>
            <a:off x="3564000" y="6552000"/>
            <a:ext cx="1044000" cy="468000"/>
          </a:xfrm>
          <a:prstGeom prst="rect">
            <a:avLst/>
          </a:prstGeom>
          <a:solidFill>
            <a:srgbClr val="FFFFFF"/>
          </a:solidFill>
          <a:ln w="6985">
            <a:solidFill>
              <a:srgbClr val="2442F5"/>
            </a:solidFill>
            <a:prstDash val="solid"/>
          </a:ln>
        </p:spPr>
      </p:sp>
      <p:sp>
        <p:nvSpPr>
          <p:cNvPr id="47" name="Text 43"/>
          <p:cNvSpPr/>
          <p:nvPr/>
        </p:nvSpPr>
        <p:spPr>
          <a:xfrm>
            <a:off x="3625200" y="6591600"/>
            <a:ext cx="921600" cy="388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Aides des fournisseurs</a:t>
            </a:r>
            <a:endParaRPr lang="en-US" sz="770" dirty="0"/>
          </a:p>
          <a:p>
            <a:pPr algn="ctr" indent="0" marL="0">
              <a:buNone/>
            </a:pPr>
            <a:r>
              <a:rPr lang="en-US" sz="770" dirty="0">
                <a:solidFill>
                  <a:srgbClr val="1C1C1C"/>
                </a:solidFill>
                <a:latin typeface="Aptos" pitchFamily="34" charset="0"/>
                <a:ea typeface="Aptos" pitchFamily="34" charset="-122"/>
                <a:cs typeface="Aptos" pitchFamily="34" charset="-120"/>
              </a:rPr>
              <a:t>d’énergie (CEE)</a:t>
            </a:r>
            <a:endParaRPr lang="en-US" sz="770" dirty="0"/>
          </a:p>
        </p:txBody>
      </p:sp>
      <p:sp>
        <p:nvSpPr>
          <p:cNvPr id="48" name="Shape 44"/>
          <p:cNvSpPr/>
          <p:nvPr/>
        </p:nvSpPr>
        <p:spPr>
          <a:xfrm>
            <a:off x="4608000" y="6552000"/>
            <a:ext cx="1080000" cy="468000"/>
          </a:xfrm>
          <a:prstGeom prst="rect">
            <a:avLst/>
          </a:prstGeom>
          <a:solidFill>
            <a:srgbClr val="FFFFFF"/>
          </a:solidFill>
          <a:ln w="6985">
            <a:solidFill>
              <a:srgbClr val="FFC700"/>
            </a:solidFill>
            <a:prstDash val="solid"/>
          </a:ln>
        </p:spPr>
      </p:sp>
      <p:sp>
        <p:nvSpPr>
          <p:cNvPr id="49" name="Text 45"/>
          <p:cNvSpPr/>
          <p:nvPr/>
        </p:nvSpPr>
        <p:spPr>
          <a:xfrm>
            <a:off x="4669200" y="6591600"/>
            <a:ext cx="957600" cy="388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Éco-Prêt à taux zéro</a:t>
            </a:r>
            <a:endParaRPr lang="en-US" sz="770" dirty="0"/>
          </a:p>
        </p:txBody>
      </p:sp>
      <p:sp>
        <p:nvSpPr>
          <p:cNvPr id="50" name="Shape 46"/>
          <p:cNvSpPr/>
          <p:nvPr/>
        </p:nvSpPr>
        <p:spPr>
          <a:xfrm>
            <a:off x="5688000" y="6552000"/>
            <a:ext cx="1224000" cy="468000"/>
          </a:xfrm>
          <a:prstGeom prst="rect">
            <a:avLst/>
          </a:prstGeom>
          <a:solidFill>
            <a:srgbClr val="FFFFFF"/>
          </a:solidFill>
          <a:ln w="6985">
            <a:solidFill>
              <a:srgbClr val="00B55A"/>
            </a:solidFill>
            <a:prstDash val="solid"/>
          </a:ln>
        </p:spPr>
      </p:sp>
      <p:sp>
        <p:nvSpPr>
          <p:cNvPr id="51" name="Text 47"/>
          <p:cNvSpPr/>
          <p:nvPr/>
        </p:nvSpPr>
        <p:spPr>
          <a:xfrm>
            <a:off x="5749200" y="6591600"/>
            <a:ext cx="1101600" cy="388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TVA réduite à 5,5 %</a:t>
            </a:r>
            <a:endParaRPr lang="en-US" sz="770" dirty="0"/>
          </a:p>
        </p:txBody>
      </p:sp>
      <p:sp>
        <p:nvSpPr>
          <p:cNvPr id="52" name="Shape 48"/>
          <p:cNvSpPr/>
          <p:nvPr/>
        </p:nvSpPr>
        <p:spPr>
          <a:xfrm>
            <a:off x="648000" y="7020000"/>
            <a:ext cx="972000" cy="612000"/>
          </a:xfrm>
          <a:prstGeom prst="rect">
            <a:avLst/>
          </a:prstGeom>
          <a:solidFill>
            <a:srgbClr val="FFFFFF"/>
          </a:solidFill>
          <a:ln w="6985">
            <a:solidFill>
              <a:srgbClr val="2442F5"/>
            </a:solidFill>
            <a:prstDash val="solid"/>
          </a:ln>
        </p:spPr>
      </p:sp>
      <p:sp>
        <p:nvSpPr>
          <p:cNvPr id="53" name="Text 49"/>
          <p:cNvSpPr/>
          <p:nvPr/>
        </p:nvSpPr>
        <p:spPr>
          <a:xfrm>
            <a:off x="709200" y="7059600"/>
            <a:ext cx="849600" cy="532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Aide cumulable avec Ma Prime Rénov’ Copro</a:t>
            </a:r>
            <a:endParaRPr lang="en-US" sz="770" dirty="0"/>
          </a:p>
        </p:txBody>
      </p:sp>
      <p:sp>
        <p:nvSpPr>
          <p:cNvPr id="54" name="Shape 50"/>
          <p:cNvSpPr/>
          <p:nvPr/>
        </p:nvSpPr>
        <p:spPr>
          <a:xfrm>
            <a:off x="1620000" y="7020000"/>
            <a:ext cx="972000" cy="612000"/>
          </a:xfrm>
          <a:prstGeom prst="rect">
            <a:avLst/>
          </a:prstGeom>
          <a:solidFill>
            <a:srgbClr val="FFFFFF"/>
          </a:solidFill>
          <a:ln w="6985">
            <a:solidFill>
              <a:srgbClr val="FFC700"/>
            </a:solidFill>
            <a:prstDash val="solid"/>
          </a:ln>
        </p:spPr>
      </p:sp>
      <p:sp>
        <p:nvSpPr>
          <p:cNvPr id="55" name="Text 51"/>
          <p:cNvSpPr/>
          <p:nvPr/>
        </p:nvSpPr>
        <p:spPr>
          <a:xfrm>
            <a:off x="1681200" y="7059600"/>
            <a:ext cx="849600" cy="532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Cumul possible en parties privatives et parties communes</a:t>
            </a:r>
            <a:endParaRPr lang="en-US" sz="770" dirty="0"/>
          </a:p>
        </p:txBody>
      </p:sp>
      <p:sp>
        <p:nvSpPr>
          <p:cNvPr id="56" name="Shape 52"/>
          <p:cNvSpPr/>
          <p:nvPr/>
        </p:nvSpPr>
        <p:spPr>
          <a:xfrm>
            <a:off x="2592000" y="7020000"/>
            <a:ext cx="972000" cy="612000"/>
          </a:xfrm>
          <a:prstGeom prst="rect">
            <a:avLst/>
          </a:prstGeom>
          <a:solidFill>
            <a:srgbClr val="FFFFFF"/>
          </a:solidFill>
          <a:ln w="6985">
            <a:solidFill>
              <a:srgbClr val="00B55A"/>
            </a:solidFill>
            <a:prstDash val="solid"/>
          </a:ln>
        </p:spPr>
      </p:sp>
      <p:sp>
        <p:nvSpPr>
          <p:cNvPr id="57" name="Text 53"/>
          <p:cNvSpPr/>
          <p:nvPr/>
        </p:nvSpPr>
        <p:spPr>
          <a:xfrm>
            <a:off x="2653200" y="7059600"/>
            <a:ext cx="849600" cy="532800"/>
          </a:xfrm>
          <a:prstGeom prst="rect">
            <a:avLst/>
          </a:prstGeom>
          <a:noFill/>
          <a:ln/>
        </p:spPr>
        <p:txBody>
          <a:bodyPr wrap="square" lIns="0" tIns="0" rIns="0" bIns="0" rtlCol="0" anchor="ctr"/>
          <a:lstStyle/>
          <a:p>
            <a:pPr algn="ctr" indent="0" marL="0">
              <a:buNone/>
            </a:pPr>
            <a:endParaRPr lang="en-US" sz="770" dirty="0"/>
          </a:p>
        </p:txBody>
      </p:sp>
      <p:sp>
        <p:nvSpPr>
          <p:cNvPr id="58" name="Shape 54"/>
          <p:cNvSpPr/>
          <p:nvPr/>
        </p:nvSpPr>
        <p:spPr>
          <a:xfrm>
            <a:off x="3564000" y="7020000"/>
            <a:ext cx="1044000" cy="612000"/>
          </a:xfrm>
          <a:prstGeom prst="rect">
            <a:avLst/>
          </a:prstGeom>
          <a:solidFill>
            <a:srgbClr val="FFFFFF"/>
          </a:solidFill>
          <a:ln w="6985">
            <a:solidFill>
              <a:srgbClr val="2442F5"/>
            </a:solidFill>
            <a:prstDash val="solid"/>
          </a:ln>
        </p:spPr>
      </p:sp>
      <p:sp>
        <p:nvSpPr>
          <p:cNvPr id="59" name="Text 55"/>
          <p:cNvSpPr/>
          <p:nvPr/>
        </p:nvSpPr>
        <p:spPr>
          <a:xfrm>
            <a:off x="3625200" y="7059600"/>
            <a:ext cx="921600" cy="532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Sauf en cas de copropriétés en difficultés et copropriétés fragiles</a:t>
            </a:r>
            <a:endParaRPr lang="en-US" sz="770" dirty="0"/>
          </a:p>
        </p:txBody>
      </p:sp>
      <p:sp>
        <p:nvSpPr>
          <p:cNvPr id="60" name="Shape 56"/>
          <p:cNvSpPr/>
          <p:nvPr/>
        </p:nvSpPr>
        <p:spPr>
          <a:xfrm>
            <a:off x="4608000" y="7020000"/>
            <a:ext cx="1080000" cy="612000"/>
          </a:xfrm>
          <a:prstGeom prst="rect">
            <a:avLst/>
          </a:prstGeom>
          <a:solidFill>
            <a:srgbClr val="FFFFFF"/>
          </a:solidFill>
          <a:ln w="6985">
            <a:solidFill>
              <a:srgbClr val="FFC700"/>
            </a:solidFill>
            <a:prstDash val="solid"/>
          </a:ln>
        </p:spPr>
      </p:sp>
      <p:sp>
        <p:nvSpPr>
          <p:cNvPr id="61" name="Text 57"/>
          <p:cNvSpPr/>
          <p:nvPr/>
        </p:nvSpPr>
        <p:spPr>
          <a:xfrm>
            <a:off x="4669200" y="7059600"/>
            <a:ext cx="957600" cy="532800"/>
          </a:xfrm>
          <a:prstGeom prst="rect">
            <a:avLst/>
          </a:prstGeom>
          <a:noFill/>
          <a:ln/>
        </p:spPr>
        <p:txBody>
          <a:bodyPr wrap="square" lIns="0" tIns="0" rIns="0" bIns="0" rtlCol="0" anchor="ctr"/>
          <a:lstStyle/>
          <a:p>
            <a:pPr algn="ctr" indent="0" marL="0">
              <a:buNone/>
            </a:pPr>
            <a:endParaRPr lang="en-US" sz="770" dirty="0"/>
          </a:p>
        </p:txBody>
      </p:sp>
      <p:sp>
        <p:nvSpPr>
          <p:cNvPr id="62" name="Shape 58"/>
          <p:cNvSpPr/>
          <p:nvPr/>
        </p:nvSpPr>
        <p:spPr>
          <a:xfrm>
            <a:off x="5688000" y="7020000"/>
            <a:ext cx="1224000" cy="612000"/>
          </a:xfrm>
          <a:prstGeom prst="rect">
            <a:avLst/>
          </a:prstGeom>
          <a:solidFill>
            <a:srgbClr val="FFFFFF"/>
          </a:solidFill>
          <a:ln w="6985">
            <a:solidFill>
              <a:srgbClr val="00B55A"/>
            </a:solidFill>
            <a:prstDash val="solid"/>
          </a:ln>
        </p:spPr>
      </p:sp>
      <p:sp>
        <p:nvSpPr>
          <p:cNvPr id="63" name="Text 59"/>
          <p:cNvSpPr/>
          <p:nvPr/>
        </p:nvSpPr>
        <p:spPr>
          <a:xfrm>
            <a:off x="5749200" y="7059600"/>
            <a:ext cx="1101600" cy="532800"/>
          </a:xfrm>
          <a:prstGeom prst="rect">
            <a:avLst/>
          </a:prstGeom>
          <a:noFill/>
          <a:ln/>
        </p:spPr>
        <p:txBody>
          <a:bodyPr wrap="square" lIns="0" tIns="0" rIns="0" bIns="0" rtlCol="0" anchor="ctr"/>
          <a:lstStyle/>
          <a:p>
            <a:pPr algn="ctr" indent="0" marL="0">
              <a:buNone/>
            </a:pPr>
            <a:endParaRPr lang="en-US" sz="770" dirty="0"/>
          </a:p>
        </p:txBody>
      </p:sp>
      <p:sp>
        <p:nvSpPr>
          <p:cNvPr id="64" name="Shape 60"/>
          <p:cNvSpPr/>
          <p:nvPr/>
        </p:nvSpPr>
        <p:spPr>
          <a:xfrm>
            <a:off x="2415600" y="7063200"/>
            <a:ext cx="115200" cy="115200"/>
          </a:xfrm>
          <a:prstGeom prst="ellipse">
            <a:avLst/>
          </a:prstGeom>
          <a:solidFill>
            <a:srgbClr val="FFFFFF"/>
          </a:solidFill>
          <a:ln w="13970">
            <a:solidFill>
              <a:srgbClr val="FFC700"/>
            </a:solidFill>
            <a:prstDash val="solid"/>
          </a:ln>
        </p:spPr>
      </p:sp>
      <p:sp>
        <p:nvSpPr>
          <p:cNvPr id="65" name="Text 61"/>
          <p:cNvSpPr/>
          <p:nvPr/>
        </p:nvSpPr>
        <p:spPr>
          <a:xfrm>
            <a:off x="2428200" y="7072200"/>
            <a:ext cx="90000" cy="90000"/>
          </a:xfrm>
          <a:prstGeom prst="rect">
            <a:avLst/>
          </a:prstGeom>
          <a:noFill/>
          <a:ln/>
        </p:spPr>
        <p:txBody>
          <a:bodyPr wrap="square" lIns="0" tIns="0" rIns="0" bIns="0" rtlCol="0" anchor="ctr"/>
          <a:lstStyle/>
          <a:p>
            <a:pPr algn="ctr" indent="0" marL="0">
              <a:buNone/>
            </a:pPr>
            <a:r>
              <a:rPr lang="en-US" sz="550" b="1" dirty="0">
                <a:solidFill>
                  <a:srgbClr val="FFC700"/>
                </a:solidFill>
                <a:latin typeface="Aptos" pitchFamily="34" charset="0"/>
                <a:ea typeface="Aptos" pitchFamily="34" charset="-122"/>
                <a:cs typeface="Aptos" pitchFamily="34" charset="-120"/>
              </a:rPr>
              <a:t>✓</a:t>
            </a:r>
            <a:endParaRPr lang="en-US" sz="550" dirty="0"/>
          </a:p>
        </p:txBody>
      </p:sp>
      <p:sp>
        <p:nvSpPr>
          <p:cNvPr id="66" name="Shape 62"/>
          <p:cNvSpPr/>
          <p:nvPr/>
        </p:nvSpPr>
        <p:spPr>
          <a:xfrm>
            <a:off x="3387600" y="7063200"/>
            <a:ext cx="115200" cy="115200"/>
          </a:xfrm>
          <a:prstGeom prst="ellipse">
            <a:avLst/>
          </a:prstGeom>
          <a:solidFill>
            <a:srgbClr val="FFFFFF"/>
          </a:solidFill>
          <a:ln w="13970">
            <a:solidFill>
              <a:srgbClr val="00B55A"/>
            </a:solidFill>
            <a:prstDash val="solid"/>
          </a:ln>
        </p:spPr>
      </p:sp>
      <p:sp>
        <p:nvSpPr>
          <p:cNvPr id="67" name="Text 63"/>
          <p:cNvSpPr/>
          <p:nvPr/>
        </p:nvSpPr>
        <p:spPr>
          <a:xfrm>
            <a:off x="3400200" y="7072200"/>
            <a:ext cx="90000" cy="90000"/>
          </a:xfrm>
          <a:prstGeom prst="rect">
            <a:avLst/>
          </a:prstGeom>
          <a:noFill/>
          <a:ln/>
        </p:spPr>
        <p:txBody>
          <a:bodyPr wrap="square" lIns="0" tIns="0" rIns="0" bIns="0" rtlCol="0" anchor="ctr"/>
          <a:lstStyle/>
          <a:p>
            <a:pPr algn="ctr" indent="0" marL="0">
              <a:buNone/>
            </a:pPr>
            <a:r>
              <a:rPr lang="en-US" sz="550" b="1" dirty="0">
                <a:solidFill>
                  <a:srgbClr val="00B55A"/>
                </a:solidFill>
                <a:latin typeface="Aptos" pitchFamily="34" charset="0"/>
                <a:ea typeface="Aptos" pitchFamily="34" charset="-122"/>
                <a:cs typeface="Aptos" pitchFamily="34" charset="-120"/>
              </a:rPr>
              <a:t>✓</a:t>
            </a:r>
            <a:endParaRPr lang="en-US" sz="550" dirty="0"/>
          </a:p>
        </p:txBody>
      </p:sp>
      <p:sp>
        <p:nvSpPr>
          <p:cNvPr id="68" name="Shape 64"/>
          <p:cNvSpPr/>
          <p:nvPr/>
        </p:nvSpPr>
        <p:spPr>
          <a:xfrm>
            <a:off x="4431600" y="7063200"/>
            <a:ext cx="115200" cy="115200"/>
          </a:xfrm>
          <a:prstGeom prst="ellipse">
            <a:avLst/>
          </a:prstGeom>
          <a:solidFill>
            <a:srgbClr val="FFFFFF"/>
          </a:solidFill>
          <a:ln w="13970">
            <a:solidFill>
              <a:srgbClr val="2442F5"/>
            </a:solidFill>
            <a:prstDash val="solid"/>
          </a:ln>
        </p:spPr>
      </p:sp>
      <p:sp>
        <p:nvSpPr>
          <p:cNvPr id="69" name="Text 65"/>
          <p:cNvSpPr/>
          <p:nvPr/>
        </p:nvSpPr>
        <p:spPr>
          <a:xfrm>
            <a:off x="4444200" y="7072200"/>
            <a:ext cx="90000" cy="90000"/>
          </a:xfrm>
          <a:prstGeom prst="rect">
            <a:avLst/>
          </a:prstGeom>
          <a:noFill/>
          <a:ln/>
        </p:spPr>
        <p:txBody>
          <a:bodyPr wrap="square" lIns="0" tIns="0" rIns="0" bIns="0" rtlCol="0" anchor="ctr"/>
          <a:lstStyle/>
          <a:p>
            <a:pPr algn="ctr" indent="0" marL="0">
              <a:buNone/>
            </a:pPr>
            <a:r>
              <a:rPr lang="en-US" sz="550" b="1" dirty="0">
                <a:solidFill>
                  <a:srgbClr val="2442F5"/>
                </a:solidFill>
                <a:latin typeface="Aptos" pitchFamily="34" charset="0"/>
                <a:ea typeface="Aptos" pitchFamily="34" charset="-122"/>
                <a:cs typeface="Aptos" pitchFamily="34" charset="-120"/>
              </a:rPr>
              <a:t>✓</a:t>
            </a:r>
            <a:endParaRPr lang="en-US" sz="550" dirty="0"/>
          </a:p>
        </p:txBody>
      </p:sp>
      <p:sp>
        <p:nvSpPr>
          <p:cNvPr id="70" name="Shape 66"/>
          <p:cNvSpPr/>
          <p:nvPr/>
        </p:nvSpPr>
        <p:spPr>
          <a:xfrm>
            <a:off x="5511600" y="7063200"/>
            <a:ext cx="115200" cy="115200"/>
          </a:xfrm>
          <a:prstGeom prst="ellipse">
            <a:avLst/>
          </a:prstGeom>
          <a:solidFill>
            <a:srgbClr val="FFFFFF"/>
          </a:solidFill>
          <a:ln w="13970">
            <a:solidFill>
              <a:srgbClr val="FFC700"/>
            </a:solidFill>
            <a:prstDash val="solid"/>
          </a:ln>
        </p:spPr>
      </p:sp>
      <p:sp>
        <p:nvSpPr>
          <p:cNvPr id="71" name="Text 67"/>
          <p:cNvSpPr/>
          <p:nvPr/>
        </p:nvSpPr>
        <p:spPr>
          <a:xfrm>
            <a:off x="5524200" y="7072200"/>
            <a:ext cx="90000" cy="90000"/>
          </a:xfrm>
          <a:prstGeom prst="rect">
            <a:avLst/>
          </a:prstGeom>
          <a:noFill/>
          <a:ln/>
        </p:spPr>
        <p:txBody>
          <a:bodyPr wrap="square" lIns="0" tIns="0" rIns="0" bIns="0" rtlCol="0" anchor="ctr"/>
          <a:lstStyle/>
          <a:p>
            <a:pPr algn="ctr" indent="0" marL="0">
              <a:buNone/>
            </a:pPr>
            <a:r>
              <a:rPr lang="en-US" sz="550" b="1" dirty="0">
                <a:solidFill>
                  <a:srgbClr val="FFC700"/>
                </a:solidFill>
                <a:latin typeface="Aptos" pitchFamily="34" charset="0"/>
                <a:ea typeface="Aptos" pitchFamily="34" charset="-122"/>
                <a:cs typeface="Aptos" pitchFamily="34" charset="-120"/>
              </a:rPr>
              <a:t>✓</a:t>
            </a:r>
            <a:endParaRPr lang="en-US" sz="550" dirty="0"/>
          </a:p>
        </p:txBody>
      </p:sp>
      <p:sp>
        <p:nvSpPr>
          <p:cNvPr id="72" name="Shape 68"/>
          <p:cNvSpPr/>
          <p:nvPr/>
        </p:nvSpPr>
        <p:spPr>
          <a:xfrm>
            <a:off x="6735600" y="7063200"/>
            <a:ext cx="115200" cy="115200"/>
          </a:xfrm>
          <a:prstGeom prst="ellipse">
            <a:avLst/>
          </a:prstGeom>
          <a:solidFill>
            <a:srgbClr val="FFFFFF"/>
          </a:solidFill>
          <a:ln w="13970">
            <a:solidFill>
              <a:srgbClr val="00B55A"/>
            </a:solidFill>
            <a:prstDash val="solid"/>
          </a:ln>
        </p:spPr>
      </p:sp>
      <p:sp>
        <p:nvSpPr>
          <p:cNvPr id="73" name="Text 69"/>
          <p:cNvSpPr/>
          <p:nvPr/>
        </p:nvSpPr>
        <p:spPr>
          <a:xfrm>
            <a:off x="6748200" y="7072200"/>
            <a:ext cx="90000" cy="90000"/>
          </a:xfrm>
          <a:prstGeom prst="rect">
            <a:avLst/>
          </a:prstGeom>
          <a:noFill/>
          <a:ln/>
        </p:spPr>
        <p:txBody>
          <a:bodyPr wrap="square" lIns="0" tIns="0" rIns="0" bIns="0" rtlCol="0" anchor="ctr"/>
          <a:lstStyle/>
          <a:p>
            <a:pPr algn="ctr" indent="0" marL="0">
              <a:buNone/>
            </a:pPr>
            <a:r>
              <a:rPr lang="en-US" sz="550" b="1" dirty="0">
                <a:solidFill>
                  <a:srgbClr val="00B55A"/>
                </a:solidFill>
                <a:latin typeface="Aptos" pitchFamily="34" charset="0"/>
                <a:ea typeface="Aptos" pitchFamily="34" charset="-122"/>
                <a:cs typeface="Aptos" pitchFamily="34" charset="-120"/>
              </a:rPr>
              <a:t>✓</a:t>
            </a:r>
            <a:endParaRPr lang="en-US" sz="550" dirty="0"/>
          </a:p>
        </p:txBody>
      </p:sp>
      <p:sp>
        <p:nvSpPr>
          <p:cNvPr id="74" name="Text 70"/>
          <p:cNvSpPr/>
          <p:nvPr/>
        </p:nvSpPr>
        <p:spPr>
          <a:xfrm>
            <a:off x="648000" y="7776000"/>
            <a:ext cx="6264000" cy="180000"/>
          </a:xfrm>
          <a:prstGeom prst="rect">
            <a:avLst/>
          </a:prstGeom>
          <a:noFill/>
          <a:ln/>
        </p:spPr>
        <p:txBody>
          <a:bodyPr wrap="square" lIns="0" tIns="0" rIns="0" bIns="0" rtlCol="0" anchor="t"/>
          <a:lstStyle/>
          <a:p>
            <a:pPr indent="0" marL="0">
              <a:buNone/>
            </a:pPr>
            <a:r>
              <a:rPr lang="en-US" sz="960" b="1" dirty="0">
                <a:solidFill>
                  <a:srgbClr val="00B55A"/>
                </a:solidFill>
                <a:latin typeface="Aptos" pitchFamily="34" charset="0"/>
                <a:ea typeface="Aptos" pitchFamily="34" charset="-122"/>
                <a:cs typeface="Aptos" pitchFamily="34" charset="-120"/>
              </a:rPr>
              <a:t>Les principales étapes sont les suivantes :</a:t>
            </a:r>
            <a:endParaRPr lang="en-US" sz="960" dirty="0"/>
          </a:p>
        </p:txBody>
      </p:sp>
      <p:sp>
        <p:nvSpPr>
          <p:cNvPr id="75" name="Text 71"/>
          <p:cNvSpPr/>
          <p:nvPr/>
        </p:nvSpPr>
        <p:spPr>
          <a:xfrm>
            <a:off x="648000" y="7956000"/>
            <a:ext cx="108000" cy="182304"/>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a:t>
            </a:r>
            <a:endParaRPr lang="en-US" sz="840" dirty="0"/>
          </a:p>
        </p:txBody>
      </p:sp>
      <p:sp>
        <p:nvSpPr>
          <p:cNvPr id="76" name="Text 72"/>
          <p:cNvSpPr/>
          <p:nvPr/>
        </p:nvSpPr>
        <p:spPr>
          <a:xfrm>
            <a:off x="792000" y="7956000"/>
            <a:ext cx="6120000" cy="182304"/>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Vérifier que la copropriété est immatriculée au registre national des copropriétés.</a:t>
            </a:r>
            <a:endParaRPr lang="en-US" sz="840" dirty="0"/>
          </a:p>
        </p:txBody>
      </p:sp>
      <p:sp>
        <p:nvSpPr>
          <p:cNvPr id="77" name="Text 73"/>
          <p:cNvSpPr/>
          <p:nvPr/>
        </p:nvSpPr>
        <p:spPr>
          <a:xfrm>
            <a:off x="648000" y="8138304"/>
            <a:ext cx="108000" cy="182304"/>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a:t>
            </a:r>
            <a:endParaRPr lang="en-US" sz="840" dirty="0"/>
          </a:p>
        </p:txBody>
      </p:sp>
      <p:sp>
        <p:nvSpPr>
          <p:cNvPr id="78" name="Text 74"/>
          <p:cNvSpPr/>
          <p:nvPr/>
        </p:nvSpPr>
        <p:spPr>
          <a:xfrm>
            <a:off x="792000" y="8138304"/>
            <a:ext cx="6120000" cy="182304"/>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Faire voter les travaux en assemblée générale à la majorité requise.</a:t>
            </a:r>
            <a:endParaRPr lang="en-US" sz="840" dirty="0"/>
          </a:p>
        </p:txBody>
      </p:sp>
      <p:sp>
        <p:nvSpPr>
          <p:cNvPr id="79" name="Text 75"/>
          <p:cNvSpPr/>
          <p:nvPr/>
        </p:nvSpPr>
        <p:spPr>
          <a:xfrm>
            <a:off x="648000" y="8320608"/>
            <a:ext cx="108000" cy="321408"/>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a:t>
            </a:r>
            <a:endParaRPr lang="en-US" sz="840" dirty="0"/>
          </a:p>
        </p:txBody>
      </p:sp>
      <p:sp>
        <p:nvSpPr>
          <p:cNvPr id="80" name="Text 76"/>
          <p:cNvSpPr/>
          <p:nvPr/>
        </p:nvSpPr>
        <p:spPr>
          <a:xfrm>
            <a:off x="792000" y="8320608"/>
            <a:ext cx="6120000" cy="321408"/>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Désigner un Assistant à Maîtrise d’Ouvrage (AMO), dont l’accompagnement est obligatoire dans le cadre du dispositif.</a:t>
            </a:r>
            <a:endParaRPr lang="en-US" sz="840" dirty="0"/>
          </a:p>
        </p:txBody>
      </p:sp>
      <p:sp>
        <p:nvSpPr>
          <p:cNvPr id="81" name="Text 77"/>
          <p:cNvSpPr/>
          <p:nvPr/>
        </p:nvSpPr>
        <p:spPr>
          <a:xfrm>
            <a:off x="648000" y="8642016"/>
            <a:ext cx="108000" cy="321408"/>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a:t>
            </a:r>
            <a:endParaRPr lang="en-US" sz="840" dirty="0"/>
          </a:p>
        </p:txBody>
      </p:sp>
      <p:sp>
        <p:nvSpPr>
          <p:cNvPr id="82" name="Text 78"/>
          <p:cNvSpPr/>
          <p:nvPr/>
        </p:nvSpPr>
        <p:spPr>
          <a:xfrm>
            <a:off x="792000" y="8642016"/>
            <a:ext cx="6120000" cy="321408"/>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Constituer et déposer le dossier de demande d’aide comprenant notamment l’audit énergétique, les devis et les pièces administratives demandées.</a:t>
            </a:r>
            <a:endParaRPr lang="en-US" sz="840" dirty="0"/>
          </a:p>
        </p:txBody>
      </p:sp>
      <p:sp>
        <p:nvSpPr>
          <p:cNvPr id="83" name="Text 79"/>
          <p:cNvSpPr/>
          <p:nvPr/>
        </p:nvSpPr>
        <p:spPr>
          <a:xfrm>
            <a:off x="648000" y="8963424"/>
            <a:ext cx="108000" cy="182304"/>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a:t>
            </a:r>
            <a:endParaRPr lang="en-US" sz="840" dirty="0"/>
          </a:p>
        </p:txBody>
      </p:sp>
      <p:sp>
        <p:nvSpPr>
          <p:cNvPr id="84" name="Text 80"/>
          <p:cNvSpPr/>
          <p:nvPr/>
        </p:nvSpPr>
        <p:spPr>
          <a:xfrm>
            <a:off x="792000" y="8963424"/>
            <a:ext cx="6120000" cy="182304"/>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Attendre la notification d’accord de l’Anah avant d’engager les travaux.</a:t>
            </a:r>
            <a:endParaRPr lang="en-US" sz="840" dirty="0"/>
          </a:p>
        </p:txBody>
      </p:sp>
      <p:sp>
        <p:nvSpPr>
          <p:cNvPr id="85" name="Text 81"/>
          <p:cNvSpPr/>
          <p:nvPr/>
        </p:nvSpPr>
        <p:spPr>
          <a:xfrm>
            <a:off x="648000" y="9145728"/>
            <a:ext cx="108000" cy="321408"/>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a:t>
            </a:r>
            <a:endParaRPr lang="en-US" sz="840" dirty="0"/>
          </a:p>
        </p:txBody>
      </p:sp>
      <p:sp>
        <p:nvSpPr>
          <p:cNvPr id="86" name="Text 82"/>
          <p:cNvSpPr/>
          <p:nvPr/>
        </p:nvSpPr>
        <p:spPr>
          <a:xfrm>
            <a:off x="792000" y="9145728"/>
            <a:ext cx="6120000" cy="321408"/>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Une fois les travaux réalisés et les aides versées, le syndic répartit les montants obtenus entre les copropriétaires selon les règles de répartition applicables dans la copropriété.</a:t>
            </a:r>
            <a:endParaRPr lang="en-US" sz="840" dirty="0"/>
          </a:p>
        </p:txBody>
      </p:sp>
      <p:sp>
        <p:nvSpPr>
          <p:cNvPr id="87" name="Text 83"/>
          <p:cNvSpPr/>
          <p:nvPr/>
        </p:nvSpPr>
        <p:spPr>
          <a:xfrm>
            <a:off x="648000" y="9648000"/>
            <a:ext cx="6264000" cy="144000"/>
          </a:xfrm>
          <a:prstGeom prst="rect">
            <a:avLst/>
          </a:prstGeom>
          <a:noFill/>
          <a:ln/>
        </p:spPr>
        <p:txBody>
          <a:bodyPr wrap="square" lIns="0" tIns="0" rIns="0" bIns="0" rtlCol="0" anchor="t"/>
          <a:lstStyle/>
          <a:p>
            <a:pPr indent="0" marL="0">
              <a:buNone/>
            </a:pPr>
            <a:r>
              <a:rPr lang="en-US" sz="900" b="1" dirty="0">
                <a:solidFill>
                  <a:srgbClr val="00B55A"/>
                </a:solidFill>
                <a:latin typeface="Aptos" pitchFamily="34" charset="0"/>
                <a:ea typeface="Aptos" pitchFamily="34" charset="-122"/>
                <a:cs typeface="Aptos" pitchFamily="34" charset="-120"/>
              </a:rPr>
              <a:t>Pour en savoir plus :</a:t>
            </a:r>
            <a:endParaRPr lang="en-US" sz="900" dirty="0"/>
          </a:p>
        </p:txBody>
      </p:sp>
      <p:sp>
        <p:nvSpPr>
          <p:cNvPr id="88" name="Text 84"/>
          <p:cNvSpPr/>
          <p:nvPr/>
        </p:nvSpPr>
        <p:spPr>
          <a:xfrm>
            <a:off x="648000" y="9792000"/>
            <a:ext cx="6264000" cy="180000"/>
          </a:xfrm>
          <a:prstGeom prst="rect">
            <a:avLst/>
          </a:prstGeom>
          <a:noFill/>
          <a:ln/>
        </p:spPr>
        <p:txBody>
          <a:bodyPr wrap="square" lIns="0" tIns="0" rIns="0" bIns="0" rtlCol="0" anchor="t"/>
          <a:lstStyle/>
          <a:p>
            <a:pPr indent="0" marL="0">
              <a:buNone/>
            </a:pPr>
            <a:r>
              <a:rPr lang="en-US" sz="850" dirty="0">
                <a:solidFill>
                  <a:srgbClr val="4B8BA5"/>
                </a:solidFill>
                <a:uFill>
                  <a:solidFill>
                    <a:srgbClr val="4B8BA5"/>
                  </a:solidFill>
                </a:uFill>
                <a:latin typeface="Aptos" pitchFamily="34" charset="0"/>
                <a:ea typeface="Aptos" pitchFamily="34" charset="-122"/>
                <a:cs typeface="Aptos" pitchFamily="34" charset="-120"/>
              </a:rPr>
              <a:t>MaPrimeRénov’ Copropriété : tout savoir sur l’aide à la rénovation des parties communes | economie.gouv.fr</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40</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8.2 Les Certificats d’Économies d’Énergie</a:t>
            </a:r>
            <a:endParaRPr lang="en-US" sz="1300" dirty="0"/>
          </a:p>
        </p:txBody>
      </p:sp>
      <p:pic>
        <p:nvPicPr>
          <p:cNvPr id="8" name="Image 1" descr="Logo CEE">    </p:cNvPr>
          <p:cNvPicPr>
            <a:picLocks noChangeAspect="1"/>
          </p:cNvPicPr>
          <p:nvPr/>
        </p:nvPicPr>
        <p:blipFill>
          <a:blip r:embed="rId2"/>
          <a:srcRect l="0" r="0" t="0" b="0"/>
          <a:stretch/>
        </p:blipFill>
        <p:spPr>
          <a:xfrm>
            <a:off x="5040000" y="1836000"/>
            <a:ext cx="2055600" cy="864000"/>
          </a:xfrm>
          <a:prstGeom prst="rect">
            <a:avLst/>
          </a:prstGeom>
        </p:spPr>
      </p:pic>
      <p:sp>
        <p:nvSpPr>
          <p:cNvPr id="9" name="Text 5"/>
          <p:cNvSpPr/>
          <p:nvPr/>
        </p:nvSpPr>
        <p:spPr>
          <a:xfrm>
            <a:off x="648000" y="1710000"/>
            <a:ext cx="4032000" cy="1555200"/>
          </a:xfrm>
          <a:prstGeom prst="rect">
            <a:avLst/>
          </a:prstGeom>
          <a:noFill/>
          <a:ln/>
        </p:spPr>
        <p:txBody>
          <a:bodyPr wrap="square" lIns="0" tIns="0" rIns="0" bIns="0" rtlCol="0" anchor="t"/>
          <a:lstStyle/>
          <a:p>
            <a:pPr algn="just" indent="0" marL="0">
              <a:buNone/>
            </a:pPr>
            <a:r>
              <a:rPr lang="en-US" sz="1000" dirty="0">
                <a:solidFill>
                  <a:srgbClr val="0070C0"/>
                </a:solidFill>
                <a:latin typeface="Aptos" pitchFamily="34" charset="0"/>
                <a:ea typeface="Aptos" pitchFamily="34" charset="-122"/>
                <a:cs typeface="Aptos" pitchFamily="34" charset="-120"/>
              </a:rPr>
              <a:t>Les Certificats d’Économies d’Énergie (CEE) constituent un dispositif national destiné à encourager la réalisation de travaux d’amélioration énergétique.</a:t>
            </a:r>
            <a:endParaRPr lang="en-US" sz="1000" dirty="0"/>
          </a:p>
          <a:p>
            <a:pPr algn="just" indent="0" marL="0">
              <a:buNone/>
            </a:pPr>
            <a:endParaRPr lang="en-US" sz="1000" dirty="0"/>
          </a:p>
          <a:p>
            <a:pPr algn="just" indent="0" marL="0">
              <a:buNone/>
            </a:pPr>
            <a:r>
              <a:rPr lang="en-US" sz="1000" dirty="0">
                <a:solidFill>
                  <a:srgbClr val="0070C0"/>
                </a:solidFill>
                <a:latin typeface="Aptos" pitchFamily="34" charset="0"/>
                <a:ea typeface="Aptos" pitchFamily="34" charset="-122"/>
                <a:cs typeface="Aptos" pitchFamily="34" charset="-120"/>
              </a:rPr>
              <a:t>Ce mécanisme repose sur le principe du « pollueur-payeur » : les fournisseurs d’énergie (électricité, gaz, fioul, carburants, etc.), appelés « obligés », sont tenus par l’État de financer des actions permettant de réduire les consommations énergétiques.</a:t>
            </a:r>
            <a:endParaRPr lang="en-US" sz="1000" dirty="0"/>
          </a:p>
        </p:txBody>
      </p:sp>
      <p:sp>
        <p:nvSpPr>
          <p:cNvPr id="10" name="Text 6"/>
          <p:cNvSpPr/>
          <p:nvPr/>
        </p:nvSpPr>
        <p:spPr>
          <a:xfrm>
            <a:off x="648000" y="3366000"/>
            <a:ext cx="6264000" cy="230400"/>
          </a:xfrm>
          <a:prstGeom prst="rect">
            <a:avLst/>
          </a:prstGeom>
          <a:noFill/>
          <a:ln/>
        </p:spPr>
        <p:txBody>
          <a:bodyPr wrap="square" lIns="0" tIns="0" rIns="0" bIns="0" rtlCol="0" anchor="t"/>
          <a:lstStyle/>
          <a:p>
            <a:pPr algn="just" indent="0" marL="0">
              <a:buNone/>
            </a:pPr>
            <a:r>
              <a:rPr lang="en-US" sz="1000" b="1" dirty="0">
                <a:solidFill>
                  <a:srgbClr val="00B55A"/>
                </a:solidFill>
                <a:latin typeface="Aptos" pitchFamily="34" charset="0"/>
                <a:ea typeface="Aptos" pitchFamily="34" charset="-122"/>
                <a:cs typeface="Aptos" pitchFamily="34" charset="-120"/>
              </a:rPr>
              <a:t>Les CEE poste par poste</a:t>
            </a:r>
            <a:endParaRPr lang="en-US" sz="1000" dirty="0"/>
          </a:p>
        </p:txBody>
      </p:sp>
      <p:sp>
        <p:nvSpPr>
          <p:cNvPr id="11" name="Text 7"/>
          <p:cNvSpPr/>
          <p:nvPr/>
        </p:nvSpPr>
        <p:spPr>
          <a:xfrm>
            <a:off x="648000" y="3618000"/>
            <a:ext cx="6264000" cy="69408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Les CEE peuvent être obtenus pour des travaux réalisés individuellement, dès lors qu’ils respectent les critères de performance définis par la réglementation.</a:t>
            </a:r>
            <a:endParaRPr lang="en-US" sz="950" dirty="0"/>
          </a:p>
          <a:p>
            <a:pPr algn="just" indent="0" marL="0">
              <a:buNone/>
            </a:pPr>
            <a:endParaRPr lang="en-US" sz="950" dirty="0"/>
          </a:p>
          <a:p>
            <a:pPr algn="just" indent="0" marL="0">
              <a:buNone/>
            </a:pPr>
            <a:r>
              <a:rPr lang="en-US" sz="950" dirty="0">
                <a:solidFill>
                  <a:srgbClr val="1C1C1C"/>
                </a:solidFill>
                <a:latin typeface="Aptos" pitchFamily="34" charset="0"/>
                <a:ea typeface="Aptos" pitchFamily="34" charset="-122"/>
                <a:cs typeface="Aptos" pitchFamily="34" charset="-120"/>
              </a:rPr>
              <a:t>Les opérations les plus couramment éligibles sont notamment :</a:t>
            </a:r>
            <a:endParaRPr lang="en-US" sz="950" dirty="0"/>
          </a:p>
        </p:txBody>
      </p:sp>
      <p:sp>
        <p:nvSpPr>
          <p:cNvPr id="12" name="Text 8"/>
          <p:cNvSpPr/>
          <p:nvPr/>
        </p:nvSpPr>
        <p:spPr>
          <a:xfrm>
            <a:off x="756000" y="4348080"/>
            <a:ext cx="12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13" name="Text 9"/>
          <p:cNvSpPr/>
          <p:nvPr/>
        </p:nvSpPr>
        <p:spPr>
          <a:xfrm>
            <a:off x="900000" y="4348080"/>
            <a:ext cx="597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L’isolation des murs, toitures, combles et planchers bas ;</a:t>
            </a:r>
            <a:endParaRPr lang="en-US" sz="950" dirty="0"/>
          </a:p>
        </p:txBody>
      </p:sp>
      <p:sp>
        <p:nvSpPr>
          <p:cNvPr id="14" name="Text 10"/>
          <p:cNvSpPr/>
          <p:nvPr/>
        </p:nvSpPr>
        <p:spPr>
          <a:xfrm>
            <a:off x="756000" y="4588200"/>
            <a:ext cx="12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15" name="Text 11"/>
          <p:cNvSpPr/>
          <p:nvPr/>
        </p:nvSpPr>
        <p:spPr>
          <a:xfrm>
            <a:off x="900000" y="4588200"/>
            <a:ext cx="597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Le remplacement des menuiseries extérieures ;</a:t>
            </a:r>
            <a:endParaRPr lang="en-US" sz="950" dirty="0"/>
          </a:p>
        </p:txBody>
      </p:sp>
      <p:sp>
        <p:nvSpPr>
          <p:cNvPr id="16" name="Text 12"/>
          <p:cNvSpPr/>
          <p:nvPr/>
        </p:nvSpPr>
        <p:spPr>
          <a:xfrm>
            <a:off x="756000" y="4828320"/>
            <a:ext cx="12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17" name="Text 13"/>
          <p:cNvSpPr/>
          <p:nvPr/>
        </p:nvSpPr>
        <p:spPr>
          <a:xfrm>
            <a:off x="900000" y="4828320"/>
            <a:ext cx="597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L’amélioration des systèmes de chauffage ;</a:t>
            </a:r>
            <a:endParaRPr lang="en-US" sz="950" dirty="0"/>
          </a:p>
        </p:txBody>
      </p:sp>
      <p:sp>
        <p:nvSpPr>
          <p:cNvPr id="18" name="Text 14"/>
          <p:cNvSpPr/>
          <p:nvPr/>
        </p:nvSpPr>
        <p:spPr>
          <a:xfrm>
            <a:off x="756000" y="5068440"/>
            <a:ext cx="12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19" name="Text 15"/>
          <p:cNvSpPr/>
          <p:nvPr/>
        </p:nvSpPr>
        <p:spPr>
          <a:xfrm>
            <a:off x="900000" y="5068440"/>
            <a:ext cx="597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L’installation de systèmes de ventilation performants ;</a:t>
            </a:r>
            <a:endParaRPr lang="en-US" sz="950" dirty="0"/>
          </a:p>
        </p:txBody>
      </p:sp>
      <p:sp>
        <p:nvSpPr>
          <p:cNvPr id="20" name="Text 16"/>
          <p:cNvSpPr/>
          <p:nvPr/>
        </p:nvSpPr>
        <p:spPr>
          <a:xfrm>
            <a:off x="756000" y="5308560"/>
            <a:ext cx="12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21" name="Text 17"/>
          <p:cNvSpPr/>
          <p:nvPr/>
        </p:nvSpPr>
        <p:spPr>
          <a:xfrm>
            <a:off x="900000" y="5308560"/>
            <a:ext cx="597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Le raccordement à un réseau de chaleur.</a:t>
            </a:r>
            <a:endParaRPr lang="en-US" sz="950" dirty="0"/>
          </a:p>
        </p:txBody>
      </p:sp>
      <p:sp>
        <p:nvSpPr>
          <p:cNvPr id="22" name="Text 18"/>
          <p:cNvSpPr/>
          <p:nvPr/>
        </p:nvSpPr>
        <p:spPr>
          <a:xfrm>
            <a:off x="648000" y="5584680"/>
            <a:ext cx="6264000" cy="53676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Chaque poste de travaux dispose de sa propre fiche d’opération standardisée et peut bénéficier d’une aide spécifique. Le montant accordé dépend de la nature des travaux, de leur niveau de performance énergétique et des conditions du marché des CEE au moment du dépôt du dossier.</a:t>
            </a:r>
            <a:endParaRPr lang="en-US" sz="950" dirty="0"/>
          </a:p>
        </p:txBody>
      </p:sp>
      <p:sp>
        <p:nvSpPr>
          <p:cNvPr id="23" name="Text 19"/>
          <p:cNvSpPr/>
          <p:nvPr/>
        </p:nvSpPr>
        <p:spPr>
          <a:xfrm>
            <a:off x="648000" y="6153840"/>
            <a:ext cx="6264000" cy="230400"/>
          </a:xfrm>
          <a:prstGeom prst="rect">
            <a:avLst/>
          </a:prstGeom>
          <a:noFill/>
          <a:ln/>
        </p:spPr>
        <p:txBody>
          <a:bodyPr wrap="square" lIns="0" tIns="0" rIns="0" bIns="0" rtlCol="0" anchor="t"/>
          <a:lstStyle/>
          <a:p>
            <a:pPr algn="just" indent="0" marL="0">
              <a:buNone/>
            </a:pPr>
            <a:r>
              <a:rPr lang="en-US" sz="1000" b="1" dirty="0">
                <a:solidFill>
                  <a:srgbClr val="00B55A"/>
                </a:solidFill>
                <a:latin typeface="Aptos" pitchFamily="34" charset="0"/>
                <a:ea typeface="Aptos" pitchFamily="34" charset="-122"/>
                <a:cs typeface="Aptos" pitchFamily="34" charset="-120"/>
              </a:rPr>
              <a:t>Les CEE « Rénovation globale » (BAR-TH-177)</a:t>
            </a:r>
            <a:endParaRPr lang="en-US" sz="1000" dirty="0"/>
          </a:p>
        </p:txBody>
      </p:sp>
      <p:sp>
        <p:nvSpPr>
          <p:cNvPr id="24" name="Text 20"/>
          <p:cNvSpPr/>
          <p:nvPr/>
        </p:nvSpPr>
        <p:spPr>
          <a:xfrm>
            <a:off x="648000" y="6405840"/>
            <a:ext cx="6264000" cy="210996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La fiche BAR-TH-177 – Rénovation globale d’un bâtiment résidentiel collectif concerne les projets de rénovation énergétique portant sur plusieurs postes de travaux simultanément.</a:t>
            </a:r>
            <a:endParaRPr lang="en-US" sz="950" dirty="0"/>
          </a:p>
          <a:p>
            <a:pPr algn="just" indent="0" marL="0">
              <a:buNone/>
            </a:pPr>
            <a:endParaRPr lang="en-US" sz="950" dirty="0"/>
          </a:p>
          <a:p>
            <a:pPr algn="just" indent="0" marL="0">
              <a:buNone/>
            </a:pPr>
            <a:r>
              <a:rPr lang="en-US" sz="950" dirty="0">
                <a:solidFill>
                  <a:srgbClr val="1C1C1C"/>
                </a:solidFill>
                <a:latin typeface="Aptos" pitchFamily="34" charset="0"/>
                <a:ea typeface="Aptos" pitchFamily="34" charset="-122"/>
                <a:cs typeface="Aptos" pitchFamily="34" charset="-120"/>
              </a:rPr>
              <a:t>Pour être éligible, le programme de travaux doit permettre d’atteindre un gain énergétique conventionnel d’au moins 35 % par rapport à la situation initiale du bâtiment, sur la base d’une étude énergétique réglementaire.</a:t>
            </a:r>
            <a:endParaRPr lang="en-US" sz="950" dirty="0"/>
          </a:p>
          <a:p>
            <a:pPr algn="just" indent="0" marL="0">
              <a:buNone/>
            </a:pPr>
            <a:endParaRPr lang="en-US" sz="950" dirty="0"/>
          </a:p>
          <a:p>
            <a:pPr algn="just" indent="0" marL="0">
              <a:buNone/>
            </a:pPr>
            <a:r>
              <a:rPr lang="en-US" sz="950" dirty="0">
                <a:solidFill>
                  <a:srgbClr val="1C1C1C"/>
                </a:solidFill>
                <a:latin typeface="Aptos" pitchFamily="34" charset="0"/>
                <a:ea typeface="Aptos" pitchFamily="34" charset="-122"/>
                <a:cs typeface="Aptos" pitchFamily="34" charset="-120"/>
              </a:rPr>
              <a:t>Ce dispositif est généralement mobilisé dans le cadre de rénovations ambitieuses combinant plusieurs actions telles que l’isolation thermique, l’amélioration du système de production de chaleur, la ventilation ou encore la régulation des installations.</a:t>
            </a:r>
            <a:endParaRPr lang="en-US" sz="950" dirty="0"/>
          </a:p>
          <a:p>
            <a:pPr algn="just" indent="0" marL="0">
              <a:buNone/>
            </a:pPr>
            <a:endParaRPr lang="en-US" sz="950" dirty="0"/>
          </a:p>
          <a:p>
            <a:pPr algn="just" indent="0" marL="0">
              <a:buNone/>
            </a:pPr>
            <a:r>
              <a:rPr lang="en-US" sz="950" dirty="0">
                <a:solidFill>
                  <a:srgbClr val="1C1C1C"/>
                </a:solidFill>
                <a:latin typeface="Aptos" pitchFamily="34" charset="0"/>
                <a:ea typeface="Aptos" pitchFamily="34" charset="-122"/>
                <a:cs typeface="Aptos" pitchFamily="34" charset="-120"/>
              </a:rPr>
              <a:t>Lorsque les conditions sont réunies, la fiche BAR-TH-177 permet souvent d’obtenir un niveau d’aide plus important qu’une approche reposant uniquement sur des CEE attribués poste par poste.</a:t>
            </a:r>
            <a:endParaRPr lang="en-US" sz="950" dirty="0"/>
          </a:p>
        </p:txBody>
      </p:sp>
      <p:sp>
        <p:nvSpPr>
          <p:cNvPr id="25" name="Text 21"/>
          <p:cNvSpPr/>
          <p:nvPr/>
        </p:nvSpPr>
        <p:spPr>
          <a:xfrm>
            <a:off x="648000" y="9468000"/>
            <a:ext cx="6264000" cy="144000"/>
          </a:xfrm>
          <a:prstGeom prst="rect">
            <a:avLst/>
          </a:prstGeom>
          <a:noFill/>
          <a:ln/>
        </p:spPr>
        <p:txBody>
          <a:bodyPr wrap="square" lIns="0" tIns="0" rIns="0" bIns="0" rtlCol="0" anchor="t"/>
          <a:lstStyle/>
          <a:p>
            <a:pPr indent="0" marL="0">
              <a:buNone/>
            </a:pPr>
            <a:r>
              <a:rPr lang="en-US" sz="950" b="1" dirty="0">
                <a:solidFill>
                  <a:srgbClr val="00B55A"/>
                </a:solidFill>
                <a:latin typeface="Aptos" pitchFamily="34" charset="0"/>
                <a:ea typeface="Aptos" pitchFamily="34" charset="-122"/>
                <a:cs typeface="Aptos" pitchFamily="34" charset="-120"/>
              </a:rPr>
              <a:t>Pour en savoir plus :</a:t>
            </a:r>
            <a:endParaRPr lang="en-US" sz="950" dirty="0"/>
          </a:p>
        </p:txBody>
      </p:sp>
      <p:sp>
        <p:nvSpPr>
          <p:cNvPr id="26" name="Text 22"/>
          <p:cNvSpPr/>
          <p:nvPr/>
        </p:nvSpPr>
        <p:spPr>
          <a:xfrm>
            <a:off x="648000" y="9612000"/>
            <a:ext cx="6264000" cy="180000"/>
          </a:xfrm>
          <a:prstGeom prst="rect">
            <a:avLst/>
          </a:prstGeom>
          <a:noFill/>
          <a:ln/>
        </p:spPr>
        <p:txBody>
          <a:bodyPr wrap="square" lIns="0" tIns="0" rIns="0" bIns="0" rtlCol="0" anchor="t"/>
          <a:lstStyle/>
          <a:p>
            <a:pPr indent="0" marL="0">
              <a:buNone/>
            </a:pPr>
            <a:r>
              <a:rPr lang="en-US" sz="900" dirty="0">
                <a:solidFill>
                  <a:srgbClr val="4B8BA5"/>
                </a:solidFill>
                <a:uFill>
                  <a:solidFill>
                    <a:srgbClr val="4B8BA5"/>
                  </a:solidFill>
                </a:uFill>
                <a:latin typeface="Aptos" pitchFamily="34" charset="0"/>
                <a:ea typeface="Aptos" pitchFamily="34" charset="-122"/>
                <a:cs typeface="Aptos" pitchFamily="34" charset="-120"/>
              </a:rPr>
              <a:t>Certificats d’économie d’énergie (CEE) | Service Public</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41</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8.3 L’Éco-Prêt à Taux Zéro Copropriété</a:t>
            </a:r>
            <a:endParaRPr lang="en-US" sz="1300" dirty="0"/>
          </a:p>
        </p:txBody>
      </p:sp>
      <p:sp>
        <p:nvSpPr>
          <p:cNvPr id="8" name="Text 5"/>
          <p:cNvSpPr/>
          <p:nvPr/>
        </p:nvSpPr>
        <p:spPr>
          <a:xfrm>
            <a:off x="648000" y="1807200"/>
            <a:ext cx="3877200" cy="1080000"/>
          </a:xfrm>
          <a:prstGeom prst="rect">
            <a:avLst/>
          </a:prstGeom>
          <a:noFill/>
          <a:ln/>
        </p:spPr>
        <p:txBody>
          <a:bodyPr wrap="square" lIns="0" tIns="0" rIns="0" bIns="0" rtlCol="0" anchor="t"/>
          <a:lstStyle/>
          <a:p>
            <a:pPr indent="0" marL="0">
              <a:buNone/>
            </a:pPr>
            <a:r>
              <a:rPr lang="en-US" sz="1000" dirty="0">
                <a:solidFill>
                  <a:srgbClr val="0070C0"/>
                </a:solidFill>
                <a:latin typeface="Aptos" pitchFamily="34" charset="0"/>
                <a:ea typeface="Aptos" pitchFamily="34" charset="-122"/>
                <a:cs typeface="Aptos" pitchFamily="34" charset="-120"/>
              </a:rPr>
              <a:t>L’Éco-Prêt à Taux Zéro Copropriété est un dispositif de financement permettant au syndicat des copropriétaires de réaliser des travaux de rénovation énergétique sans supporter de frais d’intérêts. Ce prêt collectif est accordé par certains établissements bancaires partenaires de l’État et constitue un levier complémentaire aux aides financières telles que MaPrimeRénov’ Copropriété et les Certificats d’Économies d’Énergie (CEE).</a:t>
            </a:r>
            <a:endParaRPr lang="en-US" sz="1000" dirty="0"/>
          </a:p>
        </p:txBody>
      </p:sp>
      <p:sp>
        <p:nvSpPr>
          <p:cNvPr id="9" name="Text 6"/>
          <p:cNvSpPr/>
          <p:nvPr/>
        </p:nvSpPr>
        <p:spPr>
          <a:xfrm>
            <a:off x="648000" y="3027600"/>
            <a:ext cx="3877200" cy="666000"/>
          </a:xfrm>
          <a:prstGeom prst="rect">
            <a:avLst/>
          </a:prstGeom>
          <a:noFill/>
          <a:ln/>
        </p:spPr>
        <p:txBody>
          <a:bodyPr wrap="square" lIns="0" tIns="0" rIns="0" bIns="0" rtlCol="0" anchor="t"/>
          <a:lstStyle/>
          <a:p>
            <a:pPr indent="0" marL="0">
              <a:buNone/>
            </a:pPr>
            <a:r>
              <a:rPr lang="en-US" sz="1000" dirty="0">
                <a:solidFill>
                  <a:srgbClr val="0070C0"/>
                </a:solidFill>
                <a:latin typeface="Aptos" pitchFamily="34" charset="0"/>
                <a:ea typeface="Aptos" pitchFamily="34" charset="-122"/>
                <a:cs typeface="Aptos" pitchFamily="34" charset="-120"/>
              </a:rPr>
              <a:t>L’objectif de ce dispositif est de faciliter la réalisation de projets de rénovation énergétique ambitieux en réduisant le reste à charge des copropriétaires et en étalant le financement des travaux sur plusieurs années.</a:t>
            </a:r>
            <a:endParaRPr lang="en-US" sz="1000" dirty="0"/>
          </a:p>
        </p:txBody>
      </p:sp>
      <p:pic>
        <p:nvPicPr>
          <p:cNvPr id="10" name="Image 1" descr="Illustration Éco-PTZ">    </p:cNvPr>
          <p:cNvPicPr>
            <a:picLocks noChangeAspect="1"/>
          </p:cNvPicPr>
          <p:nvPr/>
        </p:nvPicPr>
        <p:blipFill>
          <a:blip r:embed="rId2"/>
          <a:srcRect l="0" r="0" t="0" b="0"/>
          <a:stretch/>
        </p:blipFill>
        <p:spPr>
          <a:xfrm>
            <a:off x="4748400" y="1879200"/>
            <a:ext cx="2412000" cy="1440000"/>
          </a:xfrm>
          <a:prstGeom prst="rect">
            <a:avLst/>
          </a:prstGeom>
        </p:spPr>
      </p:pic>
      <p:sp>
        <p:nvSpPr>
          <p:cNvPr id="11" name="Text 7"/>
          <p:cNvSpPr/>
          <p:nvPr/>
        </p:nvSpPr>
        <p:spPr>
          <a:xfrm>
            <a:off x="648000" y="3798000"/>
            <a:ext cx="6264000" cy="180000"/>
          </a:xfrm>
          <a:prstGeom prst="rect">
            <a:avLst/>
          </a:prstGeom>
          <a:noFill/>
          <a:ln/>
        </p:spPr>
        <p:txBody>
          <a:bodyPr wrap="square" lIns="0" tIns="0" rIns="0" bIns="0" rtlCol="0" anchor="t"/>
          <a:lstStyle/>
          <a:p>
            <a:pPr indent="0" marL="0">
              <a:buNone/>
            </a:pPr>
            <a:r>
              <a:rPr lang="en-US" sz="1000" b="1" dirty="0">
                <a:solidFill>
                  <a:srgbClr val="00B55A"/>
                </a:solidFill>
                <a:latin typeface="Aptos" pitchFamily="34" charset="0"/>
                <a:ea typeface="Aptos" pitchFamily="34" charset="-122"/>
                <a:cs typeface="Aptos" pitchFamily="34" charset="-120"/>
              </a:rPr>
              <a:t>Conditions d’éligibilité</a:t>
            </a:r>
            <a:endParaRPr lang="en-US" sz="1000" dirty="0"/>
          </a:p>
        </p:txBody>
      </p:sp>
      <p:sp>
        <p:nvSpPr>
          <p:cNvPr id="12" name="Text 8"/>
          <p:cNvSpPr/>
          <p:nvPr/>
        </p:nvSpPr>
        <p:spPr>
          <a:xfrm>
            <a:off x="648000" y="3949200"/>
            <a:ext cx="6264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Pour bénéficier de l’Éco-PTZ Copropriété dans le cadre d’une rénovation globale :</a:t>
            </a:r>
            <a:endParaRPr lang="en-US" sz="1000" dirty="0"/>
          </a:p>
        </p:txBody>
      </p:sp>
      <p:sp>
        <p:nvSpPr>
          <p:cNvPr id="13" name="Text 9"/>
          <p:cNvSpPr/>
          <p:nvPr/>
        </p:nvSpPr>
        <p:spPr>
          <a:xfrm>
            <a:off x="756000" y="4104000"/>
            <a:ext cx="108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14" name="Text 10"/>
          <p:cNvSpPr/>
          <p:nvPr/>
        </p:nvSpPr>
        <p:spPr>
          <a:xfrm>
            <a:off x="900000" y="4104000"/>
            <a:ext cx="6012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Le bâtiment doit être achevé depuis plus de 2 ans à la date de début des travaux ;</a:t>
            </a:r>
            <a:endParaRPr lang="en-US" sz="1000" dirty="0"/>
          </a:p>
        </p:txBody>
      </p:sp>
      <p:sp>
        <p:nvSpPr>
          <p:cNvPr id="15" name="Text 11"/>
          <p:cNvSpPr/>
          <p:nvPr/>
        </p:nvSpPr>
        <p:spPr>
          <a:xfrm>
            <a:off x="756000" y="4255200"/>
            <a:ext cx="108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16" name="Text 12"/>
          <p:cNvSpPr/>
          <p:nvPr/>
        </p:nvSpPr>
        <p:spPr>
          <a:xfrm>
            <a:off x="900000" y="4255200"/>
            <a:ext cx="6012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Les logements doivent être utilisés ou destinés à être utilisés en tant que résidences principales ;</a:t>
            </a:r>
            <a:endParaRPr lang="en-US" sz="1000" dirty="0"/>
          </a:p>
        </p:txBody>
      </p:sp>
      <p:sp>
        <p:nvSpPr>
          <p:cNvPr id="17" name="Text 13"/>
          <p:cNvSpPr/>
          <p:nvPr/>
        </p:nvSpPr>
        <p:spPr>
          <a:xfrm>
            <a:off x="756000" y="4406400"/>
            <a:ext cx="108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18" name="Text 14"/>
          <p:cNvSpPr/>
          <p:nvPr/>
        </p:nvSpPr>
        <p:spPr>
          <a:xfrm>
            <a:off x="900000" y="4406400"/>
            <a:ext cx="6012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Les travaux doivent être votés en assemblée générale des copropriétaires ;</a:t>
            </a:r>
            <a:endParaRPr lang="en-US" sz="1000" dirty="0"/>
          </a:p>
        </p:txBody>
      </p:sp>
      <p:sp>
        <p:nvSpPr>
          <p:cNvPr id="19" name="Text 15"/>
          <p:cNvSpPr/>
          <p:nvPr/>
        </p:nvSpPr>
        <p:spPr>
          <a:xfrm>
            <a:off x="756000" y="4557600"/>
            <a:ext cx="108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20" name="Text 16"/>
          <p:cNvSpPr/>
          <p:nvPr/>
        </p:nvSpPr>
        <p:spPr>
          <a:xfrm>
            <a:off x="900000" y="4557600"/>
            <a:ext cx="6012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Une étude ou un audit énergétique préalable doit être réalisé afin de démontrer les gains énergétiques attendus.</a:t>
            </a:r>
            <a:endParaRPr lang="en-US" sz="1000" dirty="0"/>
          </a:p>
        </p:txBody>
      </p:sp>
      <p:sp>
        <p:nvSpPr>
          <p:cNvPr id="21" name="Text 17"/>
          <p:cNvSpPr/>
          <p:nvPr/>
        </p:nvSpPr>
        <p:spPr>
          <a:xfrm>
            <a:off x="648000" y="4863600"/>
            <a:ext cx="6264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Les travaux engagés doivent permettre :</a:t>
            </a:r>
            <a:endParaRPr lang="en-US" sz="1000" dirty="0"/>
          </a:p>
        </p:txBody>
      </p:sp>
      <p:sp>
        <p:nvSpPr>
          <p:cNvPr id="22" name="Text 18"/>
          <p:cNvSpPr/>
          <p:nvPr/>
        </p:nvSpPr>
        <p:spPr>
          <a:xfrm>
            <a:off x="756000" y="5018400"/>
            <a:ext cx="108000" cy="306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23" name="Text 19"/>
          <p:cNvSpPr/>
          <p:nvPr/>
        </p:nvSpPr>
        <p:spPr>
          <a:xfrm>
            <a:off x="900000" y="5018400"/>
            <a:ext cx="6012000" cy="306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D’atteindre une consommation conventionnelle annuelle inférieure à 331 kWhEP/m².an pour les usages réglementaires ;</a:t>
            </a:r>
            <a:endParaRPr lang="en-US" sz="1000" dirty="0"/>
          </a:p>
        </p:txBody>
      </p:sp>
      <p:sp>
        <p:nvSpPr>
          <p:cNvPr id="24" name="Text 20"/>
          <p:cNvSpPr/>
          <p:nvPr/>
        </p:nvSpPr>
        <p:spPr>
          <a:xfrm>
            <a:off x="756000" y="5342400"/>
            <a:ext cx="108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25" name="Text 21"/>
          <p:cNvSpPr/>
          <p:nvPr/>
        </p:nvSpPr>
        <p:spPr>
          <a:xfrm>
            <a:off x="900000" y="5342400"/>
            <a:ext cx="6012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Ou de justifier un gain énergétique conventionnel d’au moins 35 % par rapport à la situation initiale.</a:t>
            </a:r>
            <a:endParaRPr lang="en-US" sz="1000" dirty="0"/>
          </a:p>
        </p:txBody>
      </p:sp>
      <p:sp>
        <p:nvSpPr>
          <p:cNvPr id="26" name="Text 22"/>
          <p:cNvSpPr/>
          <p:nvPr/>
        </p:nvSpPr>
        <p:spPr>
          <a:xfrm>
            <a:off x="648000" y="5778000"/>
            <a:ext cx="6264000" cy="180000"/>
          </a:xfrm>
          <a:prstGeom prst="rect">
            <a:avLst/>
          </a:prstGeom>
          <a:noFill/>
          <a:ln/>
        </p:spPr>
        <p:txBody>
          <a:bodyPr wrap="square" lIns="0" tIns="0" rIns="0" bIns="0" rtlCol="0" anchor="t"/>
          <a:lstStyle/>
          <a:p>
            <a:pPr indent="0" marL="0">
              <a:buNone/>
            </a:pPr>
            <a:r>
              <a:rPr lang="en-US" sz="1000" b="1" dirty="0">
                <a:solidFill>
                  <a:srgbClr val="00B55A"/>
                </a:solidFill>
                <a:latin typeface="Aptos" pitchFamily="34" charset="0"/>
                <a:ea typeface="Aptos" pitchFamily="34" charset="-122"/>
                <a:cs typeface="Aptos" pitchFamily="34" charset="-120"/>
              </a:rPr>
              <a:t>Montant et durée du prêt</a:t>
            </a:r>
            <a:endParaRPr lang="en-US" sz="1000" dirty="0"/>
          </a:p>
        </p:txBody>
      </p:sp>
      <p:sp>
        <p:nvSpPr>
          <p:cNvPr id="27" name="Text 23"/>
          <p:cNvSpPr/>
          <p:nvPr/>
        </p:nvSpPr>
        <p:spPr>
          <a:xfrm>
            <a:off x="648000" y="5932800"/>
            <a:ext cx="6264000" cy="8280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Dans le cadre d’une rénovation globale, l’Éco-PTZ peut atteindre jusqu’à 50 000 € par logement. La durée de remboursement peut être étalée jusqu’à 20 ans, permettant ainsi de lisser l’investissement dans le temps.</a:t>
            </a:r>
            <a:endParaRPr lang="en-US" sz="1000" dirty="0"/>
          </a:p>
          <a:p>
            <a:pPr algn="just" indent="0" marL="0">
              <a:buNone/>
            </a:pPr>
            <a:endParaRPr lang="en-US" sz="1000" dirty="0"/>
          </a:p>
          <a:p>
            <a:pPr algn="just" indent="0" marL="0">
              <a:buNone/>
            </a:pPr>
            <a:r>
              <a:rPr lang="en-US" sz="1000" dirty="0">
                <a:solidFill>
                  <a:srgbClr val="1C1C1C"/>
                </a:solidFill>
                <a:latin typeface="Aptos" pitchFamily="34" charset="0"/>
                <a:ea typeface="Aptos" pitchFamily="34" charset="-122"/>
                <a:cs typeface="Aptos" pitchFamily="34" charset="-120"/>
              </a:rPr>
              <a:t>Le montant de l’Éco-PTZ individuel éventuellement souscrit par un copropriétaire et sa quote-part dans l’Éco-PTZ Copropriété ne peuvent pas dépasser ce plafond global.</a:t>
            </a:r>
            <a:endParaRPr lang="en-US" sz="1000" dirty="0"/>
          </a:p>
        </p:txBody>
      </p:sp>
      <p:sp>
        <p:nvSpPr>
          <p:cNvPr id="28" name="Text 24"/>
          <p:cNvSpPr/>
          <p:nvPr/>
        </p:nvSpPr>
        <p:spPr>
          <a:xfrm>
            <a:off x="648000" y="6998400"/>
            <a:ext cx="6264000" cy="180000"/>
          </a:xfrm>
          <a:prstGeom prst="rect">
            <a:avLst/>
          </a:prstGeom>
          <a:noFill/>
          <a:ln/>
        </p:spPr>
        <p:txBody>
          <a:bodyPr wrap="square" lIns="0" tIns="0" rIns="0" bIns="0" rtlCol="0" anchor="t"/>
          <a:lstStyle/>
          <a:p>
            <a:pPr indent="0" marL="0">
              <a:buNone/>
            </a:pPr>
            <a:r>
              <a:rPr lang="en-US" sz="1000" b="1" dirty="0">
                <a:solidFill>
                  <a:srgbClr val="00B55A"/>
                </a:solidFill>
                <a:latin typeface="Aptos" pitchFamily="34" charset="0"/>
                <a:ea typeface="Aptos" pitchFamily="34" charset="-122"/>
                <a:cs typeface="Aptos" pitchFamily="34" charset="-120"/>
              </a:rPr>
              <a:t>Fonctionnement en copropriété</a:t>
            </a:r>
            <a:endParaRPr lang="en-US" sz="1000" dirty="0"/>
          </a:p>
        </p:txBody>
      </p:sp>
      <p:sp>
        <p:nvSpPr>
          <p:cNvPr id="29" name="Text 25"/>
          <p:cNvSpPr/>
          <p:nvPr/>
        </p:nvSpPr>
        <p:spPr>
          <a:xfrm>
            <a:off x="648000" y="7149600"/>
            <a:ext cx="6264000" cy="8280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La souscription de l’Éco-PTZ Copropriété doit être approuvée en assemblée générale. Le prêt est contracté par le syndicat des copropriétaires puis réparti entre les copropriétaires selon leurs tantièmes ou les règles de répartition applicables.</a:t>
            </a:r>
            <a:endParaRPr lang="en-US" sz="1000" dirty="0"/>
          </a:p>
          <a:p>
            <a:pPr algn="just" indent="0" marL="0">
              <a:buNone/>
            </a:pPr>
            <a:endParaRPr lang="en-US" sz="1000" dirty="0"/>
          </a:p>
          <a:p>
            <a:pPr algn="just" indent="0" marL="0">
              <a:buNone/>
            </a:pPr>
            <a:r>
              <a:rPr lang="en-US" sz="1000" dirty="0">
                <a:solidFill>
                  <a:srgbClr val="1C1C1C"/>
                </a:solidFill>
                <a:latin typeface="Aptos" pitchFamily="34" charset="0"/>
                <a:ea typeface="Aptos" pitchFamily="34" charset="-122"/>
                <a:cs typeface="Aptos" pitchFamily="34" charset="-120"/>
              </a:rPr>
              <a:t>Ce dispositif permet ainsi de financer le reste à charge après déduction des subventions obtenues, tout en limitant l’effort financier immédiat demandé aux copropriétaires.</a:t>
            </a:r>
            <a:endParaRPr lang="en-US" sz="1000" dirty="0"/>
          </a:p>
        </p:txBody>
      </p:sp>
      <p:sp>
        <p:nvSpPr>
          <p:cNvPr id="30" name="Text 26"/>
          <p:cNvSpPr/>
          <p:nvPr/>
        </p:nvSpPr>
        <p:spPr>
          <a:xfrm>
            <a:off x="648000" y="8218800"/>
            <a:ext cx="6264000" cy="180000"/>
          </a:xfrm>
          <a:prstGeom prst="rect">
            <a:avLst/>
          </a:prstGeom>
          <a:noFill/>
          <a:ln/>
        </p:spPr>
        <p:txBody>
          <a:bodyPr wrap="square" lIns="0" tIns="0" rIns="0" bIns="0" rtlCol="0" anchor="t"/>
          <a:lstStyle/>
          <a:p>
            <a:pPr indent="0" marL="0">
              <a:buNone/>
            </a:pPr>
            <a:r>
              <a:rPr lang="en-US" sz="1000" b="1" dirty="0">
                <a:solidFill>
                  <a:srgbClr val="00B55A"/>
                </a:solidFill>
                <a:latin typeface="Aptos" pitchFamily="34" charset="0"/>
                <a:ea typeface="Aptos" pitchFamily="34" charset="-122"/>
                <a:cs typeface="Aptos" pitchFamily="34" charset="-120"/>
              </a:rPr>
              <a:t>À retenir</a:t>
            </a:r>
            <a:endParaRPr lang="en-US" sz="1000" dirty="0"/>
          </a:p>
        </p:txBody>
      </p:sp>
      <p:sp>
        <p:nvSpPr>
          <p:cNvPr id="31" name="Text 27"/>
          <p:cNvSpPr/>
          <p:nvPr/>
        </p:nvSpPr>
        <p:spPr>
          <a:xfrm>
            <a:off x="648000" y="8370000"/>
            <a:ext cx="6264000" cy="5400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L’Éco-PTZ Copropriété n’est pas une aide financière directe mais une solution de financement avantageuse permettant d’accompagner les projets de rénovation énergétique globale. Associé aux aides existantes, il constitue un outil particulièrement intéressant pour faciliter la mise en œuvre des travaux de rénovation énergétique.</a:t>
            </a:r>
            <a:endParaRPr lang="en-US" sz="1000" dirty="0"/>
          </a:p>
        </p:txBody>
      </p:sp>
      <p:sp>
        <p:nvSpPr>
          <p:cNvPr id="32" name="Text 28"/>
          <p:cNvSpPr/>
          <p:nvPr/>
        </p:nvSpPr>
        <p:spPr>
          <a:xfrm>
            <a:off x="648000" y="9133200"/>
            <a:ext cx="6264000" cy="180000"/>
          </a:xfrm>
          <a:prstGeom prst="rect">
            <a:avLst/>
          </a:prstGeom>
          <a:noFill/>
          <a:ln/>
        </p:spPr>
        <p:txBody>
          <a:bodyPr wrap="square" lIns="0" tIns="0" rIns="0" bIns="0" rtlCol="0" anchor="t"/>
          <a:lstStyle/>
          <a:p>
            <a:pPr indent="0" marL="0">
              <a:buNone/>
            </a:pPr>
            <a:r>
              <a:rPr lang="en-US" sz="1000" b="1" dirty="0">
                <a:solidFill>
                  <a:srgbClr val="00B55A"/>
                </a:solidFill>
                <a:latin typeface="Aptos" pitchFamily="34" charset="0"/>
                <a:ea typeface="Aptos" pitchFamily="34" charset="-122"/>
                <a:cs typeface="Aptos" pitchFamily="34" charset="-120"/>
              </a:rPr>
              <a:t>Pour en savoir plus :</a:t>
            </a:r>
            <a:endParaRPr lang="en-US" sz="1000" dirty="0"/>
          </a:p>
        </p:txBody>
      </p:sp>
      <p:sp>
        <p:nvSpPr>
          <p:cNvPr id="33" name="Text 29"/>
          <p:cNvSpPr/>
          <p:nvPr/>
        </p:nvSpPr>
        <p:spPr>
          <a:xfrm>
            <a:off x="648000" y="9291600"/>
            <a:ext cx="6264000" cy="180000"/>
          </a:xfrm>
          <a:prstGeom prst="rect">
            <a:avLst/>
          </a:prstGeom>
          <a:noFill/>
          <a:ln/>
        </p:spPr>
        <p:txBody>
          <a:bodyPr wrap="square" lIns="0" tIns="0" rIns="0" bIns="0" rtlCol="0" anchor="t"/>
          <a:lstStyle/>
          <a:p>
            <a:pPr indent="0" marL="0">
              <a:buNone/>
            </a:pPr>
            <a:r>
              <a:rPr lang="en-US" sz="1000" dirty="0">
                <a:solidFill>
                  <a:srgbClr val="4B8BA5"/>
                </a:solidFill>
                <a:uFill>
                  <a:solidFill>
                    <a:srgbClr val="4B8BA5"/>
                  </a:solidFill>
                </a:uFill>
                <a:latin typeface="Aptos" pitchFamily="34" charset="0"/>
                <a:ea typeface="Aptos" pitchFamily="34" charset="-122"/>
                <a:cs typeface="Aptos" pitchFamily="34" charset="-120"/>
              </a:rPr>
              <a:t>Éco-prêt à taux zéro (éco-PTZ) Copropriétés | Service Public</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42</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8.4 La TVA à taux réduite à 5,5%</a:t>
            </a:r>
            <a:endParaRPr lang="en-US" sz="1300" dirty="0"/>
          </a:p>
        </p:txBody>
      </p:sp>
      <p:pic>
        <p:nvPicPr>
          <p:cNvPr id="8" name="Image 1" descr="Illustration TVA à 5,5 %">    </p:cNvPr>
          <p:cNvPicPr>
            <a:picLocks noChangeAspect="1"/>
          </p:cNvPicPr>
          <p:nvPr/>
        </p:nvPicPr>
        <p:blipFill>
          <a:blip r:embed="rId2"/>
          <a:srcRect l="0" r="0" t="0" b="0"/>
          <a:stretch/>
        </p:blipFill>
        <p:spPr>
          <a:xfrm>
            <a:off x="4795200" y="1641600"/>
            <a:ext cx="1296000" cy="1332000"/>
          </a:xfrm>
          <a:prstGeom prst="rect">
            <a:avLst/>
          </a:prstGeom>
        </p:spPr>
      </p:pic>
      <p:sp>
        <p:nvSpPr>
          <p:cNvPr id="9" name="Text 5"/>
          <p:cNvSpPr/>
          <p:nvPr/>
        </p:nvSpPr>
        <p:spPr>
          <a:xfrm>
            <a:off x="648000" y="1710000"/>
            <a:ext cx="4032000" cy="892800"/>
          </a:xfrm>
          <a:prstGeom prst="rect">
            <a:avLst/>
          </a:prstGeom>
          <a:noFill/>
          <a:ln/>
        </p:spPr>
        <p:txBody>
          <a:bodyPr wrap="square" lIns="0" tIns="0" rIns="0" bIns="0" rtlCol="0" anchor="t"/>
          <a:lstStyle/>
          <a:p>
            <a:pPr algn="just" indent="0" marL="0">
              <a:buNone/>
            </a:pPr>
            <a:r>
              <a:rPr lang="en-US" sz="1000" dirty="0">
                <a:solidFill>
                  <a:srgbClr val="0070C0"/>
                </a:solidFill>
                <a:latin typeface="Aptos" pitchFamily="34" charset="0"/>
                <a:ea typeface="Aptos" pitchFamily="34" charset="-122"/>
                <a:cs typeface="Aptos" pitchFamily="34" charset="-120"/>
              </a:rPr>
              <a:t>Afin d’encourager la rénovation énergétique des logements, l’État permet de bénéficier d’un taux de TVA réduit à 5,5 %, au lieu du taux normal de 20 %. Cette réduction s’applique directement sur les factures des entreprises réalisant les travaux et permet ainsi de diminuer immédiatement le coût du projet.</a:t>
            </a:r>
            <a:endParaRPr lang="en-US" sz="1000" dirty="0"/>
          </a:p>
        </p:txBody>
      </p:sp>
      <p:sp>
        <p:nvSpPr>
          <p:cNvPr id="10" name="Text 6"/>
          <p:cNvSpPr/>
          <p:nvPr/>
        </p:nvSpPr>
        <p:spPr>
          <a:xfrm>
            <a:off x="648000" y="3276000"/>
            <a:ext cx="6264000" cy="222120"/>
          </a:xfrm>
          <a:prstGeom prst="rect">
            <a:avLst/>
          </a:prstGeom>
          <a:noFill/>
          <a:ln/>
        </p:spPr>
        <p:txBody>
          <a:bodyPr wrap="square" lIns="0" tIns="0" rIns="0" bIns="0" rtlCol="0" anchor="t"/>
          <a:lstStyle/>
          <a:p>
            <a:pPr algn="just" indent="0" marL="0">
              <a:buNone/>
            </a:pPr>
            <a:r>
              <a:rPr lang="en-US" sz="950" b="1" dirty="0">
                <a:solidFill>
                  <a:srgbClr val="00B55A"/>
                </a:solidFill>
                <a:latin typeface="Aptos" pitchFamily="34" charset="0"/>
                <a:ea typeface="Aptos" pitchFamily="34" charset="-122"/>
                <a:cs typeface="Aptos" pitchFamily="34" charset="-120"/>
              </a:rPr>
              <a:t>Conditions d’éligibilité</a:t>
            </a:r>
            <a:endParaRPr lang="en-US" sz="950" dirty="0"/>
          </a:p>
        </p:txBody>
      </p:sp>
      <p:sp>
        <p:nvSpPr>
          <p:cNvPr id="11" name="Text 7"/>
          <p:cNvSpPr/>
          <p:nvPr/>
        </p:nvSpPr>
        <p:spPr>
          <a:xfrm>
            <a:off x="648000" y="3519720"/>
            <a:ext cx="6264000" cy="213840"/>
          </a:xfrm>
          <a:prstGeom prst="rect">
            <a:avLst/>
          </a:prstGeom>
          <a:noFill/>
          <a:ln/>
        </p:spPr>
        <p:txBody>
          <a:bodyPr wrap="square" lIns="0" tIns="0" rIns="0" bIns="0" rtlCol="0" anchor="t"/>
          <a:lstStyle/>
          <a:p>
            <a:pPr algn="just" indent="0" marL="0">
              <a:buNone/>
            </a:pPr>
            <a:r>
              <a:rPr lang="en-US" sz="900" dirty="0">
                <a:solidFill>
                  <a:srgbClr val="1C1C1C"/>
                </a:solidFill>
                <a:latin typeface="Aptos" pitchFamily="34" charset="0"/>
                <a:ea typeface="Aptos" pitchFamily="34" charset="-122"/>
                <a:cs typeface="Aptos" pitchFamily="34" charset="-120"/>
              </a:rPr>
              <a:t>Pour bénéficier de la TVA à 5,5 %, les principales conditions sont les suivantes :</a:t>
            </a:r>
            <a:endParaRPr lang="en-US" sz="900" dirty="0"/>
          </a:p>
        </p:txBody>
      </p:sp>
      <p:sp>
        <p:nvSpPr>
          <p:cNvPr id="12" name="Text 8"/>
          <p:cNvSpPr/>
          <p:nvPr/>
        </p:nvSpPr>
        <p:spPr>
          <a:xfrm>
            <a:off x="756000" y="376956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3" name="Text 9"/>
          <p:cNvSpPr/>
          <p:nvPr/>
        </p:nvSpPr>
        <p:spPr>
          <a:xfrm>
            <a:off x="900000" y="376956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 bâtiment doit être achevé depuis plus de 2 ans ;</a:t>
            </a:r>
            <a:endParaRPr lang="en-US" sz="900" dirty="0"/>
          </a:p>
        </p:txBody>
      </p:sp>
      <p:sp>
        <p:nvSpPr>
          <p:cNvPr id="14" name="Text 10"/>
          <p:cNvSpPr/>
          <p:nvPr/>
        </p:nvSpPr>
        <p:spPr>
          <a:xfrm>
            <a:off x="756000" y="400140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5" name="Text 11"/>
          <p:cNvSpPr/>
          <p:nvPr/>
        </p:nvSpPr>
        <p:spPr>
          <a:xfrm>
            <a:off x="900000" y="400140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 logement doit être affecté à un usage d’habitation ;</a:t>
            </a:r>
            <a:endParaRPr lang="en-US" sz="900" dirty="0"/>
          </a:p>
        </p:txBody>
      </p:sp>
      <p:sp>
        <p:nvSpPr>
          <p:cNvPr id="16" name="Text 12"/>
          <p:cNvSpPr/>
          <p:nvPr/>
        </p:nvSpPr>
        <p:spPr>
          <a:xfrm>
            <a:off x="756000" y="423324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7" name="Text 13"/>
          <p:cNvSpPr/>
          <p:nvPr/>
        </p:nvSpPr>
        <p:spPr>
          <a:xfrm>
            <a:off x="900000" y="423324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Les travaux doivent être réalisés et facturés par une entreprise ;</a:t>
            </a:r>
            <a:endParaRPr lang="en-US" sz="900" dirty="0"/>
          </a:p>
        </p:txBody>
      </p:sp>
      <p:sp>
        <p:nvSpPr>
          <p:cNvPr id="18" name="Text 14"/>
          <p:cNvSpPr/>
          <p:nvPr/>
        </p:nvSpPr>
        <p:spPr>
          <a:xfrm>
            <a:off x="756000" y="446508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9" name="Text 15"/>
          <p:cNvSpPr/>
          <p:nvPr/>
        </p:nvSpPr>
        <p:spPr>
          <a:xfrm>
            <a:off x="900000" y="446508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Les travaux doivent avoir pour objectif l’amélioration de la performance énergétique du bâtiment.</a:t>
            </a:r>
            <a:endParaRPr lang="en-US" sz="900" dirty="0"/>
          </a:p>
        </p:txBody>
      </p:sp>
      <p:sp>
        <p:nvSpPr>
          <p:cNvPr id="20" name="Text 16"/>
          <p:cNvSpPr/>
          <p:nvPr/>
        </p:nvSpPr>
        <p:spPr>
          <a:xfrm>
            <a:off x="648000" y="4732920"/>
            <a:ext cx="6264000" cy="222120"/>
          </a:xfrm>
          <a:prstGeom prst="rect">
            <a:avLst/>
          </a:prstGeom>
          <a:noFill/>
          <a:ln/>
        </p:spPr>
        <p:txBody>
          <a:bodyPr wrap="square" lIns="0" tIns="0" rIns="0" bIns="0" rtlCol="0" anchor="t"/>
          <a:lstStyle/>
          <a:p>
            <a:pPr algn="just" indent="0" marL="0">
              <a:buNone/>
            </a:pPr>
            <a:r>
              <a:rPr lang="en-US" sz="950" b="1" dirty="0">
                <a:solidFill>
                  <a:srgbClr val="00B55A"/>
                </a:solidFill>
                <a:latin typeface="Aptos" pitchFamily="34" charset="0"/>
                <a:ea typeface="Aptos" pitchFamily="34" charset="-122"/>
                <a:cs typeface="Aptos" pitchFamily="34" charset="-120"/>
              </a:rPr>
              <a:t>Travaux concernés</a:t>
            </a:r>
            <a:endParaRPr lang="en-US" sz="950" dirty="0"/>
          </a:p>
        </p:txBody>
      </p:sp>
      <p:sp>
        <p:nvSpPr>
          <p:cNvPr id="21" name="Text 17"/>
          <p:cNvSpPr/>
          <p:nvPr/>
        </p:nvSpPr>
        <p:spPr>
          <a:xfrm>
            <a:off x="648000" y="4976640"/>
            <a:ext cx="6264000" cy="213840"/>
          </a:xfrm>
          <a:prstGeom prst="rect">
            <a:avLst/>
          </a:prstGeom>
          <a:noFill/>
          <a:ln/>
        </p:spPr>
        <p:txBody>
          <a:bodyPr wrap="square" lIns="0" tIns="0" rIns="0" bIns="0" rtlCol="0" anchor="t"/>
          <a:lstStyle/>
          <a:p>
            <a:pPr algn="just" indent="0" marL="0">
              <a:buNone/>
            </a:pPr>
            <a:r>
              <a:rPr lang="en-US" sz="900" dirty="0">
                <a:solidFill>
                  <a:srgbClr val="1C1C1C"/>
                </a:solidFill>
                <a:latin typeface="Aptos" pitchFamily="34" charset="0"/>
                <a:ea typeface="Aptos" pitchFamily="34" charset="-122"/>
                <a:cs typeface="Aptos" pitchFamily="34" charset="-120"/>
              </a:rPr>
              <a:t>Le taux réduit de TVA s’applique notamment aux travaux suivants :</a:t>
            </a:r>
            <a:endParaRPr lang="en-US" sz="900" dirty="0"/>
          </a:p>
        </p:txBody>
      </p:sp>
      <p:sp>
        <p:nvSpPr>
          <p:cNvPr id="22" name="Text 18"/>
          <p:cNvSpPr/>
          <p:nvPr/>
        </p:nvSpPr>
        <p:spPr>
          <a:xfrm>
            <a:off x="756000" y="522648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3" name="Text 19"/>
          <p:cNvSpPr/>
          <p:nvPr/>
        </p:nvSpPr>
        <p:spPr>
          <a:xfrm>
            <a:off x="900000" y="522648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Isolation thermique des murs, toitures, combles et planchers bas ;</a:t>
            </a:r>
            <a:endParaRPr lang="en-US" sz="900" dirty="0"/>
          </a:p>
        </p:txBody>
      </p:sp>
      <p:sp>
        <p:nvSpPr>
          <p:cNvPr id="24" name="Text 20"/>
          <p:cNvSpPr/>
          <p:nvPr/>
        </p:nvSpPr>
        <p:spPr>
          <a:xfrm>
            <a:off x="756000" y="545832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5" name="Text 21"/>
          <p:cNvSpPr/>
          <p:nvPr/>
        </p:nvSpPr>
        <p:spPr>
          <a:xfrm>
            <a:off x="900000" y="545832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Remplacement de certaines menuiseries performantes ;</a:t>
            </a:r>
            <a:endParaRPr lang="en-US" sz="900" dirty="0"/>
          </a:p>
        </p:txBody>
      </p:sp>
      <p:sp>
        <p:nvSpPr>
          <p:cNvPr id="26" name="Text 22"/>
          <p:cNvSpPr/>
          <p:nvPr/>
        </p:nvSpPr>
        <p:spPr>
          <a:xfrm>
            <a:off x="756000" y="569016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7" name="Text 23"/>
          <p:cNvSpPr/>
          <p:nvPr/>
        </p:nvSpPr>
        <p:spPr>
          <a:xfrm>
            <a:off x="900000" y="569016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Installation de pompes à chaleur ;</a:t>
            </a:r>
            <a:endParaRPr lang="en-US" sz="900" dirty="0"/>
          </a:p>
        </p:txBody>
      </p:sp>
      <p:sp>
        <p:nvSpPr>
          <p:cNvPr id="28" name="Text 24"/>
          <p:cNvSpPr/>
          <p:nvPr/>
        </p:nvSpPr>
        <p:spPr>
          <a:xfrm>
            <a:off x="756000" y="592200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9" name="Text 25"/>
          <p:cNvSpPr/>
          <p:nvPr/>
        </p:nvSpPr>
        <p:spPr>
          <a:xfrm>
            <a:off x="900000" y="592200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Mise en place de systèmes de ventilation performants ;</a:t>
            </a:r>
            <a:endParaRPr lang="en-US" sz="900" dirty="0"/>
          </a:p>
        </p:txBody>
      </p:sp>
      <p:sp>
        <p:nvSpPr>
          <p:cNvPr id="30" name="Text 26"/>
          <p:cNvSpPr/>
          <p:nvPr/>
        </p:nvSpPr>
        <p:spPr>
          <a:xfrm>
            <a:off x="756000" y="615384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31" name="Text 27"/>
          <p:cNvSpPr/>
          <p:nvPr/>
        </p:nvSpPr>
        <p:spPr>
          <a:xfrm>
            <a:off x="900000" y="615384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Raccordement à un réseau de chaleur ;</a:t>
            </a:r>
            <a:endParaRPr lang="en-US" sz="900" dirty="0"/>
          </a:p>
        </p:txBody>
      </p:sp>
      <p:sp>
        <p:nvSpPr>
          <p:cNvPr id="32" name="Text 28"/>
          <p:cNvSpPr/>
          <p:nvPr/>
        </p:nvSpPr>
        <p:spPr>
          <a:xfrm>
            <a:off x="756000" y="638568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33" name="Text 29"/>
          <p:cNvSpPr/>
          <p:nvPr/>
        </p:nvSpPr>
        <p:spPr>
          <a:xfrm>
            <a:off x="900000" y="638568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Installation de certains équipements utilisant des énergies renouvelables ;</a:t>
            </a:r>
            <a:endParaRPr lang="en-US" sz="900" dirty="0"/>
          </a:p>
        </p:txBody>
      </p:sp>
      <p:sp>
        <p:nvSpPr>
          <p:cNvPr id="34" name="Text 30"/>
          <p:cNvSpPr/>
          <p:nvPr/>
        </p:nvSpPr>
        <p:spPr>
          <a:xfrm>
            <a:off x="756000" y="661752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35" name="Text 31"/>
          <p:cNvSpPr/>
          <p:nvPr/>
        </p:nvSpPr>
        <p:spPr>
          <a:xfrm>
            <a:off x="900000" y="661752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Travaux induits directement liés à ces opérations.</a:t>
            </a:r>
            <a:endParaRPr lang="en-US" sz="900" dirty="0"/>
          </a:p>
        </p:txBody>
      </p:sp>
      <p:sp>
        <p:nvSpPr>
          <p:cNvPr id="36" name="Text 32"/>
          <p:cNvSpPr/>
          <p:nvPr/>
        </p:nvSpPr>
        <p:spPr>
          <a:xfrm>
            <a:off x="648000" y="6885360"/>
            <a:ext cx="6264000" cy="222120"/>
          </a:xfrm>
          <a:prstGeom prst="rect">
            <a:avLst/>
          </a:prstGeom>
          <a:noFill/>
          <a:ln/>
        </p:spPr>
        <p:txBody>
          <a:bodyPr wrap="square" lIns="0" tIns="0" rIns="0" bIns="0" rtlCol="0" anchor="t"/>
          <a:lstStyle/>
          <a:p>
            <a:pPr algn="just" indent="0" marL="0">
              <a:buNone/>
            </a:pPr>
            <a:r>
              <a:rPr lang="en-US" sz="950" b="1" dirty="0">
                <a:solidFill>
                  <a:srgbClr val="00B55A"/>
                </a:solidFill>
                <a:latin typeface="Aptos" pitchFamily="34" charset="0"/>
                <a:ea typeface="Aptos" pitchFamily="34" charset="-122"/>
                <a:cs typeface="Aptos" pitchFamily="34" charset="-120"/>
              </a:rPr>
              <a:t>Dans le cadre d’une copropriété</a:t>
            </a:r>
            <a:endParaRPr lang="en-US" sz="950" dirty="0"/>
          </a:p>
        </p:txBody>
      </p:sp>
      <p:sp>
        <p:nvSpPr>
          <p:cNvPr id="37" name="Text 33"/>
          <p:cNvSpPr/>
          <p:nvPr/>
        </p:nvSpPr>
        <p:spPr>
          <a:xfrm>
            <a:off x="648000" y="7129080"/>
            <a:ext cx="6264000" cy="660960"/>
          </a:xfrm>
          <a:prstGeom prst="rect">
            <a:avLst/>
          </a:prstGeom>
          <a:noFill/>
          <a:ln/>
        </p:spPr>
        <p:txBody>
          <a:bodyPr wrap="square" lIns="0" tIns="0" rIns="0" bIns="0" rtlCol="0" anchor="t"/>
          <a:lstStyle/>
          <a:p>
            <a:pPr algn="just" indent="0" marL="0">
              <a:buNone/>
            </a:pPr>
            <a:r>
              <a:rPr lang="en-US" sz="900" dirty="0">
                <a:solidFill>
                  <a:srgbClr val="1C1C1C"/>
                </a:solidFill>
                <a:latin typeface="Aptos" pitchFamily="34" charset="0"/>
                <a:ea typeface="Aptos" pitchFamily="34" charset="-122"/>
                <a:cs typeface="Aptos" pitchFamily="34" charset="-120"/>
              </a:rPr>
              <a:t>Les travaux de rénovation énergétique réalisés sur les parties communes ou les équipements collectifs peuvent bénéficier du taux réduit de TVA lorsque les conditions réglementaires sont respectées. Cet avantage fiscal est cumulable avec les autres dispositifs d’aides tels que MaPrimeRénov’ Copropriété, les Certificats d’Économies d’Énergie (CEE) et l’Éco-Prêt à Taux Zéro Copropriété.</a:t>
            </a:r>
            <a:endParaRPr lang="en-US" sz="900" dirty="0"/>
          </a:p>
        </p:txBody>
      </p:sp>
      <p:sp>
        <p:nvSpPr>
          <p:cNvPr id="38" name="Text 34"/>
          <p:cNvSpPr/>
          <p:nvPr/>
        </p:nvSpPr>
        <p:spPr>
          <a:xfrm>
            <a:off x="648000" y="7826040"/>
            <a:ext cx="6264000" cy="222120"/>
          </a:xfrm>
          <a:prstGeom prst="rect">
            <a:avLst/>
          </a:prstGeom>
          <a:noFill/>
          <a:ln/>
        </p:spPr>
        <p:txBody>
          <a:bodyPr wrap="square" lIns="0" tIns="0" rIns="0" bIns="0" rtlCol="0" anchor="t"/>
          <a:lstStyle/>
          <a:p>
            <a:pPr algn="just" indent="0" marL="0">
              <a:buNone/>
            </a:pPr>
            <a:r>
              <a:rPr lang="en-US" sz="950" b="1" dirty="0">
                <a:solidFill>
                  <a:srgbClr val="00B55A"/>
                </a:solidFill>
                <a:latin typeface="Aptos" pitchFamily="34" charset="0"/>
                <a:ea typeface="Aptos" pitchFamily="34" charset="-122"/>
                <a:cs typeface="Aptos" pitchFamily="34" charset="-120"/>
              </a:rPr>
              <a:t>À retenir</a:t>
            </a:r>
            <a:endParaRPr lang="en-US" sz="950" dirty="0"/>
          </a:p>
        </p:txBody>
      </p:sp>
      <p:sp>
        <p:nvSpPr>
          <p:cNvPr id="39" name="Text 35"/>
          <p:cNvSpPr/>
          <p:nvPr/>
        </p:nvSpPr>
        <p:spPr>
          <a:xfrm>
            <a:off x="648000" y="8069760"/>
            <a:ext cx="6264000" cy="511920"/>
          </a:xfrm>
          <a:prstGeom prst="rect">
            <a:avLst/>
          </a:prstGeom>
          <a:noFill/>
          <a:ln/>
        </p:spPr>
        <p:txBody>
          <a:bodyPr wrap="square" lIns="0" tIns="0" rIns="0" bIns="0" rtlCol="0" anchor="t"/>
          <a:lstStyle/>
          <a:p>
            <a:pPr algn="just" indent="0" marL="0">
              <a:buNone/>
            </a:pPr>
            <a:r>
              <a:rPr lang="en-US" sz="900" dirty="0">
                <a:solidFill>
                  <a:srgbClr val="1C1C1C"/>
                </a:solidFill>
                <a:latin typeface="Aptos" pitchFamily="34" charset="0"/>
                <a:ea typeface="Aptos" pitchFamily="34" charset="-122"/>
                <a:cs typeface="Aptos" pitchFamily="34" charset="-120"/>
              </a:rPr>
              <a:t>La TVA à 5,5 % ne constitue pas une subvention mais une réduction fiscale directement appliquée sur le montant des travaux. Elle représente souvent une économie significative et participe à la diminution du reste à charge des copropriétaires dans le cadre d’un projet de rénovation énergétique.</a:t>
            </a:r>
            <a:endParaRPr lang="en-US" sz="900" dirty="0"/>
          </a:p>
        </p:txBody>
      </p:sp>
      <p:sp>
        <p:nvSpPr>
          <p:cNvPr id="40" name="Text 36"/>
          <p:cNvSpPr/>
          <p:nvPr/>
        </p:nvSpPr>
        <p:spPr>
          <a:xfrm>
            <a:off x="648000" y="9000000"/>
            <a:ext cx="6264000" cy="144000"/>
          </a:xfrm>
          <a:prstGeom prst="rect">
            <a:avLst/>
          </a:prstGeom>
          <a:noFill/>
          <a:ln/>
        </p:spPr>
        <p:txBody>
          <a:bodyPr wrap="square" lIns="0" tIns="0" rIns="0" bIns="0" rtlCol="0" anchor="t"/>
          <a:lstStyle/>
          <a:p>
            <a:pPr indent="0" marL="0">
              <a:buNone/>
            </a:pPr>
            <a:r>
              <a:rPr lang="en-US" sz="950" b="1" dirty="0">
                <a:solidFill>
                  <a:srgbClr val="00B55A"/>
                </a:solidFill>
                <a:latin typeface="Aptos" pitchFamily="34" charset="0"/>
                <a:ea typeface="Aptos" pitchFamily="34" charset="-122"/>
                <a:cs typeface="Aptos" pitchFamily="34" charset="-120"/>
              </a:rPr>
              <a:t>Pour en savoir plus :</a:t>
            </a:r>
            <a:endParaRPr lang="en-US" sz="950" dirty="0"/>
          </a:p>
        </p:txBody>
      </p:sp>
      <p:sp>
        <p:nvSpPr>
          <p:cNvPr id="41" name="Text 37"/>
          <p:cNvSpPr/>
          <p:nvPr/>
        </p:nvSpPr>
        <p:spPr>
          <a:xfrm>
            <a:off x="648000" y="9144000"/>
            <a:ext cx="6264000" cy="180000"/>
          </a:xfrm>
          <a:prstGeom prst="rect">
            <a:avLst/>
          </a:prstGeom>
          <a:noFill/>
          <a:ln/>
        </p:spPr>
        <p:txBody>
          <a:bodyPr wrap="square" lIns="0" tIns="0" rIns="0" bIns="0" rtlCol="0" anchor="t"/>
          <a:lstStyle/>
          <a:p>
            <a:pPr indent="0" marL="0">
              <a:buNone/>
            </a:pPr>
            <a:r>
              <a:rPr lang="en-US" sz="900" dirty="0">
                <a:solidFill>
                  <a:srgbClr val="4B8BA5"/>
                </a:solidFill>
                <a:uFill>
                  <a:solidFill>
                    <a:srgbClr val="4B8BA5"/>
                  </a:solidFill>
                </a:uFill>
                <a:latin typeface="Aptos" pitchFamily="34" charset="0"/>
                <a:ea typeface="Aptos" pitchFamily="34" charset="-122"/>
                <a:cs typeface="Aptos" pitchFamily="34" charset="-120"/>
              </a:rPr>
              <a:t>TVA à taux réduit : pour quels travaux ? | economie.gouv.fr</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43</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8.5 Précision sur le cumul des aides financières</a:t>
            </a:r>
            <a:endParaRPr lang="en-US" sz="1300" dirty="0"/>
          </a:p>
        </p:txBody>
      </p:sp>
      <p:sp>
        <p:nvSpPr>
          <p:cNvPr id="8" name="Shape 5"/>
          <p:cNvSpPr/>
          <p:nvPr/>
        </p:nvSpPr>
        <p:spPr>
          <a:xfrm>
            <a:off x="540000" y="1692000"/>
            <a:ext cx="1332000" cy="864000"/>
          </a:xfrm>
          <a:prstGeom prst="rect">
            <a:avLst/>
          </a:prstGeom>
          <a:solidFill>
            <a:srgbClr val="FFFFFF"/>
          </a:solidFill>
          <a:ln w="6985">
            <a:solidFill>
              <a:srgbClr val="FFFFFF"/>
            </a:solidFill>
            <a:prstDash val="solid"/>
          </a:ln>
        </p:spPr>
      </p:sp>
      <p:sp>
        <p:nvSpPr>
          <p:cNvPr id="9" name="Text 6"/>
          <p:cNvSpPr/>
          <p:nvPr/>
        </p:nvSpPr>
        <p:spPr>
          <a:xfrm>
            <a:off x="601200" y="1731600"/>
            <a:ext cx="1209600" cy="784800"/>
          </a:xfrm>
          <a:prstGeom prst="rect">
            <a:avLst/>
          </a:prstGeom>
          <a:noFill/>
          <a:ln/>
        </p:spPr>
        <p:txBody>
          <a:bodyPr wrap="square" lIns="0" tIns="0" rIns="0" bIns="0" rtlCol="0" anchor="ctr"/>
          <a:lstStyle/>
          <a:p>
            <a:pPr algn="l" indent="0" marL="0">
              <a:buNone/>
            </a:pPr>
            <a:endParaRPr lang="en-US" sz="870" dirty="0"/>
          </a:p>
        </p:txBody>
      </p:sp>
      <p:sp>
        <p:nvSpPr>
          <p:cNvPr id="10" name="Shape 7"/>
          <p:cNvSpPr/>
          <p:nvPr/>
        </p:nvSpPr>
        <p:spPr>
          <a:xfrm>
            <a:off x="1872000" y="1692000"/>
            <a:ext cx="1287000" cy="864000"/>
          </a:xfrm>
          <a:prstGeom prst="rect">
            <a:avLst/>
          </a:prstGeom>
          <a:solidFill>
            <a:srgbClr val="0874BD"/>
          </a:solidFill>
          <a:ln w="6985">
            <a:solidFill>
              <a:srgbClr val="202020"/>
            </a:solidFill>
            <a:prstDash val="solid"/>
          </a:ln>
        </p:spPr>
      </p:sp>
      <p:sp>
        <p:nvSpPr>
          <p:cNvPr id="11" name="Text 8"/>
          <p:cNvSpPr/>
          <p:nvPr/>
        </p:nvSpPr>
        <p:spPr>
          <a:xfrm>
            <a:off x="1933200" y="1731600"/>
            <a:ext cx="1164600" cy="784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Ma Prime Rénov Copropriété</a:t>
            </a:r>
            <a:endParaRPr lang="en-US" sz="1000" dirty="0"/>
          </a:p>
        </p:txBody>
      </p:sp>
      <p:sp>
        <p:nvSpPr>
          <p:cNvPr id="12" name="Shape 9"/>
          <p:cNvSpPr/>
          <p:nvPr/>
        </p:nvSpPr>
        <p:spPr>
          <a:xfrm>
            <a:off x="3159000" y="1692000"/>
            <a:ext cx="1287000" cy="864000"/>
          </a:xfrm>
          <a:prstGeom prst="rect">
            <a:avLst/>
          </a:prstGeom>
          <a:solidFill>
            <a:srgbClr val="0874BD"/>
          </a:solidFill>
          <a:ln w="6985">
            <a:solidFill>
              <a:srgbClr val="202020"/>
            </a:solidFill>
            <a:prstDash val="solid"/>
          </a:ln>
        </p:spPr>
      </p:sp>
      <p:sp>
        <p:nvSpPr>
          <p:cNvPr id="13" name="Text 10"/>
          <p:cNvSpPr/>
          <p:nvPr/>
        </p:nvSpPr>
        <p:spPr>
          <a:xfrm>
            <a:off x="3220200" y="1731600"/>
            <a:ext cx="1164600" cy="784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Aides des collectivités locales</a:t>
            </a:r>
            <a:endParaRPr lang="en-US" sz="1000" dirty="0"/>
          </a:p>
        </p:txBody>
      </p:sp>
      <p:sp>
        <p:nvSpPr>
          <p:cNvPr id="14" name="Shape 11"/>
          <p:cNvSpPr/>
          <p:nvPr/>
        </p:nvSpPr>
        <p:spPr>
          <a:xfrm>
            <a:off x="4446000" y="1692000"/>
            <a:ext cx="1287000" cy="864000"/>
          </a:xfrm>
          <a:prstGeom prst="rect">
            <a:avLst/>
          </a:prstGeom>
          <a:solidFill>
            <a:srgbClr val="0874BD"/>
          </a:solidFill>
          <a:ln w="6985">
            <a:solidFill>
              <a:srgbClr val="202020"/>
            </a:solidFill>
            <a:prstDash val="solid"/>
          </a:ln>
        </p:spPr>
      </p:sp>
      <p:sp>
        <p:nvSpPr>
          <p:cNvPr id="15" name="Text 12"/>
          <p:cNvSpPr/>
          <p:nvPr/>
        </p:nvSpPr>
        <p:spPr>
          <a:xfrm>
            <a:off x="4507200" y="1731600"/>
            <a:ext cx="1164600" cy="784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Aides des fournisseurs d’énergie (CEE)</a:t>
            </a:r>
            <a:endParaRPr lang="en-US" sz="1000" dirty="0"/>
          </a:p>
        </p:txBody>
      </p:sp>
      <p:sp>
        <p:nvSpPr>
          <p:cNvPr id="16" name="Shape 13"/>
          <p:cNvSpPr/>
          <p:nvPr/>
        </p:nvSpPr>
        <p:spPr>
          <a:xfrm>
            <a:off x="5733000" y="1692000"/>
            <a:ext cx="1287000" cy="864000"/>
          </a:xfrm>
          <a:prstGeom prst="rect">
            <a:avLst/>
          </a:prstGeom>
          <a:solidFill>
            <a:srgbClr val="0874BD"/>
          </a:solidFill>
          <a:ln w="6985">
            <a:solidFill>
              <a:srgbClr val="202020"/>
            </a:solidFill>
            <a:prstDash val="solid"/>
          </a:ln>
        </p:spPr>
      </p:sp>
      <p:sp>
        <p:nvSpPr>
          <p:cNvPr id="17" name="Text 14"/>
          <p:cNvSpPr/>
          <p:nvPr/>
        </p:nvSpPr>
        <p:spPr>
          <a:xfrm>
            <a:off x="5794200" y="1731600"/>
            <a:ext cx="1164600" cy="784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Éco-Prêt à taux zéro</a:t>
            </a:r>
            <a:endParaRPr lang="en-US" sz="1000" dirty="0"/>
          </a:p>
        </p:txBody>
      </p:sp>
      <p:sp>
        <p:nvSpPr>
          <p:cNvPr id="18" name="Shape 15"/>
          <p:cNvSpPr/>
          <p:nvPr/>
        </p:nvSpPr>
        <p:spPr>
          <a:xfrm>
            <a:off x="540000" y="2556000"/>
            <a:ext cx="1332000" cy="1728000"/>
          </a:xfrm>
          <a:prstGeom prst="rect">
            <a:avLst/>
          </a:prstGeom>
          <a:solidFill>
            <a:srgbClr val="0874BD"/>
          </a:solidFill>
          <a:ln w="6985">
            <a:solidFill>
              <a:srgbClr val="202020"/>
            </a:solidFill>
            <a:prstDash val="solid"/>
          </a:ln>
        </p:spPr>
      </p:sp>
      <p:sp>
        <p:nvSpPr>
          <p:cNvPr id="19" name="Text 16"/>
          <p:cNvSpPr/>
          <p:nvPr/>
        </p:nvSpPr>
        <p:spPr>
          <a:xfrm>
            <a:off x="601200" y="2595600"/>
            <a:ext cx="1209600" cy="1648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Ma Prime Rénov Copropriété</a:t>
            </a:r>
            <a:endParaRPr lang="en-US" sz="1000" dirty="0"/>
          </a:p>
        </p:txBody>
      </p:sp>
      <p:sp>
        <p:nvSpPr>
          <p:cNvPr id="20" name="Shape 17"/>
          <p:cNvSpPr/>
          <p:nvPr/>
        </p:nvSpPr>
        <p:spPr>
          <a:xfrm>
            <a:off x="1872000" y="2556000"/>
            <a:ext cx="1287000" cy="1728000"/>
          </a:xfrm>
          <a:prstGeom prst="rect">
            <a:avLst/>
          </a:prstGeom>
          <a:solidFill>
            <a:srgbClr val="149DCE"/>
          </a:solidFill>
          <a:ln w="6985">
            <a:solidFill>
              <a:srgbClr val="202020"/>
            </a:solidFill>
            <a:prstDash val="solid"/>
          </a:ln>
        </p:spPr>
      </p:sp>
      <p:sp>
        <p:nvSpPr>
          <p:cNvPr id="21" name="Text 18"/>
          <p:cNvSpPr/>
          <p:nvPr/>
        </p:nvSpPr>
        <p:spPr>
          <a:xfrm>
            <a:off x="1933200" y="2595600"/>
            <a:ext cx="1164600" cy="1648800"/>
          </a:xfrm>
          <a:prstGeom prst="rect">
            <a:avLst/>
          </a:prstGeom>
          <a:noFill/>
          <a:ln/>
        </p:spPr>
        <p:txBody>
          <a:bodyPr wrap="square" lIns="0" tIns="0" rIns="0" bIns="0" rtlCol="0" anchor="ctr"/>
          <a:lstStyle/>
          <a:p>
            <a:pPr algn="ctr" indent="0" marL="0">
              <a:buNone/>
            </a:pPr>
            <a:endParaRPr lang="en-US" sz="1000" dirty="0"/>
          </a:p>
        </p:txBody>
      </p:sp>
      <p:sp>
        <p:nvSpPr>
          <p:cNvPr id="22" name="Shape 19"/>
          <p:cNvSpPr/>
          <p:nvPr/>
        </p:nvSpPr>
        <p:spPr>
          <a:xfrm>
            <a:off x="3159000" y="2556000"/>
            <a:ext cx="1287000" cy="1728000"/>
          </a:xfrm>
          <a:prstGeom prst="rect">
            <a:avLst/>
          </a:prstGeom>
          <a:solidFill>
            <a:srgbClr val="FFFFFF"/>
          </a:solidFill>
          <a:ln w="6985">
            <a:solidFill>
              <a:srgbClr val="202020"/>
            </a:solidFill>
            <a:prstDash val="solid"/>
          </a:ln>
        </p:spPr>
      </p:sp>
      <p:sp>
        <p:nvSpPr>
          <p:cNvPr id="23" name="Text 20"/>
          <p:cNvSpPr/>
          <p:nvPr/>
        </p:nvSpPr>
        <p:spPr>
          <a:xfrm>
            <a:off x="3220200" y="2595600"/>
            <a:ext cx="1164600" cy="1648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24" name="Shape 21"/>
          <p:cNvSpPr/>
          <p:nvPr/>
        </p:nvSpPr>
        <p:spPr>
          <a:xfrm>
            <a:off x="4446000" y="2556000"/>
            <a:ext cx="1287000" cy="1728000"/>
          </a:xfrm>
          <a:prstGeom prst="rect">
            <a:avLst/>
          </a:prstGeom>
          <a:solidFill>
            <a:srgbClr val="FFFFFF"/>
          </a:solidFill>
          <a:ln w="6985">
            <a:solidFill>
              <a:srgbClr val="202020"/>
            </a:solidFill>
            <a:prstDash val="solid"/>
          </a:ln>
        </p:spPr>
      </p:sp>
      <p:sp>
        <p:nvSpPr>
          <p:cNvPr id="25" name="Text 22"/>
          <p:cNvSpPr/>
          <p:nvPr/>
        </p:nvSpPr>
        <p:spPr>
          <a:xfrm>
            <a:off x="4518000" y="3060000"/>
            <a:ext cx="1143000" cy="3240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26" name="Text 23"/>
          <p:cNvSpPr/>
          <p:nvPr/>
        </p:nvSpPr>
        <p:spPr>
          <a:xfrm>
            <a:off x="4518000" y="3420000"/>
            <a:ext cx="1143000" cy="792000"/>
          </a:xfrm>
          <a:prstGeom prst="rect">
            <a:avLst/>
          </a:prstGeom>
          <a:noFill/>
          <a:ln/>
        </p:spPr>
        <p:txBody>
          <a:bodyPr wrap="square" lIns="0" tIns="0" rIns="0" bIns="0" rtlCol="0" anchor="ctr"/>
          <a:lstStyle/>
          <a:p>
            <a:pPr algn="ctr" indent="0" marL="0">
              <a:buNone/>
            </a:pPr>
            <a:r>
              <a:rPr lang="en-US" sz="1000" dirty="0">
                <a:solidFill>
                  <a:srgbClr val="1C1C1C"/>
                </a:solidFill>
                <a:latin typeface="Aptos" pitchFamily="34" charset="0"/>
                <a:ea typeface="Aptos" pitchFamily="34" charset="-122"/>
                <a:cs typeface="Aptos" pitchFamily="34" charset="-120"/>
              </a:rPr>
              <a:t>Sauf en cas de copropriétés en difficultés ou fragiles</a:t>
            </a:r>
            <a:endParaRPr lang="en-US" sz="1000" dirty="0"/>
          </a:p>
        </p:txBody>
      </p:sp>
      <p:sp>
        <p:nvSpPr>
          <p:cNvPr id="27" name="Shape 24"/>
          <p:cNvSpPr/>
          <p:nvPr/>
        </p:nvSpPr>
        <p:spPr>
          <a:xfrm>
            <a:off x="5733000" y="2556000"/>
            <a:ext cx="1287000" cy="1728000"/>
          </a:xfrm>
          <a:prstGeom prst="rect">
            <a:avLst/>
          </a:prstGeom>
          <a:solidFill>
            <a:srgbClr val="FFFFFF"/>
          </a:solidFill>
          <a:ln w="6985">
            <a:solidFill>
              <a:srgbClr val="202020"/>
            </a:solidFill>
            <a:prstDash val="solid"/>
          </a:ln>
        </p:spPr>
      </p:sp>
      <p:sp>
        <p:nvSpPr>
          <p:cNvPr id="28" name="Text 25"/>
          <p:cNvSpPr/>
          <p:nvPr/>
        </p:nvSpPr>
        <p:spPr>
          <a:xfrm>
            <a:off x="5794200" y="2595600"/>
            <a:ext cx="1164600" cy="1648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29" name="Shape 26"/>
          <p:cNvSpPr/>
          <p:nvPr/>
        </p:nvSpPr>
        <p:spPr>
          <a:xfrm>
            <a:off x="540000" y="4284000"/>
            <a:ext cx="1332000" cy="1368000"/>
          </a:xfrm>
          <a:prstGeom prst="rect">
            <a:avLst/>
          </a:prstGeom>
          <a:solidFill>
            <a:srgbClr val="0874BD"/>
          </a:solidFill>
          <a:ln w="6985">
            <a:solidFill>
              <a:srgbClr val="202020"/>
            </a:solidFill>
            <a:prstDash val="solid"/>
          </a:ln>
        </p:spPr>
      </p:sp>
      <p:sp>
        <p:nvSpPr>
          <p:cNvPr id="30" name="Text 27"/>
          <p:cNvSpPr/>
          <p:nvPr/>
        </p:nvSpPr>
        <p:spPr>
          <a:xfrm>
            <a:off x="601200" y="4323600"/>
            <a:ext cx="1209600" cy="1288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Aides des collectivités locales</a:t>
            </a:r>
            <a:endParaRPr lang="en-US" sz="1000" dirty="0"/>
          </a:p>
        </p:txBody>
      </p:sp>
      <p:sp>
        <p:nvSpPr>
          <p:cNvPr id="31" name="Shape 28"/>
          <p:cNvSpPr/>
          <p:nvPr/>
        </p:nvSpPr>
        <p:spPr>
          <a:xfrm>
            <a:off x="1872000" y="4284000"/>
            <a:ext cx="1287000" cy="1368000"/>
          </a:xfrm>
          <a:prstGeom prst="rect">
            <a:avLst/>
          </a:prstGeom>
          <a:solidFill>
            <a:srgbClr val="FFFFFF"/>
          </a:solidFill>
          <a:ln w="6985">
            <a:solidFill>
              <a:srgbClr val="202020"/>
            </a:solidFill>
            <a:prstDash val="solid"/>
          </a:ln>
        </p:spPr>
      </p:sp>
      <p:sp>
        <p:nvSpPr>
          <p:cNvPr id="32" name="Text 29"/>
          <p:cNvSpPr/>
          <p:nvPr/>
        </p:nvSpPr>
        <p:spPr>
          <a:xfrm>
            <a:off x="1933200" y="4323600"/>
            <a:ext cx="1164600" cy="1288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33" name="Shape 30"/>
          <p:cNvSpPr/>
          <p:nvPr/>
        </p:nvSpPr>
        <p:spPr>
          <a:xfrm>
            <a:off x="3159000" y="4284000"/>
            <a:ext cx="1287000" cy="1368000"/>
          </a:xfrm>
          <a:prstGeom prst="rect">
            <a:avLst/>
          </a:prstGeom>
          <a:solidFill>
            <a:srgbClr val="149DCE"/>
          </a:solidFill>
          <a:ln w="6985">
            <a:solidFill>
              <a:srgbClr val="202020"/>
            </a:solidFill>
            <a:prstDash val="solid"/>
          </a:ln>
        </p:spPr>
      </p:sp>
      <p:sp>
        <p:nvSpPr>
          <p:cNvPr id="34" name="Text 31"/>
          <p:cNvSpPr/>
          <p:nvPr/>
        </p:nvSpPr>
        <p:spPr>
          <a:xfrm>
            <a:off x="3220200" y="4323600"/>
            <a:ext cx="1164600" cy="1288800"/>
          </a:xfrm>
          <a:prstGeom prst="rect">
            <a:avLst/>
          </a:prstGeom>
          <a:noFill/>
          <a:ln/>
        </p:spPr>
        <p:txBody>
          <a:bodyPr wrap="square" lIns="0" tIns="0" rIns="0" bIns="0" rtlCol="0" anchor="ctr"/>
          <a:lstStyle/>
          <a:p>
            <a:pPr algn="ctr" indent="0" marL="0">
              <a:buNone/>
            </a:pPr>
            <a:endParaRPr lang="en-US" sz="1000" dirty="0"/>
          </a:p>
        </p:txBody>
      </p:sp>
      <p:sp>
        <p:nvSpPr>
          <p:cNvPr id="35" name="Shape 32"/>
          <p:cNvSpPr/>
          <p:nvPr/>
        </p:nvSpPr>
        <p:spPr>
          <a:xfrm>
            <a:off x="4446000" y="4284000"/>
            <a:ext cx="1287000" cy="1368000"/>
          </a:xfrm>
          <a:prstGeom prst="rect">
            <a:avLst/>
          </a:prstGeom>
          <a:solidFill>
            <a:srgbClr val="FFFFFF"/>
          </a:solidFill>
          <a:ln w="6985">
            <a:solidFill>
              <a:srgbClr val="202020"/>
            </a:solidFill>
            <a:prstDash val="solid"/>
          </a:ln>
        </p:spPr>
      </p:sp>
      <p:sp>
        <p:nvSpPr>
          <p:cNvPr id="36" name="Text 33"/>
          <p:cNvSpPr/>
          <p:nvPr/>
        </p:nvSpPr>
        <p:spPr>
          <a:xfrm>
            <a:off x="4507200" y="4323600"/>
            <a:ext cx="1164600" cy="1288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37" name="Shape 34"/>
          <p:cNvSpPr/>
          <p:nvPr/>
        </p:nvSpPr>
        <p:spPr>
          <a:xfrm>
            <a:off x="5733000" y="4284000"/>
            <a:ext cx="1287000" cy="1368000"/>
          </a:xfrm>
          <a:prstGeom prst="rect">
            <a:avLst/>
          </a:prstGeom>
          <a:solidFill>
            <a:srgbClr val="FFFFFF"/>
          </a:solidFill>
          <a:ln w="6985">
            <a:solidFill>
              <a:srgbClr val="202020"/>
            </a:solidFill>
            <a:prstDash val="solid"/>
          </a:ln>
        </p:spPr>
      </p:sp>
      <p:sp>
        <p:nvSpPr>
          <p:cNvPr id="38" name="Text 35"/>
          <p:cNvSpPr/>
          <p:nvPr/>
        </p:nvSpPr>
        <p:spPr>
          <a:xfrm>
            <a:off x="5794200" y="4323600"/>
            <a:ext cx="1164600" cy="1288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39" name="Shape 36"/>
          <p:cNvSpPr/>
          <p:nvPr/>
        </p:nvSpPr>
        <p:spPr>
          <a:xfrm>
            <a:off x="540000" y="5652000"/>
            <a:ext cx="1332000" cy="1584000"/>
          </a:xfrm>
          <a:prstGeom prst="rect">
            <a:avLst/>
          </a:prstGeom>
          <a:solidFill>
            <a:srgbClr val="0874BD"/>
          </a:solidFill>
          <a:ln w="6985">
            <a:solidFill>
              <a:srgbClr val="202020"/>
            </a:solidFill>
            <a:prstDash val="solid"/>
          </a:ln>
        </p:spPr>
      </p:sp>
      <p:sp>
        <p:nvSpPr>
          <p:cNvPr id="40" name="Text 37"/>
          <p:cNvSpPr/>
          <p:nvPr/>
        </p:nvSpPr>
        <p:spPr>
          <a:xfrm>
            <a:off x="601200" y="5691600"/>
            <a:ext cx="1209600" cy="1504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Aides des fournisseurs d’énergie (CEE)</a:t>
            </a:r>
            <a:endParaRPr lang="en-US" sz="1000" dirty="0"/>
          </a:p>
        </p:txBody>
      </p:sp>
      <p:sp>
        <p:nvSpPr>
          <p:cNvPr id="41" name="Shape 38"/>
          <p:cNvSpPr/>
          <p:nvPr/>
        </p:nvSpPr>
        <p:spPr>
          <a:xfrm>
            <a:off x="1872000" y="5652000"/>
            <a:ext cx="1287000" cy="1584000"/>
          </a:xfrm>
          <a:prstGeom prst="rect">
            <a:avLst/>
          </a:prstGeom>
          <a:solidFill>
            <a:srgbClr val="FFFFFF"/>
          </a:solidFill>
          <a:ln w="6985">
            <a:solidFill>
              <a:srgbClr val="202020"/>
            </a:solidFill>
            <a:prstDash val="solid"/>
          </a:ln>
        </p:spPr>
      </p:sp>
      <p:sp>
        <p:nvSpPr>
          <p:cNvPr id="42" name="Text 39"/>
          <p:cNvSpPr/>
          <p:nvPr/>
        </p:nvSpPr>
        <p:spPr>
          <a:xfrm>
            <a:off x="1944000" y="6012000"/>
            <a:ext cx="1143000" cy="3240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43" name="Text 40"/>
          <p:cNvSpPr/>
          <p:nvPr/>
        </p:nvSpPr>
        <p:spPr>
          <a:xfrm>
            <a:off x="1944000" y="6372000"/>
            <a:ext cx="1143000" cy="792000"/>
          </a:xfrm>
          <a:prstGeom prst="rect">
            <a:avLst/>
          </a:prstGeom>
          <a:noFill/>
          <a:ln/>
        </p:spPr>
        <p:txBody>
          <a:bodyPr wrap="square" lIns="0" tIns="0" rIns="0" bIns="0" rtlCol="0" anchor="ctr"/>
          <a:lstStyle/>
          <a:p>
            <a:pPr algn="ctr" indent="0" marL="0">
              <a:buNone/>
            </a:pPr>
            <a:r>
              <a:rPr lang="en-US" sz="1000" dirty="0">
                <a:solidFill>
                  <a:srgbClr val="1C1C1C"/>
                </a:solidFill>
                <a:latin typeface="Aptos" pitchFamily="34" charset="0"/>
                <a:ea typeface="Aptos" pitchFamily="34" charset="-122"/>
                <a:cs typeface="Aptos" pitchFamily="34" charset="-120"/>
              </a:rPr>
              <a:t>Sauf en cas de copropriétés en difficultés ou fragiles</a:t>
            </a:r>
            <a:endParaRPr lang="en-US" sz="1000" dirty="0"/>
          </a:p>
        </p:txBody>
      </p:sp>
      <p:sp>
        <p:nvSpPr>
          <p:cNvPr id="44" name="Shape 41"/>
          <p:cNvSpPr/>
          <p:nvPr/>
        </p:nvSpPr>
        <p:spPr>
          <a:xfrm>
            <a:off x="3159000" y="5652000"/>
            <a:ext cx="1287000" cy="1584000"/>
          </a:xfrm>
          <a:prstGeom prst="rect">
            <a:avLst/>
          </a:prstGeom>
          <a:solidFill>
            <a:srgbClr val="FFFFFF"/>
          </a:solidFill>
          <a:ln w="6985">
            <a:solidFill>
              <a:srgbClr val="202020"/>
            </a:solidFill>
            <a:prstDash val="solid"/>
          </a:ln>
        </p:spPr>
      </p:sp>
      <p:sp>
        <p:nvSpPr>
          <p:cNvPr id="45" name="Text 42"/>
          <p:cNvSpPr/>
          <p:nvPr/>
        </p:nvSpPr>
        <p:spPr>
          <a:xfrm>
            <a:off x="3220200" y="5691600"/>
            <a:ext cx="1164600" cy="1504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46" name="Shape 43"/>
          <p:cNvSpPr/>
          <p:nvPr/>
        </p:nvSpPr>
        <p:spPr>
          <a:xfrm>
            <a:off x="4446000" y="5652000"/>
            <a:ext cx="1287000" cy="1584000"/>
          </a:xfrm>
          <a:prstGeom prst="rect">
            <a:avLst/>
          </a:prstGeom>
          <a:solidFill>
            <a:srgbClr val="149DCE"/>
          </a:solidFill>
          <a:ln w="6985">
            <a:solidFill>
              <a:srgbClr val="202020"/>
            </a:solidFill>
            <a:prstDash val="solid"/>
          </a:ln>
        </p:spPr>
      </p:sp>
      <p:sp>
        <p:nvSpPr>
          <p:cNvPr id="47" name="Text 44"/>
          <p:cNvSpPr/>
          <p:nvPr/>
        </p:nvSpPr>
        <p:spPr>
          <a:xfrm>
            <a:off x="4507200" y="5691600"/>
            <a:ext cx="1164600" cy="1504800"/>
          </a:xfrm>
          <a:prstGeom prst="rect">
            <a:avLst/>
          </a:prstGeom>
          <a:noFill/>
          <a:ln/>
        </p:spPr>
        <p:txBody>
          <a:bodyPr wrap="square" lIns="0" tIns="0" rIns="0" bIns="0" rtlCol="0" anchor="ctr"/>
          <a:lstStyle/>
          <a:p>
            <a:pPr algn="ctr" indent="0" marL="0">
              <a:buNone/>
            </a:pPr>
            <a:endParaRPr lang="en-US" sz="1000" dirty="0"/>
          </a:p>
        </p:txBody>
      </p:sp>
      <p:sp>
        <p:nvSpPr>
          <p:cNvPr id="48" name="Shape 45"/>
          <p:cNvSpPr/>
          <p:nvPr/>
        </p:nvSpPr>
        <p:spPr>
          <a:xfrm>
            <a:off x="5733000" y="5652000"/>
            <a:ext cx="1287000" cy="1584000"/>
          </a:xfrm>
          <a:prstGeom prst="rect">
            <a:avLst/>
          </a:prstGeom>
          <a:solidFill>
            <a:srgbClr val="FFFFFF"/>
          </a:solidFill>
          <a:ln w="6985">
            <a:solidFill>
              <a:srgbClr val="202020"/>
            </a:solidFill>
            <a:prstDash val="solid"/>
          </a:ln>
        </p:spPr>
      </p:sp>
      <p:sp>
        <p:nvSpPr>
          <p:cNvPr id="49" name="Text 46"/>
          <p:cNvSpPr/>
          <p:nvPr/>
        </p:nvSpPr>
        <p:spPr>
          <a:xfrm>
            <a:off x="5794200" y="5691600"/>
            <a:ext cx="1164600" cy="1504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50" name="Shape 47"/>
          <p:cNvSpPr/>
          <p:nvPr/>
        </p:nvSpPr>
        <p:spPr>
          <a:xfrm>
            <a:off x="540000" y="7236000"/>
            <a:ext cx="1332000" cy="1080000"/>
          </a:xfrm>
          <a:prstGeom prst="rect">
            <a:avLst/>
          </a:prstGeom>
          <a:solidFill>
            <a:srgbClr val="0874BD"/>
          </a:solidFill>
          <a:ln w="6985">
            <a:solidFill>
              <a:srgbClr val="202020"/>
            </a:solidFill>
            <a:prstDash val="solid"/>
          </a:ln>
        </p:spPr>
      </p:sp>
      <p:sp>
        <p:nvSpPr>
          <p:cNvPr id="51" name="Text 48"/>
          <p:cNvSpPr/>
          <p:nvPr/>
        </p:nvSpPr>
        <p:spPr>
          <a:xfrm>
            <a:off x="601200" y="7275600"/>
            <a:ext cx="1209600" cy="1000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Éco-Prêt à taux zéro</a:t>
            </a:r>
            <a:endParaRPr lang="en-US" sz="1000" dirty="0"/>
          </a:p>
        </p:txBody>
      </p:sp>
      <p:sp>
        <p:nvSpPr>
          <p:cNvPr id="52" name="Shape 49"/>
          <p:cNvSpPr/>
          <p:nvPr/>
        </p:nvSpPr>
        <p:spPr>
          <a:xfrm>
            <a:off x="1872000" y="7236000"/>
            <a:ext cx="1287000" cy="1080000"/>
          </a:xfrm>
          <a:prstGeom prst="rect">
            <a:avLst/>
          </a:prstGeom>
          <a:solidFill>
            <a:srgbClr val="FFFFFF"/>
          </a:solidFill>
          <a:ln w="6985">
            <a:solidFill>
              <a:srgbClr val="202020"/>
            </a:solidFill>
            <a:prstDash val="solid"/>
          </a:ln>
        </p:spPr>
      </p:sp>
      <p:sp>
        <p:nvSpPr>
          <p:cNvPr id="53" name="Text 50"/>
          <p:cNvSpPr/>
          <p:nvPr/>
        </p:nvSpPr>
        <p:spPr>
          <a:xfrm>
            <a:off x="1933200" y="7275600"/>
            <a:ext cx="1164600" cy="1000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54" name="Shape 51"/>
          <p:cNvSpPr/>
          <p:nvPr/>
        </p:nvSpPr>
        <p:spPr>
          <a:xfrm>
            <a:off x="3159000" y="7236000"/>
            <a:ext cx="1287000" cy="1080000"/>
          </a:xfrm>
          <a:prstGeom prst="rect">
            <a:avLst/>
          </a:prstGeom>
          <a:solidFill>
            <a:srgbClr val="FFFFFF"/>
          </a:solidFill>
          <a:ln w="6985">
            <a:solidFill>
              <a:srgbClr val="202020"/>
            </a:solidFill>
            <a:prstDash val="solid"/>
          </a:ln>
        </p:spPr>
      </p:sp>
      <p:sp>
        <p:nvSpPr>
          <p:cNvPr id="55" name="Text 52"/>
          <p:cNvSpPr/>
          <p:nvPr/>
        </p:nvSpPr>
        <p:spPr>
          <a:xfrm>
            <a:off x="3220200" y="7275600"/>
            <a:ext cx="1164600" cy="1000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56" name="Shape 53"/>
          <p:cNvSpPr/>
          <p:nvPr/>
        </p:nvSpPr>
        <p:spPr>
          <a:xfrm>
            <a:off x="4446000" y="7236000"/>
            <a:ext cx="1287000" cy="1080000"/>
          </a:xfrm>
          <a:prstGeom prst="rect">
            <a:avLst/>
          </a:prstGeom>
          <a:solidFill>
            <a:srgbClr val="FFFFFF"/>
          </a:solidFill>
          <a:ln w="6985">
            <a:solidFill>
              <a:srgbClr val="202020"/>
            </a:solidFill>
            <a:prstDash val="solid"/>
          </a:ln>
        </p:spPr>
      </p:sp>
      <p:sp>
        <p:nvSpPr>
          <p:cNvPr id="57" name="Text 54"/>
          <p:cNvSpPr/>
          <p:nvPr/>
        </p:nvSpPr>
        <p:spPr>
          <a:xfrm>
            <a:off x="4507200" y="7275600"/>
            <a:ext cx="1164600" cy="1000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58" name="Shape 55"/>
          <p:cNvSpPr/>
          <p:nvPr/>
        </p:nvSpPr>
        <p:spPr>
          <a:xfrm>
            <a:off x="5733000" y="7236000"/>
            <a:ext cx="1287000" cy="1080000"/>
          </a:xfrm>
          <a:prstGeom prst="rect">
            <a:avLst/>
          </a:prstGeom>
          <a:solidFill>
            <a:srgbClr val="149DCE"/>
          </a:solidFill>
          <a:ln w="6985">
            <a:solidFill>
              <a:srgbClr val="202020"/>
            </a:solidFill>
            <a:prstDash val="solid"/>
          </a:ln>
        </p:spPr>
      </p:sp>
      <p:sp>
        <p:nvSpPr>
          <p:cNvPr id="59" name="Text 56"/>
          <p:cNvSpPr/>
          <p:nvPr/>
        </p:nvSpPr>
        <p:spPr>
          <a:xfrm>
            <a:off x="5794200" y="7275600"/>
            <a:ext cx="1164600" cy="1000800"/>
          </a:xfrm>
          <a:prstGeom prst="rect">
            <a:avLst/>
          </a:prstGeom>
          <a:noFill/>
          <a:ln/>
        </p:spPr>
        <p:txBody>
          <a:bodyPr wrap="square" lIns="0" tIns="0" rIns="0" bIns="0" rtlCol="0" anchor="ctr"/>
          <a:lstStyle/>
          <a:p>
            <a:pPr algn="ctr" indent="0" marL="0">
              <a:buNone/>
            </a:pP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44</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8.6 Les étapes d’un projet de rénovation énergétique globale</a:t>
            </a:r>
            <a:endParaRPr lang="en-US" sz="1300" dirty="0"/>
          </a:p>
        </p:txBody>
      </p:sp>
      <p:sp>
        <p:nvSpPr>
          <p:cNvPr id="8" name="Text 5"/>
          <p:cNvSpPr/>
          <p:nvPr/>
        </p:nvSpPr>
        <p:spPr>
          <a:xfrm>
            <a:off x="648000" y="1764000"/>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1 - Réalisation du PPPT et du DPE collectif</a:t>
            </a:r>
            <a:endParaRPr lang="en-US" sz="940" dirty="0"/>
          </a:p>
        </p:txBody>
      </p:sp>
      <p:sp>
        <p:nvSpPr>
          <p:cNvPr id="9" name="Text 6"/>
          <p:cNvSpPr/>
          <p:nvPr/>
        </p:nvSpPr>
        <p:spPr>
          <a:xfrm>
            <a:off x="648000" y="1959264"/>
            <a:ext cx="6264000" cy="491688"/>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Le PPPT permet d’identifier les besoins de travaux de la copropriété et de hiérarchiser les interventions. Le DPE collectif évalue la performance énergétique initiale du bâtiment et met en évidence les principaux postes de consommation et de déperdition.</a:t>
            </a:r>
            <a:endParaRPr lang="en-US" sz="910" dirty="0"/>
          </a:p>
        </p:txBody>
      </p:sp>
      <p:sp>
        <p:nvSpPr>
          <p:cNvPr id="10" name="Text 7"/>
          <p:cNvSpPr/>
          <p:nvPr/>
        </p:nvSpPr>
        <p:spPr>
          <a:xfrm>
            <a:off x="648000" y="2450952"/>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2 - Réalisation de l’audit énergétique</a:t>
            </a:r>
            <a:endParaRPr lang="en-US" sz="940" dirty="0"/>
          </a:p>
        </p:txBody>
      </p:sp>
      <p:sp>
        <p:nvSpPr>
          <p:cNvPr id="11" name="Text 8"/>
          <p:cNvSpPr/>
          <p:nvPr/>
        </p:nvSpPr>
        <p:spPr>
          <a:xfrm>
            <a:off x="648000" y="2646216"/>
            <a:ext cx="6264000" cy="491688"/>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L’audit énergétique approfondit l’analyse du bâtiment et définit plusieurs scénarios de rénovation. Il précise les travaux à réaliser, les gains énergétiques attendus, les coûts estimatifs et les objectifs de performance pouvant ouvrir droit à certaines aides financières.</a:t>
            </a:r>
            <a:endParaRPr lang="en-US" sz="910" dirty="0"/>
          </a:p>
        </p:txBody>
      </p:sp>
      <p:sp>
        <p:nvSpPr>
          <p:cNvPr id="12" name="Text 9"/>
          <p:cNvSpPr/>
          <p:nvPr/>
        </p:nvSpPr>
        <p:spPr>
          <a:xfrm>
            <a:off x="648000" y="3137904"/>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3 - Choix d’un scénario de rénovation</a:t>
            </a:r>
            <a:endParaRPr lang="en-US" sz="940" dirty="0"/>
          </a:p>
        </p:txBody>
      </p:sp>
      <p:sp>
        <p:nvSpPr>
          <p:cNvPr id="13" name="Text 10"/>
          <p:cNvSpPr/>
          <p:nvPr/>
        </p:nvSpPr>
        <p:spPr>
          <a:xfrm>
            <a:off x="648000" y="3333168"/>
            <a:ext cx="6264000" cy="340992"/>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Le conseil syndical et le syndic étudient les différents scénarios proposés afin d’identifier celui qui correspond le mieux aux objectifs techniques, énergétiques et financiers de la copropriété.</a:t>
            </a:r>
            <a:endParaRPr lang="en-US" sz="910" dirty="0"/>
          </a:p>
        </p:txBody>
      </p:sp>
      <p:sp>
        <p:nvSpPr>
          <p:cNvPr id="14" name="Text 11"/>
          <p:cNvSpPr/>
          <p:nvPr/>
        </p:nvSpPr>
        <p:spPr>
          <a:xfrm>
            <a:off x="648000" y="3674160"/>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4 - Désignation d’un Assistant à Maîtrise d’Ouvrage (AMO)</a:t>
            </a:r>
            <a:endParaRPr lang="en-US" sz="940" dirty="0"/>
          </a:p>
        </p:txBody>
      </p:sp>
      <p:sp>
        <p:nvSpPr>
          <p:cNvPr id="15" name="Text 12"/>
          <p:cNvSpPr/>
          <p:nvPr/>
        </p:nvSpPr>
        <p:spPr>
          <a:xfrm>
            <a:off x="648000" y="3869424"/>
            <a:ext cx="6264000" cy="491688"/>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L’AMO accompagne la copropriété dans le montage administratif, financier et organisationnel du projet. Il contribue notamment à l’analyse des aides mobilisables, à l’élaboration du plan de financement et à la constitution des dossiers de subventions.</a:t>
            </a:r>
            <a:endParaRPr lang="en-US" sz="910" dirty="0"/>
          </a:p>
        </p:txBody>
      </p:sp>
      <p:sp>
        <p:nvSpPr>
          <p:cNvPr id="16" name="Text 13"/>
          <p:cNvSpPr/>
          <p:nvPr/>
        </p:nvSpPr>
        <p:spPr>
          <a:xfrm>
            <a:off x="648000" y="4361112"/>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5 - Désignation d’un Maître d’Œuvre (MOE)</a:t>
            </a:r>
            <a:endParaRPr lang="en-US" sz="940" dirty="0"/>
          </a:p>
        </p:txBody>
      </p:sp>
      <p:sp>
        <p:nvSpPr>
          <p:cNvPr id="17" name="Text 14"/>
          <p:cNvSpPr/>
          <p:nvPr/>
        </p:nvSpPr>
        <p:spPr>
          <a:xfrm>
            <a:off x="648000" y="4556376"/>
            <a:ext cx="6264000" cy="491688"/>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Le maître d’œuvre assure la conception technique du projet. Il réalise ou coordonne les études complémentaires nécessaires, précise le programme de travaux, établit les pièces de consultation et accompagne la copropriété dans le choix des entreprises.</a:t>
            </a:r>
            <a:endParaRPr lang="en-US" sz="910" dirty="0"/>
          </a:p>
        </p:txBody>
      </p:sp>
      <p:sp>
        <p:nvSpPr>
          <p:cNvPr id="18" name="Text 15"/>
          <p:cNvSpPr/>
          <p:nvPr/>
        </p:nvSpPr>
        <p:spPr>
          <a:xfrm>
            <a:off x="648000" y="5048064"/>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6 - Consultation des entreprises</a:t>
            </a:r>
            <a:endParaRPr lang="en-US" sz="940" dirty="0"/>
          </a:p>
        </p:txBody>
      </p:sp>
      <p:sp>
        <p:nvSpPr>
          <p:cNvPr id="19" name="Text 16"/>
          <p:cNvSpPr/>
          <p:nvPr/>
        </p:nvSpPr>
        <p:spPr>
          <a:xfrm>
            <a:off x="648000" y="5243328"/>
            <a:ext cx="6264000" cy="491688"/>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Les entreprises sont consultées sur la base du programme défini par la maîtrise d’œuvre. Les offres reçues sont analysées afin de vérifier leur conformité technique, leur coût et leur adéquation avec les objectifs du projet.</a:t>
            </a:r>
            <a:endParaRPr lang="en-US" sz="910" dirty="0"/>
          </a:p>
        </p:txBody>
      </p:sp>
      <p:sp>
        <p:nvSpPr>
          <p:cNvPr id="20" name="Text 17"/>
          <p:cNvSpPr/>
          <p:nvPr/>
        </p:nvSpPr>
        <p:spPr>
          <a:xfrm>
            <a:off x="648000" y="5735016"/>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7 - Finalisation du plan de financement</a:t>
            </a:r>
            <a:endParaRPr lang="en-US" sz="940" dirty="0"/>
          </a:p>
        </p:txBody>
      </p:sp>
      <p:sp>
        <p:nvSpPr>
          <p:cNvPr id="21" name="Text 18"/>
          <p:cNvSpPr/>
          <p:nvPr/>
        </p:nvSpPr>
        <p:spPr>
          <a:xfrm>
            <a:off x="648000" y="5930280"/>
            <a:ext cx="6264000" cy="340992"/>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Les devis définitifs permettent à l’AMO et au syndic de préciser les aides financières, les prêts mobilisables et le reste à charge prévisionnel pour la copropriété et les copropriétaires.</a:t>
            </a:r>
            <a:endParaRPr lang="en-US" sz="910" dirty="0"/>
          </a:p>
        </p:txBody>
      </p:sp>
      <p:sp>
        <p:nvSpPr>
          <p:cNvPr id="22" name="Text 19"/>
          <p:cNvSpPr/>
          <p:nvPr/>
        </p:nvSpPr>
        <p:spPr>
          <a:xfrm>
            <a:off x="648000" y="6271272"/>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8 - Vote des travaux en assemblée générale</a:t>
            </a:r>
            <a:endParaRPr lang="en-US" sz="940" dirty="0"/>
          </a:p>
        </p:txBody>
      </p:sp>
      <p:sp>
        <p:nvSpPr>
          <p:cNvPr id="23" name="Text 20"/>
          <p:cNvSpPr/>
          <p:nvPr/>
        </p:nvSpPr>
        <p:spPr>
          <a:xfrm>
            <a:off x="648000" y="6466536"/>
            <a:ext cx="6264000" cy="340992"/>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L’assemblée générale se prononce sur le scénario retenu, les entreprises sélectionnées, les honoraires des intervenants, le plan de financement et les modalités d’appel de fonds.</a:t>
            </a:r>
            <a:endParaRPr lang="en-US" sz="910" dirty="0"/>
          </a:p>
        </p:txBody>
      </p:sp>
      <p:sp>
        <p:nvSpPr>
          <p:cNvPr id="24" name="Text 21"/>
          <p:cNvSpPr/>
          <p:nvPr/>
        </p:nvSpPr>
        <p:spPr>
          <a:xfrm>
            <a:off x="648000" y="6807528"/>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9 - Dépôt et validation des demandes d’aides</a:t>
            </a:r>
            <a:endParaRPr lang="en-US" sz="940" dirty="0"/>
          </a:p>
        </p:txBody>
      </p:sp>
      <p:sp>
        <p:nvSpPr>
          <p:cNvPr id="25" name="Text 22"/>
          <p:cNvSpPr/>
          <p:nvPr/>
        </p:nvSpPr>
        <p:spPr>
          <a:xfrm>
            <a:off x="648000" y="7002792"/>
            <a:ext cx="6264000" cy="491688"/>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Les dossiers de demande d’aides sont déposés auprès des organismes concernés. Lorsque le dispositif l’exige, les travaux ne doivent pas commencer avant l’obtention de l’accord ou de l’accusé de réception autorisant leur engagement.</a:t>
            </a:r>
            <a:endParaRPr lang="en-US" sz="910" dirty="0"/>
          </a:p>
        </p:txBody>
      </p:sp>
      <p:sp>
        <p:nvSpPr>
          <p:cNvPr id="26" name="Text 23"/>
          <p:cNvSpPr/>
          <p:nvPr/>
        </p:nvSpPr>
        <p:spPr>
          <a:xfrm>
            <a:off x="648000" y="7494480"/>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10 - Réalisation et suivi des travaux</a:t>
            </a:r>
            <a:endParaRPr lang="en-US" sz="940" dirty="0"/>
          </a:p>
        </p:txBody>
      </p:sp>
      <p:sp>
        <p:nvSpPr>
          <p:cNvPr id="27" name="Text 24"/>
          <p:cNvSpPr/>
          <p:nvPr/>
        </p:nvSpPr>
        <p:spPr>
          <a:xfrm>
            <a:off x="648000" y="7689744"/>
            <a:ext cx="6264000" cy="340992"/>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La maîtrise d’œuvre organise et suit le chantier, contrôle la conformité des travaux et coordonne les différents intervenants jusqu’à leur achèvement.</a:t>
            </a:r>
            <a:endParaRPr lang="en-US" sz="910" dirty="0"/>
          </a:p>
        </p:txBody>
      </p:sp>
      <p:sp>
        <p:nvSpPr>
          <p:cNvPr id="28" name="Text 25"/>
          <p:cNvSpPr/>
          <p:nvPr/>
        </p:nvSpPr>
        <p:spPr>
          <a:xfrm>
            <a:off x="648000" y="8030736"/>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11 - Réception des travaux et versement des aides</a:t>
            </a:r>
            <a:endParaRPr lang="en-US" sz="940" dirty="0"/>
          </a:p>
        </p:txBody>
      </p:sp>
      <p:sp>
        <p:nvSpPr>
          <p:cNvPr id="29" name="Text 26"/>
          <p:cNvSpPr/>
          <p:nvPr/>
        </p:nvSpPr>
        <p:spPr>
          <a:xfrm>
            <a:off x="648000" y="8226000"/>
            <a:ext cx="6264000" cy="340992"/>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À l’issue du chantier, les travaux sont réceptionnés. Les éventuelles réserves sont levées, les justificatifs sont transmis et les demandes de versement des aides financières sont finalisées.</a:t>
            </a:r>
            <a:endParaRPr lang="en-US" sz="910" dirty="0"/>
          </a:p>
        </p:txBody>
      </p:sp>
      <p:sp>
        <p:nvSpPr>
          <p:cNvPr id="30" name="Text 27"/>
          <p:cNvSpPr/>
          <p:nvPr/>
        </p:nvSpPr>
        <p:spPr>
          <a:xfrm>
            <a:off x="648000" y="8566992"/>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12 - Suivi des performances</a:t>
            </a:r>
            <a:endParaRPr lang="en-US" sz="940" dirty="0"/>
          </a:p>
        </p:txBody>
      </p:sp>
      <p:sp>
        <p:nvSpPr>
          <p:cNvPr id="31" name="Text 28"/>
          <p:cNvSpPr/>
          <p:nvPr/>
        </p:nvSpPr>
        <p:spPr>
          <a:xfrm>
            <a:off x="648000" y="8762256"/>
            <a:ext cx="6264000" cy="491688"/>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Après les travaux, le suivi des consommations permet d’évaluer les économies obtenues et de vérifier le bon fonctionnement des nouveaux équipements. Le DPE collectif pourra également être actualisé afin de valoriser la nouvelle performance énergétique du bâtiment.</a:t>
            </a:r>
            <a:endParaRPr lang="en-US" sz="91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9. LEXIQUE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45</a:t>
            </a:r>
            <a:endParaRPr lang="en-US" sz="950" dirty="0"/>
          </a:p>
        </p:txBody>
      </p:sp>
      <p:sp>
        <p:nvSpPr>
          <p:cNvPr id="7" name="Text 4"/>
          <p:cNvSpPr/>
          <p:nvPr/>
        </p:nvSpPr>
        <p:spPr>
          <a:xfrm>
            <a:off x="648000" y="1368000"/>
            <a:ext cx="6264000" cy="3794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Afin de faciliter la compréhension du présent rapport, les principaux termes techniques et réglementaires utilisés sont définis ci-dessous.</a:t>
            </a:r>
            <a:endParaRPr lang="en-US" sz="950" dirty="0"/>
          </a:p>
        </p:txBody>
      </p:sp>
      <p:sp>
        <p:nvSpPr>
          <p:cNvPr id="8" name="Text 5"/>
          <p:cNvSpPr/>
          <p:nvPr/>
        </p:nvSpPr>
        <p:spPr>
          <a:xfrm>
            <a:off x="648000" y="179064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AMO (Assistant à Maîtrise d’Ouvrage)</a:t>
            </a:r>
            <a:endParaRPr lang="en-US" sz="950" dirty="0"/>
          </a:p>
        </p:txBody>
      </p:sp>
      <p:sp>
        <p:nvSpPr>
          <p:cNvPr id="9" name="Text 6"/>
          <p:cNvSpPr/>
          <p:nvPr/>
        </p:nvSpPr>
        <p:spPr>
          <a:xfrm>
            <a:off x="648000" y="197316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Professionnel chargé d’accompagner la copropriété dans la préparation, le montage administratif, technique et financier d’un projet de travaux.</a:t>
            </a:r>
            <a:endParaRPr lang="en-US" sz="950" dirty="0"/>
          </a:p>
        </p:txBody>
      </p:sp>
      <p:sp>
        <p:nvSpPr>
          <p:cNvPr id="10" name="Text 7"/>
          <p:cNvSpPr/>
          <p:nvPr/>
        </p:nvSpPr>
        <p:spPr>
          <a:xfrm>
            <a:off x="648000" y="232740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CEE (Certificats d’Économies d’Énergie)</a:t>
            </a:r>
            <a:endParaRPr lang="en-US" sz="950" dirty="0"/>
          </a:p>
        </p:txBody>
      </p:sp>
      <p:sp>
        <p:nvSpPr>
          <p:cNvPr id="11" name="Text 8"/>
          <p:cNvSpPr/>
          <p:nvPr/>
        </p:nvSpPr>
        <p:spPr>
          <a:xfrm>
            <a:off x="648000" y="250992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Dispositif d’aide financière reposant sur l’obligation faite aux fournisseurs d’énergie de financer des travaux permettant de réduire les consommations énergétiques.</a:t>
            </a:r>
            <a:endParaRPr lang="en-US" sz="950" dirty="0"/>
          </a:p>
        </p:txBody>
      </p:sp>
      <p:sp>
        <p:nvSpPr>
          <p:cNvPr id="12" name="Text 9"/>
          <p:cNvSpPr/>
          <p:nvPr/>
        </p:nvSpPr>
        <p:spPr>
          <a:xfrm>
            <a:off x="648000" y="286416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DPE Collectif (Diagnostic de Performance Énergétique)</a:t>
            </a:r>
            <a:endParaRPr lang="en-US" sz="950" dirty="0"/>
          </a:p>
        </p:txBody>
      </p:sp>
      <p:sp>
        <p:nvSpPr>
          <p:cNvPr id="13" name="Text 10"/>
          <p:cNvSpPr/>
          <p:nvPr/>
        </p:nvSpPr>
        <p:spPr>
          <a:xfrm>
            <a:off x="648000" y="3046680"/>
            <a:ext cx="6264000" cy="49716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Étude réglementaire évaluant la performance énergétique d’un immeuble. Il attribue une étiquette énergie (de A à G) et une étiquette climat en fonction des consommations conventionnelles et des émissions de gaz à effet de serre.</a:t>
            </a:r>
            <a:endParaRPr lang="en-US" sz="950" dirty="0"/>
          </a:p>
        </p:txBody>
      </p:sp>
      <p:sp>
        <p:nvSpPr>
          <p:cNvPr id="14" name="Text 11"/>
          <p:cNvSpPr/>
          <p:nvPr/>
        </p:nvSpPr>
        <p:spPr>
          <a:xfrm>
            <a:off x="648000" y="355824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DTG (Diagnostic Technique Global)</a:t>
            </a:r>
            <a:endParaRPr lang="en-US" sz="950" dirty="0"/>
          </a:p>
        </p:txBody>
      </p:sp>
      <p:sp>
        <p:nvSpPr>
          <p:cNvPr id="15" name="Text 12"/>
          <p:cNvSpPr/>
          <p:nvPr/>
        </p:nvSpPr>
        <p:spPr>
          <a:xfrm>
            <a:off x="648000" y="374076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Étude globale permettant d’évaluer l’état général d’une copropriété, ses besoins de travaux et sa situation énergétique.</a:t>
            </a:r>
            <a:endParaRPr lang="en-US" sz="950" dirty="0"/>
          </a:p>
        </p:txBody>
      </p:sp>
      <p:sp>
        <p:nvSpPr>
          <p:cNvPr id="16" name="Text 13"/>
          <p:cNvSpPr/>
          <p:nvPr/>
        </p:nvSpPr>
        <p:spPr>
          <a:xfrm>
            <a:off x="648000" y="409500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Éco-PTZ</a:t>
            </a:r>
            <a:endParaRPr lang="en-US" sz="950" dirty="0"/>
          </a:p>
        </p:txBody>
      </p:sp>
      <p:sp>
        <p:nvSpPr>
          <p:cNvPr id="17" name="Text 14"/>
          <p:cNvSpPr/>
          <p:nvPr/>
        </p:nvSpPr>
        <p:spPr>
          <a:xfrm>
            <a:off x="648000" y="427752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Éco-Prêt à Taux Zéro permettant de financer des travaux de rénovation énergétique sans payer d’intérêts.</a:t>
            </a:r>
            <a:endParaRPr lang="en-US" sz="950" dirty="0"/>
          </a:p>
        </p:txBody>
      </p:sp>
      <p:sp>
        <p:nvSpPr>
          <p:cNvPr id="18" name="Text 15"/>
          <p:cNvSpPr/>
          <p:nvPr/>
        </p:nvSpPr>
        <p:spPr>
          <a:xfrm>
            <a:off x="648000" y="463176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GES (Gaz à Effet de Serre)</a:t>
            </a:r>
            <a:endParaRPr lang="en-US" sz="950" dirty="0"/>
          </a:p>
        </p:txBody>
      </p:sp>
      <p:sp>
        <p:nvSpPr>
          <p:cNvPr id="19" name="Text 16"/>
          <p:cNvSpPr/>
          <p:nvPr/>
        </p:nvSpPr>
        <p:spPr>
          <a:xfrm>
            <a:off x="648000" y="481428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Gaz participant au réchauffement climatique, principalement émis lors de la combustion d’énergies fossiles.</a:t>
            </a:r>
            <a:endParaRPr lang="en-US" sz="950" dirty="0"/>
          </a:p>
        </p:txBody>
      </p:sp>
      <p:sp>
        <p:nvSpPr>
          <p:cNvPr id="20" name="Text 17"/>
          <p:cNvSpPr/>
          <p:nvPr/>
        </p:nvSpPr>
        <p:spPr>
          <a:xfrm>
            <a:off x="648000" y="516852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ITE (Isolation Thermique par l’Extérieur)</a:t>
            </a:r>
            <a:endParaRPr lang="en-US" sz="950" dirty="0"/>
          </a:p>
        </p:txBody>
      </p:sp>
      <p:sp>
        <p:nvSpPr>
          <p:cNvPr id="21" name="Text 18"/>
          <p:cNvSpPr/>
          <p:nvPr/>
        </p:nvSpPr>
        <p:spPr>
          <a:xfrm>
            <a:off x="648000" y="535104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Technique consistant à isoler les murs du bâtiment depuis l’extérieur afin de réduire les déperditions thermiques et améliorer le confort des occupants.</a:t>
            </a:r>
            <a:endParaRPr lang="en-US" sz="950" dirty="0"/>
          </a:p>
        </p:txBody>
      </p:sp>
      <p:sp>
        <p:nvSpPr>
          <p:cNvPr id="22" name="Text 19"/>
          <p:cNvSpPr/>
          <p:nvPr/>
        </p:nvSpPr>
        <p:spPr>
          <a:xfrm>
            <a:off x="648000" y="570528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Parties communes</a:t>
            </a:r>
            <a:endParaRPr lang="en-US" sz="950" dirty="0"/>
          </a:p>
        </p:txBody>
      </p:sp>
      <p:sp>
        <p:nvSpPr>
          <p:cNvPr id="23" name="Text 20"/>
          <p:cNvSpPr/>
          <p:nvPr/>
        </p:nvSpPr>
        <p:spPr>
          <a:xfrm>
            <a:off x="648000" y="588780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Éléments du bâtiment appartenant à l’ensemble des copropriétaires (façades, toiture, halls, escaliers, réseaux communs, chaufferie, etc.).</a:t>
            </a:r>
            <a:endParaRPr lang="en-US" sz="950" dirty="0"/>
          </a:p>
        </p:txBody>
      </p:sp>
      <p:sp>
        <p:nvSpPr>
          <p:cNvPr id="24" name="Text 21"/>
          <p:cNvSpPr/>
          <p:nvPr/>
        </p:nvSpPr>
        <p:spPr>
          <a:xfrm>
            <a:off x="648000" y="624204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Parties privatives</a:t>
            </a:r>
            <a:endParaRPr lang="en-US" sz="950" dirty="0"/>
          </a:p>
        </p:txBody>
      </p:sp>
      <p:sp>
        <p:nvSpPr>
          <p:cNvPr id="25" name="Text 22"/>
          <p:cNvSpPr/>
          <p:nvPr/>
        </p:nvSpPr>
        <p:spPr>
          <a:xfrm>
            <a:off x="648000" y="642456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Éléments appartenant exclusivement à chaque copropriétaire (logement, cave privative, garage privatif, etc.).</a:t>
            </a:r>
            <a:endParaRPr lang="en-US" sz="950" dirty="0"/>
          </a:p>
        </p:txBody>
      </p:sp>
      <p:sp>
        <p:nvSpPr>
          <p:cNvPr id="26" name="Text 23"/>
          <p:cNvSpPr/>
          <p:nvPr/>
        </p:nvSpPr>
        <p:spPr>
          <a:xfrm>
            <a:off x="648000" y="677880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PPPT (Projet de Plan Pluriannuel de Travaux)</a:t>
            </a:r>
            <a:endParaRPr lang="en-US" sz="950" dirty="0"/>
          </a:p>
        </p:txBody>
      </p:sp>
      <p:sp>
        <p:nvSpPr>
          <p:cNvPr id="27" name="Text 24"/>
          <p:cNvSpPr/>
          <p:nvPr/>
        </p:nvSpPr>
        <p:spPr>
          <a:xfrm>
            <a:off x="648000" y="696132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Document prévisionnel identifiant les travaux à envisager sur une période de 10 ans. Il est présenté à l’assemblée générale avant son éventuelle adoption.</a:t>
            </a:r>
            <a:endParaRPr lang="en-US" sz="950" dirty="0"/>
          </a:p>
        </p:txBody>
      </p:sp>
      <p:sp>
        <p:nvSpPr>
          <p:cNvPr id="28" name="Text 25"/>
          <p:cNvSpPr/>
          <p:nvPr/>
        </p:nvSpPr>
        <p:spPr>
          <a:xfrm>
            <a:off x="648000" y="731556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PPT (Plan Pluriannuel de Travaux)</a:t>
            </a:r>
            <a:endParaRPr lang="en-US" sz="950" dirty="0"/>
          </a:p>
        </p:txBody>
      </p:sp>
      <p:sp>
        <p:nvSpPr>
          <p:cNvPr id="29" name="Text 26"/>
          <p:cNvSpPr/>
          <p:nvPr/>
        </p:nvSpPr>
        <p:spPr>
          <a:xfrm>
            <a:off x="648000" y="749808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Version adoptée du PPPT par les copropriétaires. Il constitue la feuille de route des travaux programmés par la copropriété.</a:t>
            </a:r>
            <a:endParaRPr lang="en-US" sz="950" dirty="0"/>
          </a:p>
        </p:txBody>
      </p:sp>
      <p:sp>
        <p:nvSpPr>
          <p:cNvPr id="30" name="Text 27"/>
          <p:cNvSpPr/>
          <p:nvPr/>
        </p:nvSpPr>
        <p:spPr>
          <a:xfrm>
            <a:off x="648000" y="785232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Pompe à chaleur (PAC)</a:t>
            </a:r>
            <a:endParaRPr lang="en-US" sz="950" dirty="0"/>
          </a:p>
        </p:txBody>
      </p:sp>
      <p:sp>
        <p:nvSpPr>
          <p:cNvPr id="31" name="Text 28"/>
          <p:cNvSpPr/>
          <p:nvPr/>
        </p:nvSpPr>
        <p:spPr>
          <a:xfrm>
            <a:off x="648000" y="803484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Équipement utilisant les calories naturellement présentes dans l’air, l’eau ou le sol afin de produire de la chaleur avec une consommation énergétique réduite.</a:t>
            </a:r>
            <a:endParaRPr lang="en-US" sz="950" dirty="0"/>
          </a:p>
        </p:txBody>
      </p:sp>
      <p:sp>
        <p:nvSpPr>
          <p:cNvPr id="32" name="Text 29"/>
          <p:cNvSpPr/>
          <p:nvPr/>
        </p:nvSpPr>
        <p:spPr>
          <a:xfrm>
            <a:off x="648000" y="838908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Réseau de chaleur urbain</a:t>
            </a:r>
            <a:endParaRPr lang="en-US" sz="950" dirty="0"/>
          </a:p>
        </p:txBody>
      </p:sp>
      <p:sp>
        <p:nvSpPr>
          <p:cNvPr id="33" name="Text 30"/>
          <p:cNvSpPr/>
          <p:nvPr/>
        </p:nvSpPr>
        <p:spPr>
          <a:xfrm>
            <a:off x="648000" y="857160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Système collectif de production et de distribution de chaleur alimentant plusieurs bâtiments à partir d’une centrale de production, souvent alimentée en énergies renouvelables ou de récupération.</a:t>
            </a:r>
            <a:endParaRPr lang="en-US" sz="950" dirty="0"/>
          </a:p>
        </p:txBody>
      </p:sp>
      <p:sp>
        <p:nvSpPr>
          <p:cNvPr id="34" name="Text 31"/>
          <p:cNvSpPr/>
          <p:nvPr/>
        </p:nvSpPr>
        <p:spPr>
          <a:xfrm>
            <a:off x="648000" y="892584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SCOP (Coefficient de Performance Saisonnier)</a:t>
            </a:r>
            <a:endParaRPr lang="en-US" sz="950" dirty="0"/>
          </a:p>
        </p:txBody>
      </p:sp>
      <p:sp>
        <p:nvSpPr>
          <p:cNvPr id="35" name="Text 32"/>
          <p:cNvSpPr/>
          <p:nvPr/>
        </p:nvSpPr>
        <p:spPr>
          <a:xfrm>
            <a:off x="648000" y="910836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Indicateur de performance d’une pompe à chaleur. Il représente le rapport entre l’énergie produite et l’énergie consommée sur une saison de chauffage.</a:t>
            </a:r>
            <a:endParaRPr lang="en-US" sz="9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9. LEXIQUE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46</a:t>
            </a:r>
            <a:endParaRPr lang="en-US" sz="950" dirty="0"/>
          </a:p>
        </p:txBody>
      </p:sp>
      <p:sp>
        <p:nvSpPr>
          <p:cNvPr id="7" name="Text 4"/>
          <p:cNvSpPr/>
          <p:nvPr/>
        </p:nvSpPr>
        <p:spPr>
          <a:xfrm>
            <a:off x="648000" y="126000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VMC (Ventilation Mécanique Contrôlée)</a:t>
            </a:r>
            <a:endParaRPr lang="en-US" sz="950" dirty="0"/>
          </a:p>
        </p:txBody>
      </p:sp>
      <p:sp>
        <p:nvSpPr>
          <p:cNvPr id="8" name="Text 5"/>
          <p:cNvSpPr/>
          <p:nvPr/>
        </p:nvSpPr>
        <p:spPr>
          <a:xfrm>
            <a:off x="648000" y="144252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Système assurant le renouvellement de l’air à l’intérieur des logements afin de garantir une bonne qualité de l’air et de limiter l’humidité.</a:t>
            </a:r>
            <a:endParaRPr lang="en-US" sz="950" dirty="0"/>
          </a:p>
        </p:txBody>
      </p:sp>
      <p:sp>
        <p:nvSpPr>
          <p:cNvPr id="9" name="Text 6"/>
          <p:cNvSpPr/>
          <p:nvPr/>
        </p:nvSpPr>
        <p:spPr>
          <a:xfrm>
            <a:off x="648000" y="179136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VMC Autoréglable</a:t>
            </a:r>
            <a:endParaRPr lang="en-US" sz="950" dirty="0"/>
          </a:p>
        </p:txBody>
      </p:sp>
      <p:sp>
        <p:nvSpPr>
          <p:cNvPr id="10" name="Text 7"/>
          <p:cNvSpPr/>
          <p:nvPr/>
        </p:nvSpPr>
        <p:spPr>
          <a:xfrm>
            <a:off x="648000" y="197388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Système de ventilation fonctionnant avec des débits d’air constants indépendamment du taux d’humidité des logements.</a:t>
            </a:r>
            <a:endParaRPr lang="en-US" sz="950" dirty="0"/>
          </a:p>
        </p:txBody>
      </p:sp>
      <p:sp>
        <p:nvSpPr>
          <p:cNvPr id="11" name="Text 8"/>
          <p:cNvSpPr/>
          <p:nvPr/>
        </p:nvSpPr>
        <p:spPr>
          <a:xfrm>
            <a:off x="648000" y="232272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VMC Hygroréglable Type A</a:t>
            </a:r>
            <a:endParaRPr lang="en-US" sz="950" dirty="0"/>
          </a:p>
        </p:txBody>
      </p:sp>
      <p:sp>
        <p:nvSpPr>
          <p:cNvPr id="12" name="Text 9"/>
          <p:cNvSpPr/>
          <p:nvPr/>
        </p:nvSpPr>
        <p:spPr>
          <a:xfrm>
            <a:off x="648000" y="250524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Système dont les bouches d’extraction adaptent automatiquement leur débit en fonction du taux d’humidité.</a:t>
            </a:r>
            <a:endParaRPr lang="en-US" sz="950" dirty="0"/>
          </a:p>
        </p:txBody>
      </p:sp>
      <p:sp>
        <p:nvSpPr>
          <p:cNvPr id="13" name="Text 10"/>
          <p:cNvSpPr/>
          <p:nvPr/>
        </p:nvSpPr>
        <p:spPr>
          <a:xfrm>
            <a:off x="648000" y="285408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VMC Hygroréglable Type B</a:t>
            </a:r>
            <a:endParaRPr lang="en-US" sz="950" dirty="0"/>
          </a:p>
        </p:txBody>
      </p:sp>
      <p:sp>
        <p:nvSpPr>
          <p:cNvPr id="14" name="Text 11"/>
          <p:cNvSpPr/>
          <p:nvPr/>
        </p:nvSpPr>
        <p:spPr>
          <a:xfrm>
            <a:off x="648000" y="303660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Système dont les bouches d’extraction et les entrées d’air adaptent automatiquement leurs débits en fonction de l’humidité, permettant des économies d’énergie supplémentaires.</a:t>
            </a:r>
            <a:endParaRPr lang="en-US" sz="950" dirty="0"/>
          </a:p>
        </p:txBody>
      </p:sp>
      <p:sp>
        <p:nvSpPr>
          <p:cNvPr id="15" name="Text 12"/>
          <p:cNvSpPr/>
          <p:nvPr/>
        </p:nvSpPr>
        <p:spPr>
          <a:xfrm>
            <a:off x="648000" y="338544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Uw</a:t>
            </a:r>
            <a:endParaRPr lang="en-US" sz="950" dirty="0"/>
          </a:p>
        </p:txBody>
      </p:sp>
      <p:sp>
        <p:nvSpPr>
          <p:cNvPr id="16" name="Text 13"/>
          <p:cNvSpPr/>
          <p:nvPr/>
        </p:nvSpPr>
        <p:spPr>
          <a:xfrm>
            <a:off x="648000" y="356796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Coefficient de transmission thermique d’une fenêtre. Plus sa valeur est faible, plus la menuiserie est performante.</a:t>
            </a:r>
            <a:endParaRPr lang="en-US" sz="950" dirty="0"/>
          </a:p>
        </p:txBody>
      </p:sp>
      <p:sp>
        <p:nvSpPr>
          <p:cNvPr id="17" name="Text 14"/>
          <p:cNvSpPr/>
          <p:nvPr/>
        </p:nvSpPr>
        <p:spPr>
          <a:xfrm>
            <a:off x="648000" y="391680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kWhEP/m².an</a:t>
            </a:r>
            <a:endParaRPr lang="en-US" sz="950" dirty="0"/>
          </a:p>
        </p:txBody>
      </p:sp>
      <p:sp>
        <p:nvSpPr>
          <p:cNvPr id="18" name="Text 15"/>
          <p:cNvSpPr/>
          <p:nvPr/>
        </p:nvSpPr>
        <p:spPr>
          <a:xfrm>
            <a:off x="648000" y="409932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Unité utilisée dans les études énergétiques pour exprimer la consommation annuelle d’énergie primaire rapportée à la surface du bâtiment.</a:t>
            </a:r>
            <a:endParaRPr lang="en-US" sz="950" dirty="0"/>
          </a:p>
        </p:txBody>
      </p:sp>
      <p:sp>
        <p:nvSpPr>
          <p:cNvPr id="19" name="Text 16"/>
          <p:cNvSpPr/>
          <p:nvPr/>
        </p:nvSpPr>
        <p:spPr>
          <a:xfrm>
            <a:off x="648000" y="444816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Résistance thermique (R)</a:t>
            </a:r>
            <a:endParaRPr lang="en-US" sz="950" dirty="0"/>
          </a:p>
        </p:txBody>
      </p:sp>
      <p:sp>
        <p:nvSpPr>
          <p:cNvPr id="20" name="Text 17"/>
          <p:cNvSpPr/>
          <p:nvPr/>
        </p:nvSpPr>
        <p:spPr>
          <a:xfrm>
            <a:off x="648000" y="4630680"/>
            <a:ext cx="6264000" cy="18252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Indicateur de performance d’un isolant. Plus sa valeur est élevée, plus l’isolation est performante.</a:t>
            </a:r>
            <a:endParaRPr lang="en-US" sz="950" dirty="0"/>
          </a:p>
        </p:txBody>
      </p:sp>
      <p:sp>
        <p:nvSpPr>
          <p:cNvPr id="21" name="Text 18"/>
          <p:cNvSpPr/>
          <p:nvPr/>
        </p:nvSpPr>
        <p:spPr>
          <a:xfrm>
            <a:off x="648000" y="482220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Conductivité thermique (λ)</a:t>
            </a:r>
            <a:endParaRPr lang="en-US" sz="950" dirty="0"/>
          </a:p>
        </p:txBody>
      </p:sp>
      <p:sp>
        <p:nvSpPr>
          <p:cNvPr id="22" name="Text 19"/>
          <p:cNvSpPr/>
          <p:nvPr/>
        </p:nvSpPr>
        <p:spPr>
          <a:xfrm>
            <a:off x="648000" y="500472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Capacité d’un matériau à transmettre la chaleur. Plus la valeur λ est faible, plus le matériau est isolant.</a:t>
            </a:r>
            <a:endParaRPr lang="en-US" sz="950" dirty="0"/>
          </a:p>
        </p:txBody>
      </p:sp>
      <p:sp>
        <p:nvSpPr>
          <p:cNvPr id="23" name="Text 20"/>
          <p:cNvSpPr/>
          <p:nvPr/>
        </p:nvSpPr>
        <p:spPr>
          <a:xfrm>
            <a:off x="648000" y="535356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Pont thermique</a:t>
            </a:r>
            <a:endParaRPr lang="en-US" sz="950" dirty="0"/>
          </a:p>
        </p:txBody>
      </p:sp>
      <p:sp>
        <p:nvSpPr>
          <p:cNvPr id="24" name="Text 21"/>
          <p:cNvSpPr/>
          <p:nvPr/>
        </p:nvSpPr>
        <p:spPr>
          <a:xfrm>
            <a:off x="648000" y="553608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Zone localisée de l’enveloppe du bâtiment où l’isolation est moins performante, entraînant des pertes de chaleur supplémentaires et parfois des phénomènes de condensation.</a:t>
            </a:r>
            <a:endParaRPr lang="en-US" sz="950" dirty="0"/>
          </a:p>
        </p:txBody>
      </p:sp>
      <p:sp>
        <p:nvSpPr>
          <p:cNvPr id="25" name="Text 22"/>
          <p:cNvSpPr/>
          <p:nvPr/>
        </p:nvSpPr>
        <p:spPr>
          <a:xfrm>
            <a:off x="648000" y="588492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Déperditions thermiques</a:t>
            </a:r>
            <a:endParaRPr lang="en-US" sz="950" dirty="0"/>
          </a:p>
        </p:txBody>
      </p:sp>
      <p:sp>
        <p:nvSpPr>
          <p:cNvPr id="26" name="Text 23"/>
          <p:cNvSpPr/>
          <p:nvPr/>
        </p:nvSpPr>
        <p:spPr>
          <a:xfrm>
            <a:off x="648000" y="606744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Quantité de chaleur perdue par le bâtiment à travers les murs, la toiture, les fenêtres, le plancher bas ou le renouvellement d’air.</a:t>
            </a:r>
            <a:endParaRPr lang="en-US" sz="950" dirty="0"/>
          </a:p>
        </p:txBody>
      </p:sp>
      <p:sp>
        <p:nvSpPr>
          <p:cNvPr id="27" name="Text 24"/>
          <p:cNvSpPr/>
          <p:nvPr/>
        </p:nvSpPr>
        <p:spPr>
          <a:xfrm>
            <a:off x="648000" y="641628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Énergie primaire (EP)</a:t>
            </a:r>
            <a:endParaRPr lang="en-US" sz="950" dirty="0"/>
          </a:p>
        </p:txBody>
      </p:sp>
      <p:sp>
        <p:nvSpPr>
          <p:cNvPr id="28" name="Text 25"/>
          <p:cNvSpPr/>
          <p:nvPr/>
        </p:nvSpPr>
        <p:spPr>
          <a:xfrm>
            <a:off x="648000" y="659880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Énergie nécessaire pour produire et acheminer l’énergie consommée dans le bâtiment. C’est l’unité utilisée dans le DPE.</a:t>
            </a:r>
            <a:endParaRPr lang="en-US" sz="950" dirty="0"/>
          </a:p>
        </p:txBody>
      </p:sp>
      <p:sp>
        <p:nvSpPr>
          <p:cNvPr id="29" name="Text 26"/>
          <p:cNvSpPr/>
          <p:nvPr/>
        </p:nvSpPr>
        <p:spPr>
          <a:xfrm>
            <a:off x="648000" y="694764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Énergie finale (EF)</a:t>
            </a:r>
            <a:endParaRPr lang="en-US" sz="950" dirty="0"/>
          </a:p>
        </p:txBody>
      </p:sp>
      <p:sp>
        <p:nvSpPr>
          <p:cNvPr id="30" name="Text 27"/>
          <p:cNvSpPr/>
          <p:nvPr/>
        </p:nvSpPr>
        <p:spPr>
          <a:xfrm>
            <a:off x="648000" y="713016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Énergie effectivement consommée par l’utilisateur et figurant sur les factures (gaz, électricité, réseau de chaleur, etc.).</a:t>
            </a:r>
            <a:endParaRPr lang="en-US" sz="950" dirty="0"/>
          </a:p>
        </p:txBody>
      </p:sp>
      <p:sp>
        <p:nvSpPr>
          <p:cNvPr id="31" name="Text 28"/>
          <p:cNvSpPr/>
          <p:nvPr/>
        </p:nvSpPr>
        <p:spPr>
          <a:xfrm>
            <a:off x="648000" y="747900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Rendement</a:t>
            </a:r>
            <a:endParaRPr lang="en-US" sz="950" dirty="0"/>
          </a:p>
        </p:txBody>
      </p:sp>
      <p:sp>
        <p:nvSpPr>
          <p:cNvPr id="32" name="Text 29"/>
          <p:cNvSpPr/>
          <p:nvPr/>
        </p:nvSpPr>
        <p:spPr>
          <a:xfrm>
            <a:off x="648000" y="766152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Rapport entre l’énergie utile produite par un équipement et l’énergie consommée pour la produire. Plus le rendement est élevé, plus l’installation est performante.</a:t>
            </a:r>
            <a:endParaRPr lang="en-US" sz="950" dirty="0"/>
          </a:p>
        </p:txBody>
      </p:sp>
      <p:sp>
        <p:nvSpPr>
          <p:cNvPr id="33" name="Text 30"/>
          <p:cNvSpPr/>
          <p:nvPr/>
        </p:nvSpPr>
        <p:spPr>
          <a:xfrm>
            <a:off x="648000" y="801036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Calorifugeage</a:t>
            </a:r>
            <a:endParaRPr lang="en-US" sz="950" dirty="0"/>
          </a:p>
        </p:txBody>
      </p:sp>
      <p:sp>
        <p:nvSpPr>
          <p:cNvPr id="34" name="Text 31"/>
          <p:cNvSpPr/>
          <p:nvPr/>
        </p:nvSpPr>
        <p:spPr>
          <a:xfrm>
            <a:off x="648000" y="819288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Isolation thermique des canalisations, vannes et accessoires de chauffage ou d’eau chaude sanitaire afin de limiter les pertes d’énergie.</a:t>
            </a:r>
            <a:endParaRPr lang="en-US" sz="950" dirty="0"/>
          </a:p>
        </p:txBody>
      </p:sp>
      <p:sp>
        <p:nvSpPr>
          <p:cNvPr id="35" name="Text 32"/>
          <p:cNvSpPr/>
          <p:nvPr/>
        </p:nvSpPr>
        <p:spPr>
          <a:xfrm>
            <a:off x="648000" y="854172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Audit énergétique</a:t>
            </a:r>
            <a:endParaRPr lang="en-US" sz="950" dirty="0"/>
          </a:p>
        </p:txBody>
      </p:sp>
      <p:sp>
        <p:nvSpPr>
          <p:cNvPr id="36" name="Text 33"/>
          <p:cNvSpPr/>
          <p:nvPr/>
        </p:nvSpPr>
        <p:spPr>
          <a:xfrm>
            <a:off x="648000" y="872424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Étude approfondie visant à identifier les déperditions énergétiques du bâtiment et à proposer différents scénarios de travaux d’amélioration.</a:t>
            </a:r>
            <a:endParaRPr lang="en-US" sz="950" dirty="0"/>
          </a:p>
        </p:txBody>
      </p:sp>
      <p:sp>
        <p:nvSpPr>
          <p:cNvPr id="37" name="Text 34"/>
          <p:cNvSpPr/>
          <p:nvPr/>
        </p:nvSpPr>
        <p:spPr>
          <a:xfrm>
            <a:off x="648000" y="907308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Gain énergétique</a:t>
            </a:r>
            <a:endParaRPr lang="en-US" sz="950" dirty="0"/>
          </a:p>
        </p:txBody>
      </p:sp>
      <p:sp>
        <p:nvSpPr>
          <p:cNvPr id="38" name="Text 35"/>
          <p:cNvSpPr/>
          <p:nvPr/>
        </p:nvSpPr>
        <p:spPr>
          <a:xfrm>
            <a:off x="648000" y="925560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Réduction des consommations conventionnelles d’énergie obtenue après réalisation des travaux, exprimée en pourcentage.</a:t>
            </a:r>
            <a:endParaRPr lang="en-US" sz="9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10. DÉCLARATION SUR L’HONNEUR</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47</a:t>
            </a:r>
            <a:endParaRPr lang="en-US" sz="950" dirty="0"/>
          </a:p>
        </p:txBody>
      </p:sp>
      <p:sp>
        <p:nvSpPr>
          <p:cNvPr id="7" name="Text 4"/>
          <p:cNvSpPr/>
          <p:nvPr/>
        </p:nvSpPr>
        <p:spPr>
          <a:xfrm>
            <a:off x="648000" y="1368000"/>
            <a:ext cx="6264000" cy="3960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Pour réaliser le Plan de Projet Pluriannuel de Travaux, la société France Verte ou son représentant:</a:t>
            </a:r>
            <a:endParaRPr lang="en-US" sz="1000" dirty="0"/>
          </a:p>
        </p:txBody>
      </p:sp>
      <p:sp>
        <p:nvSpPr>
          <p:cNvPr id="8" name="Text 5"/>
          <p:cNvSpPr/>
          <p:nvPr/>
        </p:nvSpPr>
        <p:spPr>
          <a:xfrm>
            <a:off x="756000" y="1828800"/>
            <a:ext cx="126000" cy="37944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9" name="Text 6"/>
          <p:cNvSpPr/>
          <p:nvPr/>
        </p:nvSpPr>
        <p:spPr>
          <a:xfrm>
            <a:off x="900000" y="1828800"/>
            <a:ext cx="5976000" cy="37944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Atteste que les employés, les membres du groupement ou lui-même possèdent les compétences requises pour mener à bien cette mission.</a:t>
            </a:r>
            <a:endParaRPr lang="en-US" sz="950" dirty="0"/>
          </a:p>
        </p:txBody>
      </p:sp>
      <p:sp>
        <p:nvSpPr>
          <p:cNvPr id="10" name="Text 7"/>
          <p:cNvSpPr/>
          <p:nvPr/>
        </p:nvSpPr>
        <p:spPr>
          <a:xfrm>
            <a:off x="756000" y="2255040"/>
            <a:ext cx="126000" cy="53676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11" name="Text 8"/>
          <p:cNvSpPr/>
          <p:nvPr/>
        </p:nvSpPr>
        <p:spPr>
          <a:xfrm>
            <a:off x="900000" y="2255040"/>
            <a:ext cx="5976000" cy="53676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Atteste qu’il a souscrit une assurance responsabilité civile professionnelle lui permettant de couvrir les conséquences d’un engagement de sa responsabilité en raison de ses interventions au titre du diagnostic technique global.</a:t>
            </a:r>
            <a:endParaRPr lang="en-US" sz="950" dirty="0"/>
          </a:p>
        </p:txBody>
      </p:sp>
      <p:sp>
        <p:nvSpPr>
          <p:cNvPr id="12" name="Text 9"/>
          <p:cNvSpPr/>
          <p:nvPr/>
        </p:nvSpPr>
        <p:spPr>
          <a:xfrm>
            <a:off x="756000" y="2838600"/>
            <a:ext cx="126000" cy="53676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13" name="Text 10"/>
          <p:cNvSpPr/>
          <p:nvPr/>
        </p:nvSpPr>
        <p:spPr>
          <a:xfrm>
            <a:off x="900000" y="2838600"/>
            <a:ext cx="5976000" cy="53676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Atteste sur l’honneur de son impartialité et de son indépendance à l’égard du syndic sauf si ce dernier a obtenu l’autorisation mentionnée à l’article 18 de la loi du 10 juillet 1965 fixant le statut de la copropriété des immeubles bâtis.</a:t>
            </a:r>
            <a:endParaRPr lang="en-US" sz="950" dirty="0"/>
          </a:p>
        </p:txBody>
      </p:sp>
      <p:sp>
        <p:nvSpPr>
          <p:cNvPr id="14" name="Text 11"/>
          <p:cNvSpPr/>
          <p:nvPr/>
        </p:nvSpPr>
        <p:spPr>
          <a:xfrm>
            <a:off x="756000" y="3422160"/>
            <a:ext cx="126000" cy="53676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15" name="Text 12"/>
          <p:cNvSpPr/>
          <p:nvPr/>
        </p:nvSpPr>
        <p:spPr>
          <a:xfrm>
            <a:off x="900000" y="3422160"/>
            <a:ext cx="5976000" cy="53676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Atteste sur l’honneur de son impartialité et de son indépendance à l’égard des fournisseurs d’énergie et des entreprises intervenant sur l’immeuble et les équipements sur lesquels porte le diagnostic technique global.</a:t>
            </a:r>
            <a:endParaRPr lang="en-US" sz="950" dirty="0"/>
          </a:p>
        </p:txBody>
      </p:sp>
      <p:sp>
        <p:nvSpPr>
          <p:cNvPr id="16" name="Text 13"/>
          <p:cNvSpPr/>
          <p:nvPr/>
        </p:nvSpPr>
        <p:spPr>
          <a:xfrm>
            <a:off x="648000" y="4048920"/>
            <a:ext cx="6264000" cy="362880"/>
          </a:xfrm>
          <a:prstGeom prst="rect">
            <a:avLst/>
          </a:prstGeom>
          <a:noFill/>
          <a:ln/>
        </p:spPr>
        <p:txBody>
          <a:bodyPr wrap="square" lIns="0" tIns="0" rIns="0" bIns="0" rtlCol="0" anchor="t"/>
          <a:lstStyle/>
          <a:p>
            <a:pPr algn="just" indent="0" marL="0">
              <a:buNone/>
            </a:pPr>
            <a:r>
              <a:rPr lang="en-US" sz="900" i="1" dirty="0">
                <a:solidFill>
                  <a:srgbClr val="0070C0"/>
                </a:solidFill>
                <a:latin typeface="Aptos" pitchFamily="34" charset="0"/>
                <a:ea typeface="Aptos" pitchFamily="34" charset="-122"/>
                <a:cs typeface="Aptos" pitchFamily="34" charset="-120"/>
              </a:rPr>
              <a:t>TEXTE DE REFERENCE : Décret n°2022-663 du 25 avril 2022 relatif aux modalités de réalisation du Plan de Projet Pluriannuel de Travaux des immeubles à destination partielle ou totale d’habitation.</a:t>
            </a:r>
            <a:endParaRPr lang="en-US" sz="900" dirty="0"/>
          </a:p>
        </p:txBody>
      </p:sp>
      <p:sp>
        <p:nvSpPr>
          <p:cNvPr id="17" name="Shape 14"/>
          <p:cNvSpPr/>
          <p:nvPr/>
        </p:nvSpPr>
        <p:spPr>
          <a:xfrm>
            <a:off x="540000" y="4608000"/>
            <a:ext cx="6483600" cy="334800"/>
          </a:xfrm>
          <a:prstGeom prst="rect">
            <a:avLst/>
          </a:prstGeom>
          <a:solidFill>
            <a:srgbClr val="00B55A"/>
          </a:solidFill>
          <a:ln w="12700">
            <a:solidFill>
              <a:srgbClr val="00B55A">
                <a:alpha val="0"/>
              </a:srgbClr>
            </a:solidFill>
            <a:prstDash val="solid"/>
          </a:ln>
        </p:spPr>
      </p:sp>
      <p:sp>
        <p:nvSpPr>
          <p:cNvPr id="18" name="Text 15"/>
          <p:cNvSpPr/>
          <p:nvPr/>
        </p:nvSpPr>
        <p:spPr>
          <a:xfrm>
            <a:off x="648000" y="46296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pitchFamily="34" charset="0"/>
                <a:ea typeface="Aptos" pitchFamily="34" charset="-122"/>
                <a:cs typeface="Aptos" pitchFamily="34" charset="-120"/>
              </a:rPr>
              <a:t>11. ANNEXE</a:t>
            </a:r>
            <a:endParaRPr lang="en-US" sz="1580" dirty="0"/>
          </a:p>
        </p:txBody>
      </p:sp>
      <p:sp>
        <p:nvSpPr>
          <p:cNvPr id="19" name="Text 16"/>
          <p:cNvSpPr/>
          <p:nvPr/>
        </p:nvSpPr>
        <p:spPr>
          <a:xfrm>
            <a:off x="648000" y="5112000"/>
            <a:ext cx="6264000" cy="246960"/>
          </a:xfrm>
          <a:prstGeom prst="rect">
            <a:avLst/>
          </a:prstGeom>
          <a:noFill/>
          <a:ln/>
        </p:spPr>
        <p:txBody>
          <a:bodyPr wrap="square" lIns="0" tIns="0" rIns="0" bIns="0" rtlCol="0" anchor="t"/>
          <a:lstStyle/>
          <a:p>
            <a:pPr algn="just" indent="0" marL="0">
              <a:buNone/>
            </a:pPr>
            <a:r>
              <a:rPr lang="en-US" sz="1100" b="1" dirty="0">
                <a:solidFill>
                  <a:srgbClr val="1C1C1C"/>
                </a:solidFill>
                <a:latin typeface="Aptos" pitchFamily="34" charset="0"/>
                <a:ea typeface="Aptos" pitchFamily="34" charset="-122"/>
                <a:cs typeface="Aptos" pitchFamily="34" charset="-120"/>
              </a:rPr>
              <a:t>11.1 Etat des risques et informations Géorisques</a:t>
            </a:r>
            <a:endParaRPr lang="en-US" sz="1100" dirty="0"/>
          </a:p>
        </p:txBody>
      </p:sp>
      <p:sp>
        <p:nvSpPr>
          <p:cNvPr id="20" name="Text 17"/>
          <p:cNvSpPr/>
          <p:nvPr/>
        </p:nvSpPr>
        <p:spPr>
          <a:xfrm>
            <a:off x="648000" y="5445360"/>
            <a:ext cx="6264000" cy="3794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À confirmer : le rapport Géorisques correspondant à l’adresse de la copropriété doit être associé au présent PPPT à partir des données publiques mises à disposition par l’État.</a:t>
            </a:r>
            <a:endParaRPr lang="en-US" sz="950" dirty="0"/>
          </a:p>
        </p:txBody>
      </p:sp>
      <p:sp>
        <p:nvSpPr>
          <p:cNvPr id="21" name="Text 18"/>
          <p:cNvSpPr/>
          <p:nvPr/>
        </p:nvSpPr>
        <p:spPr>
          <a:xfrm>
            <a:off x="648000" y="5904000"/>
            <a:ext cx="6264000" cy="53676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Ce document présente les principaux risques naturels, miniers, technologiques, sismiques, radon, retrait-gonflement des argiles et autres aléas susceptibles de concerner le secteur géographique de l’immeuble.</a:t>
            </a:r>
            <a:endParaRPr lang="en-US" sz="950" dirty="0"/>
          </a:p>
        </p:txBody>
      </p:sp>
      <p:sp>
        <p:nvSpPr>
          <p:cNvPr id="22" name="Text 19"/>
          <p:cNvSpPr/>
          <p:nvPr/>
        </p:nvSpPr>
        <p:spPr>
          <a:xfrm>
            <a:off x="648000" y="6519960"/>
            <a:ext cx="6264000" cy="3794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Les informations présentées proviennent du portail officiel Géorisques et sont fournies à titre informatif :</a:t>
            </a:r>
            <a:endParaRPr lang="en-US" sz="950" dirty="0"/>
          </a:p>
        </p:txBody>
      </p:sp>
      <p:sp>
        <p:nvSpPr>
          <p:cNvPr id="23" name="Text 20"/>
          <p:cNvSpPr/>
          <p:nvPr/>
        </p:nvSpPr>
        <p:spPr>
          <a:xfrm>
            <a:off x="648000" y="6978600"/>
            <a:ext cx="6264000" cy="230400"/>
          </a:xfrm>
          <a:prstGeom prst="rect">
            <a:avLst/>
          </a:prstGeom>
          <a:noFill/>
          <a:ln/>
        </p:spPr>
        <p:txBody>
          <a:bodyPr wrap="square" lIns="0" tIns="0" rIns="0" bIns="0" rtlCol="0" anchor="t"/>
          <a:lstStyle/>
          <a:p>
            <a:pPr algn="just" indent="0" marL="0">
              <a:buNone/>
            </a:pPr>
            <a:r>
              <a:rPr lang="en-US" sz="1000" b="1" dirty="0">
                <a:solidFill>
                  <a:srgbClr val="1C1C1C"/>
                </a:solidFill>
                <a:latin typeface="Aptos" pitchFamily="34" charset="0"/>
                <a:ea typeface="Aptos" pitchFamily="34" charset="-122"/>
                <a:cs typeface="Aptos" pitchFamily="34" charset="-120"/>
              </a:rPr>
              <a:t>www.georisques.gouv.fr</a:t>
            </a:r>
            <a:endParaRPr lang="en-US" sz="1000" dirty="0"/>
          </a:p>
        </p:txBody>
      </p:sp>
      <p:sp>
        <p:nvSpPr>
          <p:cNvPr id="24" name="Text 21"/>
          <p:cNvSpPr/>
          <p:nvPr/>
        </p:nvSpPr>
        <p:spPr>
          <a:xfrm>
            <a:off x="648000" y="7288200"/>
            <a:ext cx="6264000" cy="53676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Ce document est couramment utilisé dans le cadre des transactions immobilières et peut notamment servir de base à l’établissement de l’État des Risques et Pollutions (ERP) requis lors de certaines ventes ou locations.</a:t>
            </a:r>
            <a:endParaRPr lang="en-US" sz="950" dirty="0"/>
          </a:p>
        </p:txBody>
      </p:sp>
      <p:sp>
        <p:nvSpPr>
          <p:cNvPr id="25" name="Text 22"/>
          <p:cNvSpPr/>
          <p:nvPr/>
        </p:nvSpPr>
        <p:spPr>
          <a:xfrm>
            <a:off x="648000" y="7904160"/>
            <a:ext cx="6264000" cy="3794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L’intégration de l’annexe Géorisques au présent PPPT est À confirmer. Elle ne constitue toutefois ni une étude géotechnique, ni une expertise des risques, ni une analyse structurelle du bâtiment.</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Projet de Plan Pluriannuel de Travaux</dc:title>
  <dc:subject>PptxGenJS Presentation</dc:subject>
  <dc:creator>France Verte</dc:creator>
  <cp:lastModifiedBy>France Verte</cp:lastModifiedBy>
  <cp:revision>1</cp:revision>
  <dcterms:created xsi:type="dcterms:W3CDTF">2026-10-07T16:42:29Z</dcterms:created>
  <dcterms:modified xsi:type="dcterms:W3CDTF">2026-10-07T16:42:29Z</dcterms:modified>
</cp:coreProperties>
</file>