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53184"/>
            <a:ext cx="6264000" cy="237024"/>
          </a:xfrm>
          <a:prstGeom prst="rect">
            <a:avLst/>
          </a:prstGeom>
          <a:noFill/>
          <a:ln/>
        </p:spPr>
        <p:txBody>
          <a:bodyPr wrap="square" lIns="0" tIns="0" rIns="0" bIns="0" rtlCol="0" anchor="t"/>
          <a:lstStyle/>
          <a:p>
            <a:pPr algn="just"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65808"/>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70" dirty="0"/>
          </a:p>
        </p:txBody>
      </p:sp>
      <p:sp>
        <p:nvSpPr>
          <p:cNvPr id="19" name="Text 16"/>
          <p:cNvSpPr/>
          <p:nvPr/>
        </p:nvSpPr>
        <p:spPr>
          <a:xfrm>
            <a:off x="648000" y="5913072"/>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70" dirty="0"/>
          </a:p>
        </p:txBody>
      </p:sp>
      <p:sp>
        <p:nvSpPr>
          <p:cNvPr id="20" name="Text 17"/>
          <p:cNvSpPr/>
          <p:nvPr/>
        </p:nvSpPr>
        <p:spPr>
          <a:xfrm>
            <a:off x="648000" y="652096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70" dirty="0"/>
          </a:p>
        </p:txBody>
      </p:sp>
      <p:sp>
        <p:nvSpPr>
          <p:cNvPr id="21" name="Text 18"/>
          <p:cNvSpPr/>
          <p:nvPr/>
        </p:nvSpPr>
        <p:spPr>
          <a:xfrm>
            <a:off x="648000" y="7128864"/>
            <a:ext cx="6264000" cy="867960"/>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70" dirty="0"/>
          </a:p>
        </p:txBody>
      </p:sp>
      <p:sp>
        <p:nvSpPr>
          <p:cNvPr id="22" name="Text 19"/>
          <p:cNvSpPr/>
          <p:nvPr/>
        </p:nvSpPr>
        <p:spPr>
          <a:xfrm>
            <a:off x="648000" y="8058024"/>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58336"/>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Contexte</a:t>
            </a:r>
            <a:endParaRPr lang="en-US" sz="1020" dirty="0"/>
          </a:p>
        </p:txBody>
      </p:sp>
      <p:sp>
        <p:nvSpPr>
          <p:cNvPr id="10" name="Text 7"/>
          <p:cNvSpPr/>
          <p:nvPr/>
        </p:nvSpPr>
        <p:spPr>
          <a:xfrm>
            <a:off x="648000" y="2306448"/>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000" dirty="0"/>
          </a:p>
        </p:txBody>
      </p:sp>
      <p:sp>
        <p:nvSpPr>
          <p:cNvPr id="11" name="Text 8"/>
          <p:cNvSpPr/>
          <p:nvPr/>
        </p:nvSpPr>
        <p:spPr>
          <a:xfrm>
            <a:off x="648000" y="2976048"/>
            <a:ext cx="6264000" cy="396000"/>
          </a:xfrm>
          <a:prstGeom prst="rect">
            <a:avLst/>
          </a:prstGeom>
          <a:noFill/>
          <a:ln/>
        </p:spPr>
        <p:txBody>
          <a:bodyPr wrap="square" lIns="0" tIns="0" rIns="0" bIns="0" rtlCol="0" anchor="t"/>
          <a:lstStyle/>
          <a:p>
            <a:pPr algn="just" indent="0" marL="0">
              <a:buNone/>
            </a:pPr>
            <a:r>
              <a:rPr lang="en-US" sz="1000" dirty="0">
                <a:solidFill>
                  <a:srgbClr val="FF2020"/>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1000" dirty="0"/>
          </a:p>
        </p:txBody>
      </p:sp>
      <p:sp>
        <p:nvSpPr>
          <p:cNvPr id="12" name="Text 9"/>
          <p:cNvSpPr/>
          <p:nvPr/>
        </p:nvSpPr>
        <p:spPr>
          <a:xfrm>
            <a:off x="648000" y="3480048"/>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Qu’est ce que le VIGIK+</a:t>
            </a:r>
            <a:endParaRPr lang="en-US" sz="1020" dirty="0"/>
          </a:p>
        </p:txBody>
      </p:sp>
      <p:sp>
        <p:nvSpPr>
          <p:cNvPr id="13" name="Text 10"/>
          <p:cNvSpPr/>
          <p:nvPr/>
        </p:nvSpPr>
        <p:spPr>
          <a:xfrm>
            <a:off x="648000" y="372816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000" dirty="0"/>
          </a:p>
        </p:txBody>
      </p:sp>
      <p:sp>
        <p:nvSpPr>
          <p:cNvPr id="14" name="Text 11"/>
          <p:cNvSpPr/>
          <p:nvPr/>
        </p:nvSpPr>
        <p:spPr>
          <a:xfrm>
            <a:off x="648000" y="4728960"/>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Principales évolutions</a:t>
            </a:r>
            <a:endParaRPr lang="en-US" sz="1020" dirty="0"/>
          </a:p>
        </p:txBody>
      </p:sp>
      <p:sp>
        <p:nvSpPr>
          <p:cNvPr id="15" name="Text 12"/>
          <p:cNvSpPr/>
          <p:nvPr/>
        </p:nvSpPr>
        <p:spPr>
          <a:xfrm>
            <a:off x="648000" y="4977072"/>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000" dirty="0"/>
          </a:p>
        </p:txBody>
      </p:sp>
      <p:sp>
        <p:nvSpPr>
          <p:cNvPr id="16" name="Text 13"/>
          <p:cNvSpPr/>
          <p:nvPr/>
        </p:nvSpPr>
        <p:spPr>
          <a:xfrm>
            <a:off x="648000" y="6143472"/>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Impacts pour les copropriétés</a:t>
            </a:r>
            <a:endParaRPr lang="en-US" sz="1020" dirty="0"/>
          </a:p>
        </p:txBody>
      </p:sp>
      <p:sp>
        <p:nvSpPr>
          <p:cNvPr id="17" name="Text 14"/>
          <p:cNvSpPr/>
          <p:nvPr/>
        </p:nvSpPr>
        <p:spPr>
          <a:xfrm>
            <a:off x="648000" y="6391584"/>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000" dirty="0"/>
          </a:p>
        </p:txBody>
      </p:sp>
      <p:sp>
        <p:nvSpPr>
          <p:cNvPr id="18" name="Text 15"/>
          <p:cNvSpPr/>
          <p:nvPr/>
        </p:nvSpPr>
        <p:spPr>
          <a:xfrm>
            <a:off x="648000" y="7392384"/>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Pourquoi anticiper ?</a:t>
            </a:r>
            <a:endParaRPr lang="en-US" sz="1020" dirty="0"/>
          </a:p>
        </p:txBody>
      </p:sp>
      <p:sp>
        <p:nvSpPr>
          <p:cNvPr id="19" name="Text 16"/>
          <p:cNvSpPr/>
          <p:nvPr/>
        </p:nvSpPr>
        <p:spPr>
          <a:xfrm>
            <a:off x="648000" y="7640496"/>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algn="just"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000" dirty="0"/>
          </a:p>
        </p:txBody>
      </p:sp>
      <p:sp>
        <p:nvSpPr>
          <p:cNvPr id="9" name="Text 6"/>
          <p:cNvSpPr/>
          <p:nvPr/>
        </p:nvSpPr>
        <p:spPr>
          <a:xfrm>
            <a:off x="648000" y="2844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000" dirty="0"/>
          </a:p>
        </p:txBody>
      </p:sp>
      <p:sp>
        <p:nvSpPr>
          <p:cNvPr id="10" name="Text 7"/>
          <p:cNvSpPr/>
          <p:nvPr/>
        </p:nvSpPr>
        <p:spPr>
          <a:xfrm>
            <a:off x="648000" y="349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000" dirty="0"/>
          </a:p>
        </p:txBody>
      </p:sp>
      <p:sp>
        <p:nvSpPr>
          <p:cNvPr id="11" name="Text 8"/>
          <p:cNvSpPr/>
          <p:nvPr/>
        </p:nvSpPr>
        <p:spPr>
          <a:xfrm>
            <a:off x="648000" y="43128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1000" dirty="0"/>
          </a:p>
        </p:txBody>
      </p:sp>
      <p:sp>
        <p:nvSpPr>
          <p:cNvPr id="12" name="Text 9"/>
          <p:cNvSpPr/>
          <p:nvPr/>
        </p:nvSpPr>
        <p:spPr>
          <a:xfrm>
            <a:off x="756000" y="4633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900000" y="4633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amélioration de la sécurité des résidents ;</a:t>
            </a:r>
            <a:endParaRPr lang="en-US" sz="1000" dirty="0"/>
          </a:p>
        </p:txBody>
      </p:sp>
      <p:sp>
        <p:nvSpPr>
          <p:cNvPr id="14" name="Text 11"/>
          <p:cNvSpPr/>
          <p:nvPr/>
        </p:nvSpPr>
        <p:spPr>
          <a:xfrm>
            <a:off x="756000" y="4867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00000" y="4867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intervention rapide en cas d’urgence cardiaque ;</a:t>
            </a:r>
            <a:endParaRPr lang="en-US" sz="1000" dirty="0"/>
          </a:p>
        </p:txBody>
      </p:sp>
      <p:sp>
        <p:nvSpPr>
          <p:cNvPr id="16" name="Text 13"/>
          <p:cNvSpPr/>
          <p:nvPr/>
        </p:nvSpPr>
        <p:spPr>
          <a:xfrm>
            <a:off x="756000" y="5101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7" name="Text 14"/>
          <p:cNvSpPr/>
          <p:nvPr/>
        </p:nvSpPr>
        <p:spPr>
          <a:xfrm>
            <a:off x="900000" y="5101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équipement accessible et simple d’utilisation ;</a:t>
            </a:r>
            <a:endParaRPr lang="en-US" sz="1000" dirty="0"/>
          </a:p>
        </p:txBody>
      </p:sp>
      <p:sp>
        <p:nvSpPr>
          <p:cNvPr id="18" name="Text 15"/>
          <p:cNvSpPr/>
          <p:nvPr/>
        </p:nvSpPr>
        <p:spPr>
          <a:xfrm>
            <a:off x="756000" y="5335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00000" y="5335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valorisation des équipements de sécurité de l’immeuble.</a:t>
            </a:r>
            <a:endParaRPr lang="en-US" sz="1000" dirty="0"/>
          </a:p>
        </p:txBody>
      </p:sp>
      <p:sp>
        <p:nvSpPr>
          <p:cNvPr id="20" name="Text 17"/>
          <p:cNvSpPr/>
          <p:nvPr/>
        </p:nvSpPr>
        <p:spPr>
          <a:xfrm>
            <a:off x="648000" y="5634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1000" dirty="0"/>
          </a:p>
        </p:txBody>
      </p:sp>
      <p:sp>
        <p:nvSpPr>
          <p:cNvPr id="21" name="Text 18"/>
          <p:cNvSpPr/>
          <p:nvPr/>
        </p:nvSpPr>
        <p:spPr>
          <a:xfrm>
            <a:off x="756000" y="6120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2" name="Text 19"/>
          <p:cNvSpPr/>
          <p:nvPr/>
        </p:nvSpPr>
        <p:spPr>
          <a:xfrm>
            <a:off x="900000" y="6120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maintenance régulière de l’appareil ;</a:t>
            </a:r>
            <a:endParaRPr lang="en-US" sz="1000" dirty="0"/>
          </a:p>
        </p:txBody>
      </p:sp>
      <p:sp>
        <p:nvSpPr>
          <p:cNvPr id="23" name="Text 20"/>
          <p:cNvSpPr/>
          <p:nvPr/>
        </p:nvSpPr>
        <p:spPr>
          <a:xfrm>
            <a:off x="756000" y="6354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4" name="Text 21"/>
          <p:cNvSpPr/>
          <p:nvPr/>
        </p:nvSpPr>
        <p:spPr>
          <a:xfrm>
            <a:off x="900000" y="6354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1000" dirty="0"/>
          </a:p>
        </p:txBody>
      </p:sp>
      <p:sp>
        <p:nvSpPr>
          <p:cNvPr id="25" name="Text 22"/>
          <p:cNvSpPr/>
          <p:nvPr/>
        </p:nvSpPr>
        <p:spPr>
          <a:xfrm>
            <a:off x="756000" y="6588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6" name="Text 23"/>
          <p:cNvSpPr/>
          <p:nvPr/>
        </p:nvSpPr>
        <p:spPr>
          <a:xfrm>
            <a:off x="900000" y="6588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assurance contre les dégradations ou le vol.</a:t>
            </a:r>
            <a:endParaRPr lang="en-US" sz="1000" dirty="0"/>
          </a:p>
        </p:txBody>
      </p:sp>
      <p:sp>
        <p:nvSpPr>
          <p:cNvPr id="27" name="Text 24"/>
          <p:cNvSpPr/>
          <p:nvPr/>
        </p:nvSpPr>
        <p:spPr>
          <a:xfrm>
            <a:off x="648000" y="6894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1000" dirty="0"/>
          </a:p>
        </p:txBody>
      </p:sp>
      <p:pic>
        <p:nvPicPr>
          <p:cNvPr id="28" name="Image 1" descr="Illustration de défibrillateur">    </p:cNvPr>
          <p:cNvPicPr>
            <a:picLocks noChangeAspect="1"/>
          </p:cNvPicPr>
          <p:nvPr/>
        </p:nvPicPr>
        <p:blipFill>
          <a:blip r:embed="rId2"/>
          <a:srcRect l="0" r="0" t="0" b="0"/>
          <a:stretch/>
        </p:blipFill>
        <p:spPr>
          <a:xfrm>
            <a:off x="4824000" y="1566000"/>
            <a:ext cx="1404000" cy="118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5</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964800"/>
          </a:xfrm>
          <a:prstGeom prst="rect">
            <a:avLst/>
          </a:prstGeom>
          <a:solidFill>
            <a:srgbClr val="FFFFFF"/>
          </a:solidFill>
          <a:ln w="6985">
            <a:solidFill>
              <a:srgbClr val="202020"/>
            </a:solidFill>
            <a:prstDash val="solid"/>
          </a:ln>
        </p:spPr>
      </p:sp>
      <p:sp>
        <p:nvSpPr>
          <p:cNvPr id="15" name="Text 12"/>
          <p:cNvSpPr/>
          <p:nvPr/>
        </p:nvSpPr>
        <p:spPr>
          <a:xfrm>
            <a:off x="601200" y="33876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348000"/>
            <a:ext cx="1152000" cy="96480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348000"/>
            <a:ext cx="1836000" cy="96480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8856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4312800"/>
            <a:ext cx="3492000" cy="964800"/>
          </a:xfrm>
          <a:prstGeom prst="rect">
            <a:avLst/>
          </a:prstGeom>
          <a:solidFill>
            <a:srgbClr val="FFFFFF"/>
          </a:solidFill>
          <a:ln w="6985">
            <a:solidFill>
              <a:srgbClr val="202020"/>
            </a:solidFill>
            <a:prstDash val="solid"/>
          </a:ln>
        </p:spPr>
      </p:sp>
      <p:sp>
        <p:nvSpPr>
          <p:cNvPr id="21" name="Text 18"/>
          <p:cNvSpPr/>
          <p:nvPr/>
        </p:nvSpPr>
        <p:spPr>
          <a:xfrm>
            <a:off x="601200" y="435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22" name="Shape 19"/>
          <p:cNvSpPr/>
          <p:nvPr/>
        </p:nvSpPr>
        <p:spPr>
          <a:xfrm>
            <a:off x="4032000" y="4312800"/>
            <a:ext cx="1152000" cy="964800"/>
          </a:xfrm>
          <a:prstGeom prst="rect">
            <a:avLst/>
          </a:prstGeom>
          <a:solidFill>
            <a:srgbClr val="BFBFBF"/>
          </a:solidFill>
          <a:ln w="6985">
            <a:solidFill>
              <a:srgbClr val="202020"/>
            </a:solidFill>
            <a:prstDash val="solid"/>
          </a:ln>
        </p:spPr>
      </p:sp>
      <p:sp>
        <p:nvSpPr>
          <p:cNvPr id="23" name="Text 20"/>
          <p:cNvSpPr/>
          <p:nvPr/>
        </p:nvSpPr>
        <p:spPr>
          <a:xfrm>
            <a:off x="4093200" y="435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24" name="Shape 21"/>
          <p:cNvSpPr/>
          <p:nvPr/>
        </p:nvSpPr>
        <p:spPr>
          <a:xfrm>
            <a:off x="5184000" y="43128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43524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77600"/>
            <a:ext cx="3492000" cy="964800"/>
          </a:xfrm>
          <a:prstGeom prst="rect">
            <a:avLst/>
          </a:prstGeom>
          <a:solidFill>
            <a:srgbClr val="FFFFFF"/>
          </a:solidFill>
          <a:ln w="6985">
            <a:solidFill>
              <a:srgbClr val="202020"/>
            </a:solidFill>
            <a:prstDash val="solid"/>
          </a:ln>
        </p:spPr>
      </p:sp>
      <p:sp>
        <p:nvSpPr>
          <p:cNvPr id="27" name="Text 24"/>
          <p:cNvSpPr/>
          <p:nvPr/>
        </p:nvSpPr>
        <p:spPr>
          <a:xfrm>
            <a:off x="601200" y="531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Fiche synthétique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28" name="Shape 25"/>
          <p:cNvSpPr/>
          <p:nvPr/>
        </p:nvSpPr>
        <p:spPr>
          <a:xfrm>
            <a:off x="4032000" y="5277600"/>
            <a:ext cx="1152000" cy="964800"/>
          </a:xfrm>
          <a:prstGeom prst="rect">
            <a:avLst/>
          </a:prstGeom>
          <a:solidFill>
            <a:srgbClr val="FF0000"/>
          </a:solidFill>
          <a:ln w="6985">
            <a:solidFill>
              <a:srgbClr val="202020"/>
            </a:solidFill>
            <a:prstDash val="solid"/>
          </a:ln>
        </p:spPr>
      </p:sp>
      <p:sp>
        <p:nvSpPr>
          <p:cNvPr id="29" name="Text 26"/>
          <p:cNvSpPr/>
          <p:nvPr/>
        </p:nvSpPr>
        <p:spPr>
          <a:xfrm>
            <a:off x="4093200" y="531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30" name="Shape 27"/>
          <p:cNvSpPr/>
          <p:nvPr/>
        </p:nvSpPr>
        <p:spPr>
          <a:xfrm>
            <a:off x="5184000" y="52776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5317200"/>
            <a:ext cx="1713600" cy="8856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6242400"/>
            <a:ext cx="3492000" cy="1130400"/>
          </a:xfrm>
          <a:prstGeom prst="rect">
            <a:avLst/>
          </a:prstGeom>
          <a:solidFill>
            <a:srgbClr val="FFFFFF"/>
          </a:solidFill>
          <a:ln w="6985">
            <a:solidFill>
              <a:srgbClr val="202020"/>
            </a:solidFill>
            <a:prstDash val="solid"/>
          </a:ln>
        </p:spPr>
      </p:sp>
      <p:sp>
        <p:nvSpPr>
          <p:cNvPr id="33" name="Text 30"/>
          <p:cNvSpPr/>
          <p:nvPr/>
        </p:nvSpPr>
        <p:spPr>
          <a:xfrm>
            <a:off x="601200" y="6282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34" name="Shape 31"/>
          <p:cNvSpPr/>
          <p:nvPr/>
        </p:nvSpPr>
        <p:spPr>
          <a:xfrm>
            <a:off x="4032000" y="6242400"/>
            <a:ext cx="1152000" cy="1130400"/>
          </a:xfrm>
          <a:prstGeom prst="rect">
            <a:avLst/>
          </a:prstGeom>
          <a:solidFill>
            <a:srgbClr val="00B55A"/>
          </a:solidFill>
          <a:ln w="6985">
            <a:solidFill>
              <a:srgbClr val="202020"/>
            </a:solidFill>
            <a:prstDash val="solid"/>
          </a:ln>
        </p:spPr>
      </p:sp>
      <p:sp>
        <p:nvSpPr>
          <p:cNvPr id="35" name="Text 32"/>
          <p:cNvSpPr/>
          <p:nvPr/>
        </p:nvSpPr>
        <p:spPr>
          <a:xfrm>
            <a:off x="4093200" y="6282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6242400"/>
            <a:ext cx="1836000" cy="1130400"/>
          </a:xfrm>
          <a:prstGeom prst="rect">
            <a:avLst/>
          </a:prstGeom>
          <a:solidFill>
            <a:srgbClr val="FFFFFF"/>
          </a:solidFill>
          <a:ln w="6985">
            <a:solidFill>
              <a:srgbClr val="202020"/>
            </a:solidFill>
            <a:prstDash val="solid"/>
          </a:ln>
        </p:spPr>
      </p:sp>
      <p:sp>
        <p:nvSpPr>
          <p:cNvPr id="37" name="Text 34"/>
          <p:cNvSpPr/>
          <p:nvPr/>
        </p:nvSpPr>
        <p:spPr>
          <a:xfrm>
            <a:off x="5245200" y="6282000"/>
            <a:ext cx="1713600" cy="10512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3728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1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Compte bancaire séparé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40" name="Shape 37"/>
          <p:cNvSpPr/>
          <p:nvPr/>
        </p:nvSpPr>
        <p:spPr>
          <a:xfrm>
            <a:off x="4032000" y="7372800"/>
            <a:ext cx="1152000" cy="964800"/>
          </a:xfrm>
          <a:prstGeom prst="rect">
            <a:avLst/>
          </a:prstGeom>
          <a:solidFill>
            <a:srgbClr val="BFBFBF"/>
          </a:solidFill>
          <a:ln w="6985">
            <a:solidFill>
              <a:srgbClr val="202020"/>
            </a:solidFill>
            <a:prstDash val="solid"/>
          </a:ln>
        </p:spPr>
      </p:sp>
      <p:sp>
        <p:nvSpPr>
          <p:cNvPr id="41" name="Text 38"/>
          <p:cNvSpPr/>
          <p:nvPr/>
        </p:nvSpPr>
        <p:spPr>
          <a:xfrm>
            <a:off x="4093200" y="741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42" name="Shape 39"/>
          <p:cNvSpPr/>
          <p:nvPr/>
        </p:nvSpPr>
        <p:spPr>
          <a:xfrm>
            <a:off x="5184000" y="73728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124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376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7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46" name="Shape 43"/>
          <p:cNvSpPr/>
          <p:nvPr/>
        </p:nvSpPr>
        <p:spPr>
          <a:xfrm>
            <a:off x="4032000" y="8337600"/>
            <a:ext cx="1152000" cy="964800"/>
          </a:xfrm>
          <a:prstGeom prst="rect">
            <a:avLst/>
          </a:prstGeom>
          <a:solidFill>
            <a:srgbClr val="FF0000"/>
          </a:solidFill>
          <a:ln w="6985">
            <a:solidFill>
              <a:srgbClr val="202020"/>
            </a:solidFill>
            <a:prstDash val="solid"/>
          </a:ln>
        </p:spPr>
      </p:sp>
      <p:sp>
        <p:nvSpPr>
          <p:cNvPr id="47" name="Text 44"/>
          <p:cNvSpPr/>
          <p:nvPr/>
        </p:nvSpPr>
        <p:spPr>
          <a:xfrm>
            <a:off x="4093200" y="837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48" name="Shape 45"/>
          <p:cNvSpPr/>
          <p:nvPr/>
        </p:nvSpPr>
        <p:spPr>
          <a:xfrm>
            <a:off x="5184000" y="83376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77200"/>
            <a:ext cx="1713600" cy="885600"/>
          </a:xfrm>
          <a:prstGeom prst="rect">
            <a:avLst/>
          </a:prstGeom>
          <a:noFill/>
          <a:ln/>
        </p:spPr>
        <p:txBody>
          <a:bodyPr wrap="square" lIns="0" tIns="0" rIns="0" bIns="0" rtlCol="0" anchor="t"/>
          <a:lstStyle/>
          <a:p>
            <a:pPr algn="l" indent="0" marL="0">
              <a:buNone/>
            </a:pPr>
            <a:endParaRPr lang="en-US" sz="1000" dirty="0"/>
          </a:p>
        </p:txBody>
      </p:sp>
      <p:sp>
        <p:nvSpPr>
          <p:cNvPr id="50" name="Text 47"/>
          <p:cNvSpPr/>
          <p:nvPr/>
        </p:nvSpPr>
        <p:spPr>
          <a:xfrm>
            <a:off x="648000" y="1332000"/>
            <a:ext cx="6264000" cy="81000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51" name="Text 48"/>
          <p:cNvSpPr/>
          <p:nvPr/>
        </p:nvSpPr>
        <p:spPr>
          <a:xfrm>
            <a:off x="648000" y="2196000"/>
            <a:ext cx="6264000" cy="36288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164400"/>
            <a:ext cx="1152000" cy="1130400"/>
          </a:xfrm>
          <a:prstGeom prst="rect">
            <a:avLst/>
          </a:prstGeom>
          <a:solidFill>
            <a:srgbClr val="BFBFBF"/>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294800"/>
            <a:ext cx="1152000" cy="1461600"/>
          </a:xfrm>
          <a:prstGeom prst="rect">
            <a:avLst/>
          </a:prstGeom>
          <a:solidFill>
            <a:srgbClr val="FF0000"/>
          </a:solidFill>
          <a:ln w="6985">
            <a:solidFill>
              <a:srgbClr val="202020"/>
            </a:solidFill>
            <a:prstDash val="solid"/>
          </a:ln>
        </p:spPr>
      </p:sp>
      <p:sp>
        <p:nvSpPr>
          <p:cNvPr id="29" name="Text 26"/>
          <p:cNvSpPr/>
          <p:nvPr/>
        </p:nvSpPr>
        <p:spPr>
          <a:xfrm>
            <a:off x="4093200" y="4334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30" name="Shape 27"/>
          <p:cNvSpPr/>
          <p:nvPr/>
        </p:nvSpPr>
        <p:spPr>
          <a:xfrm>
            <a:off x="5184000" y="4294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5756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5796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termites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5756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5796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5756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5796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218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257600"/>
            <a:ext cx="3369600" cy="121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mérules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218000"/>
            <a:ext cx="1152000" cy="1296000"/>
          </a:xfrm>
          <a:prstGeom prst="rect">
            <a:avLst/>
          </a:prstGeom>
          <a:solidFill>
            <a:srgbClr val="BFBFBF"/>
          </a:solidFill>
          <a:ln w="6985">
            <a:solidFill>
              <a:srgbClr val="202020"/>
            </a:solidFill>
            <a:prstDash val="solid"/>
          </a:ln>
        </p:spPr>
      </p:sp>
      <p:sp>
        <p:nvSpPr>
          <p:cNvPr id="41" name="Text 38"/>
          <p:cNvSpPr/>
          <p:nvPr/>
        </p:nvSpPr>
        <p:spPr>
          <a:xfrm>
            <a:off x="4093200" y="7257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42" name="Shape 39"/>
          <p:cNvSpPr/>
          <p:nvPr/>
        </p:nvSpPr>
        <p:spPr>
          <a:xfrm>
            <a:off x="5184000" y="7218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257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034000"/>
            <a:ext cx="1152000" cy="1130400"/>
          </a:xfrm>
          <a:prstGeom prst="rect">
            <a:avLst/>
          </a:prstGeom>
          <a:solidFill>
            <a:srgbClr val="FF0000"/>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85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294800"/>
            <a:ext cx="1152000" cy="936000"/>
          </a:xfrm>
          <a:prstGeom prst="rect">
            <a:avLst/>
          </a:prstGeom>
          <a:solidFill>
            <a:srgbClr val="BFBFBF"/>
          </a:solidFill>
          <a:ln w="6985">
            <a:solidFill>
              <a:srgbClr val="202020"/>
            </a:solidFill>
            <a:prstDash val="solid"/>
          </a:ln>
        </p:spPr>
      </p:sp>
      <p:sp>
        <p:nvSpPr>
          <p:cNvPr id="29" name="Text 26"/>
          <p:cNvSpPr/>
          <p:nvPr/>
        </p:nvSpPr>
        <p:spPr>
          <a:xfrm>
            <a:off x="4093200" y="4334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30" name="Shape 27"/>
          <p:cNvSpPr/>
          <p:nvPr/>
        </p:nvSpPr>
        <p:spPr>
          <a:xfrm>
            <a:off x="5184000" y="4294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410800"/>
            <a:ext cx="6264000" cy="1224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000" dirty="0"/>
          </a:p>
        </p:txBody>
      </p:sp>
      <p:sp>
        <p:nvSpPr>
          <p:cNvPr id="33" name="Shape 30"/>
          <p:cNvSpPr/>
          <p:nvPr/>
        </p:nvSpPr>
        <p:spPr>
          <a:xfrm>
            <a:off x="540000" y="6778800"/>
            <a:ext cx="6480000" cy="324000"/>
          </a:xfrm>
          <a:prstGeom prst="rect">
            <a:avLst/>
          </a:prstGeom>
          <a:solidFill>
            <a:srgbClr val="0A2B6B"/>
          </a:solidFill>
          <a:ln w="6985">
            <a:solidFill>
              <a:srgbClr val="202020"/>
            </a:solidFill>
            <a:prstDash val="solid"/>
          </a:ln>
        </p:spPr>
      </p:sp>
      <p:sp>
        <p:nvSpPr>
          <p:cNvPr id="34" name="Text 31"/>
          <p:cNvSpPr/>
          <p:nvPr/>
        </p:nvSpPr>
        <p:spPr>
          <a:xfrm>
            <a:off x="601200" y="6818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102800"/>
            <a:ext cx="3240000" cy="324000"/>
          </a:xfrm>
          <a:prstGeom prst="rect">
            <a:avLst/>
          </a:prstGeom>
          <a:solidFill>
            <a:srgbClr val="FFFFFF"/>
          </a:solidFill>
          <a:ln w="6985">
            <a:solidFill>
              <a:srgbClr val="202020"/>
            </a:solidFill>
            <a:prstDash val="solid"/>
          </a:ln>
        </p:spPr>
      </p:sp>
      <p:sp>
        <p:nvSpPr>
          <p:cNvPr id="36" name="Text 33"/>
          <p:cNvSpPr/>
          <p:nvPr/>
        </p:nvSpPr>
        <p:spPr>
          <a:xfrm>
            <a:off x="601200" y="7142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37" name="Shape 34"/>
          <p:cNvSpPr/>
          <p:nvPr/>
        </p:nvSpPr>
        <p:spPr>
          <a:xfrm>
            <a:off x="3780000" y="710280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142400"/>
            <a:ext cx="311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7426800"/>
            <a:ext cx="6480000" cy="324000"/>
          </a:xfrm>
          <a:prstGeom prst="rect">
            <a:avLst/>
          </a:prstGeom>
          <a:solidFill>
            <a:srgbClr val="0A2B6B"/>
          </a:solidFill>
          <a:ln w="6985">
            <a:solidFill>
              <a:srgbClr val="202020"/>
            </a:solidFill>
            <a:prstDash val="solid"/>
          </a:ln>
        </p:spPr>
      </p:sp>
      <p:sp>
        <p:nvSpPr>
          <p:cNvPr id="40" name="Text 37"/>
          <p:cNvSpPr/>
          <p:nvPr/>
        </p:nvSpPr>
        <p:spPr>
          <a:xfrm>
            <a:off x="601200" y="7466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7750800"/>
            <a:ext cx="3240000" cy="324000"/>
          </a:xfrm>
          <a:prstGeom prst="rect">
            <a:avLst/>
          </a:prstGeom>
          <a:solidFill>
            <a:srgbClr val="FFFFFF"/>
          </a:solidFill>
          <a:ln w="6985">
            <a:solidFill>
              <a:srgbClr val="202020"/>
            </a:solidFill>
            <a:prstDash val="solid"/>
          </a:ln>
        </p:spPr>
      </p:sp>
      <p:sp>
        <p:nvSpPr>
          <p:cNvPr id="42" name="Text 39"/>
          <p:cNvSpPr/>
          <p:nvPr/>
        </p:nvSpPr>
        <p:spPr>
          <a:xfrm>
            <a:off x="601200" y="7790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43" name="Shape 40"/>
          <p:cNvSpPr/>
          <p:nvPr/>
        </p:nvSpPr>
        <p:spPr>
          <a:xfrm>
            <a:off x="3780000" y="7750800"/>
            <a:ext cx="3240000" cy="324000"/>
          </a:xfrm>
          <a:prstGeom prst="rect">
            <a:avLst/>
          </a:prstGeom>
          <a:solidFill>
            <a:srgbClr val="FFFFFF"/>
          </a:solidFill>
          <a:ln w="6985">
            <a:solidFill>
              <a:srgbClr val="202020"/>
            </a:solidFill>
            <a:prstDash val="solid"/>
          </a:ln>
        </p:spPr>
      </p:sp>
      <p:sp>
        <p:nvSpPr>
          <p:cNvPr id="44" name="Text 41"/>
          <p:cNvSpPr/>
          <p:nvPr/>
        </p:nvSpPr>
        <p:spPr>
          <a:xfrm>
            <a:off x="3841200" y="77904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8</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0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Registre de sécurité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034000"/>
            <a:ext cx="1152000" cy="1627200"/>
          </a:xfrm>
          <a:prstGeom prst="rect">
            <a:avLst/>
          </a:prstGeom>
          <a:solidFill>
            <a:srgbClr val="FF0000"/>
          </a:solidFill>
          <a:ln w="6985">
            <a:solidFill>
              <a:srgbClr val="202020"/>
            </a:solidFill>
            <a:prstDash val="solid"/>
          </a:ln>
        </p:spPr>
      </p:sp>
      <p:sp>
        <p:nvSpPr>
          <p:cNvPr id="17" name="Text 14"/>
          <p:cNvSpPr/>
          <p:nvPr/>
        </p:nvSpPr>
        <p:spPr>
          <a:xfrm>
            <a:off x="4093200" y="2073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18" name="Shape 15"/>
          <p:cNvSpPr/>
          <p:nvPr/>
        </p:nvSpPr>
        <p:spPr>
          <a:xfrm>
            <a:off x="5184000" y="2034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661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37008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3661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3700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661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3700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88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3280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288400"/>
            <a:ext cx="1152000" cy="1627200"/>
          </a:xfrm>
          <a:prstGeom prst="rect">
            <a:avLst/>
          </a:prstGeom>
          <a:solidFill>
            <a:srgbClr val="BFBFBF"/>
          </a:solidFill>
          <a:ln w="6985">
            <a:solidFill>
              <a:srgbClr val="202020"/>
            </a:solidFill>
            <a:prstDash val="solid"/>
          </a:ln>
        </p:spPr>
      </p:sp>
      <p:sp>
        <p:nvSpPr>
          <p:cNvPr id="29" name="Text 26"/>
          <p:cNvSpPr/>
          <p:nvPr/>
        </p:nvSpPr>
        <p:spPr>
          <a:xfrm>
            <a:off x="4093200" y="5328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30" name="Shape 27"/>
          <p:cNvSpPr/>
          <p:nvPr/>
        </p:nvSpPr>
        <p:spPr>
          <a:xfrm>
            <a:off x="5184000" y="5288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328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000" dirty="0"/>
          </a:p>
        </p:txBody>
      </p:sp>
      <p:sp>
        <p:nvSpPr>
          <p:cNvPr id="9" name="Text 6"/>
          <p:cNvSpPr/>
          <p:nvPr/>
        </p:nvSpPr>
        <p:spPr>
          <a:xfrm>
            <a:off x="648000" y="2523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000" dirty="0"/>
          </a:p>
        </p:txBody>
      </p:sp>
      <p:sp>
        <p:nvSpPr>
          <p:cNvPr id="10" name="Text 7"/>
          <p:cNvSpPr/>
          <p:nvPr/>
        </p:nvSpPr>
        <p:spPr>
          <a:xfrm>
            <a:off x="648000" y="350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000" dirty="0"/>
          </a:p>
        </p:txBody>
      </p:sp>
      <p:sp>
        <p:nvSpPr>
          <p:cNvPr id="11" name="Text 8"/>
          <p:cNvSpPr/>
          <p:nvPr/>
        </p:nvSpPr>
        <p:spPr>
          <a:xfrm>
            <a:off x="648000" y="4647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000" dirty="0"/>
          </a:p>
        </p:txBody>
      </p:sp>
      <p:sp>
        <p:nvSpPr>
          <p:cNvPr id="12" name="Shape 9"/>
          <p:cNvSpPr/>
          <p:nvPr/>
        </p:nvSpPr>
        <p:spPr>
          <a:xfrm>
            <a:off x="954000" y="5626800"/>
            <a:ext cx="1872000" cy="324000"/>
          </a:xfrm>
          <a:prstGeom prst="rect">
            <a:avLst/>
          </a:prstGeom>
          <a:solidFill>
            <a:srgbClr val="FFFFFF"/>
          </a:solidFill>
          <a:ln w="6985">
            <a:solidFill>
              <a:srgbClr val="202020"/>
            </a:solidFill>
            <a:prstDash val="solid"/>
          </a:ln>
        </p:spPr>
      </p:sp>
      <p:sp>
        <p:nvSpPr>
          <p:cNvPr id="13" name="Text 10"/>
          <p:cNvSpPr/>
          <p:nvPr/>
        </p:nvSpPr>
        <p:spPr>
          <a:xfrm>
            <a:off x="1015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5626800"/>
            <a:ext cx="1872000" cy="324000"/>
          </a:xfrm>
          <a:prstGeom prst="rect">
            <a:avLst/>
          </a:prstGeom>
          <a:solidFill>
            <a:srgbClr val="FFFFFF"/>
          </a:solidFill>
          <a:ln w="6985">
            <a:solidFill>
              <a:srgbClr val="202020"/>
            </a:solidFill>
            <a:prstDash val="solid"/>
          </a:ln>
        </p:spPr>
      </p:sp>
      <p:sp>
        <p:nvSpPr>
          <p:cNvPr id="15" name="Text 12"/>
          <p:cNvSpPr/>
          <p:nvPr/>
        </p:nvSpPr>
        <p:spPr>
          <a:xfrm>
            <a:off x="2887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5626800"/>
            <a:ext cx="1872000" cy="324000"/>
          </a:xfrm>
          <a:prstGeom prst="rect">
            <a:avLst/>
          </a:prstGeom>
          <a:solidFill>
            <a:srgbClr val="FFFFFF"/>
          </a:solidFill>
          <a:ln w="6985">
            <a:solidFill>
              <a:srgbClr val="202020"/>
            </a:solidFill>
            <a:prstDash val="solid"/>
          </a:ln>
        </p:spPr>
      </p:sp>
      <p:sp>
        <p:nvSpPr>
          <p:cNvPr id="17" name="Text 14"/>
          <p:cNvSpPr/>
          <p:nvPr/>
        </p:nvSpPr>
        <p:spPr>
          <a:xfrm>
            <a:off x="4759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5950800"/>
            <a:ext cx="1872000" cy="648000"/>
          </a:xfrm>
          <a:prstGeom prst="rect">
            <a:avLst/>
          </a:prstGeom>
          <a:solidFill>
            <a:srgbClr val="FFFFFF"/>
          </a:solidFill>
          <a:ln w="6985">
            <a:solidFill>
              <a:srgbClr val="202020"/>
            </a:solidFill>
            <a:prstDash val="solid"/>
          </a:ln>
        </p:spPr>
      </p:sp>
      <p:sp>
        <p:nvSpPr>
          <p:cNvPr id="19" name="Text 16"/>
          <p:cNvSpPr/>
          <p:nvPr/>
        </p:nvSpPr>
        <p:spPr>
          <a:xfrm>
            <a:off x="1015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5950800"/>
            <a:ext cx="1872000" cy="648000"/>
          </a:xfrm>
          <a:prstGeom prst="rect">
            <a:avLst/>
          </a:prstGeom>
          <a:solidFill>
            <a:srgbClr val="FFFFFF"/>
          </a:solidFill>
          <a:ln w="6985">
            <a:solidFill>
              <a:srgbClr val="202020"/>
            </a:solidFill>
            <a:prstDash val="solid"/>
          </a:ln>
        </p:spPr>
      </p:sp>
      <p:sp>
        <p:nvSpPr>
          <p:cNvPr id="21" name="Text 18"/>
          <p:cNvSpPr/>
          <p:nvPr/>
        </p:nvSpPr>
        <p:spPr>
          <a:xfrm>
            <a:off x="2887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5950800"/>
            <a:ext cx="1872000" cy="648000"/>
          </a:xfrm>
          <a:prstGeom prst="rect">
            <a:avLst/>
          </a:prstGeom>
          <a:solidFill>
            <a:srgbClr val="FFFFFF"/>
          </a:solidFill>
          <a:ln w="6985">
            <a:solidFill>
              <a:srgbClr val="202020"/>
            </a:solidFill>
            <a:prstDash val="solid"/>
          </a:ln>
        </p:spPr>
      </p:sp>
      <p:sp>
        <p:nvSpPr>
          <p:cNvPr id="23" name="Text 20"/>
          <p:cNvSpPr/>
          <p:nvPr/>
        </p:nvSpPr>
        <p:spPr>
          <a:xfrm>
            <a:off x="4759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16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022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pic>
        <p:nvPicPr>
          <p:cNvPr id="26" name="Image 1" descr="Étiquette énergétique F">    </p:cNvPr>
          <p:cNvPicPr>
            <a:picLocks noChangeAspect="1"/>
          </p:cNvPicPr>
          <p:nvPr/>
        </p:nvPicPr>
        <p:blipFill>
          <a:blip r:embed="rId2"/>
          <a:srcRect l="0" r="0" t="0" b="0"/>
          <a:stretch/>
        </p:blipFill>
        <p:spPr>
          <a:xfrm>
            <a:off x="4995000" y="6238800"/>
            <a:ext cx="558000" cy="306000"/>
          </a:xfrm>
          <a:prstGeom prst="rect">
            <a:avLst/>
          </a:prstGeom>
        </p:spPr>
      </p:pic>
      <p:pic>
        <p:nvPicPr>
          <p:cNvPr id="27" name="Image 2" descr="Étiquette énergétique G">    </p:cNvPr>
          <p:cNvPicPr>
            <a:picLocks noChangeAspect="1"/>
          </p:cNvPicPr>
          <p:nvPr/>
        </p:nvPicPr>
        <p:blipFill>
          <a:blip r:embed="rId3"/>
          <a:srcRect l="0" r="0" t="0" b="0"/>
          <a:stretch/>
        </p:blipFill>
        <p:spPr>
          <a:xfrm>
            <a:off x="5715000" y="6238800"/>
            <a:ext cx="558000" cy="306000"/>
          </a:xfrm>
          <a:prstGeom prst="rect">
            <a:avLst/>
          </a:prstGeom>
        </p:spPr>
      </p:pic>
      <p:sp>
        <p:nvSpPr>
          <p:cNvPr id="28" name="Shape 23"/>
          <p:cNvSpPr/>
          <p:nvPr/>
        </p:nvSpPr>
        <p:spPr>
          <a:xfrm>
            <a:off x="954000" y="6598800"/>
            <a:ext cx="1872000" cy="1080000"/>
          </a:xfrm>
          <a:prstGeom prst="rect">
            <a:avLst/>
          </a:prstGeom>
          <a:solidFill>
            <a:srgbClr val="FFFFFF"/>
          </a:solidFill>
          <a:ln w="6985">
            <a:solidFill>
              <a:srgbClr val="202020"/>
            </a:solidFill>
            <a:prstDash val="solid"/>
          </a:ln>
        </p:spPr>
      </p:sp>
      <p:sp>
        <p:nvSpPr>
          <p:cNvPr id="29" name="Text 24"/>
          <p:cNvSpPr/>
          <p:nvPr/>
        </p:nvSpPr>
        <p:spPr>
          <a:xfrm>
            <a:off x="1015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0" name="Shape 25"/>
          <p:cNvSpPr/>
          <p:nvPr/>
        </p:nvSpPr>
        <p:spPr>
          <a:xfrm>
            <a:off x="2826000" y="6598800"/>
            <a:ext cx="1872000" cy="1080000"/>
          </a:xfrm>
          <a:prstGeom prst="rect">
            <a:avLst/>
          </a:prstGeom>
          <a:solidFill>
            <a:srgbClr val="FFFFFF"/>
          </a:solidFill>
          <a:ln w="6985">
            <a:solidFill>
              <a:srgbClr val="202020"/>
            </a:solidFill>
            <a:prstDash val="solid"/>
          </a:ln>
        </p:spPr>
      </p:sp>
      <p:sp>
        <p:nvSpPr>
          <p:cNvPr id="31" name="Text 26"/>
          <p:cNvSpPr/>
          <p:nvPr/>
        </p:nvSpPr>
        <p:spPr>
          <a:xfrm>
            <a:off x="2887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7"/>
          <p:cNvSpPr/>
          <p:nvPr/>
        </p:nvSpPr>
        <p:spPr>
          <a:xfrm>
            <a:off x="4698000" y="6598800"/>
            <a:ext cx="1872000" cy="1080000"/>
          </a:xfrm>
          <a:prstGeom prst="rect">
            <a:avLst/>
          </a:prstGeom>
          <a:solidFill>
            <a:srgbClr val="FFFFFF"/>
          </a:solidFill>
          <a:ln w="6985">
            <a:solidFill>
              <a:srgbClr val="202020"/>
            </a:solidFill>
            <a:prstDash val="solid"/>
          </a:ln>
        </p:spPr>
      </p:sp>
      <p:sp>
        <p:nvSpPr>
          <p:cNvPr id="33" name="Text 28"/>
          <p:cNvSpPr/>
          <p:nvPr/>
        </p:nvSpPr>
        <p:spPr>
          <a:xfrm>
            <a:off x="4759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Text 29"/>
          <p:cNvSpPr/>
          <p:nvPr/>
        </p:nvSpPr>
        <p:spPr>
          <a:xfrm>
            <a:off x="2898000" y="7030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5" name="Text 30"/>
          <p:cNvSpPr/>
          <p:nvPr/>
        </p:nvSpPr>
        <p:spPr>
          <a:xfrm>
            <a:off x="1026000" y="667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6" name="Text 31"/>
          <p:cNvSpPr/>
          <p:nvPr/>
        </p:nvSpPr>
        <p:spPr>
          <a:xfrm>
            <a:off x="4770000" y="667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37" name="Image 3" descr="Étiquette énergétique F">    </p:cNvPr>
          <p:cNvPicPr>
            <a:picLocks noChangeAspect="1"/>
          </p:cNvPicPr>
          <p:nvPr/>
        </p:nvPicPr>
        <p:blipFill>
          <a:blip r:embed="rId4"/>
          <a:srcRect l="0" r="0" t="0" b="0"/>
          <a:stretch/>
        </p:blipFill>
        <p:spPr>
          <a:xfrm>
            <a:off x="1251000" y="7318800"/>
            <a:ext cx="558000" cy="306000"/>
          </a:xfrm>
          <a:prstGeom prst="rect">
            <a:avLst/>
          </a:prstGeom>
        </p:spPr>
      </p:pic>
      <p:pic>
        <p:nvPicPr>
          <p:cNvPr id="38" name="Image 4" descr="Étiquette énergétique G">    </p:cNvPr>
          <p:cNvPicPr>
            <a:picLocks noChangeAspect="1"/>
          </p:cNvPicPr>
          <p:nvPr/>
        </p:nvPicPr>
        <p:blipFill>
          <a:blip r:embed="rId5"/>
          <a:srcRect l="0" r="0" t="0" b="0"/>
          <a:stretch/>
        </p:blipFill>
        <p:spPr>
          <a:xfrm>
            <a:off x="1971000" y="7318800"/>
            <a:ext cx="558000" cy="306000"/>
          </a:xfrm>
          <a:prstGeom prst="rect">
            <a:avLst/>
          </a:prstGeom>
        </p:spPr>
      </p:pic>
      <p:pic>
        <p:nvPicPr>
          <p:cNvPr id="39" name="Image 5" descr="Étiquette énergétique G">    </p:cNvPr>
          <p:cNvPicPr>
            <a:picLocks noChangeAspect="1"/>
          </p:cNvPicPr>
          <p:nvPr/>
        </p:nvPicPr>
        <p:blipFill>
          <a:blip r:embed="rId6"/>
          <a:srcRect l="0" r="0" t="0" b="0"/>
          <a:stretch/>
        </p:blipFill>
        <p:spPr>
          <a:xfrm>
            <a:off x="5355000" y="6922800"/>
            <a:ext cx="558000" cy="306000"/>
          </a:xfrm>
          <a:prstGeom prst="rect">
            <a:avLst/>
          </a:prstGeom>
        </p:spPr>
      </p:pic>
      <p:sp>
        <p:nvSpPr>
          <p:cNvPr id="40" name="Text 32"/>
          <p:cNvSpPr/>
          <p:nvPr/>
        </p:nvSpPr>
        <p:spPr>
          <a:xfrm>
            <a:off x="4770000" y="724680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1" name="Shape 33"/>
          <p:cNvSpPr/>
          <p:nvPr/>
        </p:nvSpPr>
        <p:spPr>
          <a:xfrm>
            <a:off x="954000" y="7678800"/>
            <a:ext cx="1872000" cy="756000"/>
          </a:xfrm>
          <a:prstGeom prst="rect">
            <a:avLst/>
          </a:prstGeom>
          <a:solidFill>
            <a:srgbClr val="FFFFFF"/>
          </a:solidFill>
          <a:ln w="6985">
            <a:solidFill>
              <a:srgbClr val="202020"/>
            </a:solidFill>
            <a:prstDash val="solid"/>
          </a:ln>
        </p:spPr>
      </p:sp>
      <p:sp>
        <p:nvSpPr>
          <p:cNvPr id="42" name="Text 34"/>
          <p:cNvSpPr/>
          <p:nvPr/>
        </p:nvSpPr>
        <p:spPr>
          <a:xfrm>
            <a:off x="1015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3" name="Shape 35"/>
          <p:cNvSpPr/>
          <p:nvPr/>
        </p:nvSpPr>
        <p:spPr>
          <a:xfrm>
            <a:off x="2826000" y="7678800"/>
            <a:ext cx="1872000" cy="756000"/>
          </a:xfrm>
          <a:prstGeom prst="rect">
            <a:avLst/>
          </a:prstGeom>
          <a:solidFill>
            <a:srgbClr val="FFFFFF"/>
          </a:solidFill>
          <a:ln w="6985">
            <a:solidFill>
              <a:srgbClr val="202020"/>
            </a:solidFill>
            <a:prstDash val="solid"/>
          </a:ln>
        </p:spPr>
      </p:sp>
      <p:sp>
        <p:nvSpPr>
          <p:cNvPr id="44" name="Text 36"/>
          <p:cNvSpPr/>
          <p:nvPr/>
        </p:nvSpPr>
        <p:spPr>
          <a:xfrm>
            <a:off x="2887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5" name="Shape 37"/>
          <p:cNvSpPr/>
          <p:nvPr/>
        </p:nvSpPr>
        <p:spPr>
          <a:xfrm>
            <a:off x="4698000" y="7678800"/>
            <a:ext cx="1872000" cy="756000"/>
          </a:xfrm>
          <a:prstGeom prst="rect">
            <a:avLst/>
          </a:prstGeom>
          <a:solidFill>
            <a:srgbClr val="FFFFFF"/>
          </a:solidFill>
          <a:ln w="6985">
            <a:solidFill>
              <a:srgbClr val="202020"/>
            </a:solidFill>
            <a:prstDash val="solid"/>
          </a:ln>
        </p:spPr>
      </p:sp>
      <p:sp>
        <p:nvSpPr>
          <p:cNvPr id="46" name="Text 38"/>
          <p:cNvSpPr/>
          <p:nvPr/>
        </p:nvSpPr>
        <p:spPr>
          <a:xfrm>
            <a:off x="4759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7" name="Text 39"/>
          <p:cNvSpPr/>
          <p:nvPr/>
        </p:nvSpPr>
        <p:spPr>
          <a:xfrm>
            <a:off x="2898000" y="7948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48" name="Text 40"/>
          <p:cNvSpPr/>
          <p:nvPr/>
        </p:nvSpPr>
        <p:spPr>
          <a:xfrm>
            <a:off x="1026000" y="775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49" name="Text 41"/>
          <p:cNvSpPr/>
          <p:nvPr/>
        </p:nvSpPr>
        <p:spPr>
          <a:xfrm>
            <a:off x="4770000" y="775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50" name="Image 6" descr="Étiquette énergétique E">    </p:cNvPr>
          <p:cNvPicPr>
            <a:picLocks noChangeAspect="1"/>
          </p:cNvPicPr>
          <p:nvPr/>
        </p:nvPicPr>
        <p:blipFill>
          <a:blip r:embed="rId7"/>
          <a:srcRect l="0" r="0" t="0" b="0"/>
          <a:stretch/>
        </p:blipFill>
        <p:spPr>
          <a:xfrm>
            <a:off x="1611000" y="8074800"/>
            <a:ext cx="558000" cy="306000"/>
          </a:xfrm>
          <a:prstGeom prst="rect">
            <a:avLst/>
          </a:prstGeom>
        </p:spPr>
      </p:pic>
      <p:pic>
        <p:nvPicPr>
          <p:cNvPr id="51" name="Image 7" descr="Étiquette énergétique G">    </p:cNvPr>
          <p:cNvPicPr>
            <a:picLocks noChangeAspect="1"/>
          </p:cNvPicPr>
          <p:nvPr/>
        </p:nvPicPr>
        <p:blipFill>
          <a:blip r:embed="rId8"/>
          <a:srcRect l="0" r="0" t="0" b="0"/>
          <a:stretch/>
        </p:blipFill>
        <p:spPr>
          <a:xfrm>
            <a:off x="5355000" y="8074800"/>
            <a:ext cx="558000" cy="306000"/>
          </a:xfrm>
          <a:prstGeom prst="rect">
            <a:avLst/>
          </a:prstGeom>
        </p:spPr>
      </p:pic>
      <p:sp>
        <p:nvSpPr>
          <p:cNvPr id="52" name="Shape 42"/>
          <p:cNvSpPr/>
          <p:nvPr/>
        </p:nvSpPr>
        <p:spPr>
          <a:xfrm>
            <a:off x="954000" y="8434800"/>
            <a:ext cx="1872000" cy="612000"/>
          </a:xfrm>
          <a:prstGeom prst="rect">
            <a:avLst/>
          </a:prstGeom>
          <a:solidFill>
            <a:srgbClr val="FFFFFF"/>
          </a:solidFill>
          <a:ln w="6985">
            <a:solidFill>
              <a:srgbClr val="202020"/>
            </a:solidFill>
            <a:prstDash val="solid"/>
          </a:ln>
        </p:spPr>
      </p:sp>
      <p:sp>
        <p:nvSpPr>
          <p:cNvPr id="53" name="Text 43"/>
          <p:cNvSpPr/>
          <p:nvPr/>
        </p:nvSpPr>
        <p:spPr>
          <a:xfrm>
            <a:off x="1015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4" name="Shape 44"/>
          <p:cNvSpPr/>
          <p:nvPr/>
        </p:nvSpPr>
        <p:spPr>
          <a:xfrm>
            <a:off x="2826000" y="8434800"/>
            <a:ext cx="1872000" cy="612000"/>
          </a:xfrm>
          <a:prstGeom prst="rect">
            <a:avLst/>
          </a:prstGeom>
          <a:solidFill>
            <a:srgbClr val="FFFFFF"/>
          </a:solidFill>
          <a:ln w="6985">
            <a:solidFill>
              <a:srgbClr val="202020"/>
            </a:solidFill>
            <a:prstDash val="solid"/>
          </a:ln>
        </p:spPr>
      </p:sp>
      <p:sp>
        <p:nvSpPr>
          <p:cNvPr id="55" name="Text 45"/>
          <p:cNvSpPr/>
          <p:nvPr/>
        </p:nvSpPr>
        <p:spPr>
          <a:xfrm>
            <a:off x="2887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6" name="Shape 46"/>
          <p:cNvSpPr/>
          <p:nvPr/>
        </p:nvSpPr>
        <p:spPr>
          <a:xfrm>
            <a:off x="4698000" y="8434800"/>
            <a:ext cx="1872000" cy="612000"/>
          </a:xfrm>
          <a:prstGeom prst="rect">
            <a:avLst/>
          </a:prstGeom>
          <a:solidFill>
            <a:srgbClr val="FFFFFF"/>
          </a:solidFill>
          <a:ln w="6985">
            <a:solidFill>
              <a:srgbClr val="202020"/>
            </a:solidFill>
            <a:prstDash val="solid"/>
          </a:ln>
        </p:spPr>
      </p:sp>
      <p:sp>
        <p:nvSpPr>
          <p:cNvPr id="57" name="Text 47"/>
          <p:cNvSpPr/>
          <p:nvPr/>
        </p:nvSpPr>
        <p:spPr>
          <a:xfrm>
            <a:off x="4759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8" name="Text 48"/>
          <p:cNvSpPr/>
          <p:nvPr/>
        </p:nvSpPr>
        <p:spPr>
          <a:xfrm>
            <a:off x="2898000" y="8632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59" name="Text 49"/>
          <p:cNvSpPr/>
          <p:nvPr/>
        </p:nvSpPr>
        <p:spPr>
          <a:xfrm>
            <a:off x="4770000" y="8506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60" name="Image 8" descr="Étiquette énergétique F">    </p:cNvPr>
          <p:cNvPicPr>
            <a:picLocks noChangeAspect="1"/>
          </p:cNvPicPr>
          <p:nvPr/>
        </p:nvPicPr>
        <p:blipFill>
          <a:blip r:embed="rId9"/>
          <a:srcRect l="0" r="0" t="0" b="0"/>
          <a:stretch/>
        </p:blipFill>
        <p:spPr>
          <a:xfrm>
            <a:off x="5355000" y="8686800"/>
            <a:ext cx="558000" cy="306000"/>
          </a:xfrm>
          <a:prstGeom prst="rect">
            <a:avLst/>
          </a:prstGeom>
        </p:spPr>
      </p:pic>
      <p:sp>
        <p:nvSpPr>
          <p:cNvPr id="61" name="Shape 50"/>
          <p:cNvSpPr/>
          <p:nvPr/>
        </p:nvSpPr>
        <p:spPr>
          <a:xfrm>
            <a:off x="954000" y="9046800"/>
            <a:ext cx="1872000" cy="756000"/>
          </a:xfrm>
          <a:prstGeom prst="rect">
            <a:avLst/>
          </a:prstGeom>
          <a:solidFill>
            <a:srgbClr val="FFFFFF"/>
          </a:solidFill>
          <a:ln w="6985">
            <a:solidFill>
              <a:srgbClr val="202020"/>
            </a:solidFill>
            <a:prstDash val="solid"/>
          </a:ln>
        </p:spPr>
      </p:sp>
      <p:sp>
        <p:nvSpPr>
          <p:cNvPr id="62" name="Text 51"/>
          <p:cNvSpPr/>
          <p:nvPr/>
        </p:nvSpPr>
        <p:spPr>
          <a:xfrm>
            <a:off x="1015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3" name="Shape 52"/>
          <p:cNvSpPr/>
          <p:nvPr/>
        </p:nvSpPr>
        <p:spPr>
          <a:xfrm>
            <a:off x="2826000" y="9046800"/>
            <a:ext cx="1872000" cy="756000"/>
          </a:xfrm>
          <a:prstGeom prst="rect">
            <a:avLst/>
          </a:prstGeom>
          <a:solidFill>
            <a:srgbClr val="FFFFFF"/>
          </a:solidFill>
          <a:ln w="6985">
            <a:solidFill>
              <a:srgbClr val="202020"/>
            </a:solidFill>
            <a:prstDash val="solid"/>
          </a:ln>
        </p:spPr>
      </p:sp>
      <p:sp>
        <p:nvSpPr>
          <p:cNvPr id="64" name="Text 53"/>
          <p:cNvSpPr/>
          <p:nvPr/>
        </p:nvSpPr>
        <p:spPr>
          <a:xfrm>
            <a:off x="2887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5" name="Shape 54"/>
          <p:cNvSpPr/>
          <p:nvPr/>
        </p:nvSpPr>
        <p:spPr>
          <a:xfrm>
            <a:off x="4698000" y="9046800"/>
            <a:ext cx="1872000" cy="756000"/>
          </a:xfrm>
          <a:prstGeom prst="rect">
            <a:avLst/>
          </a:prstGeom>
          <a:solidFill>
            <a:srgbClr val="FFFFFF"/>
          </a:solidFill>
          <a:ln w="6985">
            <a:solidFill>
              <a:srgbClr val="202020"/>
            </a:solidFill>
            <a:prstDash val="solid"/>
          </a:ln>
        </p:spPr>
      </p:sp>
      <p:sp>
        <p:nvSpPr>
          <p:cNvPr id="66" name="Text 55"/>
          <p:cNvSpPr/>
          <p:nvPr/>
        </p:nvSpPr>
        <p:spPr>
          <a:xfrm>
            <a:off x="4759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7" name="Text 56"/>
          <p:cNvSpPr/>
          <p:nvPr/>
        </p:nvSpPr>
        <p:spPr>
          <a:xfrm>
            <a:off x="2898000" y="931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68" name="Text 57"/>
          <p:cNvSpPr/>
          <p:nvPr/>
        </p:nvSpPr>
        <p:spPr>
          <a:xfrm>
            <a:off x="1026000" y="9118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69" name="Text 58"/>
          <p:cNvSpPr/>
          <p:nvPr/>
        </p:nvSpPr>
        <p:spPr>
          <a:xfrm>
            <a:off x="4770000" y="9118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70" name="Image 9" descr="Étiquette énergétique D">    </p:cNvPr>
          <p:cNvPicPr>
            <a:picLocks noChangeAspect="1"/>
          </p:cNvPicPr>
          <p:nvPr/>
        </p:nvPicPr>
        <p:blipFill>
          <a:blip r:embed="rId10"/>
          <a:srcRect l="0" r="0" t="0" b="0"/>
          <a:stretch/>
        </p:blipFill>
        <p:spPr>
          <a:xfrm>
            <a:off x="1611000" y="9442800"/>
            <a:ext cx="558000" cy="306000"/>
          </a:xfrm>
          <a:prstGeom prst="rect">
            <a:avLst/>
          </a:prstGeom>
        </p:spPr>
      </p:pic>
      <p:pic>
        <p:nvPicPr>
          <p:cNvPr id="71" name="Image 10" descr="Étiquette énergétique E">    </p:cNvPr>
          <p:cNvPicPr>
            <a:picLocks noChangeAspect="1"/>
          </p:cNvPicPr>
          <p:nvPr/>
        </p:nvPicPr>
        <p:blipFill>
          <a:blip r:embed="rId11"/>
          <a:srcRect l="0" r="0" t="0" b="0"/>
          <a:stretch/>
        </p:blipFill>
        <p:spPr>
          <a:xfrm>
            <a:off x="5355000" y="9442800"/>
            <a:ext cx="558000" cy="30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000" dirty="0"/>
          </a:p>
        </p:txBody>
      </p:sp>
      <p:sp>
        <p:nvSpPr>
          <p:cNvPr id="9" name="Text 6"/>
          <p:cNvSpPr/>
          <p:nvPr/>
        </p:nvSpPr>
        <p:spPr>
          <a:xfrm>
            <a:off x="648000" y="251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000" dirty="0"/>
          </a:p>
        </p:txBody>
      </p:sp>
      <p:sp>
        <p:nvSpPr>
          <p:cNvPr id="10" name="Text 7"/>
          <p:cNvSpPr/>
          <p:nvPr/>
        </p:nvSpPr>
        <p:spPr>
          <a:xfrm>
            <a:off x="648000" y="332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000" dirty="0"/>
          </a:p>
        </p:txBody>
      </p:sp>
      <p:sp>
        <p:nvSpPr>
          <p:cNvPr id="11" name="Text 8"/>
          <p:cNvSpPr/>
          <p:nvPr/>
        </p:nvSpPr>
        <p:spPr>
          <a:xfrm>
            <a:off x="648000" y="44604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réalisation du DPE collectif : À confirmer.</a:t>
            </a:r>
            <a:endParaRPr lang="en-US" sz="1000" dirty="0"/>
          </a:p>
        </p:txBody>
      </p:sp>
      <p:sp>
        <p:nvSpPr>
          <p:cNvPr id="12" name="Text 9"/>
          <p:cNvSpPr/>
          <p:nvPr/>
        </p:nvSpPr>
        <p:spPr>
          <a:xfrm>
            <a:off x="648000" y="47268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1000" dirty="0"/>
          </a:p>
        </p:txBody>
      </p:sp>
      <p:sp>
        <p:nvSpPr>
          <p:cNvPr id="13" name="Text 10"/>
          <p:cNvSpPr/>
          <p:nvPr/>
        </p:nvSpPr>
        <p:spPr>
          <a:xfrm>
            <a:off x="648000" y="517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535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sp>
        <p:nvSpPr>
          <p:cNvPr id="18"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19"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0" name="Shape 17"/>
          <p:cNvSpPr/>
          <p:nvPr/>
        </p:nvSpPr>
        <p:spPr>
          <a:xfrm>
            <a:off x="3780000" y="7092000"/>
            <a:ext cx="3240000" cy="2196000"/>
          </a:xfrm>
          <a:prstGeom prst="rect">
            <a:avLst/>
          </a:prstGeom>
          <a:solidFill>
            <a:srgbClr val="FFFFFF"/>
          </a:solidFill>
          <a:ln w="6985">
            <a:solidFill>
              <a:srgbClr val="202020"/>
            </a:solidFill>
            <a:prstDash val="solid"/>
          </a:ln>
        </p:spPr>
      </p:sp>
      <p:sp>
        <p:nvSpPr>
          <p:cNvPr id="21" name="Text 18"/>
          <p:cNvSpPr/>
          <p:nvPr/>
        </p:nvSpPr>
        <p:spPr>
          <a:xfrm>
            <a:off x="648000" y="572400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12</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000" dirty="0"/>
          </a:p>
        </p:txBody>
      </p:sp>
      <p:sp>
        <p:nvSpPr>
          <p:cNvPr id="9" name="Text 6"/>
          <p:cNvSpPr/>
          <p:nvPr/>
        </p:nvSpPr>
        <p:spPr>
          <a:xfrm>
            <a:off x="648000" y="287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000" dirty="0"/>
          </a:p>
        </p:txBody>
      </p:sp>
      <p:sp>
        <p:nvSpPr>
          <p:cNvPr id="10" name="Text 7"/>
          <p:cNvSpPr/>
          <p:nvPr/>
        </p:nvSpPr>
        <p:spPr>
          <a:xfrm>
            <a:off x="648000" y="37116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1000" dirty="0"/>
          </a:p>
        </p:txBody>
      </p:sp>
      <p:sp>
        <p:nvSpPr>
          <p:cNvPr id="11" name="Text 8"/>
          <p:cNvSpPr/>
          <p:nvPr/>
        </p:nvSpPr>
        <p:spPr>
          <a:xfrm>
            <a:off x="648000" y="43812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1 : Travaux curatifs</a:t>
            </a:r>
            <a:endParaRPr lang="en-US" sz="1000" dirty="0"/>
          </a:p>
        </p:txBody>
      </p:sp>
      <p:sp>
        <p:nvSpPr>
          <p:cNvPr id="12" name="Text 9"/>
          <p:cNvSpPr/>
          <p:nvPr/>
        </p:nvSpPr>
        <p:spPr>
          <a:xfrm>
            <a:off x="648000" y="470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000" dirty="0"/>
          </a:p>
        </p:txBody>
      </p:sp>
      <p:sp>
        <p:nvSpPr>
          <p:cNvPr id="13" name="Text 10"/>
          <p:cNvSpPr/>
          <p:nvPr/>
        </p:nvSpPr>
        <p:spPr>
          <a:xfrm>
            <a:off x="648000" y="56088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2 : Travaux d’amélioration énergétique</a:t>
            </a:r>
            <a:endParaRPr lang="en-US" sz="1000" dirty="0"/>
          </a:p>
        </p:txBody>
      </p:sp>
      <p:sp>
        <p:nvSpPr>
          <p:cNvPr id="14" name="Text 11"/>
          <p:cNvSpPr/>
          <p:nvPr/>
        </p:nvSpPr>
        <p:spPr>
          <a:xfrm>
            <a:off x="648000" y="5929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576000"/>
          </a:xfrm>
          <a:prstGeom prst="rect">
            <a:avLst/>
          </a:prstGeom>
          <a:solidFill>
            <a:srgbClr val="D52234"/>
          </a:solidFill>
          <a:ln w="6985">
            <a:solidFill>
              <a:srgbClr val="202020"/>
            </a:solidFill>
            <a:prstDash val="solid"/>
          </a:ln>
        </p:spPr>
      </p:sp>
      <p:sp>
        <p:nvSpPr>
          <p:cNvPr id="23" name="Text 20"/>
          <p:cNvSpPr/>
          <p:nvPr/>
        </p:nvSpPr>
        <p:spPr>
          <a:xfrm>
            <a:off x="601200" y="2541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224000" y="2502000"/>
            <a:ext cx="720000" cy="5760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a:t>
            </a:r>
            <a:endParaRPr lang="en-US" sz="950" dirty="0"/>
          </a:p>
        </p:txBody>
      </p:sp>
      <p:sp>
        <p:nvSpPr>
          <p:cNvPr id="26" name="Shape 23"/>
          <p:cNvSpPr/>
          <p:nvPr/>
        </p:nvSpPr>
        <p:spPr>
          <a:xfrm>
            <a:off x="1944000" y="2502000"/>
            <a:ext cx="2160000" cy="5760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Sécurisation de l’accès à un local technique.</a:t>
            </a:r>
            <a:endParaRPr lang="en-US" sz="950" dirty="0"/>
          </a:p>
        </p:txBody>
      </p:sp>
      <p:sp>
        <p:nvSpPr>
          <p:cNvPr id="28" name="Shape 25"/>
          <p:cNvSpPr/>
          <p:nvPr/>
        </p:nvSpPr>
        <p:spPr>
          <a:xfrm>
            <a:off x="4104000" y="2502000"/>
            <a:ext cx="756000" cy="5760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1 000 €</a:t>
            </a:r>
            <a:endParaRPr lang="en-US" sz="950" dirty="0"/>
          </a:p>
        </p:txBody>
      </p:sp>
      <p:sp>
        <p:nvSpPr>
          <p:cNvPr id="30" name="Shape 27"/>
          <p:cNvSpPr/>
          <p:nvPr/>
        </p:nvSpPr>
        <p:spPr>
          <a:xfrm>
            <a:off x="4860000" y="2502000"/>
            <a:ext cx="720000" cy="5760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580000" y="2502000"/>
            <a:ext cx="720000" cy="5760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5760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540000" y="3078000"/>
            <a:ext cx="684000" cy="576000"/>
          </a:xfrm>
          <a:prstGeom prst="rect">
            <a:avLst/>
          </a:prstGeom>
          <a:solidFill>
            <a:srgbClr val="D52234"/>
          </a:solidFill>
          <a:ln w="6985">
            <a:solidFill>
              <a:srgbClr val="202020"/>
            </a:solidFill>
            <a:prstDash val="solid"/>
          </a:ln>
        </p:spPr>
      </p:sp>
      <p:sp>
        <p:nvSpPr>
          <p:cNvPr id="37" name="Text 34"/>
          <p:cNvSpPr/>
          <p:nvPr/>
        </p:nvSpPr>
        <p:spPr>
          <a:xfrm>
            <a:off x="601200" y="3117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38" name="Shape 35"/>
          <p:cNvSpPr/>
          <p:nvPr/>
        </p:nvSpPr>
        <p:spPr>
          <a:xfrm>
            <a:off x="1224000" y="3078000"/>
            <a:ext cx="720000" cy="576000"/>
          </a:xfrm>
          <a:prstGeom prst="rect">
            <a:avLst/>
          </a:prstGeom>
          <a:solidFill>
            <a:srgbClr val="F6A5A8"/>
          </a:solidFill>
          <a:ln w="6985">
            <a:solidFill>
              <a:srgbClr val="202020"/>
            </a:solidFill>
            <a:prstDash val="solid"/>
          </a:ln>
        </p:spPr>
      </p:sp>
      <p:sp>
        <p:nvSpPr>
          <p:cNvPr id="39" name="Text 36"/>
          <p:cNvSpPr/>
          <p:nvPr/>
        </p:nvSpPr>
        <p:spPr>
          <a:xfrm>
            <a:off x="1285200" y="3117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2</a:t>
            </a:r>
            <a:endParaRPr lang="en-US" sz="950" dirty="0"/>
          </a:p>
        </p:txBody>
      </p:sp>
      <p:sp>
        <p:nvSpPr>
          <p:cNvPr id="40" name="Shape 37"/>
          <p:cNvSpPr/>
          <p:nvPr/>
        </p:nvSpPr>
        <p:spPr>
          <a:xfrm>
            <a:off x="1944000" y="3078000"/>
            <a:ext cx="2160000" cy="576000"/>
          </a:xfrm>
          <a:prstGeom prst="rect">
            <a:avLst/>
          </a:prstGeom>
          <a:solidFill>
            <a:srgbClr val="F6A5A8"/>
          </a:solidFill>
          <a:ln w="6985">
            <a:solidFill>
              <a:srgbClr val="202020"/>
            </a:solidFill>
            <a:prstDash val="solid"/>
          </a:ln>
        </p:spPr>
      </p:sp>
      <p:sp>
        <p:nvSpPr>
          <p:cNvPr id="41" name="Text 38"/>
          <p:cNvSpPr/>
          <p:nvPr/>
        </p:nvSpPr>
        <p:spPr>
          <a:xfrm>
            <a:off x="2005200" y="3117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Remise en état d’un élément de sécurité collectif.</a:t>
            </a:r>
            <a:endParaRPr lang="en-US" sz="950" dirty="0"/>
          </a:p>
        </p:txBody>
      </p:sp>
      <p:sp>
        <p:nvSpPr>
          <p:cNvPr id="42" name="Shape 39"/>
          <p:cNvSpPr/>
          <p:nvPr/>
        </p:nvSpPr>
        <p:spPr>
          <a:xfrm>
            <a:off x="4104000" y="3078000"/>
            <a:ext cx="756000" cy="576000"/>
          </a:xfrm>
          <a:prstGeom prst="rect">
            <a:avLst/>
          </a:prstGeom>
          <a:solidFill>
            <a:srgbClr val="F6A5A8"/>
          </a:solidFill>
          <a:ln w="6985">
            <a:solidFill>
              <a:srgbClr val="202020"/>
            </a:solidFill>
            <a:prstDash val="solid"/>
          </a:ln>
        </p:spPr>
      </p:sp>
      <p:sp>
        <p:nvSpPr>
          <p:cNvPr id="43" name="Text 40"/>
          <p:cNvSpPr/>
          <p:nvPr/>
        </p:nvSpPr>
        <p:spPr>
          <a:xfrm>
            <a:off x="4165200" y="3117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1 400 €</a:t>
            </a:r>
            <a:endParaRPr lang="en-US" sz="950" dirty="0"/>
          </a:p>
        </p:txBody>
      </p:sp>
      <p:sp>
        <p:nvSpPr>
          <p:cNvPr id="44" name="Shape 41"/>
          <p:cNvSpPr/>
          <p:nvPr/>
        </p:nvSpPr>
        <p:spPr>
          <a:xfrm>
            <a:off x="4860000" y="3078000"/>
            <a:ext cx="720000" cy="576000"/>
          </a:xfrm>
          <a:prstGeom prst="rect">
            <a:avLst/>
          </a:prstGeom>
          <a:solidFill>
            <a:srgbClr val="F6A5A8"/>
          </a:solidFill>
          <a:ln w="6985">
            <a:solidFill>
              <a:srgbClr val="202020"/>
            </a:solidFill>
            <a:prstDash val="solid"/>
          </a:ln>
        </p:spPr>
      </p:sp>
      <p:sp>
        <p:nvSpPr>
          <p:cNvPr id="45" name="Text 42"/>
          <p:cNvSpPr/>
          <p:nvPr/>
        </p:nvSpPr>
        <p:spPr>
          <a:xfrm>
            <a:off x="4921200" y="3117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46" name="Shape 43"/>
          <p:cNvSpPr/>
          <p:nvPr/>
        </p:nvSpPr>
        <p:spPr>
          <a:xfrm>
            <a:off x="5580000" y="3078000"/>
            <a:ext cx="720000" cy="576000"/>
          </a:xfrm>
          <a:prstGeom prst="rect">
            <a:avLst/>
          </a:prstGeom>
          <a:solidFill>
            <a:srgbClr val="F6A5A8"/>
          </a:solidFill>
          <a:ln w="6985">
            <a:solidFill>
              <a:srgbClr val="202020"/>
            </a:solidFill>
            <a:prstDash val="solid"/>
          </a:ln>
        </p:spPr>
      </p:sp>
      <p:sp>
        <p:nvSpPr>
          <p:cNvPr id="47" name="Text 44"/>
          <p:cNvSpPr/>
          <p:nvPr/>
        </p:nvSpPr>
        <p:spPr>
          <a:xfrm>
            <a:off x="564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48" name="Shape 45"/>
          <p:cNvSpPr/>
          <p:nvPr/>
        </p:nvSpPr>
        <p:spPr>
          <a:xfrm>
            <a:off x="6300000" y="3078000"/>
            <a:ext cx="720000" cy="576000"/>
          </a:xfrm>
          <a:prstGeom prst="rect">
            <a:avLst/>
          </a:prstGeom>
          <a:solidFill>
            <a:srgbClr val="F6A5A8"/>
          </a:solidFill>
          <a:ln w="6985">
            <a:solidFill>
              <a:srgbClr val="202020"/>
            </a:solidFill>
            <a:prstDash val="solid"/>
          </a:ln>
        </p:spPr>
      </p:sp>
      <p:sp>
        <p:nvSpPr>
          <p:cNvPr id="49" name="Text 46"/>
          <p:cNvSpPr/>
          <p:nvPr/>
        </p:nvSpPr>
        <p:spPr>
          <a:xfrm>
            <a:off x="636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50" name="Shape 47"/>
          <p:cNvSpPr/>
          <p:nvPr/>
        </p:nvSpPr>
        <p:spPr>
          <a:xfrm>
            <a:off x="540000" y="3654000"/>
            <a:ext cx="684000" cy="576000"/>
          </a:xfrm>
          <a:prstGeom prst="rect">
            <a:avLst/>
          </a:prstGeom>
          <a:solidFill>
            <a:srgbClr val="00BE84"/>
          </a:solidFill>
          <a:ln w="6985">
            <a:solidFill>
              <a:srgbClr val="202020"/>
            </a:solidFill>
            <a:prstDash val="solid"/>
          </a:ln>
        </p:spPr>
      </p:sp>
      <p:sp>
        <p:nvSpPr>
          <p:cNvPr id="51" name="Text 48"/>
          <p:cNvSpPr/>
          <p:nvPr/>
        </p:nvSpPr>
        <p:spPr>
          <a:xfrm>
            <a:off x="601200" y="3693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52" name="Shape 49"/>
          <p:cNvSpPr/>
          <p:nvPr/>
        </p:nvSpPr>
        <p:spPr>
          <a:xfrm>
            <a:off x="1224000" y="3654000"/>
            <a:ext cx="720000" cy="576000"/>
          </a:xfrm>
          <a:prstGeom prst="rect">
            <a:avLst/>
          </a:prstGeom>
          <a:solidFill>
            <a:srgbClr val="C4EDCB"/>
          </a:solidFill>
          <a:ln w="6985">
            <a:solidFill>
              <a:srgbClr val="202020"/>
            </a:solidFill>
            <a:prstDash val="solid"/>
          </a:ln>
        </p:spPr>
      </p:sp>
      <p:sp>
        <p:nvSpPr>
          <p:cNvPr id="53" name="Text 50"/>
          <p:cNvSpPr/>
          <p:nvPr/>
        </p:nvSpPr>
        <p:spPr>
          <a:xfrm>
            <a:off x="1285200" y="3693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3</a:t>
            </a:r>
            <a:endParaRPr lang="en-US" sz="950" dirty="0"/>
          </a:p>
        </p:txBody>
      </p:sp>
      <p:sp>
        <p:nvSpPr>
          <p:cNvPr id="54" name="Shape 51"/>
          <p:cNvSpPr/>
          <p:nvPr/>
        </p:nvSpPr>
        <p:spPr>
          <a:xfrm>
            <a:off x="1944000" y="3654000"/>
            <a:ext cx="2160000" cy="576000"/>
          </a:xfrm>
          <a:prstGeom prst="rect">
            <a:avLst/>
          </a:prstGeom>
          <a:solidFill>
            <a:srgbClr val="C4EDCB"/>
          </a:solidFill>
          <a:ln w="6985">
            <a:solidFill>
              <a:srgbClr val="202020"/>
            </a:solidFill>
            <a:prstDash val="solid"/>
          </a:ln>
        </p:spPr>
      </p:sp>
      <p:sp>
        <p:nvSpPr>
          <p:cNvPr id="55" name="Text 52"/>
          <p:cNvSpPr/>
          <p:nvPr/>
        </p:nvSpPr>
        <p:spPr>
          <a:xfrm>
            <a:off x="2005200" y="3693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Réfection programmée d’un revêtement des parties communes.</a:t>
            </a:r>
            <a:endParaRPr lang="en-US" sz="950" dirty="0"/>
          </a:p>
        </p:txBody>
      </p:sp>
      <p:sp>
        <p:nvSpPr>
          <p:cNvPr id="56" name="Shape 53"/>
          <p:cNvSpPr/>
          <p:nvPr/>
        </p:nvSpPr>
        <p:spPr>
          <a:xfrm>
            <a:off x="4104000" y="3654000"/>
            <a:ext cx="756000" cy="576000"/>
          </a:xfrm>
          <a:prstGeom prst="rect">
            <a:avLst/>
          </a:prstGeom>
          <a:solidFill>
            <a:srgbClr val="C4EDCB"/>
          </a:solidFill>
          <a:ln w="6985">
            <a:solidFill>
              <a:srgbClr val="202020"/>
            </a:solidFill>
            <a:prstDash val="solid"/>
          </a:ln>
        </p:spPr>
      </p:sp>
      <p:sp>
        <p:nvSpPr>
          <p:cNvPr id="57" name="Text 54"/>
          <p:cNvSpPr/>
          <p:nvPr/>
        </p:nvSpPr>
        <p:spPr>
          <a:xfrm>
            <a:off x="4165200" y="3693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4 500 €</a:t>
            </a:r>
            <a:endParaRPr lang="en-US" sz="950" dirty="0"/>
          </a:p>
        </p:txBody>
      </p:sp>
      <p:sp>
        <p:nvSpPr>
          <p:cNvPr id="58" name="Shape 55"/>
          <p:cNvSpPr/>
          <p:nvPr/>
        </p:nvSpPr>
        <p:spPr>
          <a:xfrm>
            <a:off x="4860000" y="3654000"/>
            <a:ext cx="720000" cy="576000"/>
          </a:xfrm>
          <a:prstGeom prst="rect">
            <a:avLst/>
          </a:prstGeom>
          <a:solidFill>
            <a:srgbClr val="C4EDCB"/>
          </a:solidFill>
          <a:ln w="6985">
            <a:solidFill>
              <a:srgbClr val="202020"/>
            </a:solidFill>
            <a:prstDash val="solid"/>
          </a:ln>
        </p:spPr>
      </p:sp>
      <p:sp>
        <p:nvSpPr>
          <p:cNvPr id="59" name="Text 56"/>
          <p:cNvSpPr/>
          <p:nvPr/>
        </p:nvSpPr>
        <p:spPr>
          <a:xfrm>
            <a:off x="492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0" name="Shape 57"/>
          <p:cNvSpPr/>
          <p:nvPr/>
        </p:nvSpPr>
        <p:spPr>
          <a:xfrm>
            <a:off x="5580000" y="3654000"/>
            <a:ext cx="720000" cy="576000"/>
          </a:xfrm>
          <a:prstGeom prst="rect">
            <a:avLst/>
          </a:prstGeom>
          <a:solidFill>
            <a:srgbClr val="C4EDCB"/>
          </a:solidFill>
          <a:ln w="6985">
            <a:solidFill>
              <a:srgbClr val="202020"/>
            </a:solidFill>
            <a:prstDash val="solid"/>
          </a:ln>
        </p:spPr>
      </p:sp>
      <p:sp>
        <p:nvSpPr>
          <p:cNvPr id="61" name="Text 58"/>
          <p:cNvSpPr/>
          <p:nvPr/>
        </p:nvSpPr>
        <p:spPr>
          <a:xfrm>
            <a:off x="564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2" name="Shape 59"/>
          <p:cNvSpPr/>
          <p:nvPr/>
        </p:nvSpPr>
        <p:spPr>
          <a:xfrm>
            <a:off x="6300000" y="3654000"/>
            <a:ext cx="720000" cy="576000"/>
          </a:xfrm>
          <a:prstGeom prst="rect">
            <a:avLst/>
          </a:prstGeom>
          <a:solidFill>
            <a:srgbClr val="C4EDCB"/>
          </a:solidFill>
          <a:ln w="6985">
            <a:solidFill>
              <a:srgbClr val="202020"/>
            </a:solidFill>
            <a:prstDash val="solid"/>
          </a:ln>
        </p:spPr>
      </p:sp>
      <p:sp>
        <p:nvSpPr>
          <p:cNvPr id="63" name="Text 60"/>
          <p:cNvSpPr/>
          <p:nvPr/>
        </p:nvSpPr>
        <p:spPr>
          <a:xfrm>
            <a:off x="6361200" y="3693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64" name="Shape 61"/>
          <p:cNvSpPr/>
          <p:nvPr/>
        </p:nvSpPr>
        <p:spPr>
          <a:xfrm>
            <a:off x="540000" y="4230000"/>
            <a:ext cx="684000" cy="576000"/>
          </a:xfrm>
          <a:prstGeom prst="rect">
            <a:avLst/>
          </a:prstGeom>
          <a:solidFill>
            <a:srgbClr val="00BE84"/>
          </a:solidFill>
          <a:ln w="6985">
            <a:solidFill>
              <a:srgbClr val="202020"/>
            </a:solidFill>
            <a:prstDash val="solid"/>
          </a:ln>
        </p:spPr>
      </p:sp>
      <p:sp>
        <p:nvSpPr>
          <p:cNvPr id="65" name="Text 62"/>
          <p:cNvSpPr/>
          <p:nvPr/>
        </p:nvSpPr>
        <p:spPr>
          <a:xfrm>
            <a:off x="601200" y="4269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66" name="Shape 63"/>
          <p:cNvSpPr/>
          <p:nvPr/>
        </p:nvSpPr>
        <p:spPr>
          <a:xfrm>
            <a:off x="1224000" y="4230000"/>
            <a:ext cx="720000" cy="576000"/>
          </a:xfrm>
          <a:prstGeom prst="rect">
            <a:avLst/>
          </a:prstGeom>
          <a:solidFill>
            <a:srgbClr val="C4EDCB"/>
          </a:solidFill>
          <a:ln w="6985">
            <a:solidFill>
              <a:srgbClr val="202020"/>
            </a:solidFill>
            <a:prstDash val="solid"/>
          </a:ln>
        </p:spPr>
      </p:sp>
      <p:sp>
        <p:nvSpPr>
          <p:cNvPr id="67" name="Text 64"/>
          <p:cNvSpPr/>
          <p:nvPr/>
        </p:nvSpPr>
        <p:spPr>
          <a:xfrm>
            <a:off x="1285200" y="4269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4</a:t>
            </a:r>
            <a:endParaRPr lang="en-US" sz="950" dirty="0"/>
          </a:p>
        </p:txBody>
      </p:sp>
      <p:sp>
        <p:nvSpPr>
          <p:cNvPr id="68" name="Shape 65"/>
          <p:cNvSpPr/>
          <p:nvPr/>
        </p:nvSpPr>
        <p:spPr>
          <a:xfrm>
            <a:off x="1944000" y="4230000"/>
            <a:ext cx="2160000" cy="576000"/>
          </a:xfrm>
          <a:prstGeom prst="rect">
            <a:avLst/>
          </a:prstGeom>
          <a:solidFill>
            <a:srgbClr val="C4EDCB"/>
          </a:solidFill>
          <a:ln w="6985">
            <a:solidFill>
              <a:srgbClr val="202020"/>
            </a:solidFill>
            <a:prstDash val="solid"/>
          </a:ln>
        </p:spPr>
      </p:sp>
      <p:sp>
        <p:nvSpPr>
          <p:cNvPr id="69" name="Text 66"/>
          <p:cNvSpPr/>
          <p:nvPr/>
        </p:nvSpPr>
        <p:spPr>
          <a:xfrm>
            <a:off x="2005200" y="4269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Entretien et remise en état d’une menuiserie commune.</a:t>
            </a:r>
            <a:endParaRPr lang="en-US" sz="950" dirty="0"/>
          </a:p>
        </p:txBody>
      </p:sp>
      <p:sp>
        <p:nvSpPr>
          <p:cNvPr id="70" name="Shape 67"/>
          <p:cNvSpPr/>
          <p:nvPr/>
        </p:nvSpPr>
        <p:spPr>
          <a:xfrm>
            <a:off x="4104000" y="4230000"/>
            <a:ext cx="756000" cy="576000"/>
          </a:xfrm>
          <a:prstGeom prst="rect">
            <a:avLst/>
          </a:prstGeom>
          <a:solidFill>
            <a:srgbClr val="C4EDCB"/>
          </a:solidFill>
          <a:ln w="6985">
            <a:solidFill>
              <a:srgbClr val="202020"/>
            </a:solidFill>
            <a:prstDash val="solid"/>
          </a:ln>
        </p:spPr>
      </p:sp>
      <p:sp>
        <p:nvSpPr>
          <p:cNvPr id="71" name="Text 68"/>
          <p:cNvSpPr/>
          <p:nvPr/>
        </p:nvSpPr>
        <p:spPr>
          <a:xfrm>
            <a:off x="4165200" y="4269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1 750 €</a:t>
            </a:r>
            <a:endParaRPr lang="en-US" sz="950" dirty="0"/>
          </a:p>
        </p:txBody>
      </p:sp>
      <p:sp>
        <p:nvSpPr>
          <p:cNvPr id="72" name="Shape 69"/>
          <p:cNvSpPr/>
          <p:nvPr/>
        </p:nvSpPr>
        <p:spPr>
          <a:xfrm>
            <a:off x="4860000" y="4230000"/>
            <a:ext cx="720000" cy="576000"/>
          </a:xfrm>
          <a:prstGeom prst="rect">
            <a:avLst/>
          </a:prstGeom>
          <a:solidFill>
            <a:srgbClr val="C4EDCB"/>
          </a:solidFill>
          <a:ln w="6985">
            <a:solidFill>
              <a:srgbClr val="202020"/>
            </a:solidFill>
            <a:prstDash val="solid"/>
          </a:ln>
        </p:spPr>
      </p:sp>
      <p:sp>
        <p:nvSpPr>
          <p:cNvPr id="73" name="Text 70"/>
          <p:cNvSpPr/>
          <p:nvPr/>
        </p:nvSpPr>
        <p:spPr>
          <a:xfrm>
            <a:off x="4921200" y="4269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74" name="Shape 71"/>
          <p:cNvSpPr/>
          <p:nvPr/>
        </p:nvSpPr>
        <p:spPr>
          <a:xfrm>
            <a:off x="5580000" y="4230000"/>
            <a:ext cx="720000" cy="576000"/>
          </a:xfrm>
          <a:prstGeom prst="rect">
            <a:avLst/>
          </a:prstGeom>
          <a:solidFill>
            <a:srgbClr val="C4EDCB"/>
          </a:solidFill>
          <a:ln w="6985">
            <a:solidFill>
              <a:srgbClr val="202020"/>
            </a:solidFill>
            <a:prstDash val="solid"/>
          </a:ln>
        </p:spPr>
      </p:sp>
      <p:sp>
        <p:nvSpPr>
          <p:cNvPr id="75" name="Text 72"/>
          <p:cNvSpPr/>
          <p:nvPr/>
        </p:nvSpPr>
        <p:spPr>
          <a:xfrm>
            <a:off x="5641200" y="4269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76" name="Shape 73"/>
          <p:cNvSpPr/>
          <p:nvPr/>
        </p:nvSpPr>
        <p:spPr>
          <a:xfrm>
            <a:off x="6300000" y="4230000"/>
            <a:ext cx="720000" cy="576000"/>
          </a:xfrm>
          <a:prstGeom prst="rect">
            <a:avLst/>
          </a:prstGeom>
          <a:solidFill>
            <a:srgbClr val="C4EDCB"/>
          </a:solidFill>
          <a:ln w="6985">
            <a:solidFill>
              <a:srgbClr val="202020"/>
            </a:solidFill>
            <a:prstDash val="solid"/>
          </a:ln>
        </p:spPr>
      </p:sp>
      <p:sp>
        <p:nvSpPr>
          <p:cNvPr id="77" name="Text 74"/>
          <p:cNvSpPr/>
          <p:nvPr/>
        </p:nvSpPr>
        <p:spPr>
          <a:xfrm>
            <a:off x="6361200" y="4269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78" name="Shape 75"/>
          <p:cNvSpPr/>
          <p:nvPr/>
        </p:nvSpPr>
        <p:spPr>
          <a:xfrm>
            <a:off x="1224000" y="4806000"/>
            <a:ext cx="3636000" cy="432000"/>
          </a:xfrm>
          <a:prstGeom prst="rect">
            <a:avLst/>
          </a:prstGeom>
          <a:solidFill>
            <a:srgbClr val="D9EAF7"/>
          </a:solidFill>
          <a:ln w="6985">
            <a:solidFill>
              <a:srgbClr val="202020"/>
            </a:solidFill>
            <a:prstDash val="solid"/>
          </a:ln>
        </p:spPr>
      </p:sp>
      <p:sp>
        <p:nvSpPr>
          <p:cNvPr id="79" name="Text 76"/>
          <p:cNvSpPr/>
          <p:nvPr/>
        </p:nvSpPr>
        <p:spPr>
          <a:xfrm>
            <a:off x="1285200" y="4845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80" name="Shape 77"/>
          <p:cNvSpPr/>
          <p:nvPr/>
        </p:nvSpPr>
        <p:spPr>
          <a:xfrm>
            <a:off x="4860000" y="4806000"/>
            <a:ext cx="720000" cy="432000"/>
          </a:xfrm>
          <a:prstGeom prst="rect">
            <a:avLst/>
          </a:prstGeom>
          <a:solidFill>
            <a:srgbClr val="D9EAF7"/>
          </a:solidFill>
          <a:ln w="6985">
            <a:solidFill>
              <a:srgbClr val="202020"/>
            </a:solidFill>
            <a:prstDash val="solid"/>
          </a:ln>
        </p:spPr>
      </p:sp>
      <p:sp>
        <p:nvSpPr>
          <p:cNvPr id="81" name="Text 78"/>
          <p:cNvSpPr/>
          <p:nvPr/>
        </p:nvSpPr>
        <p:spPr>
          <a:xfrm>
            <a:off x="4921200" y="4845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2 400 €</a:t>
            </a:r>
            <a:endParaRPr lang="en-US" sz="900" dirty="0"/>
          </a:p>
        </p:txBody>
      </p:sp>
      <p:sp>
        <p:nvSpPr>
          <p:cNvPr id="82" name="Shape 79"/>
          <p:cNvSpPr/>
          <p:nvPr/>
        </p:nvSpPr>
        <p:spPr>
          <a:xfrm>
            <a:off x="5580000" y="4806000"/>
            <a:ext cx="720000" cy="432000"/>
          </a:xfrm>
          <a:prstGeom prst="rect">
            <a:avLst/>
          </a:prstGeom>
          <a:solidFill>
            <a:srgbClr val="D9EAF7"/>
          </a:solidFill>
          <a:ln w="6985">
            <a:solidFill>
              <a:srgbClr val="202020"/>
            </a:solidFill>
            <a:prstDash val="solid"/>
          </a:ln>
        </p:spPr>
      </p:sp>
      <p:sp>
        <p:nvSpPr>
          <p:cNvPr id="83" name="Text 80"/>
          <p:cNvSpPr/>
          <p:nvPr/>
        </p:nvSpPr>
        <p:spPr>
          <a:xfrm>
            <a:off x="564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4" name="Shape 81"/>
          <p:cNvSpPr/>
          <p:nvPr/>
        </p:nvSpPr>
        <p:spPr>
          <a:xfrm>
            <a:off x="6300000" y="4806000"/>
            <a:ext cx="720000" cy="432000"/>
          </a:xfrm>
          <a:prstGeom prst="rect">
            <a:avLst/>
          </a:prstGeom>
          <a:solidFill>
            <a:srgbClr val="D9EAF7"/>
          </a:solidFill>
          <a:ln w="6985">
            <a:solidFill>
              <a:srgbClr val="202020"/>
            </a:solidFill>
            <a:prstDash val="solid"/>
          </a:ln>
        </p:spPr>
      </p:sp>
      <p:sp>
        <p:nvSpPr>
          <p:cNvPr id="85" name="Text 82"/>
          <p:cNvSpPr/>
          <p:nvPr/>
        </p:nvSpPr>
        <p:spPr>
          <a:xfrm>
            <a:off x="636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6" name="Shape 83"/>
          <p:cNvSpPr/>
          <p:nvPr/>
        </p:nvSpPr>
        <p:spPr>
          <a:xfrm>
            <a:off x="1224000" y="5238000"/>
            <a:ext cx="3636000" cy="432000"/>
          </a:xfrm>
          <a:prstGeom prst="rect">
            <a:avLst/>
          </a:prstGeom>
          <a:solidFill>
            <a:srgbClr val="D9EAF7"/>
          </a:solidFill>
          <a:ln w="6985">
            <a:solidFill>
              <a:srgbClr val="202020"/>
            </a:solidFill>
            <a:prstDash val="solid"/>
          </a:ln>
        </p:spPr>
      </p:sp>
      <p:sp>
        <p:nvSpPr>
          <p:cNvPr id="87" name="Text 84"/>
          <p:cNvSpPr/>
          <p:nvPr/>
        </p:nvSpPr>
        <p:spPr>
          <a:xfrm>
            <a:off x="1285200" y="5277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88" name="Shape 85"/>
          <p:cNvSpPr/>
          <p:nvPr/>
        </p:nvSpPr>
        <p:spPr>
          <a:xfrm>
            <a:off x="4860000" y="5238000"/>
            <a:ext cx="720000" cy="432000"/>
          </a:xfrm>
          <a:prstGeom prst="rect">
            <a:avLst/>
          </a:prstGeom>
          <a:solidFill>
            <a:srgbClr val="D9EAF7"/>
          </a:solidFill>
          <a:ln w="6985">
            <a:solidFill>
              <a:srgbClr val="202020"/>
            </a:solidFill>
            <a:prstDash val="solid"/>
          </a:ln>
        </p:spPr>
      </p:sp>
      <p:sp>
        <p:nvSpPr>
          <p:cNvPr id="89" name="Text 86"/>
          <p:cNvSpPr/>
          <p:nvPr/>
        </p:nvSpPr>
        <p:spPr>
          <a:xfrm>
            <a:off x="492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0" name="Shape 87"/>
          <p:cNvSpPr/>
          <p:nvPr/>
        </p:nvSpPr>
        <p:spPr>
          <a:xfrm>
            <a:off x="5580000" y="5238000"/>
            <a:ext cx="720000" cy="432000"/>
          </a:xfrm>
          <a:prstGeom prst="rect">
            <a:avLst/>
          </a:prstGeom>
          <a:solidFill>
            <a:srgbClr val="D9EAF7"/>
          </a:solidFill>
          <a:ln w="6985">
            <a:solidFill>
              <a:srgbClr val="202020"/>
            </a:solidFill>
            <a:prstDash val="solid"/>
          </a:ln>
        </p:spPr>
      </p:sp>
      <p:sp>
        <p:nvSpPr>
          <p:cNvPr id="91" name="Text 88"/>
          <p:cNvSpPr/>
          <p:nvPr/>
        </p:nvSpPr>
        <p:spPr>
          <a:xfrm>
            <a:off x="5641200" y="5277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92" name="Shape 89"/>
          <p:cNvSpPr/>
          <p:nvPr/>
        </p:nvSpPr>
        <p:spPr>
          <a:xfrm>
            <a:off x="6300000" y="5238000"/>
            <a:ext cx="720000" cy="432000"/>
          </a:xfrm>
          <a:prstGeom prst="rect">
            <a:avLst/>
          </a:prstGeom>
          <a:solidFill>
            <a:srgbClr val="D9EAF7"/>
          </a:solidFill>
          <a:ln w="6985">
            <a:solidFill>
              <a:srgbClr val="202020"/>
            </a:solidFill>
            <a:prstDash val="solid"/>
          </a:ln>
        </p:spPr>
      </p:sp>
      <p:sp>
        <p:nvSpPr>
          <p:cNvPr id="93" name="Text 90"/>
          <p:cNvSpPr/>
          <p:nvPr/>
        </p:nvSpPr>
        <p:spPr>
          <a:xfrm>
            <a:off x="636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4" name="Shape 91"/>
          <p:cNvSpPr/>
          <p:nvPr/>
        </p:nvSpPr>
        <p:spPr>
          <a:xfrm>
            <a:off x="1224000" y="5670000"/>
            <a:ext cx="3636000" cy="432000"/>
          </a:xfrm>
          <a:prstGeom prst="rect">
            <a:avLst/>
          </a:prstGeom>
          <a:solidFill>
            <a:srgbClr val="D9EAF7"/>
          </a:solidFill>
          <a:ln w="6985">
            <a:solidFill>
              <a:srgbClr val="202020"/>
            </a:solidFill>
            <a:prstDash val="solid"/>
          </a:ln>
        </p:spPr>
      </p:sp>
      <p:sp>
        <p:nvSpPr>
          <p:cNvPr id="95" name="Text 92"/>
          <p:cNvSpPr/>
          <p:nvPr/>
        </p:nvSpPr>
        <p:spPr>
          <a:xfrm>
            <a:off x="1285200" y="5709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96" name="Shape 93"/>
          <p:cNvSpPr/>
          <p:nvPr/>
        </p:nvSpPr>
        <p:spPr>
          <a:xfrm>
            <a:off x="4860000" y="5670000"/>
            <a:ext cx="720000" cy="432000"/>
          </a:xfrm>
          <a:prstGeom prst="rect">
            <a:avLst/>
          </a:prstGeom>
          <a:solidFill>
            <a:srgbClr val="D9EAF7"/>
          </a:solidFill>
          <a:ln w="6985">
            <a:solidFill>
              <a:srgbClr val="202020"/>
            </a:solidFill>
            <a:prstDash val="solid"/>
          </a:ln>
        </p:spPr>
      </p:sp>
      <p:sp>
        <p:nvSpPr>
          <p:cNvPr id="97" name="Text 94"/>
          <p:cNvSpPr/>
          <p:nvPr/>
        </p:nvSpPr>
        <p:spPr>
          <a:xfrm>
            <a:off x="492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8" name="Shape 95"/>
          <p:cNvSpPr/>
          <p:nvPr/>
        </p:nvSpPr>
        <p:spPr>
          <a:xfrm>
            <a:off x="5580000" y="5670000"/>
            <a:ext cx="720000" cy="432000"/>
          </a:xfrm>
          <a:prstGeom prst="rect">
            <a:avLst/>
          </a:prstGeom>
          <a:solidFill>
            <a:srgbClr val="D9EAF7"/>
          </a:solidFill>
          <a:ln w="6985">
            <a:solidFill>
              <a:srgbClr val="202020"/>
            </a:solidFill>
            <a:prstDash val="solid"/>
          </a:ln>
        </p:spPr>
      </p:sp>
      <p:sp>
        <p:nvSpPr>
          <p:cNvPr id="99" name="Text 96"/>
          <p:cNvSpPr/>
          <p:nvPr/>
        </p:nvSpPr>
        <p:spPr>
          <a:xfrm>
            <a:off x="564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100" name="Shape 97"/>
          <p:cNvSpPr/>
          <p:nvPr/>
        </p:nvSpPr>
        <p:spPr>
          <a:xfrm>
            <a:off x="6300000" y="5670000"/>
            <a:ext cx="720000" cy="432000"/>
          </a:xfrm>
          <a:prstGeom prst="rect">
            <a:avLst/>
          </a:prstGeom>
          <a:solidFill>
            <a:srgbClr val="D9EAF7"/>
          </a:solidFill>
          <a:ln w="6985">
            <a:solidFill>
              <a:srgbClr val="202020"/>
            </a:solidFill>
            <a:prstDash val="solid"/>
          </a:ln>
        </p:spPr>
      </p:sp>
      <p:sp>
        <p:nvSpPr>
          <p:cNvPr id="101" name="Text 98"/>
          <p:cNvSpPr/>
          <p:nvPr/>
        </p:nvSpPr>
        <p:spPr>
          <a:xfrm>
            <a:off x="6361200" y="5709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6 250 €</a:t>
            </a:r>
            <a:endParaRPr lang="en-US" sz="900" dirty="0"/>
          </a:p>
        </p:txBody>
      </p:sp>
      <p:sp>
        <p:nvSpPr>
          <p:cNvPr id="102" name="Shape 99"/>
          <p:cNvSpPr/>
          <p:nvPr/>
        </p:nvSpPr>
        <p:spPr>
          <a:xfrm>
            <a:off x="1224000" y="6102000"/>
            <a:ext cx="3636000" cy="396000"/>
          </a:xfrm>
          <a:prstGeom prst="rect">
            <a:avLst/>
          </a:prstGeom>
          <a:solidFill>
            <a:srgbClr val="D9EAF7"/>
          </a:solidFill>
          <a:ln w="6985">
            <a:solidFill>
              <a:srgbClr val="202020"/>
            </a:solidFill>
            <a:prstDash val="solid"/>
          </a:ln>
        </p:spPr>
      </p:sp>
      <p:sp>
        <p:nvSpPr>
          <p:cNvPr id="103" name="Text 100"/>
          <p:cNvSpPr/>
          <p:nvPr/>
        </p:nvSpPr>
        <p:spPr>
          <a:xfrm>
            <a:off x="1285200" y="6141600"/>
            <a:ext cx="3513600" cy="31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104" name="Shape 101"/>
          <p:cNvSpPr/>
          <p:nvPr/>
        </p:nvSpPr>
        <p:spPr>
          <a:xfrm>
            <a:off x="4860000" y="6102000"/>
            <a:ext cx="2160000" cy="396000"/>
          </a:xfrm>
          <a:prstGeom prst="rect">
            <a:avLst/>
          </a:prstGeom>
          <a:solidFill>
            <a:srgbClr val="D9EAF7"/>
          </a:solidFill>
          <a:ln w="6985">
            <a:solidFill>
              <a:srgbClr val="202020"/>
            </a:solidFill>
            <a:prstDash val="solid"/>
          </a:ln>
        </p:spPr>
      </p:sp>
      <p:sp>
        <p:nvSpPr>
          <p:cNvPr id="105" name="Text 102"/>
          <p:cNvSpPr/>
          <p:nvPr/>
        </p:nvSpPr>
        <p:spPr>
          <a:xfrm>
            <a:off x="4921200" y="6141600"/>
            <a:ext cx="2037600" cy="31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8 650 €</a:t>
            </a:r>
            <a:endParaRPr lang="en-US" sz="900" dirty="0"/>
          </a:p>
        </p:txBody>
      </p:sp>
      <p:sp>
        <p:nvSpPr>
          <p:cNvPr id="106" name="Text 103"/>
          <p:cNvSpPr/>
          <p:nvPr/>
        </p:nvSpPr>
        <p:spPr>
          <a:xfrm>
            <a:off x="540000" y="6570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38680"/>
          </a:xfrm>
          <a:prstGeom prst="rect">
            <a:avLst/>
          </a:prstGeom>
          <a:noFill/>
          <a:ln/>
        </p:spPr>
        <p:txBody>
          <a:bodyPr wrap="square" lIns="0" tIns="0" rIns="0" bIns="0" rtlCol="0" anchor="t"/>
          <a:lstStyle/>
          <a:p>
            <a:pPr algn="l" indent="0" marL="0">
              <a:buNone/>
            </a:pPr>
            <a:r>
              <a:rPr lang="en-US" sz="1050" b="1" dirty="0">
                <a:solidFill>
                  <a:srgbClr val="1C1C1C"/>
                </a:solidFill>
                <a:latin typeface="Aptos" pitchFamily="34" charset="0"/>
                <a:ea typeface="Aptos" pitchFamily="34" charset="-122"/>
                <a:cs typeface="Aptos" pitchFamily="34" charset="-120"/>
              </a:rPr>
              <a:t>Programmation des travaux énergétiques</a:t>
            </a:r>
            <a:endParaRPr lang="en-US" sz="1050" dirty="0"/>
          </a:p>
        </p:txBody>
      </p:sp>
      <p:sp>
        <p:nvSpPr>
          <p:cNvPr id="47" name="Text 44"/>
          <p:cNvSpPr/>
          <p:nvPr/>
        </p:nvSpPr>
        <p:spPr>
          <a:xfrm>
            <a:off x="648000" y="779868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000" dirty="0"/>
          </a:p>
        </p:txBody>
      </p:sp>
      <p:sp>
        <p:nvSpPr>
          <p:cNvPr id="48" name="Text 45"/>
          <p:cNvSpPr/>
          <p:nvPr/>
        </p:nvSpPr>
        <p:spPr>
          <a:xfrm>
            <a:off x="648000" y="84538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000" dirty="0"/>
          </a:p>
        </p:txBody>
      </p:sp>
      <p:sp>
        <p:nvSpPr>
          <p:cNvPr id="49" name="Text 46"/>
          <p:cNvSpPr/>
          <p:nvPr/>
        </p:nvSpPr>
        <p:spPr>
          <a:xfrm>
            <a:off x="648000" y="92746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000" dirty="0"/>
          </a:p>
        </p:txBody>
      </p:sp>
      <p:sp>
        <p:nvSpPr>
          <p:cNvPr id="9" name="Text 6"/>
          <p:cNvSpPr/>
          <p:nvPr/>
        </p:nvSpPr>
        <p:spPr>
          <a:xfrm>
            <a:off x="648000" y="241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L’analyse réalisée a conduit à l’identification de 4 fiches curatives, réparties selon différents niveaux de priorité. Parmi celles-ci, 2 curatifs de niveau 1, représentant 50 % du total des actions préconisées, concernent des interventions à engager à court terme afin de traiter les désordres les plus sensibles ou d’éviter une dégradation accélérée des ouvrages et équipements.</a:t>
            </a:r>
            <a:endParaRPr lang="en-US" sz="1000" dirty="0"/>
          </a:p>
        </p:txBody>
      </p:sp>
      <p:sp>
        <p:nvSpPr>
          <p:cNvPr id="10" name="Text 7"/>
          <p:cNvSpPr/>
          <p:nvPr/>
        </p:nvSpPr>
        <p:spPr>
          <a:xfrm>
            <a:off x="648000" y="3250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1000" dirty="0"/>
          </a:p>
        </p:txBody>
      </p:sp>
      <p:sp>
        <p:nvSpPr>
          <p:cNvPr id="11" name="Text 8"/>
          <p:cNvSpPr/>
          <p:nvPr/>
        </p:nvSpPr>
        <p:spPr>
          <a:xfrm>
            <a:off x="648000" y="39204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Enfin, 2 curatifs de niveau 3, représentant 50 % des préconisations, correspondent principalement à des travaux d’entretien, d’amélioration ou de renouvellement à plus long terme destinés à préserver durablement les performances et l’aspect général de l’immeuble.</a:t>
            </a:r>
            <a:endParaRPr lang="en-US" sz="1000" dirty="0"/>
          </a:p>
        </p:txBody>
      </p:sp>
      <p:sp>
        <p:nvSpPr>
          <p:cNvPr id="12" name="Text 9"/>
          <p:cNvSpPr/>
          <p:nvPr/>
        </p:nvSpPr>
        <p:spPr>
          <a:xfrm>
            <a:off x="648000" y="45900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000" dirty="0"/>
          </a:p>
        </p:txBody>
      </p:sp>
      <p:sp>
        <p:nvSpPr>
          <p:cNvPr id="13" name="Text 10"/>
          <p:cNvSpPr/>
          <p:nvPr/>
        </p:nvSpPr>
        <p:spPr>
          <a:xfrm>
            <a:off x="648000" y="55908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000" dirty="0"/>
          </a:p>
        </p:txBody>
      </p:sp>
      <p:sp>
        <p:nvSpPr>
          <p:cNvPr id="14" name="Text 11"/>
          <p:cNvSpPr/>
          <p:nvPr/>
        </p:nvSpPr>
        <p:spPr>
          <a:xfrm>
            <a:off x="648000" y="659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000" dirty="0"/>
          </a:p>
        </p:txBody>
      </p:sp>
      <p:sp>
        <p:nvSpPr>
          <p:cNvPr id="15" name="Text 12"/>
          <p:cNvSpPr/>
          <p:nvPr/>
        </p:nvSpPr>
        <p:spPr>
          <a:xfrm>
            <a:off x="648000" y="7426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480680"/>
          </a:xfrm>
          <a:prstGeom prst="rect">
            <a:avLst/>
          </a:prstGeom>
          <a:noFill/>
          <a:ln/>
        </p:spPr>
        <p:txBody>
          <a:bodyPr wrap="square" lIns="0" tIns="0" rIns="0" bIns="0" rtlCol="0" anchor="t"/>
          <a:lstStyle/>
          <a:p>
            <a:pPr algn="just" indent="0" marL="0">
              <a:buNone/>
            </a:pPr>
            <a:r>
              <a:rPr lang="en-US" sz="95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50" dirty="0"/>
          </a:p>
          <a:p>
            <a:pPr algn="just" indent="0" marL="0">
              <a:buNone/>
            </a:pPr>
            <a:endParaRPr lang="en-US" sz="950" dirty="0"/>
          </a:p>
          <a:p>
            <a:pPr algn="just" indent="0" marL="0">
              <a:buNone/>
            </a:pPr>
            <a:r>
              <a:rPr lang="en-US" sz="95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50" dirty="0"/>
          </a:p>
        </p:txBody>
      </p:sp>
      <p:pic>
        <p:nvPicPr>
          <p:cNvPr id="9" name="Image 1" descr="Logo MaPrimeRénov’ Copropriétés">    </p:cNvPr>
          <p:cNvPicPr>
            <a:picLocks noChangeAspect="1"/>
          </p:cNvPicPr>
          <p:nvPr/>
        </p:nvPicPr>
        <p:blipFill>
          <a:blip r:embed="rId2"/>
          <a:srcRect l="0" r="0" t="0" b="0"/>
          <a:stretch/>
        </p:blipFill>
        <p:spPr>
          <a:xfrm>
            <a:off x="4428000" y="1836000"/>
            <a:ext cx="2484000" cy="1080000"/>
          </a:xfrm>
          <a:prstGeom prst="rect">
            <a:avLst/>
          </a:prstGeom>
        </p:spPr>
      </p:pic>
      <p:sp>
        <p:nvSpPr>
          <p:cNvPr id="10"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1"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3"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4"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5"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6"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7"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8"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9"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20"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1"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2"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3"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4"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5"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6"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7"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8"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9"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30"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1"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2"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3"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4"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5"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6"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7"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8"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9"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40"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1"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2"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3"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4"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5"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6"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7"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8"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9"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50"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1"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2"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3"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4"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5"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6"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7" name="Text 53"/>
          <p:cNvSpPr/>
          <p:nvPr/>
        </p:nvSpPr>
        <p:spPr>
          <a:xfrm>
            <a:off x="2653200" y="7059600"/>
            <a:ext cx="849600" cy="532800"/>
          </a:xfrm>
          <a:prstGeom prst="rect">
            <a:avLst/>
          </a:prstGeom>
          <a:noFill/>
          <a:ln/>
        </p:spPr>
        <p:txBody>
          <a:bodyPr wrap="square" lIns="0" tIns="0" rIns="0" bIns="0" rtlCol="0" anchor="ctr"/>
          <a:lstStyle/>
          <a:p>
            <a:pPr algn="ctr" indent="0" marL="0">
              <a:buNone/>
            </a:pPr>
            <a:endParaRPr lang="en-US" sz="770" dirty="0"/>
          </a:p>
        </p:txBody>
      </p:sp>
      <p:sp>
        <p:nvSpPr>
          <p:cNvPr id="58"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9"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60"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1" name="Text 57"/>
          <p:cNvSpPr/>
          <p:nvPr/>
        </p:nvSpPr>
        <p:spPr>
          <a:xfrm>
            <a:off x="4669200" y="7059600"/>
            <a:ext cx="957600" cy="532800"/>
          </a:xfrm>
          <a:prstGeom prst="rect">
            <a:avLst/>
          </a:prstGeom>
          <a:noFill/>
          <a:ln/>
        </p:spPr>
        <p:txBody>
          <a:bodyPr wrap="square" lIns="0" tIns="0" rIns="0" bIns="0" rtlCol="0" anchor="ctr"/>
          <a:lstStyle/>
          <a:p>
            <a:pPr algn="ctr" indent="0" marL="0">
              <a:buNone/>
            </a:pPr>
            <a:endParaRPr lang="en-US" sz="770" dirty="0"/>
          </a:p>
        </p:txBody>
      </p:sp>
      <p:sp>
        <p:nvSpPr>
          <p:cNvPr id="62"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3" name="Text 59"/>
          <p:cNvSpPr/>
          <p:nvPr/>
        </p:nvSpPr>
        <p:spPr>
          <a:xfrm>
            <a:off x="5749200" y="7059600"/>
            <a:ext cx="1101600" cy="532800"/>
          </a:xfrm>
          <a:prstGeom prst="rect">
            <a:avLst/>
          </a:prstGeom>
          <a:noFill/>
          <a:ln/>
        </p:spPr>
        <p:txBody>
          <a:bodyPr wrap="square" lIns="0" tIns="0" rIns="0" bIns="0" rtlCol="0" anchor="ctr"/>
          <a:lstStyle/>
          <a:p>
            <a:pPr algn="ctr" indent="0" marL="0">
              <a:buNone/>
            </a:pPr>
            <a:endParaRPr lang="en-US" sz="770" dirty="0"/>
          </a:p>
        </p:txBody>
      </p:sp>
      <p:sp>
        <p:nvSpPr>
          <p:cNvPr id="64" name="Shape 60"/>
          <p:cNvSpPr/>
          <p:nvPr/>
        </p:nvSpPr>
        <p:spPr>
          <a:xfrm>
            <a:off x="2415600" y="7063200"/>
            <a:ext cx="115200" cy="115200"/>
          </a:xfrm>
          <a:prstGeom prst="ellipse">
            <a:avLst/>
          </a:prstGeom>
          <a:solidFill>
            <a:srgbClr val="FFFFFF"/>
          </a:solidFill>
          <a:ln w="13970">
            <a:solidFill>
              <a:srgbClr val="FFC700"/>
            </a:solidFill>
            <a:prstDash val="solid"/>
          </a:ln>
        </p:spPr>
      </p:sp>
      <p:sp>
        <p:nvSpPr>
          <p:cNvPr id="65" name="Text 61"/>
          <p:cNvSpPr/>
          <p:nvPr/>
        </p:nvSpPr>
        <p:spPr>
          <a:xfrm>
            <a:off x="2428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66" name="Shape 62"/>
          <p:cNvSpPr/>
          <p:nvPr/>
        </p:nvSpPr>
        <p:spPr>
          <a:xfrm>
            <a:off x="3387600" y="7063200"/>
            <a:ext cx="115200" cy="115200"/>
          </a:xfrm>
          <a:prstGeom prst="ellipse">
            <a:avLst/>
          </a:prstGeom>
          <a:solidFill>
            <a:srgbClr val="FFFFFF"/>
          </a:solidFill>
          <a:ln w="13970">
            <a:solidFill>
              <a:srgbClr val="00B55A"/>
            </a:solidFill>
            <a:prstDash val="solid"/>
          </a:ln>
        </p:spPr>
      </p:sp>
      <p:sp>
        <p:nvSpPr>
          <p:cNvPr id="67" name="Text 63"/>
          <p:cNvSpPr/>
          <p:nvPr/>
        </p:nvSpPr>
        <p:spPr>
          <a:xfrm>
            <a:off x="3400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68" name="Shape 64"/>
          <p:cNvSpPr/>
          <p:nvPr/>
        </p:nvSpPr>
        <p:spPr>
          <a:xfrm>
            <a:off x="4431600" y="7063200"/>
            <a:ext cx="115200" cy="115200"/>
          </a:xfrm>
          <a:prstGeom prst="ellipse">
            <a:avLst/>
          </a:prstGeom>
          <a:solidFill>
            <a:srgbClr val="FFFFFF"/>
          </a:solidFill>
          <a:ln w="13970">
            <a:solidFill>
              <a:srgbClr val="2442F5"/>
            </a:solidFill>
            <a:prstDash val="solid"/>
          </a:ln>
        </p:spPr>
      </p:sp>
      <p:sp>
        <p:nvSpPr>
          <p:cNvPr id="69" name="Text 65"/>
          <p:cNvSpPr/>
          <p:nvPr/>
        </p:nvSpPr>
        <p:spPr>
          <a:xfrm>
            <a:off x="4444200" y="7072200"/>
            <a:ext cx="90000" cy="90000"/>
          </a:xfrm>
          <a:prstGeom prst="rect">
            <a:avLst/>
          </a:prstGeom>
          <a:noFill/>
          <a:ln/>
        </p:spPr>
        <p:txBody>
          <a:bodyPr wrap="square" lIns="0" tIns="0" rIns="0" bIns="0" rtlCol="0" anchor="ctr"/>
          <a:lstStyle/>
          <a:p>
            <a:pPr algn="ctr" indent="0" marL="0">
              <a:buNone/>
            </a:pPr>
            <a:r>
              <a:rPr lang="en-US" sz="550" b="1" dirty="0">
                <a:solidFill>
                  <a:srgbClr val="2442F5"/>
                </a:solidFill>
                <a:latin typeface="Aptos" pitchFamily="34" charset="0"/>
                <a:ea typeface="Aptos" pitchFamily="34" charset="-122"/>
                <a:cs typeface="Aptos" pitchFamily="34" charset="-120"/>
              </a:rPr>
              <a:t>✓</a:t>
            </a:r>
            <a:endParaRPr lang="en-US" sz="550" dirty="0"/>
          </a:p>
        </p:txBody>
      </p:sp>
      <p:sp>
        <p:nvSpPr>
          <p:cNvPr id="70" name="Shape 66"/>
          <p:cNvSpPr/>
          <p:nvPr/>
        </p:nvSpPr>
        <p:spPr>
          <a:xfrm>
            <a:off x="5511600" y="7063200"/>
            <a:ext cx="115200" cy="115200"/>
          </a:xfrm>
          <a:prstGeom prst="ellipse">
            <a:avLst/>
          </a:prstGeom>
          <a:solidFill>
            <a:srgbClr val="FFFFFF"/>
          </a:solidFill>
          <a:ln w="13970">
            <a:solidFill>
              <a:srgbClr val="FFC700"/>
            </a:solidFill>
            <a:prstDash val="solid"/>
          </a:ln>
        </p:spPr>
      </p:sp>
      <p:sp>
        <p:nvSpPr>
          <p:cNvPr id="71" name="Text 67"/>
          <p:cNvSpPr/>
          <p:nvPr/>
        </p:nvSpPr>
        <p:spPr>
          <a:xfrm>
            <a:off x="5524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72" name="Shape 68"/>
          <p:cNvSpPr/>
          <p:nvPr/>
        </p:nvSpPr>
        <p:spPr>
          <a:xfrm>
            <a:off x="6735600" y="7063200"/>
            <a:ext cx="115200" cy="115200"/>
          </a:xfrm>
          <a:prstGeom prst="ellipse">
            <a:avLst/>
          </a:prstGeom>
          <a:solidFill>
            <a:srgbClr val="FFFFFF"/>
          </a:solidFill>
          <a:ln w="13970">
            <a:solidFill>
              <a:srgbClr val="00B55A"/>
            </a:solidFill>
            <a:prstDash val="solid"/>
          </a:ln>
        </p:spPr>
      </p:sp>
      <p:sp>
        <p:nvSpPr>
          <p:cNvPr id="73" name="Text 69"/>
          <p:cNvSpPr/>
          <p:nvPr/>
        </p:nvSpPr>
        <p:spPr>
          <a:xfrm>
            <a:off x="6748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74" name="Text 7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75" name="Text 7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6" name="Text 7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77" name="Text 7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8" name="Text 7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79" name="Text 7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0" name="Text 7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81" name="Text 7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2" name="Text 7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83" name="Text 7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4" name="Text 8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85" name="Text 8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6" name="Text 8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87" name="Text 8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88" name="Text 8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pic>
        <p:nvPicPr>
          <p:cNvPr id="8" name="Image 1" descr="Logo CEE">    </p:cNvPr>
          <p:cNvPicPr>
            <a:picLocks noChangeAspect="1"/>
          </p:cNvPicPr>
          <p:nvPr/>
        </p:nvPicPr>
        <p:blipFill>
          <a:blip r:embed="rId2"/>
          <a:srcRect l="0" r="0" t="0" b="0"/>
          <a:stretch/>
        </p:blipFill>
        <p:spPr>
          <a:xfrm>
            <a:off x="5040000" y="1836000"/>
            <a:ext cx="2055600" cy="864000"/>
          </a:xfrm>
          <a:prstGeom prst="rect">
            <a:avLst/>
          </a:prstGeom>
        </p:spPr>
      </p:pic>
      <p:sp>
        <p:nvSpPr>
          <p:cNvPr id="9" name="Text 5"/>
          <p:cNvSpPr/>
          <p:nvPr/>
        </p:nvSpPr>
        <p:spPr>
          <a:xfrm>
            <a:off x="648000" y="1710000"/>
            <a:ext cx="4032000" cy="15552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1000" dirty="0"/>
          </a:p>
          <a:p>
            <a:pPr algn="just" indent="0" marL="0">
              <a:buNone/>
            </a:pPr>
            <a:endParaRPr lang="en-US" sz="1000" dirty="0"/>
          </a:p>
          <a:p>
            <a:pPr algn="just" indent="0" marL="0">
              <a:buNone/>
            </a:pPr>
            <a:r>
              <a:rPr lang="en-US" sz="100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000" dirty="0"/>
          </a:p>
        </p:txBody>
      </p:sp>
      <p:sp>
        <p:nvSpPr>
          <p:cNvPr id="10" name="Text 6"/>
          <p:cNvSpPr/>
          <p:nvPr/>
        </p:nvSpPr>
        <p:spPr>
          <a:xfrm>
            <a:off x="648000" y="336600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poste par poste</a:t>
            </a:r>
            <a:endParaRPr lang="en-US" sz="1000" dirty="0"/>
          </a:p>
        </p:txBody>
      </p:sp>
      <p:sp>
        <p:nvSpPr>
          <p:cNvPr id="11" name="Text 7"/>
          <p:cNvSpPr/>
          <p:nvPr/>
        </p:nvSpPr>
        <p:spPr>
          <a:xfrm>
            <a:off x="648000" y="3618000"/>
            <a:ext cx="6264000" cy="69408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Les opérations les plus couramment éligibles sont notamment :</a:t>
            </a:r>
            <a:endParaRPr lang="en-US" sz="950" dirty="0"/>
          </a:p>
        </p:txBody>
      </p:sp>
      <p:sp>
        <p:nvSpPr>
          <p:cNvPr id="12" name="Text 8"/>
          <p:cNvSpPr/>
          <p:nvPr/>
        </p:nvSpPr>
        <p:spPr>
          <a:xfrm>
            <a:off x="756000" y="434808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9"/>
          <p:cNvSpPr/>
          <p:nvPr/>
        </p:nvSpPr>
        <p:spPr>
          <a:xfrm>
            <a:off x="900000" y="434808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L’isolation des murs, toitures, combles et planchers bas ;</a:t>
            </a:r>
            <a:endParaRPr lang="en-US" sz="950" dirty="0"/>
          </a:p>
        </p:txBody>
      </p:sp>
      <p:sp>
        <p:nvSpPr>
          <p:cNvPr id="14" name="Text 10"/>
          <p:cNvSpPr/>
          <p:nvPr/>
        </p:nvSpPr>
        <p:spPr>
          <a:xfrm>
            <a:off x="756000" y="458820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1"/>
          <p:cNvSpPr/>
          <p:nvPr/>
        </p:nvSpPr>
        <p:spPr>
          <a:xfrm>
            <a:off x="900000" y="458820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remplacement des menuiseries extérieures ;</a:t>
            </a:r>
            <a:endParaRPr lang="en-US" sz="950" dirty="0"/>
          </a:p>
        </p:txBody>
      </p:sp>
      <p:sp>
        <p:nvSpPr>
          <p:cNvPr id="16" name="Text 12"/>
          <p:cNvSpPr/>
          <p:nvPr/>
        </p:nvSpPr>
        <p:spPr>
          <a:xfrm>
            <a:off x="756000" y="482832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7" name="Text 13"/>
          <p:cNvSpPr/>
          <p:nvPr/>
        </p:nvSpPr>
        <p:spPr>
          <a:xfrm>
            <a:off x="900000" y="482832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L’amélioration des systèmes de chauffage ;</a:t>
            </a:r>
            <a:endParaRPr lang="en-US" sz="950" dirty="0"/>
          </a:p>
        </p:txBody>
      </p:sp>
      <p:sp>
        <p:nvSpPr>
          <p:cNvPr id="18" name="Text 14"/>
          <p:cNvSpPr/>
          <p:nvPr/>
        </p:nvSpPr>
        <p:spPr>
          <a:xfrm>
            <a:off x="756000" y="506844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9" name="Text 15"/>
          <p:cNvSpPr/>
          <p:nvPr/>
        </p:nvSpPr>
        <p:spPr>
          <a:xfrm>
            <a:off x="900000" y="506844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L’installation de systèmes de ventilation performants ;</a:t>
            </a:r>
            <a:endParaRPr lang="en-US" sz="950" dirty="0"/>
          </a:p>
        </p:txBody>
      </p:sp>
      <p:sp>
        <p:nvSpPr>
          <p:cNvPr id="20" name="Text 16"/>
          <p:cNvSpPr/>
          <p:nvPr/>
        </p:nvSpPr>
        <p:spPr>
          <a:xfrm>
            <a:off x="756000" y="530856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21" name="Text 17"/>
          <p:cNvSpPr/>
          <p:nvPr/>
        </p:nvSpPr>
        <p:spPr>
          <a:xfrm>
            <a:off x="900000" y="530856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raccordement à un réseau de chaleur.</a:t>
            </a:r>
            <a:endParaRPr lang="en-US" sz="950" dirty="0"/>
          </a:p>
        </p:txBody>
      </p:sp>
      <p:sp>
        <p:nvSpPr>
          <p:cNvPr id="22" name="Text 18"/>
          <p:cNvSpPr/>
          <p:nvPr/>
        </p:nvSpPr>
        <p:spPr>
          <a:xfrm>
            <a:off x="648000" y="558468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50" dirty="0"/>
          </a:p>
        </p:txBody>
      </p:sp>
      <p:sp>
        <p:nvSpPr>
          <p:cNvPr id="23" name="Text 19"/>
          <p:cNvSpPr/>
          <p:nvPr/>
        </p:nvSpPr>
        <p:spPr>
          <a:xfrm>
            <a:off x="648000" y="615384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 Rénovation globale » (BAR-TH-177)</a:t>
            </a:r>
            <a:endParaRPr lang="en-US" sz="1000" dirty="0"/>
          </a:p>
        </p:txBody>
      </p:sp>
      <p:sp>
        <p:nvSpPr>
          <p:cNvPr id="24" name="Text 20"/>
          <p:cNvSpPr/>
          <p:nvPr/>
        </p:nvSpPr>
        <p:spPr>
          <a:xfrm>
            <a:off x="648000" y="6405840"/>
            <a:ext cx="6264000" cy="21099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50" dirty="0"/>
          </a:p>
        </p:txBody>
      </p:sp>
      <p:sp>
        <p:nvSpPr>
          <p:cNvPr id="25" name="Text 21"/>
          <p:cNvSpPr/>
          <p:nvPr/>
        </p:nvSpPr>
        <p:spPr>
          <a:xfrm>
            <a:off x="648000" y="9468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6" name="Text 22"/>
          <p:cNvSpPr/>
          <p:nvPr/>
        </p:nvSpPr>
        <p:spPr>
          <a:xfrm>
            <a:off x="648000" y="9612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Certificats d’économie d’énergie (CEE) | Service Public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0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000" dirty="0"/>
          </a:p>
        </p:txBody>
      </p:sp>
      <p:pic>
        <p:nvPicPr>
          <p:cNvPr id="10" name="Image 1" descr="Illustration Éco-PTZ">    </p:cNvPr>
          <p:cNvPicPr>
            <a:picLocks noChangeAspect="1"/>
          </p:cNvPicPr>
          <p:nvPr/>
        </p:nvPicPr>
        <p:blipFill>
          <a:blip r:embed="rId2"/>
          <a:srcRect l="0" r="0" t="0" b="0"/>
          <a:stretch/>
        </p:blipFill>
        <p:spPr>
          <a:xfrm>
            <a:off x="4748400" y="1879200"/>
            <a:ext cx="2412000" cy="14400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10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10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10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10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10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engagés doivent permettre :</a:t>
            </a:r>
            <a:endParaRPr lang="en-US" sz="10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10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10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10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10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0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p:cNvSpPr/>
          <p:nvPr/>
        </p:nvSpPr>
        <p:spPr>
          <a:xfrm>
            <a:off x="648000" y="9291600"/>
            <a:ext cx="6264000" cy="180000"/>
          </a:xfrm>
          <a:prstGeom prst="rect">
            <a:avLst/>
          </a:prstGeom>
          <a:noFill/>
          <a:ln/>
        </p:spPr>
        <p:txBody>
          <a:bodyPr wrap="square" lIns="0" tIns="0" rIns="0" bIns="0" rtlCol="0" anchor="t"/>
          <a:lstStyle/>
          <a:p>
            <a:pPr indent="0" marL="0">
              <a:buNone/>
            </a:pPr>
            <a:r>
              <a:rPr lang="en-US" sz="1000" dirty="0">
                <a:solidFill>
                  <a:srgbClr val="4B8BA5"/>
                </a:solidFill>
                <a:uFill>
                  <a:solidFill>
                    <a:srgbClr val="4B8BA5"/>
                  </a:solidFill>
                </a:uFill>
                <a:latin typeface="Aptos" pitchFamily="34" charset="0"/>
                <a:ea typeface="Aptos" pitchFamily="34" charset="-122"/>
                <a:cs typeface="Aptos" pitchFamily="34" charset="-120"/>
              </a:rPr>
              <a:t>Éco-prêt à taux zéro (éco-PTZ) Copropriétés | Service Public</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pic>
        <p:nvPicPr>
          <p:cNvPr id="8" name="Image 1" descr="Illustration TVA à 5,5 %">    </p:cNvPr>
          <p:cNvPicPr>
            <a:picLocks noChangeAspect="1"/>
          </p:cNvPicPr>
          <p:nvPr/>
        </p:nvPicPr>
        <p:blipFill>
          <a:blip r:embed="rId2"/>
          <a:srcRect l="0" r="0" t="0" b="0"/>
          <a:stretch/>
        </p:blipFill>
        <p:spPr>
          <a:xfrm>
            <a:off x="4795200" y="1641600"/>
            <a:ext cx="1296000" cy="1332000"/>
          </a:xfrm>
          <a:prstGeom prst="rect">
            <a:avLst/>
          </a:prstGeom>
        </p:spPr>
      </p:pic>
      <p:sp>
        <p:nvSpPr>
          <p:cNvPr id="9" name="Text 5"/>
          <p:cNvSpPr/>
          <p:nvPr/>
        </p:nvSpPr>
        <p:spPr>
          <a:xfrm>
            <a:off x="648000" y="1710000"/>
            <a:ext cx="4032000" cy="8928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000" dirty="0"/>
          </a:p>
        </p:txBody>
      </p:sp>
      <p:sp>
        <p:nvSpPr>
          <p:cNvPr id="10" name="Text 6"/>
          <p:cNvSpPr/>
          <p:nvPr/>
        </p:nvSpPr>
        <p:spPr>
          <a:xfrm>
            <a:off x="648000" y="327600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1" name="Text 7"/>
          <p:cNvSpPr/>
          <p:nvPr/>
        </p:nvSpPr>
        <p:spPr>
          <a:xfrm>
            <a:off x="648000" y="351972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2"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4"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6"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8"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20" name="Text 16"/>
          <p:cNvSpPr/>
          <p:nvPr/>
        </p:nvSpPr>
        <p:spPr>
          <a:xfrm>
            <a:off x="648000" y="473292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1" name="Text 17"/>
          <p:cNvSpPr/>
          <p:nvPr/>
        </p:nvSpPr>
        <p:spPr>
          <a:xfrm>
            <a:off x="648000" y="497664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2"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4"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5"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6"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7"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8"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9"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30"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1"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2"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3"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4"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5"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6" name="Text 32"/>
          <p:cNvSpPr/>
          <p:nvPr/>
        </p:nvSpPr>
        <p:spPr>
          <a:xfrm>
            <a:off x="648000" y="688536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7" name="Text 33"/>
          <p:cNvSpPr/>
          <p:nvPr/>
        </p:nvSpPr>
        <p:spPr>
          <a:xfrm>
            <a:off x="648000" y="7129080"/>
            <a:ext cx="6264000" cy="66096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8" name="Text 34"/>
          <p:cNvSpPr/>
          <p:nvPr/>
        </p:nvSpPr>
        <p:spPr>
          <a:xfrm>
            <a:off x="648000" y="782604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9" name="Text 35"/>
          <p:cNvSpPr/>
          <p:nvPr/>
        </p:nvSpPr>
        <p:spPr>
          <a:xfrm>
            <a:off x="648000" y="8069760"/>
            <a:ext cx="6264000" cy="51192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40" name="Text 36"/>
          <p:cNvSpPr/>
          <p:nvPr/>
        </p:nvSpPr>
        <p:spPr>
          <a:xfrm>
            <a:off x="648000" y="900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1" name="Text 37"/>
          <p:cNvSpPr/>
          <p:nvPr/>
        </p:nvSpPr>
        <p:spPr>
          <a:xfrm>
            <a:off x="648000" y="9144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TVA à taux réduit : pour quels travaux ? | economie.gouv.fr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6800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50" dirty="0"/>
          </a:p>
        </p:txBody>
      </p:sp>
      <p:sp>
        <p:nvSpPr>
          <p:cNvPr id="8" name="Text 5"/>
          <p:cNvSpPr/>
          <p:nvPr/>
        </p:nvSpPr>
        <p:spPr>
          <a:xfrm>
            <a:off x="648000" y="1790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1973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274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099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864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4668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558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40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095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277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31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14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168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351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05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887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420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245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778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6961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15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498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852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34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389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571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25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083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algn="just"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algn="just"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Partie 3 — validation visuelle, données fictives</dc:title>
  <dc:subject>PptxGenJS Presentation</dc:subject>
  <dc:creator>France Verte — validation interne</dc:creator>
  <cp:lastModifiedBy>France Verte — validation interne</cp:lastModifiedBy>
  <cp:revision>1</cp:revision>
  <dcterms:created xsi:type="dcterms:W3CDTF">2026-10-07T16:04:57Z</dcterms:created>
  <dcterms:modified xsi:type="dcterms:W3CDTF">2026-10-07T16:04:57Z</dcterms:modified>
</cp:coreProperties>
</file>