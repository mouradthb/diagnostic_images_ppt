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e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53184"/>
            <a:ext cx="6264000" cy="237024"/>
          </a:xfrm>
          <a:prstGeom prst="rect">
            <a:avLst/>
          </a:prstGeom>
          <a:noFill/>
          <a:ln/>
        </p:spPr>
        <p:txBody>
          <a:bodyPr wrap="square" lIns="0" tIns="0" rIns="0" bIns="0" rtlCol="0" anchor="t"/>
          <a:lstStyle/>
          <a:p>
            <a:pPr algn="just"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65808"/>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70" dirty="0"/>
          </a:p>
        </p:txBody>
      </p:sp>
      <p:sp>
        <p:nvSpPr>
          <p:cNvPr id="19" name="Text 16"/>
          <p:cNvSpPr/>
          <p:nvPr/>
        </p:nvSpPr>
        <p:spPr>
          <a:xfrm>
            <a:off x="648000" y="5913072"/>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70" dirty="0"/>
          </a:p>
        </p:txBody>
      </p:sp>
      <p:sp>
        <p:nvSpPr>
          <p:cNvPr id="20" name="Text 17"/>
          <p:cNvSpPr/>
          <p:nvPr/>
        </p:nvSpPr>
        <p:spPr>
          <a:xfrm>
            <a:off x="648000" y="652096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70" dirty="0"/>
          </a:p>
        </p:txBody>
      </p:sp>
      <p:sp>
        <p:nvSpPr>
          <p:cNvPr id="21" name="Text 18"/>
          <p:cNvSpPr/>
          <p:nvPr/>
        </p:nvSpPr>
        <p:spPr>
          <a:xfrm>
            <a:off x="648000" y="7128864"/>
            <a:ext cx="6264000" cy="867960"/>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70" dirty="0"/>
          </a:p>
        </p:txBody>
      </p:sp>
      <p:sp>
        <p:nvSpPr>
          <p:cNvPr id="22" name="Text 19"/>
          <p:cNvSpPr/>
          <p:nvPr/>
        </p:nvSpPr>
        <p:spPr>
          <a:xfrm>
            <a:off x="648000" y="8058024"/>
            <a:ext cx="6264000" cy="386064"/>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La prime relative à l’isolation des points singuliers d’un réseau permet également une subvention de 60 euros par points singuliers par un professionnel.</a:t>
            </a:r>
            <a:endParaRPr lang="en-US" sz="9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58336"/>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Contexte</a:t>
            </a:r>
            <a:endParaRPr lang="en-US" sz="1020" dirty="0"/>
          </a:p>
        </p:txBody>
      </p:sp>
      <p:sp>
        <p:nvSpPr>
          <p:cNvPr id="10" name="Text 7"/>
          <p:cNvSpPr/>
          <p:nvPr/>
        </p:nvSpPr>
        <p:spPr>
          <a:xfrm>
            <a:off x="648000" y="2306448"/>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1000" dirty="0"/>
          </a:p>
        </p:txBody>
      </p:sp>
      <p:sp>
        <p:nvSpPr>
          <p:cNvPr id="11" name="Text 8"/>
          <p:cNvSpPr/>
          <p:nvPr/>
        </p:nvSpPr>
        <p:spPr>
          <a:xfrm>
            <a:off x="648000" y="2976048"/>
            <a:ext cx="6264000" cy="396000"/>
          </a:xfrm>
          <a:prstGeom prst="rect">
            <a:avLst/>
          </a:prstGeom>
          <a:noFill/>
          <a:ln/>
        </p:spPr>
        <p:txBody>
          <a:bodyPr wrap="square" lIns="0" tIns="0" rIns="0" bIns="0" rtlCol="0" anchor="t"/>
          <a:lstStyle/>
          <a:p>
            <a:pPr algn="just" indent="0" marL="0">
              <a:buNone/>
            </a:pPr>
            <a:r>
              <a:rPr lang="en-US" sz="1000" dirty="0">
                <a:solidFill>
                  <a:srgbClr val="FF2020"/>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1000" dirty="0"/>
          </a:p>
        </p:txBody>
      </p:sp>
      <p:sp>
        <p:nvSpPr>
          <p:cNvPr id="12" name="Text 9"/>
          <p:cNvSpPr/>
          <p:nvPr/>
        </p:nvSpPr>
        <p:spPr>
          <a:xfrm>
            <a:off x="648000" y="3480048"/>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Qu’est ce que le VIGIK+</a:t>
            </a:r>
            <a:endParaRPr lang="en-US" sz="1020" dirty="0"/>
          </a:p>
        </p:txBody>
      </p:sp>
      <p:sp>
        <p:nvSpPr>
          <p:cNvPr id="13" name="Text 10"/>
          <p:cNvSpPr/>
          <p:nvPr/>
        </p:nvSpPr>
        <p:spPr>
          <a:xfrm>
            <a:off x="648000" y="372816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1000" dirty="0"/>
          </a:p>
        </p:txBody>
      </p:sp>
      <p:sp>
        <p:nvSpPr>
          <p:cNvPr id="14" name="Text 11"/>
          <p:cNvSpPr/>
          <p:nvPr/>
        </p:nvSpPr>
        <p:spPr>
          <a:xfrm>
            <a:off x="648000" y="4728960"/>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Principales évolutions</a:t>
            </a:r>
            <a:endParaRPr lang="en-US" sz="1020" dirty="0"/>
          </a:p>
        </p:txBody>
      </p:sp>
      <p:sp>
        <p:nvSpPr>
          <p:cNvPr id="15" name="Text 12"/>
          <p:cNvSpPr/>
          <p:nvPr/>
        </p:nvSpPr>
        <p:spPr>
          <a:xfrm>
            <a:off x="648000" y="4977072"/>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1000" dirty="0"/>
          </a:p>
        </p:txBody>
      </p:sp>
      <p:sp>
        <p:nvSpPr>
          <p:cNvPr id="16" name="Text 13"/>
          <p:cNvSpPr/>
          <p:nvPr/>
        </p:nvSpPr>
        <p:spPr>
          <a:xfrm>
            <a:off x="648000" y="6143472"/>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Impacts pour les copropriétés</a:t>
            </a:r>
            <a:endParaRPr lang="en-US" sz="1020" dirty="0"/>
          </a:p>
        </p:txBody>
      </p:sp>
      <p:sp>
        <p:nvSpPr>
          <p:cNvPr id="17" name="Text 14"/>
          <p:cNvSpPr/>
          <p:nvPr/>
        </p:nvSpPr>
        <p:spPr>
          <a:xfrm>
            <a:off x="648000" y="6391584"/>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1000" dirty="0"/>
          </a:p>
        </p:txBody>
      </p:sp>
      <p:sp>
        <p:nvSpPr>
          <p:cNvPr id="18" name="Text 15"/>
          <p:cNvSpPr/>
          <p:nvPr/>
        </p:nvSpPr>
        <p:spPr>
          <a:xfrm>
            <a:off x="648000" y="7392384"/>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Pourquoi anticiper ?</a:t>
            </a:r>
            <a:endParaRPr lang="en-US" sz="1020" dirty="0"/>
          </a:p>
        </p:txBody>
      </p:sp>
      <p:sp>
        <p:nvSpPr>
          <p:cNvPr id="19" name="Text 16"/>
          <p:cNvSpPr/>
          <p:nvPr/>
        </p:nvSpPr>
        <p:spPr>
          <a:xfrm>
            <a:off x="648000" y="7640496"/>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algn="just"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3996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1000" dirty="0"/>
          </a:p>
        </p:txBody>
      </p:sp>
      <p:sp>
        <p:nvSpPr>
          <p:cNvPr id="9" name="Text 6"/>
          <p:cNvSpPr/>
          <p:nvPr/>
        </p:nvSpPr>
        <p:spPr>
          <a:xfrm>
            <a:off x="648000" y="2844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1000" dirty="0"/>
          </a:p>
        </p:txBody>
      </p:sp>
      <p:sp>
        <p:nvSpPr>
          <p:cNvPr id="10" name="Text 7"/>
          <p:cNvSpPr/>
          <p:nvPr/>
        </p:nvSpPr>
        <p:spPr>
          <a:xfrm>
            <a:off x="648000" y="349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1000" dirty="0"/>
          </a:p>
        </p:txBody>
      </p:sp>
      <p:sp>
        <p:nvSpPr>
          <p:cNvPr id="11" name="Text 8"/>
          <p:cNvSpPr/>
          <p:nvPr/>
        </p:nvSpPr>
        <p:spPr>
          <a:xfrm>
            <a:off x="648000" y="43128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1000" dirty="0"/>
          </a:p>
        </p:txBody>
      </p:sp>
      <p:sp>
        <p:nvSpPr>
          <p:cNvPr id="12" name="Text 9"/>
          <p:cNvSpPr/>
          <p:nvPr/>
        </p:nvSpPr>
        <p:spPr>
          <a:xfrm>
            <a:off x="756000" y="4633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3" name="Text 10"/>
          <p:cNvSpPr/>
          <p:nvPr/>
        </p:nvSpPr>
        <p:spPr>
          <a:xfrm>
            <a:off x="900000" y="4633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amélioration de la sécurité des résidents ;</a:t>
            </a:r>
            <a:endParaRPr lang="en-US" sz="1000" dirty="0"/>
          </a:p>
        </p:txBody>
      </p:sp>
      <p:sp>
        <p:nvSpPr>
          <p:cNvPr id="14" name="Text 11"/>
          <p:cNvSpPr/>
          <p:nvPr/>
        </p:nvSpPr>
        <p:spPr>
          <a:xfrm>
            <a:off x="756000" y="4867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00000" y="4867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intervention rapide en cas d’urgence cardiaque ;</a:t>
            </a:r>
            <a:endParaRPr lang="en-US" sz="1000" dirty="0"/>
          </a:p>
        </p:txBody>
      </p:sp>
      <p:sp>
        <p:nvSpPr>
          <p:cNvPr id="16" name="Text 13"/>
          <p:cNvSpPr/>
          <p:nvPr/>
        </p:nvSpPr>
        <p:spPr>
          <a:xfrm>
            <a:off x="756000" y="5101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7" name="Text 14"/>
          <p:cNvSpPr/>
          <p:nvPr/>
        </p:nvSpPr>
        <p:spPr>
          <a:xfrm>
            <a:off x="900000" y="5101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équipement accessible et simple d’utilisation ;</a:t>
            </a:r>
            <a:endParaRPr lang="en-US" sz="1000" dirty="0"/>
          </a:p>
        </p:txBody>
      </p:sp>
      <p:sp>
        <p:nvSpPr>
          <p:cNvPr id="18" name="Text 15"/>
          <p:cNvSpPr/>
          <p:nvPr/>
        </p:nvSpPr>
        <p:spPr>
          <a:xfrm>
            <a:off x="756000" y="5335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00000" y="5335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valorisation des équipements de sécurité de l’immeuble.</a:t>
            </a:r>
            <a:endParaRPr lang="en-US" sz="1000" dirty="0"/>
          </a:p>
        </p:txBody>
      </p:sp>
      <p:sp>
        <p:nvSpPr>
          <p:cNvPr id="20" name="Text 17"/>
          <p:cNvSpPr/>
          <p:nvPr/>
        </p:nvSpPr>
        <p:spPr>
          <a:xfrm>
            <a:off x="648000" y="5634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1000" dirty="0"/>
          </a:p>
        </p:txBody>
      </p:sp>
      <p:sp>
        <p:nvSpPr>
          <p:cNvPr id="21" name="Text 18"/>
          <p:cNvSpPr/>
          <p:nvPr/>
        </p:nvSpPr>
        <p:spPr>
          <a:xfrm>
            <a:off x="756000" y="6120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2" name="Text 19"/>
          <p:cNvSpPr/>
          <p:nvPr/>
        </p:nvSpPr>
        <p:spPr>
          <a:xfrm>
            <a:off x="900000" y="6120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maintenance régulière de l’appareil ;</a:t>
            </a:r>
            <a:endParaRPr lang="en-US" sz="1000" dirty="0"/>
          </a:p>
        </p:txBody>
      </p:sp>
      <p:sp>
        <p:nvSpPr>
          <p:cNvPr id="23" name="Text 20"/>
          <p:cNvSpPr/>
          <p:nvPr/>
        </p:nvSpPr>
        <p:spPr>
          <a:xfrm>
            <a:off x="756000" y="6354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4" name="Text 21"/>
          <p:cNvSpPr/>
          <p:nvPr/>
        </p:nvSpPr>
        <p:spPr>
          <a:xfrm>
            <a:off x="900000" y="6354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1000" dirty="0"/>
          </a:p>
        </p:txBody>
      </p:sp>
      <p:sp>
        <p:nvSpPr>
          <p:cNvPr id="25" name="Text 22"/>
          <p:cNvSpPr/>
          <p:nvPr/>
        </p:nvSpPr>
        <p:spPr>
          <a:xfrm>
            <a:off x="756000" y="6588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6" name="Text 23"/>
          <p:cNvSpPr/>
          <p:nvPr/>
        </p:nvSpPr>
        <p:spPr>
          <a:xfrm>
            <a:off x="900000" y="6588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assurance contre les dégradations ou le vol.</a:t>
            </a:r>
            <a:endParaRPr lang="en-US" sz="1000" dirty="0"/>
          </a:p>
        </p:txBody>
      </p:sp>
      <p:sp>
        <p:nvSpPr>
          <p:cNvPr id="27" name="Text 24"/>
          <p:cNvSpPr/>
          <p:nvPr/>
        </p:nvSpPr>
        <p:spPr>
          <a:xfrm>
            <a:off x="648000" y="6894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1000" dirty="0"/>
          </a:p>
        </p:txBody>
      </p:sp>
      <p:pic>
        <p:nvPicPr>
          <p:cNvPr id="28" name="Image 1" descr="Illustration de défibrillateur">    </p:cNvPr>
          <p:cNvPicPr>
            <a:picLocks noChangeAspect="1"/>
          </p:cNvPicPr>
          <p:nvPr/>
        </p:nvPicPr>
        <p:blipFill>
          <a:blip r:embed="rId2"/>
          <a:srcRect l="0" r="0" t="0" b="0"/>
          <a:stretch/>
        </p:blipFill>
        <p:spPr>
          <a:xfrm>
            <a:off x="4824000" y="1566000"/>
            <a:ext cx="1404000" cy="118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5</a:t>
            </a:r>
            <a:endParaRPr lang="en-US" sz="950" dirty="0"/>
          </a:p>
        </p:txBody>
      </p:sp>
      <p:sp>
        <p:nvSpPr>
          <p:cNvPr id="7" name="Text 4"/>
          <p:cNvSpPr/>
          <p:nvPr/>
        </p:nvSpPr>
        <p:spPr>
          <a:xfrm>
            <a:off x="648000" y="2664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024000"/>
            <a:ext cx="3492000" cy="324000"/>
          </a:xfrm>
          <a:prstGeom prst="rect">
            <a:avLst/>
          </a:prstGeom>
          <a:solidFill>
            <a:srgbClr val="FFFFFF"/>
          </a:solidFill>
          <a:ln w="6985">
            <a:solidFill>
              <a:srgbClr val="202020"/>
            </a:solidFill>
            <a:prstDash val="solid"/>
          </a:ln>
        </p:spPr>
      </p:sp>
      <p:sp>
        <p:nvSpPr>
          <p:cNvPr id="9" name="Text 6"/>
          <p:cNvSpPr/>
          <p:nvPr/>
        </p:nvSpPr>
        <p:spPr>
          <a:xfrm>
            <a:off x="601200" y="3063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024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063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024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063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348000"/>
            <a:ext cx="3492000" cy="964800"/>
          </a:xfrm>
          <a:prstGeom prst="rect">
            <a:avLst/>
          </a:prstGeom>
          <a:solidFill>
            <a:srgbClr val="FFFFFF"/>
          </a:solidFill>
          <a:ln w="6985">
            <a:solidFill>
              <a:srgbClr val="202020"/>
            </a:solidFill>
            <a:prstDash val="solid"/>
          </a:ln>
        </p:spPr>
      </p:sp>
      <p:sp>
        <p:nvSpPr>
          <p:cNvPr id="15" name="Text 12"/>
          <p:cNvSpPr/>
          <p:nvPr/>
        </p:nvSpPr>
        <p:spPr>
          <a:xfrm>
            <a:off x="601200" y="33876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348000"/>
            <a:ext cx="1152000" cy="964800"/>
          </a:xfrm>
          <a:prstGeom prst="rect">
            <a:avLst/>
          </a:prstGeom>
          <a:solidFill>
            <a:srgbClr val="00B55A"/>
          </a:solidFill>
          <a:ln w="6985">
            <a:solidFill>
              <a:srgbClr val="202020"/>
            </a:solidFill>
            <a:prstDash val="solid"/>
          </a:ln>
        </p:spPr>
      </p:sp>
      <p:sp>
        <p:nvSpPr>
          <p:cNvPr id="17" name="Text 14"/>
          <p:cNvSpPr/>
          <p:nvPr/>
        </p:nvSpPr>
        <p:spPr>
          <a:xfrm>
            <a:off x="4093200" y="33876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348000"/>
            <a:ext cx="1836000" cy="964800"/>
          </a:xfrm>
          <a:prstGeom prst="rect">
            <a:avLst/>
          </a:prstGeom>
          <a:solidFill>
            <a:srgbClr val="FFFFFF"/>
          </a:solidFill>
          <a:ln w="6985">
            <a:solidFill>
              <a:srgbClr val="202020"/>
            </a:solidFill>
            <a:prstDash val="solid"/>
          </a:ln>
        </p:spPr>
      </p:sp>
      <p:sp>
        <p:nvSpPr>
          <p:cNvPr id="19" name="Text 16"/>
          <p:cNvSpPr/>
          <p:nvPr/>
        </p:nvSpPr>
        <p:spPr>
          <a:xfrm>
            <a:off x="5245200" y="3387600"/>
            <a:ext cx="1713600" cy="8856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4312800"/>
            <a:ext cx="3492000" cy="964800"/>
          </a:xfrm>
          <a:prstGeom prst="rect">
            <a:avLst/>
          </a:prstGeom>
          <a:solidFill>
            <a:srgbClr val="FFFFFF"/>
          </a:solidFill>
          <a:ln w="6985">
            <a:solidFill>
              <a:srgbClr val="202020"/>
            </a:solidFill>
            <a:prstDash val="solid"/>
          </a:ln>
        </p:spPr>
      </p:sp>
      <p:sp>
        <p:nvSpPr>
          <p:cNvPr id="21" name="Text 18"/>
          <p:cNvSpPr/>
          <p:nvPr/>
        </p:nvSpPr>
        <p:spPr>
          <a:xfrm>
            <a:off x="601200" y="4352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22" name="Shape 19"/>
          <p:cNvSpPr/>
          <p:nvPr/>
        </p:nvSpPr>
        <p:spPr>
          <a:xfrm>
            <a:off x="4032000" y="4312800"/>
            <a:ext cx="1152000" cy="964800"/>
          </a:xfrm>
          <a:prstGeom prst="rect">
            <a:avLst/>
          </a:prstGeom>
          <a:solidFill>
            <a:srgbClr val="BFBFBF"/>
          </a:solidFill>
          <a:ln w="6985">
            <a:solidFill>
              <a:srgbClr val="202020"/>
            </a:solidFill>
            <a:prstDash val="solid"/>
          </a:ln>
        </p:spPr>
      </p:sp>
      <p:sp>
        <p:nvSpPr>
          <p:cNvPr id="23" name="Text 20"/>
          <p:cNvSpPr/>
          <p:nvPr/>
        </p:nvSpPr>
        <p:spPr>
          <a:xfrm>
            <a:off x="4093200" y="43524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24" name="Shape 21"/>
          <p:cNvSpPr/>
          <p:nvPr/>
        </p:nvSpPr>
        <p:spPr>
          <a:xfrm>
            <a:off x="5184000" y="43128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43524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77600"/>
            <a:ext cx="3492000" cy="964800"/>
          </a:xfrm>
          <a:prstGeom prst="rect">
            <a:avLst/>
          </a:prstGeom>
          <a:solidFill>
            <a:srgbClr val="FFFFFF"/>
          </a:solidFill>
          <a:ln w="6985">
            <a:solidFill>
              <a:srgbClr val="202020"/>
            </a:solidFill>
            <a:prstDash val="solid"/>
          </a:ln>
        </p:spPr>
      </p:sp>
      <p:sp>
        <p:nvSpPr>
          <p:cNvPr id="27" name="Text 24"/>
          <p:cNvSpPr/>
          <p:nvPr/>
        </p:nvSpPr>
        <p:spPr>
          <a:xfrm>
            <a:off x="601200" y="5317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Fiche synthétique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28" name="Shape 25"/>
          <p:cNvSpPr/>
          <p:nvPr/>
        </p:nvSpPr>
        <p:spPr>
          <a:xfrm>
            <a:off x="4032000" y="5277600"/>
            <a:ext cx="1152000" cy="964800"/>
          </a:xfrm>
          <a:prstGeom prst="rect">
            <a:avLst/>
          </a:prstGeom>
          <a:solidFill>
            <a:srgbClr val="FF0000"/>
          </a:solidFill>
          <a:ln w="6985">
            <a:solidFill>
              <a:srgbClr val="202020"/>
            </a:solidFill>
            <a:prstDash val="solid"/>
          </a:ln>
        </p:spPr>
      </p:sp>
      <p:sp>
        <p:nvSpPr>
          <p:cNvPr id="29" name="Text 26"/>
          <p:cNvSpPr/>
          <p:nvPr/>
        </p:nvSpPr>
        <p:spPr>
          <a:xfrm>
            <a:off x="4093200" y="5317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30" name="Shape 27"/>
          <p:cNvSpPr/>
          <p:nvPr/>
        </p:nvSpPr>
        <p:spPr>
          <a:xfrm>
            <a:off x="5184000" y="52776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5317200"/>
            <a:ext cx="1713600" cy="8856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6242400"/>
            <a:ext cx="3492000" cy="1130400"/>
          </a:xfrm>
          <a:prstGeom prst="rect">
            <a:avLst/>
          </a:prstGeom>
          <a:solidFill>
            <a:srgbClr val="FFFFFF"/>
          </a:solidFill>
          <a:ln w="6985">
            <a:solidFill>
              <a:srgbClr val="202020"/>
            </a:solidFill>
            <a:prstDash val="solid"/>
          </a:ln>
        </p:spPr>
      </p:sp>
      <p:sp>
        <p:nvSpPr>
          <p:cNvPr id="33" name="Text 30"/>
          <p:cNvSpPr/>
          <p:nvPr/>
        </p:nvSpPr>
        <p:spPr>
          <a:xfrm>
            <a:off x="601200" y="6282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34" name="Shape 31"/>
          <p:cNvSpPr/>
          <p:nvPr/>
        </p:nvSpPr>
        <p:spPr>
          <a:xfrm>
            <a:off x="4032000" y="6242400"/>
            <a:ext cx="1152000" cy="1130400"/>
          </a:xfrm>
          <a:prstGeom prst="rect">
            <a:avLst/>
          </a:prstGeom>
          <a:solidFill>
            <a:srgbClr val="00B55A"/>
          </a:solidFill>
          <a:ln w="6985">
            <a:solidFill>
              <a:srgbClr val="202020"/>
            </a:solidFill>
            <a:prstDash val="solid"/>
          </a:ln>
        </p:spPr>
      </p:sp>
      <p:sp>
        <p:nvSpPr>
          <p:cNvPr id="35" name="Text 32"/>
          <p:cNvSpPr/>
          <p:nvPr/>
        </p:nvSpPr>
        <p:spPr>
          <a:xfrm>
            <a:off x="4093200" y="6282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6242400"/>
            <a:ext cx="1836000" cy="1130400"/>
          </a:xfrm>
          <a:prstGeom prst="rect">
            <a:avLst/>
          </a:prstGeom>
          <a:solidFill>
            <a:srgbClr val="FFFFFF"/>
          </a:solidFill>
          <a:ln w="6985">
            <a:solidFill>
              <a:srgbClr val="202020"/>
            </a:solidFill>
            <a:prstDash val="solid"/>
          </a:ln>
        </p:spPr>
      </p:sp>
      <p:sp>
        <p:nvSpPr>
          <p:cNvPr id="37" name="Text 34"/>
          <p:cNvSpPr/>
          <p:nvPr/>
        </p:nvSpPr>
        <p:spPr>
          <a:xfrm>
            <a:off x="5245200" y="6282000"/>
            <a:ext cx="1713600" cy="10512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3728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12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Compte bancaire séparé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40" name="Shape 37"/>
          <p:cNvSpPr/>
          <p:nvPr/>
        </p:nvSpPr>
        <p:spPr>
          <a:xfrm>
            <a:off x="4032000" y="7372800"/>
            <a:ext cx="1152000" cy="964800"/>
          </a:xfrm>
          <a:prstGeom prst="rect">
            <a:avLst/>
          </a:prstGeom>
          <a:solidFill>
            <a:srgbClr val="BFBFBF"/>
          </a:solidFill>
          <a:ln w="6985">
            <a:solidFill>
              <a:srgbClr val="202020"/>
            </a:solidFill>
            <a:prstDash val="solid"/>
          </a:ln>
        </p:spPr>
      </p:sp>
      <p:sp>
        <p:nvSpPr>
          <p:cNvPr id="41" name="Text 38"/>
          <p:cNvSpPr/>
          <p:nvPr/>
        </p:nvSpPr>
        <p:spPr>
          <a:xfrm>
            <a:off x="4093200" y="74124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42" name="Shape 39"/>
          <p:cNvSpPr/>
          <p:nvPr/>
        </p:nvSpPr>
        <p:spPr>
          <a:xfrm>
            <a:off x="5184000" y="73728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124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376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77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46" name="Shape 43"/>
          <p:cNvSpPr/>
          <p:nvPr/>
        </p:nvSpPr>
        <p:spPr>
          <a:xfrm>
            <a:off x="4032000" y="8337600"/>
            <a:ext cx="1152000" cy="964800"/>
          </a:xfrm>
          <a:prstGeom prst="rect">
            <a:avLst/>
          </a:prstGeom>
          <a:solidFill>
            <a:srgbClr val="FF0000"/>
          </a:solidFill>
          <a:ln w="6985">
            <a:solidFill>
              <a:srgbClr val="202020"/>
            </a:solidFill>
            <a:prstDash val="solid"/>
          </a:ln>
        </p:spPr>
      </p:sp>
      <p:sp>
        <p:nvSpPr>
          <p:cNvPr id="47" name="Text 44"/>
          <p:cNvSpPr/>
          <p:nvPr/>
        </p:nvSpPr>
        <p:spPr>
          <a:xfrm>
            <a:off x="4093200" y="8377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48" name="Shape 45"/>
          <p:cNvSpPr/>
          <p:nvPr/>
        </p:nvSpPr>
        <p:spPr>
          <a:xfrm>
            <a:off x="5184000" y="83376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77200"/>
            <a:ext cx="1713600" cy="885600"/>
          </a:xfrm>
          <a:prstGeom prst="rect">
            <a:avLst/>
          </a:prstGeom>
          <a:noFill/>
          <a:ln/>
        </p:spPr>
        <p:txBody>
          <a:bodyPr wrap="square" lIns="0" tIns="0" rIns="0" bIns="0" rtlCol="0" anchor="t"/>
          <a:lstStyle/>
          <a:p>
            <a:pPr algn="l" indent="0" marL="0">
              <a:buNone/>
            </a:pPr>
            <a:endParaRPr lang="en-US" sz="1000" dirty="0"/>
          </a:p>
        </p:txBody>
      </p:sp>
      <p:sp>
        <p:nvSpPr>
          <p:cNvPr id="50" name="Text 47"/>
          <p:cNvSpPr/>
          <p:nvPr/>
        </p:nvSpPr>
        <p:spPr>
          <a:xfrm>
            <a:off x="648000" y="1332000"/>
            <a:ext cx="6264000" cy="81000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51" name="Text 48"/>
          <p:cNvSpPr/>
          <p:nvPr/>
        </p:nvSpPr>
        <p:spPr>
          <a:xfrm>
            <a:off x="648000" y="2196000"/>
            <a:ext cx="6264000" cy="36288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164400"/>
            <a:ext cx="1152000" cy="1130400"/>
          </a:xfrm>
          <a:prstGeom prst="rect">
            <a:avLst/>
          </a:prstGeom>
          <a:solidFill>
            <a:srgbClr val="BFBFBF"/>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294800"/>
            <a:ext cx="1152000" cy="1461600"/>
          </a:xfrm>
          <a:prstGeom prst="rect">
            <a:avLst/>
          </a:prstGeom>
          <a:solidFill>
            <a:srgbClr val="FF0000"/>
          </a:solidFill>
          <a:ln w="6985">
            <a:solidFill>
              <a:srgbClr val="202020"/>
            </a:solidFill>
            <a:prstDash val="solid"/>
          </a:ln>
        </p:spPr>
      </p:sp>
      <p:sp>
        <p:nvSpPr>
          <p:cNvPr id="29" name="Text 26"/>
          <p:cNvSpPr/>
          <p:nvPr/>
        </p:nvSpPr>
        <p:spPr>
          <a:xfrm>
            <a:off x="4093200" y="4334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30" name="Shape 27"/>
          <p:cNvSpPr/>
          <p:nvPr/>
        </p:nvSpPr>
        <p:spPr>
          <a:xfrm>
            <a:off x="5184000" y="4294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5756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5796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termites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5756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5796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5756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5796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218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257600"/>
            <a:ext cx="3369600" cy="121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mérules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218000"/>
            <a:ext cx="1152000" cy="1296000"/>
          </a:xfrm>
          <a:prstGeom prst="rect">
            <a:avLst/>
          </a:prstGeom>
          <a:solidFill>
            <a:srgbClr val="BFBFBF"/>
          </a:solidFill>
          <a:ln w="6985">
            <a:solidFill>
              <a:srgbClr val="202020"/>
            </a:solidFill>
            <a:prstDash val="solid"/>
          </a:ln>
        </p:spPr>
      </p:sp>
      <p:sp>
        <p:nvSpPr>
          <p:cNvPr id="41" name="Text 38"/>
          <p:cNvSpPr/>
          <p:nvPr/>
        </p:nvSpPr>
        <p:spPr>
          <a:xfrm>
            <a:off x="4093200" y="7257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42" name="Shape 39"/>
          <p:cNvSpPr/>
          <p:nvPr/>
        </p:nvSpPr>
        <p:spPr>
          <a:xfrm>
            <a:off x="5184000" y="7218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257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034000"/>
            <a:ext cx="1152000" cy="1130400"/>
          </a:xfrm>
          <a:prstGeom prst="rect">
            <a:avLst/>
          </a:prstGeom>
          <a:solidFill>
            <a:srgbClr val="FF0000"/>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85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294800"/>
            <a:ext cx="1152000" cy="936000"/>
          </a:xfrm>
          <a:prstGeom prst="rect">
            <a:avLst/>
          </a:prstGeom>
          <a:solidFill>
            <a:srgbClr val="BFBFBF"/>
          </a:solidFill>
          <a:ln w="6985">
            <a:solidFill>
              <a:srgbClr val="202020"/>
            </a:solidFill>
            <a:prstDash val="solid"/>
          </a:ln>
        </p:spPr>
      </p:sp>
      <p:sp>
        <p:nvSpPr>
          <p:cNvPr id="29" name="Text 26"/>
          <p:cNvSpPr/>
          <p:nvPr/>
        </p:nvSpPr>
        <p:spPr>
          <a:xfrm>
            <a:off x="4093200" y="4334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30" name="Shape 27"/>
          <p:cNvSpPr/>
          <p:nvPr/>
        </p:nvSpPr>
        <p:spPr>
          <a:xfrm>
            <a:off x="5184000" y="4294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410800"/>
            <a:ext cx="6264000" cy="1224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1000" dirty="0"/>
          </a:p>
        </p:txBody>
      </p:sp>
      <p:sp>
        <p:nvSpPr>
          <p:cNvPr id="33" name="Shape 30"/>
          <p:cNvSpPr/>
          <p:nvPr/>
        </p:nvSpPr>
        <p:spPr>
          <a:xfrm>
            <a:off x="540000" y="6778800"/>
            <a:ext cx="6480000" cy="324000"/>
          </a:xfrm>
          <a:prstGeom prst="rect">
            <a:avLst/>
          </a:prstGeom>
          <a:solidFill>
            <a:srgbClr val="0A2B6B"/>
          </a:solidFill>
          <a:ln w="6985">
            <a:solidFill>
              <a:srgbClr val="202020"/>
            </a:solidFill>
            <a:prstDash val="solid"/>
          </a:ln>
        </p:spPr>
      </p:sp>
      <p:sp>
        <p:nvSpPr>
          <p:cNvPr id="34" name="Text 31"/>
          <p:cNvSpPr/>
          <p:nvPr/>
        </p:nvSpPr>
        <p:spPr>
          <a:xfrm>
            <a:off x="601200" y="6818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 d’assurance</a:t>
            </a:r>
            <a:endParaRPr lang="en-US" sz="1000" dirty="0"/>
          </a:p>
        </p:txBody>
      </p:sp>
      <p:sp>
        <p:nvSpPr>
          <p:cNvPr id="35" name="Shape 32"/>
          <p:cNvSpPr/>
          <p:nvPr/>
        </p:nvSpPr>
        <p:spPr>
          <a:xfrm>
            <a:off x="540000" y="7102800"/>
            <a:ext cx="3240000" cy="324000"/>
          </a:xfrm>
          <a:prstGeom prst="rect">
            <a:avLst/>
          </a:prstGeom>
          <a:solidFill>
            <a:srgbClr val="FFFFFF"/>
          </a:solidFill>
          <a:ln w="6985">
            <a:solidFill>
              <a:srgbClr val="202020"/>
            </a:solidFill>
            <a:prstDash val="solid"/>
          </a:ln>
        </p:spPr>
      </p:sp>
      <p:sp>
        <p:nvSpPr>
          <p:cNvPr id="36" name="Text 33"/>
          <p:cNvSpPr/>
          <p:nvPr/>
        </p:nvSpPr>
        <p:spPr>
          <a:xfrm>
            <a:off x="601200" y="7142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37" name="Shape 34"/>
          <p:cNvSpPr/>
          <p:nvPr/>
        </p:nvSpPr>
        <p:spPr>
          <a:xfrm>
            <a:off x="3780000" y="7102800"/>
            <a:ext cx="3240000" cy="324000"/>
          </a:xfrm>
          <a:prstGeom prst="rect">
            <a:avLst/>
          </a:prstGeom>
          <a:solidFill>
            <a:srgbClr val="FFFFFF"/>
          </a:solidFill>
          <a:ln w="6985">
            <a:solidFill>
              <a:srgbClr val="202020"/>
            </a:solidFill>
            <a:prstDash val="solid"/>
          </a:ln>
        </p:spPr>
      </p:sp>
      <p:sp>
        <p:nvSpPr>
          <p:cNvPr id="38" name="Text 35"/>
          <p:cNvSpPr/>
          <p:nvPr/>
        </p:nvSpPr>
        <p:spPr>
          <a:xfrm>
            <a:off x="3841200" y="7142400"/>
            <a:ext cx="311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7426800"/>
            <a:ext cx="6480000" cy="324000"/>
          </a:xfrm>
          <a:prstGeom prst="rect">
            <a:avLst/>
          </a:prstGeom>
          <a:solidFill>
            <a:srgbClr val="0A2B6B"/>
          </a:solidFill>
          <a:ln w="6985">
            <a:solidFill>
              <a:srgbClr val="202020"/>
            </a:solidFill>
            <a:prstDash val="solid"/>
          </a:ln>
        </p:spPr>
      </p:sp>
      <p:sp>
        <p:nvSpPr>
          <p:cNvPr id="40" name="Text 37"/>
          <p:cNvSpPr/>
          <p:nvPr/>
        </p:nvSpPr>
        <p:spPr>
          <a:xfrm>
            <a:off x="601200" y="7466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Contrats d’entretien des équipements communs</a:t>
            </a:r>
            <a:endParaRPr lang="en-US" sz="1000" dirty="0"/>
          </a:p>
        </p:txBody>
      </p:sp>
      <p:sp>
        <p:nvSpPr>
          <p:cNvPr id="41" name="Shape 38"/>
          <p:cNvSpPr/>
          <p:nvPr/>
        </p:nvSpPr>
        <p:spPr>
          <a:xfrm>
            <a:off x="540000" y="7750800"/>
            <a:ext cx="3240000" cy="324000"/>
          </a:xfrm>
          <a:prstGeom prst="rect">
            <a:avLst/>
          </a:prstGeom>
          <a:solidFill>
            <a:srgbClr val="FFFFFF"/>
          </a:solidFill>
          <a:ln w="6985">
            <a:solidFill>
              <a:srgbClr val="202020"/>
            </a:solidFill>
            <a:prstDash val="solid"/>
          </a:ln>
        </p:spPr>
      </p:sp>
      <p:sp>
        <p:nvSpPr>
          <p:cNvPr id="42" name="Text 39"/>
          <p:cNvSpPr/>
          <p:nvPr/>
        </p:nvSpPr>
        <p:spPr>
          <a:xfrm>
            <a:off x="601200" y="7790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43" name="Shape 40"/>
          <p:cNvSpPr/>
          <p:nvPr/>
        </p:nvSpPr>
        <p:spPr>
          <a:xfrm>
            <a:off x="3780000" y="7750800"/>
            <a:ext cx="3240000" cy="324000"/>
          </a:xfrm>
          <a:prstGeom prst="rect">
            <a:avLst/>
          </a:prstGeom>
          <a:solidFill>
            <a:srgbClr val="FFFFFF"/>
          </a:solidFill>
          <a:ln w="6985">
            <a:solidFill>
              <a:srgbClr val="202020"/>
            </a:solidFill>
            <a:prstDash val="solid"/>
          </a:ln>
        </p:spPr>
      </p:sp>
      <p:sp>
        <p:nvSpPr>
          <p:cNvPr id="44" name="Text 41"/>
          <p:cNvSpPr/>
          <p:nvPr/>
        </p:nvSpPr>
        <p:spPr>
          <a:xfrm>
            <a:off x="3841200" y="77904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8</a:t>
            </a:r>
            <a:endParaRPr lang="en-US" sz="950" dirty="0"/>
          </a:p>
        </p:txBody>
      </p:sp>
      <p:sp>
        <p:nvSpPr>
          <p:cNvPr id="7" name="Shape 4"/>
          <p:cNvSpPr/>
          <p:nvPr/>
        </p:nvSpPr>
        <p:spPr>
          <a:xfrm>
            <a:off x="540000" y="1656000"/>
            <a:ext cx="6480000" cy="324000"/>
          </a:xfrm>
          <a:prstGeom prst="rect">
            <a:avLst/>
          </a:prstGeom>
          <a:solidFill>
            <a:srgbClr val="0A2B6B"/>
          </a:solidFill>
          <a:ln w="6985">
            <a:solidFill>
              <a:srgbClr val="202020"/>
            </a:solidFill>
            <a:prstDash val="solid"/>
          </a:ln>
        </p:spPr>
      </p:sp>
      <p:sp>
        <p:nvSpPr>
          <p:cNvPr id="8" name="Text 5"/>
          <p:cNvSpPr/>
          <p:nvPr/>
        </p:nvSpPr>
        <p:spPr>
          <a:xfrm>
            <a:off x="601200" y="1695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recensés dans le carnet d’entretien</a:t>
            </a:r>
            <a:endParaRPr lang="en-US" sz="1000" dirty="0"/>
          </a:p>
        </p:txBody>
      </p:sp>
      <p:sp>
        <p:nvSpPr>
          <p:cNvPr id="9" name="Shape 6"/>
          <p:cNvSpPr/>
          <p:nvPr/>
        </p:nvSpPr>
        <p:spPr>
          <a:xfrm>
            <a:off x="540000" y="1980000"/>
            <a:ext cx="3240000" cy="324000"/>
          </a:xfrm>
          <a:prstGeom prst="rect">
            <a:avLst/>
          </a:prstGeom>
          <a:solidFill>
            <a:srgbClr val="FFFFFF"/>
          </a:solidFill>
          <a:ln w="6985">
            <a:solidFill>
              <a:srgbClr val="202020"/>
            </a:solidFill>
            <a:prstDash val="solid"/>
          </a:ln>
        </p:spPr>
      </p:sp>
      <p:sp>
        <p:nvSpPr>
          <p:cNvPr id="10" name="Text 7"/>
          <p:cNvSpPr/>
          <p:nvPr/>
        </p:nvSpPr>
        <p:spPr>
          <a:xfrm>
            <a:off x="601200" y="2019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1" name="Shape 8"/>
          <p:cNvSpPr/>
          <p:nvPr/>
        </p:nvSpPr>
        <p:spPr>
          <a:xfrm>
            <a:off x="3780000" y="1980000"/>
            <a:ext cx="3240000" cy="324000"/>
          </a:xfrm>
          <a:prstGeom prst="rect">
            <a:avLst/>
          </a:prstGeom>
          <a:solidFill>
            <a:srgbClr val="FFFFFF"/>
          </a:solidFill>
          <a:ln w="6985">
            <a:solidFill>
              <a:srgbClr val="202020"/>
            </a:solidFill>
            <a:prstDash val="solid"/>
          </a:ln>
        </p:spPr>
      </p:sp>
      <p:sp>
        <p:nvSpPr>
          <p:cNvPr id="12" name="Text 9"/>
          <p:cNvSpPr/>
          <p:nvPr/>
        </p:nvSpPr>
        <p:spPr>
          <a:xfrm>
            <a:off x="3841200" y="2019600"/>
            <a:ext cx="3117600" cy="244800"/>
          </a:xfrm>
          <a:prstGeom prst="rect">
            <a:avLst/>
          </a:prstGeom>
          <a:noFill/>
          <a:ln/>
        </p:spPr>
        <p:txBody>
          <a:bodyPr wrap="square" lIns="0" tIns="0" rIns="0" bIns="0" rtlCol="0" anchor="ctr"/>
          <a:lstStyle/>
          <a:p>
            <a:pPr algn="l" indent="0" marL="0">
              <a:buNone/>
            </a:pPr>
            <a:endParaRPr lang="en-US" sz="1000" dirty="0"/>
          </a:p>
        </p:txBody>
      </p:sp>
      <p:sp>
        <p:nvSpPr>
          <p:cNvPr id="13" name="Shape 10"/>
          <p:cNvSpPr/>
          <p:nvPr/>
        </p:nvSpPr>
        <p:spPr>
          <a:xfrm>
            <a:off x="540000" y="2592000"/>
            <a:ext cx="6480000" cy="324000"/>
          </a:xfrm>
          <a:prstGeom prst="rect">
            <a:avLst/>
          </a:prstGeom>
          <a:solidFill>
            <a:srgbClr val="0A2B6B"/>
          </a:solidFill>
          <a:ln w="6985">
            <a:solidFill>
              <a:srgbClr val="202020"/>
            </a:solidFill>
            <a:prstDash val="solid"/>
          </a:ln>
        </p:spPr>
      </p:sp>
      <p:sp>
        <p:nvSpPr>
          <p:cNvPr id="14" name="Text 11"/>
          <p:cNvSpPr/>
          <p:nvPr/>
        </p:nvSpPr>
        <p:spPr>
          <a:xfrm>
            <a:off x="601200" y="2631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votés en assemblée générale</a:t>
            </a:r>
            <a:endParaRPr lang="en-US" sz="1000" dirty="0"/>
          </a:p>
        </p:txBody>
      </p:sp>
      <p:sp>
        <p:nvSpPr>
          <p:cNvPr id="15" name="Shape 12"/>
          <p:cNvSpPr/>
          <p:nvPr/>
        </p:nvSpPr>
        <p:spPr>
          <a:xfrm>
            <a:off x="540000" y="2916000"/>
            <a:ext cx="3240000" cy="324000"/>
          </a:xfrm>
          <a:prstGeom prst="rect">
            <a:avLst/>
          </a:prstGeom>
          <a:solidFill>
            <a:srgbClr val="FFFFFF"/>
          </a:solidFill>
          <a:ln w="6985">
            <a:solidFill>
              <a:srgbClr val="202020"/>
            </a:solidFill>
            <a:prstDash val="solid"/>
          </a:ln>
        </p:spPr>
      </p:sp>
      <p:sp>
        <p:nvSpPr>
          <p:cNvPr id="16" name="Text 13"/>
          <p:cNvSpPr/>
          <p:nvPr/>
        </p:nvSpPr>
        <p:spPr>
          <a:xfrm>
            <a:off x="601200" y="2955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Shape 14"/>
          <p:cNvSpPr/>
          <p:nvPr/>
        </p:nvSpPr>
        <p:spPr>
          <a:xfrm>
            <a:off x="3780000" y="2916000"/>
            <a:ext cx="3240000" cy="324000"/>
          </a:xfrm>
          <a:prstGeom prst="rect">
            <a:avLst/>
          </a:prstGeom>
          <a:solidFill>
            <a:srgbClr val="FFFFFF"/>
          </a:solidFill>
          <a:ln w="6985">
            <a:solidFill>
              <a:srgbClr val="202020"/>
            </a:solidFill>
            <a:prstDash val="solid"/>
          </a:ln>
        </p:spPr>
      </p:sp>
      <p:sp>
        <p:nvSpPr>
          <p:cNvPr id="18" name="Text 15"/>
          <p:cNvSpPr/>
          <p:nvPr/>
        </p:nvSpPr>
        <p:spPr>
          <a:xfrm>
            <a:off x="3841200" y="29556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Registre de sécurité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034000"/>
            <a:ext cx="1152000" cy="1627200"/>
          </a:xfrm>
          <a:prstGeom prst="rect">
            <a:avLst/>
          </a:prstGeom>
          <a:solidFill>
            <a:srgbClr val="FF0000"/>
          </a:solidFill>
          <a:ln w="6985">
            <a:solidFill>
              <a:srgbClr val="202020"/>
            </a:solidFill>
            <a:prstDash val="solid"/>
          </a:ln>
        </p:spPr>
      </p:sp>
      <p:sp>
        <p:nvSpPr>
          <p:cNvPr id="17" name="Text 14"/>
          <p:cNvSpPr/>
          <p:nvPr/>
        </p:nvSpPr>
        <p:spPr>
          <a:xfrm>
            <a:off x="4093200" y="2073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18" name="Shape 15"/>
          <p:cNvSpPr/>
          <p:nvPr/>
        </p:nvSpPr>
        <p:spPr>
          <a:xfrm>
            <a:off x="5184000" y="2034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661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37008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3661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3700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661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3700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88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3280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288400"/>
            <a:ext cx="1152000" cy="1627200"/>
          </a:xfrm>
          <a:prstGeom prst="rect">
            <a:avLst/>
          </a:prstGeom>
          <a:solidFill>
            <a:srgbClr val="BFBFBF"/>
          </a:solidFill>
          <a:ln w="6985">
            <a:solidFill>
              <a:srgbClr val="202020"/>
            </a:solidFill>
            <a:prstDash val="solid"/>
          </a:ln>
        </p:spPr>
      </p:sp>
      <p:sp>
        <p:nvSpPr>
          <p:cNvPr id="29" name="Text 26"/>
          <p:cNvSpPr/>
          <p:nvPr/>
        </p:nvSpPr>
        <p:spPr>
          <a:xfrm>
            <a:off x="4093200" y="5328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30" name="Shape 27"/>
          <p:cNvSpPr/>
          <p:nvPr/>
        </p:nvSpPr>
        <p:spPr>
          <a:xfrm>
            <a:off x="5184000" y="5288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328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1000" dirty="0"/>
          </a:p>
        </p:txBody>
      </p:sp>
      <p:sp>
        <p:nvSpPr>
          <p:cNvPr id="9" name="Text 6"/>
          <p:cNvSpPr/>
          <p:nvPr/>
        </p:nvSpPr>
        <p:spPr>
          <a:xfrm>
            <a:off x="648000" y="2523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1000" dirty="0"/>
          </a:p>
        </p:txBody>
      </p:sp>
      <p:sp>
        <p:nvSpPr>
          <p:cNvPr id="10" name="Text 7"/>
          <p:cNvSpPr/>
          <p:nvPr/>
        </p:nvSpPr>
        <p:spPr>
          <a:xfrm>
            <a:off x="648000" y="350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1000" dirty="0"/>
          </a:p>
        </p:txBody>
      </p:sp>
      <p:sp>
        <p:nvSpPr>
          <p:cNvPr id="11" name="Text 8"/>
          <p:cNvSpPr/>
          <p:nvPr/>
        </p:nvSpPr>
        <p:spPr>
          <a:xfrm>
            <a:off x="648000" y="4647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1000" dirty="0"/>
          </a:p>
        </p:txBody>
      </p:sp>
      <p:sp>
        <p:nvSpPr>
          <p:cNvPr id="12" name="Shape 9"/>
          <p:cNvSpPr/>
          <p:nvPr/>
        </p:nvSpPr>
        <p:spPr>
          <a:xfrm>
            <a:off x="954000" y="5626800"/>
            <a:ext cx="1872000" cy="324000"/>
          </a:xfrm>
          <a:prstGeom prst="rect">
            <a:avLst/>
          </a:prstGeom>
          <a:solidFill>
            <a:srgbClr val="FFFFFF"/>
          </a:solidFill>
          <a:ln w="6985">
            <a:solidFill>
              <a:srgbClr val="202020"/>
            </a:solidFill>
            <a:prstDash val="solid"/>
          </a:ln>
        </p:spPr>
      </p:sp>
      <p:sp>
        <p:nvSpPr>
          <p:cNvPr id="13" name="Text 10"/>
          <p:cNvSpPr/>
          <p:nvPr/>
        </p:nvSpPr>
        <p:spPr>
          <a:xfrm>
            <a:off x="1015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vente</a:t>
            </a:r>
            <a:endParaRPr lang="en-US" sz="1000" dirty="0"/>
          </a:p>
        </p:txBody>
      </p:sp>
      <p:sp>
        <p:nvSpPr>
          <p:cNvPr id="14" name="Shape 11"/>
          <p:cNvSpPr/>
          <p:nvPr/>
        </p:nvSpPr>
        <p:spPr>
          <a:xfrm>
            <a:off x="2826000" y="5626800"/>
            <a:ext cx="1872000" cy="324000"/>
          </a:xfrm>
          <a:prstGeom prst="rect">
            <a:avLst/>
          </a:prstGeom>
          <a:solidFill>
            <a:srgbClr val="FFFFFF"/>
          </a:solidFill>
          <a:ln w="6985">
            <a:solidFill>
              <a:srgbClr val="202020"/>
            </a:solidFill>
            <a:prstDash val="solid"/>
          </a:ln>
        </p:spPr>
      </p:sp>
      <p:sp>
        <p:nvSpPr>
          <p:cNvPr id="15" name="Text 12"/>
          <p:cNvSpPr/>
          <p:nvPr/>
        </p:nvSpPr>
        <p:spPr>
          <a:xfrm>
            <a:off x="2887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Dates clés</a:t>
            </a:r>
            <a:endParaRPr lang="en-US" sz="1000" dirty="0"/>
          </a:p>
        </p:txBody>
      </p:sp>
      <p:sp>
        <p:nvSpPr>
          <p:cNvPr id="16" name="Shape 13"/>
          <p:cNvSpPr/>
          <p:nvPr/>
        </p:nvSpPr>
        <p:spPr>
          <a:xfrm>
            <a:off x="4698000" y="5626800"/>
            <a:ext cx="1872000" cy="324000"/>
          </a:xfrm>
          <a:prstGeom prst="rect">
            <a:avLst/>
          </a:prstGeom>
          <a:solidFill>
            <a:srgbClr val="FFFFFF"/>
          </a:solidFill>
          <a:ln w="6985">
            <a:solidFill>
              <a:srgbClr val="202020"/>
            </a:solidFill>
            <a:prstDash val="solid"/>
          </a:ln>
        </p:spPr>
      </p:sp>
      <p:sp>
        <p:nvSpPr>
          <p:cNvPr id="17" name="Text 14"/>
          <p:cNvSpPr/>
          <p:nvPr/>
        </p:nvSpPr>
        <p:spPr>
          <a:xfrm>
            <a:off x="4759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location</a:t>
            </a:r>
            <a:endParaRPr lang="en-US" sz="1000" dirty="0"/>
          </a:p>
        </p:txBody>
      </p:sp>
      <p:sp>
        <p:nvSpPr>
          <p:cNvPr id="18" name="Shape 15"/>
          <p:cNvSpPr/>
          <p:nvPr/>
        </p:nvSpPr>
        <p:spPr>
          <a:xfrm>
            <a:off x="954000" y="5950800"/>
            <a:ext cx="1872000" cy="648000"/>
          </a:xfrm>
          <a:prstGeom prst="rect">
            <a:avLst/>
          </a:prstGeom>
          <a:solidFill>
            <a:srgbClr val="FFFFFF"/>
          </a:solidFill>
          <a:ln w="6985">
            <a:solidFill>
              <a:srgbClr val="202020"/>
            </a:solidFill>
            <a:prstDash val="solid"/>
          </a:ln>
        </p:spPr>
      </p:sp>
      <p:sp>
        <p:nvSpPr>
          <p:cNvPr id="19" name="Text 16"/>
          <p:cNvSpPr/>
          <p:nvPr/>
        </p:nvSpPr>
        <p:spPr>
          <a:xfrm>
            <a:off x="1015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0" name="Shape 17"/>
          <p:cNvSpPr/>
          <p:nvPr/>
        </p:nvSpPr>
        <p:spPr>
          <a:xfrm>
            <a:off x="2826000" y="5950800"/>
            <a:ext cx="1872000" cy="648000"/>
          </a:xfrm>
          <a:prstGeom prst="rect">
            <a:avLst/>
          </a:prstGeom>
          <a:solidFill>
            <a:srgbClr val="FFFFFF"/>
          </a:solidFill>
          <a:ln w="6985">
            <a:solidFill>
              <a:srgbClr val="202020"/>
            </a:solidFill>
            <a:prstDash val="solid"/>
          </a:ln>
        </p:spPr>
      </p:sp>
      <p:sp>
        <p:nvSpPr>
          <p:cNvPr id="21" name="Text 18"/>
          <p:cNvSpPr/>
          <p:nvPr/>
        </p:nvSpPr>
        <p:spPr>
          <a:xfrm>
            <a:off x="2887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2" name="Shape 19"/>
          <p:cNvSpPr/>
          <p:nvPr/>
        </p:nvSpPr>
        <p:spPr>
          <a:xfrm>
            <a:off x="4698000" y="5950800"/>
            <a:ext cx="1872000" cy="648000"/>
          </a:xfrm>
          <a:prstGeom prst="rect">
            <a:avLst/>
          </a:prstGeom>
          <a:solidFill>
            <a:srgbClr val="FFFFFF"/>
          </a:solidFill>
          <a:ln w="6985">
            <a:solidFill>
              <a:srgbClr val="202020"/>
            </a:solidFill>
            <a:prstDash val="solid"/>
          </a:ln>
        </p:spPr>
      </p:sp>
      <p:sp>
        <p:nvSpPr>
          <p:cNvPr id="23" name="Text 20"/>
          <p:cNvSpPr/>
          <p:nvPr/>
        </p:nvSpPr>
        <p:spPr>
          <a:xfrm>
            <a:off x="4759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4" name="Text 21"/>
          <p:cNvSpPr/>
          <p:nvPr/>
        </p:nvSpPr>
        <p:spPr>
          <a:xfrm>
            <a:off x="2898000" y="616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Août 2022</a:t>
            </a:r>
            <a:endParaRPr lang="en-US" sz="1000" dirty="0"/>
          </a:p>
        </p:txBody>
      </p:sp>
      <p:sp>
        <p:nvSpPr>
          <p:cNvPr id="25" name="Text 22"/>
          <p:cNvSpPr/>
          <p:nvPr/>
        </p:nvSpPr>
        <p:spPr>
          <a:xfrm>
            <a:off x="4770000" y="6022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Gel des loyers</a:t>
            </a:r>
            <a:endParaRPr lang="en-US" sz="1000" dirty="0"/>
          </a:p>
        </p:txBody>
      </p:sp>
      <p:pic>
        <p:nvPicPr>
          <p:cNvPr id="26" name="Image 1" descr="Étiquette énergétique F">    </p:cNvPr>
          <p:cNvPicPr>
            <a:picLocks noChangeAspect="1"/>
          </p:cNvPicPr>
          <p:nvPr/>
        </p:nvPicPr>
        <p:blipFill>
          <a:blip r:embed="rId2"/>
          <a:srcRect l="0" r="0" t="0" b="0"/>
          <a:stretch/>
        </p:blipFill>
        <p:spPr>
          <a:xfrm>
            <a:off x="4995000" y="6238800"/>
            <a:ext cx="558000" cy="306000"/>
          </a:xfrm>
          <a:prstGeom prst="rect">
            <a:avLst/>
          </a:prstGeom>
        </p:spPr>
      </p:pic>
      <p:pic>
        <p:nvPicPr>
          <p:cNvPr id="27" name="Image 2" descr="Étiquette énergétique G">    </p:cNvPr>
          <p:cNvPicPr>
            <a:picLocks noChangeAspect="1"/>
          </p:cNvPicPr>
          <p:nvPr/>
        </p:nvPicPr>
        <p:blipFill>
          <a:blip r:embed="rId3"/>
          <a:srcRect l="0" r="0" t="0" b="0"/>
          <a:stretch/>
        </p:blipFill>
        <p:spPr>
          <a:xfrm>
            <a:off x="5715000" y="6238800"/>
            <a:ext cx="558000" cy="306000"/>
          </a:xfrm>
          <a:prstGeom prst="rect">
            <a:avLst/>
          </a:prstGeom>
        </p:spPr>
      </p:pic>
      <p:sp>
        <p:nvSpPr>
          <p:cNvPr id="28" name="Shape 23"/>
          <p:cNvSpPr/>
          <p:nvPr/>
        </p:nvSpPr>
        <p:spPr>
          <a:xfrm>
            <a:off x="954000" y="6598800"/>
            <a:ext cx="1872000" cy="1080000"/>
          </a:xfrm>
          <a:prstGeom prst="rect">
            <a:avLst/>
          </a:prstGeom>
          <a:solidFill>
            <a:srgbClr val="FFFFFF"/>
          </a:solidFill>
          <a:ln w="6985">
            <a:solidFill>
              <a:srgbClr val="202020"/>
            </a:solidFill>
            <a:prstDash val="solid"/>
          </a:ln>
        </p:spPr>
      </p:sp>
      <p:sp>
        <p:nvSpPr>
          <p:cNvPr id="29" name="Text 24"/>
          <p:cNvSpPr/>
          <p:nvPr/>
        </p:nvSpPr>
        <p:spPr>
          <a:xfrm>
            <a:off x="1015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0" name="Shape 25"/>
          <p:cNvSpPr/>
          <p:nvPr/>
        </p:nvSpPr>
        <p:spPr>
          <a:xfrm>
            <a:off x="2826000" y="6598800"/>
            <a:ext cx="1872000" cy="1080000"/>
          </a:xfrm>
          <a:prstGeom prst="rect">
            <a:avLst/>
          </a:prstGeom>
          <a:solidFill>
            <a:srgbClr val="FFFFFF"/>
          </a:solidFill>
          <a:ln w="6985">
            <a:solidFill>
              <a:srgbClr val="202020"/>
            </a:solidFill>
            <a:prstDash val="solid"/>
          </a:ln>
        </p:spPr>
      </p:sp>
      <p:sp>
        <p:nvSpPr>
          <p:cNvPr id="31" name="Text 26"/>
          <p:cNvSpPr/>
          <p:nvPr/>
        </p:nvSpPr>
        <p:spPr>
          <a:xfrm>
            <a:off x="2887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2" name="Shape 27"/>
          <p:cNvSpPr/>
          <p:nvPr/>
        </p:nvSpPr>
        <p:spPr>
          <a:xfrm>
            <a:off x="4698000" y="6598800"/>
            <a:ext cx="1872000" cy="1080000"/>
          </a:xfrm>
          <a:prstGeom prst="rect">
            <a:avLst/>
          </a:prstGeom>
          <a:solidFill>
            <a:srgbClr val="FFFFFF"/>
          </a:solidFill>
          <a:ln w="6985">
            <a:solidFill>
              <a:srgbClr val="202020"/>
            </a:solidFill>
            <a:prstDash val="solid"/>
          </a:ln>
        </p:spPr>
      </p:sp>
      <p:sp>
        <p:nvSpPr>
          <p:cNvPr id="33" name="Text 28"/>
          <p:cNvSpPr/>
          <p:nvPr/>
        </p:nvSpPr>
        <p:spPr>
          <a:xfrm>
            <a:off x="4759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4" name="Text 29"/>
          <p:cNvSpPr/>
          <p:nvPr/>
        </p:nvSpPr>
        <p:spPr>
          <a:xfrm>
            <a:off x="2898000" y="7030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2023</a:t>
            </a:r>
            <a:endParaRPr lang="en-US" sz="1000" dirty="0"/>
          </a:p>
        </p:txBody>
      </p:sp>
      <p:sp>
        <p:nvSpPr>
          <p:cNvPr id="35" name="Text 30"/>
          <p:cNvSpPr/>
          <p:nvPr/>
        </p:nvSpPr>
        <p:spPr>
          <a:xfrm>
            <a:off x="1026000" y="667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36" name="Text 31"/>
          <p:cNvSpPr/>
          <p:nvPr/>
        </p:nvSpPr>
        <p:spPr>
          <a:xfrm>
            <a:off x="4770000" y="667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37" name="Image 3" descr="Étiquette énergétique F">    </p:cNvPr>
          <p:cNvPicPr>
            <a:picLocks noChangeAspect="1"/>
          </p:cNvPicPr>
          <p:nvPr/>
        </p:nvPicPr>
        <p:blipFill>
          <a:blip r:embed="rId4"/>
          <a:srcRect l="0" r="0" t="0" b="0"/>
          <a:stretch/>
        </p:blipFill>
        <p:spPr>
          <a:xfrm>
            <a:off x="1251000" y="7318800"/>
            <a:ext cx="558000" cy="306000"/>
          </a:xfrm>
          <a:prstGeom prst="rect">
            <a:avLst/>
          </a:prstGeom>
        </p:spPr>
      </p:pic>
      <p:pic>
        <p:nvPicPr>
          <p:cNvPr id="38" name="Image 4" descr="Étiquette énergétique G">    </p:cNvPr>
          <p:cNvPicPr>
            <a:picLocks noChangeAspect="1"/>
          </p:cNvPicPr>
          <p:nvPr/>
        </p:nvPicPr>
        <p:blipFill>
          <a:blip r:embed="rId5"/>
          <a:srcRect l="0" r="0" t="0" b="0"/>
          <a:stretch/>
        </p:blipFill>
        <p:spPr>
          <a:xfrm>
            <a:off x="1971000" y="7318800"/>
            <a:ext cx="558000" cy="306000"/>
          </a:xfrm>
          <a:prstGeom prst="rect">
            <a:avLst/>
          </a:prstGeom>
        </p:spPr>
      </p:pic>
      <p:pic>
        <p:nvPicPr>
          <p:cNvPr id="39" name="Image 5" descr="Étiquette énergétique G">    </p:cNvPr>
          <p:cNvPicPr>
            <a:picLocks noChangeAspect="1"/>
          </p:cNvPicPr>
          <p:nvPr/>
        </p:nvPicPr>
        <p:blipFill>
          <a:blip r:embed="rId6"/>
          <a:srcRect l="0" r="0" t="0" b="0"/>
          <a:stretch/>
        </p:blipFill>
        <p:spPr>
          <a:xfrm>
            <a:off x="5355000" y="6922800"/>
            <a:ext cx="558000" cy="306000"/>
          </a:xfrm>
          <a:prstGeom prst="rect">
            <a:avLst/>
          </a:prstGeom>
        </p:spPr>
      </p:pic>
      <p:sp>
        <p:nvSpPr>
          <p:cNvPr id="40" name="Text 32"/>
          <p:cNvSpPr/>
          <p:nvPr/>
        </p:nvSpPr>
        <p:spPr>
          <a:xfrm>
            <a:off x="4770000" y="7246800"/>
            <a:ext cx="1728000" cy="3600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Si la consommation annuelle</a:t>
            </a:r>
            <a:endParaRPr lang="en-US" sz="950" dirty="0"/>
          </a:p>
          <a:p>
            <a:pPr algn="ctr" indent="0" marL="0">
              <a:buNone/>
            </a:pPr>
            <a:r>
              <a:rPr lang="en-US" sz="950" dirty="0">
                <a:solidFill>
                  <a:srgbClr val="1C1C1C"/>
                </a:solidFill>
                <a:latin typeface="Aptos" pitchFamily="34" charset="0"/>
                <a:ea typeface="Aptos" pitchFamily="34" charset="-122"/>
                <a:cs typeface="Aptos" pitchFamily="34" charset="-120"/>
              </a:rPr>
              <a:t>&gt; 450 kWh/m²</a:t>
            </a:r>
            <a:endParaRPr lang="en-US" sz="950" dirty="0"/>
          </a:p>
        </p:txBody>
      </p:sp>
      <p:sp>
        <p:nvSpPr>
          <p:cNvPr id="41" name="Shape 33"/>
          <p:cNvSpPr/>
          <p:nvPr/>
        </p:nvSpPr>
        <p:spPr>
          <a:xfrm>
            <a:off x="954000" y="7678800"/>
            <a:ext cx="1872000" cy="756000"/>
          </a:xfrm>
          <a:prstGeom prst="rect">
            <a:avLst/>
          </a:prstGeom>
          <a:solidFill>
            <a:srgbClr val="FFFFFF"/>
          </a:solidFill>
          <a:ln w="6985">
            <a:solidFill>
              <a:srgbClr val="202020"/>
            </a:solidFill>
            <a:prstDash val="solid"/>
          </a:ln>
        </p:spPr>
      </p:sp>
      <p:sp>
        <p:nvSpPr>
          <p:cNvPr id="42" name="Text 34"/>
          <p:cNvSpPr/>
          <p:nvPr/>
        </p:nvSpPr>
        <p:spPr>
          <a:xfrm>
            <a:off x="1015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3" name="Shape 35"/>
          <p:cNvSpPr/>
          <p:nvPr/>
        </p:nvSpPr>
        <p:spPr>
          <a:xfrm>
            <a:off x="2826000" y="7678800"/>
            <a:ext cx="1872000" cy="756000"/>
          </a:xfrm>
          <a:prstGeom prst="rect">
            <a:avLst/>
          </a:prstGeom>
          <a:solidFill>
            <a:srgbClr val="FFFFFF"/>
          </a:solidFill>
          <a:ln w="6985">
            <a:solidFill>
              <a:srgbClr val="202020"/>
            </a:solidFill>
            <a:prstDash val="solid"/>
          </a:ln>
        </p:spPr>
      </p:sp>
      <p:sp>
        <p:nvSpPr>
          <p:cNvPr id="44" name="Text 36"/>
          <p:cNvSpPr/>
          <p:nvPr/>
        </p:nvSpPr>
        <p:spPr>
          <a:xfrm>
            <a:off x="2887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5" name="Shape 37"/>
          <p:cNvSpPr/>
          <p:nvPr/>
        </p:nvSpPr>
        <p:spPr>
          <a:xfrm>
            <a:off x="4698000" y="7678800"/>
            <a:ext cx="1872000" cy="756000"/>
          </a:xfrm>
          <a:prstGeom prst="rect">
            <a:avLst/>
          </a:prstGeom>
          <a:solidFill>
            <a:srgbClr val="FFFFFF"/>
          </a:solidFill>
          <a:ln w="6985">
            <a:solidFill>
              <a:srgbClr val="202020"/>
            </a:solidFill>
            <a:prstDash val="solid"/>
          </a:ln>
        </p:spPr>
      </p:sp>
      <p:sp>
        <p:nvSpPr>
          <p:cNvPr id="46" name="Text 38"/>
          <p:cNvSpPr/>
          <p:nvPr/>
        </p:nvSpPr>
        <p:spPr>
          <a:xfrm>
            <a:off x="4759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7" name="Text 39"/>
          <p:cNvSpPr/>
          <p:nvPr/>
        </p:nvSpPr>
        <p:spPr>
          <a:xfrm>
            <a:off x="2898000" y="7948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2025</a:t>
            </a:r>
            <a:endParaRPr lang="en-US" sz="1000" dirty="0"/>
          </a:p>
        </p:txBody>
      </p:sp>
      <p:sp>
        <p:nvSpPr>
          <p:cNvPr id="48" name="Text 40"/>
          <p:cNvSpPr/>
          <p:nvPr/>
        </p:nvSpPr>
        <p:spPr>
          <a:xfrm>
            <a:off x="1026000" y="775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49" name="Text 41"/>
          <p:cNvSpPr/>
          <p:nvPr/>
        </p:nvSpPr>
        <p:spPr>
          <a:xfrm>
            <a:off x="4770000" y="775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50" name="Image 6" descr="Étiquette énergétique E">    </p:cNvPr>
          <p:cNvPicPr>
            <a:picLocks noChangeAspect="1"/>
          </p:cNvPicPr>
          <p:nvPr/>
        </p:nvPicPr>
        <p:blipFill>
          <a:blip r:embed="rId7"/>
          <a:srcRect l="0" r="0" t="0" b="0"/>
          <a:stretch/>
        </p:blipFill>
        <p:spPr>
          <a:xfrm>
            <a:off x="1611000" y="8074800"/>
            <a:ext cx="558000" cy="306000"/>
          </a:xfrm>
          <a:prstGeom prst="rect">
            <a:avLst/>
          </a:prstGeom>
        </p:spPr>
      </p:pic>
      <p:pic>
        <p:nvPicPr>
          <p:cNvPr id="51" name="Image 7" descr="Étiquette énergétique G">    </p:cNvPr>
          <p:cNvPicPr>
            <a:picLocks noChangeAspect="1"/>
          </p:cNvPicPr>
          <p:nvPr/>
        </p:nvPicPr>
        <p:blipFill>
          <a:blip r:embed="rId8"/>
          <a:srcRect l="0" r="0" t="0" b="0"/>
          <a:stretch/>
        </p:blipFill>
        <p:spPr>
          <a:xfrm>
            <a:off x="5355000" y="8074800"/>
            <a:ext cx="558000" cy="306000"/>
          </a:xfrm>
          <a:prstGeom prst="rect">
            <a:avLst/>
          </a:prstGeom>
        </p:spPr>
      </p:pic>
      <p:sp>
        <p:nvSpPr>
          <p:cNvPr id="52" name="Shape 42"/>
          <p:cNvSpPr/>
          <p:nvPr/>
        </p:nvSpPr>
        <p:spPr>
          <a:xfrm>
            <a:off x="954000" y="8434800"/>
            <a:ext cx="1872000" cy="612000"/>
          </a:xfrm>
          <a:prstGeom prst="rect">
            <a:avLst/>
          </a:prstGeom>
          <a:solidFill>
            <a:srgbClr val="FFFFFF"/>
          </a:solidFill>
          <a:ln w="6985">
            <a:solidFill>
              <a:srgbClr val="202020"/>
            </a:solidFill>
            <a:prstDash val="solid"/>
          </a:ln>
        </p:spPr>
      </p:sp>
      <p:sp>
        <p:nvSpPr>
          <p:cNvPr id="53" name="Text 43"/>
          <p:cNvSpPr/>
          <p:nvPr/>
        </p:nvSpPr>
        <p:spPr>
          <a:xfrm>
            <a:off x="1015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4" name="Shape 44"/>
          <p:cNvSpPr/>
          <p:nvPr/>
        </p:nvSpPr>
        <p:spPr>
          <a:xfrm>
            <a:off x="2826000" y="8434800"/>
            <a:ext cx="1872000" cy="612000"/>
          </a:xfrm>
          <a:prstGeom prst="rect">
            <a:avLst/>
          </a:prstGeom>
          <a:solidFill>
            <a:srgbClr val="FFFFFF"/>
          </a:solidFill>
          <a:ln w="6985">
            <a:solidFill>
              <a:srgbClr val="202020"/>
            </a:solidFill>
            <a:prstDash val="solid"/>
          </a:ln>
        </p:spPr>
      </p:sp>
      <p:sp>
        <p:nvSpPr>
          <p:cNvPr id="55" name="Text 45"/>
          <p:cNvSpPr/>
          <p:nvPr/>
        </p:nvSpPr>
        <p:spPr>
          <a:xfrm>
            <a:off x="2887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6" name="Shape 46"/>
          <p:cNvSpPr/>
          <p:nvPr/>
        </p:nvSpPr>
        <p:spPr>
          <a:xfrm>
            <a:off x="4698000" y="8434800"/>
            <a:ext cx="1872000" cy="612000"/>
          </a:xfrm>
          <a:prstGeom prst="rect">
            <a:avLst/>
          </a:prstGeom>
          <a:solidFill>
            <a:srgbClr val="FFFFFF"/>
          </a:solidFill>
          <a:ln w="6985">
            <a:solidFill>
              <a:srgbClr val="202020"/>
            </a:solidFill>
            <a:prstDash val="solid"/>
          </a:ln>
        </p:spPr>
      </p:sp>
      <p:sp>
        <p:nvSpPr>
          <p:cNvPr id="57" name="Text 47"/>
          <p:cNvSpPr/>
          <p:nvPr/>
        </p:nvSpPr>
        <p:spPr>
          <a:xfrm>
            <a:off x="4759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8" name="Text 48"/>
          <p:cNvSpPr/>
          <p:nvPr/>
        </p:nvSpPr>
        <p:spPr>
          <a:xfrm>
            <a:off x="2898000" y="8632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2028</a:t>
            </a:r>
            <a:endParaRPr lang="en-US" sz="1000" dirty="0"/>
          </a:p>
        </p:txBody>
      </p:sp>
      <p:sp>
        <p:nvSpPr>
          <p:cNvPr id="59" name="Text 49"/>
          <p:cNvSpPr/>
          <p:nvPr/>
        </p:nvSpPr>
        <p:spPr>
          <a:xfrm>
            <a:off x="4770000" y="8506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60" name="Image 8" descr="Étiquette énergétique F">    </p:cNvPr>
          <p:cNvPicPr>
            <a:picLocks noChangeAspect="1"/>
          </p:cNvPicPr>
          <p:nvPr/>
        </p:nvPicPr>
        <p:blipFill>
          <a:blip r:embed="rId9"/>
          <a:srcRect l="0" r="0" t="0" b="0"/>
          <a:stretch/>
        </p:blipFill>
        <p:spPr>
          <a:xfrm>
            <a:off x="5355000" y="8686800"/>
            <a:ext cx="558000" cy="306000"/>
          </a:xfrm>
          <a:prstGeom prst="rect">
            <a:avLst/>
          </a:prstGeom>
        </p:spPr>
      </p:pic>
      <p:sp>
        <p:nvSpPr>
          <p:cNvPr id="61" name="Shape 50"/>
          <p:cNvSpPr/>
          <p:nvPr/>
        </p:nvSpPr>
        <p:spPr>
          <a:xfrm>
            <a:off x="954000" y="9046800"/>
            <a:ext cx="1872000" cy="756000"/>
          </a:xfrm>
          <a:prstGeom prst="rect">
            <a:avLst/>
          </a:prstGeom>
          <a:solidFill>
            <a:srgbClr val="FFFFFF"/>
          </a:solidFill>
          <a:ln w="6985">
            <a:solidFill>
              <a:srgbClr val="202020"/>
            </a:solidFill>
            <a:prstDash val="solid"/>
          </a:ln>
        </p:spPr>
      </p:sp>
      <p:sp>
        <p:nvSpPr>
          <p:cNvPr id="62" name="Text 51"/>
          <p:cNvSpPr/>
          <p:nvPr/>
        </p:nvSpPr>
        <p:spPr>
          <a:xfrm>
            <a:off x="1015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3" name="Shape 52"/>
          <p:cNvSpPr/>
          <p:nvPr/>
        </p:nvSpPr>
        <p:spPr>
          <a:xfrm>
            <a:off x="2826000" y="9046800"/>
            <a:ext cx="1872000" cy="756000"/>
          </a:xfrm>
          <a:prstGeom prst="rect">
            <a:avLst/>
          </a:prstGeom>
          <a:solidFill>
            <a:srgbClr val="FFFFFF"/>
          </a:solidFill>
          <a:ln w="6985">
            <a:solidFill>
              <a:srgbClr val="202020"/>
            </a:solidFill>
            <a:prstDash val="solid"/>
          </a:ln>
        </p:spPr>
      </p:sp>
      <p:sp>
        <p:nvSpPr>
          <p:cNvPr id="64" name="Text 53"/>
          <p:cNvSpPr/>
          <p:nvPr/>
        </p:nvSpPr>
        <p:spPr>
          <a:xfrm>
            <a:off x="2887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5" name="Shape 54"/>
          <p:cNvSpPr/>
          <p:nvPr/>
        </p:nvSpPr>
        <p:spPr>
          <a:xfrm>
            <a:off x="4698000" y="9046800"/>
            <a:ext cx="1872000" cy="756000"/>
          </a:xfrm>
          <a:prstGeom prst="rect">
            <a:avLst/>
          </a:prstGeom>
          <a:solidFill>
            <a:srgbClr val="FFFFFF"/>
          </a:solidFill>
          <a:ln w="6985">
            <a:solidFill>
              <a:srgbClr val="202020"/>
            </a:solidFill>
            <a:prstDash val="solid"/>
          </a:ln>
        </p:spPr>
      </p:sp>
      <p:sp>
        <p:nvSpPr>
          <p:cNvPr id="66" name="Text 55"/>
          <p:cNvSpPr/>
          <p:nvPr/>
        </p:nvSpPr>
        <p:spPr>
          <a:xfrm>
            <a:off x="4759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7" name="Text 56"/>
          <p:cNvSpPr/>
          <p:nvPr/>
        </p:nvSpPr>
        <p:spPr>
          <a:xfrm>
            <a:off x="2898000" y="931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2034</a:t>
            </a:r>
            <a:endParaRPr lang="en-US" sz="1000" dirty="0"/>
          </a:p>
        </p:txBody>
      </p:sp>
      <p:sp>
        <p:nvSpPr>
          <p:cNvPr id="68" name="Text 57"/>
          <p:cNvSpPr/>
          <p:nvPr/>
        </p:nvSpPr>
        <p:spPr>
          <a:xfrm>
            <a:off x="1026000" y="9118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69" name="Text 58"/>
          <p:cNvSpPr/>
          <p:nvPr/>
        </p:nvSpPr>
        <p:spPr>
          <a:xfrm>
            <a:off x="4770000" y="9118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70" name="Image 9" descr="Étiquette énergétique D">    </p:cNvPr>
          <p:cNvPicPr>
            <a:picLocks noChangeAspect="1"/>
          </p:cNvPicPr>
          <p:nvPr/>
        </p:nvPicPr>
        <p:blipFill>
          <a:blip r:embed="rId10"/>
          <a:srcRect l="0" r="0" t="0" b="0"/>
          <a:stretch/>
        </p:blipFill>
        <p:spPr>
          <a:xfrm>
            <a:off x="1611000" y="9442800"/>
            <a:ext cx="558000" cy="306000"/>
          </a:xfrm>
          <a:prstGeom prst="rect">
            <a:avLst/>
          </a:prstGeom>
        </p:spPr>
      </p:pic>
      <p:pic>
        <p:nvPicPr>
          <p:cNvPr id="71" name="Image 10" descr="Étiquette énergétique E">    </p:cNvPr>
          <p:cNvPicPr>
            <a:picLocks noChangeAspect="1"/>
          </p:cNvPicPr>
          <p:nvPr/>
        </p:nvPicPr>
        <p:blipFill>
          <a:blip r:embed="rId11"/>
          <a:srcRect l="0" r="0" t="0" b="0"/>
          <a:stretch/>
        </p:blipFill>
        <p:spPr>
          <a:xfrm>
            <a:off x="5355000" y="9442800"/>
            <a:ext cx="558000" cy="30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1000" dirty="0"/>
          </a:p>
        </p:txBody>
      </p:sp>
      <p:sp>
        <p:nvSpPr>
          <p:cNvPr id="9" name="Text 6"/>
          <p:cNvSpPr/>
          <p:nvPr/>
        </p:nvSpPr>
        <p:spPr>
          <a:xfrm>
            <a:off x="648000" y="251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1000" dirty="0"/>
          </a:p>
        </p:txBody>
      </p:sp>
      <p:sp>
        <p:nvSpPr>
          <p:cNvPr id="10" name="Text 7"/>
          <p:cNvSpPr/>
          <p:nvPr/>
        </p:nvSpPr>
        <p:spPr>
          <a:xfrm>
            <a:off x="648000" y="332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1000" dirty="0"/>
          </a:p>
        </p:txBody>
      </p:sp>
      <p:sp>
        <p:nvSpPr>
          <p:cNvPr id="11" name="Text 8"/>
          <p:cNvSpPr/>
          <p:nvPr/>
        </p:nvSpPr>
        <p:spPr>
          <a:xfrm>
            <a:off x="648000" y="44604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réalisation du DPE collectif : À confirmer.</a:t>
            </a:r>
            <a:endParaRPr lang="en-US" sz="1000" dirty="0"/>
          </a:p>
        </p:txBody>
      </p:sp>
      <p:sp>
        <p:nvSpPr>
          <p:cNvPr id="12" name="Text 9"/>
          <p:cNvSpPr/>
          <p:nvPr/>
        </p:nvSpPr>
        <p:spPr>
          <a:xfrm>
            <a:off x="648000" y="47268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1000" dirty="0"/>
          </a:p>
        </p:txBody>
      </p:sp>
      <p:sp>
        <p:nvSpPr>
          <p:cNvPr id="13" name="Text 10"/>
          <p:cNvSpPr/>
          <p:nvPr/>
        </p:nvSpPr>
        <p:spPr>
          <a:xfrm>
            <a:off x="648000" y="517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Date de réalisation du DPE collectif : À confirmer</a:t>
            </a:r>
            <a:endParaRPr lang="en-US" sz="1000" dirty="0"/>
          </a:p>
        </p:txBody>
      </p:sp>
      <p:sp>
        <p:nvSpPr>
          <p:cNvPr id="14" name="Text 11"/>
          <p:cNvSpPr/>
          <p:nvPr/>
        </p:nvSpPr>
        <p:spPr>
          <a:xfrm>
            <a:off x="648000" y="535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N° du DPE collectif : À confirmer</a:t>
            </a:r>
            <a:endParaRPr lang="en-US" sz="1000" dirty="0"/>
          </a:p>
        </p:txBody>
      </p:sp>
      <p:sp>
        <p:nvSpPr>
          <p:cNvPr id="15" name="Shape 12"/>
          <p:cNvSpPr/>
          <p:nvPr/>
        </p:nvSpPr>
        <p:spPr>
          <a:xfrm>
            <a:off x="540000" y="6660000"/>
            <a:ext cx="3240000" cy="432000"/>
          </a:xfrm>
          <a:prstGeom prst="rect">
            <a:avLst/>
          </a:prstGeom>
          <a:solidFill>
            <a:srgbClr val="0A2B6B"/>
          </a:solidFill>
          <a:ln w="6985">
            <a:solidFill>
              <a:srgbClr val="202020"/>
            </a:solidFill>
            <a:prstDash val="solid"/>
          </a:ln>
        </p:spPr>
      </p:sp>
      <p:sp>
        <p:nvSpPr>
          <p:cNvPr id="16" name="Text 13"/>
          <p:cNvSpPr/>
          <p:nvPr/>
        </p:nvSpPr>
        <p:spPr>
          <a:xfrm>
            <a:off x="60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État initial</a:t>
            </a:r>
            <a:endParaRPr lang="en-US" sz="1000" dirty="0"/>
          </a:p>
        </p:txBody>
      </p:sp>
      <p:sp>
        <p:nvSpPr>
          <p:cNvPr id="17" name="Shape 14"/>
          <p:cNvSpPr/>
          <p:nvPr/>
        </p:nvSpPr>
        <p:spPr>
          <a:xfrm>
            <a:off x="540000" y="7092000"/>
            <a:ext cx="3240000" cy="2196000"/>
          </a:xfrm>
          <a:prstGeom prst="rect">
            <a:avLst/>
          </a:prstGeom>
          <a:solidFill>
            <a:srgbClr val="FFFFFF"/>
          </a:solidFill>
          <a:ln w="6985">
            <a:solidFill>
              <a:srgbClr val="202020"/>
            </a:solidFill>
            <a:prstDash val="solid"/>
          </a:ln>
        </p:spPr>
      </p:sp>
      <p:sp>
        <p:nvSpPr>
          <p:cNvPr id="18" name="Shape 15"/>
          <p:cNvSpPr/>
          <p:nvPr/>
        </p:nvSpPr>
        <p:spPr>
          <a:xfrm>
            <a:off x="3780000" y="6660000"/>
            <a:ext cx="3240000" cy="432000"/>
          </a:xfrm>
          <a:prstGeom prst="rect">
            <a:avLst/>
          </a:prstGeom>
          <a:solidFill>
            <a:srgbClr val="0A2B6B"/>
          </a:solidFill>
          <a:ln w="6985">
            <a:solidFill>
              <a:srgbClr val="202020"/>
            </a:solidFill>
            <a:prstDash val="solid"/>
          </a:ln>
        </p:spPr>
      </p:sp>
      <p:sp>
        <p:nvSpPr>
          <p:cNvPr id="19" name="Text 16"/>
          <p:cNvSpPr/>
          <p:nvPr/>
        </p:nvSpPr>
        <p:spPr>
          <a:xfrm>
            <a:off x="384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Scénario de rénovation le plus ambitieux</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(Scénario n° 1)</a:t>
            </a:r>
            <a:endParaRPr lang="en-US" sz="1000" dirty="0"/>
          </a:p>
        </p:txBody>
      </p:sp>
      <p:sp>
        <p:nvSpPr>
          <p:cNvPr id="20" name="Shape 17"/>
          <p:cNvSpPr/>
          <p:nvPr/>
        </p:nvSpPr>
        <p:spPr>
          <a:xfrm>
            <a:off x="3780000" y="7092000"/>
            <a:ext cx="3240000" cy="2196000"/>
          </a:xfrm>
          <a:prstGeom prst="rect">
            <a:avLst/>
          </a:prstGeom>
          <a:solidFill>
            <a:srgbClr val="FFFFFF"/>
          </a:solidFill>
          <a:ln w="6985">
            <a:solidFill>
              <a:srgbClr val="202020"/>
            </a:solidFill>
            <a:prstDash val="solid"/>
          </a:ln>
        </p:spPr>
      </p:sp>
      <p:sp>
        <p:nvSpPr>
          <p:cNvPr id="21" name="Text 18"/>
          <p:cNvSpPr/>
          <p:nvPr/>
        </p:nvSpPr>
        <p:spPr>
          <a:xfrm>
            <a:off x="648000" y="5724000"/>
            <a:ext cx="6264000" cy="432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1000" dirty="0"/>
          </a:p>
          <a:p>
            <a:pPr indent="0" marL="0">
              <a:buNone/>
            </a:pPr>
            <a:r>
              <a:rPr lang="en-US" sz="10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12</a:t>
            </a:r>
            <a:endParaRPr lang="en-US" sz="950" dirty="0"/>
          </a:p>
        </p:txBody>
      </p:sp>
      <p:sp>
        <p:nvSpPr>
          <p:cNvPr id="7" name="Shape 4"/>
          <p:cNvSpPr/>
          <p:nvPr/>
        </p:nvSpPr>
        <p:spPr>
          <a:xfrm>
            <a:off x="540000" y="1332000"/>
            <a:ext cx="3744000" cy="324000"/>
          </a:xfrm>
          <a:prstGeom prst="rect">
            <a:avLst/>
          </a:prstGeom>
          <a:solidFill>
            <a:srgbClr val="0A2B6B"/>
          </a:solidFill>
          <a:ln w="6985">
            <a:solidFill>
              <a:srgbClr val="202020"/>
            </a:solidFill>
            <a:prstDash val="solid"/>
          </a:ln>
        </p:spPr>
      </p:sp>
      <p:sp>
        <p:nvSpPr>
          <p:cNvPr id="8" name="Text 5"/>
          <p:cNvSpPr/>
          <p:nvPr/>
        </p:nvSpPr>
        <p:spPr>
          <a:xfrm>
            <a:off x="601200" y="1371600"/>
            <a:ext cx="3621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Travaux énergétiques</a:t>
            </a:r>
            <a:endParaRPr lang="en-US" sz="1000" dirty="0"/>
          </a:p>
        </p:txBody>
      </p:sp>
      <p:sp>
        <p:nvSpPr>
          <p:cNvPr id="9" name="Shape 6"/>
          <p:cNvSpPr/>
          <p:nvPr/>
        </p:nvSpPr>
        <p:spPr>
          <a:xfrm>
            <a:off x="4284000" y="1332000"/>
            <a:ext cx="900000" cy="324000"/>
          </a:xfrm>
          <a:prstGeom prst="rect">
            <a:avLst/>
          </a:prstGeom>
          <a:solidFill>
            <a:srgbClr val="0A2B6B"/>
          </a:solidFill>
          <a:ln w="6985">
            <a:solidFill>
              <a:srgbClr val="202020"/>
            </a:solidFill>
            <a:prstDash val="solid"/>
          </a:ln>
        </p:spPr>
      </p:sp>
      <p:sp>
        <p:nvSpPr>
          <p:cNvPr id="10" name="Text 7"/>
          <p:cNvSpPr/>
          <p:nvPr/>
        </p:nvSpPr>
        <p:spPr>
          <a:xfrm>
            <a:off x="4345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1</a:t>
            </a:r>
            <a:endParaRPr lang="en-US" sz="1000" dirty="0"/>
          </a:p>
        </p:txBody>
      </p:sp>
      <p:sp>
        <p:nvSpPr>
          <p:cNvPr id="11" name="Shape 8"/>
          <p:cNvSpPr/>
          <p:nvPr/>
        </p:nvSpPr>
        <p:spPr>
          <a:xfrm>
            <a:off x="5184000" y="1332000"/>
            <a:ext cx="936000" cy="324000"/>
          </a:xfrm>
          <a:prstGeom prst="rect">
            <a:avLst/>
          </a:prstGeom>
          <a:solidFill>
            <a:srgbClr val="0A2B6B"/>
          </a:solidFill>
          <a:ln w="6985">
            <a:solidFill>
              <a:srgbClr val="202020"/>
            </a:solidFill>
            <a:prstDash val="solid"/>
          </a:ln>
        </p:spPr>
      </p:sp>
      <p:sp>
        <p:nvSpPr>
          <p:cNvPr id="12" name="Text 9"/>
          <p:cNvSpPr/>
          <p:nvPr/>
        </p:nvSpPr>
        <p:spPr>
          <a:xfrm>
            <a:off x="5245200" y="1371600"/>
            <a:ext cx="813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2</a:t>
            </a:r>
            <a:endParaRPr lang="en-US" sz="1000" dirty="0"/>
          </a:p>
        </p:txBody>
      </p:sp>
      <p:sp>
        <p:nvSpPr>
          <p:cNvPr id="13" name="Shape 10"/>
          <p:cNvSpPr/>
          <p:nvPr/>
        </p:nvSpPr>
        <p:spPr>
          <a:xfrm>
            <a:off x="6120000" y="1332000"/>
            <a:ext cx="900000" cy="324000"/>
          </a:xfrm>
          <a:prstGeom prst="rect">
            <a:avLst/>
          </a:prstGeom>
          <a:solidFill>
            <a:srgbClr val="0A2B6B"/>
          </a:solidFill>
          <a:ln w="6985">
            <a:solidFill>
              <a:srgbClr val="202020"/>
            </a:solidFill>
            <a:prstDash val="solid"/>
          </a:ln>
        </p:spPr>
      </p:sp>
      <p:sp>
        <p:nvSpPr>
          <p:cNvPr id="14" name="Text 11"/>
          <p:cNvSpPr/>
          <p:nvPr/>
        </p:nvSpPr>
        <p:spPr>
          <a:xfrm>
            <a:off x="6181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3</a:t>
            </a:r>
            <a:endParaRPr lang="en-US" sz="1000" dirty="0"/>
          </a:p>
        </p:txBody>
      </p:sp>
      <p:sp>
        <p:nvSpPr>
          <p:cNvPr id="15" name="Shape 12"/>
          <p:cNvSpPr/>
          <p:nvPr/>
        </p:nvSpPr>
        <p:spPr>
          <a:xfrm>
            <a:off x="540000" y="1656000"/>
            <a:ext cx="3744000" cy="324000"/>
          </a:xfrm>
          <a:prstGeom prst="rect">
            <a:avLst/>
          </a:prstGeom>
          <a:solidFill>
            <a:srgbClr val="FFFFFF"/>
          </a:solidFill>
          <a:ln w="6985">
            <a:solidFill>
              <a:srgbClr val="202020"/>
            </a:solidFill>
            <a:prstDash val="solid"/>
          </a:ln>
        </p:spPr>
      </p:sp>
      <p:sp>
        <p:nvSpPr>
          <p:cNvPr id="16" name="Text 13"/>
          <p:cNvSpPr/>
          <p:nvPr/>
        </p:nvSpPr>
        <p:spPr>
          <a:xfrm>
            <a:off x="601200" y="169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17" name="Shape 14"/>
          <p:cNvSpPr/>
          <p:nvPr/>
        </p:nvSpPr>
        <p:spPr>
          <a:xfrm>
            <a:off x="4284000" y="1656000"/>
            <a:ext cx="900000" cy="324000"/>
          </a:xfrm>
          <a:prstGeom prst="rect">
            <a:avLst/>
          </a:prstGeom>
          <a:solidFill>
            <a:srgbClr val="FFFFFF"/>
          </a:solidFill>
          <a:ln w="6985">
            <a:solidFill>
              <a:srgbClr val="202020"/>
            </a:solidFill>
            <a:prstDash val="solid"/>
          </a:ln>
        </p:spPr>
      </p:sp>
      <p:sp>
        <p:nvSpPr>
          <p:cNvPr id="18" name="Text 15"/>
          <p:cNvSpPr/>
          <p:nvPr/>
        </p:nvSpPr>
        <p:spPr>
          <a:xfrm>
            <a:off x="4345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19" name="Shape 16"/>
          <p:cNvSpPr/>
          <p:nvPr/>
        </p:nvSpPr>
        <p:spPr>
          <a:xfrm>
            <a:off x="5184000" y="1656000"/>
            <a:ext cx="936000" cy="324000"/>
          </a:xfrm>
          <a:prstGeom prst="rect">
            <a:avLst/>
          </a:prstGeom>
          <a:solidFill>
            <a:srgbClr val="FFFFFF"/>
          </a:solidFill>
          <a:ln w="6985">
            <a:solidFill>
              <a:srgbClr val="202020"/>
            </a:solidFill>
            <a:prstDash val="solid"/>
          </a:ln>
        </p:spPr>
      </p:sp>
      <p:sp>
        <p:nvSpPr>
          <p:cNvPr id="20" name="Text 17"/>
          <p:cNvSpPr/>
          <p:nvPr/>
        </p:nvSpPr>
        <p:spPr>
          <a:xfrm>
            <a:off x="5245200" y="1695600"/>
            <a:ext cx="813600" cy="244800"/>
          </a:xfrm>
          <a:prstGeom prst="rect">
            <a:avLst/>
          </a:prstGeom>
          <a:noFill/>
          <a:ln/>
        </p:spPr>
        <p:txBody>
          <a:bodyPr wrap="square" lIns="0" tIns="0" rIns="0" bIns="0" rtlCol="0" anchor="ctr"/>
          <a:lstStyle/>
          <a:p>
            <a:pPr algn="l" indent="0" marL="0">
              <a:buNone/>
            </a:pPr>
            <a:endParaRPr lang="en-US" sz="1000" dirty="0"/>
          </a:p>
        </p:txBody>
      </p:sp>
      <p:sp>
        <p:nvSpPr>
          <p:cNvPr id="21" name="Shape 18"/>
          <p:cNvSpPr/>
          <p:nvPr/>
        </p:nvSpPr>
        <p:spPr>
          <a:xfrm>
            <a:off x="6120000" y="1656000"/>
            <a:ext cx="900000" cy="324000"/>
          </a:xfrm>
          <a:prstGeom prst="rect">
            <a:avLst/>
          </a:prstGeom>
          <a:solidFill>
            <a:srgbClr val="FFFFFF"/>
          </a:solidFill>
          <a:ln w="6985">
            <a:solidFill>
              <a:srgbClr val="202020"/>
            </a:solidFill>
            <a:prstDash val="solid"/>
          </a:ln>
        </p:spPr>
      </p:sp>
      <p:sp>
        <p:nvSpPr>
          <p:cNvPr id="22" name="Text 19"/>
          <p:cNvSpPr/>
          <p:nvPr/>
        </p:nvSpPr>
        <p:spPr>
          <a:xfrm>
            <a:off x="6181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23" name="Shape 20"/>
          <p:cNvSpPr/>
          <p:nvPr/>
        </p:nvSpPr>
        <p:spPr>
          <a:xfrm>
            <a:off x="540000" y="1980000"/>
            <a:ext cx="3744000" cy="324000"/>
          </a:xfrm>
          <a:prstGeom prst="rect">
            <a:avLst/>
          </a:prstGeom>
          <a:solidFill>
            <a:srgbClr val="FFFFFF"/>
          </a:solidFill>
          <a:ln w="6985">
            <a:solidFill>
              <a:srgbClr val="202020"/>
            </a:solidFill>
            <a:prstDash val="solid"/>
          </a:ln>
        </p:spPr>
      </p:sp>
      <p:sp>
        <p:nvSpPr>
          <p:cNvPr id="24" name="Text 21"/>
          <p:cNvSpPr/>
          <p:nvPr/>
        </p:nvSpPr>
        <p:spPr>
          <a:xfrm>
            <a:off x="601200" y="201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25" name="Shape 22"/>
          <p:cNvSpPr/>
          <p:nvPr/>
        </p:nvSpPr>
        <p:spPr>
          <a:xfrm>
            <a:off x="4284000" y="1980000"/>
            <a:ext cx="900000" cy="324000"/>
          </a:xfrm>
          <a:prstGeom prst="rect">
            <a:avLst/>
          </a:prstGeom>
          <a:solidFill>
            <a:srgbClr val="FFFFFF"/>
          </a:solidFill>
          <a:ln w="6985">
            <a:solidFill>
              <a:srgbClr val="202020"/>
            </a:solidFill>
            <a:prstDash val="solid"/>
          </a:ln>
        </p:spPr>
      </p:sp>
      <p:sp>
        <p:nvSpPr>
          <p:cNvPr id="26" name="Text 23"/>
          <p:cNvSpPr/>
          <p:nvPr/>
        </p:nvSpPr>
        <p:spPr>
          <a:xfrm>
            <a:off x="4345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5184000" y="1980000"/>
            <a:ext cx="936000" cy="324000"/>
          </a:xfrm>
          <a:prstGeom prst="rect">
            <a:avLst/>
          </a:prstGeom>
          <a:solidFill>
            <a:srgbClr val="FFFFFF"/>
          </a:solidFill>
          <a:ln w="6985">
            <a:solidFill>
              <a:srgbClr val="202020"/>
            </a:solidFill>
            <a:prstDash val="solid"/>
          </a:ln>
        </p:spPr>
      </p:sp>
      <p:sp>
        <p:nvSpPr>
          <p:cNvPr id="28" name="Text 25"/>
          <p:cNvSpPr/>
          <p:nvPr/>
        </p:nvSpPr>
        <p:spPr>
          <a:xfrm>
            <a:off x="5245200" y="2019600"/>
            <a:ext cx="813600" cy="244800"/>
          </a:xfrm>
          <a:prstGeom prst="rect">
            <a:avLst/>
          </a:prstGeom>
          <a:noFill/>
          <a:ln/>
        </p:spPr>
        <p:txBody>
          <a:bodyPr wrap="square" lIns="0" tIns="0" rIns="0" bIns="0" rtlCol="0" anchor="ctr"/>
          <a:lstStyle/>
          <a:p>
            <a:pPr algn="l" indent="0" marL="0">
              <a:buNone/>
            </a:pPr>
            <a:endParaRPr lang="en-US" sz="1000" dirty="0"/>
          </a:p>
        </p:txBody>
      </p:sp>
      <p:sp>
        <p:nvSpPr>
          <p:cNvPr id="29" name="Shape 26"/>
          <p:cNvSpPr/>
          <p:nvPr/>
        </p:nvSpPr>
        <p:spPr>
          <a:xfrm>
            <a:off x="6120000" y="1980000"/>
            <a:ext cx="900000" cy="324000"/>
          </a:xfrm>
          <a:prstGeom prst="rect">
            <a:avLst/>
          </a:prstGeom>
          <a:solidFill>
            <a:srgbClr val="FFFFFF"/>
          </a:solidFill>
          <a:ln w="6985">
            <a:solidFill>
              <a:srgbClr val="202020"/>
            </a:solidFill>
            <a:prstDash val="solid"/>
          </a:ln>
        </p:spPr>
      </p:sp>
      <p:sp>
        <p:nvSpPr>
          <p:cNvPr id="30" name="Text 27"/>
          <p:cNvSpPr/>
          <p:nvPr/>
        </p:nvSpPr>
        <p:spPr>
          <a:xfrm>
            <a:off x="6181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31" name="Shape 28"/>
          <p:cNvSpPr/>
          <p:nvPr/>
        </p:nvSpPr>
        <p:spPr>
          <a:xfrm>
            <a:off x="540000" y="2304000"/>
            <a:ext cx="3744000" cy="324000"/>
          </a:xfrm>
          <a:prstGeom prst="rect">
            <a:avLst/>
          </a:prstGeom>
          <a:solidFill>
            <a:srgbClr val="FFFFFF"/>
          </a:solidFill>
          <a:ln w="6985">
            <a:solidFill>
              <a:srgbClr val="202020"/>
            </a:solidFill>
            <a:prstDash val="solid"/>
          </a:ln>
        </p:spPr>
      </p:sp>
      <p:sp>
        <p:nvSpPr>
          <p:cNvPr id="32" name="Text 29"/>
          <p:cNvSpPr/>
          <p:nvPr/>
        </p:nvSpPr>
        <p:spPr>
          <a:xfrm>
            <a:off x="601200" y="2343600"/>
            <a:ext cx="3621600" cy="244800"/>
          </a:xfrm>
          <a:prstGeom prst="rect">
            <a:avLst/>
          </a:prstGeom>
          <a:noFill/>
          <a:ln/>
        </p:spPr>
        <p:txBody>
          <a:bodyPr wrap="square" lIns="0" tIns="0" rIns="0" bIns="0" rtlCol="0" anchor="ctr"/>
          <a:lstStyle/>
          <a:p>
            <a:pPr algn="l" indent="0" marL="0">
              <a:buNone/>
            </a:pPr>
            <a:endParaRPr lang="en-US" sz="1000" dirty="0"/>
          </a:p>
        </p:txBody>
      </p:sp>
      <p:sp>
        <p:nvSpPr>
          <p:cNvPr id="33" name="Shape 30"/>
          <p:cNvSpPr/>
          <p:nvPr/>
        </p:nvSpPr>
        <p:spPr>
          <a:xfrm>
            <a:off x="4284000" y="2304000"/>
            <a:ext cx="900000" cy="324000"/>
          </a:xfrm>
          <a:prstGeom prst="rect">
            <a:avLst/>
          </a:prstGeom>
          <a:solidFill>
            <a:srgbClr val="FFFFFF"/>
          </a:solidFill>
          <a:ln w="6985">
            <a:solidFill>
              <a:srgbClr val="202020"/>
            </a:solidFill>
            <a:prstDash val="solid"/>
          </a:ln>
        </p:spPr>
      </p:sp>
      <p:sp>
        <p:nvSpPr>
          <p:cNvPr id="34" name="Text 31"/>
          <p:cNvSpPr/>
          <p:nvPr/>
        </p:nvSpPr>
        <p:spPr>
          <a:xfrm>
            <a:off x="4345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5" name="Shape 32"/>
          <p:cNvSpPr/>
          <p:nvPr/>
        </p:nvSpPr>
        <p:spPr>
          <a:xfrm>
            <a:off x="5184000" y="2304000"/>
            <a:ext cx="936000" cy="324000"/>
          </a:xfrm>
          <a:prstGeom prst="rect">
            <a:avLst/>
          </a:prstGeom>
          <a:solidFill>
            <a:srgbClr val="FFFFFF"/>
          </a:solidFill>
          <a:ln w="6985">
            <a:solidFill>
              <a:srgbClr val="202020"/>
            </a:solidFill>
            <a:prstDash val="solid"/>
          </a:ln>
        </p:spPr>
      </p:sp>
      <p:sp>
        <p:nvSpPr>
          <p:cNvPr id="36" name="Text 33"/>
          <p:cNvSpPr/>
          <p:nvPr/>
        </p:nvSpPr>
        <p:spPr>
          <a:xfrm>
            <a:off x="5245200" y="2343600"/>
            <a:ext cx="813600" cy="244800"/>
          </a:xfrm>
          <a:prstGeom prst="rect">
            <a:avLst/>
          </a:prstGeom>
          <a:noFill/>
          <a:ln/>
        </p:spPr>
        <p:txBody>
          <a:bodyPr wrap="square" lIns="0" tIns="0" rIns="0" bIns="0" rtlCol="0" anchor="ctr"/>
          <a:lstStyle/>
          <a:p>
            <a:pPr algn="l" indent="0" marL="0">
              <a:buNone/>
            </a:pPr>
            <a:endParaRPr lang="en-US" sz="1000" dirty="0"/>
          </a:p>
        </p:txBody>
      </p:sp>
      <p:sp>
        <p:nvSpPr>
          <p:cNvPr id="37" name="Shape 34"/>
          <p:cNvSpPr/>
          <p:nvPr/>
        </p:nvSpPr>
        <p:spPr>
          <a:xfrm>
            <a:off x="6120000" y="2304000"/>
            <a:ext cx="900000" cy="324000"/>
          </a:xfrm>
          <a:prstGeom prst="rect">
            <a:avLst/>
          </a:prstGeom>
          <a:solidFill>
            <a:srgbClr val="FFFFFF"/>
          </a:solidFill>
          <a:ln w="6985">
            <a:solidFill>
              <a:srgbClr val="202020"/>
            </a:solidFill>
            <a:prstDash val="solid"/>
          </a:ln>
        </p:spPr>
      </p:sp>
      <p:sp>
        <p:nvSpPr>
          <p:cNvPr id="38" name="Text 35"/>
          <p:cNvSpPr/>
          <p:nvPr/>
        </p:nvSpPr>
        <p:spPr>
          <a:xfrm>
            <a:off x="6181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2628000"/>
            <a:ext cx="3744000" cy="324000"/>
          </a:xfrm>
          <a:prstGeom prst="rect">
            <a:avLst/>
          </a:prstGeom>
          <a:solidFill>
            <a:srgbClr val="FFFFFF"/>
          </a:solidFill>
          <a:ln w="6985">
            <a:solidFill>
              <a:srgbClr val="202020"/>
            </a:solidFill>
            <a:prstDash val="solid"/>
          </a:ln>
        </p:spPr>
      </p:sp>
      <p:sp>
        <p:nvSpPr>
          <p:cNvPr id="40" name="Text 37"/>
          <p:cNvSpPr/>
          <p:nvPr/>
        </p:nvSpPr>
        <p:spPr>
          <a:xfrm>
            <a:off x="601200" y="2667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1" name="Shape 38"/>
          <p:cNvSpPr/>
          <p:nvPr/>
        </p:nvSpPr>
        <p:spPr>
          <a:xfrm>
            <a:off x="4284000" y="2628000"/>
            <a:ext cx="900000" cy="324000"/>
          </a:xfrm>
          <a:prstGeom prst="rect">
            <a:avLst/>
          </a:prstGeom>
          <a:solidFill>
            <a:srgbClr val="FFFFFF"/>
          </a:solidFill>
          <a:ln w="6985">
            <a:solidFill>
              <a:srgbClr val="202020"/>
            </a:solidFill>
            <a:prstDash val="solid"/>
          </a:ln>
        </p:spPr>
      </p:sp>
      <p:sp>
        <p:nvSpPr>
          <p:cNvPr id="42" name="Text 39"/>
          <p:cNvSpPr/>
          <p:nvPr/>
        </p:nvSpPr>
        <p:spPr>
          <a:xfrm>
            <a:off x="4345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3" name="Shape 40"/>
          <p:cNvSpPr/>
          <p:nvPr/>
        </p:nvSpPr>
        <p:spPr>
          <a:xfrm>
            <a:off x="5184000" y="2628000"/>
            <a:ext cx="936000" cy="324000"/>
          </a:xfrm>
          <a:prstGeom prst="rect">
            <a:avLst/>
          </a:prstGeom>
          <a:solidFill>
            <a:srgbClr val="FFFFFF"/>
          </a:solidFill>
          <a:ln w="6985">
            <a:solidFill>
              <a:srgbClr val="202020"/>
            </a:solidFill>
            <a:prstDash val="solid"/>
          </a:ln>
        </p:spPr>
      </p:sp>
      <p:sp>
        <p:nvSpPr>
          <p:cNvPr id="44" name="Text 41"/>
          <p:cNvSpPr/>
          <p:nvPr/>
        </p:nvSpPr>
        <p:spPr>
          <a:xfrm>
            <a:off x="5245200" y="2667600"/>
            <a:ext cx="813600" cy="244800"/>
          </a:xfrm>
          <a:prstGeom prst="rect">
            <a:avLst/>
          </a:prstGeom>
          <a:noFill/>
          <a:ln/>
        </p:spPr>
        <p:txBody>
          <a:bodyPr wrap="square" lIns="0" tIns="0" rIns="0" bIns="0" rtlCol="0" anchor="ctr"/>
          <a:lstStyle/>
          <a:p>
            <a:pPr algn="l" indent="0" marL="0">
              <a:buNone/>
            </a:pPr>
            <a:endParaRPr lang="en-US" sz="1000" dirty="0"/>
          </a:p>
        </p:txBody>
      </p:sp>
      <p:sp>
        <p:nvSpPr>
          <p:cNvPr id="45" name="Shape 42"/>
          <p:cNvSpPr/>
          <p:nvPr/>
        </p:nvSpPr>
        <p:spPr>
          <a:xfrm>
            <a:off x="6120000" y="2628000"/>
            <a:ext cx="900000" cy="324000"/>
          </a:xfrm>
          <a:prstGeom prst="rect">
            <a:avLst/>
          </a:prstGeom>
          <a:solidFill>
            <a:srgbClr val="FFFFFF"/>
          </a:solidFill>
          <a:ln w="6985">
            <a:solidFill>
              <a:srgbClr val="202020"/>
            </a:solidFill>
            <a:prstDash val="solid"/>
          </a:ln>
        </p:spPr>
      </p:sp>
      <p:sp>
        <p:nvSpPr>
          <p:cNvPr id="46" name="Text 43"/>
          <p:cNvSpPr/>
          <p:nvPr/>
        </p:nvSpPr>
        <p:spPr>
          <a:xfrm>
            <a:off x="6181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7" name="Shape 44"/>
          <p:cNvSpPr/>
          <p:nvPr/>
        </p:nvSpPr>
        <p:spPr>
          <a:xfrm>
            <a:off x="540000" y="2952000"/>
            <a:ext cx="3744000" cy="324000"/>
          </a:xfrm>
          <a:prstGeom prst="rect">
            <a:avLst/>
          </a:prstGeom>
          <a:solidFill>
            <a:srgbClr val="FFFFFF"/>
          </a:solidFill>
          <a:ln w="6985">
            <a:solidFill>
              <a:srgbClr val="202020"/>
            </a:solidFill>
            <a:prstDash val="solid"/>
          </a:ln>
        </p:spPr>
      </p:sp>
      <p:sp>
        <p:nvSpPr>
          <p:cNvPr id="48" name="Text 45"/>
          <p:cNvSpPr/>
          <p:nvPr/>
        </p:nvSpPr>
        <p:spPr>
          <a:xfrm>
            <a:off x="601200" y="2991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9" name="Shape 46"/>
          <p:cNvSpPr/>
          <p:nvPr/>
        </p:nvSpPr>
        <p:spPr>
          <a:xfrm>
            <a:off x="4284000" y="2952000"/>
            <a:ext cx="900000" cy="324000"/>
          </a:xfrm>
          <a:prstGeom prst="rect">
            <a:avLst/>
          </a:prstGeom>
          <a:solidFill>
            <a:srgbClr val="FFFFFF"/>
          </a:solidFill>
          <a:ln w="6985">
            <a:solidFill>
              <a:srgbClr val="202020"/>
            </a:solidFill>
            <a:prstDash val="solid"/>
          </a:ln>
        </p:spPr>
      </p:sp>
      <p:sp>
        <p:nvSpPr>
          <p:cNvPr id="50" name="Text 47"/>
          <p:cNvSpPr/>
          <p:nvPr/>
        </p:nvSpPr>
        <p:spPr>
          <a:xfrm>
            <a:off x="4345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1" name="Shape 48"/>
          <p:cNvSpPr/>
          <p:nvPr/>
        </p:nvSpPr>
        <p:spPr>
          <a:xfrm>
            <a:off x="5184000" y="2952000"/>
            <a:ext cx="936000" cy="324000"/>
          </a:xfrm>
          <a:prstGeom prst="rect">
            <a:avLst/>
          </a:prstGeom>
          <a:solidFill>
            <a:srgbClr val="FFFFFF"/>
          </a:solidFill>
          <a:ln w="6985">
            <a:solidFill>
              <a:srgbClr val="202020"/>
            </a:solidFill>
            <a:prstDash val="solid"/>
          </a:ln>
        </p:spPr>
      </p:sp>
      <p:sp>
        <p:nvSpPr>
          <p:cNvPr id="52" name="Text 49"/>
          <p:cNvSpPr/>
          <p:nvPr/>
        </p:nvSpPr>
        <p:spPr>
          <a:xfrm>
            <a:off x="5245200" y="2991600"/>
            <a:ext cx="813600" cy="244800"/>
          </a:xfrm>
          <a:prstGeom prst="rect">
            <a:avLst/>
          </a:prstGeom>
          <a:noFill/>
          <a:ln/>
        </p:spPr>
        <p:txBody>
          <a:bodyPr wrap="square" lIns="0" tIns="0" rIns="0" bIns="0" rtlCol="0" anchor="ctr"/>
          <a:lstStyle/>
          <a:p>
            <a:pPr algn="l" indent="0" marL="0">
              <a:buNone/>
            </a:pPr>
            <a:endParaRPr lang="en-US" sz="1000" dirty="0"/>
          </a:p>
        </p:txBody>
      </p:sp>
      <p:sp>
        <p:nvSpPr>
          <p:cNvPr id="53" name="Shape 50"/>
          <p:cNvSpPr/>
          <p:nvPr/>
        </p:nvSpPr>
        <p:spPr>
          <a:xfrm>
            <a:off x="6120000" y="2952000"/>
            <a:ext cx="900000" cy="324000"/>
          </a:xfrm>
          <a:prstGeom prst="rect">
            <a:avLst/>
          </a:prstGeom>
          <a:solidFill>
            <a:srgbClr val="FFFFFF"/>
          </a:solidFill>
          <a:ln w="6985">
            <a:solidFill>
              <a:srgbClr val="202020"/>
            </a:solidFill>
            <a:prstDash val="solid"/>
          </a:ln>
        </p:spPr>
      </p:sp>
      <p:sp>
        <p:nvSpPr>
          <p:cNvPr id="54" name="Text 51"/>
          <p:cNvSpPr/>
          <p:nvPr/>
        </p:nvSpPr>
        <p:spPr>
          <a:xfrm>
            <a:off x="6181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5" name="Shape 52"/>
          <p:cNvSpPr/>
          <p:nvPr/>
        </p:nvSpPr>
        <p:spPr>
          <a:xfrm>
            <a:off x="540000" y="3276000"/>
            <a:ext cx="3744000" cy="324000"/>
          </a:xfrm>
          <a:prstGeom prst="rect">
            <a:avLst/>
          </a:prstGeom>
          <a:solidFill>
            <a:srgbClr val="FFFFFF"/>
          </a:solidFill>
          <a:ln w="6985">
            <a:solidFill>
              <a:srgbClr val="202020"/>
            </a:solidFill>
            <a:prstDash val="solid"/>
          </a:ln>
        </p:spPr>
      </p:sp>
      <p:sp>
        <p:nvSpPr>
          <p:cNvPr id="56" name="Text 53"/>
          <p:cNvSpPr/>
          <p:nvPr/>
        </p:nvSpPr>
        <p:spPr>
          <a:xfrm>
            <a:off x="601200" y="331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57" name="Shape 54"/>
          <p:cNvSpPr/>
          <p:nvPr/>
        </p:nvSpPr>
        <p:spPr>
          <a:xfrm>
            <a:off x="4284000" y="3276000"/>
            <a:ext cx="900000" cy="324000"/>
          </a:xfrm>
          <a:prstGeom prst="rect">
            <a:avLst/>
          </a:prstGeom>
          <a:solidFill>
            <a:srgbClr val="FFFFFF"/>
          </a:solidFill>
          <a:ln w="6985">
            <a:solidFill>
              <a:srgbClr val="202020"/>
            </a:solidFill>
            <a:prstDash val="solid"/>
          </a:ln>
        </p:spPr>
      </p:sp>
      <p:sp>
        <p:nvSpPr>
          <p:cNvPr id="58" name="Text 55"/>
          <p:cNvSpPr/>
          <p:nvPr/>
        </p:nvSpPr>
        <p:spPr>
          <a:xfrm>
            <a:off x="4345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59" name="Shape 56"/>
          <p:cNvSpPr/>
          <p:nvPr/>
        </p:nvSpPr>
        <p:spPr>
          <a:xfrm>
            <a:off x="5184000" y="3276000"/>
            <a:ext cx="936000" cy="324000"/>
          </a:xfrm>
          <a:prstGeom prst="rect">
            <a:avLst/>
          </a:prstGeom>
          <a:solidFill>
            <a:srgbClr val="FFFFFF"/>
          </a:solidFill>
          <a:ln w="6985">
            <a:solidFill>
              <a:srgbClr val="202020"/>
            </a:solidFill>
            <a:prstDash val="solid"/>
          </a:ln>
        </p:spPr>
      </p:sp>
      <p:sp>
        <p:nvSpPr>
          <p:cNvPr id="60" name="Text 57"/>
          <p:cNvSpPr/>
          <p:nvPr/>
        </p:nvSpPr>
        <p:spPr>
          <a:xfrm>
            <a:off x="5245200" y="3315600"/>
            <a:ext cx="813600" cy="244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6120000" y="3276000"/>
            <a:ext cx="900000" cy="324000"/>
          </a:xfrm>
          <a:prstGeom prst="rect">
            <a:avLst/>
          </a:prstGeom>
          <a:solidFill>
            <a:srgbClr val="FFFFFF"/>
          </a:solidFill>
          <a:ln w="6985">
            <a:solidFill>
              <a:srgbClr val="202020"/>
            </a:solidFill>
            <a:prstDash val="solid"/>
          </a:ln>
        </p:spPr>
      </p:sp>
      <p:sp>
        <p:nvSpPr>
          <p:cNvPr id="62" name="Text 59"/>
          <p:cNvSpPr/>
          <p:nvPr/>
        </p:nvSpPr>
        <p:spPr>
          <a:xfrm>
            <a:off x="6181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540000" y="3600000"/>
            <a:ext cx="3744000" cy="324000"/>
          </a:xfrm>
          <a:prstGeom prst="rect">
            <a:avLst/>
          </a:prstGeom>
          <a:solidFill>
            <a:srgbClr val="FFFFFF"/>
          </a:solidFill>
          <a:ln w="6985">
            <a:solidFill>
              <a:srgbClr val="202020"/>
            </a:solidFill>
            <a:prstDash val="solid"/>
          </a:ln>
        </p:spPr>
      </p:sp>
      <p:sp>
        <p:nvSpPr>
          <p:cNvPr id="64" name="Text 61"/>
          <p:cNvSpPr/>
          <p:nvPr/>
        </p:nvSpPr>
        <p:spPr>
          <a:xfrm>
            <a:off x="601200" y="363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65" name="Shape 62"/>
          <p:cNvSpPr/>
          <p:nvPr/>
        </p:nvSpPr>
        <p:spPr>
          <a:xfrm>
            <a:off x="4284000" y="3600000"/>
            <a:ext cx="900000" cy="324000"/>
          </a:xfrm>
          <a:prstGeom prst="rect">
            <a:avLst/>
          </a:prstGeom>
          <a:solidFill>
            <a:srgbClr val="FFFFFF"/>
          </a:solidFill>
          <a:ln w="6985">
            <a:solidFill>
              <a:srgbClr val="202020"/>
            </a:solidFill>
            <a:prstDash val="solid"/>
          </a:ln>
        </p:spPr>
      </p:sp>
      <p:sp>
        <p:nvSpPr>
          <p:cNvPr id="66" name="Text 63"/>
          <p:cNvSpPr/>
          <p:nvPr/>
        </p:nvSpPr>
        <p:spPr>
          <a:xfrm>
            <a:off x="4345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67" name="Shape 64"/>
          <p:cNvSpPr/>
          <p:nvPr/>
        </p:nvSpPr>
        <p:spPr>
          <a:xfrm>
            <a:off x="5184000" y="3600000"/>
            <a:ext cx="936000" cy="324000"/>
          </a:xfrm>
          <a:prstGeom prst="rect">
            <a:avLst/>
          </a:prstGeom>
          <a:solidFill>
            <a:srgbClr val="FFFFFF"/>
          </a:solidFill>
          <a:ln w="6985">
            <a:solidFill>
              <a:srgbClr val="202020"/>
            </a:solidFill>
            <a:prstDash val="solid"/>
          </a:ln>
        </p:spPr>
      </p:sp>
      <p:sp>
        <p:nvSpPr>
          <p:cNvPr id="68" name="Text 65"/>
          <p:cNvSpPr/>
          <p:nvPr/>
        </p:nvSpPr>
        <p:spPr>
          <a:xfrm>
            <a:off x="5245200" y="3639600"/>
            <a:ext cx="813600" cy="244800"/>
          </a:xfrm>
          <a:prstGeom prst="rect">
            <a:avLst/>
          </a:prstGeom>
          <a:noFill/>
          <a:ln/>
        </p:spPr>
        <p:txBody>
          <a:bodyPr wrap="square" lIns="0" tIns="0" rIns="0" bIns="0" rtlCol="0" anchor="ctr"/>
          <a:lstStyle/>
          <a:p>
            <a:pPr algn="l" indent="0" marL="0">
              <a:buNone/>
            </a:pPr>
            <a:endParaRPr lang="en-US" sz="1000" dirty="0"/>
          </a:p>
        </p:txBody>
      </p:sp>
      <p:sp>
        <p:nvSpPr>
          <p:cNvPr id="69" name="Shape 66"/>
          <p:cNvSpPr/>
          <p:nvPr/>
        </p:nvSpPr>
        <p:spPr>
          <a:xfrm>
            <a:off x="6120000" y="3600000"/>
            <a:ext cx="900000" cy="324000"/>
          </a:xfrm>
          <a:prstGeom prst="rect">
            <a:avLst/>
          </a:prstGeom>
          <a:solidFill>
            <a:srgbClr val="FFFFFF"/>
          </a:solidFill>
          <a:ln w="6985">
            <a:solidFill>
              <a:srgbClr val="202020"/>
            </a:solidFill>
            <a:prstDash val="solid"/>
          </a:ln>
        </p:spPr>
      </p:sp>
      <p:sp>
        <p:nvSpPr>
          <p:cNvPr id="70" name="Text 67"/>
          <p:cNvSpPr/>
          <p:nvPr/>
        </p:nvSpPr>
        <p:spPr>
          <a:xfrm>
            <a:off x="6181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3402000" y="4284000"/>
            <a:ext cx="900000" cy="324000"/>
          </a:xfrm>
          <a:prstGeom prst="rect">
            <a:avLst/>
          </a:prstGeom>
          <a:solidFill>
            <a:srgbClr val="0A2B6B"/>
          </a:solidFill>
          <a:ln w="6985">
            <a:solidFill>
              <a:srgbClr val="202020"/>
            </a:solidFill>
            <a:prstDash val="solid"/>
          </a:ln>
        </p:spPr>
      </p:sp>
      <p:sp>
        <p:nvSpPr>
          <p:cNvPr id="72" name="Text 69"/>
          <p:cNvSpPr/>
          <p:nvPr/>
        </p:nvSpPr>
        <p:spPr>
          <a:xfrm>
            <a:off x="34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État initial</a:t>
            </a:r>
            <a:endParaRPr lang="en-US" sz="950" dirty="0"/>
          </a:p>
        </p:txBody>
      </p:sp>
      <p:sp>
        <p:nvSpPr>
          <p:cNvPr id="73" name="Shape 70"/>
          <p:cNvSpPr/>
          <p:nvPr/>
        </p:nvSpPr>
        <p:spPr>
          <a:xfrm>
            <a:off x="4302000" y="4284000"/>
            <a:ext cx="900000" cy="324000"/>
          </a:xfrm>
          <a:prstGeom prst="rect">
            <a:avLst/>
          </a:prstGeom>
          <a:solidFill>
            <a:srgbClr val="0A2B6B"/>
          </a:solidFill>
          <a:ln w="6985">
            <a:solidFill>
              <a:srgbClr val="202020"/>
            </a:solidFill>
            <a:prstDash val="solid"/>
          </a:ln>
        </p:spPr>
      </p:sp>
      <p:sp>
        <p:nvSpPr>
          <p:cNvPr id="74" name="Text 71"/>
          <p:cNvSpPr/>
          <p:nvPr/>
        </p:nvSpPr>
        <p:spPr>
          <a:xfrm>
            <a:off x="43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1</a:t>
            </a:r>
            <a:endParaRPr lang="en-US" sz="950" dirty="0"/>
          </a:p>
        </p:txBody>
      </p:sp>
      <p:sp>
        <p:nvSpPr>
          <p:cNvPr id="75" name="Shape 72"/>
          <p:cNvSpPr/>
          <p:nvPr/>
        </p:nvSpPr>
        <p:spPr>
          <a:xfrm>
            <a:off x="5202000" y="4284000"/>
            <a:ext cx="900000" cy="324000"/>
          </a:xfrm>
          <a:prstGeom prst="rect">
            <a:avLst/>
          </a:prstGeom>
          <a:solidFill>
            <a:srgbClr val="0A2B6B"/>
          </a:solidFill>
          <a:ln w="6985">
            <a:solidFill>
              <a:srgbClr val="202020"/>
            </a:solidFill>
            <a:prstDash val="solid"/>
          </a:ln>
        </p:spPr>
      </p:sp>
      <p:sp>
        <p:nvSpPr>
          <p:cNvPr id="76" name="Text 73"/>
          <p:cNvSpPr/>
          <p:nvPr/>
        </p:nvSpPr>
        <p:spPr>
          <a:xfrm>
            <a:off x="52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2</a:t>
            </a:r>
            <a:endParaRPr lang="en-US" sz="950" dirty="0"/>
          </a:p>
        </p:txBody>
      </p:sp>
      <p:sp>
        <p:nvSpPr>
          <p:cNvPr id="77" name="Shape 74"/>
          <p:cNvSpPr/>
          <p:nvPr/>
        </p:nvSpPr>
        <p:spPr>
          <a:xfrm>
            <a:off x="6102000" y="4284000"/>
            <a:ext cx="918000" cy="324000"/>
          </a:xfrm>
          <a:prstGeom prst="rect">
            <a:avLst/>
          </a:prstGeom>
          <a:solidFill>
            <a:srgbClr val="0A2B6B"/>
          </a:solidFill>
          <a:ln w="6985">
            <a:solidFill>
              <a:srgbClr val="202020"/>
            </a:solidFill>
            <a:prstDash val="solid"/>
          </a:ln>
        </p:spPr>
      </p:sp>
      <p:sp>
        <p:nvSpPr>
          <p:cNvPr id="78" name="Text 75"/>
          <p:cNvSpPr/>
          <p:nvPr/>
        </p:nvSpPr>
        <p:spPr>
          <a:xfrm>
            <a:off x="6163200" y="4323600"/>
            <a:ext cx="795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3</a:t>
            </a:r>
            <a:endParaRPr lang="en-US" sz="950" dirty="0"/>
          </a:p>
        </p:txBody>
      </p:sp>
      <p:sp>
        <p:nvSpPr>
          <p:cNvPr id="79" name="Shape 76"/>
          <p:cNvSpPr/>
          <p:nvPr/>
        </p:nvSpPr>
        <p:spPr>
          <a:xfrm>
            <a:off x="540000" y="4608000"/>
            <a:ext cx="2862000" cy="360000"/>
          </a:xfrm>
          <a:prstGeom prst="rect">
            <a:avLst/>
          </a:prstGeom>
          <a:solidFill>
            <a:srgbClr val="0A2B6B"/>
          </a:solidFill>
          <a:ln w="6985">
            <a:solidFill>
              <a:srgbClr val="202020"/>
            </a:solidFill>
            <a:prstDash val="solid"/>
          </a:ln>
        </p:spPr>
      </p:sp>
      <p:sp>
        <p:nvSpPr>
          <p:cNvPr id="80" name="Text 77"/>
          <p:cNvSpPr/>
          <p:nvPr/>
        </p:nvSpPr>
        <p:spPr>
          <a:xfrm>
            <a:off x="601200" y="464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Étiquette énergétique</a:t>
            </a:r>
            <a:endParaRPr lang="en-US" sz="950" dirty="0"/>
          </a:p>
        </p:txBody>
      </p:sp>
      <p:sp>
        <p:nvSpPr>
          <p:cNvPr id="81" name="Shape 78"/>
          <p:cNvSpPr/>
          <p:nvPr/>
        </p:nvSpPr>
        <p:spPr>
          <a:xfrm>
            <a:off x="3402000" y="4608000"/>
            <a:ext cx="900000" cy="360000"/>
          </a:xfrm>
          <a:prstGeom prst="rect">
            <a:avLst/>
          </a:prstGeom>
          <a:solidFill>
            <a:srgbClr val="FFFFFF"/>
          </a:solidFill>
          <a:ln w="6985">
            <a:solidFill>
              <a:srgbClr val="202020"/>
            </a:solidFill>
            <a:prstDash val="solid"/>
          </a:ln>
        </p:spPr>
      </p:sp>
      <p:sp>
        <p:nvSpPr>
          <p:cNvPr id="82" name="Text 79"/>
          <p:cNvSpPr/>
          <p:nvPr/>
        </p:nvSpPr>
        <p:spPr>
          <a:xfrm>
            <a:off x="34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3" name="Shape 80"/>
          <p:cNvSpPr/>
          <p:nvPr/>
        </p:nvSpPr>
        <p:spPr>
          <a:xfrm>
            <a:off x="4302000" y="4608000"/>
            <a:ext cx="900000" cy="360000"/>
          </a:xfrm>
          <a:prstGeom prst="rect">
            <a:avLst/>
          </a:prstGeom>
          <a:solidFill>
            <a:srgbClr val="FFFFFF"/>
          </a:solidFill>
          <a:ln w="6985">
            <a:solidFill>
              <a:srgbClr val="202020"/>
            </a:solidFill>
            <a:prstDash val="solid"/>
          </a:ln>
        </p:spPr>
      </p:sp>
      <p:sp>
        <p:nvSpPr>
          <p:cNvPr id="84" name="Text 81"/>
          <p:cNvSpPr/>
          <p:nvPr/>
        </p:nvSpPr>
        <p:spPr>
          <a:xfrm>
            <a:off x="43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5" name="Shape 82"/>
          <p:cNvSpPr/>
          <p:nvPr/>
        </p:nvSpPr>
        <p:spPr>
          <a:xfrm>
            <a:off x="5202000" y="4608000"/>
            <a:ext cx="900000" cy="360000"/>
          </a:xfrm>
          <a:prstGeom prst="rect">
            <a:avLst/>
          </a:prstGeom>
          <a:solidFill>
            <a:srgbClr val="FFFFFF"/>
          </a:solidFill>
          <a:ln w="6985">
            <a:solidFill>
              <a:srgbClr val="202020"/>
            </a:solidFill>
            <a:prstDash val="solid"/>
          </a:ln>
        </p:spPr>
      </p:sp>
      <p:sp>
        <p:nvSpPr>
          <p:cNvPr id="86" name="Text 83"/>
          <p:cNvSpPr/>
          <p:nvPr/>
        </p:nvSpPr>
        <p:spPr>
          <a:xfrm>
            <a:off x="52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7" name="Shape 84"/>
          <p:cNvSpPr/>
          <p:nvPr/>
        </p:nvSpPr>
        <p:spPr>
          <a:xfrm>
            <a:off x="6102000" y="4608000"/>
            <a:ext cx="918000" cy="360000"/>
          </a:xfrm>
          <a:prstGeom prst="rect">
            <a:avLst/>
          </a:prstGeom>
          <a:solidFill>
            <a:srgbClr val="FFFFFF"/>
          </a:solidFill>
          <a:ln w="6985">
            <a:solidFill>
              <a:srgbClr val="202020"/>
            </a:solidFill>
            <a:prstDash val="solid"/>
          </a:ln>
        </p:spPr>
      </p:sp>
      <p:sp>
        <p:nvSpPr>
          <p:cNvPr id="88" name="Text 85"/>
          <p:cNvSpPr/>
          <p:nvPr/>
        </p:nvSpPr>
        <p:spPr>
          <a:xfrm>
            <a:off x="6163200" y="4647600"/>
            <a:ext cx="795600" cy="280800"/>
          </a:xfrm>
          <a:prstGeom prst="rect">
            <a:avLst/>
          </a:prstGeom>
          <a:noFill/>
          <a:ln/>
        </p:spPr>
        <p:txBody>
          <a:bodyPr wrap="square" lIns="0" tIns="0" rIns="0" bIns="0" rtlCol="0" anchor="ctr"/>
          <a:lstStyle/>
          <a:p>
            <a:pPr algn="l" indent="0" marL="0">
              <a:buNone/>
            </a:pPr>
            <a:endParaRPr lang="en-US" sz="950" dirty="0"/>
          </a:p>
        </p:txBody>
      </p:sp>
      <p:sp>
        <p:nvSpPr>
          <p:cNvPr id="89" name="Shape 86"/>
          <p:cNvSpPr/>
          <p:nvPr/>
        </p:nvSpPr>
        <p:spPr>
          <a:xfrm>
            <a:off x="540000" y="4968000"/>
            <a:ext cx="2862000" cy="360000"/>
          </a:xfrm>
          <a:prstGeom prst="rect">
            <a:avLst/>
          </a:prstGeom>
          <a:solidFill>
            <a:srgbClr val="0A2B6B"/>
          </a:solidFill>
          <a:ln w="6985">
            <a:solidFill>
              <a:srgbClr val="202020"/>
            </a:solidFill>
            <a:prstDash val="solid"/>
          </a:ln>
        </p:spPr>
      </p:sp>
      <p:sp>
        <p:nvSpPr>
          <p:cNvPr id="90" name="Text 87"/>
          <p:cNvSpPr/>
          <p:nvPr/>
        </p:nvSpPr>
        <p:spPr>
          <a:xfrm>
            <a:off x="601200" y="500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Consommation en énergie primaire (kWhEP/m²/an)</a:t>
            </a:r>
            <a:endParaRPr lang="en-US" sz="950" dirty="0"/>
          </a:p>
        </p:txBody>
      </p:sp>
      <p:sp>
        <p:nvSpPr>
          <p:cNvPr id="91" name="Shape 88"/>
          <p:cNvSpPr/>
          <p:nvPr/>
        </p:nvSpPr>
        <p:spPr>
          <a:xfrm>
            <a:off x="3402000" y="4968000"/>
            <a:ext cx="900000" cy="360000"/>
          </a:xfrm>
          <a:prstGeom prst="rect">
            <a:avLst/>
          </a:prstGeom>
          <a:solidFill>
            <a:srgbClr val="FFFFFF"/>
          </a:solidFill>
          <a:ln w="6985">
            <a:solidFill>
              <a:srgbClr val="202020"/>
            </a:solidFill>
            <a:prstDash val="solid"/>
          </a:ln>
        </p:spPr>
      </p:sp>
      <p:sp>
        <p:nvSpPr>
          <p:cNvPr id="92" name="Text 89"/>
          <p:cNvSpPr/>
          <p:nvPr/>
        </p:nvSpPr>
        <p:spPr>
          <a:xfrm>
            <a:off x="34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3" name="Shape 90"/>
          <p:cNvSpPr/>
          <p:nvPr/>
        </p:nvSpPr>
        <p:spPr>
          <a:xfrm>
            <a:off x="4302000" y="4968000"/>
            <a:ext cx="900000" cy="360000"/>
          </a:xfrm>
          <a:prstGeom prst="rect">
            <a:avLst/>
          </a:prstGeom>
          <a:solidFill>
            <a:srgbClr val="FFFFFF"/>
          </a:solidFill>
          <a:ln w="6985">
            <a:solidFill>
              <a:srgbClr val="202020"/>
            </a:solidFill>
            <a:prstDash val="solid"/>
          </a:ln>
        </p:spPr>
      </p:sp>
      <p:sp>
        <p:nvSpPr>
          <p:cNvPr id="94" name="Text 91"/>
          <p:cNvSpPr/>
          <p:nvPr/>
        </p:nvSpPr>
        <p:spPr>
          <a:xfrm>
            <a:off x="43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5" name="Shape 92"/>
          <p:cNvSpPr/>
          <p:nvPr/>
        </p:nvSpPr>
        <p:spPr>
          <a:xfrm>
            <a:off x="5202000" y="4968000"/>
            <a:ext cx="900000" cy="360000"/>
          </a:xfrm>
          <a:prstGeom prst="rect">
            <a:avLst/>
          </a:prstGeom>
          <a:solidFill>
            <a:srgbClr val="FFFFFF"/>
          </a:solidFill>
          <a:ln w="6985">
            <a:solidFill>
              <a:srgbClr val="202020"/>
            </a:solidFill>
            <a:prstDash val="solid"/>
          </a:ln>
        </p:spPr>
      </p:sp>
      <p:sp>
        <p:nvSpPr>
          <p:cNvPr id="96" name="Text 93"/>
          <p:cNvSpPr/>
          <p:nvPr/>
        </p:nvSpPr>
        <p:spPr>
          <a:xfrm>
            <a:off x="52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7" name="Shape 94"/>
          <p:cNvSpPr/>
          <p:nvPr/>
        </p:nvSpPr>
        <p:spPr>
          <a:xfrm>
            <a:off x="6102000" y="4968000"/>
            <a:ext cx="918000" cy="360000"/>
          </a:xfrm>
          <a:prstGeom prst="rect">
            <a:avLst/>
          </a:prstGeom>
          <a:solidFill>
            <a:srgbClr val="FFFFFF"/>
          </a:solidFill>
          <a:ln w="6985">
            <a:solidFill>
              <a:srgbClr val="202020"/>
            </a:solidFill>
            <a:prstDash val="solid"/>
          </a:ln>
        </p:spPr>
      </p:sp>
      <p:sp>
        <p:nvSpPr>
          <p:cNvPr id="98" name="Text 95"/>
          <p:cNvSpPr/>
          <p:nvPr/>
        </p:nvSpPr>
        <p:spPr>
          <a:xfrm>
            <a:off x="6163200" y="5007600"/>
            <a:ext cx="795600" cy="280800"/>
          </a:xfrm>
          <a:prstGeom prst="rect">
            <a:avLst/>
          </a:prstGeom>
          <a:noFill/>
          <a:ln/>
        </p:spPr>
        <p:txBody>
          <a:bodyPr wrap="square" lIns="0" tIns="0" rIns="0" bIns="0" rtlCol="0" anchor="ctr"/>
          <a:lstStyle/>
          <a:p>
            <a:pPr algn="l" indent="0" marL="0">
              <a:buNone/>
            </a:pPr>
            <a:endParaRPr lang="en-US" sz="950" dirty="0"/>
          </a:p>
        </p:txBody>
      </p:sp>
      <p:sp>
        <p:nvSpPr>
          <p:cNvPr id="99" name="Shape 96"/>
          <p:cNvSpPr/>
          <p:nvPr/>
        </p:nvSpPr>
        <p:spPr>
          <a:xfrm>
            <a:off x="540000" y="5328000"/>
            <a:ext cx="2862000" cy="360000"/>
          </a:xfrm>
          <a:prstGeom prst="rect">
            <a:avLst/>
          </a:prstGeom>
          <a:solidFill>
            <a:srgbClr val="0A2B6B"/>
          </a:solidFill>
          <a:ln w="6985">
            <a:solidFill>
              <a:srgbClr val="202020"/>
            </a:solidFill>
            <a:prstDash val="solid"/>
          </a:ln>
        </p:spPr>
      </p:sp>
      <p:sp>
        <p:nvSpPr>
          <p:cNvPr id="100" name="Text 97"/>
          <p:cNvSpPr/>
          <p:nvPr/>
        </p:nvSpPr>
        <p:spPr>
          <a:xfrm>
            <a:off x="601200" y="536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Gaz à effet de serre (kgCO2/m²/an)</a:t>
            </a:r>
            <a:endParaRPr lang="en-US" sz="950" dirty="0"/>
          </a:p>
        </p:txBody>
      </p:sp>
      <p:sp>
        <p:nvSpPr>
          <p:cNvPr id="101" name="Shape 98"/>
          <p:cNvSpPr/>
          <p:nvPr/>
        </p:nvSpPr>
        <p:spPr>
          <a:xfrm>
            <a:off x="3402000" y="5328000"/>
            <a:ext cx="900000" cy="360000"/>
          </a:xfrm>
          <a:prstGeom prst="rect">
            <a:avLst/>
          </a:prstGeom>
          <a:solidFill>
            <a:srgbClr val="FFFFFF"/>
          </a:solidFill>
          <a:ln w="6985">
            <a:solidFill>
              <a:srgbClr val="202020"/>
            </a:solidFill>
            <a:prstDash val="solid"/>
          </a:ln>
        </p:spPr>
      </p:sp>
      <p:sp>
        <p:nvSpPr>
          <p:cNvPr id="102" name="Text 99"/>
          <p:cNvSpPr/>
          <p:nvPr/>
        </p:nvSpPr>
        <p:spPr>
          <a:xfrm>
            <a:off x="34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3" name="Shape 100"/>
          <p:cNvSpPr/>
          <p:nvPr/>
        </p:nvSpPr>
        <p:spPr>
          <a:xfrm>
            <a:off x="4302000" y="5328000"/>
            <a:ext cx="900000" cy="360000"/>
          </a:xfrm>
          <a:prstGeom prst="rect">
            <a:avLst/>
          </a:prstGeom>
          <a:solidFill>
            <a:srgbClr val="FFFFFF"/>
          </a:solidFill>
          <a:ln w="6985">
            <a:solidFill>
              <a:srgbClr val="202020"/>
            </a:solidFill>
            <a:prstDash val="solid"/>
          </a:ln>
        </p:spPr>
      </p:sp>
      <p:sp>
        <p:nvSpPr>
          <p:cNvPr id="104" name="Text 101"/>
          <p:cNvSpPr/>
          <p:nvPr/>
        </p:nvSpPr>
        <p:spPr>
          <a:xfrm>
            <a:off x="43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5" name="Shape 102"/>
          <p:cNvSpPr/>
          <p:nvPr/>
        </p:nvSpPr>
        <p:spPr>
          <a:xfrm>
            <a:off x="5202000" y="5328000"/>
            <a:ext cx="900000" cy="360000"/>
          </a:xfrm>
          <a:prstGeom prst="rect">
            <a:avLst/>
          </a:prstGeom>
          <a:solidFill>
            <a:srgbClr val="FFFFFF"/>
          </a:solidFill>
          <a:ln w="6985">
            <a:solidFill>
              <a:srgbClr val="202020"/>
            </a:solidFill>
            <a:prstDash val="solid"/>
          </a:ln>
        </p:spPr>
      </p:sp>
      <p:sp>
        <p:nvSpPr>
          <p:cNvPr id="106" name="Text 103"/>
          <p:cNvSpPr/>
          <p:nvPr/>
        </p:nvSpPr>
        <p:spPr>
          <a:xfrm>
            <a:off x="52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7" name="Shape 104"/>
          <p:cNvSpPr/>
          <p:nvPr/>
        </p:nvSpPr>
        <p:spPr>
          <a:xfrm>
            <a:off x="6102000" y="5328000"/>
            <a:ext cx="918000" cy="360000"/>
          </a:xfrm>
          <a:prstGeom prst="rect">
            <a:avLst/>
          </a:prstGeom>
          <a:solidFill>
            <a:srgbClr val="FFFFFF"/>
          </a:solidFill>
          <a:ln w="6985">
            <a:solidFill>
              <a:srgbClr val="202020"/>
            </a:solidFill>
            <a:prstDash val="solid"/>
          </a:ln>
        </p:spPr>
      </p:sp>
      <p:sp>
        <p:nvSpPr>
          <p:cNvPr id="108" name="Text 105"/>
          <p:cNvSpPr/>
          <p:nvPr/>
        </p:nvSpPr>
        <p:spPr>
          <a:xfrm>
            <a:off x="6163200" y="5367600"/>
            <a:ext cx="795600" cy="280800"/>
          </a:xfrm>
          <a:prstGeom prst="rect">
            <a:avLst/>
          </a:prstGeom>
          <a:noFill/>
          <a:ln/>
        </p:spPr>
        <p:txBody>
          <a:bodyPr wrap="square" lIns="0" tIns="0" rIns="0" bIns="0" rtlCol="0" anchor="ctr"/>
          <a:lstStyle/>
          <a:p>
            <a:pPr algn="l" indent="0" marL="0">
              <a:buNone/>
            </a:pPr>
            <a:endParaRPr lang="en-US" sz="950" dirty="0"/>
          </a:p>
        </p:txBody>
      </p:sp>
      <p:sp>
        <p:nvSpPr>
          <p:cNvPr id="109" name="Shape 106"/>
          <p:cNvSpPr/>
          <p:nvPr/>
        </p:nvSpPr>
        <p:spPr>
          <a:xfrm>
            <a:off x="540000" y="5688000"/>
            <a:ext cx="2862000" cy="360000"/>
          </a:xfrm>
          <a:prstGeom prst="rect">
            <a:avLst/>
          </a:prstGeom>
          <a:solidFill>
            <a:srgbClr val="0A2B6B"/>
          </a:solidFill>
          <a:ln w="6985">
            <a:solidFill>
              <a:srgbClr val="202020"/>
            </a:solidFill>
            <a:prstDash val="solid"/>
          </a:ln>
        </p:spPr>
      </p:sp>
      <p:sp>
        <p:nvSpPr>
          <p:cNvPr id="110" name="Text 107"/>
          <p:cNvSpPr/>
          <p:nvPr/>
        </p:nvSpPr>
        <p:spPr>
          <a:xfrm>
            <a:off x="601200" y="572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Gain énergétique</a:t>
            </a:r>
            <a:endParaRPr lang="en-US" sz="950" dirty="0"/>
          </a:p>
        </p:txBody>
      </p:sp>
      <p:sp>
        <p:nvSpPr>
          <p:cNvPr id="111" name="Shape 108"/>
          <p:cNvSpPr/>
          <p:nvPr/>
        </p:nvSpPr>
        <p:spPr>
          <a:xfrm>
            <a:off x="3402000" y="5688000"/>
            <a:ext cx="900000" cy="360000"/>
          </a:xfrm>
          <a:prstGeom prst="rect">
            <a:avLst/>
          </a:prstGeom>
          <a:solidFill>
            <a:srgbClr val="FFFFFF"/>
          </a:solidFill>
          <a:ln w="6985">
            <a:solidFill>
              <a:srgbClr val="202020"/>
            </a:solidFill>
            <a:prstDash val="solid"/>
          </a:ln>
        </p:spPr>
      </p:sp>
      <p:sp>
        <p:nvSpPr>
          <p:cNvPr id="112" name="Text 109"/>
          <p:cNvSpPr/>
          <p:nvPr/>
        </p:nvSpPr>
        <p:spPr>
          <a:xfrm>
            <a:off x="34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3" name="Shape 110"/>
          <p:cNvSpPr/>
          <p:nvPr/>
        </p:nvSpPr>
        <p:spPr>
          <a:xfrm>
            <a:off x="4302000" y="5688000"/>
            <a:ext cx="900000" cy="360000"/>
          </a:xfrm>
          <a:prstGeom prst="rect">
            <a:avLst/>
          </a:prstGeom>
          <a:solidFill>
            <a:srgbClr val="FFFFFF"/>
          </a:solidFill>
          <a:ln w="6985">
            <a:solidFill>
              <a:srgbClr val="202020"/>
            </a:solidFill>
            <a:prstDash val="solid"/>
          </a:ln>
        </p:spPr>
      </p:sp>
      <p:sp>
        <p:nvSpPr>
          <p:cNvPr id="114" name="Text 111"/>
          <p:cNvSpPr/>
          <p:nvPr/>
        </p:nvSpPr>
        <p:spPr>
          <a:xfrm>
            <a:off x="43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5" name="Shape 112"/>
          <p:cNvSpPr/>
          <p:nvPr/>
        </p:nvSpPr>
        <p:spPr>
          <a:xfrm>
            <a:off x="5202000" y="5688000"/>
            <a:ext cx="900000" cy="360000"/>
          </a:xfrm>
          <a:prstGeom prst="rect">
            <a:avLst/>
          </a:prstGeom>
          <a:solidFill>
            <a:srgbClr val="FFFFFF"/>
          </a:solidFill>
          <a:ln w="6985">
            <a:solidFill>
              <a:srgbClr val="202020"/>
            </a:solidFill>
            <a:prstDash val="solid"/>
          </a:ln>
        </p:spPr>
      </p:sp>
      <p:sp>
        <p:nvSpPr>
          <p:cNvPr id="116" name="Text 113"/>
          <p:cNvSpPr/>
          <p:nvPr/>
        </p:nvSpPr>
        <p:spPr>
          <a:xfrm>
            <a:off x="52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7" name="Shape 114"/>
          <p:cNvSpPr/>
          <p:nvPr/>
        </p:nvSpPr>
        <p:spPr>
          <a:xfrm>
            <a:off x="6102000" y="5688000"/>
            <a:ext cx="918000" cy="360000"/>
          </a:xfrm>
          <a:prstGeom prst="rect">
            <a:avLst/>
          </a:prstGeom>
          <a:solidFill>
            <a:srgbClr val="FFFFFF"/>
          </a:solidFill>
          <a:ln w="6985">
            <a:solidFill>
              <a:srgbClr val="202020"/>
            </a:solidFill>
            <a:prstDash val="solid"/>
          </a:ln>
        </p:spPr>
      </p:sp>
      <p:sp>
        <p:nvSpPr>
          <p:cNvPr id="118" name="Text 115"/>
          <p:cNvSpPr/>
          <p:nvPr/>
        </p:nvSpPr>
        <p:spPr>
          <a:xfrm>
            <a:off x="6163200" y="5727600"/>
            <a:ext cx="795600" cy="280800"/>
          </a:xfrm>
          <a:prstGeom prst="rect">
            <a:avLst/>
          </a:prstGeom>
          <a:noFill/>
          <a:ln/>
        </p:spPr>
        <p:txBody>
          <a:bodyPr wrap="square" lIns="0" tIns="0" rIns="0" bIns="0" rtlCol="0" anchor="ctr"/>
          <a:lstStyle/>
          <a:p>
            <a:pPr algn="l" indent="0" marL="0">
              <a:buNone/>
            </a:pPr>
            <a:endParaRPr lang="en-US" sz="950" dirty="0"/>
          </a:p>
        </p:txBody>
      </p:sp>
      <p:sp>
        <p:nvSpPr>
          <p:cNvPr id="119" name="Shape 116"/>
          <p:cNvSpPr/>
          <p:nvPr/>
        </p:nvSpPr>
        <p:spPr>
          <a:xfrm>
            <a:off x="540000" y="6048000"/>
            <a:ext cx="2862000" cy="360000"/>
          </a:xfrm>
          <a:prstGeom prst="rect">
            <a:avLst/>
          </a:prstGeom>
          <a:solidFill>
            <a:srgbClr val="0A2B6B"/>
          </a:solidFill>
          <a:ln w="6985">
            <a:solidFill>
              <a:srgbClr val="202020"/>
            </a:solidFill>
            <a:prstDash val="solid"/>
          </a:ln>
        </p:spPr>
      </p:sp>
      <p:sp>
        <p:nvSpPr>
          <p:cNvPr id="120" name="Text 117"/>
          <p:cNvSpPr/>
          <p:nvPr/>
        </p:nvSpPr>
        <p:spPr>
          <a:xfrm>
            <a:off x="601200" y="608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Investissement en TTC (sans les aides)</a:t>
            </a:r>
            <a:endParaRPr lang="en-US" sz="950" dirty="0"/>
          </a:p>
        </p:txBody>
      </p:sp>
      <p:sp>
        <p:nvSpPr>
          <p:cNvPr id="121" name="Shape 118"/>
          <p:cNvSpPr/>
          <p:nvPr/>
        </p:nvSpPr>
        <p:spPr>
          <a:xfrm>
            <a:off x="3402000" y="6048000"/>
            <a:ext cx="900000" cy="360000"/>
          </a:xfrm>
          <a:prstGeom prst="rect">
            <a:avLst/>
          </a:prstGeom>
          <a:solidFill>
            <a:srgbClr val="FFFFFF"/>
          </a:solidFill>
          <a:ln w="6985">
            <a:solidFill>
              <a:srgbClr val="202020"/>
            </a:solidFill>
            <a:prstDash val="solid"/>
          </a:ln>
        </p:spPr>
      </p:sp>
      <p:sp>
        <p:nvSpPr>
          <p:cNvPr id="122" name="Text 119"/>
          <p:cNvSpPr/>
          <p:nvPr/>
        </p:nvSpPr>
        <p:spPr>
          <a:xfrm>
            <a:off x="34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3" name="Shape 120"/>
          <p:cNvSpPr/>
          <p:nvPr/>
        </p:nvSpPr>
        <p:spPr>
          <a:xfrm>
            <a:off x="4302000" y="6048000"/>
            <a:ext cx="900000" cy="360000"/>
          </a:xfrm>
          <a:prstGeom prst="rect">
            <a:avLst/>
          </a:prstGeom>
          <a:solidFill>
            <a:srgbClr val="FFFFFF"/>
          </a:solidFill>
          <a:ln w="6985">
            <a:solidFill>
              <a:srgbClr val="202020"/>
            </a:solidFill>
            <a:prstDash val="solid"/>
          </a:ln>
        </p:spPr>
      </p:sp>
      <p:sp>
        <p:nvSpPr>
          <p:cNvPr id="124" name="Text 121"/>
          <p:cNvSpPr/>
          <p:nvPr/>
        </p:nvSpPr>
        <p:spPr>
          <a:xfrm>
            <a:off x="43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5" name="Shape 122"/>
          <p:cNvSpPr/>
          <p:nvPr/>
        </p:nvSpPr>
        <p:spPr>
          <a:xfrm>
            <a:off x="5202000" y="6048000"/>
            <a:ext cx="900000" cy="360000"/>
          </a:xfrm>
          <a:prstGeom prst="rect">
            <a:avLst/>
          </a:prstGeom>
          <a:solidFill>
            <a:srgbClr val="FFFFFF"/>
          </a:solidFill>
          <a:ln w="6985">
            <a:solidFill>
              <a:srgbClr val="202020"/>
            </a:solidFill>
            <a:prstDash val="solid"/>
          </a:ln>
        </p:spPr>
      </p:sp>
      <p:sp>
        <p:nvSpPr>
          <p:cNvPr id="126" name="Text 123"/>
          <p:cNvSpPr/>
          <p:nvPr/>
        </p:nvSpPr>
        <p:spPr>
          <a:xfrm>
            <a:off x="52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7" name="Shape 124"/>
          <p:cNvSpPr/>
          <p:nvPr/>
        </p:nvSpPr>
        <p:spPr>
          <a:xfrm>
            <a:off x="6102000" y="6048000"/>
            <a:ext cx="918000" cy="360000"/>
          </a:xfrm>
          <a:prstGeom prst="rect">
            <a:avLst/>
          </a:prstGeom>
          <a:solidFill>
            <a:srgbClr val="FFFFFF"/>
          </a:solidFill>
          <a:ln w="6985">
            <a:solidFill>
              <a:srgbClr val="202020"/>
            </a:solidFill>
            <a:prstDash val="solid"/>
          </a:ln>
        </p:spPr>
      </p:sp>
      <p:sp>
        <p:nvSpPr>
          <p:cNvPr id="128" name="Text 125"/>
          <p:cNvSpPr/>
          <p:nvPr/>
        </p:nvSpPr>
        <p:spPr>
          <a:xfrm>
            <a:off x="6163200" y="6087600"/>
            <a:ext cx="795600" cy="280800"/>
          </a:xfrm>
          <a:prstGeom prst="rect">
            <a:avLst/>
          </a:prstGeom>
          <a:noFill/>
          <a:ln/>
        </p:spPr>
        <p:txBody>
          <a:bodyPr wrap="square" lIns="0" tIns="0" rIns="0" bIns="0" rtlCol="0" anchor="ctr"/>
          <a:lstStyle/>
          <a:p>
            <a:pPr algn="l" indent="0" marL="0">
              <a:buNone/>
            </a:pPr>
            <a:endParaRPr lang="en-US" sz="950" dirty="0"/>
          </a:p>
        </p:txBody>
      </p:sp>
      <p:sp>
        <p:nvSpPr>
          <p:cNvPr id="129" name="Shape 126"/>
          <p:cNvSpPr/>
          <p:nvPr/>
        </p:nvSpPr>
        <p:spPr>
          <a:xfrm>
            <a:off x="540000" y="6660000"/>
            <a:ext cx="2862000" cy="432000"/>
          </a:xfrm>
          <a:prstGeom prst="rect">
            <a:avLst/>
          </a:prstGeom>
          <a:solidFill>
            <a:srgbClr val="0A2B6B"/>
          </a:solidFill>
          <a:ln w="6985">
            <a:solidFill>
              <a:srgbClr val="202020"/>
            </a:solidFill>
            <a:prstDash val="solid"/>
          </a:ln>
        </p:spPr>
      </p:sp>
      <p:sp>
        <p:nvSpPr>
          <p:cNvPr id="130" name="Text 127"/>
          <p:cNvSpPr/>
          <p:nvPr/>
        </p:nvSpPr>
        <p:spPr>
          <a:xfrm>
            <a:off x="601200" y="6699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MaPrimeRénov ’Copropriétés</a:t>
            </a:r>
            <a:endParaRPr lang="en-US" sz="950" dirty="0"/>
          </a:p>
        </p:txBody>
      </p:sp>
      <p:sp>
        <p:nvSpPr>
          <p:cNvPr id="131" name="Shape 128"/>
          <p:cNvSpPr/>
          <p:nvPr/>
        </p:nvSpPr>
        <p:spPr>
          <a:xfrm>
            <a:off x="3402000" y="6660000"/>
            <a:ext cx="900000" cy="432000"/>
          </a:xfrm>
          <a:prstGeom prst="rect">
            <a:avLst/>
          </a:prstGeom>
          <a:solidFill>
            <a:srgbClr val="FFFFFF"/>
          </a:solidFill>
          <a:ln w="6985">
            <a:solidFill>
              <a:srgbClr val="202020"/>
            </a:solidFill>
            <a:prstDash val="solid"/>
          </a:ln>
        </p:spPr>
      </p:sp>
      <p:sp>
        <p:nvSpPr>
          <p:cNvPr id="132" name="Text 129"/>
          <p:cNvSpPr/>
          <p:nvPr/>
        </p:nvSpPr>
        <p:spPr>
          <a:xfrm>
            <a:off x="34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3" name="Shape 130"/>
          <p:cNvSpPr/>
          <p:nvPr/>
        </p:nvSpPr>
        <p:spPr>
          <a:xfrm>
            <a:off x="4302000" y="6660000"/>
            <a:ext cx="900000" cy="432000"/>
          </a:xfrm>
          <a:prstGeom prst="rect">
            <a:avLst/>
          </a:prstGeom>
          <a:solidFill>
            <a:srgbClr val="FFFFFF"/>
          </a:solidFill>
          <a:ln w="6985">
            <a:solidFill>
              <a:srgbClr val="202020"/>
            </a:solidFill>
            <a:prstDash val="solid"/>
          </a:ln>
        </p:spPr>
      </p:sp>
      <p:sp>
        <p:nvSpPr>
          <p:cNvPr id="134" name="Text 131"/>
          <p:cNvSpPr/>
          <p:nvPr/>
        </p:nvSpPr>
        <p:spPr>
          <a:xfrm>
            <a:off x="43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5" name="Shape 132"/>
          <p:cNvSpPr/>
          <p:nvPr/>
        </p:nvSpPr>
        <p:spPr>
          <a:xfrm>
            <a:off x="5202000" y="6660000"/>
            <a:ext cx="900000" cy="432000"/>
          </a:xfrm>
          <a:prstGeom prst="rect">
            <a:avLst/>
          </a:prstGeom>
          <a:solidFill>
            <a:srgbClr val="FFFFFF"/>
          </a:solidFill>
          <a:ln w="6985">
            <a:solidFill>
              <a:srgbClr val="202020"/>
            </a:solidFill>
            <a:prstDash val="solid"/>
          </a:ln>
        </p:spPr>
      </p:sp>
      <p:sp>
        <p:nvSpPr>
          <p:cNvPr id="136" name="Text 133"/>
          <p:cNvSpPr/>
          <p:nvPr/>
        </p:nvSpPr>
        <p:spPr>
          <a:xfrm>
            <a:off x="52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7" name="Shape 134"/>
          <p:cNvSpPr/>
          <p:nvPr/>
        </p:nvSpPr>
        <p:spPr>
          <a:xfrm>
            <a:off x="6102000" y="6660000"/>
            <a:ext cx="918000" cy="432000"/>
          </a:xfrm>
          <a:prstGeom prst="rect">
            <a:avLst/>
          </a:prstGeom>
          <a:solidFill>
            <a:srgbClr val="FFFFFF"/>
          </a:solidFill>
          <a:ln w="6985">
            <a:solidFill>
              <a:srgbClr val="202020"/>
            </a:solidFill>
            <a:prstDash val="solid"/>
          </a:ln>
        </p:spPr>
      </p:sp>
      <p:sp>
        <p:nvSpPr>
          <p:cNvPr id="138" name="Text 135"/>
          <p:cNvSpPr/>
          <p:nvPr/>
        </p:nvSpPr>
        <p:spPr>
          <a:xfrm>
            <a:off x="6163200" y="6699600"/>
            <a:ext cx="795600" cy="352800"/>
          </a:xfrm>
          <a:prstGeom prst="rect">
            <a:avLst/>
          </a:prstGeom>
          <a:noFill/>
          <a:ln/>
        </p:spPr>
        <p:txBody>
          <a:bodyPr wrap="square" lIns="0" tIns="0" rIns="0" bIns="0" rtlCol="0" anchor="ctr"/>
          <a:lstStyle/>
          <a:p>
            <a:pPr algn="l" indent="0" marL="0">
              <a:buNone/>
            </a:pPr>
            <a:endParaRPr lang="en-US" sz="950" dirty="0"/>
          </a:p>
        </p:txBody>
      </p:sp>
      <p:sp>
        <p:nvSpPr>
          <p:cNvPr id="139" name="Shape 136"/>
          <p:cNvSpPr/>
          <p:nvPr/>
        </p:nvSpPr>
        <p:spPr>
          <a:xfrm>
            <a:off x="540000" y="7092000"/>
            <a:ext cx="2862000" cy="432000"/>
          </a:xfrm>
          <a:prstGeom prst="rect">
            <a:avLst/>
          </a:prstGeom>
          <a:solidFill>
            <a:srgbClr val="0A2B6B"/>
          </a:solidFill>
          <a:ln w="6985">
            <a:solidFill>
              <a:srgbClr val="202020"/>
            </a:solidFill>
            <a:prstDash val="solid"/>
          </a:ln>
        </p:spPr>
      </p:sp>
      <p:sp>
        <p:nvSpPr>
          <p:cNvPr id="140" name="Text 137"/>
          <p:cNvSpPr/>
          <p:nvPr/>
        </p:nvSpPr>
        <p:spPr>
          <a:xfrm>
            <a:off x="601200" y="7131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des CEE (Certificats d’Economies d’Energie)</a:t>
            </a:r>
            <a:endParaRPr lang="en-US" sz="950" dirty="0"/>
          </a:p>
        </p:txBody>
      </p:sp>
      <p:sp>
        <p:nvSpPr>
          <p:cNvPr id="141" name="Shape 138"/>
          <p:cNvSpPr/>
          <p:nvPr/>
        </p:nvSpPr>
        <p:spPr>
          <a:xfrm>
            <a:off x="3402000" y="7092000"/>
            <a:ext cx="900000" cy="432000"/>
          </a:xfrm>
          <a:prstGeom prst="rect">
            <a:avLst/>
          </a:prstGeom>
          <a:solidFill>
            <a:srgbClr val="FFFFFF"/>
          </a:solidFill>
          <a:ln w="6985">
            <a:solidFill>
              <a:srgbClr val="202020"/>
            </a:solidFill>
            <a:prstDash val="solid"/>
          </a:ln>
        </p:spPr>
      </p:sp>
      <p:sp>
        <p:nvSpPr>
          <p:cNvPr id="142" name="Text 139"/>
          <p:cNvSpPr/>
          <p:nvPr/>
        </p:nvSpPr>
        <p:spPr>
          <a:xfrm>
            <a:off x="34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3" name="Shape 140"/>
          <p:cNvSpPr/>
          <p:nvPr/>
        </p:nvSpPr>
        <p:spPr>
          <a:xfrm>
            <a:off x="4302000" y="7092000"/>
            <a:ext cx="900000" cy="432000"/>
          </a:xfrm>
          <a:prstGeom prst="rect">
            <a:avLst/>
          </a:prstGeom>
          <a:solidFill>
            <a:srgbClr val="FFFFFF"/>
          </a:solidFill>
          <a:ln w="6985">
            <a:solidFill>
              <a:srgbClr val="202020"/>
            </a:solidFill>
            <a:prstDash val="solid"/>
          </a:ln>
        </p:spPr>
      </p:sp>
      <p:sp>
        <p:nvSpPr>
          <p:cNvPr id="144" name="Text 141"/>
          <p:cNvSpPr/>
          <p:nvPr/>
        </p:nvSpPr>
        <p:spPr>
          <a:xfrm>
            <a:off x="43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5" name="Shape 142"/>
          <p:cNvSpPr/>
          <p:nvPr/>
        </p:nvSpPr>
        <p:spPr>
          <a:xfrm>
            <a:off x="5202000" y="7092000"/>
            <a:ext cx="900000" cy="432000"/>
          </a:xfrm>
          <a:prstGeom prst="rect">
            <a:avLst/>
          </a:prstGeom>
          <a:solidFill>
            <a:srgbClr val="FFFFFF"/>
          </a:solidFill>
          <a:ln w="6985">
            <a:solidFill>
              <a:srgbClr val="202020"/>
            </a:solidFill>
            <a:prstDash val="solid"/>
          </a:ln>
        </p:spPr>
      </p:sp>
      <p:sp>
        <p:nvSpPr>
          <p:cNvPr id="146" name="Text 143"/>
          <p:cNvSpPr/>
          <p:nvPr/>
        </p:nvSpPr>
        <p:spPr>
          <a:xfrm>
            <a:off x="52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7" name="Shape 144"/>
          <p:cNvSpPr/>
          <p:nvPr/>
        </p:nvSpPr>
        <p:spPr>
          <a:xfrm>
            <a:off x="6102000" y="7092000"/>
            <a:ext cx="918000" cy="432000"/>
          </a:xfrm>
          <a:prstGeom prst="rect">
            <a:avLst/>
          </a:prstGeom>
          <a:solidFill>
            <a:srgbClr val="FFFFFF"/>
          </a:solidFill>
          <a:ln w="6985">
            <a:solidFill>
              <a:srgbClr val="202020"/>
            </a:solidFill>
            <a:prstDash val="solid"/>
          </a:ln>
        </p:spPr>
      </p:sp>
      <p:sp>
        <p:nvSpPr>
          <p:cNvPr id="148" name="Text 145"/>
          <p:cNvSpPr/>
          <p:nvPr/>
        </p:nvSpPr>
        <p:spPr>
          <a:xfrm>
            <a:off x="6163200" y="7131600"/>
            <a:ext cx="795600" cy="352800"/>
          </a:xfrm>
          <a:prstGeom prst="rect">
            <a:avLst/>
          </a:prstGeom>
          <a:noFill/>
          <a:ln/>
        </p:spPr>
        <p:txBody>
          <a:bodyPr wrap="square" lIns="0" tIns="0" rIns="0" bIns="0" rtlCol="0" anchor="ctr"/>
          <a:lstStyle/>
          <a:p>
            <a:pPr algn="l" indent="0" marL="0">
              <a:buNone/>
            </a:pP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1000" dirty="0"/>
          </a:p>
        </p:txBody>
      </p:sp>
      <p:sp>
        <p:nvSpPr>
          <p:cNvPr id="9" name="Text 6"/>
          <p:cNvSpPr/>
          <p:nvPr/>
        </p:nvSpPr>
        <p:spPr>
          <a:xfrm>
            <a:off x="648000" y="287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1000" dirty="0"/>
          </a:p>
        </p:txBody>
      </p:sp>
      <p:sp>
        <p:nvSpPr>
          <p:cNvPr id="10" name="Text 7"/>
          <p:cNvSpPr/>
          <p:nvPr/>
        </p:nvSpPr>
        <p:spPr>
          <a:xfrm>
            <a:off x="648000" y="37116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1000" dirty="0"/>
          </a:p>
        </p:txBody>
      </p:sp>
      <p:sp>
        <p:nvSpPr>
          <p:cNvPr id="11" name="Text 8"/>
          <p:cNvSpPr/>
          <p:nvPr/>
        </p:nvSpPr>
        <p:spPr>
          <a:xfrm>
            <a:off x="648000" y="43812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1 : Travaux curatifs</a:t>
            </a:r>
            <a:endParaRPr lang="en-US" sz="1000" dirty="0"/>
          </a:p>
        </p:txBody>
      </p:sp>
      <p:sp>
        <p:nvSpPr>
          <p:cNvPr id="12" name="Text 9"/>
          <p:cNvSpPr/>
          <p:nvPr/>
        </p:nvSpPr>
        <p:spPr>
          <a:xfrm>
            <a:off x="648000" y="470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1000" dirty="0"/>
          </a:p>
        </p:txBody>
      </p:sp>
      <p:sp>
        <p:nvSpPr>
          <p:cNvPr id="13" name="Text 10"/>
          <p:cNvSpPr/>
          <p:nvPr/>
        </p:nvSpPr>
        <p:spPr>
          <a:xfrm>
            <a:off x="648000" y="56088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2 : Travaux d’amélioration énergétique</a:t>
            </a:r>
            <a:endParaRPr lang="en-US" sz="1000" dirty="0"/>
          </a:p>
        </p:txBody>
      </p:sp>
      <p:sp>
        <p:nvSpPr>
          <p:cNvPr id="14" name="Text 11"/>
          <p:cNvSpPr/>
          <p:nvPr/>
        </p:nvSpPr>
        <p:spPr>
          <a:xfrm>
            <a:off x="648000" y="59292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576000"/>
          </a:xfrm>
          <a:prstGeom prst="rect">
            <a:avLst/>
          </a:prstGeom>
          <a:solidFill>
            <a:srgbClr val="D52234"/>
          </a:solidFill>
          <a:ln w="6985">
            <a:solidFill>
              <a:srgbClr val="202020"/>
            </a:solidFill>
            <a:prstDash val="solid"/>
          </a:ln>
        </p:spPr>
      </p:sp>
      <p:sp>
        <p:nvSpPr>
          <p:cNvPr id="23" name="Text 20"/>
          <p:cNvSpPr/>
          <p:nvPr/>
        </p:nvSpPr>
        <p:spPr>
          <a:xfrm>
            <a:off x="601200" y="2541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224000" y="2502000"/>
            <a:ext cx="720000" cy="576000"/>
          </a:xfrm>
          <a:prstGeom prst="rect">
            <a:avLst/>
          </a:prstGeom>
          <a:solidFill>
            <a:srgbClr val="F6A5A8"/>
          </a:solidFill>
          <a:ln w="6985">
            <a:solidFill>
              <a:srgbClr val="202020"/>
            </a:solidFill>
            <a:prstDash val="solid"/>
          </a:ln>
        </p:spPr>
      </p:sp>
      <p:sp>
        <p:nvSpPr>
          <p:cNvPr id="25" name="Text 22"/>
          <p:cNvSpPr/>
          <p:nvPr/>
        </p:nvSpPr>
        <p:spPr>
          <a:xfrm>
            <a:off x="1285200" y="2541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a:t>
            </a:r>
            <a:endParaRPr lang="en-US" sz="950" dirty="0"/>
          </a:p>
        </p:txBody>
      </p:sp>
      <p:sp>
        <p:nvSpPr>
          <p:cNvPr id="26" name="Shape 23"/>
          <p:cNvSpPr/>
          <p:nvPr/>
        </p:nvSpPr>
        <p:spPr>
          <a:xfrm>
            <a:off x="1944000" y="2502000"/>
            <a:ext cx="2160000" cy="576000"/>
          </a:xfrm>
          <a:prstGeom prst="rect">
            <a:avLst/>
          </a:prstGeom>
          <a:solidFill>
            <a:srgbClr val="F6A5A8"/>
          </a:solidFill>
          <a:ln w="6985">
            <a:solidFill>
              <a:srgbClr val="202020"/>
            </a:solidFill>
            <a:prstDash val="solid"/>
          </a:ln>
        </p:spPr>
      </p:sp>
      <p:sp>
        <p:nvSpPr>
          <p:cNvPr id="27" name="Text 24"/>
          <p:cNvSpPr/>
          <p:nvPr/>
        </p:nvSpPr>
        <p:spPr>
          <a:xfrm>
            <a:off x="2005200" y="2541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Sécurisation de l’accès à un local technique.</a:t>
            </a:r>
            <a:endParaRPr lang="en-US" sz="950" dirty="0"/>
          </a:p>
        </p:txBody>
      </p:sp>
      <p:sp>
        <p:nvSpPr>
          <p:cNvPr id="28" name="Shape 25"/>
          <p:cNvSpPr/>
          <p:nvPr/>
        </p:nvSpPr>
        <p:spPr>
          <a:xfrm>
            <a:off x="4104000" y="2502000"/>
            <a:ext cx="756000" cy="576000"/>
          </a:xfrm>
          <a:prstGeom prst="rect">
            <a:avLst/>
          </a:prstGeom>
          <a:solidFill>
            <a:srgbClr val="F6A5A8"/>
          </a:solidFill>
          <a:ln w="6985">
            <a:solidFill>
              <a:srgbClr val="202020"/>
            </a:solidFill>
            <a:prstDash val="solid"/>
          </a:ln>
        </p:spPr>
      </p:sp>
      <p:sp>
        <p:nvSpPr>
          <p:cNvPr id="29" name="Text 26"/>
          <p:cNvSpPr/>
          <p:nvPr/>
        </p:nvSpPr>
        <p:spPr>
          <a:xfrm>
            <a:off x="4165200" y="2541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1 000 €</a:t>
            </a:r>
            <a:endParaRPr lang="en-US" sz="950" dirty="0"/>
          </a:p>
        </p:txBody>
      </p:sp>
      <p:sp>
        <p:nvSpPr>
          <p:cNvPr id="30" name="Shape 27"/>
          <p:cNvSpPr/>
          <p:nvPr/>
        </p:nvSpPr>
        <p:spPr>
          <a:xfrm>
            <a:off x="4860000" y="2502000"/>
            <a:ext cx="720000" cy="576000"/>
          </a:xfrm>
          <a:prstGeom prst="rect">
            <a:avLst/>
          </a:prstGeom>
          <a:solidFill>
            <a:srgbClr val="F6A5A8"/>
          </a:solidFill>
          <a:ln w="6985">
            <a:solidFill>
              <a:srgbClr val="202020"/>
            </a:solidFill>
            <a:prstDash val="solid"/>
          </a:ln>
        </p:spPr>
      </p:sp>
      <p:sp>
        <p:nvSpPr>
          <p:cNvPr id="31" name="Text 28"/>
          <p:cNvSpPr/>
          <p:nvPr/>
        </p:nvSpPr>
        <p:spPr>
          <a:xfrm>
            <a:off x="4921200" y="2541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580000" y="2502000"/>
            <a:ext cx="720000" cy="576000"/>
          </a:xfrm>
          <a:prstGeom prst="rect">
            <a:avLst/>
          </a:prstGeom>
          <a:solidFill>
            <a:srgbClr val="F6A5A8"/>
          </a:solidFill>
          <a:ln w="6985">
            <a:solidFill>
              <a:srgbClr val="202020"/>
            </a:solidFill>
            <a:prstDash val="solid"/>
          </a:ln>
        </p:spPr>
      </p:sp>
      <p:sp>
        <p:nvSpPr>
          <p:cNvPr id="33" name="Text 30"/>
          <p:cNvSpPr/>
          <p:nvPr/>
        </p:nvSpPr>
        <p:spPr>
          <a:xfrm>
            <a:off x="564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300000" y="2502000"/>
            <a:ext cx="720000" cy="576000"/>
          </a:xfrm>
          <a:prstGeom prst="rect">
            <a:avLst/>
          </a:prstGeom>
          <a:solidFill>
            <a:srgbClr val="F6A5A8"/>
          </a:solidFill>
          <a:ln w="6985">
            <a:solidFill>
              <a:srgbClr val="202020"/>
            </a:solidFill>
            <a:prstDash val="solid"/>
          </a:ln>
        </p:spPr>
      </p:sp>
      <p:sp>
        <p:nvSpPr>
          <p:cNvPr id="35" name="Text 32"/>
          <p:cNvSpPr/>
          <p:nvPr/>
        </p:nvSpPr>
        <p:spPr>
          <a:xfrm>
            <a:off x="636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540000" y="3078000"/>
            <a:ext cx="684000" cy="576000"/>
          </a:xfrm>
          <a:prstGeom prst="rect">
            <a:avLst/>
          </a:prstGeom>
          <a:solidFill>
            <a:srgbClr val="D52234"/>
          </a:solidFill>
          <a:ln w="6985">
            <a:solidFill>
              <a:srgbClr val="202020"/>
            </a:solidFill>
            <a:prstDash val="solid"/>
          </a:ln>
        </p:spPr>
      </p:sp>
      <p:sp>
        <p:nvSpPr>
          <p:cNvPr id="37" name="Text 34"/>
          <p:cNvSpPr/>
          <p:nvPr/>
        </p:nvSpPr>
        <p:spPr>
          <a:xfrm>
            <a:off x="601200" y="3117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38" name="Shape 35"/>
          <p:cNvSpPr/>
          <p:nvPr/>
        </p:nvSpPr>
        <p:spPr>
          <a:xfrm>
            <a:off x="1224000" y="3078000"/>
            <a:ext cx="720000" cy="576000"/>
          </a:xfrm>
          <a:prstGeom prst="rect">
            <a:avLst/>
          </a:prstGeom>
          <a:solidFill>
            <a:srgbClr val="F6A5A8"/>
          </a:solidFill>
          <a:ln w="6985">
            <a:solidFill>
              <a:srgbClr val="202020"/>
            </a:solidFill>
            <a:prstDash val="solid"/>
          </a:ln>
        </p:spPr>
      </p:sp>
      <p:sp>
        <p:nvSpPr>
          <p:cNvPr id="39" name="Text 36"/>
          <p:cNvSpPr/>
          <p:nvPr/>
        </p:nvSpPr>
        <p:spPr>
          <a:xfrm>
            <a:off x="1285200" y="3117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2</a:t>
            </a:r>
            <a:endParaRPr lang="en-US" sz="950" dirty="0"/>
          </a:p>
        </p:txBody>
      </p:sp>
      <p:sp>
        <p:nvSpPr>
          <p:cNvPr id="40" name="Shape 37"/>
          <p:cNvSpPr/>
          <p:nvPr/>
        </p:nvSpPr>
        <p:spPr>
          <a:xfrm>
            <a:off x="1944000" y="3078000"/>
            <a:ext cx="2160000" cy="576000"/>
          </a:xfrm>
          <a:prstGeom prst="rect">
            <a:avLst/>
          </a:prstGeom>
          <a:solidFill>
            <a:srgbClr val="F6A5A8"/>
          </a:solidFill>
          <a:ln w="6985">
            <a:solidFill>
              <a:srgbClr val="202020"/>
            </a:solidFill>
            <a:prstDash val="solid"/>
          </a:ln>
        </p:spPr>
      </p:sp>
      <p:sp>
        <p:nvSpPr>
          <p:cNvPr id="41" name="Text 38"/>
          <p:cNvSpPr/>
          <p:nvPr/>
        </p:nvSpPr>
        <p:spPr>
          <a:xfrm>
            <a:off x="2005200" y="3117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Remise en état d’un élément de sécurité collectif.</a:t>
            </a:r>
            <a:endParaRPr lang="en-US" sz="950" dirty="0"/>
          </a:p>
        </p:txBody>
      </p:sp>
      <p:sp>
        <p:nvSpPr>
          <p:cNvPr id="42" name="Shape 39"/>
          <p:cNvSpPr/>
          <p:nvPr/>
        </p:nvSpPr>
        <p:spPr>
          <a:xfrm>
            <a:off x="4104000" y="3078000"/>
            <a:ext cx="756000" cy="576000"/>
          </a:xfrm>
          <a:prstGeom prst="rect">
            <a:avLst/>
          </a:prstGeom>
          <a:solidFill>
            <a:srgbClr val="F6A5A8"/>
          </a:solidFill>
          <a:ln w="6985">
            <a:solidFill>
              <a:srgbClr val="202020"/>
            </a:solidFill>
            <a:prstDash val="solid"/>
          </a:ln>
        </p:spPr>
      </p:sp>
      <p:sp>
        <p:nvSpPr>
          <p:cNvPr id="43" name="Text 40"/>
          <p:cNvSpPr/>
          <p:nvPr/>
        </p:nvSpPr>
        <p:spPr>
          <a:xfrm>
            <a:off x="4165200" y="3117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1 400 €</a:t>
            </a:r>
            <a:endParaRPr lang="en-US" sz="950" dirty="0"/>
          </a:p>
        </p:txBody>
      </p:sp>
      <p:sp>
        <p:nvSpPr>
          <p:cNvPr id="44" name="Shape 41"/>
          <p:cNvSpPr/>
          <p:nvPr/>
        </p:nvSpPr>
        <p:spPr>
          <a:xfrm>
            <a:off x="4860000" y="3078000"/>
            <a:ext cx="720000" cy="576000"/>
          </a:xfrm>
          <a:prstGeom prst="rect">
            <a:avLst/>
          </a:prstGeom>
          <a:solidFill>
            <a:srgbClr val="F6A5A8"/>
          </a:solidFill>
          <a:ln w="6985">
            <a:solidFill>
              <a:srgbClr val="202020"/>
            </a:solidFill>
            <a:prstDash val="solid"/>
          </a:ln>
        </p:spPr>
      </p:sp>
      <p:sp>
        <p:nvSpPr>
          <p:cNvPr id="45" name="Text 42"/>
          <p:cNvSpPr/>
          <p:nvPr/>
        </p:nvSpPr>
        <p:spPr>
          <a:xfrm>
            <a:off x="4921200" y="3117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46" name="Shape 43"/>
          <p:cNvSpPr/>
          <p:nvPr/>
        </p:nvSpPr>
        <p:spPr>
          <a:xfrm>
            <a:off x="5580000" y="3078000"/>
            <a:ext cx="720000" cy="576000"/>
          </a:xfrm>
          <a:prstGeom prst="rect">
            <a:avLst/>
          </a:prstGeom>
          <a:solidFill>
            <a:srgbClr val="F6A5A8"/>
          </a:solidFill>
          <a:ln w="6985">
            <a:solidFill>
              <a:srgbClr val="202020"/>
            </a:solidFill>
            <a:prstDash val="solid"/>
          </a:ln>
        </p:spPr>
      </p:sp>
      <p:sp>
        <p:nvSpPr>
          <p:cNvPr id="47" name="Text 44"/>
          <p:cNvSpPr/>
          <p:nvPr/>
        </p:nvSpPr>
        <p:spPr>
          <a:xfrm>
            <a:off x="564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48" name="Shape 45"/>
          <p:cNvSpPr/>
          <p:nvPr/>
        </p:nvSpPr>
        <p:spPr>
          <a:xfrm>
            <a:off x="6300000" y="3078000"/>
            <a:ext cx="720000" cy="576000"/>
          </a:xfrm>
          <a:prstGeom prst="rect">
            <a:avLst/>
          </a:prstGeom>
          <a:solidFill>
            <a:srgbClr val="F6A5A8"/>
          </a:solidFill>
          <a:ln w="6985">
            <a:solidFill>
              <a:srgbClr val="202020"/>
            </a:solidFill>
            <a:prstDash val="solid"/>
          </a:ln>
        </p:spPr>
      </p:sp>
      <p:sp>
        <p:nvSpPr>
          <p:cNvPr id="49" name="Text 46"/>
          <p:cNvSpPr/>
          <p:nvPr/>
        </p:nvSpPr>
        <p:spPr>
          <a:xfrm>
            <a:off x="636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50" name="Shape 47"/>
          <p:cNvSpPr/>
          <p:nvPr/>
        </p:nvSpPr>
        <p:spPr>
          <a:xfrm>
            <a:off x="540000" y="3654000"/>
            <a:ext cx="684000" cy="576000"/>
          </a:xfrm>
          <a:prstGeom prst="rect">
            <a:avLst/>
          </a:prstGeom>
          <a:solidFill>
            <a:srgbClr val="00BE84"/>
          </a:solidFill>
          <a:ln w="6985">
            <a:solidFill>
              <a:srgbClr val="202020"/>
            </a:solidFill>
            <a:prstDash val="solid"/>
          </a:ln>
        </p:spPr>
      </p:sp>
      <p:sp>
        <p:nvSpPr>
          <p:cNvPr id="51" name="Text 48"/>
          <p:cNvSpPr/>
          <p:nvPr/>
        </p:nvSpPr>
        <p:spPr>
          <a:xfrm>
            <a:off x="601200" y="3693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C3</a:t>
            </a:r>
            <a:endParaRPr lang="en-US" sz="900" dirty="0"/>
          </a:p>
        </p:txBody>
      </p:sp>
      <p:sp>
        <p:nvSpPr>
          <p:cNvPr id="52" name="Shape 49"/>
          <p:cNvSpPr/>
          <p:nvPr/>
        </p:nvSpPr>
        <p:spPr>
          <a:xfrm>
            <a:off x="1224000" y="3654000"/>
            <a:ext cx="720000" cy="576000"/>
          </a:xfrm>
          <a:prstGeom prst="rect">
            <a:avLst/>
          </a:prstGeom>
          <a:solidFill>
            <a:srgbClr val="C4EDCB"/>
          </a:solidFill>
          <a:ln w="6985">
            <a:solidFill>
              <a:srgbClr val="202020"/>
            </a:solidFill>
            <a:prstDash val="solid"/>
          </a:ln>
        </p:spPr>
      </p:sp>
      <p:sp>
        <p:nvSpPr>
          <p:cNvPr id="53" name="Text 50"/>
          <p:cNvSpPr/>
          <p:nvPr/>
        </p:nvSpPr>
        <p:spPr>
          <a:xfrm>
            <a:off x="1285200" y="3693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3</a:t>
            </a:r>
            <a:endParaRPr lang="en-US" sz="950" dirty="0"/>
          </a:p>
        </p:txBody>
      </p:sp>
      <p:sp>
        <p:nvSpPr>
          <p:cNvPr id="54" name="Shape 51"/>
          <p:cNvSpPr/>
          <p:nvPr/>
        </p:nvSpPr>
        <p:spPr>
          <a:xfrm>
            <a:off x="1944000" y="3654000"/>
            <a:ext cx="2160000" cy="576000"/>
          </a:xfrm>
          <a:prstGeom prst="rect">
            <a:avLst/>
          </a:prstGeom>
          <a:solidFill>
            <a:srgbClr val="C4EDCB"/>
          </a:solidFill>
          <a:ln w="6985">
            <a:solidFill>
              <a:srgbClr val="202020"/>
            </a:solidFill>
            <a:prstDash val="solid"/>
          </a:ln>
        </p:spPr>
      </p:sp>
      <p:sp>
        <p:nvSpPr>
          <p:cNvPr id="55" name="Text 52"/>
          <p:cNvSpPr/>
          <p:nvPr/>
        </p:nvSpPr>
        <p:spPr>
          <a:xfrm>
            <a:off x="2005200" y="3693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Réfection programmée d’un revêtement des parties communes.</a:t>
            </a:r>
            <a:endParaRPr lang="en-US" sz="950" dirty="0"/>
          </a:p>
        </p:txBody>
      </p:sp>
      <p:sp>
        <p:nvSpPr>
          <p:cNvPr id="56" name="Shape 53"/>
          <p:cNvSpPr/>
          <p:nvPr/>
        </p:nvSpPr>
        <p:spPr>
          <a:xfrm>
            <a:off x="4104000" y="3654000"/>
            <a:ext cx="756000" cy="576000"/>
          </a:xfrm>
          <a:prstGeom prst="rect">
            <a:avLst/>
          </a:prstGeom>
          <a:solidFill>
            <a:srgbClr val="C4EDCB"/>
          </a:solidFill>
          <a:ln w="6985">
            <a:solidFill>
              <a:srgbClr val="202020"/>
            </a:solidFill>
            <a:prstDash val="solid"/>
          </a:ln>
        </p:spPr>
      </p:sp>
      <p:sp>
        <p:nvSpPr>
          <p:cNvPr id="57" name="Text 54"/>
          <p:cNvSpPr/>
          <p:nvPr/>
        </p:nvSpPr>
        <p:spPr>
          <a:xfrm>
            <a:off x="4165200" y="3693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4 500 €</a:t>
            </a:r>
            <a:endParaRPr lang="en-US" sz="950" dirty="0"/>
          </a:p>
        </p:txBody>
      </p:sp>
      <p:sp>
        <p:nvSpPr>
          <p:cNvPr id="58" name="Shape 55"/>
          <p:cNvSpPr/>
          <p:nvPr/>
        </p:nvSpPr>
        <p:spPr>
          <a:xfrm>
            <a:off x="4860000" y="3654000"/>
            <a:ext cx="720000" cy="576000"/>
          </a:xfrm>
          <a:prstGeom prst="rect">
            <a:avLst/>
          </a:prstGeom>
          <a:solidFill>
            <a:srgbClr val="C4EDCB"/>
          </a:solidFill>
          <a:ln w="6985">
            <a:solidFill>
              <a:srgbClr val="202020"/>
            </a:solidFill>
            <a:prstDash val="solid"/>
          </a:ln>
        </p:spPr>
      </p:sp>
      <p:sp>
        <p:nvSpPr>
          <p:cNvPr id="59" name="Text 56"/>
          <p:cNvSpPr/>
          <p:nvPr/>
        </p:nvSpPr>
        <p:spPr>
          <a:xfrm>
            <a:off x="492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0" name="Shape 57"/>
          <p:cNvSpPr/>
          <p:nvPr/>
        </p:nvSpPr>
        <p:spPr>
          <a:xfrm>
            <a:off x="5580000" y="3654000"/>
            <a:ext cx="720000" cy="576000"/>
          </a:xfrm>
          <a:prstGeom prst="rect">
            <a:avLst/>
          </a:prstGeom>
          <a:solidFill>
            <a:srgbClr val="C4EDCB"/>
          </a:solidFill>
          <a:ln w="6985">
            <a:solidFill>
              <a:srgbClr val="202020"/>
            </a:solidFill>
            <a:prstDash val="solid"/>
          </a:ln>
        </p:spPr>
      </p:sp>
      <p:sp>
        <p:nvSpPr>
          <p:cNvPr id="61" name="Text 58"/>
          <p:cNvSpPr/>
          <p:nvPr/>
        </p:nvSpPr>
        <p:spPr>
          <a:xfrm>
            <a:off x="564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2" name="Shape 59"/>
          <p:cNvSpPr/>
          <p:nvPr/>
        </p:nvSpPr>
        <p:spPr>
          <a:xfrm>
            <a:off x="6300000" y="3654000"/>
            <a:ext cx="720000" cy="576000"/>
          </a:xfrm>
          <a:prstGeom prst="rect">
            <a:avLst/>
          </a:prstGeom>
          <a:solidFill>
            <a:srgbClr val="C4EDCB"/>
          </a:solidFill>
          <a:ln w="6985">
            <a:solidFill>
              <a:srgbClr val="202020"/>
            </a:solidFill>
            <a:prstDash val="solid"/>
          </a:ln>
        </p:spPr>
      </p:sp>
      <p:sp>
        <p:nvSpPr>
          <p:cNvPr id="63" name="Text 60"/>
          <p:cNvSpPr/>
          <p:nvPr/>
        </p:nvSpPr>
        <p:spPr>
          <a:xfrm>
            <a:off x="6361200" y="3693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64" name="Shape 61"/>
          <p:cNvSpPr/>
          <p:nvPr/>
        </p:nvSpPr>
        <p:spPr>
          <a:xfrm>
            <a:off x="540000" y="4230000"/>
            <a:ext cx="684000" cy="576000"/>
          </a:xfrm>
          <a:prstGeom prst="rect">
            <a:avLst/>
          </a:prstGeom>
          <a:solidFill>
            <a:srgbClr val="00BE84"/>
          </a:solidFill>
          <a:ln w="6985">
            <a:solidFill>
              <a:srgbClr val="202020"/>
            </a:solidFill>
            <a:prstDash val="solid"/>
          </a:ln>
        </p:spPr>
      </p:sp>
      <p:sp>
        <p:nvSpPr>
          <p:cNvPr id="65" name="Text 62"/>
          <p:cNvSpPr/>
          <p:nvPr/>
        </p:nvSpPr>
        <p:spPr>
          <a:xfrm>
            <a:off x="601200" y="4269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C3</a:t>
            </a:r>
            <a:endParaRPr lang="en-US" sz="900" dirty="0"/>
          </a:p>
        </p:txBody>
      </p:sp>
      <p:sp>
        <p:nvSpPr>
          <p:cNvPr id="66" name="Shape 63"/>
          <p:cNvSpPr/>
          <p:nvPr/>
        </p:nvSpPr>
        <p:spPr>
          <a:xfrm>
            <a:off x="1224000" y="4230000"/>
            <a:ext cx="720000" cy="576000"/>
          </a:xfrm>
          <a:prstGeom prst="rect">
            <a:avLst/>
          </a:prstGeom>
          <a:solidFill>
            <a:srgbClr val="C4EDCB"/>
          </a:solidFill>
          <a:ln w="6985">
            <a:solidFill>
              <a:srgbClr val="202020"/>
            </a:solidFill>
            <a:prstDash val="solid"/>
          </a:ln>
        </p:spPr>
      </p:sp>
      <p:sp>
        <p:nvSpPr>
          <p:cNvPr id="67" name="Text 64"/>
          <p:cNvSpPr/>
          <p:nvPr/>
        </p:nvSpPr>
        <p:spPr>
          <a:xfrm>
            <a:off x="1285200" y="4269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4</a:t>
            </a:r>
            <a:endParaRPr lang="en-US" sz="950" dirty="0"/>
          </a:p>
        </p:txBody>
      </p:sp>
      <p:sp>
        <p:nvSpPr>
          <p:cNvPr id="68" name="Shape 65"/>
          <p:cNvSpPr/>
          <p:nvPr/>
        </p:nvSpPr>
        <p:spPr>
          <a:xfrm>
            <a:off x="1944000" y="4230000"/>
            <a:ext cx="2160000" cy="576000"/>
          </a:xfrm>
          <a:prstGeom prst="rect">
            <a:avLst/>
          </a:prstGeom>
          <a:solidFill>
            <a:srgbClr val="C4EDCB"/>
          </a:solidFill>
          <a:ln w="6985">
            <a:solidFill>
              <a:srgbClr val="202020"/>
            </a:solidFill>
            <a:prstDash val="solid"/>
          </a:ln>
        </p:spPr>
      </p:sp>
      <p:sp>
        <p:nvSpPr>
          <p:cNvPr id="69" name="Text 66"/>
          <p:cNvSpPr/>
          <p:nvPr/>
        </p:nvSpPr>
        <p:spPr>
          <a:xfrm>
            <a:off x="2005200" y="4269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Entretien et remise en état d’une menuiserie commune.</a:t>
            </a:r>
            <a:endParaRPr lang="en-US" sz="950" dirty="0"/>
          </a:p>
        </p:txBody>
      </p:sp>
      <p:sp>
        <p:nvSpPr>
          <p:cNvPr id="70" name="Shape 67"/>
          <p:cNvSpPr/>
          <p:nvPr/>
        </p:nvSpPr>
        <p:spPr>
          <a:xfrm>
            <a:off x="4104000" y="4230000"/>
            <a:ext cx="756000" cy="576000"/>
          </a:xfrm>
          <a:prstGeom prst="rect">
            <a:avLst/>
          </a:prstGeom>
          <a:solidFill>
            <a:srgbClr val="C4EDCB"/>
          </a:solidFill>
          <a:ln w="6985">
            <a:solidFill>
              <a:srgbClr val="202020"/>
            </a:solidFill>
            <a:prstDash val="solid"/>
          </a:ln>
        </p:spPr>
      </p:sp>
      <p:sp>
        <p:nvSpPr>
          <p:cNvPr id="71" name="Text 68"/>
          <p:cNvSpPr/>
          <p:nvPr/>
        </p:nvSpPr>
        <p:spPr>
          <a:xfrm>
            <a:off x="4165200" y="4269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1 750 €</a:t>
            </a:r>
            <a:endParaRPr lang="en-US" sz="950" dirty="0"/>
          </a:p>
        </p:txBody>
      </p:sp>
      <p:sp>
        <p:nvSpPr>
          <p:cNvPr id="72" name="Shape 69"/>
          <p:cNvSpPr/>
          <p:nvPr/>
        </p:nvSpPr>
        <p:spPr>
          <a:xfrm>
            <a:off x="4860000" y="4230000"/>
            <a:ext cx="720000" cy="576000"/>
          </a:xfrm>
          <a:prstGeom prst="rect">
            <a:avLst/>
          </a:prstGeom>
          <a:solidFill>
            <a:srgbClr val="C4EDCB"/>
          </a:solidFill>
          <a:ln w="6985">
            <a:solidFill>
              <a:srgbClr val="202020"/>
            </a:solidFill>
            <a:prstDash val="solid"/>
          </a:ln>
        </p:spPr>
      </p:sp>
      <p:sp>
        <p:nvSpPr>
          <p:cNvPr id="73" name="Text 70"/>
          <p:cNvSpPr/>
          <p:nvPr/>
        </p:nvSpPr>
        <p:spPr>
          <a:xfrm>
            <a:off x="4921200" y="4269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74" name="Shape 71"/>
          <p:cNvSpPr/>
          <p:nvPr/>
        </p:nvSpPr>
        <p:spPr>
          <a:xfrm>
            <a:off x="5580000" y="4230000"/>
            <a:ext cx="720000" cy="576000"/>
          </a:xfrm>
          <a:prstGeom prst="rect">
            <a:avLst/>
          </a:prstGeom>
          <a:solidFill>
            <a:srgbClr val="C4EDCB"/>
          </a:solidFill>
          <a:ln w="6985">
            <a:solidFill>
              <a:srgbClr val="202020"/>
            </a:solidFill>
            <a:prstDash val="solid"/>
          </a:ln>
        </p:spPr>
      </p:sp>
      <p:sp>
        <p:nvSpPr>
          <p:cNvPr id="75" name="Text 72"/>
          <p:cNvSpPr/>
          <p:nvPr/>
        </p:nvSpPr>
        <p:spPr>
          <a:xfrm>
            <a:off x="5641200" y="4269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76" name="Shape 73"/>
          <p:cNvSpPr/>
          <p:nvPr/>
        </p:nvSpPr>
        <p:spPr>
          <a:xfrm>
            <a:off x="6300000" y="4230000"/>
            <a:ext cx="720000" cy="576000"/>
          </a:xfrm>
          <a:prstGeom prst="rect">
            <a:avLst/>
          </a:prstGeom>
          <a:solidFill>
            <a:srgbClr val="C4EDCB"/>
          </a:solidFill>
          <a:ln w="6985">
            <a:solidFill>
              <a:srgbClr val="202020"/>
            </a:solidFill>
            <a:prstDash val="solid"/>
          </a:ln>
        </p:spPr>
      </p:sp>
      <p:sp>
        <p:nvSpPr>
          <p:cNvPr id="77" name="Text 74"/>
          <p:cNvSpPr/>
          <p:nvPr/>
        </p:nvSpPr>
        <p:spPr>
          <a:xfrm>
            <a:off x="6361200" y="4269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78" name="Shape 75"/>
          <p:cNvSpPr/>
          <p:nvPr/>
        </p:nvSpPr>
        <p:spPr>
          <a:xfrm>
            <a:off x="1224000" y="4806000"/>
            <a:ext cx="3636000" cy="432000"/>
          </a:xfrm>
          <a:prstGeom prst="rect">
            <a:avLst/>
          </a:prstGeom>
          <a:solidFill>
            <a:srgbClr val="D9EAF7"/>
          </a:solidFill>
          <a:ln w="6985">
            <a:solidFill>
              <a:srgbClr val="202020"/>
            </a:solidFill>
            <a:prstDash val="solid"/>
          </a:ln>
        </p:spPr>
      </p:sp>
      <p:sp>
        <p:nvSpPr>
          <p:cNvPr id="79" name="Text 76"/>
          <p:cNvSpPr/>
          <p:nvPr/>
        </p:nvSpPr>
        <p:spPr>
          <a:xfrm>
            <a:off x="1285200" y="4845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80" name="Shape 77"/>
          <p:cNvSpPr/>
          <p:nvPr/>
        </p:nvSpPr>
        <p:spPr>
          <a:xfrm>
            <a:off x="4860000" y="4806000"/>
            <a:ext cx="720000" cy="432000"/>
          </a:xfrm>
          <a:prstGeom prst="rect">
            <a:avLst/>
          </a:prstGeom>
          <a:solidFill>
            <a:srgbClr val="D9EAF7"/>
          </a:solidFill>
          <a:ln w="6985">
            <a:solidFill>
              <a:srgbClr val="202020"/>
            </a:solidFill>
            <a:prstDash val="solid"/>
          </a:ln>
        </p:spPr>
      </p:sp>
      <p:sp>
        <p:nvSpPr>
          <p:cNvPr id="81" name="Text 78"/>
          <p:cNvSpPr/>
          <p:nvPr/>
        </p:nvSpPr>
        <p:spPr>
          <a:xfrm>
            <a:off x="4921200" y="4845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2 400 €</a:t>
            </a:r>
            <a:endParaRPr lang="en-US" sz="900" dirty="0"/>
          </a:p>
        </p:txBody>
      </p:sp>
      <p:sp>
        <p:nvSpPr>
          <p:cNvPr id="82" name="Shape 79"/>
          <p:cNvSpPr/>
          <p:nvPr/>
        </p:nvSpPr>
        <p:spPr>
          <a:xfrm>
            <a:off x="5580000" y="4806000"/>
            <a:ext cx="720000" cy="432000"/>
          </a:xfrm>
          <a:prstGeom prst="rect">
            <a:avLst/>
          </a:prstGeom>
          <a:solidFill>
            <a:srgbClr val="D9EAF7"/>
          </a:solidFill>
          <a:ln w="6985">
            <a:solidFill>
              <a:srgbClr val="202020"/>
            </a:solidFill>
            <a:prstDash val="solid"/>
          </a:ln>
        </p:spPr>
      </p:sp>
      <p:sp>
        <p:nvSpPr>
          <p:cNvPr id="83" name="Text 80"/>
          <p:cNvSpPr/>
          <p:nvPr/>
        </p:nvSpPr>
        <p:spPr>
          <a:xfrm>
            <a:off x="5641200" y="4845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4" name="Shape 81"/>
          <p:cNvSpPr/>
          <p:nvPr/>
        </p:nvSpPr>
        <p:spPr>
          <a:xfrm>
            <a:off x="6300000" y="4806000"/>
            <a:ext cx="720000" cy="432000"/>
          </a:xfrm>
          <a:prstGeom prst="rect">
            <a:avLst/>
          </a:prstGeom>
          <a:solidFill>
            <a:srgbClr val="D9EAF7"/>
          </a:solidFill>
          <a:ln w="6985">
            <a:solidFill>
              <a:srgbClr val="202020"/>
            </a:solidFill>
            <a:prstDash val="solid"/>
          </a:ln>
        </p:spPr>
      </p:sp>
      <p:sp>
        <p:nvSpPr>
          <p:cNvPr id="85" name="Text 82"/>
          <p:cNvSpPr/>
          <p:nvPr/>
        </p:nvSpPr>
        <p:spPr>
          <a:xfrm>
            <a:off x="6361200" y="4845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6" name="Shape 83"/>
          <p:cNvSpPr/>
          <p:nvPr/>
        </p:nvSpPr>
        <p:spPr>
          <a:xfrm>
            <a:off x="1224000" y="5238000"/>
            <a:ext cx="3636000" cy="432000"/>
          </a:xfrm>
          <a:prstGeom prst="rect">
            <a:avLst/>
          </a:prstGeom>
          <a:solidFill>
            <a:srgbClr val="D9EAF7"/>
          </a:solidFill>
          <a:ln w="6985">
            <a:solidFill>
              <a:srgbClr val="202020"/>
            </a:solidFill>
            <a:prstDash val="solid"/>
          </a:ln>
        </p:spPr>
      </p:sp>
      <p:sp>
        <p:nvSpPr>
          <p:cNvPr id="87" name="Text 84"/>
          <p:cNvSpPr/>
          <p:nvPr/>
        </p:nvSpPr>
        <p:spPr>
          <a:xfrm>
            <a:off x="1285200" y="5277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88" name="Shape 85"/>
          <p:cNvSpPr/>
          <p:nvPr/>
        </p:nvSpPr>
        <p:spPr>
          <a:xfrm>
            <a:off x="4860000" y="5238000"/>
            <a:ext cx="720000" cy="432000"/>
          </a:xfrm>
          <a:prstGeom prst="rect">
            <a:avLst/>
          </a:prstGeom>
          <a:solidFill>
            <a:srgbClr val="D9EAF7"/>
          </a:solidFill>
          <a:ln w="6985">
            <a:solidFill>
              <a:srgbClr val="202020"/>
            </a:solidFill>
            <a:prstDash val="solid"/>
          </a:ln>
        </p:spPr>
      </p:sp>
      <p:sp>
        <p:nvSpPr>
          <p:cNvPr id="89" name="Text 86"/>
          <p:cNvSpPr/>
          <p:nvPr/>
        </p:nvSpPr>
        <p:spPr>
          <a:xfrm>
            <a:off x="4921200" y="527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0" name="Shape 87"/>
          <p:cNvSpPr/>
          <p:nvPr/>
        </p:nvSpPr>
        <p:spPr>
          <a:xfrm>
            <a:off x="5580000" y="5238000"/>
            <a:ext cx="720000" cy="432000"/>
          </a:xfrm>
          <a:prstGeom prst="rect">
            <a:avLst/>
          </a:prstGeom>
          <a:solidFill>
            <a:srgbClr val="D9EAF7"/>
          </a:solidFill>
          <a:ln w="6985">
            <a:solidFill>
              <a:srgbClr val="202020"/>
            </a:solidFill>
            <a:prstDash val="solid"/>
          </a:ln>
        </p:spPr>
      </p:sp>
      <p:sp>
        <p:nvSpPr>
          <p:cNvPr id="91" name="Text 88"/>
          <p:cNvSpPr/>
          <p:nvPr/>
        </p:nvSpPr>
        <p:spPr>
          <a:xfrm>
            <a:off x="5641200" y="5277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92" name="Shape 89"/>
          <p:cNvSpPr/>
          <p:nvPr/>
        </p:nvSpPr>
        <p:spPr>
          <a:xfrm>
            <a:off x="6300000" y="5238000"/>
            <a:ext cx="720000" cy="432000"/>
          </a:xfrm>
          <a:prstGeom prst="rect">
            <a:avLst/>
          </a:prstGeom>
          <a:solidFill>
            <a:srgbClr val="D9EAF7"/>
          </a:solidFill>
          <a:ln w="6985">
            <a:solidFill>
              <a:srgbClr val="202020"/>
            </a:solidFill>
            <a:prstDash val="solid"/>
          </a:ln>
        </p:spPr>
      </p:sp>
      <p:sp>
        <p:nvSpPr>
          <p:cNvPr id="93" name="Text 90"/>
          <p:cNvSpPr/>
          <p:nvPr/>
        </p:nvSpPr>
        <p:spPr>
          <a:xfrm>
            <a:off x="6361200" y="527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4" name="Shape 91"/>
          <p:cNvSpPr/>
          <p:nvPr/>
        </p:nvSpPr>
        <p:spPr>
          <a:xfrm>
            <a:off x="1224000" y="5670000"/>
            <a:ext cx="3636000" cy="432000"/>
          </a:xfrm>
          <a:prstGeom prst="rect">
            <a:avLst/>
          </a:prstGeom>
          <a:solidFill>
            <a:srgbClr val="D9EAF7"/>
          </a:solidFill>
          <a:ln w="6985">
            <a:solidFill>
              <a:srgbClr val="202020"/>
            </a:solidFill>
            <a:prstDash val="solid"/>
          </a:ln>
        </p:spPr>
      </p:sp>
      <p:sp>
        <p:nvSpPr>
          <p:cNvPr id="95" name="Text 92"/>
          <p:cNvSpPr/>
          <p:nvPr/>
        </p:nvSpPr>
        <p:spPr>
          <a:xfrm>
            <a:off x="1285200" y="5709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96" name="Shape 93"/>
          <p:cNvSpPr/>
          <p:nvPr/>
        </p:nvSpPr>
        <p:spPr>
          <a:xfrm>
            <a:off x="4860000" y="5670000"/>
            <a:ext cx="720000" cy="432000"/>
          </a:xfrm>
          <a:prstGeom prst="rect">
            <a:avLst/>
          </a:prstGeom>
          <a:solidFill>
            <a:srgbClr val="D9EAF7"/>
          </a:solidFill>
          <a:ln w="6985">
            <a:solidFill>
              <a:srgbClr val="202020"/>
            </a:solidFill>
            <a:prstDash val="solid"/>
          </a:ln>
        </p:spPr>
      </p:sp>
      <p:sp>
        <p:nvSpPr>
          <p:cNvPr id="97" name="Text 94"/>
          <p:cNvSpPr/>
          <p:nvPr/>
        </p:nvSpPr>
        <p:spPr>
          <a:xfrm>
            <a:off x="4921200" y="570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8" name="Shape 95"/>
          <p:cNvSpPr/>
          <p:nvPr/>
        </p:nvSpPr>
        <p:spPr>
          <a:xfrm>
            <a:off x="5580000" y="5670000"/>
            <a:ext cx="720000" cy="432000"/>
          </a:xfrm>
          <a:prstGeom prst="rect">
            <a:avLst/>
          </a:prstGeom>
          <a:solidFill>
            <a:srgbClr val="D9EAF7"/>
          </a:solidFill>
          <a:ln w="6985">
            <a:solidFill>
              <a:srgbClr val="202020"/>
            </a:solidFill>
            <a:prstDash val="solid"/>
          </a:ln>
        </p:spPr>
      </p:sp>
      <p:sp>
        <p:nvSpPr>
          <p:cNvPr id="99" name="Text 96"/>
          <p:cNvSpPr/>
          <p:nvPr/>
        </p:nvSpPr>
        <p:spPr>
          <a:xfrm>
            <a:off x="5641200" y="570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100" name="Shape 97"/>
          <p:cNvSpPr/>
          <p:nvPr/>
        </p:nvSpPr>
        <p:spPr>
          <a:xfrm>
            <a:off x="6300000" y="5670000"/>
            <a:ext cx="720000" cy="432000"/>
          </a:xfrm>
          <a:prstGeom prst="rect">
            <a:avLst/>
          </a:prstGeom>
          <a:solidFill>
            <a:srgbClr val="D9EAF7"/>
          </a:solidFill>
          <a:ln w="6985">
            <a:solidFill>
              <a:srgbClr val="202020"/>
            </a:solidFill>
            <a:prstDash val="solid"/>
          </a:ln>
        </p:spPr>
      </p:sp>
      <p:sp>
        <p:nvSpPr>
          <p:cNvPr id="101" name="Text 98"/>
          <p:cNvSpPr/>
          <p:nvPr/>
        </p:nvSpPr>
        <p:spPr>
          <a:xfrm>
            <a:off x="6361200" y="5709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6 250 €</a:t>
            </a:r>
            <a:endParaRPr lang="en-US" sz="900" dirty="0"/>
          </a:p>
        </p:txBody>
      </p:sp>
      <p:sp>
        <p:nvSpPr>
          <p:cNvPr id="102" name="Shape 99"/>
          <p:cNvSpPr/>
          <p:nvPr/>
        </p:nvSpPr>
        <p:spPr>
          <a:xfrm>
            <a:off x="1224000" y="6102000"/>
            <a:ext cx="3636000" cy="396000"/>
          </a:xfrm>
          <a:prstGeom prst="rect">
            <a:avLst/>
          </a:prstGeom>
          <a:solidFill>
            <a:srgbClr val="D9EAF7"/>
          </a:solidFill>
          <a:ln w="6985">
            <a:solidFill>
              <a:srgbClr val="202020"/>
            </a:solidFill>
            <a:prstDash val="solid"/>
          </a:ln>
        </p:spPr>
      </p:sp>
      <p:sp>
        <p:nvSpPr>
          <p:cNvPr id="103" name="Text 100"/>
          <p:cNvSpPr/>
          <p:nvPr/>
        </p:nvSpPr>
        <p:spPr>
          <a:xfrm>
            <a:off x="1285200" y="6141600"/>
            <a:ext cx="3513600" cy="31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104" name="Shape 101"/>
          <p:cNvSpPr/>
          <p:nvPr/>
        </p:nvSpPr>
        <p:spPr>
          <a:xfrm>
            <a:off x="4860000" y="6102000"/>
            <a:ext cx="2160000" cy="396000"/>
          </a:xfrm>
          <a:prstGeom prst="rect">
            <a:avLst/>
          </a:prstGeom>
          <a:solidFill>
            <a:srgbClr val="D9EAF7"/>
          </a:solidFill>
          <a:ln w="6985">
            <a:solidFill>
              <a:srgbClr val="202020"/>
            </a:solidFill>
            <a:prstDash val="solid"/>
          </a:ln>
        </p:spPr>
      </p:sp>
      <p:sp>
        <p:nvSpPr>
          <p:cNvPr id="105" name="Text 102"/>
          <p:cNvSpPr/>
          <p:nvPr/>
        </p:nvSpPr>
        <p:spPr>
          <a:xfrm>
            <a:off x="4921200" y="6141600"/>
            <a:ext cx="2037600" cy="31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8 650 €</a:t>
            </a:r>
            <a:endParaRPr lang="en-US" sz="900" dirty="0"/>
          </a:p>
        </p:txBody>
      </p:sp>
      <p:sp>
        <p:nvSpPr>
          <p:cNvPr id="106" name="Text 103"/>
          <p:cNvSpPr/>
          <p:nvPr/>
        </p:nvSpPr>
        <p:spPr>
          <a:xfrm>
            <a:off x="540000" y="6570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692000"/>
            <a:ext cx="1008000" cy="504000"/>
          </a:xfrm>
          <a:prstGeom prst="rect">
            <a:avLst/>
          </a:prstGeom>
          <a:solidFill>
            <a:srgbClr val="176181"/>
          </a:solidFill>
          <a:ln w="6985">
            <a:solidFill>
              <a:srgbClr val="202020"/>
            </a:solidFill>
            <a:prstDash val="solid"/>
          </a:ln>
        </p:spPr>
      </p:sp>
      <p:sp>
        <p:nvSpPr>
          <p:cNvPr id="9" name="Text 6"/>
          <p:cNvSpPr/>
          <p:nvPr/>
        </p:nvSpPr>
        <p:spPr>
          <a:xfrm>
            <a:off x="601200" y="1731600"/>
            <a:ext cx="88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 du curatif</a:t>
            </a:r>
            <a:endParaRPr lang="en-US" sz="950" dirty="0"/>
          </a:p>
        </p:txBody>
      </p:sp>
      <p:sp>
        <p:nvSpPr>
          <p:cNvPr id="10" name="Shape 7"/>
          <p:cNvSpPr/>
          <p:nvPr/>
        </p:nvSpPr>
        <p:spPr>
          <a:xfrm>
            <a:off x="1548000" y="1692000"/>
            <a:ext cx="684000" cy="504000"/>
          </a:xfrm>
          <a:prstGeom prst="rect">
            <a:avLst/>
          </a:prstGeom>
          <a:solidFill>
            <a:srgbClr val="176181"/>
          </a:solidFill>
          <a:ln w="6985">
            <a:solidFill>
              <a:srgbClr val="202020"/>
            </a:solidFill>
            <a:prstDash val="solid"/>
          </a:ln>
        </p:spPr>
      </p:sp>
      <p:sp>
        <p:nvSpPr>
          <p:cNvPr id="11" name="Text 8"/>
          <p:cNvSpPr/>
          <p:nvPr/>
        </p:nvSpPr>
        <p:spPr>
          <a:xfrm>
            <a:off x="1609200" y="1731600"/>
            <a:ext cx="561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 du curatif</a:t>
            </a:r>
            <a:endParaRPr lang="en-US" sz="950" dirty="0"/>
          </a:p>
        </p:txBody>
      </p:sp>
      <p:sp>
        <p:nvSpPr>
          <p:cNvPr id="12" name="Shape 9"/>
          <p:cNvSpPr/>
          <p:nvPr/>
        </p:nvSpPr>
        <p:spPr>
          <a:xfrm>
            <a:off x="2232000" y="1692000"/>
            <a:ext cx="3420000" cy="504000"/>
          </a:xfrm>
          <a:prstGeom prst="rect">
            <a:avLst/>
          </a:prstGeom>
          <a:solidFill>
            <a:srgbClr val="176181"/>
          </a:solidFill>
          <a:ln w="6985">
            <a:solidFill>
              <a:srgbClr val="202020"/>
            </a:solidFill>
            <a:prstDash val="solid"/>
          </a:ln>
        </p:spPr>
      </p:sp>
      <p:sp>
        <p:nvSpPr>
          <p:cNvPr id="13" name="Text 10"/>
          <p:cNvSpPr/>
          <p:nvPr/>
        </p:nvSpPr>
        <p:spPr>
          <a:xfrm>
            <a:off x="2293200" y="1731600"/>
            <a:ext cx="3297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5652000" y="1692000"/>
            <a:ext cx="1368000" cy="504000"/>
          </a:xfrm>
          <a:prstGeom prst="rect">
            <a:avLst/>
          </a:prstGeom>
          <a:solidFill>
            <a:srgbClr val="176181"/>
          </a:solidFill>
          <a:ln w="6985">
            <a:solidFill>
              <a:srgbClr val="202020"/>
            </a:solidFill>
            <a:prstDash val="solid"/>
          </a:ln>
        </p:spPr>
      </p:sp>
      <p:sp>
        <p:nvSpPr>
          <p:cNvPr id="15" name="Text 12"/>
          <p:cNvSpPr/>
          <p:nvPr/>
        </p:nvSpPr>
        <p:spPr>
          <a:xfrm>
            <a:off x="5713200" y="1731600"/>
            <a:ext cx="124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 (TTC)</a:t>
            </a:r>
            <a:endParaRPr lang="en-US" sz="950" dirty="0"/>
          </a:p>
        </p:txBody>
      </p:sp>
      <p:sp>
        <p:nvSpPr>
          <p:cNvPr id="16" name="Shape 13"/>
          <p:cNvSpPr/>
          <p:nvPr/>
        </p:nvSpPr>
        <p:spPr>
          <a:xfrm>
            <a:off x="540000" y="2196000"/>
            <a:ext cx="1008000" cy="1440000"/>
          </a:xfrm>
          <a:prstGeom prst="rect">
            <a:avLst/>
          </a:prstGeom>
          <a:solidFill>
            <a:srgbClr val="50AB2C"/>
          </a:solidFill>
          <a:ln w="6985">
            <a:solidFill>
              <a:srgbClr val="202020"/>
            </a:solidFill>
            <a:prstDash val="solid"/>
          </a:ln>
        </p:spPr>
      </p:sp>
      <p:sp>
        <p:nvSpPr>
          <p:cNvPr id="17" name="Text 14"/>
          <p:cNvSpPr/>
          <p:nvPr/>
        </p:nvSpPr>
        <p:spPr>
          <a:xfrm>
            <a:off x="601200" y="2235600"/>
            <a:ext cx="885600" cy="1360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Travaux énergétiques</a:t>
            </a:r>
            <a:endParaRPr lang="en-US" sz="1000" dirty="0"/>
          </a:p>
        </p:txBody>
      </p:sp>
      <p:sp>
        <p:nvSpPr>
          <p:cNvPr id="18" name="Shape 15"/>
          <p:cNvSpPr/>
          <p:nvPr/>
        </p:nvSpPr>
        <p:spPr>
          <a:xfrm>
            <a:off x="1548000" y="2196000"/>
            <a:ext cx="684000" cy="360000"/>
          </a:xfrm>
          <a:prstGeom prst="rect">
            <a:avLst/>
          </a:prstGeom>
          <a:solidFill>
            <a:srgbClr val="B6E3A4"/>
          </a:solidFill>
          <a:ln w="6985">
            <a:solidFill>
              <a:srgbClr val="202020"/>
            </a:solidFill>
            <a:prstDash val="solid"/>
          </a:ln>
        </p:spPr>
      </p:sp>
      <p:sp>
        <p:nvSpPr>
          <p:cNvPr id="19" name="Text 16"/>
          <p:cNvSpPr/>
          <p:nvPr/>
        </p:nvSpPr>
        <p:spPr>
          <a:xfrm>
            <a:off x="1609200" y="2235600"/>
            <a:ext cx="561600" cy="280800"/>
          </a:xfrm>
          <a:prstGeom prst="rect">
            <a:avLst/>
          </a:prstGeom>
          <a:noFill/>
          <a:ln/>
        </p:spPr>
        <p:txBody>
          <a:bodyPr wrap="square" lIns="0" tIns="0" rIns="0" bIns="0" rtlCol="0" anchor="ctr"/>
          <a:lstStyle/>
          <a:p>
            <a:pPr algn="l" indent="0" marL="0">
              <a:buNone/>
            </a:pPr>
            <a:endParaRPr lang="en-US" sz="870" dirty="0"/>
          </a:p>
        </p:txBody>
      </p:sp>
      <p:sp>
        <p:nvSpPr>
          <p:cNvPr id="20" name="Shape 17"/>
          <p:cNvSpPr/>
          <p:nvPr/>
        </p:nvSpPr>
        <p:spPr>
          <a:xfrm>
            <a:off x="2232000" y="2196000"/>
            <a:ext cx="3420000" cy="360000"/>
          </a:xfrm>
          <a:prstGeom prst="rect">
            <a:avLst/>
          </a:prstGeom>
          <a:solidFill>
            <a:srgbClr val="B6E3A4"/>
          </a:solidFill>
          <a:ln w="6985">
            <a:solidFill>
              <a:srgbClr val="202020"/>
            </a:solidFill>
            <a:prstDash val="solid"/>
          </a:ln>
        </p:spPr>
      </p:sp>
      <p:sp>
        <p:nvSpPr>
          <p:cNvPr id="21" name="Text 18"/>
          <p:cNvSpPr/>
          <p:nvPr/>
        </p:nvSpPr>
        <p:spPr>
          <a:xfrm>
            <a:off x="2293200" y="223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2" name="Shape 19"/>
          <p:cNvSpPr/>
          <p:nvPr/>
        </p:nvSpPr>
        <p:spPr>
          <a:xfrm>
            <a:off x="5652000" y="2196000"/>
            <a:ext cx="1368000" cy="360000"/>
          </a:xfrm>
          <a:prstGeom prst="rect">
            <a:avLst/>
          </a:prstGeom>
          <a:solidFill>
            <a:srgbClr val="B6E3A4"/>
          </a:solidFill>
          <a:ln w="6985">
            <a:solidFill>
              <a:srgbClr val="202020"/>
            </a:solidFill>
            <a:prstDash val="solid"/>
          </a:ln>
        </p:spPr>
      </p:sp>
      <p:sp>
        <p:nvSpPr>
          <p:cNvPr id="23" name="Text 20"/>
          <p:cNvSpPr/>
          <p:nvPr/>
        </p:nvSpPr>
        <p:spPr>
          <a:xfrm>
            <a:off x="5713200" y="2235600"/>
            <a:ext cx="1245600" cy="280800"/>
          </a:xfrm>
          <a:prstGeom prst="rect">
            <a:avLst/>
          </a:prstGeom>
          <a:noFill/>
          <a:ln/>
        </p:spPr>
        <p:txBody>
          <a:bodyPr wrap="square" lIns="0" tIns="0" rIns="0" bIns="0" rtlCol="0" anchor="ctr"/>
          <a:lstStyle/>
          <a:p>
            <a:pPr algn="l" indent="0" marL="0">
              <a:buNone/>
            </a:pPr>
            <a:endParaRPr lang="en-US" sz="870" dirty="0"/>
          </a:p>
        </p:txBody>
      </p:sp>
      <p:sp>
        <p:nvSpPr>
          <p:cNvPr id="24" name="Shape 21"/>
          <p:cNvSpPr/>
          <p:nvPr/>
        </p:nvSpPr>
        <p:spPr>
          <a:xfrm>
            <a:off x="1548000" y="2556000"/>
            <a:ext cx="684000" cy="360000"/>
          </a:xfrm>
          <a:prstGeom prst="rect">
            <a:avLst/>
          </a:prstGeom>
          <a:solidFill>
            <a:srgbClr val="B6E3A4"/>
          </a:solidFill>
          <a:ln w="6985">
            <a:solidFill>
              <a:srgbClr val="202020"/>
            </a:solidFill>
            <a:prstDash val="solid"/>
          </a:ln>
        </p:spPr>
      </p:sp>
      <p:sp>
        <p:nvSpPr>
          <p:cNvPr id="25" name="Text 22"/>
          <p:cNvSpPr/>
          <p:nvPr/>
        </p:nvSpPr>
        <p:spPr>
          <a:xfrm>
            <a:off x="1609200" y="2595600"/>
            <a:ext cx="561600" cy="280800"/>
          </a:xfrm>
          <a:prstGeom prst="rect">
            <a:avLst/>
          </a:prstGeom>
          <a:noFill/>
          <a:ln/>
        </p:spPr>
        <p:txBody>
          <a:bodyPr wrap="square" lIns="0" tIns="0" rIns="0" bIns="0" rtlCol="0" anchor="ctr"/>
          <a:lstStyle/>
          <a:p>
            <a:pPr algn="l" indent="0" marL="0">
              <a:buNone/>
            </a:pPr>
            <a:endParaRPr lang="en-US" sz="870" dirty="0"/>
          </a:p>
        </p:txBody>
      </p:sp>
      <p:sp>
        <p:nvSpPr>
          <p:cNvPr id="26" name="Shape 23"/>
          <p:cNvSpPr/>
          <p:nvPr/>
        </p:nvSpPr>
        <p:spPr>
          <a:xfrm>
            <a:off x="2232000" y="2556000"/>
            <a:ext cx="3420000" cy="360000"/>
          </a:xfrm>
          <a:prstGeom prst="rect">
            <a:avLst/>
          </a:prstGeom>
          <a:solidFill>
            <a:srgbClr val="B6E3A4"/>
          </a:solidFill>
          <a:ln w="6985">
            <a:solidFill>
              <a:srgbClr val="202020"/>
            </a:solidFill>
            <a:prstDash val="solid"/>
          </a:ln>
        </p:spPr>
      </p:sp>
      <p:sp>
        <p:nvSpPr>
          <p:cNvPr id="27" name="Text 24"/>
          <p:cNvSpPr/>
          <p:nvPr/>
        </p:nvSpPr>
        <p:spPr>
          <a:xfrm>
            <a:off x="2293200" y="259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8" name="Shape 25"/>
          <p:cNvSpPr/>
          <p:nvPr/>
        </p:nvSpPr>
        <p:spPr>
          <a:xfrm>
            <a:off x="5652000" y="2556000"/>
            <a:ext cx="1368000" cy="360000"/>
          </a:xfrm>
          <a:prstGeom prst="rect">
            <a:avLst/>
          </a:prstGeom>
          <a:solidFill>
            <a:srgbClr val="B6E3A4"/>
          </a:solidFill>
          <a:ln w="6985">
            <a:solidFill>
              <a:srgbClr val="202020"/>
            </a:solidFill>
            <a:prstDash val="solid"/>
          </a:ln>
        </p:spPr>
      </p:sp>
      <p:sp>
        <p:nvSpPr>
          <p:cNvPr id="29" name="Text 26"/>
          <p:cNvSpPr/>
          <p:nvPr/>
        </p:nvSpPr>
        <p:spPr>
          <a:xfrm>
            <a:off x="5713200" y="259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0" name="Shape 27"/>
          <p:cNvSpPr/>
          <p:nvPr/>
        </p:nvSpPr>
        <p:spPr>
          <a:xfrm>
            <a:off x="1548000" y="2916000"/>
            <a:ext cx="684000" cy="360000"/>
          </a:xfrm>
          <a:prstGeom prst="rect">
            <a:avLst/>
          </a:prstGeom>
          <a:solidFill>
            <a:srgbClr val="B6E3A4"/>
          </a:solidFill>
          <a:ln w="6985">
            <a:solidFill>
              <a:srgbClr val="202020"/>
            </a:solidFill>
            <a:prstDash val="solid"/>
          </a:ln>
        </p:spPr>
      </p:sp>
      <p:sp>
        <p:nvSpPr>
          <p:cNvPr id="31" name="Text 28"/>
          <p:cNvSpPr/>
          <p:nvPr/>
        </p:nvSpPr>
        <p:spPr>
          <a:xfrm>
            <a:off x="1609200" y="2955600"/>
            <a:ext cx="561600" cy="280800"/>
          </a:xfrm>
          <a:prstGeom prst="rect">
            <a:avLst/>
          </a:prstGeom>
          <a:noFill/>
          <a:ln/>
        </p:spPr>
        <p:txBody>
          <a:bodyPr wrap="square" lIns="0" tIns="0" rIns="0" bIns="0" rtlCol="0" anchor="ctr"/>
          <a:lstStyle/>
          <a:p>
            <a:pPr algn="l" indent="0" marL="0">
              <a:buNone/>
            </a:pPr>
            <a:endParaRPr lang="en-US" sz="870" dirty="0"/>
          </a:p>
        </p:txBody>
      </p:sp>
      <p:sp>
        <p:nvSpPr>
          <p:cNvPr id="32" name="Shape 29"/>
          <p:cNvSpPr/>
          <p:nvPr/>
        </p:nvSpPr>
        <p:spPr>
          <a:xfrm>
            <a:off x="2232000" y="2916000"/>
            <a:ext cx="3420000" cy="360000"/>
          </a:xfrm>
          <a:prstGeom prst="rect">
            <a:avLst/>
          </a:prstGeom>
          <a:solidFill>
            <a:srgbClr val="B6E3A4"/>
          </a:solidFill>
          <a:ln w="6985">
            <a:solidFill>
              <a:srgbClr val="202020"/>
            </a:solidFill>
            <a:prstDash val="solid"/>
          </a:ln>
        </p:spPr>
      </p:sp>
      <p:sp>
        <p:nvSpPr>
          <p:cNvPr id="33" name="Text 30"/>
          <p:cNvSpPr/>
          <p:nvPr/>
        </p:nvSpPr>
        <p:spPr>
          <a:xfrm>
            <a:off x="2293200" y="2955600"/>
            <a:ext cx="3297600" cy="280800"/>
          </a:xfrm>
          <a:prstGeom prst="rect">
            <a:avLst/>
          </a:prstGeom>
          <a:noFill/>
          <a:ln/>
        </p:spPr>
        <p:txBody>
          <a:bodyPr wrap="square" lIns="0" tIns="0" rIns="0" bIns="0" rtlCol="0" anchor="ctr"/>
          <a:lstStyle/>
          <a:p>
            <a:pPr algn="l" indent="0" marL="0">
              <a:buNone/>
            </a:pPr>
            <a:endParaRPr lang="en-US" sz="870" dirty="0"/>
          </a:p>
        </p:txBody>
      </p:sp>
      <p:sp>
        <p:nvSpPr>
          <p:cNvPr id="34" name="Shape 31"/>
          <p:cNvSpPr/>
          <p:nvPr/>
        </p:nvSpPr>
        <p:spPr>
          <a:xfrm>
            <a:off x="5652000" y="2916000"/>
            <a:ext cx="1368000" cy="360000"/>
          </a:xfrm>
          <a:prstGeom prst="rect">
            <a:avLst/>
          </a:prstGeom>
          <a:solidFill>
            <a:srgbClr val="B6E3A4"/>
          </a:solidFill>
          <a:ln w="6985">
            <a:solidFill>
              <a:srgbClr val="202020"/>
            </a:solidFill>
            <a:prstDash val="solid"/>
          </a:ln>
        </p:spPr>
      </p:sp>
      <p:sp>
        <p:nvSpPr>
          <p:cNvPr id="35" name="Text 32"/>
          <p:cNvSpPr/>
          <p:nvPr/>
        </p:nvSpPr>
        <p:spPr>
          <a:xfrm>
            <a:off x="5713200" y="295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6" name="Shape 33"/>
          <p:cNvSpPr/>
          <p:nvPr/>
        </p:nvSpPr>
        <p:spPr>
          <a:xfrm>
            <a:off x="1548000" y="3276000"/>
            <a:ext cx="684000" cy="360000"/>
          </a:xfrm>
          <a:prstGeom prst="rect">
            <a:avLst/>
          </a:prstGeom>
          <a:solidFill>
            <a:srgbClr val="B6E3A4"/>
          </a:solidFill>
          <a:ln w="6985">
            <a:solidFill>
              <a:srgbClr val="202020"/>
            </a:solidFill>
            <a:prstDash val="solid"/>
          </a:ln>
        </p:spPr>
      </p:sp>
      <p:sp>
        <p:nvSpPr>
          <p:cNvPr id="37" name="Text 34"/>
          <p:cNvSpPr/>
          <p:nvPr/>
        </p:nvSpPr>
        <p:spPr>
          <a:xfrm>
            <a:off x="1609200" y="3315600"/>
            <a:ext cx="561600" cy="280800"/>
          </a:xfrm>
          <a:prstGeom prst="rect">
            <a:avLst/>
          </a:prstGeom>
          <a:noFill/>
          <a:ln/>
        </p:spPr>
        <p:txBody>
          <a:bodyPr wrap="square" lIns="0" tIns="0" rIns="0" bIns="0" rtlCol="0" anchor="ctr"/>
          <a:lstStyle/>
          <a:p>
            <a:pPr algn="l" indent="0" marL="0">
              <a:buNone/>
            </a:pPr>
            <a:endParaRPr lang="en-US" sz="870" dirty="0"/>
          </a:p>
        </p:txBody>
      </p:sp>
      <p:sp>
        <p:nvSpPr>
          <p:cNvPr id="38" name="Shape 35"/>
          <p:cNvSpPr/>
          <p:nvPr/>
        </p:nvSpPr>
        <p:spPr>
          <a:xfrm>
            <a:off x="2232000" y="3276000"/>
            <a:ext cx="3420000" cy="360000"/>
          </a:xfrm>
          <a:prstGeom prst="rect">
            <a:avLst/>
          </a:prstGeom>
          <a:solidFill>
            <a:srgbClr val="B6E3A4"/>
          </a:solidFill>
          <a:ln w="6985">
            <a:solidFill>
              <a:srgbClr val="202020"/>
            </a:solidFill>
            <a:prstDash val="solid"/>
          </a:ln>
        </p:spPr>
      </p:sp>
      <p:sp>
        <p:nvSpPr>
          <p:cNvPr id="39" name="Text 36"/>
          <p:cNvSpPr/>
          <p:nvPr/>
        </p:nvSpPr>
        <p:spPr>
          <a:xfrm>
            <a:off x="2293200" y="3315600"/>
            <a:ext cx="3297600" cy="280800"/>
          </a:xfrm>
          <a:prstGeom prst="rect">
            <a:avLst/>
          </a:prstGeom>
          <a:noFill/>
          <a:ln/>
        </p:spPr>
        <p:txBody>
          <a:bodyPr wrap="square" lIns="0" tIns="0" rIns="0" bIns="0" rtlCol="0" anchor="ctr"/>
          <a:lstStyle/>
          <a:p>
            <a:pPr algn="l" indent="0" marL="0">
              <a:buNone/>
            </a:pPr>
            <a:endParaRPr lang="en-US" sz="870" dirty="0"/>
          </a:p>
        </p:txBody>
      </p:sp>
      <p:sp>
        <p:nvSpPr>
          <p:cNvPr id="40" name="Shape 37"/>
          <p:cNvSpPr/>
          <p:nvPr/>
        </p:nvSpPr>
        <p:spPr>
          <a:xfrm>
            <a:off x="5652000" y="3276000"/>
            <a:ext cx="1368000" cy="360000"/>
          </a:xfrm>
          <a:prstGeom prst="rect">
            <a:avLst/>
          </a:prstGeom>
          <a:solidFill>
            <a:srgbClr val="B6E3A4"/>
          </a:solidFill>
          <a:ln w="6985">
            <a:solidFill>
              <a:srgbClr val="202020"/>
            </a:solidFill>
            <a:prstDash val="solid"/>
          </a:ln>
        </p:spPr>
      </p:sp>
      <p:sp>
        <p:nvSpPr>
          <p:cNvPr id="41" name="Text 38"/>
          <p:cNvSpPr/>
          <p:nvPr/>
        </p:nvSpPr>
        <p:spPr>
          <a:xfrm>
            <a:off x="5713200" y="3315600"/>
            <a:ext cx="1245600" cy="280800"/>
          </a:xfrm>
          <a:prstGeom prst="rect">
            <a:avLst/>
          </a:prstGeom>
          <a:noFill/>
          <a:ln/>
        </p:spPr>
        <p:txBody>
          <a:bodyPr wrap="square" lIns="0" tIns="0" rIns="0" bIns="0" rtlCol="0" anchor="ctr"/>
          <a:lstStyle/>
          <a:p>
            <a:pPr algn="l" indent="0" marL="0">
              <a:buNone/>
            </a:pPr>
            <a:endParaRPr lang="en-US" sz="870" dirty="0"/>
          </a:p>
        </p:txBody>
      </p:sp>
      <p:sp>
        <p:nvSpPr>
          <p:cNvPr id="42" name="Shape 39"/>
          <p:cNvSpPr/>
          <p:nvPr/>
        </p:nvSpPr>
        <p:spPr>
          <a:xfrm>
            <a:off x="2232000" y="3636000"/>
            <a:ext cx="3420000" cy="396000"/>
          </a:xfrm>
          <a:prstGeom prst="rect">
            <a:avLst/>
          </a:prstGeom>
          <a:solidFill>
            <a:srgbClr val="D9EAF7"/>
          </a:solidFill>
          <a:ln w="6985">
            <a:solidFill>
              <a:srgbClr val="202020"/>
            </a:solidFill>
            <a:prstDash val="solid"/>
          </a:ln>
        </p:spPr>
      </p:sp>
      <p:sp>
        <p:nvSpPr>
          <p:cNvPr id="43" name="Text 40"/>
          <p:cNvSpPr/>
          <p:nvPr/>
        </p:nvSpPr>
        <p:spPr>
          <a:xfrm>
            <a:off x="2293200" y="3675600"/>
            <a:ext cx="3297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Scénario x  - Montant total de l’investissement des travaux énergétiques (TTC)</a:t>
            </a:r>
            <a:endParaRPr lang="en-US" sz="950" dirty="0"/>
          </a:p>
        </p:txBody>
      </p:sp>
      <p:sp>
        <p:nvSpPr>
          <p:cNvPr id="44" name="Shape 41"/>
          <p:cNvSpPr/>
          <p:nvPr/>
        </p:nvSpPr>
        <p:spPr>
          <a:xfrm>
            <a:off x="5652000" y="3636000"/>
            <a:ext cx="1368000" cy="396000"/>
          </a:xfrm>
          <a:prstGeom prst="rect">
            <a:avLst/>
          </a:prstGeom>
          <a:solidFill>
            <a:srgbClr val="D9EAF7"/>
          </a:solidFill>
          <a:ln w="6985">
            <a:solidFill>
              <a:srgbClr val="202020"/>
            </a:solidFill>
            <a:prstDash val="solid"/>
          </a:ln>
        </p:spPr>
      </p:sp>
      <p:sp>
        <p:nvSpPr>
          <p:cNvPr id="45" name="Text 42"/>
          <p:cNvSpPr/>
          <p:nvPr/>
        </p:nvSpPr>
        <p:spPr>
          <a:xfrm>
            <a:off x="5713200" y="3675600"/>
            <a:ext cx="1245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À confirmer</a:t>
            </a:r>
            <a:endParaRPr lang="en-US" sz="950" dirty="0"/>
          </a:p>
        </p:txBody>
      </p:sp>
      <p:sp>
        <p:nvSpPr>
          <p:cNvPr id="46" name="Text 43"/>
          <p:cNvSpPr/>
          <p:nvPr/>
        </p:nvSpPr>
        <p:spPr>
          <a:xfrm>
            <a:off x="648000" y="7488000"/>
            <a:ext cx="6264000" cy="238680"/>
          </a:xfrm>
          <a:prstGeom prst="rect">
            <a:avLst/>
          </a:prstGeom>
          <a:noFill/>
          <a:ln/>
        </p:spPr>
        <p:txBody>
          <a:bodyPr wrap="square" lIns="0" tIns="0" rIns="0" bIns="0" rtlCol="0" anchor="t"/>
          <a:lstStyle/>
          <a:p>
            <a:pPr algn="l" indent="0" marL="0">
              <a:buNone/>
            </a:pPr>
            <a:r>
              <a:rPr lang="en-US" sz="1050" b="1" dirty="0">
                <a:solidFill>
                  <a:srgbClr val="1C1C1C"/>
                </a:solidFill>
                <a:latin typeface="Aptos" pitchFamily="34" charset="0"/>
                <a:ea typeface="Aptos" pitchFamily="34" charset="-122"/>
                <a:cs typeface="Aptos" pitchFamily="34" charset="-120"/>
              </a:rPr>
              <a:t>Programmation des travaux énergétiques</a:t>
            </a:r>
            <a:endParaRPr lang="en-US" sz="1050" dirty="0"/>
          </a:p>
        </p:txBody>
      </p:sp>
      <p:sp>
        <p:nvSpPr>
          <p:cNvPr id="47" name="Text 44"/>
          <p:cNvSpPr/>
          <p:nvPr/>
        </p:nvSpPr>
        <p:spPr>
          <a:xfrm>
            <a:off x="648000" y="779868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1000" dirty="0"/>
          </a:p>
        </p:txBody>
      </p:sp>
      <p:sp>
        <p:nvSpPr>
          <p:cNvPr id="48" name="Text 45"/>
          <p:cNvSpPr/>
          <p:nvPr/>
        </p:nvSpPr>
        <p:spPr>
          <a:xfrm>
            <a:off x="648000" y="84538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1000" dirty="0"/>
          </a:p>
        </p:txBody>
      </p:sp>
      <p:sp>
        <p:nvSpPr>
          <p:cNvPr id="49" name="Text 46"/>
          <p:cNvSpPr/>
          <p:nvPr/>
        </p:nvSpPr>
        <p:spPr>
          <a:xfrm>
            <a:off x="648000" y="92746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1000" dirty="0"/>
          </a:p>
        </p:txBody>
      </p:sp>
      <p:sp>
        <p:nvSpPr>
          <p:cNvPr id="9" name="Text 6"/>
          <p:cNvSpPr/>
          <p:nvPr/>
        </p:nvSpPr>
        <p:spPr>
          <a:xfrm>
            <a:off x="648000" y="241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L’analyse réalisée a conduit à l’identification de 4 fiches curatives, réparties selon différents niveaux de priorité. Parmi celles-ci, 2 curatifs de niveau 1, représentant 50 % du total des actions préconisées, concernent des interventions à engager à court terme afin de traiter les désordres les plus sensibles ou d’éviter une dégradation accélérée des ouvrages et équipements.</a:t>
            </a:r>
            <a:endParaRPr lang="en-US" sz="1000" dirty="0"/>
          </a:p>
        </p:txBody>
      </p:sp>
      <p:sp>
        <p:nvSpPr>
          <p:cNvPr id="10" name="Text 7"/>
          <p:cNvSpPr/>
          <p:nvPr/>
        </p:nvSpPr>
        <p:spPr>
          <a:xfrm>
            <a:off x="648000" y="3250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curatifs de niveau 2, représentant 0 % des actions identifiées, regroupent les travaux à prévoir à moyen terme afin d’assurer le maintien en bon état du patrimoine et d’anticiper le vieillissement naturel des différents composants du bâtiment.</a:t>
            </a:r>
            <a:endParaRPr lang="en-US" sz="1000" dirty="0"/>
          </a:p>
        </p:txBody>
      </p:sp>
      <p:sp>
        <p:nvSpPr>
          <p:cNvPr id="11" name="Text 8"/>
          <p:cNvSpPr/>
          <p:nvPr/>
        </p:nvSpPr>
        <p:spPr>
          <a:xfrm>
            <a:off x="648000" y="39204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Enfin, 2 curatifs de niveau 3, représentant 50 % des préconisations, correspondent principalement à des travaux d’entretien, d’amélioration ou de renouvellement à plus long terme destinés à préserver durablement les performances et l’aspect général de l’immeuble.</a:t>
            </a:r>
            <a:endParaRPr lang="en-US" sz="1000" dirty="0"/>
          </a:p>
        </p:txBody>
      </p:sp>
      <p:sp>
        <p:nvSpPr>
          <p:cNvPr id="12" name="Text 9"/>
          <p:cNvSpPr/>
          <p:nvPr/>
        </p:nvSpPr>
        <p:spPr>
          <a:xfrm>
            <a:off x="648000" y="45900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1000" dirty="0"/>
          </a:p>
        </p:txBody>
      </p:sp>
      <p:sp>
        <p:nvSpPr>
          <p:cNvPr id="13" name="Text 10"/>
          <p:cNvSpPr/>
          <p:nvPr/>
        </p:nvSpPr>
        <p:spPr>
          <a:xfrm>
            <a:off x="648000" y="55908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1000" dirty="0"/>
          </a:p>
        </p:txBody>
      </p:sp>
      <p:sp>
        <p:nvSpPr>
          <p:cNvPr id="14" name="Text 11"/>
          <p:cNvSpPr/>
          <p:nvPr/>
        </p:nvSpPr>
        <p:spPr>
          <a:xfrm>
            <a:off x="648000" y="659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1000" dirty="0"/>
          </a:p>
        </p:txBody>
      </p:sp>
      <p:sp>
        <p:nvSpPr>
          <p:cNvPr id="15" name="Text 12"/>
          <p:cNvSpPr/>
          <p:nvPr/>
        </p:nvSpPr>
        <p:spPr>
          <a:xfrm>
            <a:off x="648000" y="7426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692000"/>
            <a:ext cx="3348000" cy="1480680"/>
          </a:xfrm>
          <a:prstGeom prst="rect">
            <a:avLst/>
          </a:prstGeom>
          <a:noFill/>
          <a:ln/>
        </p:spPr>
        <p:txBody>
          <a:bodyPr wrap="square" lIns="0" tIns="0" rIns="0" bIns="0" rtlCol="0" anchor="t"/>
          <a:lstStyle/>
          <a:p>
            <a:pPr algn="just" indent="0" marL="0">
              <a:buNone/>
            </a:pPr>
            <a:r>
              <a:rPr lang="en-US" sz="95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50" dirty="0"/>
          </a:p>
          <a:p>
            <a:pPr algn="just" indent="0" marL="0">
              <a:buNone/>
            </a:pPr>
            <a:endParaRPr lang="en-US" sz="950" dirty="0"/>
          </a:p>
          <a:p>
            <a:pPr algn="just" indent="0" marL="0">
              <a:buNone/>
            </a:pPr>
            <a:r>
              <a:rPr lang="en-US" sz="95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50" dirty="0"/>
          </a:p>
        </p:txBody>
      </p:sp>
      <p:pic>
        <p:nvPicPr>
          <p:cNvPr id="9" name="Image 1" descr="Logo MaPrimeRénov’ Copropriétés">    </p:cNvPr>
          <p:cNvPicPr>
            <a:picLocks noChangeAspect="1"/>
          </p:cNvPicPr>
          <p:nvPr/>
        </p:nvPicPr>
        <p:blipFill>
          <a:blip r:embed="rId2"/>
          <a:srcRect l="0" r="0" t="0" b="0"/>
          <a:stretch/>
        </p:blipFill>
        <p:spPr>
          <a:xfrm>
            <a:off x="4428000" y="1836000"/>
            <a:ext cx="2484000" cy="1080000"/>
          </a:xfrm>
          <a:prstGeom prst="rect">
            <a:avLst/>
          </a:prstGeom>
        </p:spPr>
      </p:pic>
      <p:sp>
        <p:nvSpPr>
          <p:cNvPr id="10" name="Text 6"/>
          <p:cNvSpPr/>
          <p:nvPr/>
        </p:nvSpPr>
        <p:spPr>
          <a:xfrm>
            <a:off x="648000" y="3060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 :</a:t>
            </a:r>
            <a:endParaRPr lang="en-US" sz="1000" dirty="0"/>
          </a:p>
        </p:txBody>
      </p:sp>
      <p:sp>
        <p:nvSpPr>
          <p:cNvPr id="11" name="Text 7"/>
          <p:cNvSpPr/>
          <p:nvPr/>
        </p:nvSpPr>
        <p:spPr>
          <a:xfrm>
            <a:off x="648000" y="327600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8"/>
          <p:cNvSpPr/>
          <p:nvPr/>
        </p:nvSpPr>
        <p:spPr>
          <a:xfrm>
            <a:off x="648000" y="361728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Être composée d’au moins 65 % de résidences principales (pour les copropriétés de 20 lots ou moins) ou d’au moins 75 % pour les copropriétés de plus de 20 lots.</a:t>
            </a:r>
            <a:endParaRPr lang="en-US" sz="900" dirty="0"/>
          </a:p>
        </p:txBody>
      </p:sp>
      <p:sp>
        <p:nvSpPr>
          <p:cNvPr id="13" name="Text 9"/>
          <p:cNvSpPr/>
          <p:nvPr/>
        </p:nvSpPr>
        <p:spPr>
          <a:xfrm>
            <a:off x="648000" y="3958560"/>
            <a:ext cx="6264000" cy="1922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Copropriété immatriculée au registre national des copropriétés.</a:t>
            </a:r>
            <a:endParaRPr lang="en-US" sz="900" dirty="0"/>
          </a:p>
        </p:txBody>
      </p:sp>
      <p:sp>
        <p:nvSpPr>
          <p:cNvPr id="14" name="Shape 10"/>
          <p:cNvSpPr/>
          <p:nvPr/>
        </p:nvSpPr>
        <p:spPr>
          <a:xfrm>
            <a:off x="648000" y="4140000"/>
            <a:ext cx="3132000" cy="324000"/>
          </a:xfrm>
          <a:prstGeom prst="rect">
            <a:avLst/>
          </a:prstGeom>
          <a:solidFill>
            <a:srgbClr val="FFFFFF"/>
          </a:solidFill>
          <a:ln w="6985">
            <a:solidFill>
              <a:srgbClr val="FFC700"/>
            </a:solidFill>
            <a:prstDash val="solid"/>
          </a:ln>
        </p:spPr>
      </p:sp>
      <p:sp>
        <p:nvSpPr>
          <p:cNvPr id="15" name="Text 11"/>
          <p:cNvSpPr/>
          <p:nvPr/>
        </p:nvSpPr>
        <p:spPr>
          <a:xfrm>
            <a:off x="709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Conditions</a:t>
            </a:r>
            <a:endParaRPr lang="en-US" sz="900" dirty="0"/>
          </a:p>
        </p:txBody>
      </p:sp>
      <p:sp>
        <p:nvSpPr>
          <p:cNvPr id="16" name="Shape 12"/>
          <p:cNvSpPr/>
          <p:nvPr/>
        </p:nvSpPr>
        <p:spPr>
          <a:xfrm>
            <a:off x="3780000" y="4140000"/>
            <a:ext cx="3132000" cy="324000"/>
          </a:xfrm>
          <a:prstGeom prst="rect">
            <a:avLst/>
          </a:prstGeom>
          <a:solidFill>
            <a:srgbClr val="FFFFFF"/>
          </a:solidFill>
          <a:ln w="6985">
            <a:solidFill>
              <a:srgbClr val="FFC700"/>
            </a:solidFill>
            <a:prstDash val="solid"/>
          </a:ln>
        </p:spPr>
      </p:sp>
      <p:sp>
        <p:nvSpPr>
          <p:cNvPr id="17" name="Text 13"/>
          <p:cNvSpPr/>
          <p:nvPr/>
        </p:nvSpPr>
        <p:spPr>
          <a:xfrm>
            <a:off x="3841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Aide pour la copropriété</a:t>
            </a:r>
            <a:endParaRPr lang="en-US" sz="900" dirty="0"/>
          </a:p>
        </p:txBody>
      </p:sp>
      <p:sp>
        <p:nvSpPr>
          <p:cNvPr id="18" name="Shape 14"/>
          <p:cNvSpPr/>
          <p:nvPr/>
        </p:nvSpPr>
        <p:spPr>
          <a:xfrm>
            <a:off x="648000" y="4464000"/>
            <a:ext cx="3132000" cy="324000"/>
          </a:xfrm>
          <a:prstGeom prst="rect">
            <a:avLst/>
          </a:prstGeom>
          <a:solidFill>
            <a:srgbClr val="FFFFFF"/>
          </a:solidFill>
          <a:ln w="6985">
            <a:solidFill>
              <a:srgbClr val="FFC700"/>
            </a:solidFill>
            <a:prstDash val="solid"/>
          </a:ln>
        </p:spPr>
      </p:sp>
      <p:sp>
        <p:nvSpPr>
          <p:cNvPr id="19" name="Text 15"/>
          <p:cNvSpPr/>
          <p:nvPr/>
        </p:nvSpPr>
        <p:spPr>
          <a:xfrm>
            <a:off x="709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35%</a:t>
            </a:r>
            <a:endParaRPr lang="en-US" sz="840" dirty="0"/>
          </a:p>
        </p:txBody>
      </p:sp>
      <p:sp>
        <p:nvSpPr>
          <p:cNvPr id="20" name="Shape 16"/>
          <p:cNvSpPr/>
          <p:nvPr/>
        </p:nvSpPr>
        <p:spPr>
          <a:xfrm>
            <a:off x="3780000" y="4464000"/>
            <a:ext cx="3132000" cy="324000"/>
          </a:xfrm>
          <a:prstGeom prst="rect">
            <a:avLst/>
          </a:prstGeom>
          <a:solidFill>
            <a:srgbClr val="FFFFFF"/>
          </a:solidFill>
          <a:ln w="6985">
            <a:solidFill>
              <a:srgbClr val="FFC700"/>
            </a:solidFill>
            <a:prstDash val="solid"/>
          </a:ln>
        </p:spPr>
      </p:sp>
      <p:sp>
        <p:nvSpPr>
          <p:cNvPr id="21" name="Text 17"/>
          <p:cNvSpPr/>
          <p:nvPr/>
        </p:nvSpPr>
        <p:spPr>
          <a:xfrm>
            <a:off x="3841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30 % du montant des travaux, plafonné à 7 500 € par lot</a:t>
            </a:r>
            <a:endParaRPr lang="en-US" sz="840" dirty="0"/>
          </a:p>
        </p:txBody>
      </p:sp>
      <p:sp>
        <p:nvSpPr>
          <p:cNvPr id="22" name="Shape 18"/>
          <p:cNvSpPr/>
          <p:nvPr/>
        </p:nvSpPr>
        <p:spPr>
          <a:xfrm>
            <a:off x="648000" y="4788000"/>
            <a:ext cx="3132000" cy="324000"/>
          </a:xfrm>
          <a:prstGeom prst="rect">
            <a:avLst/>
          </a:prstGeom>
          <a:solidFill>
            <a:srgbClr val="FFFFFF"/>
          </a:solidFill>
          <a:ln w="6985">
            <a:solidFill>
              <a:srgbClr val="FFC700"/>
            </a:solidFill>
            <a:prstDash val="solid"/>
          </a:ln>
        </p:spPr>
      </p:sp>
      <p:sp>
        <p:nvSpPr>
          <p:cNvPr id="23" name="Text 19"/>
          <p:cNvSpPr/>
          <p:nvPr/>
        </p:nvSpPr>
        <p:spPr>
          <a:xfrm>
            <a:off x="709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50%</a:t>
            </a:r>
            <a:endParaRPr lang="en-US" sz="840" dirty="0"/>
          </a:p>
        </p:txBody>
      </p:sp>
      <p:sp>
        <p:nvSpPr>
          <p:cNvPr id="24" name="Shape 20"/>
          <p:cNvSpPr/>
          <p:nvPr/>
        </p:nvSpPr>
        <p:spPr>
          <a:xfrm>
            <a:off x="3780000" y="4788000"/>
            <a:ext cx="3132000" cy="324000"/>
          </a:xfrm>
          <a:prstGeom prst="rect">
            <a:avLst/>
          </a:prstGeom>
          <a:solidFill>
            <a:srgbClr val="FFFFFF"/>
          </a:solidFill>
          <a:ln w="6985">
            <a:solidFill>
              <a:srgbClr val="FFC700"/>
            </a:solidFill>
            <a:prstDash val="solid"/>
          </a:ln>
        </p:spPr>
      </p:sp>
      <p:sp>
        <p:nvSpPr>
          <p:cNvPr id="25" name="Text 21"/>
          <p:cNvSpPr/>
          <p:nvPr/>
        </p:nvSpPr>
        <p:spPr>
          <a:xfrm>
            <a:off x="3841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45 % du montant des travaux, plafonné à 11 250 € par lot</a:t>
            </a:r>
            <a:endParaRPr lang="en-US" sz="840" dirty="0"/>
          </a:p>
        </p:txBody>
      </p:sp>
      <p:sp>
        <p:nvSpPr>
          <p:cNvPr id="26" name="Shape 22"/>
          <p:cNvSpPr/>
          <p:nvPr/>
        </p:nvSpPr>
        <p:spPr>
          <a:xfrm>
            <a:off x="648000" y="5112000"/>
            <a:ext cx="3132000" cy="396000"/>
          </a:xfrm>
          <a:prstGeom prst="rect">
            <a:avLst/>
          </a:prstGeom>
          <a:solidFill>
            <a:srgbClr val="FFFFFF"/>
          </a:solidFill>
          <a:ln w="6985">
            <a:solidFill>
              <a:srgbClr val="FFC700"/>
            </a:solidFill>
            <a:prstDash val="solid"/>
          </a:ln>
        </p:spPr>
      </p:sp>
      <p:sp>
        <p:nvSpPr>
          <p:cNvPr id="27" name="Text 23"/>
          <p:cNvSpPr/>
          <p:nvPr/>
        </p:nvSpPr>
        <p:spPr>
          <a:xfrm>
            <a:off x="709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 sortie de passoire thermique » (étiquette avant travaux de F ou G)</a:t>
            </a:r>
            <a:endParaRPr lang="en-US" sz="840" dirty="0"/>
          </a:p>
        </p:txBody>
      </p:sp>
      <p:sp>
        <p:nvSpPr>
          <p:cNvPr id="28" name="Shape 24"/>
          <p:cNvSpPr/>
          <p:nvPr/>
        </p:nvSpPr>
        <p:spPr>
          <a:xfrm>
            <a:off x="3780000" y="5112000"/>
            <a:ext cx="3132000" cy="396000"/>
          </a:xfrm>
          <a:prstGeom prst="rect">
            <a:avLst/>
          </a:prstGeom>
          <a:solidFill>
            <a:srgbClr val="FFFFFF"/>
          </a:solidFill>
          <a:ln w="6985">
            <a:solidFill>
              <a:srgbClr val="FFC700"/>
            </a:solidFill>
            <a:prstDash val="solid"/>
          </a:ln>
        </p:spPr>
      </p:sp>
      <p:sp>
        <p:nvSpPr>
          <p:cNvPr id="29" name="Text 25"/>
          <p:cNvSpPr/>
          <p:nvPr/>
        </p:nvSpPr>
        <p:spPr>
          <a:xfrm>
            <a:off x="3841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+ 10 % si atteinte de l’étiquette D au minimum</a:t>
            </a:r>
            <a:endParaRPr lang="en-US" sz="840" dirty="0"/>
          </a:p>
        </p:txBody>
      </p:sp>
      <p:sp>
        <p:nvSpPr>
          <p:cNvPr id="30" name="Shape 26"/>
          <p:cNvSpPr/>
          <p:nvPr/>
        </p:nvSpPr>
        <p:spPr>
          <a:xfrm>
            <a:off x="648000" y="5508000"/>
            <a:ext cx="3132000" cy="468000"/>
          </a:xfrm>
          <a:prstGeom prst="rect">
            <a:avLst/>
          </a:prstGeom>
          <a:solidFill>
            <a:srgbClr val="FFFFFF"/>
          </a:solidFill>
          <a:ln w="6985">
            <a:solidFill>
              <a:srgbClr val="FFC700"/>
            </a:solidFill>
            <a:prstDash val="solid"/>
          </a:ln>
        </p:spPr>
      </p:sp>
      <p:sp>
        <p:nvSpPr>
          <p:cNvPr id="31" name="Text 27"/>
          <p:cNvSpPr/>
          <p:nvPr/>
        </p:nvSpPr>
        <p:spPr>
          <a:xfrm>
            <a:off x="709200" y="5547600"/>
            <a:ext cx="3009600" cy="388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Primes individuelles pour les copropriétaires</a:t>
            </a:r>
            <a:endParaRPr lang="en-US" sz="840" dirty="0"/>
          </a:p>
        </p:txBody>
      </p:sp>
      <p:sp>
        <p:nvSpPr>
          <p:cNvPr id="32" name="Shape 28"/>
          <p:cNvSpPr/>
          <p:nvPr/>
        </p:nvSpPr>
        <p:spPr>
          <a:xfrm>
            <a:off x="3780000" y="5508000"/>
            <a:ext cx="1566000" cy="468000"/>
          </a:xfrm>
          <a:prstGeom prst="rect">
            <a:avLst/>
          </a:prstGeom>
          <a:solidFill>
            <a:srgbClr val="FFFFFF"/>
          </a:solidFill>
          <a:ln w="6985">
            <a:solidFill>
              <a:srgbClr val="FFC700"/>
            </a:solidFill>
            <a:prstDash val="solid"/>
          </a:ln>
        </p:spPr>
      </p:sp>
      <p:sp>
        <p:nvSpPr>
          <p:cNvPr id="33" name="Text 29"/>
          <p:cNvSpPr/>
          <p:nvPr/>
        </p:nvSpPr>
        <p:spPr>
          <a:xfrm>
            <a:off x="3841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3 000 € par logement pour les ménages aux ressources très modestes</a:t>
            </a:r>
            <a:endParaRPr lang="en-US" sz="820" dirty="0"/>
          </a:p>
        </p:txBody>
      </p:sp>
      <p:sp>
        <p:nvSpPr>
          <p:cNvPr id="34" name="Shape 30"/>
          <p:cNvSpPr/>
          <p:nvPr/>
        </p:nvSpPr>
        <p:spPr>
          <a:xfrm>
            <a:off x="5346000" y="5508000"/>
            <a:ext cx="1566000" cy="468000"/>
          </a:xfrm>
          <a:prstGeom prst="rect">
            <a:avLst/>
          </a:prstGeom>
          <a:solidFill>
            <a:srgbClr val="FFFFFF"/>
          </a:solidFill>
          <a:ln w="6985">
            <a:solidFill>
              <a:srgbClr val="FFC700"/>
            </a:solidFill>
            <a:prstDash val="solid"/>
          </a:ln>
        </p:spPr>
      </p:sp>
      <p:sp>
        <p:nvSpPr>
          <p:cNvPr id="35" name="Text 31"/>
          <p:cNvSpPr/>
          <p:nvPr/>
        </p:nvSpPr>
        <p:spPr>
          <a:xfrm>
            <a:off x="5407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1 500 € par logement pour les ménages aux ressources modestes</a:t>
            </a:r>
            <a:endParaRPr lang="en-US" sz="820" dirty="0"/>
          </a:p>
        </p:txBody>
      </p:sp>
      <p:sp>
        <p:nvSpPr>
          <p:cNvPr id="36" name="Shape 32"/>
          <p:cNvSpPr/>
          <p:nvPr/>
        </p:nvSpPr>
        <p:spPr>
          <a:xfrm>
            <a:off x="648000" y="5976000"/>
            <a:ext cx="3132000" cy="396000"/>
          </a:xfrm>
          <a:prstGeom prst="rect">
            <a:avLst/>
          </a:prstGeom>
          <a:solidFill>
            <a:srgbClr val="FFFFFF"/>
          </a:solidFill>
          <a:ln w="6985">
            <a:solidFill>
              <a:srgbClr val="FFC700"/>
            </a:solidFill>
            <a:prstDash val="solid"/>
          </a:ln>
        </p:spPr>
      </p:sp>
      <p:sp>
        <p:nvSpPr>
          <p:cNvPr id="37" name="Text 33"/>
          <p:cNvSpPr/>
          <p:nvPr/>
        </p:nvSpPr>
        <p:spPr>
          <a:xfrm>
            <a:off x="709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pour les copropriétés fragiles et en difficulté</a:t>
            </a:r>
            <a:endParaRPr lang="en-US" sz="840" dirty="0"/>
          </a:p>
        </p:txBody>
      </p:sp>
      <p:sp>
        <p:nvSpPr>
          <p:cNvPr id="38" name="Shape 34"/>
          <p:cNvSpPr/>
          <p:nvPr/>
        </p:nvSpPr>
        <p:spPr>
          <a:xfrm>
            <a:off x="3780000" y="5976000"/>
            <a:ext cx="3132000" cy="396000"/>
          </a:xfrm>
          <a:prstGeom prst="rect">
            <a:avLst/>
          </a:prstGeom>
          <a:solidFill>
            <a:srgbClr val="FFFFFF"/>
          </a:solidFill>
          <a:ln w="6985">
            <a:solidFill>
              <a:srgbClr val="FFC700"/>
            </a:solidFill>
            <a:prstDash val="solid"/>
          </a:ln>
        </p:spPr>
      </p:sp>
      <p:sp>
        <p:nvSpPr>
          <p:cNvPr id="39" name="Text 35"/>
          <p:cNvSpPr/>
          <p:nvPr/>
        </p:nvSpPr>
        <p:spPr>
          <a:xfrm>
            <a:off x="3841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+ 20 % (dans le plafond des 25 000 €)</a:t>
            </a:r>
            <a:endParaRPr lang="en-US" sz="840" dirty="0"/>
          </a:p>
          <a:p>
            <a:pPr algn="l" indent="0" marL="0">
              <a:buNone/>
            </a:pPr>
            <a:r>
              <a:rPr lang="en-US" sz="840" dirty="0">
                <a:solidFill>
                  <a:srgbClr val="1C1C1C"/>
                </a:solidFill>
                <a:latin typeface="Aptos" pitchFamily="34" charset="0"/>
                <a:ea typeface="Aptos" pitchFamily="34" charset="-122"/>
                <a:cs typeface="Aptos" pitchFamily="34" charset="-120"/>
              </a:rPr>
              <a:t>Sous conditions d’obtention des CEE par l’Anah</a:t>
            </a:r>
            <a:endParaRPr lang="en-US" sz="840" dirty="0"/>
          </a:p>
        </p:txBody>
      </p:sp>
      <p:sp>
        <p:nvSpPr>
          <p:cNvPr id="40" name="Shape 36"/>
          <p:cNvSpPr/>
          <p:nvPr/>
        </p:nvSpPr>
        <p:spPr>
          <a:xfrm>
            <a:off x="648000" y="6552000"/>
            <a:ext cx="972000" cy="468000"/>
          </a:xfrm>
          <a:prstGeom prst="rect">
            <a:avLst/>
          </a:prstGeom>
          <a:solidFill>
            <a:srgbClr val="FFFFFF"/>
          </a:solidFill>
          <a:ln w="6985">
            <a:solidFill>
              <a:srgbClr val="2442F5"/>
            </a:solidFill>
            <a:prstDash val="solid"/>
          </a:ln>
        </p:spPr>
      </p:sp>
      <p:sp>
        <p:nvSpPr>
          <p:cNvPr id="41" name="Text 37"/>
          <p:cNvSpPr/>
          <p:nvPr/>
        </p:nvSpPr>
        <p:spPr>
          <a:xfrm>
            <a:off x="709200" y="6591600"/>
            <a:ext cx="849600" cy="388800"/>
          </a:xfrm>
          <a:prstGeom prst="rect">
            <a:avLst/>
          </a:prstGeom>
          <a:noFill/>
          <a:ln/>
        </p:spPr>
        <p:txBody>
          <a:bodyPr wrap="square" lIns="0" tIns="0" rIns="0" bIns="0" rtlCol="0" anchor="ctr"/>
          <a:lstStyle/>
          <a:p>
            <a:pPr algn="ctr" indent="0" marL="0">
              <a:buNone/>
            </a:pPr>
            <a:endParaRPr lang="en-US" sz="770" dirty="0"/>
          </a:p>
        </p:txBody>
      </p:sp>
      <p:sp>
        <p:nvSpPr>
          <p:cNvPr id="42" name="Shape 38"/>
          <p:cNvSpPr/>
          <p:nvPr/>
        </p:nvSpPr>
        <p:spPr>
          <a:xfrm>
            <a:off x="1620000" y="6552000"/>
            <a:ext cx="972000" cy="468000"/>
          </a:xfrm>
          <a:prstGeom prst="rect">
            <a:avLst/>
          </a:prstGeom>
          <a:solidFill>
            <a:srgbClr val="FFFFFF"/>
          </a:solidFill>
          <a:ln w="6985">
            <a:solidFill>
              <a:srgbClr val="FFC700"/>
            </a:solidFill>
            <a:prstDash val="solid"/>
          </a:ln>
        </p:spPr>
      </p:sp>
      <p:sp>
        <p:nvSpPr>
          <p:cNvPr id="43" name="Text 39"/>
          <p:cNvSpPr/>
          <p:nvPr/>
        </p:nvSpPr>
        <p:spPr>
          <a:xfrm>
            <a:off x="1681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Ma Prime Rénov’</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pour une rénovation par geste</a:t>
            </a:r>
            <a:endParaRPr lang="en-US" sz="770" dirty="0"/>
          </a:p>
        </p:txBody>
      </p:sp>
      <p:sp>
        <p:nvSpPr>
          <p:cNvPr id="44" name="Shape 40"/>
          <p:cNvSpPr/>
          <p:nvPr/>
        </p:nvSpPr>
        <p:spPr>
          <a:xfrm>
            <a:off x="2592000" y="6552000"/>
            <a:ext cx="972000" cy="468000"/>
          </a:xfrm>
          <a:prstGeom prst="rect">
            <a:avLst/>
          </a:prstGeom>
          <a:solidFill>
            <a:srgbClr val="FFFFFF"/>
          </a:solidFill>
          <a:ln w="6985">
            <a:solidFill>
              <a:srgbClr val="00B55A"/>
            </a:solidFill>
            <a:prstDash val="solid"/>
          </a:ln>
        </p:spPr>
      </p:sp>
      <p:sp>
        <p:nvSpPr>
          <p:cNvPr id="45" name="Text 41"/>
          <p:cNvSpPr/>
          <p:nvPr/>
        </p:nvSpPr>
        <p:spPr>
          <a:xfrm>
            <a:off x="2653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collectivités locales</a:t>
            </a:r>
            <a:endParaRPr lang="en-US" sz="770" dirty="0"/>
          </a:p>
        </p:txBody>
      </p:sp>
      <p:sp>
        <p:nvSpPr>
          <p:cNvPr id="46" name="Shape 42"/>
          <p:cNvSpPr/>
          <p:nvPr/>
        </p:nvSpPr>
        <p:spPr>
          <a:xfrm>
            <a:off x="3564000" y="6552000"/>
            <a:ext cx="1044000" cy="468000"/>
          </a:xfrm>
          <a:prstGeom prst="rect">
            <a:avLst/>
          </a:prstGeom>
          <a:solidFill>
            <a:srgbClr val="FFFFFF"/>
          </a:solidFill>
          <a:ln w="6985">
            <a:solidFill>
              <a:srgbClr val="2442F5"/>
            </a:solidFill>
            <a:prstDash val="solid"/>
          </a:ln>
        </p:spPr>
      </p:sp>
      <p:sp>
        <p:nvSpPr>
          <p:cNvPr id="47" name="Text 43"/>
          <p:cNvSpPr/>
          <p:nvPr/>
        </p:nvSpPr>
        <p:spPr>
          <a:xfrm>
            <a:off x="3625200" y="6591600"/>
            <a:ext cx="92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 fournisseurs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d’énergie (CEE)</a:t>
            </a:r>
            <a:endParaRPr lang="en-US" sz="770" dirty="0"/>
          </a:p>
        </p:txBody>
      </p:sp>
      <p:sp>
        <p:nvSpPr>
          <p:cNvPr id="48" name="Shape 44"/>
          <p:cNvSpPr/>
          <p:nvPr/>
        </p:nvSpPr>
        <p:spPr>
          <a:xfrm>
            <a:off x="4608000" y="6552000"/>
            <a:ext cx="1080000" cy="468000"/>
          </a:xfrm>
          <a:prstGeom prst="rect">
            <a:avLst/>
          </a:prstGeom>
          <a:solidFill>
            <a:srgbClr val="FFFFFF"/>
          </a:solidFill>
          <a:ln w="6985">
            <a:solidFill>
              <a:srgbClr val="FFC700"/>
            </a:solidFill>
            <a:prstDash val="solid"/>
          </a:ln>
        </p:spPr>
      </p:sp>
      <p:sp>
        <p:nvSpPr>
          <p:cNvPr id="49" name="Text 45"/>
          <p:cNvSpPr/>
          <p:nvPr/>
        </p:nvSpPr>
        <p:spPr>
          <a:xfrm>
            <a:off x="4669200" y="6591600"/>
            <a:ext cx="957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Éco-Prêt à taux zéro</a:t>
            </a:r>
            <a:endParaRPr lang="en-US" sz="770" dirty="0"/>
          </a:p>
        </p:txBody>
      </p:sp>
      <p:sp>
        <p:nvSpPr>
          <p:cNvPr id="50" name="Shape 46"/>
          <p:cNvSpPr/>
          <p:nvPr/>
        </p:nvSpPr>
        <p:spPr>
          <a:xfrm>
            <a:off x="5688000" y="6552000"/>
            <a:ext cx="1224000" cy="468000"/>
          </a:xfrm>
          <a:prstGeom prst="rect">
            <a:avLst/>
          </a:prstGeom>
          <a:solidFill>
            <a:srgbClr val="FFFFFF"/>
          </a:solidFill>
          <a:ln w="6985">
            <a:solidFill>
              <a:srgbClr val="00B55A"/>
            </a:solidFill>
            <a:prstDash val="solid"/>
          </a:ln>
        </p:spPr>
      </p:sp>
      <p:sp>
        <p:nvSpPr>
          <p:cNvPr id="51" name="Text 47"/>
          <p:cNvSpPr/>
          <p:nvPr/>
        </p:nvSpPr>
        <p:spPr>
          <a:xfrm>
            <a:off x="5749200" y="6591600"/>
            <a:ext cx="110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TVA réduite à 5,5 %</a:t>
            </a:r>
            <a:endParaRPr lang="en-US" sz="770" dirty="0"/>
          </a:p>
        </p:txBody>
      </p:sp>
      <p:sp>
        <p:nvSpPr>
          <p:cNvPr id="52" name="Shape 48"/>
          <p:cNvSpPr/>
          <p:nvPr/>
        </p:nvSpPr>
        <p:spPr>
          <a:xfrm>
            <a:off x="648000" y="7020000"/>
            <a:ext cx="972000" cy="612000"/>
          </a:xfrm>
          <a:prstGeom prst="rect">
            <a:avLst/>
          </a:prstGeom>
          <a:solidFill>
            <a:srgbClr val="FFFFFF"/>
          </a:solidFill>
          <a:ln w="6985">
            <a:solidFill>
              <a:srgbClr val="2442F5"/>
            </a:solidFill>
            <a:prstDash val="solid"/>
          </a:ln>
        </p:spPr>
      </p:sp>
      <p:sp>
        <p:nvSpPr>
          <p:cNvPr id="53" name="Text 49"/>
          <p:cNvSpPr/>
          <p:nvPr/>
        </p:nvSpPr>
        <p:spPr>
          <a:xfrm>
            <a:off x="709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 cumulable avec Ma Prime Rénov’ Copro</a:t>
            </a:r>
            <a:endParaRPr lang="en-US" sz="770" dirty="0"/>
          </a:p>
        </p:txBody>
      </p:sp>
      <p:sp>
        <p:nvSpPr>
          <p:cNvPr id="54" name="Shape 50"/>
          <p:cNvSpPr/>
          <p:nvPr/>
        </p:nvSpPr>
        <p:spPr>
          <a:xfrm>
            <a:off x="1620000" y="7020000"/>
            <a:ext cx="972000" cy="612000"/>
          </a:xfrm>
          <a:prstGeom prst="rect">
            <a:avLst/>
          </a:prstGeom>
          <a:solidFill>
            <a:srgbClr val="FFFFFF"/>
          </a:solidFill>
          <a:ln w="6985">
            <a:solidFill>
              <a:srgbClr val="FFC700"/>
            </a:solidFill>
            <a:prstDash val="solid"/>
          </a:ln>
        </p:spPr>
      </p:sp>
      <p:sp>
        <p:nvSpPr>
          <p:cNvPr id="55" name="Text 51"/>
          <p:cNvSpPr/>
          <p:nvPr/>
        </p:nvSpPr>
        <p:spPr>
          <a:xfrm>
            <a:off x="1681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Cumul possible en parties privatives et parties communes</a:t>
            </a:r>
            <a:endParaRPr lang="en-US" sz="770" dirty="0"/>
          </a:p>
        </p:txBody>
      </p:sp>
      <p:sp>
        <p:nvSpPr>
          <p:cNvPr id="56" name="Shape 52"/>
          <p:cNvSpPr/>
          <p:nvPr/>
        </p:nvSpPr>
        <p:spPr>
          <a:xfrm>
            <a:off x="2592000" y="7020000"/>
            <a:ext cx="972000" cy="612000"/>
          </a:xfrm>
          <a:prstGeom prst="rect">
            <a:avLst/>
          </a:prstGeom>
          <a:solidFill>
            <a:srgbClr val="FFFFFF"/>
          </a:solidFill>
          <a:ln w="6985">
            <a:solidFill>
              <a:srgbClr val="00B55A"/>
            </a:solidFill>
            <a:prstDash val="solid"/>
          </a:ln>
        </p:spPr>
      </p:sp>
      <p:sp>
        <p:nvSpPr>
          <p:cNvPr id="57" name="Text 53"/>
          <p:cNvSpPr/>
          <p:nvPr/>
        </p:nvSpPr>
        <p:spPr>
          <a:xfrm>
            <a:off x="2653200" y="7059600"/>
            <a:ext cx="849600" cy="532800"/>
          </a:xfrm>
          <a:prstGeom prst="rect">
            <a:avLst/>
          </a:prstGeom>
          <a:noFill/>
          <a:ln/>
        </p:spPr>
        <p:txBody>
          <a:bodyPr wrap="square" lIns="0" tIns="0" rIns="0" bIns="0" rtlCol="0" anchor="ctr"/>
          <a:lstStyle/>
          <a:p>
            <a:pPr algn="ctr" indent="0" marL="0">
              <a:buNone/>
            </a:pPr>
            <a:r>
              <a:rPr lang="en-US" sz="1200" dirty="0">
                <a:solidFill>
                  <a:srgbClr val="00B55A"/>
                </a:solidFill>
                <a:latin typeface="Aptos" pitchFamily="34" charset="0"/>
                <a:ea typeface="Aptos" pitchFamily="34" charset="-122"/>
                <a:cs typeface="Aptos" pitchFamily="34" charset="-120"/>
              </a:rPr>
              <a:t>✓</a:t>
            </a:r>
            <a:endParaRPr lang="en-US" sz="1200" dirty="0"/>
          </a:p>
        </p:txBody>
      </p:sp>
      <p:sp>
        <p:nvSpPr>
          <p:cNvPr id="58" name="Shape 54"/>
          <p:cNvSpPr/>
          <p:nvPr/>
        </p:nvSpPr>
        <p:spPr>
          <a:xfrm>
            <a:off x="3564000" y="7020000"/>
            <a:ext cx="1044000" cy="612000"/>
          </a:xfrm>
          <a:prstGeom prst="rect">
            <a:avLst/>
          </a:prstGeom>
          <a:solidFill>
            <a:srgbClr val="FFFFFF"/>
          </a:solidFill>
          <a:ln w="6985">
            <a:solidFill>
              <a:srgbClr val="2442F5"/>
            </a:solidFill>
            <a:prstDash val="solid"/>
          </a:ln>
        </p:spPr>
      </p:sp>
      <p:sp>
        <p:nvSpPr>
          <p:cNvPr id="59" name="Text 55"/>
          <p:cNvSpPr/>
          <p:nvPr/>
        </p:nvSpPr>
        <p:spPr>
          <a:xfrm>
            <a:off x="3625200" y="7059600"/>
            <a:ext cx="921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Sauf en cas de copropriétés en difficultés et copropriétés fragiles</a:t>
            </a:r>
            <a:endParaRPr lang="en-US" sz="770" dirty="0"/>
          </a:p>
        </p:txBody>
      </p:sp>
      <p:sp>
        <p:nvSpPr>
          <p:cNvPr id="60" name="Shape 56"/>
          <p:cNvSpPr/>
          <p:nvPr/>
        </p:nvSpPr>
        <p:spPr>
          <a:xfrm>
            <a:off x="4608000" y="7020000"/>
            <a:ext cx="1080000" cy="612000"/>
          </a:xfrm>
          <a:prstGeom prst="rect">
            <a:avLst/>
          </a:prstGeom>
          <a:solidFill>
            <a:srgbClr val="FFFFFF"/>
          </a:solidFill>
          <a:ln w="6985">
            <a:solidFill>
              <a:srgbClr val="FFC700"/>
            </a:solidFill>
            <a:prstDash val="solid"/>
          </a:ln>
        </p:spPr>
      </p:sp>
      <p:sp>
        <p:nvSpPr>
          <p:cNvPr id="61" name="Text 57"/>
          <p:cNvSpPr/>
          <p:nvPr/>
        </p:nvSpPr>
        <p:spPr>
          <a:xfrm>
            <a:off x="4669200" y="7059600"/>
            <a:ext cx="957600" cy="532800"/>
          </a:xfrm>
          <a:prstGeom prst="rect">
            <a:avLst/>
          </a:prstGeom>
          <a:noFill/>
          <a:ln/>
        </p:spPr>
        <p:txBody>
          <a:bodyPr wrap="square" lIns="0" tIns="0" rIns="0" bIns="0" rtlCol="0" anchor="ctr"/>
          <a:lstStyle/>
          <a:p>
            <a:pPr algn="ctr" indent="0" marL="0">
              <a:buNone/>
            </a:pPr>
            <a:r>
              <a:rPr lang="en-US" sz="1200" dirty="0">
                <a:solidFill>
                  <a:srgbClr val="00B55A"/>
                </a:solidFill>
                <a:latin typeface="Aptos" pitchFamily="34" charset="0"/>
                <a:ea typeface="Aptos" pitchFamily="34" charset="-122"/>
                <a:cs typeface="Aptos" pitchFamily="34" charset="-120"/>
              </a:rPr>
              <a:t>✓</a:t>
            </a:r>
            <a:endParaRPr lang="en-US" sz="1200" dirty="0"/>
          </a:p>
        </p:txBody>
      </p:sp>
      <p:sp>
        <p:nvSpPr>
          <p:cNvPr id="62" name="Shape 58"/>
          <p:cNvSpPr/>
          <p:nvPr/>
        </p:nvSpPr>
        <p:spPr>
          <a:xfrm>
            <a:off x="5688000" y="7020000"/>
            <a:ext cx="1224000" cy="612000"/>
          </a:xfrm>
          <a:prstGeom prst="rect">
            <a:avLst/>
          </a:prstGeom>
          <a:solidFill>
            <a:srgbClr val="FFFFFF"/>
          </a:solidFill>
          <a:ln w="6985">
            <a:solidFill>
              <a:srgbClr val="00B55A"/>
            </a:solidFill>
            <a:prstDash val="solid"/>
          </a:ln>
        </p:spPr>
      </p:sp>
      <p:sp>
        <p:nvSpPr>
          <p:cNvPr id="63" name="Text 59"/>
          <p:cNvSpPr/>
          <p:nvPr/>
        </p:nvSpPr>
        <p:spPr>
          <a:xfrm>
            <a:off x="5749200" y="7059600"/>
            <a:ext cx="1101600" cy="532800"/>
          </a:xfrm>
          <a:prstGeom prst="rect">
            <a:avLst/>
          </a:prstGeom>
          <a:noFill/>
          <a:ln/>
        </p:spPr>
        <p:txBody>
          <a:bodyPr wrap="square" lIns="0" tIns="0" rIns="0" bIns="0" rtlCol="0" anchor="ctr"/>
          <a:lstStyle/>
          <a:p>
            <a:pPr algn="ctr" indent="0" marL="0">
              <a:buNone/>
            </a:pPr>
            <a:r>
              <a:rPr lang="en-US" sz="1200" dirty="0">
                <a:solidFill>
                  <a:srgbClr val="00B55A"/>
                </a:solidFill>
                <a:latin typeface="Aptos" pitchFamily="34" charset="0"/>
                <a:ea typeface="Aptos" pitchFamily="34" charset="-122"/>
                <a:cs typeface="Aptos" pitchFamily="34" charset="-120"/>
              </a:rPr>
              <a:t>✓</a:t>
            </a:r>
            <a:endParaRPr lang="en-US" sz="1200" dirty="0"/>
          </a:p>
        </p:txBody>
      </p:sp>
      <p:sp>
        <p:nvSpPr>
          <p:cNvPr id="64" name="Text 60"/>
          <p:cNvSpPr/>
          <p:nvPr/>
        </p:nvSpPr>
        <p:spPr>
          <a:xfrm>
            <a:off x="648000" y="7776000"/>
            <a:ext cx="6264000" cy="180000"/>
          </a:xfrm>
          <a:prstGeom prst="rect">
            <a:avLst/>
          </a:prstGeom>
          <a:noFill/>
          <a:ln/>
        </p:spPr>
        <p:txBody>
          <a:bodyPr wrap="square" lIns="0" tIns="0" rIns="0" bIns="0" rtlCol="0" anchor="t"/>
          <a:lstStyle/>
          <a:p>
            <a:pPr indent="0" marL="0">
              <a:buNone/>
            </a:pPr>
            <a:r>
              <a:rPr lang="en-US" sz="960" b="1" dirty="0">
                <a:solidFill>
                  <a:srgbClr val="00B55A"/>
                </a:solidFill>
                <a:latin typeface="Aptos" pitchFamily="34" charset="0"/>
                <a:ea typeface="Aptos" pitchFamily="34" charset="-122"/>
                <a:cs typeface="Aptos" pitchFamily="34" charset="-120"/>
              </a:rPr>
              <a:t>Les principales étapes sont les suivantes :</a:t>
            </a:r>
            <a:endParaRPr lang="en-US" sz="960" dirty="0"/>
          </a:p>
        </p:txBody>
      </p:sp>
      <p:sp>
        <p:nvSpPr>
          <p:cNvPr id="65" name="Text 61"/>
          <p:cNvSpPr/>
          <p:nvPr/>
        </p:nvSpPr>
        <p:spPr>
          <a:xfrm>
            <a:off x="648000" y="7956000"/>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66" name="Text 62"/>
          <p:cNvSpPr/>
          <p:nvPr/>
        </p:nvSpPr>
        <p:spPr>
          <a:xfrm>
            <a:off x="792000" y="7956000"/>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840" dirty="0"/>
          </a:p>
        </p:txBody>
      </p:sp>
      <p:sp>
        <p:nvSpPr>
          <p:cNvPr id="67" name="Text 63"/>
          <p:cNvSpPr/>
          <p:nvPr/>
        </p:nvSpPr>
        <p:spPr>
          <a:xfrm>
            <a:off x="648000" y="813830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68" name="Text 64"/>
          <p:cNvSpPr/>
          <p:nvPr/>
        </p:nvSpPr>
        <p:spPr>
          <a:xfrm>
            <a:off x="792000" y="813830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840" dirty="0"/>
          </a:p>
        </p:txBody>
      </p:sp>
      <p:sp>
        <p:nvSpPr>
          <p:cNvPr id="69" name="Text 65"/>
          <p:cNvSpPr/>
          <p:nvPr/>
        </p:nvSpPr>
        <p:spPr>
          <a:xfrm>
            <a:off x="648000" y="832060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0" name="Text 66"/>
          <p:cNvSpPr/>
          <p:nvPr/>
        </p:nvSpPr>
        <p:spPr>
          <a:xfrm>
            <a:off x="792000" y="832060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840" dirty="0"/>
          </a:p>
        </p:txBody>
      </p:sp>
      <p:sp>
        <p:nvSpPr>
          <p:cNvPr id="71" name="Text 67"/>
          <p:cNvSpPr/>
          <p:nvPr/>
        </p:nvSpPr>
        <p:spPr>
          <a:xfrm>
            <a:off x="648000" y="8642016"/>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2" name="Text 68"/>
          <p:cNvSpPr/>
          <p:nvPr/>
        </p:nvSpPr>
        <p:spPr>
          <a:xfrm>
            <a:off x="792000" y="8642016"/>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840" dirty="0"/>
          </a:p>
        </p:txBody>
      </p:sp>
      <p:sp>
        <p:nvSpPr>
          <p:cNvPr id="73" name="Text 69"/>
          <p:cNvSpPr/>
          <p:nvPr/>
        </p:nvSpPr>
        <p:spPr>
          <a:xfrm>
            <a:off x="648000" y="896342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4" name="Text 70"/>
          <p:cNvSpPr/>
          <p:nvPr/>
        </p:nvSpPr>
        <p:spPr>
          <a:xfrm>
            <a:off x="792000" y="896342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840" dirty="0"/>
          </a:p>
        </p:txBody>
      </p:sp>
      <p:sp>
        <p:nvSpPr>
          <p:cNvPr id="75" name="Text 71"/>
          <p:cNvSpPr/>
          <p:nvPr/>
        </p:nvSpPr>
        <p:spPr>
          <a:xfrm>
            <a:off x="648000" y="914572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6" name="Text 72"/>
          <p:cNvSpPr/>
          <p:nvPr/>
        </p:nvSpPr>
        <p:spPr>
          <a:xfrm>
            <a:off x="792000" y="914572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840" dirty="0"/>
          </a:p>
        </p:txBody>
      </p:sp>
      <p:sp>
        <p:nvSpPr>
          <p:cNvPr id="77" name="Text 73"/>
          <p:cNvSpPr/>
          <p:nvPr/>
        </p:nvSpPr>
        <p:spPr>
          <a:xfrm>
            <a:off x="648000" y="9648000"/>
            <a:ext cx="6264000" cy="144000"/>
          </a:xfrm>
          <a:prstGeom prst="rect">
            <a:avLst/>
          </a:prstGeom>
          <a:noFill/>
          <a:ln/>
        </p:spPr>
        <p:txBody>
          <a:bodyPr wrap="square" lIns="0" tIns="0" rIns="0" bIns="0" rtlCol="0" anchor="t"/>
          <a:lstStyle/>
          <a:p>
            <a:pPr indent="0" marL="0">
              <a:buNone/>
            </a:pPr>
            <a:r>
              <a:rPr lang="en-US" sz="900" b="1" dirty="0">
                <a:solidFill>
                  <a:srgbClr val="00B55A"/>
                </a:solidFill>
                <a:latin typeface="Aptos" pitchFamily="34" charset="0"/>
                <a:ea typeface="Aptos" pitchFamily="34" charset="-122"/>
                <a:cs typeface="Aptos" pitchFamily="34" charset="-120"/>
              </a:rPr>
              <a:t>Pour en savoir plus :</a:t>
            </a:r>
            <a:endParaRPr lang="en-US" sz="900" dirty="0"/>
          </a:p>
        </p:txBody>
      </p:sp>
      <p:sp>
        <p:nvSpPr>
          <p:cNvPr id="78" name="Text 74"/>
          <p:cNvSpPr/>
          <p:nvPr/>
        </p:nvSpPr>
        <p:spPr>
          <a:xfrm>
            <a:off x="648000" y="9792000"/>
            <a:ext cx="6264000" cy="180000"/>
          </a:xfrm>
          <a:prstGeom prst="rect">
            <a:avLst/>
          </a:prstGeom>
          <a:noFill/>
          <a:ln/>
        </p:spPr>
        <p:txBody>
          <a:bodyPr wrap="square" lIns="0" tIns="0" rIns="0" bIns="0" rtlCol="0" anchor="t"/>
          <a:lstStyle/>
          <a:p>
            <a:pPr indent="0" marL="0">
              <a:buNone/>
            </a:pPr>
            <a:r>
              <a:rPr lang="en-US" sz="850" dirty="0">
                <a:solidFill>
                  <a:srgbClr val="4B8BA5"/>
                </a:solidFill>
                <a:uFill>
                  <a:solidFill>
                    <a:srgbClr val="4B8BA5"/>
                  </a:solidFill>
                </a:uFill>
                <a:latin typeface="Aptos" pitchFamily="34" charset="0"/>
                <a:ea typeface="Aptos" pitchFamily="34" charset="-122"/>
                <a:cs typeface="Aptos" pitchFamily="34" charset="-120"/>
              </a:rPr>
              <a:t>MaPrimeRénov’ Copropriété : tout savoir sur l’aide à la rénovation des parties communes | economie.gouv.fr</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pic>
        <p:nvPicPr>
          <p:cNvPr id="8" name="Image 1" descr="Logo CEE">    </p:cNvPr>
          <p:cNvPicPr>
            <a:picLocks noChangeAspect="1"/>
          </p:cNvPicPr>
          <p:nvPr/>
        </p:nvPicPr>
        <p:blipFill>
          <a:blip r:embed="rId2"/>
          <a:srcRect l="0" r="0" t="0" b="0"/>
          <a:stretch/>
        </p:blipFill>
        <p:spPr>
          <a:xfrm>
            <a:off x="4644000" y="1836000"/>
            <a:ext cx="1944000" cy="936000"/>
          </a:xfrm>
          <a:prstGeom prst="rect">
            <a:avLst/>
          </a:prstGeom>
        </p:spPr>
      </p:pic>
      <p:sp>
        <p:nvSpPr>
          <p:cNvPr id="9" name="Text 5"/>
          <p:cNvSpPr/>
          <p:nvPr/>
        </p:nvSpPr>
        <p:spPr>
          <a:xfrm>
            <a:off x="648000" y="1710000"/>
            <a:ext cx="4032000" cy="15552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1000" dirty="0"/>
          </a:p>
          <a:p>
            <a:pPr algn="just" indent="0" marL="0">
              <a:buNone/>
            </a:pPr>
            <a:endParaRPr lang="en-US" sz="1000" dirty="0"/>
          </a:p>
          <a:p>
            <a:pPr algn="just" indent="0" marL="0">
              <a:buNone/>
            </a:pPr>
            <a:r>
              <a:rPr lang="en-US" sz="100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1000" dirty="0"/>
          </a:p>
        </p:txBody>
      </p:sp>
      <p:sp>
        <p:nvSpPr>
          <p:cNvPr id="10" name="Text 6"/>
          <p:cNvSpPr/>
          <p:nvPr/>
        </p:nvSpPr>
        <p:spPr>
          <a:xfrm>
            <a:off x="648000" y="336600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poste par poste</a:t>
            </a:r>
            <a:endParaRPr lang="en-US" sz="1000" dirty="0"/>
          </a:p>
        </p:txBody>
      </p:sp>
      <p:sp>
        <p:nvSpPr>
          <p:cNvPr id="11" name="Text 7"/>
          <p:cNvSpPr/>
          <p:nvPr/>
        </p:nvSpPr>
        <p:spPr>
          <a:xfrm>
            <a:off x="648000" y="3618000"/>
            <a:ext cx="6264000" cy="69408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Les opérations les plus couramment éligibles sont notamment :</a:t>
            </a:r>
            <a:endParaRPr lang="en-US" sz="950" dirty="0"/>
          </a:p>
        </p:txBody>
      </p:sp>
      <p:sp>
        <p:nvSpPr>
          <p:cNvPr id="12" name="Text 8"/>
          <p:cNvSpPr/>
          <p:nvPr/>
        </p:nvSpPr>
        <p:spPr>
          <a:xfrm>
            <a:off x="756000" y="434808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9"/>
          <p:cNvSpPr/>
          <p:nvPr/>
        </p:nvSpPr>
        <p:spPr>
          <a:xfrm>
            <a:off x="900000" y="434808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L’isolation des murs, toitures, combles et planchers bas ;</a:t>
            </a:r>
            <a:endParaRPr lang="en-US" sz="950" dirty="0"/>
          </a:p>
        </p:txBody>
      </p:sp>
      <p:sp>
        <p:nvSpPr>
          <p:cNvPr id="14" name="Text 10"/>
          <p:cNvSpPr/>
          <p:nvPr/>
        </p:nvSpPr>
        <p:spPr>
          <a:xfrm>
            <a:off x="756000" y="458820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1"/>
          <p:cNvSpPr/>
          <p:nvPr/>
        </p:nvSpPr>
        <p:spPr>
          <a:xfrm>
            <a:off x="900000" y="458820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remplacement des menuiseries extérieures ;</a:t>
            </a:r>
            <a:endParaRPr lang="en-US" sz="950" dirty="0"/>
          </a:p>
        </p:txBody>
      </p:sp>
      <p:sp>
        <p:nvSpPr>
          <p:cNvPr id="16" name="Text 12"/>
          <p:cNvSpPr/>
          <p:nvPr/>
        </p:nvSpPr>
        <p:spPr>
          <a:xfrm>
            <a:off x="756000" y="482832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7" name="Text 13"/>
          <p:cNvSpPr/>
          <p:nvPr/>
        </p:nvSpPr>
        <p:spPr>
          <a:xfrm>
            <a:off x="900000" y="482832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L’amélioration des systèmes de chauffage ;</a:t>
            </a:r>
            <a:endParaRPr lang="en-US" sz="950" dirty="0"/>
          </a:p>
        </p:txBody>
      </p:sp>
      <p:sp>
        <p:nvSpPr>
          <p:cNvPr id="18" name="Text 14"/>
          <p:cNvSpPr/>
          <p:nvPr/>
        </p:nvSpPr>
        <p:spPr>
          <a:xfrm>
            <a:off x="756000" y="506844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9" name="Text 15"/>
          <p:cNvSpPr/>
          <p:nvPr/>
        </p:nvSpPr>
        <p:spPr>
          <a:xfrm>
            <a:off x="900000" y="506844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L’installation de systèmes de ventilation performants ;</a:t>
            </a:r>
            <a:endParaRPr lang="en-US" sz="950" dirty="0"/>
          </a:p>
        </p:txBody>
      </p:sp>
      <p:sp>
        <p:nvSpPr>
          <p:cNvPr id="20" name="Text 16"/>
          <p:cNvSpPr/>
          <p:nvPr/>
        </p:nvSpPr>
        <p:spPr>
          <a:xfrm>
            <a:off x="756000" y="530856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21" name="Text 17"/>
          <p:cNvSpPr/>
          <p:nvPr/>
        </p:nvSpPr>
        <p:spPr>
          <a:xfrm>
            <a:off x="900000" y="530856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raccordement à un réseau de chaleur.</a:t>
            </a:r>
            <a:endParaRPr lang="en-US" sz="950" dirty="0"/>
          </a:p>
        </p:txBody>
      </p:sp>
      <p:sp>
        <p:nvSpPr>
          <p:cNvPr id="22" name="Text 18"/>
          <p:cNvSpPr/>
          <p:nvPr/>
        </p:nvSpPr>
        <p:spPr>
          <a:xfrm>
            <a:off x="648000" y="558468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50" dirty="0"/>
          </a:p>
        </p:txBody>
      </p:sp>
      <p:sp>
        <p:nvSpPr>
          <p:cNvPr id="23" name="Text 19"/>
          <p:cNvSpPr/>
          <p:nvPr/>
        </p:nvSpPr>
        <p:spPr>
          <a:xfrm>
            <a:off x="648000" y="615384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 Rénovation globale » (BAR-TH-177)</a:t>
            </a:r>
            <a:endParaRPr lang="en-US" sz="1000" dirty="0"/>
          </a:p>
        </p:txBody>
      </p:sp>
      <p:sp>
        <p:nvSpPr>
          <p:cNvPr id="24" name="Text 20"/>
          <p:cNvSpPr/>
          <p:nvPr/>
        </p:nvSpPr>
        <p:spPr>
          <a:xfrm>
            <a:off x="648000" y="6405840"/>
            <a:ext cx="6264000" cy="21099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50" dirty="0"/>
          </a:p>
        </p:txBody>
      </p:sp>
      <p:sp>
        <p:nvSpPr>
          <p:cNvPr id="25" name="Text 21"/>
          <p:cNvSpPr/>
          <p:nvPr/>
        </p:nvSpPr>
        <p:spPr>
          <a:xfrm>
            <a:off x="648000" y="9468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26" name="Text 22"/>
          <p:cNvSpPr/>
          <p:nvPr/>
        </p:nvSpPr>
        <p:spPr>
          <a:xfrm>
            <a:off x="648000" y="9612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Certificats d’économie d’énergie (CEE) | Service Public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807200"/>
            <a:ext cx="3877200" cy="1080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1000" dirty="0"/>
          </a:p>
        </p:txBody>
      </p:sp>
      <p:sp>
        <p:nvSpPr>
          <p:cNvPr id="9" name="Text 6"/>
          <p:cNvSpPr/>
          <p:nvPr/>
        </p:nvSpPr>
        <p:spPr>
          <a:xfrm>
            <a:off x="648000" y="3027600"/>
            <a:ext cx="3877200" cy="666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1000" dirty="0"/>
          </a:p>
        </p:txBody>
      </p:sp>
      <p:pic>
        <p:nvPicPr>
          <p:cNvPr id="10" name="Image 1" descr="Illustration Éco-PTZ">    </p:cNvPr>
          <p:cNvPicPr>
            <a:picLocks noChangeAspect="1"/>
          </p:cNvPicPr>
          <p:nvPr/>
        </p:nvPicPr>
        <p:blipFill>
          <a:blip r:embed="rId2"/>
          <a:srcRect l="0" r="0" t="0" b="0"/>
          <a:stretch/>
        </p:blipFill>
        <p:spPr>
          <a:xfrm>
            <a:off x="5040000" y="1944000"/>
            <a:ext cx="1357200" cy="1461600"/>
          </a:xfrm>
          <a:prstGeom prst="rect">
            <a:avLst/>
          </a:prstGeom>
        </p:spPr>
      </p:pic>
      <p:sp>
        <p:nvSpPr>
          <p:cNvPr id="11" name="Text 7"/>
          <p:cNvSpPr/>
          <p:nvPr/>
        </p:nvSpPr>
        <p:spPr>
          <a:xfrm>
            <a:off x="648000" y="379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a:t>
            </a:r>
            <a:endParaRPr lang="en-US" sz="1000" dirty="0"/>
          </a:p>
        </p:txBody>
      </p:sp>
      <p:sp>
        <p:nvSpPr>
          <p:cNvPr id="12" name="Text 8"/>
          <p:cNvSpPr/>
          <p:nvPr/>
        </p:nvSpPr>
        <p:spPr>
          <a:xfrm>
            <a:off x="648000" y="39492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1000" dirty="0"/>
          </a:p>
        </p:txBody>
      </p:sp>
      <p:sp>
        <p:nvSpPr>
          <p:cNvPr id="13" name="Text 9"/>
          <p:cNvSpPr/>
          <p:nvPr/>
        </p:nvSpPr>
        <p:spPr>
          <a:xfrm>
            <a:off x="756000" y="41040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4" name="Text 10"/>
          <p:cNvSpPr/>
          <p:nvPr/>
        </p:nvSpPr>
        <p:spPr>
          <a:xfrm>
            <a:off x="900000" y="41040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1000" dirty="0"/>
          </a:p>
        </p:txBody>
      </p:sp>
      <p:sp>
        <p:nvSpPr>
          <p:cNvPr id="15" name="Text 11"/>
          <p:cNvSpPr/>
          <p:nvPr/>
        </p:nvSpPr>
        <p:spPr>
          <a:xfrm>
            <a:off x="756000" y="42552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6" name="Text 12"/>
          <p:cNvSpPr/>
          <p:nvPr/>
        </p:nvSpPr>
        <p:spPr>
          <a:xfrm>
            <a:off x="900000" y="42552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1000" dirty="0"/>
          </a:p>
        </p:txBody>
      </p:sp>
      <p:sp>
        <p:nvSpPr>
          <p:cNvPr id="17" name="Text 13"/>
          <p:cNvSpPr/>
          <p:nvPr/>
        </p:nvSpPr>
        <p:spPr>
          <a:xfrm>
            <a:off x="756000" y="4406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8" name="Text 14"/>
          <p:cNvSpPr/>
          <p:nvPr/>
        </p:nvSpPr>
        <p:spPr>
          <a:xfrm>
            <a:off x="900000" y="4406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1000" dirty="0"/>
          </a:p>
        </p:txBody>
      </p:sp>
      <p:sp>
        <p:nvSpPr>
          <p:cNvPr id="19" name="Text 15"/>
          <p:cNvSpPr/>
          <p:nvPr/>
        </p:nvSpPr>
        <p:spPr>
          <a:xfrm>
            <a:off x="756000" y="45576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0" name="Text 16"/>
          <p:cNvSpPr/>
          <p:nvPr/>
        </p:nvSpPr>
        <p:spPr>
          <a:xfrm>
            <a:off x="900000" y="45576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1000" dirty="0"/>
          </a:p>
        </p:txBody>
      </p:sp>
      <p:sp>
        <p:nvSpPr>
          <p:cNvPr id="21" name="Text 17"/>
          <p:cNvSpPr/>
          <p:nvPr/>
        </p:nvSpPr>
        <p:spPr>
          <a:xfrm>
            <a:off x="648000" y="48636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engagés doivent permettre :</a:t>
            </a:r>
            <a:endParaRPr lang="en-US" sz="1000" dirty="0"/>
          </a:p>
        </p:txBody>
      </p:sp>
      <p:sp>
        <p:nvSpPr>
          <p:cNvPr id="22" name="Text 18"/>
          <p:cNvSpPr/>
          <p:nvPr/>
        </p:nvSpPr>
        <p:spPr>
          <a:xfrm>
            <a:off x="756000" y="5018400"/>
            <a:ext cx="108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3" name="Text 19"/>
          <p:cNvSpPr/>
          <p:nvPr/>
        </p:nvSpPr>
        <p:spPr>
          <a:xfrm>
            <a:off x="900000" y="5018400"/>
            <a:ext cx="6012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1000" dirty="0"/>
          </a:p>
        </p:txBody>
      </p:sp>
      <p:sp>
        <p:nvSpPr>
          <p:cNvPr id="24" name="Text 20"/>
          <p:cNvSpPr/>
          <p:nvPr/>
        </p:nvSpPr>
        <p:spPr>
          <a:xfrm>
            <a:off x="756000" y="5342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5" name="Text 21"/>
          <p:cNvSpPr/>
          <p:nvPr/>
        </p:nvSpPr>
        <p:spPr>
          <a:xfrm>
            <a:off x="900000" y="5342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1000" dirty="0"/>
          </a:p>
        </p:txBody>
      </p:sp>
      <p:sp>
        <p:nvSpPr>
          <p:cNvPr id="26" name="Text 22"/>
          <p:cNvSpPr/>
          <p:nvPr/>
        </p:nvSpPr>
        <p:spPr>
          <a:xfrm>
            <a:off x="648000" y="577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Montant et durée du prêt</a:t>
            </a:r>
            <a:endParaRPr lang="en-US" sz="1000" dirty="0"/>
          </a:p>
        </p:txBody>
      </p:sp>
      <p:sp>
        <p:nvSpPr>
          <p:cNvPr id="27" name="Text 23"/>
          <p:cNvSpPr/>
          <p:nvPr/>
        </p:nvSpPr>
        <p:spPr>
          <a:xfrm>
            <a:off x="648000" y="59328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1000" dirty="0"/>
          </a:p>
        </p:txBody>
      </p:sp>
      <p:sp>
        <p:nvSpPr>
          <p:cNvPr id="28" name="Text 24"/>
          <p:cNvSpPr/>
          <p:nvPr/>
        </p:nvSpPr>
        <p:spPr>
          <a:xfrm>
            <a:off x="648000" y="69984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Fonctionnement en copropriété</a:t>
            </a:r>
            <a:endParaRPr lang="en-US" sz="1000" dirty="0"/>
          </a:p>
        </p:txBody>
      </p:sp>
      <p:sp>
        <p:nvSpPr>
          <p:cNvPr id="29" name="Text 25"/>
          <p:cNvSpPr/>
          <p:nvPr/>
        </p:nvSpPr>
        <p:spPr>
          <a:xfrm>
            <a:off x="648000" y="71496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1000" dirty="0"/>
          </a:p>
        </p:txBody>
      </p:sp>
      <p:sp>
        <p:nvSpPr>
          <p:cNvPr id="30" name="Text 26"/>
          <p:cNvSpPr/>
          <p:nvPr/>
        </p:nvSpPr>
        <p:spPr>
          <a:xfrm>
            <a:off x="648000" y="82188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À retenir</a:t>
            </a:r>
            <a:endParaRPr lang="en-US" sz="1000" dirty="0"/>
          </a:p>
        </p:txBody>
      </p:sp>
      <p:sp>
        <p:nvSpPr>
          <p:cNvPr id="31" name="Text 27"/>
          <p:cNvSpPr/>
          <p:nvPr/>
        </p:nvSpPr>
        <p:spPr>
          <a:xfrm>
            <a:off x="648000" y="8370000"/>
            <a:ext cx="6264000" cy="540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1000" dirty="0"/>
          </a:p>
        </p:txBody>
      </p:sp>
      <p:sp>
        <p:nvSpPr>
          <p:cNvPr id="32" name="Text 28"/>
          <p:cNvSpPr/>
          <p:nvPr/>
        </p:nvSpPr>
        <p:spPr>
          <a:xfrm>
            <a:off x="648000" y="91332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 en savoir plus :</a:t>
            </a:r>
            <a:endParaRPr lang="en-US" sz="1000" dirty="0"/>
          </a:p>
        </p:txBody>
      </p:sp>
      <p:sp>
        <p:nvSpPr>
          <p:cNvPr id="33" name="Text 29"/>
          <p:cNvSpPr/>
          <p:nvPr/>
        </p:nvSpPr>
        <p:spPr>
          <a:xfrm>
            <a:off x="648000" y="9291600"/>
            <a:ext cx="6264000" cy="180000"/>
          </a:xfrm>
          <a:prstGeom prst="rect">
            <a:avLst/>
          </a:prstGeom>
          <a:noFill/>
          <a:ln/>
        </p:spPr>
        <p:txBody>
          <a:bodyPr wrap="square" lIns="0" tIns="0" rIns="0" bIns="0" rtlCol="0" anchor="t"/>
          <a:lstStyle/>
          <a:p>
            <a:pPr indent="0" marL="0">
              <a:buNone/>
            </a:pPr>
            <a:r>
              <a:rPr lang="en-US" sz="1000" dirty="0">
                <a:solidFill>
                  <a:srgbClr val="4B8BA5"/>
                </a:solidFill>
                <a:uFill>
                  <a:solidFill>
                    <a:srgbClr val="4B8BA5"/>
                  </a:solidFill>
                </a:uFill>
                <a:latin typeface="Aptos" pitchFamily="34" charset="0"/>
                <a:ea typeface="Aptos" pitchFamily="34" charset="-122"/>
                <a:cs typeface="Aptos" pitchFamily="34" charset="-120"/>
              </a:rPr>
              <a:t>Éco-prêt à taux zéro (éco-PTZ) Copropriétés | Service Public</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pic>
        <p:nvPicPr>
          <p:cNvPr id="8" name="Image 1" descr="Illustration TVA à 5,5 %">    </p:cNvPr>
          <p:cNvPicPr>
            <a:picLocks noChangeAspect="1"/>
          </p:cNvPicPr>
          <p:nvPr/>
        </p:nvPicPr>
        <p:blipFill>
          <a:blip r:embed="rId2"/>
          <a:srcRect l="0" r="0" t="0" b="0"/>
          <a:stretch/>
        </p:blipFill>
        <p:spPr>
          <a:xfrm>
            <a:off x="4795200" y="1641600"/>
            <a:ext cx="1296000" cy="1332000"/>
          </a:xfrm>
          <a:prstGeom prst="rect">
            <a:avLst/>
          </a:prstGeom>
        </p:spPr>
      </p:pic>
      <p:sp>
        <p:nvSpPr>
          <p:cNvPr id="9" name="Text 5"/>
          <p:cNvSpPr/>
          <p:nvPr/>
        </p:nvSpPr>
        <p:spPr>
          <a:xfrm>
            <a:off x="648000" y="1710000"/>
            <a:ext cx="4032000" cy="8928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1000" dirty="0"/>
          </a:p>
        </p:txBody>
      </p:sp>
      <p:sp>
        <p:nvSpPr>
          <p:cNvPr id="10" name="Text 6"/>
          <p:cNvSpPr/>
          <p:nvPr/>
        </p:nvSpPr>
        <p:spPr>
          <a:xfrm>
            <a:off x="648000" y="327600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1" name="Text 7"/>
          <p:cNvSpPr/>
          <p:nvPr/>
        </p:nvSpPr>
        <p:spPr>
          <a:xfrm>
            <a:off x="648000" y="351972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2"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4"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6"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8"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20" name="Text 16"/>
          <p:cNvSpPr/>
          <p:nvPr/>
        </p:nvSpPr>
        <p:spPr>
          <a:xfrm>
            <a:off x="648000" y="473292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1" name="Text 17"/>
          <p:cNvSpPr/>
          <p:nvPr/>
        </p:nvSpPr>
        <p:spPr>
          <a:xfrm>
            <a:off x="648000" y="497664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2"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4"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5"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6"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7"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8"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9"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30"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1"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2"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3"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4"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5"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6" name="Text 32"/>
          <p:cNvSpPr/>
          <p:nvPr/>
        </p:nvSpPr>
        <p:spPr>
          <a:xfrm>
            <a:off x="648000" y="688536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7" name="Text 33"/>
          <p:cNvSpPr/>
          <p:nvPr/>
        </p:nvSpPr>
        <p:spPr>
          <a:xfrm>
            <a:off x="648000" y="7129080"/>
            <a:ext cx="6264000" cy="66096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8" name="Text 34"/>
          <p:cNvSpPr/>
          <p:nvPr/>
        </p:nvSpPr>
        <p:spPr>
          <a:xfrm>
            <a:off x="648000" y="782604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9" name="Text 35"/>
          <p:cNvSpPr/>
          <p:nvPr/>
        </p:nvSpPr>
        <p:spPr>
          <a:xfrm>
            <a:off x="648000" y="8069760"/>
            <a:ext cx="6264000" cy="51192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40" name="Text 36"/>
          <p:cNvSpPr/>
          <p:nvPr/>
        </p:nvSpPr>
        <p:spPr>
          <a:xfrm>
            <a:off x="648000" y="9000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41" name="Text 37"/>
          <p:cNvSpPr/>
          <p:nvPr/>
        </p:nvSpPr>
        <p:spPr>
          <a:xfrm>
            <a:off x="648000" y="9144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TVA à taux réduit : pour quels travaux ? | economie.gouv.fr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692000"/>
            <a:ext cx="1332000" cy="864000"/>
          </a:xfrm>
          <a:prstGeom prst="rect">
            <a:avLst/>
          </a:prstGeom>
          <a:solidFill>
            <a:srgbClr val="FFFFFF"/>
          </a:solidFill>
          <a:ln w="6985">
            <a:solidFill>
              <a:srgbClr val="FFFFFF"/>
            </a:solidFill>
            <a:prstDash val="solid"/>
          </a:ln>
        </p:spPr>
      </p:sp>
      <p:sp>
        <p:nvSpPr>
          <p:cNvPr id="9" name="Text 6"/>
          <p:cNvSpPr/>
          <p:nvPr/>
        </p:nvSpPr>
        <p:spPr>
          <a:xfrm>
            <a:off x="601200" y="1731600"/>
            <a:ext cx="1209600" cy="784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692000"/>
            <a:ext cx="1287000" cy="864000"/>
          </a:xfrm>
          <a:prstGeom prst="rect">
            <a:avLst/>
          </a:prstGeom>
          <a:solidFill>
            <a:srgbClr val="0874BD"/>
          </a:solidFill>
          <a:ln w="6985">
            <a:solidFill>
              <a:srgbClr val="202020"/>
            </a:solidFill>
            <a:prstDash val="solid"/>
          </a:ln>
        </p:spPr>
      </p:sp>
      <p:sp>
        <p:nvSpPr>
          <p:cNvPr id="11" name="Text 8"/>
          <p:cNvSpPr/>
          <p:nvPr/>
        </p:nvSpPr>
        <p:spPr>
          <a:xfrm>
            <a:off x="1933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12" name="Shape 9"/>
          <p:cNvSpPr/>
          <p:nvPr/>
        </p:nvSpPr>
        <p:spPr>
          <a:xfrm>
            <a:off x="3159000" y="1692000"/>
            <a:ext cx="1287000" cy="864000"/>
          </a:xfrm>
          <a:prstGeom prst="rect">
            <a:avLst/>
          </a:prstGeom>
          <a:solidFill>
            <a:srgbClr val="0874BD"/>
          </a:solidFill>
          <a:ln w="6985">
            <a:solidFill>
              <a:srgbClr val="202020"/>
            </a:solidFill>
            <a:prstDash val="solid"/>
          </a:ln>
        </p:spPr>
      </p:sp>
      <p:sp>
        <p:nvSpPr>
          <p:cNvPr id="13" name="Text 10"/>
          <p:cNvSpPr/>
          <p:nvPr/>
        </p:nvSpPr>
        <p:spPr>
          <a:xfrm>
            <a:off x="3220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14" name="Shape 11"/>
          <p:cNvSpPr/>
          <p:nvPr/>
        </p:nvSpPr>
        <p:spPr>
          <a:xfrm>
            <a:off x="4446000" y="1692000"/>
            <a:ext cx="1287000" cy="864000"/>
          </a:xfrm>
          <a:prstGeom prst="rect">
            <a:avLst/>
          </a:prstGeom>
          <a:solidFill>
            <a:srgbClr val="0874BD"/>
          </a:solidFill>
          <a:ln w="6985">
            <a:solidFill>
              <a:srgbClr val="202020"/>
            </a:solidFill>
            <a:prstDash val="solid"/>
          </a:ln>
        </p:spPr>
      </p:sp>
      <p:sp>
        <p:nvSpPr>
          <p:cNvPr id="15" name="Text 12"/>
          <p:cNvSpPr/>
          <p:nvPr/>
        </p:nvSpPr>
        <p:spPr>
          <a:xfrm>
            <a:off x="4507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16" name="Shape 13"/>
          <p:cNvSpPr/>
          <p:nvPr/>
        </p:nvSpPr>
        <p:spPr>
          <a:xfrm>
            <a:off x="5733000" y="1692000"/>
            <a:ext cx="1287000" cy="864000"/>
          </a:xfrm>
          <a:prstGeom prst="rect">
            <a:avLst/>
          </a:prstGeom>
          <a:solidFill>
            <a:srgbClr val="0874BD"/>
          </a:solidFill>
          <a:ln w="6985">
            <a:solidFill>
              <a:srgbClr val="202020"/>
            </a:solidFill>
            <a:prstDash val="solid"/>
          </a:ln>
        </p:spPr>
      </p:sp>
      <p:sp>
        <p:nvSpPr>
          <p:cNvPr id="17" name="Text 14"/>
          <p:cNvSpPr/>
          <p:nvPr/>
        </p:nvSpPr>
        <p:spPr>
          <a:xfrm>
            <a:off x="5794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18" name="Shape 15"/>
          <p:cNvSpPr/>
          <p:nvPr/>
        </p:nvSpPr>
        <p:spPr>
          <a:xfrm>
            <a:off x="540000" y="2556000"/>
            <a:ext cx="1332000" cy="1728000"/>
          </a:xfrm>
          <a:prstGeom prst="rect">
            <a:avLst/>
          </a:prstGeom>
          <a:solidFill>
            <a:srgbClr val="0874BD"/>
          </a:solidFill>
          <a:ln w="6985">
            <a:solidFill>
              <a:srgbClr val="202020"/>
            </a:solidFill>
            <a:prstDash val="solid"/>
          </a:ln>
        </p:spPr>
      </p:sp>
      <p:sp>
        <p:nvSpPr>
          <p:cNvPr id="19" name="Text 16"/>
          <p:cNvSpPr/>
          <p:nvPr/>
        </p:nvSpPr>
        <p:spPr>
          <a:xfrm>
            <a:off x="601200" y="2595600"/>
            <a:ext cx="1209600" cy="164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20" name="Shape 17"/>
          <p:cNvSpPr/>
          <p:nvPr/>
        </p:nvSpPr>
        <p:spPr>
          <a:xfrm>
            <a:off x="1872000" y="2556000"/>
            <a:ext cx="1287000" cy="1728000"/>
          </a:xfrm>
          <a:prstGeom prst="rect">
            <a:avLst/>
          </a:prstGeom>
          <a:solidFill>
            <a:srgbClr val="149DCE"/>
          </a:solidFill>
          <a:ln w="6985">
            <a:solidFill>
              <a:srgbClr val="202020"/>
            </a:solidFill>
            <a:prstDash val="solid"/>
          </a:ln>
        </p:spPr>
      </p:sp>
      <p:sp>
        <p:nvSpPr>
          <p:cNvPr id="21" name="Text 18"/>
          <p:cNvSpPr/>
          <p:nvPr/>
        </p:nvSpPr>
        <p:spPr>
          <a:xfrm>
            <a:off x="1933200" y="2595600"/>
            <a:ext cx="1164600" cy="1648800"/>
          </a:xfrm>
          <a:prstGeom prst="rect">
            <a:avLst/>
          </a:prstGeom>
          <a:noFill/>
          <a:ln/>
        </p:spPr>
        <p:txBody>
          <a:bodyPr wrap="square" lIns="0" tIns="0" rIns="0" bIns="0" rtlCol="0" anchor="ctr"/>
          <a:lstStyle/>
          <a:p>
            <a:pPr algn="ctr" indent="0" marL="0">
              <a:buNone/>
            </a:pPr>
            <a:endParaRPr lang="en-US" sz="1000" dirty="0"/>
          </a:p>
        </p:txBody>
      </p:sp>
      <p:sp>
        <p:nvSpPr>
          <p:cNvPr id="22" name="Shape 19"/>
          <p:cNvSpPr/>
          <p:nvPr/>
        </p:nvSpPr>
        <p:spPr>
          <a:xfrm>
            <a:off x="3159000" y="2556000"/>
            <a:ext cx="1287000" cy="1728000"/>
          </a:xfrm>
          <a:prstGeom prst="rect">
            <a:avLst/>
          </a:prstGeom>
          <a:solidFill>
            <a:srgbClr val="FFFFFF"/>
          </a:solidFill>
          <a:ln w="6985">
            <a:solidFill>
              <a:srgbClr val="202020"/>
            </a:solidFill>
            <a:prstDash val="solid"/>
          </a:ln>
        </p:spPr>
      </p:sp>
      <p:sp>
        <p:nvSpPr>
          <p:cNvPr id="23" name="Text 20"/>
          <p:cNvSpPr/>
          <p:nvPr/>
        </p:nvSpPr>
        <p:spPr>
          <a:xfrm>
            <a:off x="3220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4" name="Shape 21"/>
          <p:cNvSpPr/>
          <p:nvPr/>
        </p:nvSpPr>
        <p:spPr>
          <a:xfrm>
            <a:off x="4446000" y="2556000"/>
            <a:ext cx="1287000" cy="1728000"/>
          </a:xfrm>
          <a:prstGeom prst="rect">
            <a:avLst/>
          </a:prstGeom>
          <a:solidFill>
            <a:srgbClr val="FFFFFF"/>
          </a:solidFill>
          <a:ln w="6985">
            <a:solidFill>
              <a:srgbClr val="202020"/>
            </a:solidFill>
            <a:prstDash val="solid"/>
          </a:ln>
        </p:spPr>
      </p:sp>
      <p:sp>
        <p:nvSpPr>
          <p:cNvPr id="25" name="Text 22"/>
          <p:cNvSpPr/>
          <p:nvPr/>
        </p:nvSpPr>
        <p:spPr>
          <a:xfrm>
            <a:off x="4518000" y="3060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6" name="Text 23"/>
          <p:cNvSpPr/>
          <p:nvPr/>
        </p:nvSpPr>
        <p:spPr>
          <a:xfrm>
            <a:off x="4518000" y="3420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27" name="Shape 24"/>
          <p:cNvSpPr/>
          <p:nvPr/>
        </p:nvSpPr>
        <p:spPr>
          <a:xfrm>
            <a:off x="5733000" y="2556000"/>
            <a:ext cx="1287000" cy="1728000"/>
          </a:xfrm>
          <a:prstGeom prst="rect">
            <a:avLst/>
          </a:prstGeom>
          <a:solidFill>
            <a:srgbClr val="FFFFFF"/>
          </a:solidFill>
          <a:ln w="6985">
            <a:solidFill>
              <a:srgbClr val="202020"/>
            </a:solidFill>
            <a:prstDash val="solid"/>
          </a:ln>
        </p:spPr>
      </p:sp>
      <p:sp>
        <p:nvSpPr>
          <p:cNvPr id="28" name="Text 25"/>
          <p:cNvSpPr/>
          <p:nvPr/>
        </p:nvSpPr>
        <p:spPr>
          <a:xfrm>
            <a:off x="5794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9" name="Shape 26"/>
          <p:cNvSpPr/>
          <p:nvPr/>
        </p:nvSpPr>
        <p:spPr>
          <a:xfrm>
            <a:off x="540000" y="4284000"/>
            <a:ext cx="1332000" cy="1368000"/>
          </a:xfrm>
          <a:prstGeom prst="rect">
            <a:avLst/>
          </a:prstGeom>
          <a:solidFill>
            <a:srgbClr val="0874BD"/>
          </a:solidFill>
          <a:ln w="6985">
            <a:solidFill>
              <a:srgbClr val="202020"/>
            </a:solidFill>
            <a:prstDash val="solid"/>
          </a:ln>
        </p:spPr>
      </p:sp>
      <p:sp>
        <p:nvSpPr>
          <p:cNvPr id="30" name="Text 27"/>
          <p:cNvSpPr/>
          <p:nvPr/>
        </p:nvSpPr>
        <p:spPr>
          <a:xfrm>
            <a:off x="601200" y="4323600"/>
            <a:ext cx="1209600" cy="128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31" name="Shape 28"/>
          <p:cNvSpPr/>
          <p:nvPr/>
        </p:nvSpPr>
        <p:spPr>
          <a:xfrm>
            <a:off x="1872000" y="4284000"/>
            <a:ext cx="1287000" cy="1368000"/>
          </a:xfrm>
          <a:prstGeom prst="rect">
            <a:avLst/>
          </a:prstGeom>
          <a:solidFill>
            <a:srgbClr val="FFFFFF"/>
          </a:solidFill>
          <a:ln w="6985">
            <a:solidFill>
              <a:srgbClr val="202020"/>
            </a:solidFill>
            <a:prstDash val="solid"/>
          </a:ln>
        </p:spPr>
      </p:sp>
      <p:sp>
        <p:nvSpPr>
          <p:cNvPr id="32" name="Text 29"/>
          <p:cNvSpPr/>
          <p:nvPr/>
        </p:nvSpPr>
        <p:spPr>
          <a:xfrm>
            <a:off x="1933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3" name="Shape 30"/>
          <p:cNvSpPr/>
          <p:nvPr/>
        </p:nvSpPr>
        <p:spPr>
          <a:xfrm>
            <a:off x="3159000" y="4284000"/>
            <a:ext cx="1287000" cy="1368000"/>
          </a:xfrm>
          <a:prstGeom prst="rect">
            <a:avLst/>
          </a:prstGeom>
          <a:solidFill>
            <a:srgbClr val="149DCE"/>
          </a:solidFill>
          <a:ln w="6985">
            <a:solidFill>
              <a:srgbClr val="202020"/>
            </a:solidFill>
            <a:prstDash val="solid"/>
          </a:ln>
        </p:spPr>
      </p:sp>
      <p:sp>
        <p:nvSpPr>
          <p:cNvPr id="34" name="Text 31"/>
          <p:cNvSpPr/>
          <p:nvPr/>
        </p:nvSpPr>
        <p:spPr>
          <a:xfrm>
            <a:off x="3220200" y="4323600"/>
            <a:ext cx="1164600" cy="128880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4446000" y="4284000"/>
            <a:ext cx="1287000" cy="1368000"/>
          </a:xfrm>
          <a:prstGeom prst="rect">
            <a:avLst/>
          </a:prstGeom>
          <a:solidFill>
            <a:srgbClr val="FFFFFF"/>
          </a:solidFill>
          <a:ln w="6985">
            <a:solidFill>
              <a:srgbClr val="202020"/>
            </a:solidFill>
            <a:prstDash val="solid"/>
          </a:ln>
        </p:spPr>
      </p:sp>
      <p:sp>
        <p:nvSpPr>
          <p:cNvPr id="36" name="Text 33"/>
          <p:cNvSpPr/>
          <p:nvPr/>
        </p:nvSpPr>
        <p:spPr>
          <a:xfrm>
            <a:off x="4507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7" name="Shape 34"/>
          <p:cNvSpPr/>
          <p:nvPr/>
        </p:nvSpPr>
        <p:spPr>
          <a:xfrm>
            <a:off x="5733000" y="4284000"/>
            <a:ext cx="1287000" cy="1368000"/>
          </a:xfrm>
          <a:prstGeom prst="rect">
            <a:avLst/>
          </a:prstGeom>
          <a:solidFill>
            <a:srgbClr val="FFFFFF"/>
          </a:solidFill>
          <a:ln w="6985">
            <a:solidFill>
              <a:srgbClr val="202020"/>
            </a:solidFill>
            <a:prstDash val="solid"/>
          </a:ln>
        </p:spPr>
      </p:sp>
      <p:sp>
        <p:nvSpPr>
          <p:cNvPr id="38" name="Text 35"/>
          <p:cNvSpPr/>
          <p:nvPr/>
        </p:nvSpPr>
        <p:spPr>
          <a:xfrm>
            <a:off x="5794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9" name="Shape 36"/>
          <p:cNvSpPr/>
          <p:nvPr/>
        </p:nvSpPr>
        <p:spPr>
          <a:xfrm>
            <a:off x="540000" y="5652000"/>
            <a:ext cx="1332000" cy="1584000"/>
          </a:xfrm>
          <a:prstGeom prst="rect">
            <a:avLst/>
          </a:prstGeom>
          <a:solidFill>
            <a:srgbClr val="0874BD"/>
          </a:solidFill>
          <a:ln w="6985">
            <a:solidFill>
              <a:srgbClr val="202020"/>
            </a:solidFill>
            <a:prstDash val="solid"/>
          </a:ln>
        </p:spPr>
      </p:sp>
      <p:sp>
        <p:nvSpPr>
          <p:cNvPr id="40" name="Text 37"/>
          <p:cNvSpPr/>
          <p:nvPr/>
        </p:nvSpPr>
        <p:spPr>
          <a:xfrm>
            <a:off x="601200" y="5691600"/>
            <a:ext cx="1209600" cy="150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41" name="Shape 38"/>
          <p:cNvSpPr/>
          <p:nvPr/>
        </p:nvSpPr>
        <p:spPr>
          <a:xfrm>
            <a:off x="1872000" y="5652000"/>
            <a:ext cx="1287000" cy="1584000"/>
          </a:xfrm>
          <a:prstGeom prst="rect">
            <a:avLst/>
          </a:prstGeom>
          <a:solidFill>
            <a:srgbClr val="FFFFFF"/>
          </a:solidFill>
          <a:ln w="6985">
            <a:solidFill>
              <a:srgbClr val="202020"/>
            </a:solidFill>
            <a:prstDash val="solid"/>
          </a:ln>
        </p:spPr>
      </p:sp>
      <p:sp>
        <p:nvSpPr>
          <p:cNvPr id="42" name="Text 39"/>
          <p:cNvSpPr/>
          <p:nvPr/>
        </p:nvSpPr>
        <p:spPr>
          <a:xfrm>
            <a:off x="1944000" y="6012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3" name="Text 40"/>
          <p:cNvSpPr/>
          <p:nvPr/>
        </p:nvSpPr>
        <p:spPr>
          <a:xfrm>
            <a:off x="1944000" y="6372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44" name="Shape 41"/>
          <p:cNvSpPr/>
          <p:nvPr/>
        </p:nvSpPr>
        <p:spPr>
          <a:xfrm>
            <a:off x="3159000" y="5652000"/>
            <a:ext cx="1287000" cy="1584000"/>
          </a:xfrm>
          <a:prstGeom prst="rect">
            <a:avLst/>
          </a:prstGeom>
          <a:solidFill>
            <a:srgbClr val="FFFFFF"/>
          </a:solidFill>
          <a:ln w="6985">
            <a:solidFill>
              <a:srgbClr val="202020"/>
            </a:solidFill>
            <a:prstDash val="solid"/>
          </a:ln>
        </p:spPr>
      </p:sp>
      <p:sp>
        <p:nvSpPr>
          <p:cNvPr id="45" name="Text 42"/>
          <p:cNvSpPr/>
          <p:nvPr/>
        </p:nvSpPr>
        <p:spPr>
          <a:xfrm>
            <a:off x="3220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6" name="Shape 43"/>
          <p:cNvSpPr/>
          <p:nvPr/>
        </p:nvSpPr>
        <p:spPr>
          <a:xfrm>
            <a:off x="4446000" y="5652000"/>
            <a:ext cx="1287000" cy="1584000"/>
          </a:xfrm>
          <a:prstGeom prst="rect">
            <a:avLst/>
          </a:prstGeom>
          <a:solidFill>
            <a:srgbClr val="149DCE"/>
          </a:solidFill>
          <a:ln w="6985">
            <a:solidFill>
              <a:srgbClr val="202020"/>
            </a:solidFill>
            <a:prstDash val="solid"/>
          </a:ln>
        </p:spPr>
      </p:sp>
      <p:sp>
        <p:nvSpPr>
          <p:cNvPr id="47" name="Text 44"/>
          <p:cNvSpPr/>
          <p:nvPr/>
        </p:nvSpPr>
        <p:spPr>
          <a:xfrm>
            <a:off x="4507200" y="5691600"/>
            <a:ext cx="1164600" cy="1504800"/>
          </a:xfrm>
          <a:prstGeom prst="rect">
            <a:avLst/>
          </a:prstGeom>
          <a:noFill/>
          <a:ln/>
        </p:spPr>
        <p:txBody>
          <a:bodyPr wrap="square" lIns="0" tIns="0" rIns="0" bIns="0" rtlCol="0" anchor="ctr"/>
          <a:lstStyle/>
          <a:p>
            <a:pPr algn="ctr" indent="0" marL="0">
              <a:buNone/>
            </a:pPr>
            <a:endParaRPr lang="en-US" sz="1000" dirty="0"/>
          </a:p>
        </p:txBody>
      </p:sp>
      <p:sp>
        <p:nvSpPr>
          <p:cNvPr id="48" name="Shape 45"/>
          <p:cNvSpPr/>
          <p:nvPr/>
        </p:nvSpPr>
        <p:spPr>
          <a:xfrm>
            <a:off x="5733000" y="5652000"/>
            <a:ext cx="1287000" cy="1584000"/>
          </a:xfrm>
          <a:prstGeom prst="rect">
            <a:avLst/>
          </a:prstGeom>
          <a:solidFill>
            <a:srgbClr val="FFFFFF"/>
          </a:solidFill>
          <a:ln w="6985">
            <a:solidFill>
              <a:srgbClr val="202020"/>
            </a:solidFill>
            <a:prstDash val="solid"/>
          </a:ln>
        </p:spPr>
      </p:sp>
      <p:sp>
        <p:nvSpPr>
          <p:cNvPr id="49" name="Text 46"/>
          <p:cNvSpPr/>
          <p:nvPr/>
        </p:nvSpPr>
        <p:spPr>
          <a:xfrm>
            <a:off x="5794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0" name="Shape 47"/>
          <p:cNvSpPr/>
          <p:nvPr/>
        </p:nvSpPr>
        <p:spPr>
          <a:xfrm>
            <a:off x="540000" y="7236000"/>
            <a:ext cx="1332000" cy="1080000"/>
          </a:xfrm>
          <a:prstGeom prst="rect">
            <a:avLst/>
          </a:prstGeom>
          <a:solidFill>
            <a:srgbClr val="0874BD"/>
          </a:solidFill>
          <a:ln w="6985">
            <a:solidFill>
              <a:srgbClr val="202020"/>
            </a:solidFill>
            <a:prstDash val="solid"/>
          </a:ln>
        </p:spPr>
      </p:sp>
      <p:sp>
        <p:nvSpPr>
          <p:cNvPr id="51" name="Text 48"/>
          <p:cNvSpPr/>
          <p:nvPr/>
        </p:nvSpPr>
        <p:spPr>
          <a:xfrm>
            <a:off x="601200" y="7275600"/>
            <a:ext cx="1209600" cy="1000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52" name="Shape 49"/>
          <p:cNvSpPr/>
          <p:nvPr/>
        </p:nvSpPr>
        <p:spPr>
          <a:xfrm>
            <a:off x="1872000" y="7236000"/>
            <a:ext cx="1287000" cy="1080000"/>
          </a:xfrm>
          <a:prstGeom prst="rect">
            <a:avLst/>
          </a:prstGeom>
          <a:solidFill>
            <a:srgbClr val="FFFFFF"/>
          </a:solidFill>
          <a:ln w="6985">
            <a:solidFill>
              <a:srgbClr val="202020"/>
            </a:solidFill>
            <a:prstDash val="solid"/>
          </a:ln>
        </p:spPr>
      </p:sp>
      <p:sp>
        <p:nvSpPr>
          <p:cNvPr id="53" name="Text 50"/>
          <p:cNvSpPr/>
          <p:nvPr/>
        </p:nvSpPr>
        <p:spPr>
          <a:xfrm>
            <a:off x="1933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4" name="Shape 51"/>
          <p:cNvSpPr/>
          <p:nvPr/>
        </p:nvSpPr>
        <p:spPr>
          <a:xfrm>
            <a:off x="3159000" y="7236000"/>
            <a:ext cx="1287000" cy="1080000"/>
          </a:xfrm>
          <a:prstGeom prst="rect">
            <a:avLst/>
          </a:prstGeom>
          <a:solidFill>
            <a:srgbClr val="FFFFFF"/>
          </a:solidFill>
          <a:ln w="6985">
            <a:solidFill>
              <a:srgbClr val="202020"/>
            </a:solidFill>
            <a:prstDash val="solid"/>
          </a:ln>
        </p:spPr>
      </p:sp>
      <p:sp>
        <p:nvSpPr>
          <p:cNvPr id="55" name="Text 52"/>
          <p:cNvSpPr/>
          <p:nvPr/>
        </p:nvSpPr>
        <p:spPr>
          <a:xfrm>
            <a:off x="3220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6" name="Shape 53"/>
          <p:cNvSpPr/>
          <p:nvPr/>
        </p:nvSpPr>
        <p:spPr>
          <a:xfrm>
            <a:off x="4446000" y="7236000"/>
            <a:ext cx="1287000" cy="1080000"/>
          </a:xfrm>
          <a:prstGeom prst="rect">
            <a:avLst/>
          </a:prstGeom>
          <a:solidFill>
            <a:srgbClr val="FFFFFF"/>
          </a:solidFill>
          <a:ln w="6985">
            <a:solidFill>
              <a:srgbClr val="202020"/>
            </a:solidFill>
            <a:prstDash val="solid"/>
          </a:ln>
        </p:spPr>
      </p:sp>
      <p:sp>
        <p:nvSpPr>
          <p:cNvPr id="57" name="Text 54"/>
          <p:cNvSpPr/>
          <p:nvPr/>
        </p:nvSpPr>
        <p:spPr>
          <a:xfrm>
            <a:off x="4507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8" name="Shape 55"/>
          <p:cNvSpPr/>
          <p:nvPr/>
        </p:nvSpPr>
        <p:spPr>
          <a:xfrm>
            <a:off x="5733000" y="7236000"/>
            <a:ext cx="1287000" cy="1080000"/>
          </a:xfrm>
          <a:prstGeom prst="rect">
            <a:avLst/>
          </a:prstGeom>
          <a:solidFill>
            <a:srgbClr val="149DCE"/>
          </a:solidFill>
          <a:ln w="6985">
            <a:solidFill>
              <a:srgbClr val="202020"/>
            </a:solidFill>
            <a:prstDash val="solid"/>
          </a:ln>
        </p:spPr>
      </p:sp>
      <p:sp>
        <p:nvSpPr>
          <p:cNvPr id="59" name="Text 56"/>
          <p:cNvSpPr/>
          <p:nvPr/>
        </p:nvSpPr>
        <p:spPr>
          <a:xfrm>
            <a:off x="5794200" y="7275600"/>
            <a:ext cx="1164600" cy="10008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Text 5"/>
          <p:cNvSpPr/>
          <p:nvPr/>
        </p:nvSpPr>
        <p:spPr>
          <a:xfrm>
            <a:off x="648000" y="176400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1 - Réalisation du PPPT et du DPE collectif</a:t>
            </a:r>
            <a:endParaRPr lang="en-US" sz="940" dirty="0"/>
          </a:p>
        </p:txBody>
      </p:sp>
      <p:sp>
        <p:nvSpPr>
          <p:cNvPr id="9" name="Text 6"/>
          <p:cNvSpPr/>
          <p:nvPr/>
        </p:nvSpPr>
        <p:spPr>
          <a:xfrm>
            <a:off x="648000" y="195926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10" dirty="0"/>
          </a:p>
        </p:txBody>
      </p:sp>
      <p:sp>
        <p:nvSpPr>
          <p:cNvPr id="10" name="Text 7"/>
          <p:cNvSpPr/>
          <p:nvPr/>
        </p:nvSpPr>
        <p:spPr>
          <a:xfrm>
            <a:off x="648000" y="245095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2 - Réalisation de l’audit énergétique</a:t>
            </a:r>
            <a:endParaRPr lang="en-US" sz="940" dirty="0"/>
          </a:p>
        </p:txBody>
      </p:sp>
      <p:sp>
        <p:nvSpPr>
          <p:cNvPr id="11" name="Text 8"/>
          <p:cNvSpPr/>
          <p:nvPr/>
        </p:nvSpPr>
        <p:spPr>
          <a:xfrm>
            <a:off x="648000" y="264621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10" dirty="0"/>
          </a:p>
        </p:txBody>
      </p:sp>
      <p:sp>
        <p:nvSpPr>
          <p:cNvPr id="12" name="Text 9"/>
          <p:cNvSpPr/>
          <p:nvPr/>
        </p:nvSpPr>
        <p:spPr>
          <a:xfrm>
            <a:off x="648000" y="313790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3 - Choix d’un scénario de rénovation</a:t>
            </a:r>
            <a:endParaRPr lang="en-US" sz="940" dirty="0"/>
          </a:p>
        </p:txBody>
      </p:sp>
      <p:sp>
        <p:nvSpPr>
          <p:cNvPr id="13" name="Text 10"/>
          <p:cNvSpPr/>
          <p:nvPr/>
        </p:nvSpPr>
        <p:spPr>
          <a:xfrm>
            <a:off x="648000" y="3333168"/>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10" dirty="0"/>
          </a:p>
        </p:txBody>
      </p:sp>
      <p:sp>
        <p:nvSpPr>
          <p:cNvPr id="14" name="Text 11"/>
          <p:cNvSpPr/>
          <p:nvPr/>
        </p:nvSpPr>
        <p:spPr>
          <a:xfrm>
            <a:off x="648000" y="367416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4 - Désignation d’un Assistant à Maîtrise d’Ouvrage (AMO)</a:t>
            </a:r>
            <a:endParaRPr lang="en-US" sz="940" dirty="0"/>
          </a:p>
        </p:txBody>
      </p:sp>
      <p:sp>
        <p:nvSpPr>
          <p:cNvPr id="15" name="Text 12"/>
          <p:cNvSpPr/>
          <p:nvPr/>
        </p:nvSpPr>
        <p:spPr>
          <a:xfrm>
            <a:off x="648000" y="386942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10" dirty="0"/>
          </a:p>
        </p:txBody>
      </p:sp>
      <p:sp>
        <p:nvSpPr>
          <p:cNvPr id="16" name="Text 13"/>
          <p:cNvSpPr/>
          <p:nvPr/>
        </p:nvSpPr>
        <p:spPr>
          <a:xfrm>
            <a:off x="648000" y="436111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5 - Désignation d’un Maître d’Œuvre (MOE)</a:t>
            </a:r>
            <a:endParaRPr lang="en-US" sz="940" dirty="0"/>
          </a:p>
        </p:txBody>
      </p:sp>
      <p:sp>
        <p:nvSpPr>
          <p:cNvPr id="17" name="Text 14"/>
          <p:cNvSpPr/>
          <p:nvPr/>
        </p:nvSpPr>
        <p:spPr>
          <a:xfrm>
            <a:off x="648000" y="455637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10" dirty="0"/>
          </a:p>
        </p:txBody>
      </p:sp>
      <p:sp>
        <p:nvSpPr>
          <p:cNvPr id="18" name="Text 15"/>
          <p:cNvSpPr/>
          <p:nvPr/>
        </p:nvSpPr>
        <p:spPr>
          <a:xfrm>
            <a:off x="648000" y="504806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6 - Consultation des entreprises</a:t>
            </a:r>
            <a:endParaRPr lang="en-US" sz="940" dirty="0"/>
          </a:p>
        </p:txBody>
      </p:sp>
      <p:sp>
        <p:nvSpPr>
          <p:cNvPr id="19" name="Text 16"/>
          <p:cNvSpPr/>
          <p:nvPr/>
        </p:nvSpPr>
        <p:spPr>
          <a:xfrm>
            <a:off x="648000" y="5243328"/>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10" dirty="0"/>
          </a:p>
        </p:txBody>
      </p:sp>
      <p:sp>
        <p:nvSpPr>
          <p:cNvPr id="20" name="Text 17"/>
          <p:cNvSpPr/>
          <p:nvPr/>
        </p:nvSpPr>
        <p:spPr>
          <a:xfrm>
            <a:off x="648000" y="573501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7 - Finalisation du plan de financement</a:t>
            </a:r>
            <a:endParaRPr lang="en-US" sz="940" dirty="0"/>
          </a:p>
        </p:txBody>
      </p:sp>
      <p:sp>
        <p:nvSpPr>
          <p:cNvPr id="21" name="Text 18"/>
          <p:cNvSpPr/>
          <p:nvPr/>
        </p:nvSpPr>
        <p:spPr>
          <a:xfrm>
            <a:off x="648000" y="593028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10" dirty="0"/>
          </a:p>
        </p:txBody>
      </p:sp>
      <p:sp>
        <p:nvSpPr>
          <p:cNvPr id="22" name="Text 19"/>
          <p:cNvSpPr/>
          <p:nvPr/>
        </p:nvSpPr>
        <p:spPr>
          <a:xfrm>
            <a:off x="648000" y="627127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8 - Vote des travaux en assemblée générale</a:t>
            </a:r>
            <a:endParaRPr lang="en-US" sz="940" dirty="0"/>
          </a:p>
        </p:txBody>
      </p:sp>
      <p:sp>
        <p:nvSpPr>
          <p:cNvPr id="23" name="Text 20"/>
          <p:cNvSpPr/>
          <p:nvPr/>
        </p:nvSpPr>
        <p:spPr>
          <a:xfrm>
            <a:off x="648000" y="6466536"/>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10" dirty="0"/>
          </a:p>
        </p:txBody>
      </p:sp>
      <p:sp>
        <p:nvSpPr>
          <p:cNvPr id="24" name="Text 21"/>
          <p:cNvSpPr/>
          <p:nvPr/>
        </p:nvSpPr>
        <p:spPr>
          <a:xfrm>
            <a:off x="648000" y="6807528"/>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9 - Dépôt et validation des demandes d’aides</a:t>
            </a:r>
            <a:endParaRPr lang="en-US" sz="940" dirty="0"/>
          </a:p>
        </p:txBody>
      </p:sp>
      <p:sp>
        <p:nvSpPr>
          <p:cNvPr id="25" name="Text 22"/>
          <p:cNvSpPr/>
          <p:nvPr/>
        </p:nvSpPr>
        <p:spPr>
          <a:xfrm>
            <a:off x="648000" y="7002792"/>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10" dirty="0"/>
          </a:p>
        </p:txBody>
      </p:sp>
      <p:sp>
        <p:nvSpPr>
          <p:cNvPr id="26" name="Text 23"/>
          <p:cNvSpPr/>
          <p:nvPr/>
        </p:nvSpPr>
        <p:spPr>
          <a:xfrm>
            <a:off x="648000" y="749448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10 - Réalisation et suivi des travaux</a:t>
            </a:r>
            <a:endParaRPr lang="en-US" sz="940" dirty="0"/>
          </a:p>
        </p:txBody>
      </p:sp>
      <p:sp>
        <p:nvSpPr>
          <p:cNvPr id="27" name="Text 24"/>
          <p:cNvSpPr/>
          <p:nvPr/>
        </p:nvSpPr>
        <p:spPr>
          <a:xfrm>
            <a:off x="648000" y="7689744"/>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10" dirty="0"/>
          </a:p>
        </p:txBody>
      </p:sp>
      <p:sp>
        <p:nvSpPr>
          <p:cNvPr id="28" name="Text 25"/>
          <p:cNvSpPr/>
          <p:nvPr/>
        </p:nvSpPr>
        <p:spPr>
          <a:xfrm>
            <a:off x="648000" y="803073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11 - Réception des travaux et versement des aides</a:t>
            </a:r>
            <a:endParaRPr lang="en-US" sz="940" dirty="0"/>
          </a:p>
        </p:txBody>
      </p:sp>
      <p:sp>
        <p:nvSpPr>
          <p:cNvPr id="29" name="Text 26"/>
          <p:cNvSpPr/>
          <p:nvPr/>
        </p:nvSpPr>
        <p:spPr>
          <a:xfrm>
            <a:off x="648000" y="822600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10" dirty="0"/>
          </a:p>
        </p:txBody>
      </p:sp>
      <p:sp>
        <p:nvSpPr>
          <p:cNvPr id="30" name="Text 27"/>
          <p:cNvSpPr/>
          <p:nvPr/>
        </p:nvSpPr>
        <p:spPr>
          <a:xfrm>
            <a:off x="648000" y="856699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12 - Suivi des performances</a:t>
            </a:r>
            <a:endParaRPr lang="en-US" sz="940" dirty="0"/>
          </a:p>
        </p:txBody>
      </p:sp>
      <p:sp>
        <p:nvSpPr>
          <p:cNvPr id="31" name="Text 28"/>
          <p:cNvSpPr/>
          <p:nvPr/>
        </p:nvSpPr>
        <p:spPr>
          <a:xfrm>
            <a:off x="648000" y="876225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1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6800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50" dirty="0"/>
          </a:p>
        </p:txBody>
      </p:sp>
      <p:sp>
        <p:nvSpPr>
          <p:cNvPr id="8" name="Text 5"/>
          <p:cNvSpPr/>
          <p:nvPr/>
        </p:nvSpPr>
        <p:spPr>
          <a:xfrm>
            <a:off x="648000" y="1790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648000" y="1973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50" dirty="0"/>
          </a:p>
        </p:txBody>
      </p:sp>
      <p:sp>
        <p:nvSpPr>
          <p:cNvPr id="10" name="Text 7"/>
          <p:cNvSpPr/>
          <p:nvPr/>
        </p:nvSpPr>
        <p:spPr>
          <a:xfrm>
            <a:off x="648000" y="23274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648000" y="25099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50" dirty="0"/>
          </a:p>
        </p:txBody>
      </p:sp>
      <p:sp>
        <p:nvSpPr>
          <p:cNvPr id="12" name="Text 9"/>
          <p:cNvSpPr/>
          <p:nvPr/>
        </p:nvSpPr>
        <p:spPr>
          <a:xfrm>
            <a:off x="648000" y="2864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648000" y="3046680"/>
            <a:ext cx="6264000" cy="4971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50" dirty="0"/>
          </a:p>
        </p:txBody>
      </p:sp>
      <p:sp>
        <p:nvSpPr>
          <p:cNvPr id="14" name="Text 11"/>
          <p:cNvSpPr/>
          <p:nvPr/>
        </p:nvSpPr>
        <p:spPr>
          <a:xfrm>
            <a:off x="648000" y="35582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648000" y="37407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50" dirty="0"/>
          </a:p>
        </p:txBody>
      </p:sp>
      <p:sp>
        <p:nvSpPr>
          <p:cNvPr id="16" name="Text 13"/>
          <p:cNvSpPr/>
          <p:nvPr/>
        </p:nvSpPr>
        <p:spPr>
          <a:xfrm>
            <a:off x="648000" y="4095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648000" y="4277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50" dirty="0"/>
          </a:p>
        </p:txBody>
      </p:sp>
      <p:sp>
        <p:nvSpPr>
          <p:cNvPr id="18" name="Text 15"/>
          <p:cNvSpPr/>
          <p:nvPr/>
        </p:nvSpPr>
        <p:spPr>
          <a:xfrm>
            <a:off x="648000" y="46317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648000" y="48142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50" dirty="0"/>
          </a:p>
        </p:txBody>
      </p:sp>
      <p:sp>
        <p:nvSpPr>
          <p:cNvPr id="20" name="Text 17"/>
          <p:cNvSpPr/>
          <p:nvPr/>
        </p:nvSpPr>
        <p:spPr>
          <a:xfrm>
            <a:off x="648000" y="51685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648000" y="53510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50" dirty="0"/>
          </a:p>
        </p:txBody>
      </p:sp>
      <p:sp>
        <p:nvSpPr>
          <p:cNvPr id="22" name="Text 19"/>
          <p:cNvSpPr/>
          <p:nvPr/>
        </p:nvSpPr>
        <p:spPr>
          <a:xfrm>
            <a:off x="648000" y="5705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648000" y="5887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50" dirty="0"/>
          </a:p>
        </p:txBody>
      </p:sp>
      <p:sp>
        <p:nvSpPr>
          <p:cNvPr id="24" name="Text 21"/>
          <p:cNvSpPr/>
          <p:nvPr/>
        </p:nvSpPr>
        <p:spPr>
          <a:xfrm>
            <a:off x="648000" y="62420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648000" y="64245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50" dirty="0"/>
          </a:p>
        </p:txBody>
      </p:sp>
      <p:sp>
        <p:nvSpPr>
          <p:cNvPr id="26" name="Text 23"/>
          <p:cNvSpPr/>
          <p:nvPr/>
        </p:nvSpPr>
        <p:spPr>
          <a:xfrm>
            <a:off x="648000" y="6778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648000" y="6961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50" dirty="0"/>
          </a:p>
        </p:txBody>
      </p:sp>
      <p:sp>
        <p:nvSpPr>
          <p:cNvPr id="28" name="Text 25"/>
          <p:cNvSpPr/>
          <p:nvPr/>
        </p:nvSpPr>
        <p:spPr>
          <a:xfrm>
            <a:off x="648000" y="7315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648000" y="7498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50" dirty="0"/>
          </a:p>
        </p:txBody>
      </p:sp>
      <p:sp>
        <p:nvSpPr>
          <p:cNvPr id="30" name="Text 27"/>
          <p:cNvSpPr/>
          <p:nvPr/>
        </p:nvSpPr>
        <p:spPr>
          <a:xfrm>
            <a:off x="648000" y="78523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648000" y="80348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50" dirty="0"/>
          </a:p>
        </p:txBody>
      </p:sp>
      <p:sp>
        <p:nvSpPr>
          <p:cNvPr id="32" name="Text 29"/>
          <p:cNvSpPr/>
          <p:nvPr/>
        </p:nvSpPr>
        <p:spPr>
          <a:xfrm>
            <a:off x="648000" y="8389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648000" y="8571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50" dirty="0"/>
          </a:p>
        </p:txBody>
      </p:sp>
      <p:sp>
        <p:nvSpPr>
          <p:cNvPr id="34" name="Text 31"/>
          <p:cNvSpPr/>
          <p:nvPr/>
        </p:nvSpPr>
        <p:spPr>
          <a:xfrm>
            <a:off x="648000" y="89258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648000" y="91083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260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8" name="Text 5"/>
          <p:cNvSpPr/>
          <p:nvPr/>
        </p:nvSpPr>
        <p:spPr>
          <a:xfrm>
            <a:off x="648000" y="1442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50" dirty="0"/>
          </a:p>
        </p:txBody>
      </p:sp>
      <p:sp>
        <p:nvSpPr>
          <p:cNvPr id="9" name="Text 6"/>
          <p:cNvSpPr/>
          <p:nvPr/>
        </p:nvSpPr>
        <p:spPr>
          <a:xfrm>
            <a:off x="648000" y="1791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10" name="Text 7"/>
          <p:cNvSpPr/>
          <p:nvPr/>
        </p:nvSpPr>
        <p:spPr>
          <a:xfrm>
            <a:off x="648000" y="1973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50" dirty="0"/>
          </a:p>
        </p:txBody>
      </p:sp>
      <p:sp>
        <p:nvSpPr>
          <p:cNvPr id="11" name="Text 8"/>
          <p:cNvSpPr/>
          <p:nvPr/>
        </p:nvSpPr>
        <p:spPr>
          <a:xfrm>
            <a:off x="648000" y="2322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12" name="Text 9"/>
          <p:cNvSpPr/>
          <p:nvPr/>
        </p:nvSpPr>
        <p:spPr>
          <a:xfrm>
            <a:off x="648000" y="2505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50" dirty="0"/>
          </a:p>
        </p:txBody>
      </p:sp>
      <p:sp>
        <p:nvSpPr>
          <p:cNvPr id="13" name="Text 10"/>
          <p:cNvSpPr/>
          <p:nvPr/>
        </p:nvSpPr>
        <p:spPr>
          <a:xfrm>
            <a:off x="648000" y="2854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4" name="Text 11"/>
          <p:cNvSpPr/>
          <p:nvPr/>
        </p:nvSpPr>
        <p:spPr>
          <a:xfrm>
            <a:off x="648000" y="3036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50" dirty="0"/>
          </a:p>
        </p:txBody>
      </p:sp>
      <p:sp>
        <p:nvSpPr>
          <p:cNvPr id="15" name="Text 12"/>
          <p:cNvSpPr/>
          <p:nvPr/>
        </p:nvSpPr>
        <p:spPr>
          <a:xfrm>
            <a:off x="648000" y="3385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6" name="Text 13"/>
          <p:cNvSpPr/>
          <p:nvPr/>
        </p:nvSpPr>
        <p:spPr>
          <a:xfrm>
            <a:off x="648000" y="3567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50" dirty="0"/>
          </a:p>
        </p:txBody>
      </p:sp>
      <p:sp>
        <p:nvSpPr>
          <p:cNvPr id="17" name="Text 14"/>
          <p:cNvSpPr/>
          <p:nvPr/>
        </p:nvSpPr>
        <p:spPr>
          <a:xfrm>
            <a:off x="648000" y="3916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8" name="Text 15"/>
          <p:cNvSpPr/>
          <p:nvPr/>
        </p:nvSpPr>
        <p:spPr>
          <a:xfrm>
            <a:off x="648000" y="4099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50" dirty="0"/>
          </a:p>
        </p:txBody>
      </p:sp>
      <p:sp>
        <p:nvSpPr>
          <p:cNvPr id="19" name="Text 16"/>
          <p:cNvSpPr/>
          <p:nvPr/>
        </p:nvSpPr>
        <p:spPr>
          <a:xfrm>
            <a:off x="648000" y="4448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20" name="Text 17"/>
          <p:cNvSpPr/>
          <p:nvPr/>
        </p:nvSpPr>
        <p:spPr>
          <a:xfrm>
            <a:off x="648000" y="4630680"/>
            <a:ext cx="6264000" cy="18252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50" dirty="0"/>
          </a:p>
        </p:txBody>
      </p:sp>
      <p:sp>
        <p:nvSpPr>
          <p:cNvPr id="21" name="Text 18"/>
          <p:cNvSpPr/>
          <p:nvPr/>
        </p:nvSpPr>
        <p:spPr>
          <a:xfrm>
            <a:off x="648000" y="4822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22" name="Text 19"/>
          <p:cNvSpPr/>
          <p:nvPr/>
        </p:nvSpPr>
        <p:spPr>
          <a:xfrm>
            <a:off x="648000" y="5004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50" dirty="0"/>
          </a:p>
        </p:txBody>
      </p:sp>
      <p:sp>
        <p:nvSpPr>
          <p:cNvPr id="23" name="Text 20"/>
          <p:cNvSpPr/>
          <p:nvPr/>
        </p:nvSpPr>
        <p:spPr>
          <a:xfrm>
            <a:off x="648000" y="5353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4" name="Text 21"/>
          <p:cNvSpPr/>
          <p:nvPr/>
        </p:nvSpPr>
        <p:spPr>
          <a:xfrm>
            <a:off x="648000" y="5536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50" dirty="0"/>
          </a:p>
        </p:txBody>
      </p:sp>
      <p:sp>
        <p:nvSpPr>
          <p:cNvPr id="25" name="Text 22"/>
          <p:cNvSpPr/>
          <p:nvPr/>
        </p:nvSpPr>
        <p:spPr>
          <a:xfrm>
            <a:off x="648000" y="5884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6" name="Text 23"/>
          <p:cNvSpPr/>
          <p:nvPr/>
        </p:nvSpPr>
        <p:spPr>
          <a:xfrm>
            <a:off x="648000" y="6067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50" dirty="0"/>
          </a:p>
        </p:txBody>
      </p:sp>
      <p:sp>
        <p:nvSpPr>
          <p:cNvPr id="27" name="Text 24"/>
          <p:cNvSpPr/>
          <p:nvPr/>
        </p:nvSpPr>
        <p:spPr>
          <a:xfrm>
            <a:off x="648000" y="6416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8" name="Text 25"/>
          <p:cNvSpPr/>
          <p:nvPr/>
        </p:nvSpPr>
        <p:spPr>
          <a:xfrm>
            <a:off x="648000" y="6598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50" dirty="0"/>
          </a:p>
        </p:txBody>
      </p:sp>
      <p:sp>
        <p:nvSpPr>
          <p:cNvPr id="29" name="Text 26"/>
          <p:cNvSpPr/>
          <p:nvPr/>
        </p:nvSpPr>
        <p:spPr>
          <a:xfrm>
            <a:off x="648000" y="6947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30" name="Text 27"/>
          <p:cNvSpPr/>
          <p:nvPr/>
        </p:nvSpPr>
        <p:spPr>
          <a:xfrm>
            <a:off x="648000" y="7130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50" dirty="0"/>
          </a:p>
        </p:txBody>
      </p:sp>
      <p:sp>
        <p:nvSpPr>
          <p:cNvPr id="31" name="Text 28"/>
          <p:cNvSpPr/>
          <p:nvPr/>
        </p:nvSpPr>
        <p:spPr>
          <a:xfrm>
            <a:off x="648000" y="7479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32" name="Text 29"/>
          <p:cNvSpPr/>
          <p:nvPr/>
        </p:nvSpPr>
        <p:spPr>
          <a:xfrm>
            <a:off x="648000" y="7661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50" dirty="0"/>
          </a:p>
        </p:txBody>
      </p:sp>
      <p:sp>
        <p:nvSpPr>
          <p:cNvPr id="33" name="Text 30"/>
          <p:cNvSpPr/>
          <p:nvPr/>
        </p:nvSpPr>
        <p:spPr>
          <a:xfrm>
            <a:off x="648000" y="8010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4" name="Text 31"/>
          <p:cNvSpPr/>
          <p:nvPr/>
        </p:nvSpPr>
        <p:spPr>
          <a:xfrm>
            <a:off x="648000" y="8192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50" dirty="0"/>
          </a:p>
        </p:txBody>
      </p:sp>
      <p:sp>
        <p:nvSpPr>
          <p:cNvPr id="35" name="Text 32"/>
          <p:cNvSpPr/>
          <p:nvPr/>
        </p:nvSpPr>
        <p:spPr>
          <a:xfrm>
            <a:off x="648000" y="854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6" name="Text 33"/>
          <p:cNvSpPr/>
          <p:nvPr/>
        </p:nvSpPr>
        <p:spPr>
          <a:xfrm>
            <a:off x="648000" y="872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50" dirty="0"/>
          </a:p>
        </p:txBody>
      </p:sp>
      <p:sp>
        <p:nvSpPr>
          <p:cNvPr id="37" name="Text 34"/>
          <p:cNvSpPr/>
          <p:nvPr/>
        </p:nvSpPr>
        <p:spPr>
          <a:xfrm>
            <a:off x="648000" y="9073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8" name="Text 35"/>
          <p:cNvSpPr/>
          <p:nvPr/>
        </p:nvSpPr>
        <p:spPr>
          <a:xfrm>
            <a:off x="648000" y="9255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algn="just"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algn="just"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Partie 3 — validation visuelle, données fictives</dc:title>
  <dc:subject>PptxGenJS Presentation</dc:subject>
  <dc:creator>France Verte — validation interne</dc:creator>
  <cp:lastModifiedBy>France Verte — validation interne</cp:lastModifiedBy>
  <cp:revision>1</cp:revision>
  <dcterms:created xsi:type="dcterms:W3CDTF">2026-10-07T15:21:36Z</dcterms:created>
  <dcterms:modified xsi:type="dcterms:W3CDTF">2026-10-07T15:21:36Z</dcterms:modified>
</cp:coreProperties>
</file>