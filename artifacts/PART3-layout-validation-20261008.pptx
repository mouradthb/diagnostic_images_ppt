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service-public.gouv.fr/particuliers/vosdroits/F35584" TargetMode="External"/><Relationship Id="rId1"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www.service-public.gouv.fr/particuliers/vosdroits/F38064" TargetMode="External"/><Relationship Id="rId1" Type="http://schemas.openxmlformats.org/officeDocument/2006/relationships/image" Target="../media/image-21-1.png"/><Relationship Id="rId2" Type="http://schemas.openxmlformats.org/officeDocument/2006/relationships/image" Target="../media/image-21-2.jpe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economie.gouv.fr/particuliers/impots-et-fiscalite/gerer-mes-autres-impots-et-taxes/tva-taux-reduit-pour-quels-travaux" TargetMode="External"/><Relationship Id="rId1"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www.georisques.gouv.fr/" TargetMode="Externa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429120"/>
          </a:xfrm>
          <a:prstGeom prst="rect">
            <a:avLst/>
          </a:prstGeom>
          <a:noFill/>
          <a:ln/>
        </p:spPr>
        <p:txBody>
          <a:bodyPr wrap="square" lIns="0" tIns="0" rIns="0" bIns="0" rtlCol="0" anchor="t"/>
          <a:lstStyle/>
          <a:p>
            <a:pPr algn="just" indent="0" marL="0">
              <a:buNone/>
            </a:pPr>
            <a:r>
              <a:rPr lang="en-US" sz="1100" b="1" dirty="0">
                <a:solidFill>
                  <a:srgbClr val="1C1C1C"/>
                </a:solidFill>
                <a:latin typeface="Calibri" pitchFamily="34" charset="0"/>
                <a:ea typeface="Calibri" pitchFamily="34" charset="-122"/>
                <a:cs typeface="Calibri" pitchFamily="34" charset="-120"/>
              </a:rPr>
              <a:t>Installation des systèmes de régulation de la température – Chauffage et refroidissement</a:t>
            </a:r>
            <a:endParaRPr lang="en-US" sz="1100" dirty="0"/>
          </a:p>
        </p:txBody>
      </p:sp>
      <p:sp>
        <p:nvSpPr>
          <p:cNvPr id="9" name="Text 6"/>
          <p:cNvSpPr/>
          <p:nvPr/>
        </p:nvSpPr>
        <p:spPr>
          <a:xfrm>
            <a:off x="648000" y="2232720"/>
            <a:ext cx="6264000" cy="429120"/>
          </a:xfrm>
          <a:prstGeom prst="rect">
            <a:avLst/>
          </a:prstGeom>
          <a:noFill/>
          <a:ln/>
        </p:spPr>
        <p:txBody>
          <a:bodyPr wrap="square" lIns="0" tIns="0" rIns="0" bIns="0" rtlCol="0" anchor="t"/>
          <a:lstStyle/>
          <a:p>
            <a:pPr algn="just" indent="0" marL="0">
              <a:buNone/>
            </a:pPr>
            <a:r>
              <a:rPr lang="en-US" sz="1100" dirty="0">
                <a:solidFill>
                  <a:srgbClr val="FF2020"/>
                </a:solidFill>
                <a:latin typeface="Calibri" pitchFamily="34" charset="0"/>
                <a:ea typeface="Calibri" pitchFamily="34" charset="-122"/>
                <a:cs typeface="Calibri" pitchFamily="34" charset="-120"/>
              </a:rPr>
              <a:t>Tous les logements possédant une installation de chauffage et/ou de refroidissement sont concernés par cette obligation.</a:t>
            </a:r>
            <a:endParaRPr lang="en-US" sz="1100" dirty="0"/>
          </a:p>
        </p:txBody>
      </p:sp>
      <p:sp>
        <p:nvSpPr>
          <p:cNvPr id="10" name="Text 7"/>
          <p:cNvSpPr/>
          <p:nvPr/>
        </p:nvSpPr>
        <p:spPr>
          <a:xfrm>
            <a:off x="648000" y="273744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1100" dirty="0"/>
          </a:p>
        </p:txBody>
      </p:sp>
      <p:sp>
        <p:nvSpPr>
          <p:cNvPr id="11" name="Text 8"/>
          <p:cNvSpPr/>
          <p:nvPr/>
        </p:nvSpPr>
        <p:spPr>
          <a:xfrm>
            <a:off x="648000" y="360648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1100" dirty="0"/>
          </a:p>
        </p:txBody>
      </p:sp>
      <p:sp>
        <p:nvSpPr>
          <p:cNvPr id="12" name="Text 9"/>
          <p:cNvSpPr/>
          <p:nvPr/>
        </p:nvSpPr>
        <p:spPr>
          <a:xfrm>
            <a:off x="756000" y="44755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900000" y="44755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régulation par pièce ou par zone de chauffage,</a:t>
            </a:r>
            <a:endParaRPr lang="en-US" sz="1100" dirty="0"/>
          </a:p>
        </p:txBody>
      </p:sp>
      <p:sp>
        <p:nvSpPr>
          <p:cNvPr id="14" name="Text 11"/>
          <p:cNvSpPr/>
          <p:nvPr/>
        </p:nvSpPr>
        <p:spPr>
          <a:xfrm>
            <a:off x="756000" y="47692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900000" y="47692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Avec un pas de temps horaire (programmation et commande au minimum à l’heure).</a:t>
            </a:r>
            <a:endParaRPr lang="en-US" sz="1100" dirty="0"/>
          </a:p>
        </p:txBody>
      </p:sp>
      <p:sp>
        <p:nvSpPr>
          <p:cNvPr id="16" name="Text 13"/>
          <p:cNvSpPr/>
          <p:nvPr/>
        </p:nvSpPr>
        <p:spPr>
          <a:xfrm>
            <a:off x="648000" y="5142240"/>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760936"/>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Calibri" pitchFamily="34" charset="0"/>
                <a:ea typeface="Calibri" pitchFamily="34" charset="-122"/>
                <a:cs typeface="Calibri" pitchFamily="34" charset="-120"/>
              </a:rPr>
              <a:t>Calorifugeage des réseaux de distribution de chaleur et de froid</a:t>
            </a:r>
            <a:endParaRPr lang="en-US" sz="1100" dirty="0"/>
          </a:p>
        </p:txBody>
      </p:sp>
      <p:sp>
        <p:nvSpPr>
          <p:cNvPr id="18" name="Text 15"/>
          <p:cNvSpPr/>
          <p:nvPr/>
        </p:nvSpPr>
        <p:spPr>
          <a:xfrm>
            <a:off x="648000" y="6083496"/>
            <a:ext cx="6264000" cy="611280"/>
          </a:xfrm>
          <a:prstGeom prst="rect">
            <a:avLst/>
          </a:prstGeom>
          <a:noFill/>
          <a:ln/>
        </p:spPr>
        <p:txBody>
          <a:bodyPr wrap="square" lIns="0" tIns="0" rIns="0" bIns="0" rtlCol="0" anchor="t"/>
          <a:lstStyle/>
          <a:p>
            <a:pPr algn="just" indent="0" marL="0">
              <a:buNone/>
            </a:pPr>
            <a:r>
              <a:rPr lang="en-US" sz="1100" dirty="0">
                <a:solidFill>
                  <a:srgbClr val="FF2020"/>
                </a:solidFill>
                <a:latin typeface="Calibri" pitchFamily="34" charset="0"/>
                <a:ea typeface="Calibri" pitchFamily="34" charset="-122"/>
                <a:cs typeface="Calibri" pitchFamily="34" charset="-120"/>
              </a:rPr>
              <a:t>Tous les logements présents en bâtiments d’habitation collectif et possédant une installation de chauffage et/ou de refroidissement collective sont concernés par cette obligation.</a:t>
            </a:r>
            <a:endParaRPr lang="en-US" sz="1100" dirty="0"/>
          </a:p>
        </p:txBody>
      </p:sp>
      <p:sp>
        <p:nvSpPr>
          <p:cNvPr id="19" name="Text 16"/>
          <p:cNvSpPr/>
          <p:nvPr/>
        </p:nvSpPr>
        <p:spPr>
          <a:xfrm>
            <a:off x="648000" y="6755976"/>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1100" dirty="0"/>
          </a:p>
        </p:txBody>
      </p:sp>
      <p:sp>
        <p:nvSpPr>
          <p:cNvPr id="20" name="Text 17"/>
          <p:cNvSpPr/>
          <p:nvPr/>
        </p:nvSpPr>
        <p:spPr>
          <a:xfrm>
            <a:off x="648000" y="7428456"/>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1100" dirty="0"/>
          </a:p>
        </p:txBody>
      </p:sp>
      <p:sp>
        <p:nvSpPr>
          <p:cNvPr id="21" name="Text 18"/>
          <p:cNvSpPr/>
          <p:nvPr/>
        </p:nvSpPr>
        <p:spPr>
          <a:xfrm>
            <a:off x="648000" y="8100936"/>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1100" dirty="0"/>
          </a:p>
        </p:txBody>
      </p:sp>
      <p:sp>
        <p:nvSpPr>
          <p:cNvPr id="22" name="Text 19"/>
          <p:cNvSpPr/>
          <p:nvPr/>
        </p:nvSpPr>
        <p:spPr>
          <a:xfrm>
            <a:off x="648000" y="9137736"/>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Calibri" pitchFamily="34" charset="0"/>
                <a:ea typeface="Calibri" pitchFamily="34" charset="-122"/>
                <a:cs typeface="Calibri" pitchFamily="34" charset="-120"/>
              </a:rPr>
              <a:t>Passage au système VIGIK+ échéance au 1 er janvier 2030</a:t>
            </a:r>
            <a:endParaRPr lang="en-US" sz="1100" dirty="0"/>
          </a:p>
        </p:txBody>
      </p:sp>
      <p:sp>
        <p:nvSpPr>
          <p:cNvPr id="9" name="Text 6"/>
          <p:cNvSpPr/>
          <p:nvPr/>
        </p:nvSpPr>
        <p:spPr>
          <a:xfrm>
            <a:off x="648000" y="206496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Contexte</a:t>
            </a:r>
            <a:endParaRPr lang="en-US" sz="1100" dirty="0"/>
          </a:p>
        </p:txBody>
      </p:sp>
      <p:sp>
        <p:nvSpPr>
          <p:cNvPr id="10" name="Text 7"/>
          <p:cNvSpPr/>
          <p:nvPr/>
        </p:nvSpPr>
        <p:spPr>
          <a:xfrm>
            <a:off x="648000" y="232632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100" dirty="0"/>
          </a:p>
        </p:txBody>
      </p:sp>
      <p:sp>
        <p:nvSpPr>
          <p:cNvPr id="11" name="Text 8"/>
          <p:cNvSpPr/>
          <p:nvPr/>
        </p:nvSpPr>
        <p:spPr>
          <a:xfrm>
            <a:off x="648000" y="3227760"/>
            <a:ext cx="6264000" cy="429120"/>
          </a:xfrm>
          <a:prstGeom prst="rect">
            <a:avLst/>
          </a:prstGeom>
          <a:noFill/>
          <a:ln/>
        </p:spPr>
        <p:txBody>
          <a:bodyPr wrap="square" lIns="0" tIns="0" rIns="0" bIns="0" rtlCol="0" anchor="t"/>
          <a:lstStyle/>
          <a:p>
            <a:pPr algn="just" indent="0" marL="0">
              <a:buNone/>
            </a:pPr>
            <a:r>
              <a:rPr lang="en-US" sz="1100" dirty="0">
                <a:solidFill>
                  <a:srgbClr val="FF2020"/>
                </a:solidFill>
                <a:latin typeface="Calibri" pitchFamily="34" charset="0"/>
                <a:ea typeface="Calibri" pitchFamily="34" charset="-122"/>
                <a:cs typeface="Calibri" pitchFamily="34" charset="-120"/>
              </a:rPr>
              <a:t>À compter du 1 er janvier 2030 le VIGIK classique ne constituera plus le standard de référence en matière de contrôle d’accès pour les copropriétés.</a:t>
            </a:r>
            <a:endParaRPr lang="en-US" sz="1100" dirty="0"/>
          </a:p>
        </p:txBody>
      </p:sp>
      <p:sp>
        <p:nvSpPr>
          <p:cNvPr id="12" name="Text 9"/>
          <p:cNvSpPr/>
          <p:nvPr/>
        </p:nvSpPr>
        <p:spPr>
          <a:xfrm>
            <a:off x="648000" y="376488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Qu’est ce que le VIGIK+</a:t>
            </a:r>
            <a:endParaRPr lang="en-US" sz="1100" dirty="0"/>
          </a:p>
        </p:txBody>
      </p:sp>
      <p:sp>
        <p:nvSpPr>
          <p:cNvPr id="13" name="Text 10"/>
          <p:cNvSpPr/>
          <p:nvPr/>
        </p:nvSpPr>
        <p:spPr>
          <a:xfrm>
            <a:off x="648000" y="402624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100" dirty="0"/>
          </a:p>
        </p:txBody>
      </p:sp>
      <p:sp>
        <p:nvSpPr>
          <p:cNvPr id="14" name="Text 11"/>
          <p:cNvSpPr/>
          <p:nvPr/>
        </p:nvSpPr>
        <p:spPr>
          <a:xfrm>
            <a:off x="648000" y="510984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Principales évolutions</a:t>
            </a:r>
            <a:endParaRPr lang="en-US" sz="1100" dirty="0"/>
          </a:p>
        </p:txBody>
      </p:sp>
      <p:sp>
        <p:nvSpPr>
          <p:cNvPr id="15" name="Text 12"/>
          <p:cNvSpPr/>
          <p:nvPr/>
        </p:nvSpPr>
        <p:spPr>
          <a:xfrm>
            <a:off x="648000" y="537120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100" dirty="0"/>
          </a:p>
        </p:txBody>
      </p:sp>
      <p:sp>
        <p:nvSpPr>
          <p:cNvPr id="16" name="Text 13"/>
          <p:cNvSpPr/>
          <p:nvPr/>
        </p:nvSpPr>
        <p:spPr>
          <a:xfrm>
            <a:off x="648000" y="663696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Impacts pour les copropriétés</a:t>
            </a:r>
            <a:endParaRPr lang="en-US" sz="1100" dirty="0"/>
          </a:p>
        </p:txBody>
      </p:sp>
      <p:sp>
        <p:nvSpPr>
          <p:cNvPr id="17" name="Text 14"/>
          <p:cNvSpPr/>
          <p:nvPr/>
        </p:nvSpPr>
        <p:spPr>
          <a:xfrm>
            <a:off x="648000" y="689832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100" dirty="0"/>
          </a:p>
        </p:txBody>
      </p:sp>
      <p:sp>
        <p:nvSpPr>
          <p:cNvPr id="18" name="Text 15"/>
          <p:cNvSpPr/>
          <p:nvPr/>
        </p:nvSpPr>
        <p:spPr>
          <a:xfrm>
            <a:off x="648000" y="798192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Pourquoi anticiper ?</a:t>
            </a:r>
            <a:endParaRPr lang="en-US" sz="1100" dirty="0"/>
          </a:p>
        </p:txBody>
      </p:sp>
      <p:sp>
        <p:nvSpPr>
          <p:cNvPr id="19" name="Text 16"/>
          <p:cNvSpPr/>
          <p:nvPr/>
        </p:nvSpPr>
        <p:spPr>
          <a:xfrm>
            <a:off x="648000" y="824328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196200"/>
          </a:xfrm>
          <a:prstGeom prst="rect">
            <a:avLst/>
          </a:prstGeom>
          <a:noFill/>
          <a:ln/>
        </p:spPr>
        <p:txBody>
          <a:bodyPr wrap="square" lIns="0" tIns="0" rIns="0" bIns="0" rtlCol="0" anchor="t"/>
          <a:lstStyle/>
          <a:p>
            <a:pPr algn="just" indent="0" marL="0">
              <a:buNone/>
            </a:pPr>
            <a:r>
              <a:rPr lang="en-US" sz="1100" b="1" dirty="0">
                <a:solidFill>
                  <a:srgbClr val="1C1C1C"/>
                </a:solidFill>
                <a:latin typeface="Calibri" pitchFamily="34" charset="0"/>
                <a:ea typeface="Calibri" pitchFamily="34" charset="-122"/>
                <a:cs typeface="Calibri" pitchFamily="34" charset="-120"/>
              </a:rPr>
              <a:t>Mise à niveau des systèmes de communication des ascenseurs</a:t>
            </a:r>
            <a:endParaRPr lang="en-US" sz="1100" dirty="0"/>
          </a:p>
        </p:txBody>
      </p:sp>
      <p:sp>
        <p:nvSpPr>
          <p:cNvPr id="9" name="Text 6"/>
          <p:cNvSpPr/>
          <p:nvPr/>
        </p:nvSpPr>
        <p:spPr>
          <a:xfrm>
            <a:off x="648000" y="1999800"/>
            <a:ext cx="6264000" cy="196200"/>
          </a:xfrm>
          <a:prstGeom prst="rect">
            <a:avLst/>
          </a:prstGeom>
          <a:noFill/>
          <a:ln/>
        </p:spPr>
        <p:txBody>
          <a:bodyPr wrap="square" lIns="0" tIns="0" rIns="0" bIns="0" rtlCol="0" anchor="t"/>
          <a:lstStyle/>
          <a:p>
            <a:pPr algn="just" indent="0" marL="0">
              <a:buNone/>
            </a:pPr>
            <a:r>
              <a:rPr lang="en-US" sz="1100" b="1" dirty="0">
                <a:solidFill>
                  <a:srgbClr val="00B050"/>
                </a:solidFill>
                <a:latin typeface="Calibri" pitchFamily="34" charset="0"/>
                <a:ea typeface="Calibri" pitchFamily="34" charset="-122"/>
                <a:cs typeface="Calibri" pitchFamily="34" charset="-120"/>
              </a:rPr>
              <a:t>Contexte</a:t>
            </a:r>
            <a:endParaRPr lang="en-US" sz="1100" dirty="0"/>
          </a:p>
        </p:txBody>
      </p:sp>
      <p:sp>
        <p:nvSpPr>
          <p:cNvPr id="10" name="Text 7"/>
          <p:cNvSpPr/>
          <p:nvPr/>
        </p:nvSpPr>
        <p:spPr>
          <a:xfrm>
            <a:off x="648000" y="2235600"/>
            <a:ext cx="6264000" cy="10872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1100" dirty="0"/>
          </a:p>
        </p:txBody>
      </p:sp>
      <p:sp>
        <p:nvSpPr>
          <p:cNvPr id="11" name="Text 8"/>
          <p:cNvSpPr/>
          <p:nvPr/>
        </p:nvSpPr>
        <p:spPr>
          <a:xfrm>
            <a:off x="648000" y="3348000"/>
            <a:ext cx="6264000" cy="374400"/>
          </a:xfrm>
          <a:prstGeom prst="rect">
            <a:avLst/>
          </a:prstGeom>
          <a:noFill/>
          <a:ln/>
        </p:spPr>
        <p:txBody>
          <a:bodyPr wrap="square" lIns="0" tIns="0" rIns="0" bIns="0" rtlCol="0" anchor="t"/>
          <a:lstStyle/>
          <a:p>
            <a:pPr algn="just" indent="0" marL="0">
              <a:buNone/>
            </a:pPr>
            <a:r>
              <a:rPr lang="en-US" sz="1100" dirty="0">
                <a:solidFill>
                  <a:srgbClr val="FF0000"/>
                </a:solidFill>
                <a:latin typeface="Calibri" pitchFamily="34" charset="0"/>
                <a:ea typeface="Calibri" pitchFamily="34" charset="-122"/>
                <a:cs typeface="Calibri" pitchFamily="34" charset="-120"/>
              </a:rPr>
              <a:t>À compter du 31 mars 2026, le démarrage de l’extinction des réseaux 2G pourra rendre certains systèmes de téléalarme d’ascenseurs inopérants.</a:t>
            </a:r>
            <a:endParaRPr lang="en-US" sz="1100" dirty="0"/>
          </a:p>
        </p:txBody>
      </p:sp>
      <p:sp>
        <p:nvSpPr>
          <p:cNvPr id="12" name="Text 9"/>
          <p:cNvSpPr/>
          <p:nvPr/>
        </p:nvSpPr>
        <p:spPr>
          <a:xfrm>
            <a:off x="648000" y="3762000"/>
            <a:ext cx="6264000" cy="196200"/>
          </a:xfrm>
          <a:prstGeom prst="rect">
            <a:avLst/>
          </a:prstGeom>
          <a:noFill/>
          <a:ln/>
        </p:spPr>
        <p:txBody>
          <a:bodyPr wrap="square" lIns="0" tIns="0" rIns="0" bIns="0" rtlCol="0" anchor="t"/>
          <a:lstStyle/>
          <a:p>
            <a:pPr algn="just" indent="0" marL="0">
              <a:buNone/>
            </a:pPr>
            <a:r>
              <a:rPr lang="en-US" sz="1100" b="1" dirty="0">
                <a:solidFill>
                  <a:srgbClr val="00B050"/>
                </a:solidFill>
                <a:latin typeface="Calibri" pitchFamily="34" charset="0"/>
                <a:ea typeface="Calibri" pitchFamily="34" charset="-122"/>
                <a:cs typeface="Calibri" pitchFamily="34" charset="-120"/>
              </a:rPr>
              <a:t>Impacts pour les copropriétés</a:t>
            </a:r>
            <a:endParaRPr lang="en-US" sz="1100" dirty="0"/>
          </a:p>
        </p:txBody>
      </p:sp>
      <p:sp>
        <p:nvSpPr>
          <p:cNvPr id="13" name="Text 10"/>
          <p:cNvSpPr/>
          <p:nvPr/>
        </p:nvSpPr>
        <p:spPr>
          <a:xfrm>
            <a:off x="648000" y="3997800"/>
            <a:ext cx="6264000" cy="3744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Une partie importante du parc d’ascenseurs français utilise encore des systèmes de communication reposant sur les réseaux 2G ou 3G. Ces équipements devront être modernisés afin de garantir :</a:t>
            </a:r>
            <a:endParaRPr lang="en-US" sz="1100" dirty="0"/>
          </a:p>
        </p:txBody>
      </p:sp>
      <p:sp>
        <p:nvSpPr>
          <p:cNvPr id="14" name="Text 11"/>
          <p:cNvSpPr/>
          <p:nvPr/>
        </p:nvSpPr>
        <p:spPr>
          <a:xfrm>
            <a:off x="756000" y="44118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900000" y="44118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maintien du système de téléalarme réglementaire ;</a:t>
            </a:r>
            <a:endParaRPr lang="en-US" sz="1100" dirty="0"/>
          </a:p>
        </p:txBody>
      </p:sp>
      <p:sp>
        <p:nvSpPr>
          <p:cNvPr id="16" name="Text 13"/>
          <p:cNvSpPr/>
          <p:nvPr/>
        </p:nvSpPr>
        <p:spPr>
          <a:xfrm>
            <a:off x="756000" y="46206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900000" y="46206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la continuité des communications avec les services d’intervention ;</a:t>
            </a:r>
            <a:endParaRPr lang="en-US" sz="1100" dirty="0"/>
          </a:p>
        </p:txBody>
      </p:sp>
      <p:sp>
        <p:nvSpPr>
          <p:cNvPr id="18" name="Text 15"/>
          <p:cNvSpPr/>
          <p:nvPr/>
        </p:nvSpPr>
        <p:spPr>
          <a:xfrm>
            <a:off x="756000" y="48294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900000" y="48294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maintien en fonctionnement des appareils ;</a:t>
            </a:r>
            <a:endParaRPr lang="en-US" sz="1100" dirty="0"/>
          </a:p>
        </p:txBody>
      </p:sp>
      <p:sp>
        <p:nvSpPr>
          <p:cNvPr id="20" name="Text 17"/>
          <p:cNvSpPr/>
          <p:nvPr/>
        </p:nvSpPr>
        <p:spPr>
          <a:xfrm>
            <a:off x="756000" y="50382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1" name="Text 18"/>
          <p:cNvSpPr/>
          <p:nvPr/>
        </p:nvSpPr>
        <p:spPr>
          <a:xfrm>
            <a:off x="900000" y="50382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la conformité réglementaire des installations.</a:t>
            </a:r>
            <a:endParaRPr lang="en-US" sz="1100" dirty="0"/>
          </a:p>
        </p:txBody>
      </p:sp>
      <p:sp>
        <p:nvSpPr>
          <p:cNvPr id="22" name="Text 19"/>
          <p:cNvSpPr/>
          <p:nvPr/>
        </p:nvSpPr>
        <p:spPr>
          <a:xfrm>
            <a:off x="648000" y="5286600"/>
            <a:ext cx="6264000" cy="1962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Cette évolution peut nécessiter :</a:t>
            </a:r>
            <a:endParaRPr lang="en-US" sz="1100" dirty="0"/>
          </a:p>
        </p:txBody>
      </p:sp>
      <p:sp>
        <p:nvSpPr>
          <p:cNvPr id="23" name="Text 20"/>
          <p:cNvSpPr/>
          <p:nvPr/>
        </p:nvSpPr>
        <p:spPr>
          <a:xfrm>
            <a:off x="756000" y="55224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4" name="Text 21"/>
          <p:cNvSpPr/>
          <p:nvPr/>
        </p:nvSpPr>
        <p:spPr>
          <a:xfrm>
            <a:off x="900000" y="55224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remplacement des modules GSM ;</a:t>
            </a:r>
            <a:endParaRPr lang="en-US" sz="1100" dirty="0"/>
          </a:p>
        </p:txBody>
      </p:sp>
      <p:sp>
        <p:nvSpPr>
          <p:cNvPr id="25" name="Text 22"/>
          <p:cNvSpPr/>
          <p:nvPr/>
        </p:nvSpPr>
        <p:spPr>
          <a:xfrm>
            <a:off x="756000" y="57312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6" name="Text 23"/>
          <p:cNvSpPr/>
          <p:nvPr/>
        </p:nvSpPr>
        <p:spPr>
          <a:xfrm>
            <a:off x="900000" y="57312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mise à niveau des systèmes de télécommunication ;</a:t>
            </a:r>
            <a:endParaRPr lang="en-US" sz="1100" dirty="0"/>
          </a:p>
        </p:txBody>
      </p:sp>
      <p:sp>
        <p:nvSpPr>
          <p:cNvPr id="27" name="Text 24"/>
          <p:cNvSpPr/>
          <p:nvPr/>
        </p:nvSpPr>
        <p:spPr>
          <a:xfrm>
            <a:off x="756000" y="59400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900000" y="59400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remplacement de certains équipements anciens incompatibles avec la 4G/5G.</a:t>
            </a:r>
            <a:endParaRPr lang="en-US" sz="1100" dirty="0"/>
          </a:p>
        </p:txBody>
      </p:sp>
      <p:sp>
        <p:nvSpPr>
          <p:cNvPr id="29" name="Text 26"/>
          <p:cNvSpPr/>
          <p:nvPr/>
        </p:nvSpPr>
        <p:spPr>
          <a:xfrm>
            <a:off x="648000" y="6188400"/>
            <a:ext cx="6264000" cy="196200"/>
          </a:xfrm>
          <a:prstGeom prst="rect">
            <a:avLst/>
          </a:prstGeom>
          <a:noFill/>
          <a:ln/>
        </p:spPr>
        <p:txBody>
          <a:bodyPr wrap="square" lIns="0" tIns="0" rIns="0" bIns="0" rtlCol="0" anchor="t"/>
          <a:lstStyle/>
          <a:p>
            <a:pPr algn="just" indent="0" marL="0">
              <a:buNone/>
            </a:pPr>
            <a:r>
              <a:rPr lang="en-US" sz="1100" b="1" dirty="0">
                <a:solidFill>
                  <a:srgbClr val="00B050"/>
                </a:solidFill>
                <a:latin typeface="Calibri" pitchFamily="34" charset="0"/>
                <a:ea typeface="Calibri" pitchFamily="34" charset="-122"/>
                <a:cs typeface="Calibri" pitchFamily="34" charset="-120"/>
              </a:rPr>
              <a:t>Mesures réglementaires et obligations à venir</a:t>
            </a:r>
            <a:endParaRPr lang="en-US" sz="1100" dirty="0"/>
          </a:p>
        </p:txBody>
      </p:sp>
      <p:sp>
        <p:nvSpPr>
          <p:cNvPr id="30" name="Text 27"/>
          <p:cNvSpPr/>
          <p:nvPr/>
        </p:nvSpPr>
        <p:spPr>
          <a:xfrm>
            <a:off x="648000" y="6424200"/>
            <a:ext cx="6264000" cy="3744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Des évolutions réglementaires sont en cours afin de renforcer l’information et la mise à niveau des équipements concernés. Il est notamment prévu :</a:t>
            </a:r>
            <a:endParaRPr lang="en-US" sz="1100" dirty="0"/>
          </a:p>
        </p:txBody>
      </p:sp>
      <p:sp>
        <p:nvSpPr>
          <p:cNvPr id="31" name="Text 28"/>
          <p:cNvSpPr/>
          <p:nvPr/>
        </p:nvSpPr>
        <p:spPr>
          <a:xfrm>
            <a:off x="756000" y="6838200"/>
            <a:ext cx="126000" cy="3744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900000" y="6838200"/>
            <a:ext cx="5976000" cy="3744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obligation d’information du propriétaire par l’ascensoriste lors des visites de maintenance si l’équipement fonctionne encore en 2G ou 3G ;</a:t>
            </a:r>
            <a:endParaRPr lang="en-US" sz="1100" dirty="0"/>
          </a:p>
        </p:txBody>
      </p:sp>
      <p:sp>
        <p:nvSpPr>
          <p:cNvPr id="33" name="Text 30"/>
          <p:cNvSpPr/>
          <p:nvPr/>
        </p:nvSpPr>
        <p:spPr>
          <a:xfrm>
            <a:off x="756000" y="7225200"/>
            <a:ext cx="126000" cy="3744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900000" y="7225200"/>
            <a:ext cx="5976000" cy="3744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vérification de la mise à niveau des dispositifs de communication lors du contrôle technique quinquennal des ascenseurs.</a:t>
            </a:r>
            <a:endParaRPr lang="en-US" sz="1100" dirty="0"/>
          </a:p>
        </p:txBody>
      </p:sp>
      <p:sp>
        <p:nvSpPr>
          <p:cNvPr id="35" name="Text 32"/>
          <p:cNvSpPr/>
          <p:nvPr/>
        </p:nvSpPr>
        <p:spPr>
          <a:xfrm>
            <a:off x="648000" y="7651800"/>
            <a:ext cx="6264000" cy="196200"/>
          </a:xfrm>
          <a:prstGeom prst="rect">
            <a:avLst/>
          </a:prstGeom>
          <a:noFill/>
          <a:ln/>
        </p:spPr>
        <p:txBody>
          <a:bodyPr wrap="square" lIns="0" tIns="0" rIns="0" bIns="0" rtlCol="0" anchor="t"/>
          <a:lstStyle/>
          <a:p>
            <a:pPr algn="just" indent="0" marL="0">
              <a:buNone/>
            </a:pPr>
            <a:r>
              <a:rPr lang="en-US" sz="1100" b="1" dirty="0">
                <a:solidFill>
                  <a:srgbClr val="00B050"/>
                </a:solidFill>
                <a:latin typeface="Calibri" pitchFamily="34" charset="0"/>
                <a:ea typeface="Calibri" pitchFamily="34" charset="-122"/>
                <a:cs typeface="Calibri" pitchFamily="34" charset="-120"/>
              </a:rPr>
              <a:t>Pourquoi anticiper ?</a:t>
            </a:r>
            <a:endParaRPr lang="en-US" sz="1100" dirty="0"/>
          </a:p>
        </p:txBody>
      </p:sp>
      <p:sp>
        <p:nvSpPr>
          <p:cNvPr id="36" name="Text 33"/>
          <p:cNvSpPr/>
          <p:nvPr/>
        </p:nvSpPr>
        <p:spPr>
          <a:xfrm>
            <a:off x="648000" y="7887600"/>
            <a:ext cx="6264000" cy="1962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L’anticipation de ces travaux permet :</a:t>
            </a:r>
            <a:endParaRPr lang="en-US" sz="1100" dirty="0"/>
          </a:p>
        </p:txBody>
      </p:sp>
      <p:sp>
        <p:nvSpPr>
          <p:cNvPr id="37" name="Text 34"/>
          <p:cNvSpPr/>
          <p:nvPr/>
        </p:nvSpPr>
        <p:spPr>
          <a:xfrm>
            <a:off x="756000" y="81234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8" name="Text 35"/>
          <p:cNvSpPr/>
          <p:nvPr/>
        </p:nvSpPr>
        <p:spPr>
          <a:xfrm>
            <a:off x="900000" y="81234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d’éviter une interruption de service des ascenseurs ;</a:t>
            </a:r>
            <a:endParaRPr lang="en-US" sz="1100" dirty="0"/>
          </a:p>
        </p:txBody>
      </p:sp>
      <p:sp>
        <p:nvSpPr>
          <p:cNvPr id="39" name="Text 36"/>
          <p:cNvSpPr/>
          <p:nvPr/>
        </p:nvSpPr>
        <p:spPr>
          <a:xfrm>
            <a:off x="756000" y="83322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40" name="Text 37"/>
          <p:cNvSpPr/>
          <p:nvPr/>
        </p:nvSpPr>
        <p:spPr>
          <a:xfrm>
            <a:off x="900000" y="83322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de prévenir les mises à l’arrêt pour non-conformité ;</a:t>
            </a:r>
            <a:endParaRPr lang="en-US" sz="1100" dirty="0"/>
          </a:p>
        </p:txBody>
      </p:sp>
      <p:sp>
        <p:nvSpPr>
          <p:cNvPr id="41" name="Text 38"/>
          <p:cNvSpPr/>
          <p:nvPr/>
        </p:nvSpPr>
        <p:spPr>
          <a:xfrm>
            <a:off x="756000" y="85410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42" name="Text 39"/>
          <p:cNvSpPr/>
          <p:nvPr/>
        </p:nvSpPr>
        <p:spPr>
          <a:xfrm>
            <a:off x="900000" y="85410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de limiter les interventions en urgence ;</a:t>
            </a:r>
            <a:endParaRPr lang="en-US" sz="1100" dirty="0"/>
          </a:p>
        </p:txBody>
      </p:sp>
      <p:sp>
        <p:nvSpPr>
          <p:cNvPr id="43" name="Text 40"/>
          <p:cNvSpPr/>
          <p:nvPr/>
        </p:nvSpPr>
        <p:spPr>
          <a:xfrm>
            <a:off x="756000" y="87498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44" name="Text 41"/>
          <p:cNvSpPr/>
          <p:nvPr/>
        </p:nvSpPr>
        <p:spPr>
          <a:xfrm>
            <a:off x="900000" y="87498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de planifier les coûts de modernisation des équipements ;</a:t>
            </a:r>
            <a:endParaRPr lang="en-US" sz="1100" dirty="0"/>
          </a:p>
        </p:txBody>
      </p:sp>
      <p:sp>
        <p:nvSpPr>
          <p:cNvPr id="45" name="Text 42"/>
          <p:cNvSpPr/>
          <p:nvPr/>
        </p:nvSpPr>
        <p:spPr>
          <a:xfrm>
            <a:off x="756000" y="8958600"/>
            <a:ext cx="12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46" name="Text 43"/>
          <p:cNvSpPr/>
          <p:nvPr/>
        </p:nvSpPr>
        <p:spPr>
          <a:xfrm>
            <a:off x="900000" y="8958600"/>
            <a:ext cx="5976000" cy="1962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de coordonner ces adaptations avec d’autres travaux techniques de la copropriété.</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100" dirty="0"/>
          </a:p>
        </p:txBody>
      </p:sp>
      <p:sp>
        <p:nvSpPr>
          <p:cNvPr id="9" name="Text 6"/>
          <p:cNvSpPr/>
          <p:nvPr/>
        </p:nvSpPr>
        <p:spPr>
          <a:xfrm>
            <a:off x="648000" y="297576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100" dirty="0"/>
          </a:p>
        </p:txBody>
      </p:sp>
      <p:sp>
        <p:nvSpPr>
          <p:cNvPr id="10" name="Text 7"/>
          <p:cNvSpPr/>
          <p:nvPr/>
        </p:nvSpPr>
        <p:spPr>
          <a:xfrm>
            <a:off x="648000" y="367704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100" dirty="0"/>
          </a:p>
        </p:txBody>
      </p:sp>
      <p:sp>
        <p:nvSpPr>
          <p:cNvPr id="11" name="Text 8"/>
          <p:cNvSpPr/>
          <p:nvPr/>
        </p:nvSpPr>
        <p:spPr>
          <a:xfrm>
            <a:off x="648000" y="456048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L’installation d’un défibrillateur au sein d’une copropriété présente plusieurs avantages :</a:t>
            </a:r>
            <a:endParaRPr lang="en-US" sz="1100" dirty="0"/>
          </a:p>
        </p:txBody>
      </p:sp>
      <p:sp>
        <p:nvSpPr>
          <p:cNvPr id="12" name="Text 9"/>
          <p:cNvSpPr/>
          <p:nvPr/>
        </p:nvSpPr>
        <p:spPr>
          <a:xfrm>
            <a:off x="756000" y="507960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900000" y="507960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amélioration de la sécurité des résidents ;</a:t>
            </a:r>
            <a:endParaRPr lang="en-US" sz="1100" dirty="0"/>
          </a:p>
        </p:txBody>
      </p:sp>
      <p:sp>
        <p:nvSpPr>
          <p:cNvPr id="14" name="Text 11"/>
          <p:cNvSpPr/>
          <p:nvPr/>
        </p:nvSpPr>
        <p:spPr>
          <a:xfrm>
            <a:off x="756000" y="533016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900000" y="533016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intervention rapide en cas d’urgence cardiaque ;</a:t>
            </a:r>
            <a:endParaRPr lang="en-US" sz="1100" dirty="0"/>
          </a:p>
        </p:txBody>
      </p:sp>
      <p:sp>
        <p:nvSpPr>
          <p:cNvPr id="16" name="Text 13"/>
          <p:cNvSpPr/>
          <p:nvPr/>
        </p:nvSpPr>
        <p:spPr>
          <a:xfrm>
            <a:off x="756000" y="55807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7" name="Text 14"/>
          <p:cNvSpPr/>
          <p:nvPr/>
        </p:nvSpPr>
        <p:spPr>
          <a:xfrm>
            <a:off x="900000" y="55807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équipement accessible et simple d’utilisation ;</a:t>
            </a:r>
            <a:endParaRPr lang="en-US" sz="1100" dirty="0"/>
          </a:p>
        </p:txBody>
      </p:sp>
      <p:sp>
        <p:nvSpPr>
          <p:cNvPr id="18" name="Text 15"/>
          <p:cNvSpPr/>
          <p:nvPr/>
        </p:nvSpPr>
        <p:spPr>
          <a:xfrm>
            <a:off x="756000" y="58312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900000" y="58312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valorisation des équipements de sécurité de l’immeuble.</a:t>
            </a:r>
            <a:endParaRPr lang="en-US" sz="1100" dirty="0"/>
          </a:p>
        </p:txBody>
      </p:sp>
      <p:sp>
        <p:nvSpPr>
          <p:cNvPr id="20" name="Text 17"/>
          <p:cNvSpPr/>
          <p:nvPr/>
        </p:nvSpPr>
        <p:spPr>
          <a:xfrm>
            <a:off x="648000" y="614664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défibrillateur peut être installé dans un espace commun facilement accessible (hall d’entrée, loge gardien, parking ou local commun). Il est recommandé de prévoir :</a:t>
            </a:r>
            <a:endParaRPr lang="en-US" sz="1100" dirty="0"/>
          </a:p>
        </p:txBody>
      </p:sp>
      <p:sp>
        <p:nvSpPr>
          <p:cNvPr id="21" name="Text 18"/>
          <p:cNvSpPr/>
          <p:nvPr/>
        </p:nvSpPr>
        <p:spPr>
          <a:xfrm>
            <a:off x="756000" y="666576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900000" y="666576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maintenance régulière de l’appareil ;</a:t>
            </a:r>
            <a:endParaRPr lang="en-US" sz="1100" dirty="0"/>
          </a:p>
        </p:txBody>
      </p:sp>
      <p:sp>
        <p:nvSpPr>
          <p:cNvPr id="23" name="Text 20"/>
          <p:cNvSpPr/>
          <p:nvPr/>
        </p:nvSpPr>
        <p:spPr>
          <a:xfrm>
            <a:off x="756000" y="69163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4" name="Text 21"/>
          <p:cNvSpPr/>
          <p:nvPr/>
        </p:nvSpPr>
        <p:spPr>
          <a:xfrm>
            <a:off x="900000" y="69163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remplacement périodique des consommables (batteries et électrodes) ;</a:t>
            </a:r>
            <a:endParaRPr lang="en-US" sz="1100" dirty="0"/>
          </a:p>
        </p:txBody>
      </p:sp>
      <p:sp>
        <p:nvSpPr>
          <p:cNvPr id="25" name="Text 22"/>
          <p:cNvSpPr/>
          <p:nvPr/>
        </p:nvSpPr>
        <p:spPr>
          <a:xfrm>
            <a:off x="756000" y="71668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6" name="Text 23"/>
          <p:cNvSpPr/>
          <p:nvPr/>
        </p:nvSpPr>
        <p:spPr>
          <a:xfrm>
            <a:off x="900000" y="71668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assurance contre les dégradations ou le vol.</a:t>
            </a:r>
            <a:endParaRPr lang="en-US" sz="1100" dirty="0"/>
          </a:p>
        </p:txBody>
      </p:sp>
      <p:sp>
        <p:nvSpPr>
          <p:cNvPr id="27" name="Text 24"/>
          <p:cNvSpPr/>
          <p:nvPr/>
        </p:nvSpPr>
        <p:spPr>
          <a:xfrm>
            <a:off x="648000" y="748944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démarche constitue une amélioration préventive des équipements de sécurité de la copropriété et participe à la protection des occupants.</a:t>
            </a:r>
            <a:endParaRPr lang="en-US" sz="1100" dirty="0"/>
          </a:p>
        </p:txBody>
      </p:sp>
      <p:sp>
        <p:nvSpPr>
          <p:cNvPr id="28" name="Shape 25"/>
          <p:cNvSpPr/>
          <p:nvPr/>
        </p:nvSpPr>
        <p:spPr>
          <a:xfrm>
            <a:off x="4824000" y="1566000"/>
            <a:ext cx="1404000" cy="1188000"/>
          </a:xfrm>
          <a:prstGeom prst="rect">
            <a:avLst/>
          </a:prstGeom>
          <a:solidFill>
            <a:srgbClr val="F7F7F7"/>
          </a:solidFill>
          <a:ln w="6985">
            <a:solidFill>
              <a:srgbClr val="D9D9D9"/>
            </a:solidFill>
            <a:prstDash val="solid"/>
          </a:ln>
        </p:spPr>
      </p:sp>
      <p:sp>
        <p:nvSpPr>
          <p:cNvPr id="29" name="Text 26"/>
          <p:cNvSpPr/>
          <p:nvPr/>
        </p:nvSpPr>
        <p:spPr>
          <a:xfrm>
            <a:off x="4860000" y="2016000"/>
            <a:ext cx="1332000" cy="252000"/>
          </a:xfrm>
          <a:prstGeom prst="rect">
            <a:avLst/>
          </a:prstGeom>
          <a:noFill/>
          <a:ln/>
        </p:spPr>
        <p:txBody>
          <a:bodyPr wrap="square" lIns="0" tIns="0" rIns="0" bIns="0" rtlCol="0" anchor="ctr"/>
          <a:lstStyle/>
          <a:p>
            <a:pPr algn="ctr" indent="0" marL="0">
              <a:buNone/>
            </a:pPr>
            <a:r>
              <a:rPr lang="en-US" sz="800" dirty="0">
                <a:solidFill>
                  <a:srgbClr val="6E7480"/>
                </a:solidFill>
                <a:latin typeface="Aptos" pitchFamily="34" charset="0"/>
                <a:ea typeface="Aptos" pitchFamily="34" charset="-122"/>
                <a:cs typeface="Aptos" pitchFamily="34" charset="-120"/>
              </a:rPr>
              <a:t>Illustration du modèle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5</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1229760"/>
          </a:xfrm>
          <a:prstGeom prst="rect">
            <a:avLst/>
          </a:prstGeom>
          <a:solidFill>
            <a:srgbClr val="FFFFFF"/>
          </a:solidFill>
          <a:ln w="6985">
            <a:solidFill>
              <a:srgbClr val="202020"/>
            </a:solidFill>
            <a:prstDash val="solid"/>
          </a:ln>
        </p:spPr>
      </p:sp>
      <p:sp>
        <p:nvSpPr>
          <p:cNvPr id="15" name="Text 12"/>
          <p:cNvSpPr/>
          <p:nvPr/>
        </p:nvSpPr>
        <p:spPr>
          <a:xfrm>
            <a:off x="601200" y="3387600"/>
            <a:ext cx="3369600" cy="1150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Assurance de la copropriété</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9-1</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2014-366 du 24/03/2014 (ALUR)</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souscrire une assurance responsabilité civile pour le compte de la copropriété.</a:t>
            </a:r>
            <a:endParaRPr lang="en-US" sz="1100" dirty="0"/>
          </a:p>
        </p:txBody>
      </p:sp>
      <p:sp>
        <p:nvSpPr>
          <p:cNvPr id="16" name="Shape 13"/>
          <p:cNvSpPr/>
          <p:nvPr/>
        </p:nvSpPr>
        <p:spPr>
          <a:xfrm>
            <a:off x="4032000" y="3348000"/>
            <a:ext cx="1152000" cy="122976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115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18" name="Shape 15"/>
          <p:cNvSpPr/>
          <p:nvPr/>
        </p:nvSpPr>
        <p:spPr>
          <a:xfrm>
            <a:off x="5184000" y="3348000"/>
            <a:ext cx="1836000" cy="122976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1150560"/>
          </a:xfrm>
          <a:prstGeom prst="rect">
            <a:avLst/>
          </a:prstGeom>
          <a:noFill/>
          <a:ln/>
        </p:spPr>
        <p:txBody>
          <a:bodyPr wrap="square" lIns="0" tIns="0" rIns="0" bIns="0" rtlCol="0" anchor="t"/>
          <a:lstStyle/>
          <a:p>
            <a:pPr algn="l" indent="0" marL="0">
              <a:buNone/>
            </a:pPr>
            <a:endParaRPr lang="en-US" sz="1100" dirty="0"/>
          </a:p>
        </p:txBody>
      </p:sp>
      <p:sp>
        <p:nvSpPr>
          <p:cNvPr id="20" name="Shape 17"/>
          <p:cNvSpPr/>
          <p:nvPr/>
        </p:nvSpPr>
        <p:spPr>
          <a:xfrm>
            <a:off x="540000" y="4577760"/>
            <a:ext cx="3492000" cy="1047600"/>
          </a:xfrm>
          <a:prstGeom prst="rect">
            <a:avLst/>
          </a:prstGeom>
          <a:solidFill>
            <a:srgbClr val="FFFFFF"/>
          </a:solidFill>
          <a:ln w="6985">
            <a:solidFill>
              <a:srgbClr val="202020"/>
            </a:solidFill>
            <a:prstDash val="solid"/>
          </a:ln>
        </p:spPr>
      </p:sp>
      <p:sp>
        <p:nvSpPr>
          <p:cNvPr id="21" name="Text 18"/>
          <p:cNvSpPr/>
          <p:nvPr/>
        </p:nvSpPr>
        <p:spPr>
          <a:xfrm>
            <a:off x="601200" y="4617360"/>
            <a:ext cx="3369600" cy="9684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Immatriculation de la copropriété</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8-2</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2014-366 du 24/03/2014 (ALUR)</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d’immatriculer la copropriété au registre national des copropriétés.</a:t>
            </a:r>
            <a:endParaRPr lang="en-US" sz="1100" dirty="0"/>
          </a:p>
        </p:txBody>
      </p:sp>
      <p:sp>
        <p:nvSpPr>
          <p:cNvPr id="22" name="Shape 19"/>
          <p:cNvSpPr/>
          <p:nvPr/>
        </p:nvSpPr>
        <p:spPr>
          <a:xfrm>
            <a:off x="4032000" y="4577760"/>
            <a:ext cx="1152000" cy="1047600"/>
          </a:xfrm>
          <a:prstGeom prst="rect">
            <a:avLst/>
          </a:prstGeom>
          <a:solidFill>
            <a:srgbClr val="00B55A"/>
          </a:solidFill>
          <a:ln w="6985">
            <a:solidFill>
              <a:srgbClr val="202020"/>
            </a:solidFill>
            <a:prstDash val="solid"/>
          </a:ln>
        </p:spPr>
      </p:sp>
      <p:sp>
        <p:nvSpPr>
          <p:cNvPr id="23" name="Text 20"/>
          <p:cNvSpPr/>
          <p:nvPr/>
        </p:nvSpPr>
        <p:spPr>
          <a:xfrm>
            <a:off x="4093200" y="4617360"/>
            <a:ext cx="1029600" cy="968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24" name="Shape 21"/>
          <p:cNvSpPr/>
          <p:nvPr/>
        </p:nvSpPr>
        <p:spPr>
          <a:xfrm>
            <a:off x="5184000" y="4577760"/>
            <a:ext cx="1836000" cy="1047600"/>
          </a:xfrm>
          <a:prstGeom prst="rect">
            <a:avLst/>
          </a:prstGeom>
          <a:solidFill>
            <a:srgbClr val="FFFFFF"/>
          </a:solidFill>
          <a:ln w="6985">
            <a:solidFill>
              <a:srgbClr val="202020"/>
            </a:solidFill>
            <a:prstDash val="solid"/>
          </a:ln>
        </p:spPr>
      </p:sp>
      <p:sp>
        <p:nvSpPr>
          <p:cNvPr id="25" name="Text 22"/>
          <p:cNvSpPr/>
          <p:nvPr/>
        </p:nvSpPr>
        <p:spPr>
          <a:xfrm>
            <a:off x="5245200" y="4617360"/>
            <a:ext cx="1713600" cy="968400"/>
          </a:xfrm>
          <a:prstGeom prst="rect">
            <a:avLst/>
          </a:prstGeom>
          <a:noFill/>
          <a:ln/>
        </p:spPr>
        <p:txBody>
          <a:bodyPr wrap="square" lIns="0" tIns="0" rIns="0" bIns="0" rtlCol="0" anchor="t"/>
          <a:lstStyle/>
          <a:p>
            <a:pPr algn="l" indent="0" marL="0">
              <a:buNone/>
            </a:pPr>
            <a:endParaRPr lang="en-US" sz="1100" dirty="0"/>
          </a:p>
        </p:txBody>
      </p:sp>
      <p:sp>
        <p:nvSpPr>
          <p:cNvPr id="26" name="Shape 23"/>
          <p:cNvSpPr/>
          <p:nvPr/>
        </p:nvSpPr>
        <p:spPr>
          <a:xfrm>
            <a:off x="540000" y="5625360"/>
            <a:ext cx="3492000" cy="1229760"/>
          </a:xfrm>
          <a:prstGeom prst="rect">
            <a:avLst/>
          </a:prstGeom>
          <a:solidFill>
            <a:srgbClr val="FFFFFF"/>
          </a:solidFill>
          <a:ln w="6985">
            <a:solidFill>
              <a:srgbClr val="202020"/>
            </a:solidFill>
            <a:prstDash val="solid"/>
          </a:ln>
        </p:spPr>
      </p:sp>
      <p:sp>
        <p:nvSpPr>
          <p:cNvPr id="27" name="Text 24"/>
          <p:cNvSpPr/>
          <p:nvPr/>
        </p:nvSpPr>
        <p:spPr>
          <a:xfrm>
            <a:off x="601200" y="5664960"/>
            <a:ext cx="3369600" cy="1150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Fiche synthétique</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8-2-1</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Décret n° 2016-1822 du 21/12/2016</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d’établir et de mettre à jour annuellement une fiche synthétique de la copropriété.</a:t>
            </a:r>
            <a:endParaRPr lang="en-US" sz="1100" dirty="0"/>
          </a:p>
        </p:txBody>
      </p:sp>
      <p:sp>
        <p:nvSpPr>
          <p:cNvPr id="28" name="Shape 25"/>
          <p:cNvSpPr/>
          <p:nvPr/>
        </p:nvSpPr>
        <p:spPr>
          <a:xfrm>
            <a:off x="4032000" y="5625360"/>
            <a:ext cx="1152000" cy="1229760"/>
          </a:xfrm>
          <a:prstGeom prst="rect">
            <a:avLst/>
          </a:prstGeom>
          <a:solidFill>
            <a:srgbClr val="00B55A"/>
          </a:solidFill>
          <a:ln w="6985">
            <a:solidFill>
              <a:srgbClr val="202020"/>
            </a:solidFill>
            <a:prstDash val="solid"/>
          </a:ln>
        </p:spPr>
      </p:sp>
      <p:sp>
        <p:nvSpPr>
          <p:cNvPr id="29" name="Text 26"/>
          <p:cNvSpPr/>
          <p:nvPr/>
        </p:nvSpPr>
        <p:spPr>
          <a:xfrm>
            <a:off x="4093200" y="5664960"/>
            <a:ext cx="1029600" cy="115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0" name="Shape 27"/>
          <p:cNvSpPr/>
          <p:nvPr/>
        </p:nvSpPr>
        <p:spPr>
          <a:xfrm>
            <a:off x="5184000" y="5625360"/>
            <a:ext cx="1836000" cy="1229760"/>
          </a:xfrm>
          <a:prstGeom prst="rect">
            <a:avLst/>
          </a:prstGeom>
          <a:solidFill>
            <a:srgbClr val="FFFFFF"/>
          </a:solidFill>
          <a:ln w="6985">
            <a:solidFill>
              <a:srgbClr val="202020"/>
            </a:solidFill>
            <a:prstDash val="solid"/>
          </a:ln>
        </p:spPr>
      </p:sp>
      <p:sp>
        <p:nvSpPr>
          <p:cNvPr id="31" name="Text 28"/>
          <p:cNvSpPr/>
          <p:nvPr/>
        </p:nvSpPr>
        <p:spPr>
          <a:xfrm>
            <a:off x="5245200" y="5664960"/>
            <a:ext cx="1713600" cy="1150560"/>
          </a:xfrm>
          <a:prstGeom prst="rect">
            <a:avLst/>
          </a:prstGeom>
          <a:noFill/>
          <a:ln/>
        </p:spPr>
        <p:txBody>
          <a:bodyPr wrap="square" lIns="0" tIns="0" rIns="0" bIns="0" rtlCol="0" anchor="t"/>
          <a:lstStyle/>
          <a:p>
            <a:pPr algn="l" indent="0" marL="0">
              <a:buNone/>
            </a:pPr>
            <a:endParaRPr lang="en-US" sz="1100" dirty="0"/>
          </a:p>
        </p:txBody>
      </p:sp>
      <p:sp>
        <p:nvSpPr>
          <p:cNvPr id="32" name="Shape 29"/>
          <p:cNvSpPr/>
          <p:nvPr/>
        </p:nvSpPr>
        <p:spPr>
          <a:xfrm>
            <a:off x="540000" y="6855120"/>
            <a:ext cx="3492000" cy="1229760"/>
          </a:xfrm>
          <a:prstGeom prst="rect">
            <a:avLst/>
          </a:prstGeom>
          <a:solidFill>
            <a:srgbClr val="FFFFFF"/>
          </a:solidFill>
          <a:ln w="6985">
            <a:solidFill>
              <a:srgbClr val="202020"/>
            </a:solidFill>
            <a:prstDash val="solid"/>
          </a:ln>
        </p:spPr>
      </p:sp>
      <p:sp>
        <p:nvSpPr>
          <p:cNvPr id="33" name="Text 30"/>
          <p:cNvSpPr/>
          <p:nvPr/>
        </p:nvSpPr>
        <p:spPr>
          <a:xfrm>
            <a:off x="601200" y="6894720"/>
            <a:ext cx="3369600" cy="1150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Règlement de copropriété</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8</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disposer d’un règlement de copropriété définissant l’organisation, les parties communes et privatives, ainsi que les droits et obligations des copropriétaires.</a:t>
            </a:r>
            <a:endParaRPr lang="en-US" sz="1100" dirty="0"/>
          </a:p>
        </p:txBody>
      </p:sp>
      <p:sp>
        <p:nvSpPr>
          <p:cNvPr id="34" name="Shape 31"/>
          <p:cNvSpPr/>
          <p:nvPr/>
        </p:nvSpPr>
        <p:spPr>
          <a:xfrm>
            <a:off x="4032000" y="6855120"/>
            <a:ext cx="1152000" cy="1229760"/>
          </a:xfrm>
          <a:prstGeom prst="rect">
            <a:avLst/>
          </a:prstGeom>
          <a:solidFill>
            <a:srgbClr val="00B55A"/>
          </a:solidFill>
          <a:ln w="6985">
            <a:solidFill>
              <a:srgbClr val="202020"/>
            </a:solidFill>
            <a:prstDash val="solid"/>
          </a:ln>
        </p:spPr>
      </p:sp>
      <p:sp>
        <p:nvSpPr>
          <p:cNvPr id="35" name="Text 32"/>
          <p:cNvSpPr/>
          <p:nvPr/>
        </p:nvSpPr>
        <p:spPr>
          <a:xfrm>
            <a:off x="4093200" y="6894720"/>
            <a:ext cx="1029600" cy="115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6" name="Shape 33"/>
          <p:cNvSpPr/>
          <p:nvPr/>
        </p:nvSpPr>
        <p:spPr>
          <a:xfrm>
            <a:off x="5184000" y="6855120"/>
            <a:ext cx="1836000" cy="1229760"/>
          </a:xfrm>
          <a:prstGeom prst="rect">
            <a:avLst/>
          </a:prstGeom>
          <a:solidFill>
            <a:srgbClr val="FFFFFF"/>
          </a:solidFill>
          <a:ln w="6985">
            <a:solidFill>
              <a:srgbClr val="202020"/>
            </a:solidFill>
            <a:prstDash val="solid"/>
          </a:ln>
        </p:spPr>
      </p:sp>
      <p:sp>
        <p:nvSpPr>
          <p:cNvPr id="37" name="Text 34"/>
          <p:cNvSpPr/>
          <p:nvPr/>
        </p:nvSpPr>
        <p:spPr>
          <a:xfrm>
            <a:off x="5245200" y="6894720"/>
            <a:ext cx="1713600" cy="1150560"/>
          </a:xfrm>
          <a:prstGeom prst="rect">
            <a:avLst/>
          </a:prstGeom>
          <a:noFill/>
          <a:ln/>
        </p:spPr>
        <p:txBody>
          <a:bodyPr wrap="square" lIns="0" tIns="0" rIns="0" bIns="0" rtlCol="0" anchor="t"/>
          <a:lstStyle/>
          <a:p>
            <a:pPr algn="l" indent="0" marL="0">
              <a:buNone/>
            </a:pPr>
            <a:endParaRPr lang="en-US" sz="1100" dirty="0"/>
          </a:p>
        </p:txBody>
      </p:sp>
      <p:sp>
        <p:nvSpPr>
          <p:cNvPr id="38" name="Shape 35"/>
          <p:cNvSpPr/>
          <p:nvPr/>
        </p:nvSpPr>
        <p:spPr>
          <a:xfrm>
            <a:off x="540000" y="8084880"/>
            <a:ext cx="3492000" cy="1229760"/>
          </a:xfrm>
          <a:prstGeom prst="rect">
            <a:avLst/>
          </a:prstGeom>
          <a:solidFill>
            <a:srgbClr val="FFFFFF"/>
          </a:solidFill>
          <a:ln w="6985">
            <a:solidFill>
              <a:srgbClr val="202020"/>
            </a:solidFill>
            <a:prstDash val="solid"/>
          </a:ln>
        </p:spPr>
      </p:sp>
      <p:sp>
        <p:nvSpPr>
          <p:cNvPr id="39" name="Text 36"/>
          <p:cNvSpPr/>
          <p:nvPr/>
        </p:nvSpPr>
        <p:spPr>
          <a:xfrm>
            <a:off x="601200" y="8124480"/>
            <a:ext cx="3369600" cy="1150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Compte bancaire séparé</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18</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2014-366 du 24/03/2014 (ALUR)</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d’ouvrir et de tenir un compte bancaire séparé au nom du syndicat des copropriétaires.</a:t>
            </a:r>
            <a:endParaRPr lang="en-US" sz="1100" dirty="0"/>
          </a:p>
        </p:txBody>
      </p:sp>
      <p:sp>
        <p:nvSpPr>
          <p:cNvPr id="40" name="Shape 37"/>
          <p:cNvSpPr/>
          <p:nvPr/>
        </p:nvSpPr>
        <p:spPr>
          <a:xfrm>
            <a:off x="4032000" y="8084880"/>
            <a:ext cx="1152000" cy="1229760"/>
          </a:xfrm>
          <a:prstGeom prst="rect">
            <a:avLst/>
          </a:prstGeom>
          <a:solidFill>
            <a:srgbClr val="00B55A"/>
          </a:solidFill>
          <a:ln w="6985">
            <a:solidFill>
              <a:srgbClr val="202020"/>
            </a:solidFill>
            <a:prstDash val="solid"/>
          </a:ln>
        </p:spPr>
      </p:sp>
      <p:sp>
        <p:nvSpPr>
          <p:cNvPr id="41" name="Text 38"/>
          <p:cNvSpPr/>
          <p:nvPr/>
        </p:nvSpPr>
        <p:spPr>
          <a:xfrm>
            <a:off x="4093200" y="8124480"/>
            <a:ext cx="1029600" cy="115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42" name="Shape 39"/>
          <p:cNvSpPr/>
          <p:nvPr/>
        </p:nvSpPr>
        <p:spPr>
          <a:xfrm>
            <a:off x="5184000" y="8084880"/>
            <a:ext cx="1836000" cy="1229760"/>
          </a:xfrm>
          <a:prstGeom prst="rect">
            <a:avLst/>
          </a:prstGeom>
          <a:solidFill>
            <a:srgbClr val="FFFFFF"/>
          </a:solidFill>
          <a:ln w="6985">
            <a:solidFill>
              <a:srgbClr val="202020"/>
            </a:solidFill>
            <a:prstDash val="solid"/>
          </a:ln>
        </p:spPr>
      </p:sp>
      <p:sp>
        <p:nvSpPr>
          <p:cNvPr id="43" name="Text 40"/>
          <p:cNvSpPr/>
          <p:nvPr/>
        </p:nvSpPr>
        <p:spPr>
          <a:xfrm>
            <a:off x="5245200" y="8124480"/>
            <a:ext cx="1713600" cy="1150560"/>
          </a:xfrm>
          <a:prstGeom prst="rect">
            <a:avLst/>
          </a:prstGeom>
          <a:noFill/>
          <a:ln/>
        </p:spPr>
        <p:txBody>
          <a:bodyPr wrap="square" lIns="0" tIns="0" rIns="0" bIns="0" rtlCol="0" anchor="t"/>
          <a:lstStyle/>
          <a:p>
            <a:pPr algn="l" indent="0" marL="0">
              <a:buNone/>
            </a:pPr>
            <a:endParaRPr lang="en-US" sz="1100" dirty="0"/>
          </a:p>
        </p:txBody>
      </p:sp>
      <p:sp>
        <p:nvSpPr>
          <p:cNvPr id="44" name="Text 41"/>
          <p:cNvSpPr/>
          <p:nvPr/>
        </p:nvSpPr>
        <p:spPr>
          <a:xfrm>
            <a:off x="648000" y="133200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1100" dirty="0"/>
          </a:p>
        </p:txBody>
      </p:sp>
      <p:sp>
        <p:nvSpPr>
          <p:cNvPr id="45" name="Text 42"/>
          <p:cNvSpPr/>
          <p:nvPr/>
        </p:nvSpPr>
        <p:spPr>
          <a:xfrm>
            <a:off x="648000" y="236160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tableau ci-après récapitule les principaux documents examinés ainsi que leur statut de transmission au moment de la réalisation de l’étude.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1192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327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Procès-verbaux des assemblées générales</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17, 17-1 et 42</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Décret n° 67-223 du 17/03/1967</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Les procès-verbaux des assemblées générales retracent les décisions votées par les copropriétaires.</a:t>
            </a:r>
            <a:endParaRPr lang="en-US" sz="1100" dirty="0"/>
          </a:p>
        </p:txBody>
      </p:sp>
      <p:sp>
        <p:nvSpPr>
          <p:cNvPr id="16" name="Shape 13"/>
          <p:cNvSpPr/>
          <p:nvPr/>
        </p:nvSpPr>
        <p:spPr>
          <a:xfrm>
            <a:off x="4032000" y="2034000"/>
            <a:ext cx="1152000" cy="141192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332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18" name="Shape 15"/>
          <p:cNvSpPr/>
          <p:nvPr/>
        </p:nvSpPr>
        <p:spPr>
          <a:xfrm>
            <a:off x="5184000" y="2034000"/>
            <a:ext cx="1836000" cy="141192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32720"/>
          </a:xfrm>
          <a:prstGeom prst="rect">
            <a:avLst/>
          </a:prstGeom>
          <a:noFill/>
          <a:ln/>
        </p:spPr>
        <p:txBody>
          <a:bodyPr wrap="square" lIns="0" tIns="0" rIns="0" bIns="0" rtlCol="0" anchor="t"/>
          <a:lstStyle/>
          <a:p>
            <a:pPr algn="l" indent="0" marL="0">
              <a:buNone/>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1192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327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Dossier Technique Amiante (DTA)</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18</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2014-366 du 24/03/2014 (ALUR)</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d’établir et de tenir à jour un dossier technique amiante pour les immeubles dont le permis de construire est antérieur au 1er juillet 1997.</a:t>
            </a:r>
            <a:endParaRPr lang="en-US" sz="1100" dirty="0"/>
          </a:p>
        </p:txBody>
      </p:sp>
      <p:sp>
        <p:nvSpPr>
          <p:cNvPr id="16" name="Shape 13"/>
          <p:cNvSpPr/>
          <p:nvPr/>
        </p:nvSpPr>
        <p:spPr>
          <a:xfrm>
            <a:off x="4032000" y="2034000"/>
            <a:ext cx="1152000" cy="141192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332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18" name="Shape 15"/>
          <p:cNvSpPr/>
          <p:nvPr/>
        </p:nvSpPr>
        <p:spPr>
          <a:xfrm>
            <a:off x="5184000" y="2034000"/>
            <a:ext cx="1836000" cy="141192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32720"/>
          </a:xfrm>
          <a:prstGeom prst="rect">
            <a:avLst/>
          </a:prstGeom>
          <a:noFill/>
          <a:ln/>
        </p:spPr>
        <p:txBody>
          <a:bodyPr wrap="square" lIns="0" tIns="0" rIns="0" bIns="0" rtlCol="0" anchor="t"/>
          <a:lstStyle/>
          <a:p>
            <a:pPr algn="l" indent="0" marL="0">
              <a:buNone/>
            </a:pPr>
            <a:endParaRPr lang="en-US" sz="1100" dirty="0"/>
          </a:p>
        </p:txBody>
      </p:sp>
      <p:sp>
        <p:nvSpPr>
          <p:cNvPr id="20" name="Shape 17"/>
          <p:cNvSpPr/>
          <p:nvPr/>
        </p:nvSpPr>
        <p:spPr>
          <a:xfrm>
            <a:off x="540000" y="3445920"/>
            <a:ext cx="3492000" cy="1594080"/>
          </a:xfrm>
          <a:prstGeom prst="rect">
            <a:avLst/>
          </a:prstGeom>
          <a:solidFill>
            <a:srgbClr val="FFFFFF"/>
          </a:solidFill>
          <a:ln w="6985">
            <a:solidFill>
              <a:srgbClr val="202020"/>
            </a:solidFill>
            <a:prstDash val="solid"/>
          </a:ln>
        </p:spPr>
      </p:sp>
      <p:sp>
        <p:nvSpPr>
          <p:cNvPr id="21" name="Text 18"/>
          <p:cNvSpPr/>
          <p:nvPr/>
        </p:nvSpPr>
        <p:spPr>
          <a:xfrm>
            <a:off x="601200" y="3485520"/>
            <a:ext cx="3369600" cy="15148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Diagnostic plomb – Parties communes (CREP)</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santé publique : art. L1334-5 à L1334-12</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Décret n° 2006-474 du 25/04/2006</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réaliser un diagnostic plomb des parties communes pour les immeubles construits avant 1949, en cas de situation à risque ou avant travaux.</a:t>
            </a:r>
            <a:endParaRPr lang="en-US" sz="1100" dirty="0"/>
          </a:p>
        </p:txBody>
      </p:sp>
      <p:sp>
        <p:nvSpPr>
          <p:cNvPr id="22" name="Shape 19"/>
          <p:cNvSpPr/>
          <p:nvPr/>
        </p:nvSpPr>
        <p:spPr>
          <a:xfrm>
            <a:off x="4032000" y="3445920"/>
            <a:ext cx="1152000" cy="1594080"/>
          </a:xfrm>
          <a:prstGeom prst="rect">
            <a:avLst/>
          </a:prstGeom>
          <a:solidFill>
            <a:srgbClr val="00B55A"/>
          </a:solidFill>
          <a:ln w="6985">
            <a:solidFill>
              <a:srgbClr val="202020"/>
            </a:solidFill>
            <a:prstDash val="solid"/>
          </a:ln>
        </p:spPr>
      </p:sp>
      <p:sp>
        <p:nvSpPr>
          <p:cNvPr id="23" name="Text 20"/>
          <p:cNvSpPr/>
          <p:nvPr/>
        </p:nvSpPr>
        <p:spPr>
          <a:xfrm>
            <a:off x="4093200" y="3485520"/>
            <a:ext cx="1029600" cy="15148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24" name="Shape 21"/>
          <p:cNvSpPr/>
          <p:nvPr/>
        </p:nvSpPr>
        <p:spPr>
          <a:xfrm>
            <a:off x="5184000" y="3445920"/>
            <a:ext cx="1836000" cy="1594080"/>
          </a:xfrm>
          <a:prstGeom prst="rect">
            <a:avLst/>
          </a:prstGeom>
          <a:solidFill>
            <a:srgbClr val="FFFFFF"/>
          </a:solidFill>
          <a:ln w="6985">
            <a:solidFill>
              <a:srgbClr val="202020"/>
            </a:solidFill>
            <a:prstDash val="solid"/>
          </a:ln>
        </p:spPr>
      </p:sp>
      <p:sp>
        <p:nvSpPr>
          <p:cNvPr id="25" name="Text 22"/>
          <p:cNvSpPr/>
          <p:nvPr/>
        </p:nvSpPr>
        <p:spPr>
          <a:xfrm>
            <a:off x="5245200" y="3485520"/>
            <a:ext cx="1713600" cy="1514880"/>
          </a:xfrm>
          <a:prstGeom prst="rect">
            <a:avLst/>
          </a:prstGeom>
          <a:noFill/>
          <a:ln/>
        </p:spPr>
        <p:txBody>
          <a:bodyPr wrap="square" lIns="0" tIns="0" rIns="0" bIns="0" rtlCol="0" anchor="t"/>
          <a:lstStyle/>
          <a:p>
            <a:pPr algn="l" indent="0" marL="0">
              <a:buNone/>
            </a:pPr>
            <a:endParaRPr lang="en-US" sz="1100" dirty="0"/>
          </a:p>
        </p:txBody>
      </p:sp>
      <p:sp>
        <p:nvSpPr>
          <p:cNvPr id="26" name="Shape 23"/>
          <p:cNvSpPr/>
          <p:nvPr/>
        </p:nvSpPr>
        <p:spPr>
          <a:xfrm>
            <a:off x="540000" y="5040000"/>
            <a:ext cx="3492000" cy="1594080"/>
          </a:xfrm>
          <a:prstGeom prst="rect">
            <a:avLst/>
          </a:prstGeom>
          <a:solidFill>
            <a:srgbClr val="FFFFFF"/>
          </a:solidFill>
          <a:ln w="6985">
            <a:solidFill>
              <a:srgbClr val="202020"/>
            </a:solidFill>
            <a:prstDash val="solid"/>
          </a:ln>
        </p:spPr>
      </p:sp>
      <p:sp>
        <p:nvSpPr>
          <p:cNvPr id="27" name="Text 24"/>
          <p:cNvSpPr/>
          <p:nvPr/>
        </p:nvSpPr>
        <p:spPr>
          <a:xfrm>
            <a:off x="601200" y="5079600"/>
            <a:ext cx="3369600" cy="15148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Diagnostic Technique Global (DTG)</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L731-1 et L731-2 du CCH</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2014-366 du 24/03/2014 (ALUR)</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réaliser un diagnostic technique global pour les copropriétés de plus de 10 ans, en cas de mise en copropriété ou sur décision de l’assemblée générale.</a:t>
            </a:r>
            <a:endParaRPr lang="en-US" sz="1100" dirty="0"/>
          </a:p>
        </p:txBody>
      </p:sp>
      <p:sp>
        <p:nvSpPr>
          <p:cNvPr id="28" name="Shape 25"/>
          <p:cNvSpPr/>
          <p:nvPr/>
        </p:nvSpPr>
        <p:spPr>
          <a:xfrm>
            <a:off x="4032000" y="5040000"/>
            <a:ext cx="1152000" cy="1594080"/>
          </a:xfrm>
          <a:prstGeom prst="rect">
            <a:avLst/>
          </a:prstGeom>
          <a:solidFill>
            <a:srgbClr val="00B55A"/>
          </a:solidFill>
          <a:ln w="6985">
            <a:solidFill>
              <a:srgbClr val="202020"/>
            </a:solidFill>
            <a:prstDash val="solid"/>
          </a:ln>
        </p:spPr>
      </p:sp>
      <p:sp>
        <p:nvSpPr>
          <p:cNvPr id="29" name="Text 26"/>
          <p:cNvSpPr/>
          <p:nvPr/>
        </p:nvSpPr>
        <p:spPr>
          <a:xfrm>
            <a:off x="4093200" y="5079600"/>
            <a:ext cx="1029600" cy="15148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0" name="Shape 27"/>
          <p:cNvSpPr/>
          <p:nvPr/>
        </p:nvSpPr>
        <p:spPr>
          <a:xfrm>
            <a:off x="5184000" y="5040000"/>
            <a:ext cx="1836000" cy="1594080"/>
          </a:xfrm>
          <a:prstGeom prst="rect">
            <a:avLst/>
          </a:prstGeom>
          <a:solidFill>
            <a:srgbClr val="FFFFFF"/>
          </a:solidFill>
          <a:ln w="6985">
            <a:solidFill>
              <a:srgbClr val="202020"/>
            </a:solidFill>
            <a:prstDash val="solid"/>
          </a:ln>
        </p:spPr>
      </p:sp>
      <p:sp>
        <p:nvSpPr>
          <p:cNvPr id="31" name="Text 28"/>
          <p:cNvSpPr/>
          <p:nvPr/>
        </p:nvSpPr>
        <p:spPr>
          <a:xfrm>
            <a:off x="5245200" y="5079600"/>
            <a:ext cx="1713600" cy="1514880"/>
          </a:xfrm>
          <a:prstGeom prst="rect">
            <a:avLst/>
          </a:prstGeom>
          <a:noFill/>
          <a:ln/>
        </p:spPr>
        <p:txBody>
          <a:bodyPr wrap="square" lIns="0" tIns="0" rIns="0" bIns="0" rtlCol="0" anchor="t"/>
          <a:lstStyle/>
          <a:p>
            <a:pPr algn="l" indent="0" marL="0">
              <a:buNone/>
            </a:pPr>
            <a:endParaRPr lang="en-US" sz="1100" dirty="0"/>
          </a:p>
        </p:txBody>
      </p:sp>
      <p:sp>
        <p:nvSpPr>
          <p:cNvPr id="32" name="Shape 29"/>
          <p:cNvSpPr/>
          <p:nvPr/>
        </p:nvSpPr>
        <p:spPr>
          <a:xfrm>
            <a:off x="540000" y="6634080"/>
            <a:ext cx="3492000" cy="1776240"/>
          </a:xfrm>
          <a:prstGeom prst="rect">
            <a:avLst/>
          </a:prstGeom>
          <a:solidFill>
            <a:srgbClr val="FFFFFF"/>
          </a:solidFill>
          <a:ln w="6985">
            <a:solidFill>
              <a:srgbClr val="202020"/>
            </a:solidFill>
            <a:prstDash val="solid"/>
          </a:ln>
        </p:spPr>
      </p:sp>
      <p:sp>
        <p:nvSpPr>
          <p:cNvPr id="33" name="Text 30"/>
          <p:cNvSpPr/>
          <p:nvPr/>
        </p:nvSpPr>
        <p:spPr>
          <a:xfrm>
            <a:off x="601200" y="6673680"/>
            <a:ext cx="3369600" cy="169704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Diagnostic termites</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construction et de l’habitation : art. L133-1 à L133-6</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préfectoral de classement en zone termites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réaliser un diagnostic termites pour les immeubles situés dans une zone déclarée infestée par arrêté préfectoral, notamment en cas de vente ou de travaux.</a:t>
            </a:r>
            <a:endParaRPr lang="en-US" sz="1100" dirty="0"/>
          </a:p>
        </p:txBody>
      </p:sp>
      <p:sp>
        <p:nvSpPr>
          <p:cNvPr id="34" name="Shape 31"/>
          <p:cNvSpPr/>
          <p:nvPr/>
        </p:nvSpPr>
        <p:spPr>
          <a:xfrm>
            <a:off x="4032000" y="6634080"/>
            <a:ext cx="1152000" cy="1776240"/>
          </a:xfrm>
          <a:prstGeom prst="rect">
            <a:avLst/>
          </a:prstGeom>
          <a:solidFill>
            <a:srgbClr val="00B55A"/>
          </a:solidFill>
          <a:ln w="6985">
            <a:solidFill>
              <a:srgbClr val="202020"/>
            </a:solidFill>
            <a:prstDash val="solid"/>
          </a:ln>
        </p:spPr>
      </p:sp>
      <p:sp>
        <p:nvSpPr>
          <p:cNvPr id="35" name="Text 32"/>
          <p:cNvSpPr/>
          <p:nvPr/>
        </p:nvSpPr>
        <p:spPr>
          <a:xfrm>
            <a:off x="4093200" y="6673680"/>
            <a:ext cx="1029600" cy="1697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6" name="Shape 33"/>
          <p:cNvSpPr/>
          <p:nvPr/>
        </p:nvSpPr>
        <p:spPr>
          <a:xfrm>
            <a:off x="5184000" y="6634080"/>
            <a:ext cx="1836000" cy="1776240"/>
          </a:xfrm>
          <a:prstGeom prst="rect">
            <a:avLst/>
          </a:prstGeom>
          <a:solidFill>
            <a:srgbClr val="FFFFFF"/>
          </a:solidFill>
          <a:ln w="6985">
            <a:solidFill>
              <a:srgbClr val="202020"/>
            </a:solidFill>
            <a:prstDash val="solid"/>
          </a:ln>
        </p:spPr>
      </p:sp>
      <p:sp>
        <p:nvSpPr>
          <p:cNvPr id="37" name="Text 34"/>
          <p:cNvSpPr/>
          <p:nvPr/>
        </p:nvSpPr>
        <p:spPr>
          <a:xfrm>
            <a:off x="5245200" y="6673680"/>
            <a:ext cx="1713600" cy="1697040"/>
          </a:xfrm>
          <a:prstGeom prst="rect">
            <a:avLst/>
          </a:prstGeom>
          <a:noFill/>
          <a:ln/>
        </p:spPr>
        <p:txBody>
          <a:bodyPr wrap="square" lIns="0" tIns="0" rIns="0" bIns="0" rtlCol="0" anchor="t"/>
          <a:lstStyle/>
          <a:p>
            <a:pPr algn="l" indent="0" marL="0">
              <a:buNone/>
            </a:pPr>
            <a:endParaRPr lang="en-US" sz="1100" dirty="0"/>
          </a:p>
        </p:txBody>
      </p:sp>
      <p:sp>
        <p:nvSpPr>
          <p:cNvPr id="38" name="Shape 35"/>
          <p:cNvSpPr/>
          <p:nvPr/>
        </p:nvSpPr>
        <p:spPr>
          <a:xfrm>
            <a:off x="540000" y="8410320"/>
            <a:ext cx="3492000" cy="1411920"/>
          </a:xfrm>
          <a:prstGeom prst="rect">
            <a:avLst/>
          </a:prstGeom>
          <a:solidFill>
            <a:srgbClr val="FFFFFF"/>
          </a:solidFill>
          <a:ln w="6985">
            <a:solidFill>
              <a:srgbClr val="202020"/>
            </a:solidFill>
            <a:prstDash val="solid"/>
          </a:ln>
        </p:spPr>
      </p:sp>
      <p:sp>
        <p:nvSpPr>
          <p:cNvPr id="39" name="Text 36"/>
          <p:cNvSpPr/>
          <p:nvPr/>
        </p:nvSpPr>
        <p:spPr>
          <a:xfrm>
            <a:off x="601200" y="8449920"/>
            <a:ext cx="3369600" cy="13327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Diagnostic mérules</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construction et de l’habitation : art. L133-7 à L133-9</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santé publique : art. L1331-1</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déclarer en mairie la présence de mérules et d’informer les occupants en cas de contamination du bâtiment.</a:t>
            </a:r>
            <a:endParaRPr lang="en-US" sz="1100" dirty="0"/>
          </a:p>
        </p:txBody>
      </p:sp>
      <p:sp>
        <p:nvSpPr>
          <p:cNvPr id="40" name="Shape 37"/>
          <p:cNvSpPr/>
          <p:nvPr/>
        </p:nvSpPr>
        <p:spPr>
          <a:xfrm>
            <a:off x="4032000" y="8410320"/>
            <a:ext cx="1152000" cy="1411920"/>
          </a:xfrm>
          <a:prstGeom prst="rect">
            <a:avLst/>
          </a:prstGeom>
          <a:solidFill>
            <a:srgbClr val="00B55A"/>
          </a:solidFill>
          <a:ln w="6985">
            <a:solidFill>
              <a:srgbClr val="202020"/>
            </a:solidFill>
            <a:prstDash val="solid"/>
          </a:ln>
        </p:spPr>
      </p:sp>
      <p:sp>
        <p:nvSpPr>
          <p:cNvPr id="41" name="Text 38"/>
          <p:cNvSpPr/>
          <p:nvPr/>
        </p:nvSpPr>
        <p:spPr>
          <a:xfrm>
            <a:off x="4093200" y="8449920"/>
            <a:ext cx="1029600" cy="1332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42" name="Shape 39"/>
          <p:cNvSpPr/>
          <p:nvPr/>
        </p:nvSpPr>
        <p:spPr>
          <a:xfrm>
            <a:off x="5184000" y="8410320"/>
            <a:ext cx="1836000" cy="1411920"/>
          </a:xfrm>
          <a:prstGeom prst="rect">
            <a:avLst/>
          </a:prstGeom>
          <a:solidFill>
            <a:srgbClr val="FFFFFF"/>
          </a:solidFill>
          <a:ln w="6985">
            <a:solidFill>
              <a:srgbClr val="202020"/>
            </a:solidFill>
            <a:prstDash val="solid"/>
          </a:ln>
        </p:spPr>
      </p:sp>
      <p:sp>
        <p:nvSpPr>
          <p:cNvPr id="43" name="Text 40"/>
          <p:cNvSpPr/>
          <p:nvPr/>
        </p:nvSpPr>
        <p:spPr>
          <a:xfrm>
            <a:off x="5245200" y="8449920"/>
            <a:ext cx="1713600" cy="1332720"/>
          </a:xfrm>
          <a:prstGeom prst="rect">
            <a:avLst/>
          </a:prstGeom>
          <a:noFill/>
          <a:ln/>
        </p:spPr>
        <p:txBody>
          <a:bodyPr wrap="square" lIns="0" tIns="0" rIns="0" bIns="0" rtlCol="0" anchor="t"/>
          <a:lstStyle/>
          <a:p>
            <a:pPr algn="l" indent="0" marL="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1192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327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Maintenance des chaudières collectives &lt; 400 kW</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du 15 septembre 2009 modifié relatif à l’entretien des chaudières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faire réaliser un entretien annuel des chaudières collectives dont la puissance est comprise entre 4 et 400 kW.</a:t>
            </a:r>
            <a:endParaRPr lang="en-US" sz="1100" dirty="0"/>
          </a:p>
        </p:txBody>
      </p:sp>
      <p:sp>
        <p:nvSpPr>
          <p:cNvPr id="16" name="Shape 13"/>
          <p:cNvSpPr/>
          <p:nvPr/>
        </p:nvSpPr>
        <p:spPr>
          <a:xfrm>
            <a:off x="4032000" y="2034000"/>
            <a:ext cx="1152000" cy="141192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332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18" name="Shape 15"/>
          <p:cNvSpPr/>
          <p:nvPr/>
        </p:nvSpPr>
        <p:spPr>
          <a:xfrm>
            <a:off x="5184000" y="2034000"/>
            <a:ext cx="1836000" cy="141192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32720"/>
          </a:xfrm>
          <a:prstGeom prst="rect">
            <a:avLst/>
          </a:prstGeom>
          <a:noFill/>
          <a:ln/>
        </p:spPr>
        <p:txBody>
          <a:bodyPr wrap="square" lIns="0" tIns="0" rIns="0" bIns="0" rtlCol="0" anchor="t"/>
          <a:lstStyle/>
          <a:p>
            <a:pPr algn="l" indent="0" marL="0">
              <a:buNone/>
            </a:pPr>
            <a:endParaRPr lang="en-US" sz="1100" dirty="0"/>
          </a:p>
        </p:txBody>
      </p:sp>
      <p:sp>
        <p:nvSpPr>
          <p:cNvPr id="20" name="Shape 17"/>
          <p:cNvSpPr/>
          <p:nvPr/>
        </p:nvSpPr>
        <p:spPr>
          <a:xfrm>
            <a:off x="540000" y="3445920"/>
            <a:ext cx="3492000" cy="1411920"/>
          </a:xfrm>
          <a:prstGeom prst="rect">
            <a:avLst/>
          </a:prstGeom>
          <a:solidFill>
            <a:srgbClr val="FFFFFF"/>
          </a:solidFill>
          <a:ln w="6985">
            <a:solidFill>
              <a:srgbClr val="202020"/>
            </a:solidFill>
            <a:prstDash val="solid"/>
          </a:ln>
        </p:spPr>
      </p:sp>
      <p:sp>
        <p:nvSpPr>
          <p:cNvPr id="21" name="Text 18"/>
          <p:cNvSpPr/>
          <p:nvPr/>
        </p:nvSpPr>
        <p:spPr>
          <a:xfrm>
            <a:off x="601200" y="3485520"/>
            <a:ext cx="3369600" cy="13327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Maintenance des chaudières collectives &gt; 400 kW</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du 2 octobre 2009 relatif à l’inspection des chaudières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Inspection périodique obligatoire tous les 2 ans pour les chaudières collectives de puissance supérieure à 400 kW.</a:t>
            </a:r>
            <a:endParaRPr lang="en-US" sz="1100" dirty="0"/>
          </a:p>
        </p:txBody>
      </p:sp>
      <p:sp>
        <p:nvSpPr>
          <p:cNvPr id="22" name="Shape 19"/>
          <p:cNvSpPr/>
          <p:nvPr/>
        </p:nvSpPr>
        <p:spPr>
          <a:xfrm>
            <a:off x="4032000" y="3445920"/>
            <a:ext cx="1152000" cy="1411920"/>
          </a:xfrm>
          <a:prstGeom prst="rect">
            <a:avLst/>
          </a:prstGeom>
          <a:solidFill>
            <a:srgbClr val="00B55A"/>
          </a:solidFill>
          <a:ln w="6985">
            <a:solidFill>
              <a:srgbClr val="202020"/>
            </a:solidFill>
            <a:prstDash val="solid"/>
          </a:ln>
        </p:spPr>
      </p:sp>
      <p:sp>
        <p:nvSpPr>
          <p:cNvPr id="23" name="Text 20"/>
          <p:cNvSpPr/>
          <p:nvPr/>
        </p:nvSpPr>
        <p:spPr>
          <a:xfrm>
            <a:off x="4093200" y="3485520"/>
            <a:ext cx="1029600" cy="1332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24" name="Shape 21"/>
          <p:cNvSpPr/>
          <p:nvPr/>
        </p:nvSpPr>
        <p:spPr>
          <a:xfrm>
            <a:off x="5184000" y="3445920"/>
            <a:ext cx="1836000" cy="1411920"/>
          </a:xfrm>
          <a:prstGeom prst="rect">
            <a:avLst/>
          </a:prstGeom>
          <a:solidFill>
            <a:srgbClr val="FFFFFF"/>
          </a:solidFill>
          <a:ln w="6985">
            <a:solidFill>
              <a:srgbClr val="202020"/>
            </a:solidFill>
            <a:prstDash val="solid"/>
          </a:ln>
        </p:spPr>
      </p:sp>
      <p:sp>
        <p:nvSpPr>
          <p:cNvPr id="25" name="Text 22"/>
          <p:cNvSpPr/>
          <p:nvPr/>
        </p:nvSpPr>
        <p:spPr>
          <a:xfrm>
            <a:off x="5245200" y="3485520"/>
            <a:ext cx="1713600" cy="1332720"/>
          </a:xfrm>
          <a:prstGeom prst="rect">
            <a:avLst/>
          </a:prstGeom>
          <a:noFill/>
          <a:ln/>
        </p:spPr>
        <p:txBody>
          <a:bodyPr wrap="square" lIns="0" tIns="0" rIns="0" bIns="0" rtlCol="0" anchor="t"/>
          <a:lstStyle/>
          <a:p>
            <a:pPr algn="l" indent="0" marL="0">
              <a:buNone/>
            </a:pPr>
            <a:endParaRPr lang="en-US" sz="1100" dirty="0"/>
          </a:p>
        </p:txBody>
      </p:sp>
      <p:sp>
        <p:nvSpPr>
          <p:cNvPr id="26" name="Shape 23"/>
          <p:cNvSpPr/>
          <p:nvPr/>
        </p:nvSpPr>
        <p:spPr>
          <a:xfrm>
            <a:off x="540000" y="4857840"/>
            <a:ext cx="3492000" cy="936000"/>
          </a:xfrm>
          <a:prstGeom prst="rect">
            <a:avLst/>
          </a:prstGeom>
          <a:solidFill>
            <a:srgbClr val="FFFFFF"/>
          </a:solidFill>
          <a:ln w="6985">
            <a:solidFill>
              <a:srgbClr val="202020"/>
            </a:solidFill>
            <a:prstDash val="solid"/>
          </a:ln>
        </p:spPr>
      </p:sp>
      <p:sp>
        <p:nvSpPr>
          <p:cNvPr id="27" name="Text 24"/>
          <p:cNvSpPr/>
          <p:nvPr/>
        </p:nvSpPr>
        <p:spPr>
          <a:xfrm>
            <a:off x="601200" y="4897440"/>
            <a:ext cx="3369600" cy="8568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Carnet d’entretien de l’immeuble</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Loi n° 65-557 du 10/07/1965 : art. 18</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tenir à jour le carnet d’entretien de la copropriété.</a:t>
            </a:r>
            <a:endParaRPr lang="en-US" sz="1100" dirty="0"/>
          </a:p>
        </p:txBody>
      </p:sp>
      <p:sp>
        <p:nvSpPr>
          <p:cNvPr id="28" name="Shape 25"/>
          <p:cNvSpPr/>
          <p:nvPr/>
        </p:nvSpPr>
        <p:spPr>
          <a:xfrm>
            <a:off x="4032000" y="485784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897440"/>
            <a:ext cx="1029600" cy="856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0" name="Shape 27"/>
          <p:cNvSpPr/>
          <p:nvPr/>
        </p:nvSpPr>
        <p:spPr>
          <a:xfrm>
            <a:off x="5184000" y="485784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897440"/>
            <a:ext cx="1713600" cy="856800"/>
          </a:xfrm>
          <a:prstGeom prst="rect">
            <a:avLst/>
          </a:prstGeom>
          <a:noFill/>
          <a:ln/>
        </p:spPr>
        <p:txBody>
          <a:bodyPr wrap="square" lIns="0" tIns="0" rIns="0" bIns="0" rtlCol="0" anchor="t"/>
          <a:lstStyle/>
          <a:p>
            <a:pPr algn="l" indent="0" marL="0">
              <a:buNone/>
            </a:pPr>
            <a:endParaRPr lang="en-US" sz="1100" dirty="0"/>
          </a:p>
        </p:txBody>
      </p:sp>
      <p:sp>
        <p:nvSpPr>
          <p:cNvPr id="32" name="Text 29"/>
          <p:cNvSpPr/>
          <p:nvPr/>
        </p:nvSpPr>
        <p:spPr>
          <a:xfrm>
            <a:off x="648000" y="5973840"/>
            <a:ext cx="6264000" cy="13399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100" dirty="0"/>
          </a:p>
        </p:txBody>
      </p:sp>
      <p:sp>
        <p:nvSpPr>
          <p:cNvPr id="33" name="Shape 30"/>
          <p:cNvSpPr/>
          <p:nvPr/>
        </p:nvSpPr>
        <p:spPr>
          <a:xfrm>
            <a:off x="540000" y="7457760"/>
            <a:ext cx="6480000" cy="324000"/>
          </a:xfrm>
          <a:prstGeom prst="rect">
            <a:avLst/>
          </a:prstGeom>
          <a:solidFill>
            <a:srgbClr val="0A2B6B"/>
          </a:solidFill>
          <a:ln w="6985">
            <a:solidFill>
              <a:srgbClr val="202020"/>
            </a:solidFill>
            <a:prstDash val="solid"/>
          </a:ln>
        </p:spPr>
      </p:sp>
      <p:sp>
        <p:nvSpPr>
          <p:cNvPr id="34" name="Text 31"/>
          <p:cNvSpPr/>
          <p:nvPr/>
        </p:nvSpPr>
        <p:spPr>
          <a:xfrm>
            <a:off x="601200" y="749736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781760"/>
            <a:ext cx="3240000" cy="324000"/>
          </a:xfrm>
          <a:prstGeom prst="rect">
            <a:avLst/>
          </a:prstGeom>
          <a:solidFill>
            <a:srgbClr val="FFFFFF"/>
          </a:solidFill>
          <a:ln w="6985">
            <a:solidFill>
              <a:srgbClr val="202020"/>
            </a:solidFill>
            <a:prstDash val="solid"/>
          </a:ln>
        </p:spPr>
      </p:sp>
      <p:sp>
        <p:nvSpPr>
          <p:cNvPr id="36" name="Text 33"/>
          <p:cNvSpPr/>
          <p:nvPr/>
        </p:nvSpPr>
        <p:spPr>
          <a:xfrm>
            <a:off x="601200" y="7821360"/>
            <a:ext cx="3117600" cy="2448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À confirmer</a:t>
            </a:r>
            <a:endParaRPr lang="en-US" sz="1100" dirty="0"/>
          </a:p>
        </p:txBody>
      </p:sp>
      <p:sp>
        <p:nvSpPr>
          <p:cNvPr id="37" name="Shape 34"/>
          <p:cNvSpPr/>
          <p:nvPr/>
        </p:nvSpPr>
        <p:spPr>
          <a:xfrm>
            <a:off x="3780000" y="778176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821360"/>
            <a:ext cx="3117600" cy="244800"/>
          </a:xfrm>
          <a:prstGeom prst="rect">
            <a:avLst/>
          </a:prstGeom>
          <a:noFill/>
          <a:ln/>
        </p:spPr>
        <p:txBody>
          <a:bodyPr wrap="square" lIns="0" tIns="0" rIns="0" bIns="0" rtlCol="0" anchor="ctr"/>
          <a:lstStyle/>
          <a:p>
            <a:pPr algn="l" indent="0" marL="0">
              <a:buNone/>
            </a:pPr>
            <a:endParaRPr lang="en-US" sz="1100" dirty="0"/>
          </a:p>
        </p:txBody>
      </p:sp>
      <p:sp>
        <p:nvSpPr>
          <p:cNvPr id="39" name="Shape 36"/>
          <p:cNvSpPr/>
          <p:nvPr/>
        </p:nvSpPr>
        <p:spPr>
          <a:xfrm>
            <a:off x="540000" y="8105760"/>
            <a:ext cx="6480000" cy="324000"/>
          </a:xfrm>
          <a:prstGeom prst="rect">
            <a:avLst/>
          </a:prstGeom>
          <a:solidFill>
            <a:srgbClr val="0A2B6B"/>
          </a:solidFill>
          <a:ln w="6985">
            <a:solidFill>
              <a:srgbClr val="202020"/>
            </a:solidFill>
            <a:prstDash val="solid"/>
          </a:ln>
        </p:spPr>
      </p:sp>
      <p:sp>
        <p:nvSpPr>
          <p:cNvPr id="40" name="Text 37"/>
          <p:cNvSpPr/>
          <p:nvPr/>
        </p:nvSpPr>
        <p:spPr>
          <a:xfrm>
            <a:off x="601200" y="814536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8429760"/>
            <a:ext cx="3240000" cy="324000"/>
          </a:xfrm>
          <a:prstGeom prst="rect">
            <a:avLst/>
          </a:prstGeom>
          <a:solidFill>
            <a:srgbClr val="FFFFFF"/>
          </a:solidFill>
          <a:ln w="6985">
            <a:solidFill>
              <a:srgbClr val="202020"/>
            </a:solidFill>
            <a:prstDash val="solid"/>
          </a:ln>
        </p:spPr>
      </p:sp>
      <p:sp>
        <p:nvSpPr>
          <p:cNvPr id="42" name="Text 39"/>
          <p:cNvSpPr/>
          <p:nvPr/>
        </p:nvSpPr>
        <p:spPr>
          <a:xfrm>
            <a:off x="601200" y="8469360"/>
            <a:ext cx="3117600" cy="2448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À confirmer</a:t>
            </a:r>
            <a:endParaRPr lang="en-US" sz="1100" dirty="0"/>
          </a:p>
        </p:txBody>
      </p:sp>
      <p:sp>
        <p:nvSpPr>
          <p:cNvPr id="43" name="Shape 40"/>
          <p:cNvSpPr/>
          <p:nvPr/>
        </p:nvSpPr>
        <p:spPr>
          <a:xfrm>
            <a:off x="3780000" y="8429760"/>
            <a:ext cx="3240000" cy="324000"/>
          </a:xfrm>
          <a:prstGeom prst="rect">
            <a:avLst/>
          </a:prstGeom>
          <a:solidFill>
            <a:srgbClr val="FFFFFF"/>
          </a:solidFill>
          <a:ln w="6985">
            <a:solidFill>
              <a:srgbClr val="202020"/>
            </a:solidFill>
            <a:prstDash val="solid"/>
          </a:ln>
        </p:spPr>
      </p:sp>
      <p:sp>
        <p:nvSpPr>
          <p:cNvPr id="44" name="Text 41"/>
          <p:cNvSpPr/>
          <p:nvPr/>
        </p:nvSpPr>
        <p:spPr>
          <a:xfrm>
            <a:off x="3841200" y="8469360"/>
            <a:ext cx="3117600" cy="244800"/>
          </a:xfrm>
          <a:prstGeom prst="rect">
            <a:avLst/>
          </a:prstGeom>
          <a:noFill/>
          <a:ln/>
        </p:spPr>
        <p:txBody>
          <a:bodyPr wrap="square" lIns="0" tIns="0" rIns="0" bIns="0" rtlCol="0" anchor="ctr"/>
          <a:lstStyle/>
          <a:p>
            <a:pPr algn="l" indent="0" marL="0">
              <a:buNone/>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9</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À confirmer</a:t>
            </a:r>
            <a:endParaRPr lang="en-US" sz="11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1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À confirmer</a:t>
            </a:r>
            <a:endParaRPr lang="en-US" sz="11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958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8792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Registre de sécurité</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du 31 janvier 1986 relatif à la protection contre l’incendie des bâtiments d’habitation</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construction et de l’habitation : art. R*111-13 et suivants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tenir à jour un registre de sécurité recensant les contrôles, vérifications et opérations d’entretien liés à la sécurité incendie de l’immeuble.</a:t>
            </a:r>
            <a:endParaRPr lang="en-US" sz="1100" dirty="0"/>
          </a:p>
        </p:txBody>
      </p:sp>
      <p:sp>
        <p:nvSpPr>
          <p:cNvPr id="16" name="Shape 13"/>
          <p:cNvSpPr/>
          <p:nvPr/>
        </p:nvSpPr>
        <p:spPr>
          <a:xfrm>
            <a:off x="4032000" y="2034000"/>
            <a:ext cx="1152000" cy="1958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879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18" name="Shape 15"/>
          <p:cNvSpPr/>
          <p:nvPr/>
        </p:nvSpPr>
        <p:spPr>
          <a:xfrm>
            <a:off x="5184000" y="2034000"/>
            <a:ext cx="1836000" cy="1958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879200"/>
          </a:xfrm>
          <a:prstGeom prst="rect">
            <a:avLst/>
          </a:prstGeom>
          <a:noFill/>
          <a:ln/>
        </p:spPr>
        <p:txBody>
          <a:bodyPr wrap="square" lIns="0" tIns="0" rIns="0" bIns="0" rtlCol="0" anchor="t"/>
          <a:lstStyle/>
          <a:p>
            <a:pPr algn="l" indent="0" marL="0">
              <a:buNone/>
            </a:pPr>
            <a:endParaRPr lang="en-US" sz="1100" dirty="0"/>
          </a:p>
        </p:txBody>
      </p:sp>
      <p:sp>
        <p:nvSpPr>
          <p:cNvPr id="20" name="Shape 17"/>
          <p:cNvSpPr/>
          <p:nvPr/>
        </p:nvSpPr>
        <p:spPr>
          <a:xfrm>
            <a:off x="540000" y="3992400"/>
            <a:ext cx="3492000" cy="1958400"/>
          </a:xfrm>
          <a:prstGeom prst="rect">
            <a:avLst/>
          </a:prstGeom>
          <a:solidFill>
            <a:srgbClr val="FFFFFF"/>
          </a:solidFill>
          <a:ln w="6985">
            <a:solidFill>
              <a:srgbClr val="202020"/>
            </a:solidFill>
            <a:prstDash val="solid"/>
          </a:ln>
        </p:spPr>
      </p:sp>
      <p:sp>
        <p:nvSpPr>
          <p:cNvPr id="21" name="Text 18"/>
          <p:cNvSpPr/>
          <p:nvPr/>
        </p:nvSpPr>
        <p:spPr>
          <a:xfrm>
            <a:off x="601200" y="4032000"/>
            <a:ext cx="3369600" cy="18792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Affichage des consignes de sécurité – Parties communes</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du 31 janvier 1986 relatif à la protection contre l’incendie des bâtiments d’habitation</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construction et de l’habitation : art. R*111-13 et suivants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d’afficher dans les parties communes les consignes de sécurité incendie et d’évacuation à destination des occupants.</a:t>
            </a:r>
            <a:endParaRPr lang="en-US" sz="1100" dirty="0"/>
          </a:p>
        </p:txBody>
      </p:sp>
      <p:sp>
        <p:nvSpPr>
          <p:cNvPr id="22" name="Shape 19"/>
          <p:cNvSpPr/>
          <p:nvPr/>
        </p:nvSpPr>
        <p:spPr>
          <a:xfrm>
            <a:off x="4032000" y="3992400"/>
            <a:ext cx="1152000" cy="1958400"/>
          </a:xfrm>
          <a:prstGeom prst="rect">
            <a:avLst/>
          </a:prstGeom>
          <a:solidFill>
            <a:srgbClr val="00B55A"/>
          </a:solidFill>
          <a:ln w="6985">
            <a:solidFill>
              <a:srgbClr val="202020"/>
            </a:solidFill>
            <a:prstDash val="solid"/>
          </a:ln>
        </p:spPr>
      </p:sp>
      <p:sp>
        <p:nvSpPr>
          <p:cNvPr id="23" name="Text 20"/>
          <p:cNvSpPr/>
          <p:nvPr/>
        </p:nvSpPr>
        <p:spPr>
          <a:xfrm>
            <a:off x="4093200" y="4032000"/>
            <a:ext cx="1029600" cy="1879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24" name="Shape 21"/>
          <p:cNvSpPr/>
          <p:nvPr/>
        </p:nvSpPr>
        <p:spPr>
          <a:xfrm>
            <a:off x="5184000" y="3992400"/>
            <a:ext cx="1836000" cy="1958400"/>
          </a:xfrm>
          <a:prstGeom prst="rect">
            <a:avLst/>
          </a:prstGeom>
          <a:solidFill>
            <a:srgbClr val="FFFFFF"/>
          </a:solidFill>
          <a:ln w="6985">
            <a:solidFill>
              <a:srgbClr val="202020"/>
            </a:solidFill>
            <a:prstDash val="solid"/>
          </a:ln>
        </p:spPr>
      </p:sp>
      <p:sp>
        <p:nvSpPr>
          <p:cNvPr id="25" name="Text 22"/>
          <p:cNvSpPr/>
          <p:nvPr/>
        </p:nvSpPr>
        <p:spPr>
          <a:xfrm>
            <a:off x="5245200" y="4032000"/>
            <a:ext cx="1713600" cy="1879200"/>
          </a:xfrm>
          <a:prstGeom prst="rect">
            <a:avLst/>
          </a:prstGeom>
          <a:noFill/>
          <a:ln/>
        </p:spPr>
        <p:txBody>
          <a:bodyPr wrap="square" lIns="0" tIns="0" rIns="0" bIns="0" rtlCol="0" anchor="t"/>
          <a:lstStyle/>
          <a:p>
            <a:pPr algn="l" indent="0" marL="0">
              <a:buNone/>
            </a:pPr>
            <a:endParaRPr lang="en-US" sz="1100" dirty="0"/>
          </a:p>
        </p:txBody>
      </p:sp>
      <p:sp>
        <p:nvSpPr>
          <p:cNvPr id="26" name="Shape 23"/>
          <p:cNvSpPr/>
          <p:nvPr/>
        </p:nvSpPr>
        <p:spPr>
          <a:xfrm>
            <a:off x="540000" y="5950800"/>
            <a:ext cx="3492000" cy="1958400"/>
          </a:xfrm>
          <a:prstGeom prst="rect">
            <a:avLst/>
          </a:prstGeom>
          <a:solidFill>
            <a:srgbClr val="FFFFFF"/>
          </a:solidFill>
          <a:ln w="6985">
            <a:solidFill>
              <a:srgbClr val="202020"/>
            </a:solidFill>
            <a:prstDash val="solid"/>
          </a:ln>
        </p:spPr>
      </p:sp>
      <p:sp>
        <p:nvSpPr>
          <p:cNvPr id="27" name="Text 24"/>
          <p:cNvSpPr/>
          <p:nvPr/>
        </p:nvSpPr>
        <p:spPr>
          <a:xfrm>
            <a:off x="601200" y="5990400"/>
            <a:ext cx="3369600" cy="18792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Vérifications périodiques des installations incendie</a:t>
            </a:r>
            <a:pPr algn="ctr" indent="0" marL="0">
              <a:buNone/>
            </a:pP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Arrêté du 31 janvier 1986 relatif à la protection contre l’incendie des bâtiments d’habitation</a:t>
            </a:r>
            <a:endParaRPr lang="en-US" sz="1100" dirty="0"/>
          </a:p>
          <a:p>
            <a:pPr algn="ctr" indent="0" marL="0">
              <a:buNone/>
            </a:pPr>
            <a:r>
              <a:rPr lang="en-US" sz="1100" i="1" dirty="0">
                <a:solidFill>
                  <a:srgbClr val="6E7480"/>
                </a:solidFill>
                <a:latin typeface="Calibri" pitchFamily="34" charset="0"/>
                <a:ea typeface="Calibri" pitchFamily="34" charset="-122"/>
                <a:cs typeface="Calibri" pitchFamily="34" charset="-120"/>
              </a:rPr>
              <a:t>Code de la construction et de l’habitation : art. R*111-13 et suivants</a:t>
            </a:r>
            <a:endParaRPr lang="en-US" sz="1100" dirty="0"/>
          </a:p>
          <a:p>
            <a:pPr algn="ctr" indent="0" marL="0">
              <a:buNone/>
            </a:pP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Obligation de faire réaliser des vérifications périodiques des équipements de sécurité incendie et d’en assurer la traçabilité.</a:t>
            </a:r>
            <a:endParaRPr lang="en-US" sz="1100" dirty="0"/>
          </a:p>
        </p:txBody>
      </p:sp>
      <p:sp>
        <p:nvSpPr>
          <p:cNvPr id="28" name="Shape 25"/>
          <p:cNvSpPr/>
          <p:nvPr/>
        </p:nvSpPr>
        <p:spPr>
          <a:xfrm>
            <a:off x="4032000" y="5950800"/>
            <a:ext cx="1152000" cy="1958400"/>
          </a:xfrm>
          <a:prstGeom prst="rect">
            <a:avLst/>
          </a:prstGeom>
          <a:solidFill>
            <a:srgbClr val="00B55A"/>
          </a:solidFill>
          <a:ln w="6985">
            <a:solidFill>
              <a:srgbClr val="202020"/>
            </a:solidFill>
            <a:prstDash val="solid"/>
          </a:ln>
        </p:spPr>
      </p:sp>
      <p:sp>
        <p:nvSpPr>
          <p:cNvPr id="29" name="Text 26"/>
          <p:cNvSpPr/>
          <p:nvPr/>
        </p:nvSpPr>
        <p:spPr>
          <a:xfrm>
            <a:off x="4093200" y="5990400"/>
            <a:ext cx="1029600" cy="1879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Transmis</a:t>
            </a:r>
            <a:endParaRPr lang="en-US" sz="1100" dirty="0"/>
          </a:p>
        </p:txBody>
      </p:sp>
      <p:sp>
        <p:nvSpPr>
          <p:cNvPr id="30" name="Shape 27"/>
          <p:cNvSpPr/>
          <p:nvPr/>
        </p:nvSpPr>
        <p:spPr>
          <a:xfrm>
            <a:off x="5184000" y="5950800"/>
            <a:ext cx="1836000" cy="1958400"/>
          </a:xfrm>
          <a:prstGeom prst="rect">
            <a:avLst/>
          </a:prstGeom>
          <a:solidFill>
            <a:srgbClr val="FFFFFF"/>
          </a:solidFill>
          <a:ln w="6985">
            <a:solidFill>
              <a:srgbClr val="202020"/>
            </a:solidFill>
            <a:prstDash val="solid"/>
          </a:ln>
        </p:spPr>
      </p:sp>
      <p:sp>
        <p:nvSpPr>
          <p:cNvPr id="31" name="Text 28"/>
          <p:cNvSpPr/>
          <p:nvPr/>
        </p:nvSpPr>
        <p:spPr>
          <a:xfrm>
            <a:off x="5245200" y="5990400"/>
            <a:ext cx="1713600" cy="1879200"/>
          </a:xfrm>
          <a:prstGeom prst="rect">
            <a:avLst/>
          </a:prstGeom>
          <a:noFill/>
          <a:ln/>
        </p:spPr>
        <p:txBody>
          <a:bodyPr wrap="square" lIns="0" tIns="0" rIns="0" bIns="0" rtlCol="0" anchor="t"/>
          <a:lstStyle/>
          <a:p>
            <a:pPr algn="l" indent="0" marL="0">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100" dirty="0"/>
          </a:p>
        </p:txBody>
      </p:sp>
      <p:sp>
        <p:nvSpPr>
          <p:cNvPr id="9" name="Text 6"/>
          <p:cNvSpPr/>
          <p:nvPr/>
        </p:nvSpPr>
        <p:spPr>
          <a:xfrm>
            <a:off x="648000" y="258984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100" dirty="0"/>
          </a:p>
        </p:txBody>
      </p:sp>
      <p:sp>
        <p:nvSpPr>
          <p:cNvPr id="10" name="Text 7"/>
          <p:cNvSpPr/>
          <p:nvPr/>
        </p:nvSpPr>
        <p:spPr>
          <a:xfrm>
            <a:off x="648000" y="383400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100" dirty="0"/>
          </a:p>
        </p:txBody>
      </p:sp>
      <p:sp>
        <p:nvSpPr>
          <p:cNvPr id="11" name="Text 8"/>
          <p:cNvSpPr/>
          <p:nvPr/>
        </p:nvSpPr>
        <p:spPr>
          <a:xfrm>
            <a:off x="648000" y="507816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100" dirty="0"/>
          </a:p>
        </p:txBody>
      </p:sp>
      <p:sp>
        <p:nvSpPr>
          <p:cNvPr id="12" name="Shape 9"/>
          <p:cNvSpPr/>
          <p:nvPr/>
        </p:nvSpPr>
        <p:spPr>
          <a:xfrm>
            <a:off x="954000" y="6140160"/>
            <a:ext cx="1872000" cy="324000"/>
          </a:xfrm>
          <a:prstGeom prst="rect">
            <a:avLst/>
          </a:prstGeom>
          <a:solidFill>
            <a:srgbClr val="FFFFFF"/>
          </a:solidFill>
          <a:ln w="6985">
            <a:solidFill>
              <a:srgbClr val="202020"/>
            </a:solidFill>
            <a:prstDash val="solid"/>
          </a:ln>
        </p:spPr>
      </p:sp>
      <p:sp>
        <p:nvSpPr>
          <p:cNvPr id="13" name="Text 10"/>
          <p:cNvSpPr/>
          <p:nvPr/>
        </p:nvSpPr>
        <p:spPr>
          <a:xfrm>
            <a:off x="1015200" y="617976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6140160"/>
            <a:ext cx="1872000" cy="324000"/>
          </a:xfrm>
          <a:prstGeom prst="rect">
            <a:avLst/>
          </a:prstGeom>
          <a:solidFill>
            <a:srgbClr val="FFFFFF"/>
          </a:solidFill>
          <a:ln w="6985">
            <a:solidFill>
              <a:srgbClr val="202020"/>
            </a:solidFill>
            <a:prstDash val="solid"/>
          </a:ln>
        </p:spPr>
      </p:sp>
      <p:sp>
        <p:nvSpPr>
          <p:cNvPr id="15" name="Text 12"/>
          <p:cNvSpPr/>
          <p:nvPr/>
        </p:nvSpPr>
        <p:spPr>
          <a:xfrm>
            <a:off x="2887200" y="617976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6140160"/>
            <a:ext cx="1872000" cy="324000"/>
          </a:xfrm>
          <a:prstGeom prst="rect">
            <a:avLst/>
          </a:prstGeom>
          <a:solidFill>
            <a:srgbClr val="FFFFFF"/>
          </a:solidFill>
          <a:ln w="6985">
            <a:solidFill>
              <a:srgbClr val="202020"/>
            </a:solidFill>
            <a:prstDash val="solid"/>
          </a:ln>
        </p:spPr>
      </p:sp>
      <p:sp>
        <p:nvSpPr>
          <p:cNvPr id="17" name="Text 14"/>
          <p:cNvSpPr/>
          <p:nvPr/>
        </p:nvSpPr>
        <p:spPr>
          <a:xfrm>
            <a:off x="4759200" y="617976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6464160"/>
            <a:ext cx="1872000" cy="648000"/>
          </a:xfrm>
          <a:prstGeom prst="rect">
            <a:avLst/>
          </a:prstGeom>
          <a:solidFill>
            <a:srgbClr val="FFFFFF"/>
          </a:solidFill>
          <a:ln w="6985">
            <a:solidFill>
              <a:srgbClr val="202020"/>
            </a:solidFill>
            <a:prstDash val="solid"/>
          </a:ln>
        </p:spPr>
      </p:sp>
      <p:sp>
        <p:nvSpPr>
          <p:cNvPr id="19" name="Text 16"/>
          <p:cNvSpPr/>
          <p:nvPr/>
        </p:nvSpPr>
        <p:spPr>
          <a:xfrm>
            <a:off x="1015200" y="650376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6464160"/>
            <a:ext cx="1872000" cy="648000"/>
          </a:xfrm>
          <a:prstGeom prst="rect">
            <a:avLst/>
          </a:prstGeom>
          <a:solidFill>
            <a:srgbClr val="FFFFFF"/>
          </a:solidFill>
          <a:ln w="6985">
            <a:solidFill>
              <a:srgbClr val="202020"/>
            </a:solidFill>
            <a:prstDash val="solid"/>
          </a:ln>
        </p:spPr>
      </p:sp>
      <p:sp>
        <p:nvSpPr>
          <p:cNvPr id="21" name="Text 18"/>
          <p:cNvSpPr/>
          <p:nvPr/>
        </p:nvSpPr>
        <p:spPr>
          <a:xfrm>
            <a:off x="2887200" y="650376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6464160"/>
            <a:ext cx="1872000" cy="648000"/>
          </a:xfrm>
          <a:prstGeom prst="rect">
            <a:avLst/>
          </a:prstGeom>
          <a:solidFill>
            <a:srgbClr val="FFFFFF"/>
          </a:solidFill>
          <a:ln w="6985">
            <a:solidFill>
              <a:srgbClr val="202020"/>
            </a:solidFill>
            <a:prstDash val="solid"/>
          </a:ln>
        </p:spPr>
      </p:sp>
      <p:sp>
        <p:nvSpPr>
          <p:cNvPr id="23" name="Text 20"/>
          <p:cNvSpPr/>
          <p:nvPr/>
        </p:nvSpPr>
        <p:spPr>
          <a:xfrm>
            <a:off x="4759200" y="650376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68016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53616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sp>
        <p:nvSpPr>
          <p:cNvPr id="26" name="Shape 23"/>
          <p:cNvSpPr/>
          <p:nvPr/>
        </p:nvSpPr>
        <p:spPr>
          <a:xfrm>
            <a:off x="4995000" y="6752160"/>
            <a:ext cx="558000" cy="306000"/>
          </a:xfrm>
          <a:prstGeom prst="rect">
            <a:avLst/>
          </a:prstGeom>
          <a:solidFill>
            <a:srgbClr val="EF8737"/>
          </a:solidFill>
          <a:ln w="6985">
            <a:solidFill>
              <a:srgbClr val="202020"/>
            </a:solidFill>
            <a:prstDash val="solid"/>
          </a:ln>
        </p:spPr>
      </p:sp>
      <p:sp>
        <p:nvSpPr>
          <p:cNvPr id="27" name="Text 24"/>
          <p:cNvSpPr/>
          <p:nvPr/>
        </p:nvSpPr>
        <p:spPr>
          <a:xfrm>
            <a:off x="5056200" y="6791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F</a:t>
            </a:r>
            <a:endParaRPr lang="en-US" sz="1100" dirty="0"/>
          </a:p>
        </p:txBody>
      </p:sp>
      <p:sp>
        <p:nvSpPr>
          <p:cNvPr id="28" name="Shape 25"/>
          <p:cNvSpPr/>
          <p:nvPr/>
        </p:nvSpPr>
        <p:spPr>
          <a:xfrm>
            <a:off x="5715000" y="6752160"/>
            <a:ext cx="558000" cy="306000"/>
          </a:xfrm>
          <a:prstGeom prst="rect">
            <a:avLst/>
          </a:prstGeom>
          <a:solidFill>
            <a:srgbClr val="DD2232"/>
          </a:solidFill>
          <a:ln w="6985">
            <a:solidFill>
              <a:srgbClr val="202020"/>
            </a:solidFill>
            <a:prstDash val="solid"/>
          </a:ln>
        </p:spPr>
      </p:sp>
      <p:sp>
        <p:nvSpPr>
          <p:cNvPr id="29" name="Text 26"/>
          <p:cNvSpPr/>
          <p:nvPr/>
        </p:nvSpPr>
        <p:spPr>
          <a:xfrm>
            <a:off x="5776200" y="6791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G</a:t>
            </a:r>
            <a:endParaRPr lang="en-US" sz="1100" dirty="0"/>
          </a:p>
        </p:txBody>
      </p:sp>
      <p:sp>
        <p:nvSpPr>
          <p:cNvPr id="30" name="Shape 27"/>
          <p:cNvSpPr/>
          <p:nvPr/>
        </p:nvSpPr>
        <p:spPr>
          <a:xfrm>
            <a:off x="954000" y="7112160"/>
            <a:ext cx="1872000" cy="1080000"/>
          </a:xfrm>
          <a:prstGeom prst="rect">
            <a:avLst/>
          </a:prstGeom>
          <a:solidFill>
            <a:srgbClr val="FFFFFF"/>
          </a:solidFill>
          <a:ln w="6985">
            <a:solidFill>
              <a:srgbClr val="202020"/>
            </a:solidFill>
            <a:prstDash val="solid"/>
          </a:ln>
        </p:spPr>
      </p:sp>
      <p:sp>
        <p:nvSpPr>
          <p:cNvPr id="31" name="Text 28"/>
          <p:cNvSpPr/>
          <p:nvPr/>
        </p:nvSpPr>
        <p:spPr>
          <a:xfrm>
            <a:off x="1015200" y="715176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9"/>
          <p:cNvSpPr/>
          <p:nvPr/>
        </p:nvSpPr>
        <p:spPr>
          <a:xfrm>
            <a:off x="2826000" y="7112160"/>
            <a:ext cx="1872000" cy="1080000"/>
          </a:xfrm>
          <a:prstGeom prst="rect">
            <a:avLst/>
          </a:prstGeom>
          <a:solidFill>
            <a:srgbClr val="FFFFFF"/>
          </a:solidFill>
          <a:ln w="6985">
            <a:solidFill>
              <a:srgbClr val="202020"/>
            </a:solidFill>
            <a:prstDash val="solid"/>
          </a:ln>
        </p:spPr>
      </p:sp>
      <p:sp>
        <p:nvSpPr>
          <p:cNvPr id="33" name="Text 30"/>
          <p:cNvSpPr/>
          <p:nvPr/>
        </p:nvSpPr>
        <p:spPr>
          <a:xfrm>
            <a:off x="2887200" y="715176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Shape 31"/>
          <p:cNvSpPr/>
          <p:nvPr/>
        </p:nvSpPr>
        <p:spPr>
          <a:xfrm>
            <a:off x="4698000" y="7112160"/>
            <a:ext cx="1872000" cy="1080000"/>
          </a:xfrm>
          <a:prstGeom prst="rect">
            <a:avLst/>
          </a:prstGeom>
          <a:solidFill>
            <a:srgbClr val="FFFFFF"/>
          </a:solidFill>
          <a:ln w="6985">
            <a:solidFill>
              <a:srgbClr val="202020"/>
            </a:solidFill>
            <a:prstDash val="solid"/>
          </a:ln>
        </p:spPr>
      </p:sp>
      <p:sp>
        <p:nvSpPr>
          <p:cNvPr id="35" name="Text 32"/>
          <p:cNvSpPr/>
          <p:nvPr/>
        </p:nvSpPr>
        <p:spPr>
          <a:xfrm>
            <a:off x="4759200" y="7151760"/>
            <a:ext cx="1749600" cy="1000800"/>
          </a:xfrm>
          <a:prstGeom prst="rect">
            <a:avLst/>
          </a:prstGeom>
          <a:noFill/>
          <a:ln/>
        </p:spPr>
        <p:txBody>
          <a:bodyPr wrap="square" lIns="0" tIns="0" rIns="0" bIns="0" rtlCol="0" anchor="ctr"/>
          <a:lstStyle/>
          <a:p>
            <a:pPr algn="l" indent="0" marL="0">
              <a:buNone/>
            </a:pPr>
            <a:endParaRPr lang="en-US" sz="1000" dirty="0"/>
          </a:p>
        </p:txBody>
      </p:sp>
      <p:sp>
        <p:nvSpPr>
          <p:cNvPr id="36" name="Text 33"/>
          <p:cNvSpPr/>
          <p:nvPr/>
        </p:nvSpPr>
        <p:spPr>
          <a:xfrm>
            <a:off x="2898000" y="754416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7" name="Text 34"/>
          <p:cNvSpPr/>
          <p:nvPr/>
        </p:nvSpPr>
        <p:spPr>
          <a:xfrm>
            <a:off x="1026000" y="718416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8" name="Text 35"/>
          <p:cNvSpPr/>
          <p:nvPr/>
        </p:nvSpPr>
        <p:spPr>
          <a:xfrm>
            <a:off x="4770000" y="718416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sp>
        <p:nvSpPr>
          <p:cNvPr id="39" name="Shape 36"/>
          <p:cNvSpPr/>
          <p:nvPr/>
        </p:nvSpPr>
        <p:spPr>
          <a:xfrm>
            <a:off x="1251000" y="7832160"/>
            <a:ext cx="558000" cy="306000"/>
          </a:xfrm>
          <a:prstGeom prst="rect">
            <a:avLst/>
          </a:prstGeom>
          <a:solidFill>
            <a:srgbClr val="EF8737"/>
          </a:solidFill>
          <a:ln w="6985">
            <a:solidFill>
              <a:srgbClr val="202020"/>
            </a:solidFill>
            <a:prstDash val="solid"/>
          </a:ln>
        </p:spPr>
      </p:sp>
      <p:sp>
        <p:nvSpPr>
          <p:cNvPr id="40" name="Text 37"/>
          <p:cNvSpPr/>
          <p:nvPr/>
        </p:nvSpPr>
        <p:spPr>
          <a:xfrm>
            <a:off x="1312200" y="7871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F</a:t>
            </a:r>
            <a:endParaRPr lang="en-US" sz="1100" dirty="0"/>
          </a:p>
        </p:txBody>
      </p:sp>
      <p:sp>
        <p:nvSpPr>
          <p:cNvPr id="41" name="Shape 38"/>
          <p:cNvSpPr/>
          <p:nvPr/>
        </p:nvSpPr>
        <p:spPr>
          <a:xfrm>
            <a:off x="1971000" y="7832160"/>
            <a:ext cx="558000" cy="306000"/>
          </a:xfrm>
          <a:prstGeom prst="rect">
            <a:avLst/>
          </a:prstGeom>
          <a:solidFill>
            <a:srgbClr val="DD2232"/>
          </a:solidFill>
          <a:ln w="6985">
            <a:solidFill>
              <a:srgbClr val="202020"/>
            </a:solidFill>
            <a:prstDash val="solid"/>
          </a:ln>
        </p:spPr>
      </p:sp>
      <p:sp>
        <p:nvSpPr>
          <p:cNvPr id="42" name="Text 39"/>
          <p:cNvSpPr/>
          <p:nvPr/>
        </p:nvSpPr>
        <p:spPr>
          <a:xfrm>
            <a:off x="2032200" y="7871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G</a:t>
            </a:r>
            <a:endParaRPr lang="en-US" sz="1100" dirty="0"/>
          </a:p>
        </p:txBody>
      </p:sp>
      <p:sp>
        <p:nvSpPr>
          <p:cNvPr id="43" name="Shape 40"/>
          <p:cNvSpPr/>
          <p:nvPr/>
        </p:nvSpPr>
        <p:spPr>
          <a:xfrm>
            <a:off x="5355000" y="7436160"/>
            <a:ext cx="558000" cy="306000"/>
          </a:xfrm>
          <a:prstGeom prst="rect">
            <a:avLst/>
          </a:prstGeom>
          <a:solidFill>
            <a:srgbClr val="DD2232"/>
          </a:solidFill>
          <a:ln w="6985">
            <a:solidFill>
              <a:srgbClr val="202020"/>
            </a:solidFill>
            <a:prstDash val="solid"/>
          </a:ln>
        </p:spPr>
      </p:sp>
      <p:sp>
        <p:nvSpPr>
          <p:cNvPr id="44" name="Text 41"/>
          <p:cNvSpPr/>
          <p:nvPr/>
        </p:nvSpPr>
        <p:spPr>
          <a:xfrm>
            <a:off x="5416200" y="7475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G</a:t>
            </a:r>
            <a:endParaRPr lang="en-US" sz="1100" dirty="0"/>
          </a:p>
        </p:txBody>
      </p:sp>
      <p:sp>
        <p:nvSpPr>
          <p:cNvPr id="45" name="Text 42"/>
          <p:cNvSpPr/>
          <p:nvPr/>
        </p:nvSpPr>
        <p:spPr>
          <a:xfrm>
            <a:off x="4770000" y="776016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6" name="Shape 43"/>
          <p:cNvSpPr/>
          <p:nvPr/>
        </p:nvSpPr>
        <p:spPr>
          <a:xfrm>
            <a:off x="954000" y="8192160"/>
            <a:ext cx="1872000" cy="756000"/>
          </a:xfrm>
          <a:prstGeom prst="rect">
            <a:avLst/>
          </a:prstGeom>
          <a:solidFill>
            <a:srgbClr val="FFFFFF"/>
          </a:solidFill>
          <a:ln w="6985">
            <a:solidFill>
              <a:srgbClr val="202020"/>
            </a:solidFill>
            <a:prstDash val="solid"/>
          </a:ln>
        </p:spPr>
      </p:sp>
      <p:sp>
        <p:nvSpPr>
          <p:cNvPr id="47" name="Text 44"/>
          <p:cNvSpPr/>
          <p:nvPr/>
        </p:nvSpPr>
        <p:spPr>
          <a:xfrm>
            <a:off x="1015200" y="8231760"/>
            <a:ext cx="1749600" cy="676800"/>
          </a:xfrm>
          <a:prstGeom prst="rect">
            <a:avLst/>
          </a:prstGeom>
          <a:noFill/>
          <a:ln/>
        </p:spPr>
        <p:txBody>
          <a:bodyPr wrap="square" lIns="0" tIns="0" rIns="0" bIns="0" rtlCol="0" anchor="ctr"/>
          <a:lstStyle/>
          <a:p>
            <a:pPr algn="l" indent="0" marL="0">
              <a:buNone/>
            </a:pPr>
            <a:endParaRPr lang="en-US" sz="1000" dirty="0"/>
          </a:p>
        </p:txBody>
      </p:sp>
      <p:sp>
        <p:nvSpPr>
          <p:cNvPr id="48" name="Shape 45"/>
          <p:cNvSpPr/>
          <p:nvPr/>
        </p:nvSpPr>
        <p:spPr>
          <a:xfrm>
            <a:off x="2826000" y="8192160"/>
            <a:ext cx="1872000" cy="756000"/>
          </a:xfrm>
          <a:prstGeom prst="rect">
            <a:avLst/>
          </a:prstGeom>
          <a:solidFill>
            <a:srgbClr val="FFFFFF"/>
          </a:solidFill>
          <a:ln w="6985">
            <a:solidFill>
              <a:srgbClr val="202020"/>
            </a:solidFill>
            <a:prstDash val="solid"/>
          </a:ln>
        </p:spPr>
      </p:sp>
      <p:sp>
        <p:nvSpPr>
          <p:cNvPr id="49" name="Text 46"/>
          <p:cNvSpPr/>
          <p:nvPr/>
        </p:nvSpPr>
        <p:spPr>
          <a:xfrm>
            <a:off x="2887200" y="8231760"/>
            <a:ext cx="1749600" cy="676800"/>
          </a:xfrm>
          <a:prstGeom prst="rect">
            <a:avLst/>
          </a:prstGeom>
          <a:noFill/>
          <a:ln/>
        </p:spPr>
        <p:txBody>
          <a:bodyPr wrap="square" lIns="0" tIns="0" rIns="0" bIns="0" rtlCol="0" anchor="ctr"/>
          <a:lstStyle/>
          <a:p>
            <a:pPr algn="l" indent="0" marL="0">
              <a:buNone/>
            </a:pPr>
            <a:endParaRPr lang="en-US" sz="1000" dirty="0"/>
          </a:p>
        </p:txBody>
      </p:sp>
      <p:sp>
        <p:nvSpPr>
          <p:cNvPr id="50" name="Shape 47"/>
          <p:cNvSpPr/>
          <p:nvPr/>
        </p:nvSpPr>
        <p:spPr>
          <a:xfrm>
            <a:off x="4698000" y="8192160"/>
            <a:ext cx="1872000" cy="756000"/>
          </a:xfrm>
          <a:prstGeom prst="rect">
            <a:avLst/>
          </a:prstGeom>
          <a:solidFill>
            <a:srgbClr val="FFFFFF"/>
          </a:solidFill>
          <a:ln w="6985">
            <a:solidFill>
              <a:srgbClr val="202020"/>
            </a:solidFill>
            <a:prstDash val="solid"/>
          </a:ln>
        </p:spPr>
      </p:sp>
      <p:sp>
        <p:nvSpPr>
          <p:cNvPr id="51" name="Text 48"/>
          <p:cNvSpPr/>
          <p:nvPr/>
        </p:nvSpPr>
        <p:spPr>
          <a:xfrm>
            <a:off x="4759200" y="8231760"/>
            <a:ext cx="1749600" cy="676800"/>
          </a:xfrm>
          <a:prstGeom prst="rect">
            <a:avLst/>
          </a:prstGeom>
          <a:noFill/>
          <a:ln/>
        </p:spPr>
        <p:txBody>
          <a:bodyPr wrap="square" lIns="0" tIns="0" rIns="0" bIns="0" rtlCol="0" anchor="ctr"/>
          <a:lstStyle/>
          <a:p>
            <a:pPr algn="l" indent="0" marL="0">
              <a:buNone/>
            </a:pPr>
            <a:endParaRPr lang="en-US" sz="1000" dirty="0"/>
          </a:p>
        </p:txBody>
      </p:sp>
      <p:sp>
        <p:nvSpPr>
          <p:cNvPr id="52" name="Text 49"/>
          <p:cNvSpPr/>
          <p:nvPr/>
        </p:nvSpPr>
        <p:spPr>
          <a:xfrm>
            <a:off x="2898000" y="846216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53" name="Text 50"/>
          <p:cNvSpPr/>
          <p:nvPr/>
        </p:nvSpPr>
        <p:spPr>
          <a:xfrm>
            <a:off x="1026000" y="826416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54" name="Text 51"/>
          <p:cNvSpPr/>
          <p:nvPr/>
        </p:nvSpPr>
        <p:spPr>
          <a:xfrm>
            <a:off x="4770000" y="826416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sp>
        <p:nvSpPr>
          <p:cNvPr id="55" name="Shape 52"/>
          <p:cNvSpPr/>
          <p:nvPr/>
        </p:nvSpPr>
        <p:spPr>
          <a:xfrm>
            <a:off x="1611000" y="8588160"/>
            <a:ext cx="558000" cy="306000"/>
          </a:xfrm>
          <a:prstGeom prst="rect">
            <a:avLst/>
          </a:prstGeom>
          <a:solidFill>
            <a:srgbClr val="F4B51B"/>
          </a:solidFill>
          <a:ln w="6985">
            <a:solidFill>
              <a:srgbClr val="202020"/>
            </a:solidFill>
            <a:prstDash val="solid"/>
          </a:ln>
        </p:spPr>
      </p:sp>
      <p:sp>
        <p:nvSpPr>
          <p:cNvPr id="56" name="Text 53"/>
          <p:cNvSpPr/>
          <p:nvPr/>
        </p:nvSpPr>
        <p:spPr>
          <a:xfrm>
            <a:off x="1672200" y="8627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E</a:t>
            </a:r>
            <a:endParaRPr lang="en-US" sz="1100" dirty="0"/>
          </a:p>
        </p:txBody>
      </p:sp>
      <p:sp>
        <p:nvSpPr>
          <p:cNvPr id="57" name="Shape 54"/>
          <p:cNvSpPr/>
          <p:nvPr/>
        </p:nvSpPr>
        <p:spPr>
          <a:xfrm>
            <a:off x="5355000" y="8588160"/>
            <a:ext cx="558000" cy="306000"/>
          </a:xfrm>
          <a:prstGeom prst="rect">
            <a:avLst/>
          </a:prstGeom>
          <a:solidFill>
            <a:srgbClr val="DD2232"/>
          </a:solidFill>
          <a:ln w="6985">
            <a:solidFill>
              <a:srgbClr val="202020"/>
            </a:solidFill>
            <a:prstDash val="solid"/>
          </a:ln>
        </p:spPr>
      </p:sp>
      <p:sp>
        <p:nvSpPr>
          <p:cNvPr id="58" name="Text 55"/>
          <p:cNvSpPr/>
          <p:nvPr/>
        </p:nvSpPr>
        <p:spPr>
          <a:xfrm>
            <a:off x="5416200" y="8627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G</a:t>
            </a:r>
            <a:endParaRPr lang="en-US" sz="1100" dirty="0"/>
          </a:p>
        </p:txBody>
      </p:sp>
      <p:sp>
        <p:nvSpPr>
          <p:cNvPr id="59" name="Shape 56"/>
          <p:cNvSpPr/>
          <p:nvPr/>
        </p:nvSpPr>
        <p:spPr>
          <a:xfrm>
            <a:off x="954000" y="8948160"/>
            <a:ext cx="1872000" cy="612000"/>
          </a:xfrm>
          <a:prstGeom prst="rect">
            <a:avLst/>
          </a:prstGeom>
          <a:solidFill>
            <a:srgbClr val="FFFFFF"/>
          </a:solidFill>
          <a:ln w="6985">
            <a:solidFill>
              <a:srgbClr val="202020"/>
            </a:solidFill>
            <a:prstDash val="solid"/>
          </a:ln>
        </p:spPr>
      </p:sp>
      <p:sp>
        <p:nvSpPr>
          <p:cNvPr id="60" name="Text 57"/>
          <p:cNvSpPr/>
          <p:nvPr/>
        </p:nvSpPr>
        <p:spPr>
          <a:xfrm>
            <a:off x="1015200" y="8987760"/>
            <a:ext cx="1749600" cy="532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2826000" y="8948160"/>
            <a:ext cx="1872000" cy="612000"/>
          </a:xfrm>
          <a:prstGeom prst="rect">
            <a:avLst/>
          </a:prstGeom>
          <a:solidFill>
            <a:srgbClr val="FFFFFF"/>
          </a:solidFill>
          <a:ln w="6985">
            <a:solidFill>
              <a:srgbClr val="202020"/>
            </a:solidFill>
            <a:prstDash val="solid"/>
          </a:ln>
        </p:spPr>
      </p:sp>
      <p:sp>
        <p:nvSpPr>
          <p:cNvPr id="62" name="Text 59"/>
          <p:cNvSpPr/>
          <p:nvPr/>
        </p:nvSpPr>
        <p:spPr>
          <a:xfrm>
            <a:off x="2887200" y="8987760"/>
            <a:ext cx="1749600" cy="532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4698000" y="8948160"/>
            <a:ext cx="1872000" cy="612000"/>
          </a:xfrm>
          <a:prstGeom prst="rect">
            <a:avLst/>
          </a:prstGeom>
          <a:solidFill>
            <a:srgbClr val="FFFFFF"/>
          </a:solidFill>
          <a:ln w="6985">
            <a:solidFill>
              <a:srgbClr val="202020"/>
            </a:solidFill>
            <a:prstDash val="solid"/>
          </a:ln>
        </p:spPr>
      </p:sp>
      <p:sp>
        <p:nvSpPr>
          <p:cNvPr id="64" name="Text 61"/>
          <p:cNvSpPr/>
          <p:nvPr/>
        </p:nvSpPr>
        <p:spPr>
          <a:xfrm>
            <a:off x="4759200" y="8987760"/>
            <a:ext cx="1749600" cy="532800"/>
          </a:xfrm>
          <a:prstGeom prst="rect">
            <a:avLst/>
          </a:prstGeom>
          <a:noFill/>
          <a:ln/>
        </p:spPr>
        <p:txBody>
          <a:bodyPr wrap="square" lIns="0" tIns="0" rIns="0" bIns="0" rtlCol="0" anchor="ctr"/>
          <a:lstStyle/>
          <a:p>
            <a:pPr algn="l" indent="0" marL="0">
              <a:buNone/>
            </a:pPr>
            <a:endParaRPr lang="en-US" sz="1000" dirty="0"/>
          </a:p>
        </p:txBody>
      </p:sp>
      <p:sp>
        <p:nvSpPr>
          <p:cNvPr id="65" name="Text 62"/>
          <p:cNvSpPr/>
          <p:nvPr/>
        </p:nvSpPr>
        <p:spPr>
          <a:xfrm>
            <a:off x="2898000" y="914616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66" name="Text 63"/>
          <p:cNvSpPr/>
          <p:nvPr/>
        </p:nvSpPr>
        <p:spPr>
          <a:xfrm>
            <a:off x="4770000" y="902016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sp>
        <p:nvSpPr>
          <p:cNvPr id="67" name="Shape 64"/>
          <p:cNvSpPr/>
          <p:nvPr/>
        </p:nvSpPr>
        <p:spPr>
          <a:xfrm>
            <a:off x="5355000" y="9200160"/>
            <a:ext cx="558000" cy="306000"/>
          </a:xfrm>
          <a:prstGeom prst="rect">
            <a:avLst/>
          </a:prstGeom>
          <a:solidFill>
            <a:srgbClr val="EF8737"/>
          </a:solidFill>
          <a:ln w="6985">
            <a:solidFill>
              <a:srgbClr val="202020"/>
            </a:solidFill>
            <a:prstDash val="solid"/>
          </a:ln>
        </p:spPr>
      </p:sp>
      <p:sp>
        <p:nvSpPr>
          <p:cNvPr id="68" name="Text 65"/>
          <p:cNvSpPr/>
          <p:nvPr/>
        </p:nvSpPr>
        <p:spPr>
          <a:xfrm>
            <a:off x="5416200" y="9239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F</a:t>
            </a:r>
            <a:endParaRPr lang="en-US" sz="1100" dirty="0"/>
          </a:p>
        </p:txBody>
      </p:sp>
      <p:sp>
        <p:nvSpPr>
          <p:cNvPr id="69" name="Shape 66"/>
          <p:cNvSpPr/>
          <p:nvPr/>
        </p:nvSpPr>
        <p:spPr>
          <a:xfrm>
            <a:off x="954000" y="9560160"/>
            <a:ext cx="1872000" cy="756000"/>
          </a:xfrm>
          <a:prstGeom prst="rect">
            <a:avLst/>
          </a:prstGeom>
          <a:solidFill>
            <a:srgbClr val="FFFFFF"/>
          </a:solidFill>
          <a:ln w="6985">
            <a:solidFill>
              <a:srgbClr val="202020"/>
            </a:solidFill>
            <a:prstDash val="solid"/>
          </a:ln>
        </p:spPr>
      </p:sp>
      <p:sp>
        <p:nvSpPr>
          <p:cNvPr id="70" name="Text 67"/>
          <p:cNvSpPr/>
          <p:nvPr/>
        </p:nvSpPr>
        <p:spPr>
          <a:xfrm>
            <a:off x="1015200" y="9599760"/>
            <a:ext cx="1749600" cy="676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2826000" y="9560160"/>
            <a:ext cx="1872000" cy="756000"/>
          </a:xfrm>
          <a:prstGeom prst="rect">
            <a:avLst/>
          </a:prstGeom>
          <a:solidFill>
            <a:srgbClr val="FFFFFF"/>
          </a:solidFill>
          <a:ln w="6985">
            <a:solidFill>
              <a:srgbClr val="202020"/>
            </a:solidFill>
            <a:prstDash val="solid"/>
          </a:ln>
        </p:spPr>
      </p:sp>
      <p:sp>
        <p:nvSpPr>
          <p:cNvPr id="72" name="Text 69"/>
          <p:cNvSpPr/>
          <p:nvPr/>
        </p:nvSpPr>
        <p:spPr>
          <a:xfrm>
            <a:off x="2887200" y="9599760"/>
            <a:ext cx="1749600" cy="676800"/>
          </a:xfrm>
          <a:prstGeom prst="rect">
            <a:avLst/>
          </a:prstGeom>
          <a:noFill/>
          <a:ln/>
        </p:spPr>
        <p:txBody>
          <a:bodyPr wrap="square" lIns="0" tIns="0" rIns="0" bIns="0" rtlCol="0" anchor="ctr"/>
          <a:lstStyle/>
          <a:p>
            <a:pPr algn="l" indent="0" marL="0">
              <a:buNone/>
            </a:pPr>
            <a:endParaRPr lang="en-US" sz="1000" dirty="0"/>
          </a:p>
        </p:txBody>
      </p:sp>
      <p:sp>
        <p:nvSpPr>
          <p:cNvPr id="73" name="Shape 70"/>
          <p:cNvSpPr/>
          <p:nvPr/>
        </p:nvSpPr>
        <p:spPr>
          <a:xfrm>
            <a:off x="4698000" y="9560160"/>
            <a:ext cx="1872000" cy="756000"/>
          </a:xfrm>
          <a:prstGeom prst="rect">
            <a:avLst/>
          </a:prstGeom>
          <a:solidFill>
            <a:srgbClr val="FFFFFF"/>
          </a:solidFill>
          <a:ln w="6985">
            <a:solidFill>
              <a:srgbClr val="202020"/>
            </a:solidFill>
            <a:prstDash val="solid"/>
          </a:ln>
        </p:spPr>
      </p:sp>
      <p:sp>
        <p:nvSpPr>
          <p:cNvPr id="74" name="Text 71"/>
          <p:cNvSpPr/>
          <p:nvPr/>
        </p:nvSpPr>
        <p:spPr>
          <a:xfrm>
            <a:off x="4759200" y="9599760"/>
            <a:ext cx="1749600" cy="676800"/>
          </a:xfrm>
          <a:prstGeom prst="rect">
            <a:avLst/>
          </a:prstGeom>
          <a:noFill/>
          <a:ln/>
        </p:spPr>
        <p:txBody>
          <a:bodyPr wrap="square" lIns="0" tIns="0" rIns="0" bIns="0" rtlCol="0" anchor="ctr"/>
          <a:lstStyle/>
          <a:p>
            <a:pPr algn="l" indent="0" marL="0">
              <a:buNone/>
            </a:pPr>
            <a:endParaRPr lang="en-US" sz="1000" dirty="0"/>
          </a:p>
        </p:txBody>
      </p:sp>
      <p:sp>
        <p:nvSpPr>
          <p:cNvPr id="75" name="Text 72"/>
          <p:cNvSpPr/>
          <p:nvPr/>
        </p:nvSpPr>
        <p:spPr>
          <a:xfrm>
            <a:off x="2898000" y="983016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76" name="Text 73"/>
          <p:cNvSpPr/>
          <p:nvPr/>
        </p:nvSpPr>
        <p:spPr>
          <a:xfrm>
            <a:off x="1026000" y="963216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77" name="Text 74"/>
          <p:cNvSpPr/>
          <p:nvPr/>
        </p:nvSpPr>
        <p:spPr>
          <a:xfrm>
            <a:off x="4770000" y="963216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sp>
        <p:nvSpPr>
          <p:cNvPr id="78" name="Shape 75"/>
          <p:cNvSpPr/>
          <p:nvPr/>
        </p:nvSpPr>
        <p:spPr>
          <a:xfrm>
            <a:off x="1611000" y="9956160"/>
            <a:ext cx="558000" cy="306000"/>
          </a:xfrm>
          <a:prstGeom prst="rect">
            <a:avLst/>
          </a:prstGeom>
          <a:solidFill>
            <a:srgbClr val="F3DF00"/>
          </a:solidFill>
          <a:ln w="6985">
            <a:solidFill>
              <a:srgbClr val="202020"/>
            </a:solidFill>
            <a:prstDash val="solid"/>
          </a:ln>
        </p:spPr>
      </p:sp>
      <p:sp>
        <p:nvSpPr>
          <p:cNvPr id="79" name="Text 76"/>
          <p:cNvSpPr/>
          <p:nvPr/>
        </p:nvSpPr>
        <p:spPr>
          <a:xfrm>
            <a:off x="1672200" y="9995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D</a:t>
            </a:r>
            <a:endParaRPr lang="en-US" sz="1100" dirty="0"/>
          </a:p>
        </p:txBody>
      </p:sp>
      <p:sp>
        <p:nvSpPr>
          <p:cNvPr id="80" name="Shape 77"/>
          <p:cNvSpPr/>
          <p:nvPr/>
        </p:nvSpPr>
        <p:spPr>
          <a:xfrm>
            <a:off x="5355000" y="9956160"/>
            <a:ext cx="558000" cy="306000"/>
          </a:xfrm>
          <a:prstGeom prst="rect">
            <a:avLst/>
          </a:prstGeom>
          <a:solidFill>
            <a:srgbClr val="F4B51B"/>
          </a:solidFill>
          <a:ln w="6985">
            <a:solidFill>
              <a:srgbClr val="202020"/>
            </a:solidFill>
            <a:prstDash val="solid"/>
          </a:ln>
        </p:spPr>
      </p:sp>
      <p:sp>
        <p:nvSpPr>
          <p:cNvPr id="81" name="Text 78"/>
          <p:cNvSpPr/>
          <p:nvPr/>
        </p:nvSpPr>
        <p:spPr>
          <a:xfrm>
            <a:off x="5416200" y="9995760"/>
            <a:ext cx="435600" cy="22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100" dirty="0"/>
          </a:p>
        </p:txBody>
      </p:sp>
      <p:sp>
        <p:nvSpPr>
          <p:cNvPr id="9" name="Text 6"/>
          <p:cNvSpPr/>
          <p:nvPr/>
        </p:nvSpPr>
        <p:spPr>
          <a:xfrm>
            <a:off x="648000" y="276480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100" dirty="0"/>
          </a:p>
        </p:txBody>
      </p:sp>
      <p:sp>
        <p:nvSpPr>
          <p:cNvPr id="10" name="Text 7"/>
          <p:cNvSpPr/>
          <p:nvPr/>
        </p:nvSpPr>
        <p:spPr>
          <a:xfrm>
            <a:off x="648000" y="381960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100" dirty="0"/>
          </a:p>
        </p:txBody>
      </p:sp>
      <p:sp>
        <p:nvSpPr>
          <p:cNvPr id="11" name="Text 8"/>
          <p:cNvSpPr/>
          <p:nvPr/>
        </p:nvSpPr>
        <p:spPr>
          <a:xfrm>
            <a:off x="648000" y="5056560"/>
            <a:ext cx="6264000" cy="2469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réalisation du DPE collectif : À confirmer.</a:t>
            </a:r>
            <a:endParaRPr lang="en-US" sz="1100" dirty="0"/>
          </a:p>
        </p:txBody>
      </p:sp>
      <p:sp>
        <p:nvSpPr>
          <p:cNvPr id="12" name="Text 9"/>
          <p:cNvSpPr/>
          <p:nvPr/>
        </p:nvSpPr>
        <p:spPr>
          <a:xfrm>
            <a:off x="648000" y="533952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Pour bénéficier d’aides financières (CEE, MaPrimeRénov’), un audit énergétique doit être réalisé.</a:t>
            </a:r>
            <a:endParaRPr lang="en-US" sz="1100" dirty="0"/>
          </a:p>
        </p:txBody>
      </p:sp>
      <p:sp>
        <p:nvSpPr>
          <p:cNvPr id="13" name="Text 10"/>
          <p:cNvSpPr/>
          <p:nvPr/>
        </p:nvSpPr>
        <p:spPr>
          <a:xfrm>
            <a:off x="648000" y="582264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600264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625464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100" dirty="0"/>
          </a:p>
        </p:txBody>
      </p:sp>
      <p:sp>
        <p:nvSpPr>
          <p:cNvPr id="9" name="Text 6"/>
          <p:cNvSpPr/>
          <p:nvPr/>
        </p:nvSpPr>
        <p:spPr>
          <a:xfrm>
            <a:off x="648000" y="297576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100" dirty="0"/>
          </a:p>
        </p:txBody>
      </p:sp>
      <p:sp>
        <p:nvSpPr>
          <p:cNvPr id="10" name="Text 7"/>
          <p:cNvSpPr/>
          <p:nvPr/>
        </p:nvSpPr>
        <p:spPr>
          <a:xfrm>
            <a:off x="648000" y="387720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Afin de distinguer les travaux relevant de la conservation du bâtiment de ceux visant à améliorer sa performance énergétique, les préconisations ont été réparties en deux tableaux récapitulatifs distincts :</a:t>
            </a:r>
            <a:endParaRPr lang="en-US" sz="1100" dirty="0"/>
          </a:p>
        </p:txBody>
      </p:sp>
      <p:sp>
        <p:nvSpPr>
          <p:cNvPr id="11" name="Text 8"/>
          <p:cNvSpPr/>
          <p:nvPr/>
        </p:nvSpPr>
        <p:spPr>
          <a:xfrm>
            <a:off x="648000" y="4596480"/>
            <a:ext cx="6264000" cy="246960"/>
          </a:xfrm>
          <a:prstGeom prst="rect">
            <a:avLst/>
          </a:prstGeom>
          <a:noFill/>
          <a:ln/>
        </p:spPr>
        <p:txBody>
          <a:bodyPr wrap="square" lIns="0" tIns="0" rIns="0" bIns="0" rtlCol="0" anchor="t"/>
          <a:lstStyle/>
          <a:p>
            <a:pPr algn="l" indent="0" marL="0">
              <a:buNone/>
            </a:pPr>
            <a:r>
              <a:rPr lang="en-US" sz="1100" b="1" dirty="0">
                <a:solidFill>
                  <a:srgbClr val="1C1C1C"/>
                </a:solidFill>
                <a:latin typeface="Calibri" pitchFamily="34" charset="0"/>
                <a:ea typeface="Calibri" pitchFamily="34" charset="-122"/>
                <a:cs typeface="Calibri" pitchFamily="34" charset="-120"/>
              </a:rPr>
              <a:t>•  Tableau 1 : Travaux curatifs</a:t>
            </a:r>
            <a:endParaRPr lang="en-US" sz="1100" dirty="0"/>
          </a:p>
        </p:txBody>
      </p:sp>
      <p:sp>
        <p:nvSpPr>
          <p:cNvPr id="12" name="Text 9"/>
          <p:cNvSpPr/>
          <p:nvPr/>
        </p:nvSpPr>
        <p:spPr>
          <a:xfrm>
            <a:off x="648000" y="493344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100" dirty="0"/>
          </a:p>
        </p:txBody>
      </p:sp>
      <p:sp>
        <p:nvSpPr>
          <p:cNvPr id="13" name="Text 10"/>
          <p:cNvSpPr/>
          <p:nvPr/>
        </p:nvSpPr>
        <p:spPr>
          <a:xfrm>
            <a:off x="648000" y="5906880"/>
            <a:ext cx="6264000" cy="246960"/>
          </a:xfrm>
          <a:prstGeom prst="rect">
            <a:avLst/>
          </a:prstGeom>
          <a:noFill/>
          <a:ln/>
        </p:spPr>
        <p:txBody>
          <a:bodyPr wrap="square" lIns="0" tIns="0" rIns="0" bIns="0" rtlCol="0" anchor="t"/>
          <a:lstStyle/>
          <a:p>
            <a:pPr algn="l" indent="0" marL="0">
              <a:buNone/>
            </a:pPr>
            <a:r>
              <a:rPr lang="en-US" sz="1100" b="1" dirty="0">
                <a:solidFill>
                  <a:srgbClr val="1C1C1C"/>
                </a:solidFill>
                <a:latin typeface="Calibri" pitchFamily="34" charset="0"/>
                <a:ea typeface="Calibri" pitchFamily="34" charset="-122"/>
                <a:cs typeface="Calibri" pitchFamily="34" charset="-120"/>
              </a:rPr>
              <a:t>•  Tableau 2 : Travaux d’amélioration énergétique</a:t>
            </a:r>
            <a:endParaRPr lang="en-US" sz="1100" dirty="0"/>
          </a:p>
        </p:txBody>
      </p:sp>
      <p:sp>
        <p:nvSpPr>
          <p:cNvPr id="14" name="Text 11"/>
          <p:cNvSpPr/>
          <p:nvPr/>
        </p:nvSpPr>
        <p:spPr>
          <a:xfrm>
            <a:off x="648000" y="624384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2905200"/>
          </a:xfrm>
          <a:prstGeom prst="rect">
            <a:avLst/>
          </a:prstGeom>
          <a:solidFill>
            <a:srgbClr val="D52234"/>
          </a:solidFill>
          <a:ln w="6985">
            <a:solidFill>
              <a:srgbClr val="202020"/>
            </a:solidFill>
            <a:prstDash val="solid"/>
          </a:ln>
        </p:spPr>
      </p:sp>
      <p:sp>
        <p:nvSpPr>
          <p:cNvPr id="23" name="Text 20"/>
          <p:cNvSpPr/>
          <p:nvPr/>
        </p:nvSpPr>
        <p:spPr>
          <a:xfrm>
            <a:off x="601200" y="2541600"/>
            <a:ext cx="561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C1</a:t>
            </a:r>
            <a:endParaRPr lang="en-US" sz="1100" dirty="0"/>
          </a:p>
        </p:txBody>
      </p:sp>
      <p:sp>
        <p:nvSpPr>
          <p:cNvPr id="24" name="Shape 21"/>
          <p:cNvSpPr/>
          <p:nvPr/>
        </p:nvSpPr>
        <p:spPr>
          <a:xfrm>
            <a:off x="1224000" y="2502000"/>
            <a:ext cx="720000" cy="29052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1</a:t>
            </a:r>
            <a:endParaRPr lang="en-US" sz="1100" dirty="0"/>
          </a:p>
        </p:txBody>
      </p:sp>
      <p:sp>
        <p:nvSpPr>
          <p:cNvPr id="26" name="Shape 23"/>
          <p:cNvSpPr/>
          <p:nvPr/>
        </p:nvSpPr>
        <p:spPr>
          <a:xfrm>
            <a:off x="1944000" y="2502000"/>
            <a:ext cx="2160000" cy="29052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28260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Il convient de procéder à une vérification urgente sur site afin de confirmer la présence et la conformité de l’équipement. Prévoir ensuite sa remise en état et un contrôle de sécurité adapté aux parties communes. Prévoir ensuite sa remise en état et un contrôle de sécurité adapté aux parties communes. Prévoir ensuite sa remise en état et un contrôle de sécurité adapté aux parties communes.</a:t>
            </a:r>
            <a:endParaRPr lang="en-US" sz="1100" dirty="0"/>
          </a:p>
        </p:txBody>
      </p:sp>
      <p:sp>
        <p:nvSpPr>
          <p:cNvPr id="28" name="Shape 25"/>
          <p:cNvSpPr/>
          <p:nvPr/>
        </p:nvSpPr>
        <p:spPr>
          <a:xfrm>
            <a:off x="4104000" y="2502000"/>
            <a:ext cx="756000" cy="29052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200 €</a:t>
            </a:r>
            <a:endParaRPr lang="en-US" sz="1100" dirty="0"/>
          </a:p>
        </p:txBody>
      </p:sp>
      <p:sp>
        <p:nvSpPr>
          <p:cNvPr id="30" name="Shape 27"/>
          <p:cNvSpPr/>
          <p:nvPr/>
        </p:nvSpPr>
        <p:spPr>
          <a:xfrm>
            <a:off x="4860000" y="2502000"/>
            <a:ext cx="720000" cy="29052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a:t>
            </a:r>
            <a:endParaRPr lang="en-US" sz="1100" dirty="0"/>
          </a:p>
        </p:txBody>
      </p:sp>
      <p:sp>
        <p:nvSpPr>
          <p:cNvPr id="32" name="Shape 29"/>
          <p:cNvSpPr/>
          <p:nvPr/>
        </p:nvSpPr>
        <p:spPr>
          <a:xfrm>
            <a:off x="5580000" y="2502000"/>
            <a:ext cx="720000" cy="29052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28260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29052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28260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5407200"/>
            <a:ext cx="684000" cy="2905200"/>
          </a:xfrm>
          <a:prstGeom prst="rect">
            <a:avLst/>
          </a:prstGeom>
          <a:solidFill>
            <a:srgbClr val="D52234"/>
          </a:solidFill>
          <a:ln w="6985">
            <a:solidFill>
              <a:srgbClr val="202020"/>
            </a:solidFill>
            <a:prstDash val="solid"/>
          </a:ln>
        </p:spPr>
      </p:sp>
      <p:sp>
        <p:nvSpPr>
          <p:cNvPr id="37" name="Text 34"/>
          <p:cNvSpPr/>
          <p:nvPr/>
        </p:nvSpPr>
        <p:spPr>
          <a:xfrm>
            <a:off x="601200" y="5446800"/>
            <a:ext cx="561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C1</a:t>
            </a:r>
            <a:endParaRPr lang="en-US" sz="1100" dirty="0"/>
          </a:p>
        </p:txBody>
      </p:sp>
      <p:sp>
        <p:nvSpPr>
          <p:cNvPr id="38" name="Shape 35"/>
          <p:cNvSpPr/>
          <p:nvPr/>
        </p:nvSpPr>
        <p:spPr>
          <a:xfrm>
            <a:off x="1224000" y="5407200"/>
            <a:ext cx="720000" cy="2905200"/>
          </a:xfrm>
          <a:prstGeom prst="rect">
            <a:avLst/>
          </a:prstGeom>
          <a:solidFill>
            <a:srgbClr val="F6A5A8"/>
          </a:solidFill>
          <a:ln w="6985">
            <a:solidFill>
              <a:srgbClr val="202020"/>
            </a:solidFill>
            <a:prstDash val="solid"/>
          </a:ln>
        </p:spPr>
      </p:sp>
      <p:sp>
        <p:nvSpPr>
          <p:cNvPr id="39" name="Text 36"/>
          <p:cNvSpPr/>
          <p:nvPr/>
        </p:nvSpPr>
        <p:spPr>
          <a:xfrm>
            <a:off x="1285200" y="5446800"/>
            <a:ext cx="597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2</a:t>
            </a:r>
            <a:endParaRPr lang="en-US" sz="1100" dirty="0"/>
          </a:p>
        </p:txBody>
      </p:sp>
      <p:sp>
        <p:nvSpPr>
          <p:cNvPr id="40" name="Shape 37"/>
          <p:cNvSpPr/>
          <p:nvPr/>
        </p:nvSpPr>
        <p:spPr>
          <a:xfrm>
            <a:off x="1944000" y="5407200"/>
            <a:ext cx="2160000" cy="2905200"/>
          </a:xfrm>
          <a:prstGeom prst="rect">
            <a:avLst/>
          </a:prstGeom>
          <a:solidFill>
            <a:srgbClr val="F6A5A8"/>
          </a:solidFill>
          <a:ln w="6985">
            <a:solidFill>
              <a:srgbClr val="202020"/>
            </a:solidFill>
            <a:prstDash val="solid"/>
          </a:ln>
        </p:spPr>
      </p:sp>
      <p:sp>
        <p:nvSpPr>
          <p:cNvPr id="41" name="Text 38"/>
          <p:cNvSpPr/>
          <p:nvPr/>
        </p:nvSpPr>
        <p:spPr>
          <a:xfrm>
            <a:off x="2005200" y="5446800"/>
            <a:ext cx="2037600" cy="28260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Il convient de procéder à une vérification urgente sur site afin de confirmer la présence et la conformité de l’équipement. Prévoir ensuite sa remise en état et un contrôle de sécurité adapté aux parties communes. Prévoir ensuite sa remise en état et un contrôle de sécurité adapté aux parties communes. Prévoir ensuite sa remise en état et un contrôle de sécurité adapté aux parties communes.</a:t>
            </a:r>
            <a:endParaRPr lang="en-US" sz="1100" dirty="0"/>
          </a:p>
        </p:txBody>
      </p:sp>
      <p:sp>
        <p:nvSpPr>
          <p:cNvPr id="42" name="Shape 39"/>
          <p:cNvSpPr/>
          <p:nvPr/>
        </p:nvSpPr>
        <p:spPr>
          <a:xfrm>
            <a:off x="4104000" y="5407200"/>
            <a:ext cx="756000" cy="2905200"/>
          </a:xfrm>
          <a:prstGeom prst="rect">
            <a:avLst/>
          </a:prstGeom>
          <a:solidFill>
            <a:srgbClr val="F6A5A8"/>
          </a:solidFill>
          <a:ln w="6985">
            <a:solidFill>
              <a:srgbClr val="202020"/>
            </a:solidFill>
            <a:prstDash val="solid"/>
          </a:ln>
        </p:spPr>
      </p:sp>
      <p:sp>
        <p:nvSpPr>
          <p:cNvPr id="43" name="Text 40"/>
          <p:cNvSpPr/>
          <p:nvPr/>
        </p:nvSpPr>
        <p:spPr>
          <a:xfrm>
            <a:off x="4165200" y="5446800"/>
            <a:ext cx="633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400 €</a:t>
            </a:r>
            <a:endParaRPr lang="en-US" sz="1100" dirty="0"/>
          </a:p>
        </p:txBody>
      </p:sp>
      <p:sp>
        <p:nvSpPr>
          <p:cNvPr id="44" name="Shape 41"/>
          <p:cNvSpPr/>
          <p:nvPr/>
        </p:nvSpPr>
        <p:spPr>
          <a:xfrm>
            <a:off x="4860000" y="5407200"/>
            <a:ext cx="720000" cy="2905200"/>
          </a:xfrm>
          <a:prstGeom prst="rect">
            <a:avLst/>
          </a:prstGeom>
          <a:solidFill>
            <a:srgbClr val="F6A5A8"/>
          </a:solidFill>
          <a:ln w="6985">
            <a:solidFill>
              <a:srgbClr val="202020"/>
            </a:solidFill>
            <a:prstDash val="solid"/>
          </a:ln>
        </p:spPr>
      </p:sp>
      <p:sp>
        <p:nvSpPr>
          <p:cNvPr id="45" name="Text 42"/>
          <p:cNvSpPr/>
          <p:nvPr/>
        </p:nvSpPr>
        <p:spPr>
          <a:xfrm>
            <a:off x="4921200" y="5446800"/>
            <a:ext cx="597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a:t>
            </a:r>
            <a:endParaRPr lang="en-US" sz="1100" dirty="0"/>
          </a:p>
        </p:txBody>
      </p:sp>
      <p:sp>
        <p:nvSpPr>
          <p:cNvPr id="46" name="Shape 43"/>
          <p:cNvSpPr/>
          <p:nvPr/>
        </p:nvSpPr>
        <p:spPr>
          <a:xfrm>
            <a:off x="5580000" y="5407200"/>
            <a:ext cx="720000" cy="2905200"/>
          </a:xfrm>
          <a:prstGeom prst="rect">
            <a:avLst/>
          </a:prstGeom>
          <a:solidFill>
            <a:srgbClr val="F6A5A8"/>
          </a:solidFill>
          <a:ln w="6985">
            <a:solidFill>
              <a:srgbClr val="202020"/>
            </a:solidFill>
            <a:prstDash val="solid"/>
          </a:ln>
        </p:spPr>
      </p:sp>
      <p:sp>
        <p:nvSpPr>
          <p:cNvPr id="47" name="Text 44"/>
          <p:cNvSpPr/>
          <p:nvPr/>
        </p:nvSpPr>
        <p:spPr>
          <a:xfrm>
            <a:off x="5641200" y="5446800"/>
            <a:ext cx="597600" cy="282600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6300000" y="5407200"/>
            <a:ext cx="720000" cy="2905200"/>
          </a:xfrm>
          <a:prstGeom prst="rect">
            <a:avLst/>
          </a:prstGeom>
          <a:solidFill>
            <a:srgbClr val="F6A5A8"/>
          </a:solidFill>
          <a:ln w="6985">
            <a:solidFill>
              <a:srgbClr val="202020"/>
            </a:solidFill>
            <a:prstDash val="solid"/>
          </a:ln>
        </p:spPr>
      </p:sp>
      <p:sp>
        <p:nvSpPr>
          <p:cNvPr id="49" name="Text 46"/>
          <p:cNvSpPr/>
          <p:nvPr/>
        </p:nvSpPr>
        <p:spPr>
          <a:xfrm>
            <a:off x="6361200" y="5446800"/>
            <a:ext cx="597600" cy="2826000"/>
          </a:xfrm>
          <a:prstGeom prst="rect">
            <a:avLst/>
          </a:prstGeom>
          <a:noFill/>
          <a:ln/>
        </p:spPr>
        <p:txBody>
          <a:bodyPr wrap="square" lIns="0" tIns="0" rIns="0" bIns="0" rtlCol="0" anchor="ctr"/>
          <a:lstStyle/>
          <a:p>
            <a:pPr algn="ctr" indent="0" marL="0">
              <a:buNone/>
            </a:pP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 — suite</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2905200"/>
          </a:xfrm>
          <a:prstGeom prst="rect">
            <a:avLst/>
          </a:prstGeom>
          <a:solidFill>
            <a:srgbClr val="D52234"/>
          </a:solidFill>
          <a:ln w="6985">
            <a:solidFill>
              <a:srgbClr val="202020"/>
            </a:solidFill>
            <a:prstDash val="solid"/>
          </a:ln>
        </p:spPr>
      </p:sp>
      <p:sp>
        <p:nvSpPr>
          <p:cNvPr id="23" name="Text 20"/>
          <p:cNvSpPr/>
          <p:nvPr/>
        </p:nvSpPr>
        <p:spPr>
          <a:xfrm>
            <a:off x="601200" y="2541600"/>
            <a:ext cx="561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C1</a:t>
            </a:r>
            <a:endParaRPr lang="en-US" sz="1100" dirty="0"/>
          </a:p>
        </p:txBody>
      </p:sp>
      <p:sp>
        <p:nvSpPr>
          <p:cNvPr id="24" name="Shape 21"/>
          <p:cNvSpPr/>
          <p:nvPr/>
        </p:nvSpPr>
        <p:spPr>
          <a:xfrm>
            <a:off x="1224000" y="2502000"/>
            <a:ext cx="720000" cy="29052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3</a:t>
            </a:r>
            <a:endParaRPr lang="en-US" sz="1100" dirty="0"/>
          </a:p>
        </p:txBody>
      </p:sp>
      <p:sp>
        <p:nvSpPr>
          <p:cNvPr id="26" name="Shape 23"/>
          <p:cNvSpPr/>
          <p:nvPr/>
        </p:nvSpPr>
        <p:spPr>
          <a:xfrm>
            <a:off x="1944000" y="2502000"/>
            <a:ext cx="2160000" cy="29052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28260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Il convient de procéder à une vérification urgente sur site afin de confirmer la présence et la conformité de l’équipement. Prévoir ensuite sa remise en état et un contrôle de sécurité adapté aux parties communes. Prévoir ensuite sa remise en état et un contrôle de sécurité adapté aux parties communes. Prévoir ensuite sa remise en état et un contrôle de sécurité adapté aux parties communes.</a:t>
            </a:r>
            <a:endParaRPr lang="en-US" sz="1100" dirty="0"/>
          </a:p>
        </p:txBody>
      </p:sp>
      <p:sp>
        <p:nvSpPr>
          <p:cNvPr id="28" name="Shape 25"/>
          <p:cNvSpPr/>
          <p:nvPr/>
        </p:nvSpPr>
        <p:spPr>
          <a:xfrm>
            <a:off x="4104000" y="2502000"/>
            <a:ext cx="756000" cy="29052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28260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600 €</a:t>
            </a:r>
            <a:endParaRPr lang="en-US" sz="1100" dirty="0"/>
          </a:p>
        </p:txBody>
      </p:sp>
      <p:sp>
        <p:nvSpPr>
          <p:cNvPr id="30" name="Shape 27"/>
          <p:cNvSpPr/>
          <p:nvPr/>
        </p:nvSpPr>
        <p:spPr>
          <a:xfrm>
            <a:off x="4860000" y="2502000"/>
            <a:ext cx="720000" cy="29052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28260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a:t>
            </a:r>
            <a:endParaRPr lang="en-US" sz="1100" dirty="0"/>
          </a:p>
        </p:txBody>
      </p:sp>
      <p:sp>
        <p:nvSpPr>
          <p:cNvPr id="32" name="Shape 29"/>
          <p:cNvSpPr/>
          <p:nvPr/>
        </p:nvSpPr>
        <p:spPr>
          <a:xfrm>
            <a:off x="5580000" y="2502000"/>
            <a:ext cx="720000" cy="29052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28260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29052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28260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1224000" y="5407200"/>
            <a:ext cx="3636000" cy="576000"/>
          </a:xfrm>
          <a:prstGeom prst="rect">
            <a:avLst/>
          </a:prstGeom>
          <a:solidFill>
            <a:srgbClr val="D9EAF7"/>
          </a:solidFill>
          <a:ln w="6985">
            <a:solidFill>
              <a:srgbClr val="202020"/>
            </a:solidFill>
            <a:prstDash val="solid"/>
          </a:ln>
        </p:spPr>
      </p:sp>
      <p:sp>
        <p:nvSpPr>
          <p:cNvPr id="37" name="Text 34"/>
          <p:cNvSpPr/>
          <p:nvPr/>
        </p:nvSpPr>
        <p:spPr>
          <a:xfrm>
            <a:off x="1285200" y="5446800"/>
            <a:ext cx="3513600" cy="49680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Montant des travaux curatif niveau 1</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Travaux à effectuer sous 2 ans (Année 2027-2028)</a:t>
            </a:r>
            <a:endParaRPr lang="en-US" sz="1100" dirty="0"/>
          </a:p>
        </p:txBody>
      </p:sp>
      <p:sp>
        <p:nvSpPr>
          <p:cNvPr id="38" name="Shape 35"/>
          <p:cNvSpPr/>
          <p:nvPr/>
        </p:nvSpPr>
        <p:spPr>
          <a:xfrm>
            <a:off x="4860000" y="5407200"/>
            <a:ext cx="720000" cy="576000"/>
          </a:xfrm>
          <a:prstGeom prst="rect">
            <a:avLst/>
          </a:prstGeom>
          <a:solidFill>
            <a:srgbClr val="D9EAF7"/>
          </a:solidFill>
          <a:ln w="6985">
            <a:solidFill>
              <a:srgbClr val="202020"/>
            </a:solidFill>
            <a:prstDash val="solid"/>
          </a:ln>
        </p:spPr>
      </p:sp>
      <p:sp>
        <p:nvSpPr>
          <p:cNvPr id="39" name="Text 36"/>
          <p:cNvSpPr/>
          <p:nvPr/>
        </p:nvSpPr>
        <p:spPr>
          <a:xfrm>
            <a:off x="4921200" y="54468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1 200 €</a:t>
            </a:r>
            <a:endParaRPr lang="en-US" sz="1100" dirty="0"/>
          </a:p>
        </p:txBody>
      </p:sp>
      <p:sp>
        <p:nvSpPr>
          <p:cNvPr id="40" name="Shape 37"/>
          <p:cNvSpPr/>
          <p:nvPr/>
        </p:nvSpPr>
        <p:spPr>
          <a:xfrm>
            <a:off x="5580000" y="5407200"/>
            <a:ext cx="720000" cy="576000"/>
          </a:xfrm>
          <a:prstGeom prst="rect">
            <a:avLst/>
          </a:prstGeom>
          <a:solidFill>
            <a:srgbClr val="D9EAF7"/>
          </a:solidFill>
          <a:ln w="6985">
            <a:solidFill>
              <a:srgbClr val="202020"/>
            </a:solidFill>
            <a:prstDash val="solid"/>
          </a:ln>
        </p:spPr>
      </p:sp>
      <p:sp>
        <p:nvSpPr>
          <p:cNvPr id="41" name="Text 38"/>
          <p:cNvSpPr/>
          <p:nvPr/>
        </p:nvSpPr>
        <p:spPr>
          <a:xfrm>
            <a:off x="5641200" y="54468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2" name="Shape 39"/>
          <p:cNvSpPr/>
          <p:nvPr/>
        </p:nvSpPr>
        <p:spPr>
          <a:xfrm>
            <a:off x="6300000" y="5407200"/>
            <a:ext cx="720000" cy="576000"/>
          </a:xfrm>
          <a:prstGeom prst="rect">
            <a:avLst/>
          </a:prstGeom>
          <a:solidFill>
            <a:srgbClr val="D9EAF7"/>
          </a:solidFill>
          <a:ln w="6985">
            <a:solidFill>
              <a:srgbClr val="202020"/>
            </a:solidFill>
            <a:prstDash val="solid"/>
          </a:ln>
        </p:spPr>
      </p:sp>
      <p:sp>
        <p:nvSpPr>
          <p:cNvPr id="43" name="Text 40"/>
          <p:cNvSpPr/>
          <p:nvPr/>
        </p:nvSpPr>
        <p:spPr>
          <a:xfrm>
            <a:off x="6361200" y="54468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4" name="Shape 41"/>
          <p:cNvSpPr/>
          <p:nvPr/>
        </p:nvSpPr>
        <p:spPr>
          <a:xfrm>
            <a:off x="1224000" y="5983200"/>
            <a:ext cx="3636000" cy="719280"/>
          </a:xfrm>
          <a:prstGeom prst="rect">
            <a:avLst/>
          </a:prstGeom>
          <a:solidFill>
            <a:srgbClr val="D9EAF7"/>
          </a:solidFill>
          <a:ln w="6985">
            <a:solidFill>
              <a:srgbClr val="202020"/>
            </a:solidFill>
            <a:prstDash val="solid"/>
          </a:ln>
        </p:spPr>
      </p:sp>
      <p:sp>
        <p:nvSpPr>
          <p:cNvPr id="45" name="Text 42"/>
          <p:cNvSpPr/>
          <p:nvPr/>
        </p:nvSpPr>
        <p:spPr>
          <a:xfrm>
            <a:off x="1285200" y="6022800"/>
            <a:ext cx="3513600" cy="64008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Montant des travaux curatif niveau 2</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Travaux à effectuer entre 3 et 5 ans (Année 2029 à 2031)</a:t>
            </a:r>
            <a:endParaRPr lang="en-US" sz="1100" dirty="0"/>
          </a:p>
        </p:txBody>
      </p:sp>
      <p:sp>
        <p:nvSpPr>
          <p:cNvPr id="46" name="Shape 43"/>
          <p:cNvSpPr/>
          <p:nvPr/>
        </p:nvSpPr>
        <p:spPr>
          <a:xfrm>
            <a:off x="4860000" y="5983200"/>
            <a:ext cx="720000" cy="719280"/>
          </a:xfrm>
          <a:prstGeom prst="rect">
            <a:avLst/>
          </a:prstGeom>
          <a:solidFill>
            <a:srgbClr val="D9EAF7"/>
          </a:solidFill>
          <a:ln w="6985">
            <a:solidFill>
              <a:srgbClr val="202020"/>
            </a:solidFill>
            <a:prstDash val="solid"/>
          </a:ln>
        </p:spPr>
      </p:sp>
      <p:sp>
        <p:nvSpPr>
          <p:cNvPr id="47" name="Text 44"/>
          <p:cNvSpPr/>
          <p:nvPr/>
        </p:nvSpPr>
        <p:spPr>
          <a:xfrm>
            <a:off x="4921200" y="6022800"/>
            <a:ext cx="597600" cy="64008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5580000" y="5983200"/>
            <a:ext cx="720000" cy="719280"/>
          </a:xfrm>
          <a:prstGeom prst="rect">
            <a:avLst/>
          </a:prstGeom>
          <a:solidFill>
            <a:srgbClr val="D9EAF7"/>
          </a:solidFill>
          <a:ln w="6985">
            <a:solidFill>
              <a:srgbClr val="202020"/>
            </a:solidFill>
            <a:prstDash val="solid"/>
          </a:ln>
        </p:spPr>
      </p:sp>
      <p:sp>
        <p:nvSpPr>
          <p:cNvPr id="49" name="Text 46"/>
          <p:cNvSpPr/>
          <p:nvPr/>
        </p:nvSpPr>
        <p:spPr>
          <a:xfrm>
            <a:off x="5641200" y="6022800"/>
            <a:ext cx="597600" cy="6400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0 €</a:t>
            </a:r>
            <a:endParaRPr lang="en-US" sz="1100" dirty="0"/>
          </a:p>
        </p:txBody>
      </p:sp>
      <p:sp>
        <p:nvSpPr>
          <p:cNvPr id="50" name="Shape 47"/>
          <p:cNvSpPr/>
          <p:nvPr/>
        </p:nvSpPr>
        <p:spPr>
          <a:xfrm>
            <a:off x="6300000" y="5983200"/>
            <a:ext cx="720000" cy="719280"/>
          </a:xfrm>
          <a:prstGeom prst="rect">
            <a:avLst/>
          </a:prstGeom>
          <a:solidFill>
            <a:srgbClr val="D9EAF7"/>
          </a:solidFill>
          <a:ln w="6985">
            <a:solidFill>
              <a:srgbClr val="202020"/>
            </a:solidFill>
            <a:prstDash val="solid"/>
          </a:ln>
        </p:spPr>
      </p:sp>
      <p:sp>
        <p:nvSpPr>
          <p:cNvPr id="51" name="Text 48"/>
          <p:cNvSpPr/>
          <p:nvPr/>
        </p:nvSpPr>
        <p:spPr>
          <a:xfrm>
            <a:off x="6361200" y="6022800"/>
            <a:ext cx="597600" cy="640080"/>
          </a:xfrm>
          <a:prstGeom prst="rect">
            <a:avLst/>
          </a:prstGeom>
          <a:noFill/>
          <a:ln/>
        </p:spPr>
        <p:txBody>
          <a:bodyPr wrap="square" lIns="0" tIns="0" rIns="0" bIns="0" rtlCol="0" anchor="ctr"/>
          <a:lstStyle/>
          <a:p>
            <a:pPr algn="ctr" indent="0" marL="0">
              <a:buNone/>
            </a:pPr>
            <a:endParaRPr lang="en-US" sz="1100" dirty="0"/>
          </a:p>
        </p:txBody>
      </p:sp>
      <p:sp>
        <p:nvSpPr>
          <p:cNvPr id="52" name="Shape 49"/>
          <p:cNvSpPr/>
          <p:nvPr/>
        </p:nvSpPr>
        <p:spPr>
          <a:xfrm>
            <a:off x="1224000" y="6702480"/>
            <a:ext cx="3636000" cy="719280"/>
          </a:xfrm>
          <a:prstGeom prst="rect">
            <a:avLst/>
          </a:prstGeom>
          <a:solidFill>
            <a:srgbClr val="D9EAF7"/>
          </a:solidFill>
          <a:ln w="6985">
            <a:solidFill>
              <a:srgbClr val="202020"/>
            </a:solidFill>
            <a:prstDash val="solid"/>
          </a:ln>
        </p:spPr>
      </p:sp>
      <p:sp>
        <p:nvSpPr>
          <p:cNvPr id="53" name="Text 50"/>
          <p:cNvSpPr/>
          <p:nvPr/>
        </p:nvSpPr>
        <p:spPr>
          <a:xfrm>
            <a:off x="1285200" y="6742080"/>
            <a:ext cx="3513600" cy="64008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Montant des travaux curatif niveau 3</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Travaux à effectuer entre 6 et 10 ans (Année 2032 à 2036)</a:t>
            </a:r>
            <a:endParaRPr lang="en-US" sz="1100" dirty="0"/>
          </a:p>
        </p:txBody>
      </p:sp>
      <p:sp>
        <p:nvSpPr>
          <p:cNvPr id="54" name="Shape 51"/>
          <p:cNvSpPr/>
          <p:nvPr/>
        </p:nvSpPr>
        <p:spPr>
          <a:xfrm>
            <a:off x="4860000" y="6702480"/>
            <a:ext cx="720000" cy="719280"/>
          </a:xfrm>
          <a:prstGeom prst="rect">
            <a:avLst/>
          </a:prstGeom>
          <a:solidFill>
            <a:srgbClr val="D9EAF7"/>
          </a:solidFill>
          <a:ln w="6985">
            <a:solidFill>
              <a:srgbClr val="202020"/>
            </a:solidFill>
            <a:prstDash val="solid"/>
          </a:ln>
        </p:spPr>
      </p:sp>
      <p:sp>
        <p:nvSpPr>
          <p:cNvPr id="55" name="Text 52"/>
          <p:cNvSpPr/>
          <p:nvPr/>
        </p:nvSpPr>
        <p:spPr>
          <a:xfrm>
            <a:off x="4921200" y="6742080"/>
            <a:ext cx="597600" cy="640080"/>
          </a:xfrm>
          <a:prstGeom prst="rect">
            <a:avLst/>
          </a:prstGeom>
          <a:noFill/>
          <a:ln/>
        </p:spPr>
        <p:txBody>
          <a:bodyPr wrap="square" lIns="0" tIns="0" rIns="0" bIns="0" rtlCol="0" anchor="ctr"/>
          <a:lstStyle/>
          <a:p>
            <a:pPr algn="ctr" indent="0" marL="0">
              <a:buNone/>
            </a:pPr>
            <a:endParaRPr lang="en-US" sz="1100" dirty="0"/>
          </a:p>
        </p:txBody>
      </p:sp>
      <p:sp>
        <p:nvSpPr>
          <p:cNvPr id="56" name="Shape 53"/>
          <p:cNvSpPr/>
          <p:nvPr/>
        </p:nvSpPr>
        <p:spPr>
          <a:xfrm>
            <a:off x="5580000" y="6702480"/>
            <a:ext cx="720000" cy="719280"/>
          </a:xfrm>
          <a:prstGeom prst="rect">
            <a:avLst/>
          </a:prstGeom>
          <a:solidFill>
            <a:srgbClr val="D9EAF7"/>
          </a:solidFill>
          <a:ln w="6985">
            <a:solidFill>
              <a:srgbClr val="202020"/>
            </a:solidFill>
            <a:prstDash val="solid"/>
          </a:ln>
        </p:spPr>
      </p:sp>
      <p:sp>
        <p:nvSpPr>
          <p:cNvPr id="57" name="Text 54"/>
          <p:cNvSpPr/>
          <p:nvPr/>
        </p:nvSpPr>
        <p:spPr>
          <a:xfrm>
            <a:off x="5641200" y="6742080"/>
            <a:ext cx="597600" cy="640080"/>
          </a:xfrm>
          <a:prstGeom prst="rect">
            <a:avLst/>
          </a:prstGeom>
          <a:noFill/>
          <a:ln/>
        </p:spPr>
        <p:txBody>
          <a:bodyPr wrap="square" lIns="0" tIns="0" rIns="0" bIns="0" rtlCol="0" anchor="ctr"/>
          <a:lstStyle/>
          <a:p>
            <a:pPr algn="ctr" indent="0" marL="0">
              <a:buNone/>
            </a:pPr>
            <a:endParaRPr lang="en-US" sz="1100" dirty="0"/>
          </a:p>
        </p:txBody>
      </p:sp>
      <p:sp>
        <p:nvSpPr>
          <p:cNvPr id="58" name="Shape 55"/>
          <p:cNvSpPr/>
          <p:nvPr/>
        </p:nvSpPr>
        <p:spPr>
          <a:xfrm>
            <a:off x="6300000" y="6702480"/>
            <a:ext cx="720000" cy="719280"/>
          </a:xfrm>
          <a:prstGeom prst="rect">
            <a:avLst/>
          </a:prstGeom>
          <a:solidFill>
            <a:srgbClr val="D9EAF7"/>
          </a:solidFill>
          <a:ln w="6985">
            <a:solidFill>
              <a:srgbClr val="202020"/>
            </a:solidFill>
            <a:prstDash val="solid"/>
          </a:ln>
        </p:spPr>
      </p:sp>
      <p:sp>
        <p:nvSpPr>
          <p:cNvPr id="59" name="Text 56"/>
          <p:cNvSpPr/>
          <p:nvPr/>
        </p:nvSpPr>
        <p:spPr>
          <a:xfrm>
            <a:off x="6361200" y="6742080"/>
            <a:ext cx="597600" cy="6400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0 €</a:t>
            </a:r>
            <a:endParaRPr lang="en-US" sz="1100" dirty="0"/>
          </a:p>
        </p:txBody>
      </p:sp>
      <p:sp>
        <p:nvSpPr>
          <p:cNvPr id="60" name="Shape 57"/>
          <p:cNvSpPr/>
          <p:nvPr/>
        </p:nvSpPr>
        <p:spPr>
          <a:xfrm>
            <a:off x="1224000" y="7421760"/>
            <a:ext cx="3636000" cy="576000"/>
          </a:xfrm>
          <a:prstGeom prst="rect">
            <a:avLst/>
          </a:prstGeom>
          <a:solidFill>
            <a:srgbClr val="D9EAF7"/>
          </a:solidFill>
          <a:ln w="6985">
            <a:solidFill>
              <a:srgbClr val="202020"/>
            </a:solidFill>
            <a:prstDash val="solid"/>
          </a:ln>
        </p:spPr>
      </p:sp>
      <p:sp>
        <p:nvSpPr>
          <p:cNvPr id="61" name="Text 58"/>
          <p:cNvSpPr/>
          <p:nvPr/>
        </p:nvSpPr>
        <p:spPr>
          <a:xfrm>
            <a:off x="1285200" y="7461360"/>
            <a:ext cx="3513600" cy="496800"/>
          </a:xfrm>
          <a:prstGeom prst="rect">
            <a:avLst/>
          </a:prstGeom>
          <a:noFill/>
          <a:ln/>
        </p:spPr>
        <p:txBody>
          <a:bodyPr wrap="square" lIns="0" tIns="0" rIns="0" bIns="0" rtlCol="0" anchor="ctr"/>
          <a:lstStyle/>
          <a:p>
            <a:pPr algn="l" indent="0" marL="0">
              <a:buNone/>
            </a:pPr>
            <a:r>
              <a:rPr lang="en-US" sz="1100" dirty="0">
                <a:solidFill>
                  <a:srgbClr val="1C1C1C"/>
                </a:solidFill>
                <a:latin typeface="Calibri" pitchFamily="34" charset="0"/>
                <a:ea typeface="Calibri" pitchFamily="34" charset="-122"/>
                <a:cs typeface="Calibri" pitchFamily="34" charset="-120"/>
              </a:rPr>
              <a:t>Montant total de l’investissement des travaux curatifs (TTC)</a:t>
            </a:r>
            <a:endParaRPr lang="en-US" sz="1100" dirty="0"/>
          </a:p>
        </p:txBody>
      </p:sp>
      <p:sp>
        <p:nvSpPr>
          <p:cNvPr id="62" name="Shape 59"/>
          <p:cNvSpPr/>
          <p:nvPr/>
        </p:nvSpPr>
        <p:spPr>
          <a:xfrm>
            <a:off x="4860000" y="7421760"/>
            <a:ext cx="2160000" cy="576000"/>
          </a:xfrm>
          <a:prstGeom prst="rect">
            <a:avLst/>
          </a:prstGeom>
          <a:solidFill>
            <a:srgbClr val="D9EAF7"/>
          </a:solidFill>
          <a:ln w="6985">
            <a:solidFill>
              <a:srgbClr val="202020"/>
            </a:solidFill>
            <a:prstDash val="solid"/>
          </a:ln>
        </p:spPr>
      </p:sp>
      <p:sp>
        <p:nvSpPr>
          <p:cNvPr id="63" name="Text 60"/>
          <p:cNvSpPr/>
          <p:nvPr/>
        </p:nvSpPr>
        <p:spPr>
          <a:xfrm>
            <a:off x="4921200" y="7461360"/>
            <a:ext cx="203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1 200 €</a:t>
            </a:r>
            <a:endParaRPr lang="en-US" sz="1100" dirty="0"/>
          </a:p>
        </p:txBody>
      </p:sp>
      <p:sp>
        <p:nvSpPr>
          <p:cNvPr id="64" name="Text 61"/>
          <p:cNvSpPr/>
          <p:nvPr/>
        </p:nvSpPr>
        <p:spPr>
          <a:xfrm>
            <a:off x="540000" y="8069760"/>
            <a:ext cx="6480000" cy="216000"/>
          </a:xfrm>
          <a:prstGeom prst="rect">
            <a:avLst/>
          </a:prstGeom>
          <a:noFill/>
          <a:ln/>
        </p:spPr>
        <p:txBody>
          <a:bodyPr wrap="square" lIns="0" tIns="0" rIns="0" bIns="0" rtlCol="0" anchor="ctr"/>
          <a:lstStyle/>
          <a:p>
            <a:pPr algn="r" indent="0" marL="0">
              <a:buNone/>
            </a:pPr>
            <a:r>
              <a:rPr lang="en-US" sz="1100" i="1" dirty="0">
                <a:solidFill>
                  <a:srgbClr val="6E7480"/>
                </a:solidFill>
                <a:latin typeface="Calibri" pitchFamily="34" charset="0"/>
                <a:ea typeface="Calibri" pitchFamily="34" charset="-122"/>
                <a:cs typeface="Calibri" pitchFamily="34" charset="-120"/>
              </a:rPr>
              <a:t>Estimation IA indicative — à vérifier par un ingénieur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46960"/>
          </a:xfrm>
          <a:prstGeom prst="rect">
            <a:avLst/>
          </a:prstGeom>
          <a:noFill/>
          <a:ln/>
        </p:spPr>
        <p:txBody>
          <a:bodyPr wrap="square" lIns="0" tIns="0" rIns="0" bIns="0" rtlCol="0" anchor="t"/>
          <a:lstStyle/>
          <a:p>
            <a:pPr algn="l" indent="0" marL="0">
              <a:buNone/>
            </a:pPr>
            <a:r>
              <a:rPr lang="en-US" sz="1100" b="1" dirty="0">
                <a:solidFill>
                  <a:srgbClr val="1C1C1C"/>
                </a:solidFill>
                <a:latin typeface="Calibri" pitchFamily="34" charset="0"/>
                <a:ea typeface="Calibri" pitchFamily="34" charset="-122"/>
                <a:cs typeface="Calibri" pitchFamily="34" charset="-120"/>
              </a:rPr>
              <a:t>Programmation des travaux énergétiques</a:t>
            </a:r>
            <a:endParaRPr lang="en-US" sz="1100" dirty="0"/>
          </a:p>
        </p:txBody>
      </p:sp>
      <p:sp>
        <p:nvSpPr>
          <p:cNvPr id="47" name="Text 44"/>
          <p:cNvSpPr/>
          <p:nvPr/>
        </p:nvSpPr>
        <p:spPr>
          <a:xfrm>
            <a:off x="648000" y="780696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100" dirty="0"/>
          </a:p>
        </p:txBody>
      </p:sp>
      <p:sp>
        <p:nvSpPr>
          <p:cNvPr id="48" name="Text 45"/>
          <p:cNvSpPr/>
          <p:nvPr/>
        </p:nvSpPr>
        <p:spPr>
          <a:xfrm>
            <a:off x="648000" y="869400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100" dirty="0"/>
          </a:p>
        </p:txBody>
      </p:sp>
      <p:sp>
        <p:nvSpPr>
          <p:cNvPr id="49" name="Text 46"/>
          <p:cNvSpPr/>
          <p:nvPr/>
        </p:nvSpPr>
        <p:spPr>
          <a:xfrm>
            <a:off x="648000" y="958104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100" dirty="0"/>
          </a:p>
        </p:txBody>
      </p:sp>
      <p:sp>
        <p:nvSpPr>
          <p:cNvPr id="9" name="Text 6"/>
          <p:cNvSpPr/>
          <p:nvPr/>
        </p:nvSpPr>
        <p:spPr>
          <a:xfrm>
            <a:off x="648000" y="246528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L’analyse réalisée a conduit à l’identification de 3 fiches curatives, réparties selon différents niveaux de priorité. Parmi celles-ci, 3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1100" dirty="0"/>
          </a:p>
        </p:txBody>
      </p:sp>
      <p:sp>
        <p:nvSpPr>
          <p:cNvPr id="10" name="Text 7"/>
          <p:cNvSpPr/>
          <p:nvPr/>
        </p:nvSpPr>
        <p:spPr>
          <a:xfrm>
            <a:off x="648000" y="354888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100" dirty="0"/>
          </a:p>
        </p:txBody>
      </p:sp>
      <p:sp>
        <p:nvSpPr>
          <p:cNvPr id="11" name="Text 8"/>
          <p:cNvSpPr/>
          <p:nvPr/>
        </p:nvSpPr>
        <p:spPr>
          <a:xfrm>
            <a:off x="648000" y="426816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1100" dirty="0"/>
          </a:p>
        </p:txBody>
      </p:sp>
      <p:sp>
        <p:nvSpPr>
          <p:cNvPr id="12" name="Text 9"/>
          <p:cNvSpPr/>
          <p:nvPr/>
        </p:nvSpPr>
        <p:spPr>
          <a:xfrm>
            <a:off x="648000" y="516960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100" dirty="0"/>
          </a:p>
        </p:txBody>
      </p:sp>
      <p:sp>
        <p:nvSpPr>
          <p:cNvPr id="13" name="Text 10"/>
          <p:cNvSpPr/>
          <p:nvPr/>
        </p:nvSpPr>
        <p:spPr>
          <a:xfrm>
            <a:off x="648000" y="6435360"/>
            <a:ext cx="6264000" cy="11577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100" dirty="0"/>
          </a:p>
        </p:txBody>
      </p:sp>
      <p:sp>
        <p:nvSpPr>
          <p:cNvPr id="14" name="Text 11"/>
          <p:cNvSpPr/>
          <p:nvPr/>
        </p:nvSpPr>
        <p:spPr>
          <a:xfrm>
            <a:off x="648000" y="770112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100" dirty="0"/>
          </a:p>
        </p:txBody>
      </p:sp>
      <p:sp>
        <p:nvSpPr>
          <p:cNvPr id="15" name="Text 12"/>
          <p:cNvSpPr/>
          <p:nvPr/>
        </p:nvSpPr>
        <p:spPr>
          <a:xfrm>
            <a:off x="648000" y="878472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704240"/>
          </a:xfrm>
          <a:prstGeom prst="rect">
            <a:avLst/>
          </a:prstGeom>
          <a:noFill/>
          <a:ln/>
        </p:spPr>
        <p:txBody>
          <a:bodyPr wrap="square" lIns="0" tIns="0" rIns="0" bIns="0" rtlCol="0" anchor="t"/>
          <a:lstStyle/>
          <a:p>
            <a:pPr algn="just" indent="0" marL="0">
              <a:buNone/>
            </a:pPr>
            <a:r>
              <a:rPr lang="en-US" sz="1100" dirty="0">
                <a:solidFill>
                  <a:srgbClr val="0070C0"/>
                </a:solidFill>
                <a:latin typeface="Calibri" pitchFamily="34" charset="0"/>
                <a:ea typeface="Calibri" pitchFamily="34" charset="-122"/>
                <a:cs typeface="Calibri" pitchFamily="34" charset="-120"/>
              </a:rPr>
              <a:t>Cette prime peut également être versée au syndicat de copropriété lorsque le raccordement s’inscrit dans le cadre d’une opération plus large de rénovation énergétique globale.</a:t>
            </a:r>
            <a:endParaRPr lang="en-US" sz="1100" dirty="0"/>
          </a:p>
          <a:p>
            <a:pPr algn="just" indent="0" marL="0">
              <a:buNone/>
            </a:pPr>
            <a:endParaRPr lang="en-US" sz="1100" dirty="0"/>
          </a:p>
          <a:p>
            <a:pPr algn="just" indent="0" marL="0">
              <a:buNone/>
            </a:pPr>
            <a:r>
              <a:rPr lang="en-US" sz="1100" dirty="0">
                <a:solidFill>
                  <a:srgbClr val="0070C0"/>
                </a:solidFill>
                <a:latin typeface="Calibri" pitchFamily="34" charset="0"/>
                <a:ea typeface="Calibri" pitchFamily="34" charset="-122"/>
                <a:cs typeface="Calibri" pitchFamily="34" charset="-120"/>
              </a:rPr>
              <a:t>Elle dépend du coût des travaux, de la situation de la copropriété et du nombre de logements. Un audit énergétique réglementaire et une assistance à maîtrise d’ouvrage est obligatoire.</a:t>
            </a:r>
            <a:endParaRPr lang="en-US" sz="1100" dirty="0"/>
          </a:p>
        </p:txBody>
      </p:sp>
      <p:sp>
        <p:nvSpPr>
          <p:cNvPr id="9"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0"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1"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2"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3"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4"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5"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6"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7"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8"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19"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0"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1"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2"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3"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4"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5"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6"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7"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8"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29"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0"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1"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2"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3"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4"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5"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6"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7"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8"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39"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0"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1"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2"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3"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4"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5"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6"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7"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8"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49"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0"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1"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2"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3"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4"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5"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6"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7"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8"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59"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0"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1"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2"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3"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4"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5"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6"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7"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8"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69"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0"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1"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2"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3"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4"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5"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6"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7"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8"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9"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0"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1"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2"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3"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4"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5"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6"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7"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sp>
        <p:nvSpPr>
          <p:cNvPr id="8" name="Text 5"/>
          <p:cNvSpPr/>
          <p:nvPr/>
        </p:nvSpPr>
        <p:spPr>
          <a:xfrm>
            <a:off x="648000" y="1710000"/>
            <a:ext cx="4032000" cy="1704240"/>
          </a:xfrm>
          <a:prstGeom prst="rect">
            <a:avLst/>
          </a:prstGeom>
          <a:noFill/>
          <a:ln/>
        </p:spPr>
        <p:txBody>
          <a:bodyPr wrap="square" lIns="0" tIns="0" rIns="0" bIns="0" rtlCol="0" anchor="t"/>
          <a:lstStyle/>
          <a:p>
            <a:pPr algn="just" indent="0" marL="0">
              <a:buNone/>
            </a:pPr>
            <a:r>
              <a:rPr lang="en-US" sz="1100" dirty="0">
                <a:solidFill>
                  <a:srgbClr val="0070C0"/>
                </a:solidFill>
                <a:latin typeface="Calibri" pitchFamily="34" charset="0"/>
                <a:ea typeface="Calibri" pitchFamily="34" charset="-122"/>
                <a:cs typeface="Calibri" pitchFamily="34" charset="-120"/>
              </a:rPr>
              <a:t>Les Certificats d’Économies d’Énergie (CEE) constituent un dispositif national destiné à encourager la réalisation de travaux d’amélioration énergétique.</a:t>
            </a:r>
            <a:endParaRPr lang="en-US" sz="1100" dirty="0"/>
          </a:p>
          <a:p>
            <a:pPr algn="just" indent="0" marL="0">
              <a:buNone/>
            </a:pPr>
            <a:endParaRPr lang="en-US" sz="1100" dirty="0"/>
          </a:p>
          <a:p>
            <a:pPr algn="just" indent="0" marL="0">
              <a:buNone/>
            </a:pPr>
            <a:r>
              <a:rPr lang="en-US" sz="1100" dirty="0">
                <a:solidFill>
                  <a:srgbClr val="0070C0"/>
                </a:solidFill>
                <a:latin typeface="Calibri" pitchFamily="34" charset="0"/>
                <a:ea typeface="Calibri" pitchFamily="34" charset="-122"/>
                <a:cs typeface="Calibri"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100" dirty="0"/>
          </a:p>
        </p:txBody>
      </p:sp>
      <p:sp>
        <p:nvSpPr>
          <p:cNvPr id="9" name="Text 6"/>
          <p:cNvSpPr/>
          <p:nvPr/>
        </p:nvSpPr>
        <p:spPr>
          <a:xfrm>
            <a:off x="648000" y="351504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Les CEE poste par poste</a:t>
            </a:r>
            <a:endParaRPr lang="en-US" sz="1100" dirty="0"/>
          </a:p>
        </p:txBody>
      </p:sp>
      <p:sp>
        <p:nvSpPr>
          <p:cNvPr id="10" name="Text 7"/>
          <p:cNvSpPr/>
          <p:nvPr/>
        </p:nvSpPr>
        <p:spPr>
          <a:xfrm>
            <a:off x="648000" y="378360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CEE peuvent être obtenus pour des travaux réalisés individuellement, dès lors qu’ils respectent les critères de performance définis par la réglementation.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opérations les plus couramment éligibles sont notamment :</a:t>
            </a:r>
            <a:endParaRPr lang="en-US" sz="1100" dirty="0"/>
          </a:p>
        </p:txBody>
      </p:sp>
      <p:sp>
        <p:nvSpPr>
          <p:cNvPr id="11" name="Text 8"/>
          <p:cNvSpPr/>
          <p:nvPr/>
        </p:nvSpPr>
        <p:spPr>
          <a:xfrm>
            <a:off x="756000" y="461304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2" name="Text 9"/>
          <p:cNvSpPr/>
          <p:nvPr/>
        </p:nvSpPr>
        <p:spPr>
          <a:xfrm>
            <a:off x="900000" y="461304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L’isolation des murs, toitures, combles et planchers bas ;</a:t>
            </a:r>
            <a:endParaRPr lang="en-US" sz="1100" dirty="0"/>
          </a:p>
        </p:txBody>
      </p:sp>
      <p:sp>
        <p:nvSpPr>
          <p:cNvPr id="13" name="Text 10"/>
          <p:cNvSpPr/>
          <p:nvPr/>
        </p:nvSpPr>
        <p:spPr>
          <a:xfrm>
            <a:off x="756000" y="487800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900000" y="487800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remplacement des menuiseries extérieures ;</a:t>
            </a:r>
            <a:endParaRPr lang="en-US" sz="1100" dirty="0"/>
          </a:p>
        </p:txBody>
      </p:sp>
      <p:sp>
        <p:nvSpPr>
          <p:cNvPr id="15" name="Text 12"/>
          <p:cNvSpPr/>
          <p:nvPr/>
        </p:nvSpPr>
        <p:spPr>
          <a:xfrm>
            <a:off x="756000" y="514296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900000" y="514296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L’amélioration des systèmes de chauffage ;</a:t>
            </a:r>
            <a:endParaRPr lang="en-US" sz="1100" dirty="0"/>
          </a:p>
        </p:txBody>
      </p:sp>
      <p:sp>
        <p:nvSpPr>
          <p:cNvPr id="17" name="Text 14"/>
          <p:cNvSpPr/>
          <p:nvPr/>
        </p:nvSpPr>
        <p:spPr>
          <a:xfrm>
            <a:off x="756000" y="54079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8" name="Text 15"/>
          <p:cNvSpPr/>
          <p:nvPr/>
        </p:nvSpPr>
        <p:spPr>
          <a:xfrm>
            <a:off x="900000" y="54079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L’installation de systèmes de ventilation performants ;</a:t>
            </a:r>
            <a:endParaRPr lang="en-US" sz="1100" dirty="0"/>
          </a:p>
        </p:txBody>
      </p:sp>
      <p:sp>
        <p:nvSpPr>
          <p:cNvPr id="19" name="Text 16"/>
          <p:cNvSpPr/>
          <p:nvPr/>
        </p:nvSpPr>
        <p:spPr>
          <a:xfrm>
            <a:off x="756000" y="56728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0" name="Text 17"/>
          <p:cNvSpPr/>
          <p:nvPr/>
        </p:nvSpPr>
        <p:spPr>
          <a:xfrm>
            <a:off x="900000" y="56728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raccordement à un réseau de chaleur.</a:t>
            </a:r>
            <a:endParaRPr lang="en-US" sz="1100" dirty="0"/>
          </a:p>
        </p:txBody>
      </p:sp>
      <p:sp>
        <p:nvSpPr>
          <p:cNvPr id="21" name="Text 18"/>
          <p:cNvSpPr/>
          <p:nvPr/>
        </p:nvSpPr>
        <p:spPr>
          <a:xfrm>
            <a:off x="648000" y="597384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1100" dirty="0"/>
          </a:p>
        </p:txBody>
      </p:sp>
      <p:sp>
        <p:nvSpPr>
          <p:cNvPr id="22" name="Text 19"/>
          <p:cNvSpPr/>
          <p:nvPr/>
        </p:nvSpPr>
        <p:spPr>
          <a:xfrm>
            <a:off x="648000" y="679968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Les CEE « Rénovation globale » (BAR-TH-177)</a:t>
            </a:r>
            <a:endParaRPr lang="en-US" sz="1100" dirty="0"/>
          </a:p>
        </p:txBody>
      </p:sp>
      <p:sp>
        <p:nvSpPr>
          <p:cNvPr id="23" name="Text 20"/>
          <p:cNvSpPr/>
          <p:nvPr/>
        </p:nvSpPr>
        <p:spPr>
          <a:xfrm>
            <a:off x="648000" y="7068240"/>
            <a:ext cx="6264000" cy="27972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fiche BAR-TH-177 – Rénovation globale d’un bâtiment résidentiel collectif concerne les projets de rénovation énergétique portant sur plusieurs postes de travaux simultanément.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Lorsque les conditions sont réunies, la fiche BAR-TH-177 permet souvent d’obtenir un niveau d’aide plus important qu’une approche reposant uniquement sur des CEE attribués poste par poste.</a:t>
            </a:r>
            <a:endParaRPr lang="en-US" sz="1100" dirty="0"/>
          </a:p>
        </p:txBody>
      </p:sp>
      <p:sp>
        <p:nvSpPr>
          <p:cNvPr id="24" name="Text 21"/>
          <p:cNvSpPr/>
          <p:nvPr/>
        </p:nvSpPr>
        <p:spPr>
          <a:xfrm>
            <a:off x="648000" y="972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5" name="Text 22">
            <a:hlinkClick r:id="rId2" tooltip="Certificats d’économie d’énergie (CEE) | Service Public"/>
          </p:cNvPr>
          <p:cNvSpPr/>
          <p:nvPr/>
        </p:nvSpPr>
        <p:spPr>
          <a:xfrm>
            <a:off x="648000" y="9864000"/>
            <a:ext cx="6264000" cy="180000"/>
          </a:xfrm>
          <a:prstGeom prst="rect">
            <a:avLst/>
          </a:prstGeom>
          <a:noFill/>
          <a:ln/>
        </p:spPr>
        <p:txBody>
          <a:bodyPr wrap="square" lIns="0" tIns="0" rIns="0" bIns="0" rtlCol="0" anchor="t"/>
          <a:lstStyle/>
          <a:p>
            <a:pPr indent="0" marL="0">
              <a:buNone/>
            </a:pPr>
            <a:r>
              <a:rPr lang="en-US" sz="1100" u="sng" dirty="0">
                <a:solidFill>
                  <a:srgbClr val="4B8BA5"/>
                </a:solidFill>
                <a:uFill>
                  <a:solidFill>
                    <a:srgbClr val="4B8BA5"/>
                  </a:solidFill>
                </a:uFill>
                <a:latin typeface="Calibri" pitchFamily="34" charset="0"/>
                <a:ea typeface="Calibri" pitchFamily="34" charset="-122"/>
                <a:cs typeface="Calibri" pitchFamily="34" charset="-120"/>
                <a:hlinkClick r:id="rId2" invalidUrl="" action="" tgtFrame="" tooltip="Certificats d’économie d’énergie (CEE) | Service Public" history="1" highlightClick="0" endSnd="0">
                  <a:extLst>
                    <a:ext uri="{A12FA001-AC4F-418D-AE19-62706E023703}">
                      <ahyp:hlinkClr xmlns:ahyp="http://schemas.microsoft.com/office/drawing/2018/hyperlinkcolor" val="tx"/>
                    </a:ext>
                  </a:extLst>
                </a:hlinkClick>
              </a:rPr>
              <a:t>Certificats d’économie d’énergie (CEE) | Service Public</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100" dirty="0">
                <a:solidFill>
                  <a:srgbClr val="0070C0"/>
                </a:solidFill>
                <a:latin typeface="Calibri" pitchFamily="34" charset="0"/>
                <a:ea typeface="Calibri" pitchFamily="34" charset="-122"/>
                <a:cs typeface="Calibri"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1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100" dirty="0">
                <a:solidFill>
                  <a:srgbClr val="0070C0"/>
                </a:solidFill>
                <a:latin typeface="Calibri" pitchFamily="34" charset="0"/>
                <a:ea typeface="Calibri" pitchFamily="34" charset="-122"/>
                <a:cs typeface="Calibri"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1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Pour bénéficier de l’Éco-PTZ Copropriété dans le cadre d’une rénovation globale :</a:t>
            </a:r>
            <a:endParaRPr lang="en-US" sz="11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bâtiment doit être achevé depuis plus de 2 ans à la date de début des travaux ;</a:t>
            </a:r>
            <a:endParaRPr lang="en-US" sz="11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Les logements doivent être utilisés ou destinés à être utilisés en tant que résidences principales ;</a:t>
            </a:r>
            <a:endParaRPr lang="en-US" sz="11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Les travaux doivent être votés en assemblée générale des copropriétaires ;</a:t>
            </a:r>
            <a:endParaRPr lang="en-US" sz="11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Une étude ou un audit énergétique préalable doit être réalisé afin de démontrer les gains énergétiques attendus.</a:t>
            </a:r>
            <a:endParaRPr lang="en-US" sz="11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Les travaux engagés doivent permettre :</a:t>
            </a:r>
            <a:endParaRPr lang="en-US" sz="11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D’atteindre une consommation conventionnelle annuelle inférieure à 331 kWhEP/m².an pour les usages réglementaires ;</a:t>
            </a:r>
            <a:endParaRPr lang="en-US" sz="11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Ou de justifier un gain énergétique conventionnel d’au moins 35 % par rapport à la situation initiale.</a:t>
            </a:r>
            <a:endParaRPr lang="en-US" sz="11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Dans le cadre d’une rénovation globale, l’Éco-PTZ peut atteindre jusqu’à 50 000 € par logement. La durée de remboursement peut être étalée jusqu’à 20 ans, permettant ainsi de lisser l’investissement dans le temps.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montant de l’Éco-PTZ individuel éventuellement souscrit par un copropriétaire et sa quote-part dans l’Éco-PTZ Copropriété ne peuvent pas dépasser ce plafond global.</a:t>
            </a:r>
            <a:endParaRPr lang="en-US" sz="11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 dispositif permet ainsi de financer le reste à charge après déduction des subventions obtenues, tout en limitant l’effort financier immédiat demandé aux copropriétaires.</a:t>
            </a:r>
            <a:endParaRPr lang="en-US" sz="11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1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a:hlinkClick r:id="rId3" tooltip="Éco-prêt à taux zéro (éco-PTZ) Copropriétés | Service Public"/>
          </p:cNvPr>
          <p:cNvSpPr/>
          <p:nvPr/>
        </p:nvSpPr>
        <p:spPr>
          <a:xfrm>
            <a:off x="648000" y="9291600"/>
            <a:ext cx="6264000" cy="180000"/>
          </a:xfrm>
          <a:prstGeom prst="rect">
            <a:avLst/>
          </a:prstGeom>
          <a:noFill/>
          <a:ln/>
        </p:spPr>
        <p:txBody>
          <a:bodyPr wrap="square" lIns="0" tIns="0" rIns="0" bIns="0" rtlCol="0" anchor="t"/>
          <a:lstStyle/>
          <a:p>
            <a:pPr indent="0" marL="0">
              <a:buNone/>
            </a:pPr>
            <a:r>
              <a:rPr lang="en-US" sz="1100" u="sng" dirty="0">
                <a:solidFill>
                  <a:srgbClr val="4B8BA5"/>
                </a:solidFill>
                <a:uFill>
                  <a:solidFill>
                    <a:srgbClr val="4B8BA5"/>
                  </a:solidFill>
                </a:uFill>
                <a:latin typeface="Calibri" pitchFamily="34" charset="0"/>
                <a:ea typeface="Calibri" pitchFamily="34" charset="-122"/>
                <a:cs typeface="Calibri" pitchFamily="34" charset="-120"/>
                <a:hlinkClick r:id="rId3" invalidUrl="" action="" tgtFrame="" tooltip="Éco-prêt à taux zéro (éco-PTZ) Copropriétés | Service Public" history="1" highlightClick="0" endSnd="0">
                  <a:extLst>
                    <a:ext uri="{A12FA001-AC4F-418D-AE19-62706E023703}">
                      <ahyp:hlinkClr xmlns:ahyp="http://schemas.microsoft.com/office/drawing/2018/hyperlinkcolor" val="tx"/>
                    </a:ext>
                  </a:extLst>
                </a:hlinkClick>
              </a:rPr>
              <a:t>Éco-prêt à taux zéro (éco-PTZ) Copropriétés | Service Public</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sp>
        <p:nvSpPr>
          <p:cNvPr id="8" name="Text 5"/>
          <p:cNvSpPr/>
          <p:nvPr/>
        </p:nvSpPr>
        <p:spPr>
          <a:xfrm>
            <a:off x="648000" y="1710000"/>
            <a:ext cx="4032000" cy="1157760"/>
          </a:xfrm>
          <a:prstGeom prst="rect">
            <a:avLst/>
          </a:prstGeom>
          <a:noFill/>
          <a:ln/>
        </p:spPr>
        <p:txBody>
          <a:bodyPr wrap="square" lIns="0" tIns="0" rIns="0" bIns="0" rtlCol="0" anchor="t"/>
          <a:lstStyle/>
          <a:p>
            <a:pPr algn="just" indent="0" marL="0">
              <a:buNone/>
            </a:pPr>
            <a:r>
              <a:rPr lang="en-US" sz="1100" dirty="0">
                <a:solidFill>
                  <a:srgbClr val="0070C0"/>
                </a:solidFill>
                <a:latin typeface="Calibri" pitchFamily="34" charset="0"/>
                <a:ea typeface="Calibri" pitchFamily="34" charset="-122"/>
                <a:cs typeface="Calibri"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100" dirty="0"/>
          </a:p>
        </p:txBody>
      </p:sp>
      <p:sp>
        <p:nvSpPr>
          <p:cNvPr id="9" name="Text 6"/>
          <p:cNvSpPr/>
          <p:nvPr/>
        </p:nvSpPr>
        <p:spPr>
          <a:xfrm>
            <a:off x="648000" y="327600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Conditions d’éligibilité</a:t>
            </a:r>
            <a:endParaRPr lang="en-US" sz="1100" dirty="0"/>
          </a:p>
        </p:txBody>
      </p:sp>
      <p:sp>
        <p:nvSpPr>
          <p:cNvPr id="10" name="Text 7"/>
          <p:cNvSpPr/>
          <p:nvPr/>
        </p:nvSpPr>
        <p:spPr>
          <a:xfrm>
            <a:off x="648000" y="3544560"/>
            <a:ext cx="6264000" cy="2469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Pour bénéficier de la TVA à 5,5 %, les principales conditions sont les suivantes :</a:t>
            </a:r>
            <a:endParaRPr lang="en-US" sz="1100" dirty="0"/>
          </a:p>
        </p:txBody>
      </p:sp>
      <p:sp>
        <p:nvSpPr>
          <p:cNvPr id="11" name="Text 8"/>
          <p:cNvSpPr/>
          <p:nvPr/>
        </p:nvSpPr>
        <p:spPr>
          <a:xfrm>
            <a:off x="756000" y="38275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2" name="Text 9"/>
          <p:cNvSpPr/>
          <p:nvPr/>
        </p:nvSpPr>
        <p:spPr>
          <a:xfrm>
            <a:off x="900000" y="38275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bâtiment doit être achevé depuis plus de 2 ans ;</a:t>
            </a:r>
            <a:endParaRPr lang="en-US" sz="1100" dirty="0"/>
          </a:p>
        </p:txBody>
      </p:sp>
      <p:sp>
        <p:nvSpPr>
          <p:cNvPr id="13" name="Text 10"/>
          <p:cNvSpPr/>
          <p:nvPr/>
        </p:nvSpPr>
        <p:spPr>
          <a:xfrm>
            <a:off x="756000" y="40924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4" name="Text 11"/>
          <p:cNvSpPr/>
          <p:nvPr/>
        </p:nvSpPr>
        <p:spPr>
          <a:xfrm>
            <a:off x="900000" y="40924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 logement doit être affecté à un usage d’habitation ;</a:t>
            </a:r>
            <a:endParaRPr lang="en-US" sz="1100" dirty="0"/>
          </a:p>
        </p:txBody>
      </p:sp>
      <p:sp>
        <p:nvSpPr>
          <p:cNvPr id="15" name="Text 12"/>
          <p:cNvSpPr/>
          <p:nvPr/>
        </p:nvSpPr>
        <p:spPr>
          <a:xfrm>
            <a:off x="756000" y="435744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900000" y="435744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Les travaux doivent être réalisés et facturés par une entreprise ;</a:t>
            </a:r>
            <a:endParaRPr lang="en-US" sz="1100" dirty="0"/>
          </a:p>
        </p:txBody>
      </p:sp>
      <p:sp>
        <p:nvSpPr>
          <p:cNvPr id="17" name="Text 14"/>
          <p:cNvSpPr/>
          <p:nvPr/>
        </p:nvSpPr>
        <p:spPr>
          <a:xfrm>
            <a:off x="756000" y="4622400"/>
            <a:ext cx="126000" cy="42912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8" name="Text 15"/>
          <p:cNvSpPr/>
          <p:nvPr/>
        </p:nvSpPr>
        <p:spPr>
          <a:xfrm>
            <a:off x="900000" y="4622400"/>
            <a:ext cx="5976000" cy="42912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Les travaux doivent avoir pour objectif l’amélioration de la performance énergétique du bâtiment.</a:t>
            </a:r>
            <a:endParaRPr lang="en-US" sz="1100" dirty="0"/>
          </a:p>
        </p:txBody>
      </p:sp>
      <p:sp>
        <p:nvSpPr>
          <p:cNvPr id="19" name="Text 16"/>
          <p:cNvSpPr/>
          <p:nvPr/>
        </p:nvSpPr>
        <p:spPr>
          <a:xfrm>
            <a:off x="648000" y="510552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Travaux concernés</a:t>
            </a:r>
            <a:endParaRPr lang="en-US" sz="1100" dirty="0"/>
          </a:p>
        </p:txBody>
      </p:sp>
      <p:sp>
        <p:nvSpPr>
          <p:cNvPr id="20" name="Text 17"/>
          <p:cNvSpPr/>
          <p:nvPr/>
        </p:nvSpPr>
        <p:spPr>
          <a:xfrm>
            <a:off x="648000" y="5374080"/>
            <a:ext cx="6264000" cy="24696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 taux réduit de TVA s’applique notamment aux travaux suivants :</a:t>
            </a:r>
            <a:endParaRPr lang="en-US" sz="1100" dirty="0"/>
          </a:p>
        </p:txBody>
      </p:sp>
      <p:sp>
        <p:nvSpPr>
          <p:cNvPr id="21" name="Text 18"/>
          <p:cNvSpPr/>
          <p:nvPr/>
        </p:nvSpPr>
        <p:spPr>
          <a:xfrm>
            <a:off x="756000" y="565704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900000" y="565704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Isolation thermique des murs, toitures, combles et planchers bas ;</a:t>
            </a:r>
            <a:endParaRPr lang="en-US" sz="1100" dirty="0"/>
          </a:p>
        </p:txBody>
      </p:sp>
      <p:sp>
        <p:nvSpPr>
          <p:cNvPr id="23" name="Text 20"/>
          <p:cNvSpPr/>
          <p:nvPr/>
        </p:nvSpPr>
        <p:spPr>
          <a:xfrm>
            <a:off x="756000" y="592200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4" name="Text 21"/>
          <p:cNvSpPr/>
          <p:nvPr/>
        </p:nvSpPr>
        <p:spPr>
          <a:xfrm>
            <a:off x="900000" y="592200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Remplacement de certaines menuiseries performantes ;</a:t>
            </a:r>
            <a:endParaRPr lang="en-US" sz="1100" dirty="0"/>
          </a:p>
        </p:txBody>
      </p:sp>
      <p:sp>
        <p:nvSpPr>
          <p:cNvPr id="25" name="Text 22"/>
          <p:cNvSpPr/>
          <p:nvPr/>
        </p:nvSpPr>
        <p:spPr>
          <a:xfrm>
            <a:off x="756000" y="618696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6" name="Text 23"/>
          <p:cNvSpPr/>
          <p:nvPr/>
        </p:nvSpPr>
        <p:spPr>
          <a:xfrm>
            <a:off x="900000" y="618696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Installation de pompes à chaleur ;</a:t>
            </a:r>
            <a:endParaRPr lang="en-US" sz="1100" dirty="0"/>
          </a:p>
        </p:txBody>
      </p:sp>
      <p:sp>
        <p:nvSpPr>
          <p:cNvPr id="27" name="Text 24"/>
          <p:cNvSpPr/>
          <p:nvPr/>
        </p:nvSpPr>
        <p:spPr>
          <a:xfrm>
            <a:off x="756000" y="645192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28" name="Text 25"/>
          <p:cNvSpPr/>
          <p:nvPr/>
        </p:nvSpPr>
        <p:spPr>
          <a:xfrm>
            <a:off x="900000" y="645192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Mise en place de systèmes de ventilation performants ;</a:t>
            </a:r>
            <a:endParaRPr lang="en-US" sz="1100" dirty="0"/>
          </a:p>
        </p:txBody>
      </p:sp>
      <p:sp>
        <p:nvSpPr>
          <p:cNvPr id="29" name="Text 26"/>
          <p:cNvSpPr/>
          <p:nvPr/>
        </p:nvSpPr>
        <p:spPr>
          <a:xfrm>
            <a:off x="756000" y="671688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0" name="Text 27"/>
          <p:cNvSpPr/>
          <p:nvPr/>
        </p:nvSpPr>
        <p:spPr>
          <a:xfrm>
            <a:off x="900000" y="671688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Raccordement à un réseau de chaleur ;</a:t>
            </a:r>
            <a:endParaRPr lang="en-US" sz="1100" dirty="0"/>
          </a:p>
        </p:txBody>
      </p:sp>
      <p:sp>
        <p:nvSpPr>
          <p:cNvPr id="31" name="Text 28"/>
          <p:cNvSpPr/>
          <p:nvPr/>
        </p:nvSpPr>
        <p:spPr>
          <a:xfrm>
            <a:off x="756000" y="698184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2" name="Text 29"/>
          <p:cNvSpPr/>
          <p:nvPr/>
        </p:nvSpPr>
        <p:spPr>
          <a:xfrm>
            <a:off x="900000" y="698184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Installation de certains équipements utilisant des énergies renouvelables ;</a:t>
            </a:r>
            <a:endParaRPr lang="en-US" sz="1100" dirty="0"/>
          </a:p>
        </p:txBody>
      </p:sp>
      <p:sp>
        <p:nvSpPr>
          <p:cNvPr id="33" name="Text 30"/>
          <p:cNvSpPr/>
          <p:nvPr/>
        </p:nvSpPr>
        <p:spPr>
          <a:xfrm>
            <a:off x="756000" y="7246800"/>
            <a:ext cx="12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34" name="Text 31"/>
          <p:cNvSpPr/>
          <p:nvPr/>
        </p:nvSpPr>
        <p:spPr>
          <a:xfrm>
            <a:off x="900000" y="7246800"/>
            <a:ext cx="5976000" cy="24696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Travaux induits directement liés à ces opérations.</a:t>
            </a:r>
            <a:endParaRPr lang="en-US" sz="1100" dirty="0"/>
          </a:p>
        </p:txBody>
      </p:sp>
      <p:sp>
        <p:nvSpPr>
          <p:cNvPr id="35" name="Text 32"/>
          <p:cNvSpPr/>
          <p:nvPr/>
        </p:nvSpPr>
        <p:spPr>
          <a:xfrm>
            <a:off x="648000" y="754776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Dans le cadre d’une copropriété</a:t>
            </a:r>
            <a:endParaRPr lang="en-US" sz="1100" dirty="0"/>
          </a:p>
        </p:txBody>
      </p:sp>
      <p:sp>
        <p:nvSpPr>
          <p:cNvPr id="36" name="Text 33"/>
          <p:cNvSpPr/>
          <p:nvPr/>
        </p:nvSpPr>
        <p:spPr>
          <a:xfrm>
            <a:off x="648000" y="7816320"/>
            <a:ext cx="6264000" cy="97560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1100" dirty="0"/>
          </a:p>
        </p:txBody>
      </p:sp>
      <p:sp>
        <p:nvSpPr>
          <p:cNvPr id="37" name="Text 34"/>
          <p:cNvSpPr/>
          <p:nvPr/>
        </p:nvSpPr>
        <p:spPr>
          <a:xfrm>
            <a:off x="648000" y="8827920"/>
            <a:ext cx="6264000" cy="246960"/>
          </a:xfrm>
          <a:prstGeom prst="rect">
            <a:avLst/>
          </a:prstGeom>
          <a:noFill/>
          <a:ln/>
        </p:spPr>
        <p:txBody>
          <a:bodyPr wrap="square" lIns="0" tIns="0" rIns="0" bIns="0" rtlCol="0" anchor="t"/>
          <a:lstStyle/>
          <a:p>
            <a:pPr algn="just" indent="0" marL="0">
              <a:buNone/>
            </a:pPr>
            <a:r>
              <a:rPr lang="en-US" sz="1100" b="1" dirty="0">
                <a:solidFill>
                  <a:srgbClr val="00B55A"/>
                </a:solidFill>
                <a:latin typeface="Calibri" pitchFamily="34" charset="0"/>
                <a:ea typeface="Calibri" pitchFamily="34" charset="-122"/>
                <a:cs typeface="Calibri" pitchFamily="34" charset="-120"/>
              </a:rPr>
              <a:t>À retenir</a:t>
            </a:r>
            <a:endParaRPr lang="en-US" sz="1100" dirty="0"/>
          </a:p>
        </p:txBody>
      </p:sp>
      <p:sp>
        <p:nvSpPr>
          <p:cNvPr id="38" name="Text 35"/>
          <p:cNvSpPr/>
          <p:nvPr/>
        </p:nvSpPr>
        <p:spPr>
          <a:xfrm>
            <a:off x="648000" y="9096480"/>
            <a:ext cx="6264000" cy="79344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1100" dirty="0"/>
          </a:p>
        </p:txBody>
      </p:sp>
      <p:sp>
        <p:nvSpPr>
          <p:cNvPr id="39" name="Text 36"/>
          <p:cNvSpPr/>
          <p:nvPr/>
        </p:nvSpPr>
        <p:spPr>
          <a:xfrm>
            <a:off x="648000" y="9432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0" name="Text 37">
            <a:hlinkClick r:id="rId2" tooltip="TVA à taux réduit : pour quels travaux ? | economie.gouv.fr"/>
          </p:cNvPr>
          <p:cNvSpPr/>
          <p:nvPr/>
        </p:nvSpPr>
        <p:spPr>
          <a:xfrm>
            <a:off x="648000" y="9576000"/>
            <a:ext cx="6264000" cy="180000"/>
          </a:xfrm>
          <a:prstGeom prst="rect">
            <a:avLst/>
          </a:prstGeom>
          <a:noFill/>
          <a:ln/>
        </p:spPr>
        <p:txBody>
          <a:bodyPr wrap="square" lIns="0" tIns="0" rIns="0" bIns="0" rtlCol="0" anchor="t"/>
          <a:lstStyle/>
          <a:p>
            <a:pPr indent="0" marL="0">
              <a:buNone/>
            </a:pPr>
            <a:r>
              <a:rPr lang="en-US" sz="1100" u="sng" dirty="0">
                <a:solidFill>
                  <a:srgbClr val="4B8BA5"/>
                </a:solidFill>
                <a:uFill>
                  <a:solidFill>
                    <a:srgbClr val="4B8BA5"/>
                  </a:solidFill>
                </a:uFill>
                <a:latin typeface="Calibri" pitchFamily="34" charset="0"/>
                <a:ea typeface="Calibri" pitchFamily="34" charset="-122"/>
                <a:cs typeface="Calibri" pitchFamily="34" charset="-120"/>
                <a:hlinkClick r:id="rId2" invalidUrl="" action="" tgtFrame="" tooltip="TVA à taux réduit : pour quels travaux ? | economie.gouv.fr" history="1" highlightClick="0" endSnd="0">
                  <a:extLst>
                    <a:ext uri="{A12FA001-AC4F-418D-AE19-62706E023703}">
                      <ahyp:hlinkClr xmlns:ahyp="http://schemas.microsoft.com/office/drawing/2018/hyperlinkcolor" val="tx"/>
                    </a:ext>
                  </a:extLst>
                </a:hlinkClick>
              </a:rPr>
              <a:t>TVA à taux réduit : pour quels travaux ? | economie.gouv.fr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6800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Afin de faciliter la compréhension du présent rapport, les principaux termes techniques et réglementaires utilisés sont définis ci-dessous.</a:t>
            </a:r>
            <a:endParaRPr lang="en-US" sz="1100" dirty="0"/>
          </a:p>
        </p:txBody>
      </p:sp>
      <p:sp>
        <p:nvSpPr>
          <p:cNvPr id="8" name="Text 5"/>
          <p:cNvSpPr/>
          <p:nvPr/>
        </p:nvSpPr>
        <p:spPr>
          <a:xfrm>
            <a:off x="648000" y="1840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2022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77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59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913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9636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607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90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1446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3272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81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63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218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400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549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9374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9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7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8284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70110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65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547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902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84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438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621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75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58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6800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Pour réaliser le Plan de Projet Pluriannuel de Travaux, la société France Verte ou son représentant:</a:t>
            </a:r>
            <a:endParaRPr lang="en-US" sz="1100" dirty="0"/>
          </a:p>
        </p:txBody>
      </p:sp>
      <p:sp>
        <p:nvSpPr>
          <p:cNvPr id="8" name="Text 5"/>
          <p:cNvSpPr/>
          <p:nvPr/>
        </p:nvSpPr>
        <p:spPr>
          <a:xfrm>
            <a:off x="756000" y="1861920"/>
            <a:ext cx="126000" cy="42912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9" name="Text 6"/>
          <p:cNvSpPr/>
          <p:nvPr/>
        </p:nvSpPr>
        <p:spPr>
          <a:xfrm>
            <a:off x="900000" y="1861920"/>
            <a:ext cx="5976000" cy="42912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Atteste que les employés, les membres du groupement ou lui-même possèdent les compétences requises pour mener à bien cette mission.</a:t>
            </a:r>
            <a:endParaRPr lang="en-US" sz="1100" dirty="0"/>
          </a:p>
        </p:txBody>
      </p:sp>
      <p:sp>
        <p:nvSpPr>
          <p:cNvPr id="10" name="Text 7"/>
          <p:cNvSpPr/>
          <p:nvPr/>
        </p:nvSpPr>
        <p:spPr>
          <a:xfrm>
            <a:off x="756000" y="2337840"/>
            <a:ext cx="12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1" name="Text 8"/>
          <p:cNvSpPr/>
          <p:nvPr/>
        </p:nvSpPr>
        <p:spPr>
          <a:xfrm>
            <a:off x="900000" y="2337840"/>
            <a:ext cx="597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1100" dirty="0"/>
          </a:p>
        </p:txBody>
      </p:sp>
      <p:sp>
        <p:nvSpPr>
          <p:cNvPr id="12" name="Text 9"/>
          <p:cNvSpPr/>
          <p:nvPr/>
        </p:nvSpPr>
        <p:spPr>
          <a:xfrm>
            <a:off x="756000" y="2995920"/>
            <a:ext cx="12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900000" y="2995920"/>
            <a:ext cx="597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1100" dirty="0"/>
          </a:p>
        </p:txBody>
      </p:sp>
      <p:sp>
        <p:nvSpPr>
          <p:cNvPr id="14" name="Text 11"/>
          <p:cNvSpPr/>
          <p:nvPr/>
        </p:nvSpPr>
        <p:spPr>
          <a:xfrm>
            <a:off x="756000" y="3654000"/>
            <a:ext cx="12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p:txBody>
      </p:sp>
      <p:sp>
        <p:nvSpPr>
          <p:cNvPr id="15" name="Text 12"/>
          <p:cNvSpPr/>
          <p:nvPr/>
        </p:nvSpPr>
        <p:spPr>
          <a:xfrm>
            <a:off x="900000" y="3654000"/>
            <a:ext cx="5976000" cy="611280"/>
          </a:xfrm>
          <a:prstGeom prst="rect">
            <a:avLst/>
          </a:prstGeom>
          <a:noFill/>
          <a:ln/>
        </p:spPr>
        <p:txBody>
          <a:bodyPr wrap="square" lIns="0" tIns="0" rIns="0" bIns="0" rtlCol="0" anchor="t"/>
          <a:lstStyle/>
          <a:p>
            <a:pPr indent="0" marL="0">
              <a:buNone/>
            </a:pPr>
            <a:r>
              <a:rPr lang="en-US" sz="1100" dirty="0">
                <a:solidFill>
                  <a:srgbClr val="1C1C1C"/>
                </a:solidFill>
                <a:latin typeface="Calibri" pitchFamily="34" charset="0"/>
                <a:ea typeface="Calibri" pitchFamily="34" charset="-122"/>
                <a:cs typeface="Calibri"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1100" dirty="0"/>
          </a:p>
        </p:txBody>
      </p:sp>
      <p:sp>
        <p:nvSpPr>
          <p:cNvPr id="16" name="Text 13"/>
          <p:cNvSpPr/>
          <p:nvPr/>
        </p:nvSpPr>
        <p:spPr>
          <a:xfrm>
            <a:off x="648000" y="4355280"/>
            <a:ext cx="6264000" cy="611280"/>
          </a:xfrm>
          <a:prstGeom prst="rect">
            <a:avLst/>
          </a:prstGeom>
          <a:noFill/>
          <a:ln/>
        </p:spPr>
        <p:txBody>
          <a:bodyPr wrap="square" lIns="0" tIns="0" rIns="0" bIns="0" rtlCol="0" anchor="t"/>
          <a:lstStyle/>
          <a:p>
            <a:pPr algn="just" indent="0" marL="0">
              <a:buNone/>
            </a:pPr>
            <a:r>
              <a:rPr lang="en-US" sz="1100" i="1" dirty="0">
                <a:solidFill>
                  <a:srgbClr val="0070C0"/>
                </a:solidFill>
                <a:latin typeface="Calibri" pitchFamily="34" charset="0"/>
                <a:ea typeface="Calibri" pitchFamily="34" charset="-122"/>
                <a:cs typeface="Calibri" pitchFamily="34" charset="-120"/>
              </a:rPr>
              <a:t>TEXTE DE REFERENCE : Décret n°2022-663 du 25 avril 2022 relatif aux modalités de réalisation du Plan de Projet Pluriannuel de Travaux des immeubles à destination partielle ou totale d’habitation.</a:t>
            </a:r>
            <a:endParaRPr lang="en-US" sz="1100" dirty="0"/>
          </a:p>
        </p:txBody>
      </p:sp>
      <p:sp>
        <p:nvSpPr>
          <p:cNvPr id="17" name="Shape 14"/>
          <p:cNvSpPr/>
          <p:nvPr/>
        </p:nvSpPr>
        <p:spPr>
          <a:xfrm>
            <a:off x="540000" y="512496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514656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62896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Calibri" pitchFamily="34" charset="0"/>
                <a:ea typeface="Calibri" pitchFamily="34" charset="-122"/>
                <a:cs typeface="Calibri" pitchFamily="34" charset="-120"/>
              </a:rPr>
              <a:t>11.1 Etat des risques et informations Géorisques</a:t>
            </a:r>
            <a:endParaRPr lang="en-US" sz="1100" dirty="0"/>
          </a:p>
        </p:txBody>
      </p:sp>
      <p:sp>
        <p:nvSpPr>
          <p:cNvPr id="20" name="Text 17"/>
          <p:cNvSpPr/>
          <p:nvPr/>
        </p:nvSpPr>
        <p:spPr>
          <a:xfrm>
            <a:off x="648000" y="596232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À confirmer : le rapport Géorisques correspondant à l’adresse de la copropriété doit être associé au présent PPPT à partir des données publiques mises à disposition par l’État.</a:t>
            </a:r>
            <a:endParaRPr lang="en-US" sz="1100" dirty="0"/>
          </a:p>
        </p:txBody>
      </p:sp>
      <p:sp>
        <p:nvSpPr>
          <p:cNvPr id="21" name="Text 18"/>
          <p:cNvSpPr/>
          <p:nvPr/>
        </p:nvSpPr>
        <p:spPr>
          <a:xfrm>
            <a:off x="648000" y="665280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Ce document présente les principaux risques naturels, miniers, technologiques, sismiques, radon, retrait-gonflement des argiles et autres aléas susceptibles de concerner le secteur géographique de l’immeuble.</a:t>
            </a:r>
            <a:endParaRPr lang="en-US" sz="1100" dirty="0"/>
          </a:p>
        </p:txBody>
      </p:sp>
      <p:sp>
        <p:nvSpPr>
          <p:cNvPr id="22" name="Text 19"/>
          <p:cNvSpPr/>
          <p:nvPr/>
        </p:nvSpPr>
        <p:spPr>
          <a:xfrm>
            <a:off x="648000" y="7343280"/>
            <a:ext cx="6264000" cy="42912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Les informations présentées proviennent du portail officiel Géorisques et sont fournies à titre informatif :</a:t>
            </a:r>
            <a:endParaRPr lang="en-US" sz="1100" dirty="0"/>
          </a:p>
        </p:txBody>
      </p:sp>
      <p:sp>
        <p:nvSpPr>
          <p:cNvPr id="23" name="Text 20">
            <a:hlinkClick r:id="rId2" tooltip="www.georisques.gouv.fr"/>
          </p:cNvPr>
          <p:cNvSpPr/>
          <p:nvPr/>
        </p:nvSpPr>
        <p:spPr>
          <a:xfrm>
            <a:off x="648000" y="7851600"/>
            <a:ext cx="6264000" cy="246960"/>
          </a:xfrm>
          <a:prstGeom prst="rect">
            <a:avLst/>
          </a:prstGeom>
          <a:noFill/>
          <a:ln/>
        </p:spPr>
        <p:txBody>
          <a:bodyPr wrap="square" lIns="0" tIns="0" rIns="0" bIns="0" rtlCol="0" anchor="t"/>
          <a:lstStyle/>
          <a:p>
            <a:pPr indent="0" marL="0">
              <a:buNone/>
            </a:pPr>
            <a:r>
              <a:rPr lang="en-US" sz="1100" u="sng" dirty="0">
                <a:solidFill>
                  <a:srgbClr val="4B8BA5"/>
                </a:solidFill>
                <a:uFill>
                  <a:solidFill>
                    <a:srgbClr val="4B8BA5"/>
                  </a:solidFill>
                </a:uFill>
                <a:latin typeface="Calibri" pitchFamily="34" charset="0"/>
                <a:ea typeface="Calibri" pitchFamily="34" charset="-122"/>
                <a:cs typeface="Calibri" pitchFamily="34" charset="-120"/>
                <a:hlinkClick r:id="rId2" invalidUrl="" action="" tgtFrame="" tooltip="www.georisques.gouv.fr" history="1" highlightClick="0" endSnd="0">
                  <a:extLst>
                    <a:ext uri="{A12FA001-AC4F-418D-AE19-62706E023703}">
                      <ahyp:hlinkClr xmlns:ahyp="http://schemas.microsoft.com/office/drawing/2018/hyperlinkcolor" val="tx"/>
                    </a:ext>
                  </a:extLst>
                </a:hlinkClick>
              </a:rPr>
              <a:t>www.georisques.gouv.fr</a:t>
            </a:r>
            <a:endParaRPr lang="en-US" sz="1100" dirty="0"/>
          </a:p>
        </p:txBody>
      </p:sp>
      <p:sp>
        <p:nvSpPr>
          <p:cNvPr id="24" name="Text 21"/>
          <p:cNvSpPr/>
          <p:nvPr/>
        </p:nvSpPr>
        <p:spPr>
          <a:xfrm>
            <a:off x="648000" y="817776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Ce document est couramment utilisé dans le cadre des transactions immobilières et peut notamment servir de base à l’établissement de l’État des Risques et Pollutions (ERP) requis lors de certaines ventes ou locations.</a:t>
            </a:r>
            <a:endParaRPr lang="en-US" sz="1100" dirty="0"/>
          </a:p>
        </p:txBody>
      </p:sp>
      <p:sp>
        <p:nvSpPr>
          <p:cNvPr id="25" name="Text 22"/>
          <p:cNvSpPr/>
          <p:nvPr/>
        </p:nvSpPr>
        <p:spPr>
          <a:xfrm>
            <a:off x="648000" y="8868240"/>
            <a:ext cx="6264000" cy="611280"/>
          </a:xfrm>
          <a:prstGeom prst="rect">
            <a:avLst/>
          </a:prstGeom>
          <a:noFill/>
          <a:ln/>
        </p:spPr>
        <p:txBody>
          <a:bodyPr wrap="square" lIns="0" tIns="0" rIns="0" bIns="0" rtlCol="0" anchor="t"/>
          <a:lstStyle/>
          <a:p>
            <a:pPr algn="just" indent="0" marL="0">
              <a:buNone/>
            </a:pPr>
            <a:r>
              <a:rPr lang="en-US" sz="1100" dirty="0">
                <a:solidFill>
                  <a:srgbClr val="1C1C1C"/>
                </a:solidFill>
                <a:latin typeface="Calibri" pitchFamily="34" charset="0"/>
                <a:ea typeface="Calibri" pitchFamily="34" charset="-122"/>
                <a:cs typeface="Calibri" pitchFamily="34" charset="-120"/>
              </a:rPr>
              <a:t>L’intégration de l’annexe Géorisques au présent PPPT est À confirmer. Elle ne constitue toutefois ni une étude géotechnique, ni une expertise des risques, ni une analyse structurelle du bâtiment.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2026-10-08T18:03:02Z</dcterms:created>
  <dcterms:modified xsi:type="dcterms:W3CDTF">2026-10-08T18:03:02Z</dcterms:modified>
</cp:coreProperties>
</file>