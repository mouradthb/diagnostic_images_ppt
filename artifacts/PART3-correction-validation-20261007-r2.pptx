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5</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9648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9648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9648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8856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4312800"/>
            <a:ext cx="3492000" cy="964800"/>
          </a:xfrm>
          <a:prstGeom prst="rect">
            <a:avLst/>
          </a:prstGeom>
          <a:solidFill>
            <a:srgbClr val="FFFFFF"/>
          </a:solidFill>
          <a:ln w="6985">
            <a:solidFill>
              <a:srgbClr val="202020"/>
            </a:solidFill>
            <a:prstDash val="solid"/>
          </a:ln>
        </p:spPr>
      </p:sp>
      <p:sp>
        <p:nvSpPr>
          <p:cNvPr id="21" name="Text 18"/>
          <p:cNvSpPr/>
          <p:nvPr/>
        </p:nvSpPr>
        <p:spPr>
          <a:xfrm>
            <a:off x="601200" y="435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22" name="Shape 19"/>
          <p:cNvSpPr/>
          <p:nvPr/>
        </p:nvSpPr>
        <p:spPr>
          <a:xfrm>
            <a:off x="4032000" y="4312800"/>
            <a:ext cx="1152000" cy="964800"/>
          </a:xfrm>
          <a:prstGeom prst="rect">
            <a:avLst/>
          </a:prstGeom>
          <a:solidFill>
            <a:srgbClr val="BFBFBF"/>
          </a:solidFill>
          <a:ln w="6985">
            <a:solidFill>
              <a:srgbClr val="202020"/>
            </a:solidFill>
            <a:prstDash val="solid"/>
          </a:ln>
        </p:spPr>
      </p:sp>
      <p:sp>
        <p:nvSpPr>
          <p:cNvPr id="23" name="Text 20"/>
          <p:cNvSpPr/>
          <p:nvPr/>
        </p:nvSpPr>
        <p:spPr>
          <a:xfrm>
            <a:off x="4093200" y="435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43128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43524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77600"/>
            <a:ext cx="3492000" cy="964800"/>
          </a:xfrm>
          <a:prstGeom prst="rect">
            <a:avLst/>
          </a:prstGeom>
          <a:solidFill>
            <a:srgbClr val="FFFFFF"/>
          </a:solidFill>
          <a:ln w="6985">
            <a:solidFill>
              <a:srgbClr val="202020"/>
            </a:solidFill>
            <a:prstDash val="solid"/>
          </a:ln>
        </p:spPr>
      </p:sp>
      <p:sp>
        <p:nvSpPr>
          <p:cNvPr id="27" name="Text 24"/>
          <p:cNvSpPr/>
          <p:nvPr/>
        </p:nvSpPr>
        <p:spPr>
          <a:xfrm>
            <a:off x="601200" y="531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28" name="Shape 25"/>
          <p:cNvSpPr/>
          <p:nvPr/>
        </p:nvSpPr>
        <p:spPr>
          <a:xfrm>
            <a:off x="4032000" y="5277600"/>
            <a:ext cx="1152000" cy="964800"/>
          </a:xfrm>
          <a:prstGeom prst="rect">
            <a:avLst/>
          </a:prstGeom>
          <a:solidFill>
            <a:srgbClr val="FF0000"/>
          </a:solidFill>
          <a:ln w="6985">
            <a:solidFill>
              <a:srgbClr val="202020"/>
            </a:solidFill>
            <a:prstDash val="solid"/>
          </a:ln>
        </p:spPr>
      </p:sp>
      <p:sp>
        <p:nvSpPr>
          <p:cNvPr id="29" name="Text 26"/>
          <p:cNvSpPr/>
          <p:nvPr/>
        </p:nvSpPr>
        <p:spPr>
          <a:xfrm>
            <a:off x="4093200" y="531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52776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5317200"/>
            <a:ext cx="1713600" cy="8856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242400"/>
            <a:ext cx="3492000" cy="1130400"/>
          </a:xfrm>
          <a:prstGeom prst="rect">
            <a:avLst/>
          </a:prstGeom>
          <a:solidFill>
            <a:srgbClr val="FFFFFF"/>
          </a:solidFill>
          <a:ln w="6985">
            <a:solidFill>
              <a:srgbClr val="202020"/>
            </a:solidFill>
            <a:prstDash val="solid"/>
          </a:ln>
        </p:spPr>
      </p:sp>
      <p:sp>
        <p:nvSpPr>
          <p:cNvPr id="33" name="Text 30"/>
          <p:cNvSpPr/>
          <p:nvPr/>
        </p:nvSpPr>
        <p:spPr>
          <a:xfrm>
            <a:off x="601200" y="6282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34" name="Shape 31"/>
          <p:cNvSpPr/>
          <p:nvPr/>
        </p:nvSpPr>
        <p:spPr>
          <a:xfrm>
            <a:off x="4032000" y="6242400"/>
            <a:ext cx="1152000" cy="1130400"/>
          </a:xfrm>
          <a:prstGeom prst="rect">
            <a:avLst/>
          </a:prstGeom>
          <a:solidFill>
            <a:srgbClr val="00B55A"/>
          </a:solidFill>
          <a:ln w="6985">
            <a:solidFill>
              <a:srgbClr val="202020"/>
            </a:solidFill>
            <a:prstDash val="solid"/>
          </a:ln>
        </p:spPr>
      </p:sp>
      <p:sp>
        <p:nvSpPr>
          <p:cNvPr id="35" name="Text 32"/>
          <p:cNvSpPr/>
          <p:nvPr/>
        </p:nvSpPr>
        <p:spPr>
          <a:xfrm>
            <a:off x="4093200" y="6282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242400"/>
            <a:ext cx="1836000" cy="1130400"/>
          </a:xfrm>
          <a:prstGeom prst="rect">
            <a:avLst/>
          </a:prstGeom>
          <a:solidFill>
            <a:srgbClr val="FFFFFF"/>
          </a:solidFill>
          <a:ln w="6985">
            <a:solidFill>
              <a:srgbClr val="202020"/>
            </a:solidFill>
            <a:prstDash val="solid"/>
          </a:ln>
        </p:spPr>
      </p:sp>
      <p:sp>
        <p:nvSpPr>
          <p:cNvPr id="37" name="Text 34"/>
          <p:cNvSpPr/>
          <p:nvPr/>
        </p:nvSpPr>
        <p:spPr>
          <a:xfrm>
            <a:off x="5245200" y="6282000"/>
            <a:ext cx="1713600" cy="10512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3728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1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40" name="Shape 37"/>
          <p:cNvSpPr/>
          <p:nvPr/>
        </p:nvSpPr>
        <p:spPr>
          <a:xfrm>
            <a:off x="4032000" y="7372800"/>
            <a:ext cx="1152000" cy="964800"/>
          </a:xfrm>
          <a:prstGeom prst="rect">
            <a:avLst/>
          </a:prstGeom>
          <a:solidFill>
            <a:srgbClr val="BFBFBF"/>
          </a:solidFill>
          <a:ln w="6985">
            <a:solidFill>
              <a:srgbClr val="202020"/>
            </a:solidFill>
            <a:prstDash val="solid"/>
          </a:ln>
        </p:spPr>
      </p:sp>
      <p:sp>
        <p:nvSpPr>
          <p:cNvPr id="41" name="Text 38"/>
          <p:cNvSpPr/>
          <p:nvPr/>
        </p:nvSpPr>
        <p:spPr>
          <a:xfrm>
            <a:off x="4093200" y="741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3728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124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376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7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46" name="Shape 43"/>
          <p:cNvSpPr/>
          <p:nvPr/>
        </p:nvSpPr>
        <p:spPr>
          <a:xfrm>
            <a:off x="4032000" y="8337600"/>
            <a:ext cx="1152000" cy="964800"/>
          </a:xfrm>
          <a:prstGeom prst="rect">
            <a:avLst/>
          </a:prstGeom>
          <a:solidFill>
            <a:srgbClr val="FF0000"/>
          </a:solidFill>
          <a:ln w="6985">
            <a:solidFill>
              <a:srgbClr val="202020"/>
            </a:solidFill>
            <a:prstDash val="solid"/>
          </a:ln>
        </p:spPr>
      </p:sp>
      <p:sp>
        <p:nvSpPr>
          <p:cNvPr id="47" name="Text 44"/>
          <p:cNvSpPr/>
          <p:nvPr/>
        </p:nvSpPr>
        <p:spPr>
          <a:xfrm>
            <a:off x="4093200" y="837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48" name="Shape 45"/>
          <p:cNvSpPr/>
          <p:nvPr/>
        </p:nvSpPr>
        <p:spPr>
          <a:xfrm>
            <a:off x="5184000" y="83376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77200"/>
            <a:ext cx="1713600" cy="885600"/>
          </a:xfrm>
          <a:prstGeom prst="rect">
            <a:avLst/>
          </a:prstGeom>
          <a:noFill/>
          <a:ln/>
        </p:spPr>
        <p:txBody>
          <a:bodyPr wrap="square" lIns="0" tIns="0" rIns="0" bIns="0" rtlCol="0" anchor="t"/>
          <a:lstStyle/>
          <a:p>
            <a:pPr algn="l" indent="0" marL="0">
              <a:buNone/>
            </a:pPr>
            <a:endParaRPr lang="en-US" sz="1000" dirty="0"/>
          </a:p>
        </p:txBody>
      </p:sp>
      <p:sp>
        <p:nvSpPr>
          <p:cNvPr id="50" name="Text 47"/>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51" name="Text 48"/>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BFBFBF"/>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FF0000"/>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BFBFBF"/>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BFBFBF"/>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8</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BFBFBF"/>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12</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Sécurisation de l’accès à un local technique.</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1 000 €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3078000"/>
            <a:ext cx="684000" cy="576000"/>
          </a:xfrm>
          <a:prstGeom prst="rect">
            <a:avLst/>
          </a:prstGeom>
          <a:solidFill>
            <a:srgbClr val="D52234"/>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38" name="Shape 35"/>
          <p:cNvSpPr/>
          <p:nvPr/>
        </p:nvSpPr>
        <p:spPr>
          <a:xfrm>
            <a:off x="1224000" y="3078000"/>
            <a:ext cx="720000" cy="576000"/>
          </a:xfrm>
          <a:prstGeom prst="rect">
            <a:avLst/>
          </a:prstGeom>
          <a:solidFill>
            <a:srgbClr val="F6A5A8"/>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2</a:t>
            </a:r>
            <a:endParaRPr lang="en-US" sz="950" dirty="0"/>
          </a:p>
        </p:txBody>
      </p:sp>
      <p:sp>
        <p:nvSpPr>
          <p:cNvPr id="40" name="Shape 37"/>
          <p:cNvSpPr/>
          <p:nvPr/>
        </p:nvSpPr>
        <p:spPr>
          <a:xfrm>
            <a:off x="1944000" y="3078000"/>
            <a:ext cx="2160000" cy="576000"/>
          </a:xfrm>
          <a:prstGeom prst="rect">
            <a:avLst/>
          </a:prstGeom>
          <a:solidFill>
            <a:srgbClr val="F6A5A8"/>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Remise en état d’un élément de sécurité collectif.</a:t>
            </a:r>
            <a:endParaRPr lang="en-US" sz="950" dirty="0"/>
          </a:p>
        </p:txBody>
      </p:sp>
      <p:sp>
        <p:nvSpPr>
          <p:cNvPr id="42" name="Shape 39"/>
          <p:cNvSpPr/>
          <p:nvPr/>
        </p:nvSpPr>
        <p:spPr>
          <a:xfrm>
            <a:off x="4104000" y="3078000"/>
            <a:ext cx="756000" cy="576000"/>
          </a:xfrm>
          <a:prstGeom prst="rect">
            <a:avLst/>
          </a:prstGeom>
          <a:solidFill>
            <a:srgbClr val="F6A5A8"/>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1 400 €</a:t>
            </a:r>
            <a:endParaRPr lang="en-US" sz="950" dirty="0"/>
          </a:p>
        </p:txBody>
      </p:sp>
      <p:sp>
        <p:nvSpPr>
          <p:cNvPr id="44" name="Shape 41"/>
          <p:cNvSpPr/>
          <p:nvPr/>
        </p:nvSpPr>
        <p:spPr>
          <a:xfrm>
            <a:off x="4860000" y="3078000"/>
            <a:ext cx="720000" cy="576000"/>
          </a:xfrm>
          <a:prstGeom prst="rect">
            <a:avLst/>
          </a:prstGeom>
          <a:solidFill>
            <a:srgbClr val="F6A5A8"/>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46" name="Shape 43"/>
          <p:cNvSpPr/>
          <p:nvPr/>
        </p:nvSpPr>
        <p:spPr>
          <a:xfrm>
            <a:off x="5580000" y="3078000"/>
            <a:ext cx="720000" cy="576000"/>
          </a:xfrm>
          <a:prstGeom prst="rect">
            <a:avLst/>
          </a:prstGeom>
          <a:solidFill>
            <a:srgbClr val="F6A5A8"/>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8" name="Shape 45"/>
          <p:cNvSpPr/>
          <p:nvPr/>
        </p:nvSpPr>
        <p:spPr>
          <a:xfrm>
            <a:off x="6300000" y="3078000"/>
            <a:ext cx="720000" cy="576000"/>
          </a:xfrm>
          <a:prstGeom prst="rect">
            <a:avLst/>
          </a:prstGeom>
          <a:solidFill>
            <a:srgbClr val="F6A5A8"/>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50" name="Shape 47"/>
          <p:cNvSpPr/>
          <p:nvPr/>
        </p:nvSpPr>
        <p:spPr>
          <a:xfrm>
            <a:off x="540000" y="3654000"/>
            <a:ext cx="684000" cy="576000"/>
          </a:xfrm>
          <a:prstGeom prst="rect">
            <a:avLst/>
          </a:prstGeom>
          <a:solidFill>
            <a:srgbClr val="00BE84"/>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52" name="Shape 49"/>
          <p:cNvSpPr/>
          <p:nvPr/>
        </p:nvSpPr>
        <p:spPr>
          <a:xfrm>
            <a:off x="1224000" y="3654000"/>
            <a:ext cx="720000" cy="576000"/>
          </a:xfrm>
          <a:prstGeom prst="rect">
            <a:avLst/>
          </a:prstGeom>
          <a:solidFill>
            <a:srgbClr val="C4EDCB"/>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3</a:t>
            </a:r>
            <a:endParaRPr lang="en-US" sz="950" dirty="0"/>
          </a:p>
        </p:txBody>
      </p:sp>
      <p:sp>
        <p:nvSpPr>
          <p:cNvPr id="54" name="Shape 51"/>
          <p:cNvSpPr/>
          <p:nvPr/>
        </p:nvSpPr>
        <p:spPr>
          <a:xfrm>
            <a:off x="1944000" y="3654000"/>
            <a:ext cx="2160000" cy="576000"/>
          </a:xfrm>
          <a:prstGeom prst="rect">
            <a:avLst/>
          </a:prstGeom>
          <a:solidFill>
            <a:srgbClr val="C4EDCB"/>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Réfection programmée d’un revêtement des parties communes.</a:t>
            </a:r>
            <a:endParaRPr lang="en-US" sz="950" dirty="0"/>
          </a:p>
        </p:txBody>
      </p:sp>
      <p:sp>
        <p:nvSpPr>
          <p:cNvPr id="56" name="Shape 53"/>
          <p:cNvSpPr/>
          <p:nvPr/>
        </p:nvSpPr>
        <p:spPr>
          <a:xfrm>
            <a:off x="4104000" y="3654000"/>
            <a:ext cx="756000" cy="576000"/>
          </a:xfrm>
          <a:prstGeom prst="rect">
            <a:avLst/>
          </a:prstGeom>
          <a:solidFill>
            <a:srgbClr val="C4EDCB"/>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4 500 €</a:t>
            </a:r>
            <a:endParaRPr lang="en-US" sz="950" dirty="0"/>
          </a:p>
        </p:txBody>
      </p:sp>
      <p:sp>
        <p:nvSpPr>
          <p:cNvPr id="58" name="Shape 55"/>
          <p:cNvSpPr/>
          <p:nvPr/>
        </p:nvSpPr>
        <p:spPr>
          <a:xfrm>
            <a:off x="4860000" y="3654000"/>
            <a:ext cx="720000" cy="576000"/>
          </a:xfrm>
          <a:prstGeom prst="rect">
            <a:avLst/>
          </a:prstGeom>
          <a:solidFill>
            <a:srgbClr val="C4EDCB"/>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0" name="Shape 57"/>
          <p:cNvSpPr/>
          <p:nvPr/>
        </p:nvSpPr>
        <p:spPr>
          <a:xfrm>
            <a:off x="5580000" y="3654000"/>
            <a:ext cx="720000" cy="576000"/>
          </a:xfrm>
          <a:prstGeom prst="rect">
            <a:avLst/>
          </a:prstGeom>
          <a:solidFill>
            <a:srgbClr val="C4EDCB"/>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2" name="Shape 59"/>
          <p:cNvSpPr/>
          <p:nvPr/>
        </p:nvSpPr>
        <p:spPr>
          <a:xfrm>
            <a:off x="6300000" y="3654000"/>
            <a:ext cx="720000" cy="576000"/>
          </a:xfrm>
          <a:prstGeom prst="rect">
            <a:avLst/>
          </a:prstGeom>
          <a:solidFill>
            <a:srgbClr val="C4EDCB"/>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64" name="Shape 61"/>
          <p:cNvSpPr/>
          <p:nvPr/>
        </p:nvSpPr>
        <p:spPr>
          <a:xfrm>
            <a:off x="540000" y="4230000"/>
            <a:ext cx="684000" cy="576000"/>
          </a:xfrm>
          <a:prstGeom prst="rect">
            <a:avLst/>
          </a:prstGeom>
          <a:solidFill>
            <a:srgbClr val="00BE84"/>
          </a:solidFill>
          <a:ln w="6985">
            <a:solidFill>
              <a:srgbClr val="202020"/>
            </a:solidFill>
            <a:prstDash val="solid"/>
          </a:ln>
        </p:spPr>
      </p:sp>
      <p:sp>
        <p:nvSpPr>
          <p:cNvPr id="65" name="Text 62"/>
          <p:cNvSpPr/>
          <p:nvPr/>
        </p:nvSpPr>
        <p:spPr>
          <a:xfrm>
            <a:off x="601200" y="4269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66" name="Shape 63"/>
          <p:cNvSpPr/>
          <p:nvPr/>
        </p:nvSpPr>
        <p:spPr>
          <a:xfrm>
            <a:off x="1224000" y="4230000"/>
            <a:ext cx="720000" cy="576000"/>
          </a:xfrm>
          <a:prstGeom prst="rect">
            <a:avLst/>
          </a:prstGeom>
          <a:solidFill>
            <a:srgbClr val="C4EDCB"/>
          </a:solidFill>
          <a:ln w="6985">
            <a:solidFill>
              <a:srgbClr val="202020"/>
            </a:solidFill>
            <a:prstDash val="solid"/>
          </a:ln>
        </p:spPr>
      </p:sp>
      <p:sp>
        <p:nvSpPr>
          <p:cNvPr id="67" name="Text 64"/>
          <p:cNvSpPr/>
          <p:nvPr/>
        </p:nvSpPr>
        <p:spPr>
          <a:xfrm>
            <a:off x="1285200" y="4269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a:t>
            </a:r>
            <a:endParaRPr lang="en-US" sz="950" dirty="0"/>
          </a:p>
        </p:txBody>
      </p:sp>
      <p:sp>
        <p:nvSpPr>
          <p:cNvPr id="68" name="Shape 65"/>
          <p:cNvSpPr/>
          <p:nvPr/>
        </p:nvSpPr>
        <p:spPr>
          <a:xfrm>
            <a:off x="1944000" y="4230000"/>
            <a:ext cx="2160000" cy="576000"/>
          </a:xfrm>
          <a:prstGeom prst="rect">
            <a:avLst/>
          </a:prstGeom>
          <a:solidFill>
            <a:srgbClr val="C4EDCB"/>
          </a:solidFill>
          <a:ln w="6985">
            <a:solidFill>
              <a:srgbClr val="202020"/>
            </a:solidFill>
            <a:prstDash val="solid"/>
          </a:ln>
        </p:spPr>
      </p:sp>
      <p:sp>
        <p:nvSpPr>
          <p:cNvPr id="69" name="Text 66"/>
          <p:cNvSpPr/>
          <p:nvPr/>
        </p:nvSpPr>
        <p:spPr>
          <a:xfrm>
            <a:off x="2005200" y="4269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Entretien et remise en état d’une menuiserie commune.</a:t>
            </a:r>
            <a:endParaRPr lang="en-US" sz="950" dirty="0"/>
          </a:p>
        </p:txBody>
      </p:sp>
      <p:sp>
        <p:nvSpPr>
          <p:cNvPr id="70" name="Shape 67"/>
          <p:cNvSpPr/>
          <p:nvPr/>
        </p:nvSpPr>
        <p:spPr>
          <a:xfrm>
            <a:off x="4104000" y="4230000"/>
            <a:ext cx="756000" cy="576000"/>
          </a:xfrm>
          <a:prstGeom prst="rect">
            <a:avLst/>
          </a:prstGeom>
          <a:solidFill>
            <a:srgbClr val="C4EDCB"/>
          </a:solidFill>
          <a:ln w="6985">
            <a:solidFill>
              <a:srgbClr val="202020"/>
            </a:solidFill>
            <a:prstDash val="solid"/>
          </a:ln>
        </p:spPr>
      </p:sp>
      <p:sp>
        <p:nvSpPr>
          <p:cNvPr id="71" name="Text 68"/>
          <p:cNvSpPr/>
          <p:nvPr/>
        </p:nvSpPr>
        <p:spPr>
          <a:xfrm>
            <a:off x="4165200" y="4269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1 750 €</a:t>
            </a:r>
            <a:endParaRPr lang="en-US" sz="950" dirty="0"/>
          </a:p>
        </p:txBody>
      </p:sp>
      <p:sp>
        <p:nvSpPr>
          <p:cNvPr id="72" name="Shape 69"/>
          <p:cNvSpPr/>
          <p:nvPr/>
        </p:nvSpPr>
        <p:spPr>
          <a:xfrm>
            <a:off x="4860000" y="4230000"/>
            <a:ext cx="720000" cy="576000"/>
          </a:xfrm>
          <a:prstGeom prst="rect">
            <a:avLst/>
          </a:prstGeom>
          <a:solidFill>
            <a:srgbClr val="C4EDCB"/>
          </a:solidFill>
          <a:ln w="6985">
            <a:solidFill>
              <a:srgbClr val="202020"/>
            </a:solidFill>
            <a:prstDash val="solid"/>
          </a:ln>
        </p:spPr>
      </p:sp>
      <p:sp>
        <p:nvSpPr>
          <p:cNvPr id="73" name="Text 70"/>
          <p:cNvSpPr/>
          <p:nvPr/>
        </p:nvSpPr>
        <p:spPr>
          <a:xfrm>
            <a:off x="492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4" name="Shape 71"/>
          <p:cNvSpPr/>
          <p:nvPr/>
        </p:nvSpPr>
        <p:spPr>
          <a:xfrm>
            <a:off x="5580000" y="4230000"/>
            <a:ext cx="720000" cy="576000"/>
          </a:xfrm>
          <a:prstGeom prst="rect">
            <a:avLst/>
          </a:prstGeom>
          <a:solidFill>
            <a:srgbClr val="C4EDCB"/>
          </a:solidFill>
          <a:ln w="6985">
            <a:solidFill>
              <a:srgbClr val="202020"/>
            </a:solidFill>
            <a:prstDash val="solid"/>
          </a:ln>
        </p:spPr>
      </p:sp>
      <p:sp>
        <p:nvSpPr>
          <p:cNvPr id="75" name="Text 72"/>
          <p:cNvSpPr/>
          <p:nvPr/>
        </p:nvSpPr>
        <p:spPr>
          <a:xfrm>
            <a:off x="564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6" name="Shape 73"/>
          <p:cNvSpPr/>
          <p:nvPr/>
        </p:nvSpPr>
        <p:spPr>
          <a:xfrm>
            <a:off x="6300000" y="4230000"/>
            <a:ext cx="720000" cy="576000"/>
          </a:xfrm>
          <a:prstGeom prst="rect">
            <a:avLst/>
          </a:prstGeom>
          <a:solidFill>
            <a:srgbClr val="C4EDCB"/>
          </a:solidFill>
          <a:ln w="6985">
            <a:solidFill>
              <a:srgbClr val="202020"/>
            </a:solidFill>
            <a:prstDash val="solid"/>
          </a:ln>
        </p:spPr>
      </p:sp>
      <p:sp>
        <p:nvSpPr>
          <p:cNvPr id="77" name="Text 74"/>
          <p:cNvSpPr/>
          <p:nvPr/>
        </p:nvSpPr>
        <p:spPr>
          <a:xfrm>
            <a:off x="6361200" y="4269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78" name="Shape 75"/>
          <p:cNvSpPr/>
          <p:nvPr/>
        </p:nvSpPr>
        <p:spPr>
          <a:xfrm>
            <a:off x="1224000" y="4806000"/>
            <a:ext cx="3636000" cy="432000"/>
          </a:xfrm>
          <a:prstGeom prst="rect">
            <a:avLst/>
          </a:prstGeom>
          <a:solidFill>
            <a:srgbClr val="D9EAF7"/>
          </a:solidFill>
          <a:ln w="6985">
            <a:solidFill>
              <a:srgbClr val="202020"/>
            </a:solidFill>
            <a:prstDash val="solid"/>
          </a:ln>
        </p:spPr>
      </p:sp>
      <p:sp>
        <p:nvSpPr>
          <p:cNvPr id="79" name="Text 76"/>
          <p:cNvSpPr/>
          <p:nvPr/>
        </p:nvSpPr>
        <p:spPr>
          <a:xfrm>
            <a:off x="1285200" y="4845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80" name="Shape 77"/>
          <p:cNvSpPr/>
          <p:nvPr/>
        </p:nvSpPr>
        <p:spPr>
          <a:xfrm>
            <a:off x="4860000" y="4806000"/>
            <a:ext cx="720000" cy="432000"/>
          </a:xfrm>
          <a:prstGeom prst="rect">
            <a:avLst/>
          </a:prstGeom>
          <a:solidFill>
            <a:srgbClr val="D9EAF7"/>
          </a:solidFill>
          <a:ln w="6985">
            <a:solidFill>
              <a:srgbClr val="202020"/>
            </a:solidFill>
            <a:prstDash val="solid"/>
          </a:ln>
        </p:spPr>
      </p:sp>
      <p:sp>
        <p:nvSpPr>
          <p:cNvPr id="81" name="Text 78"/>
          <p:cNvSpPr/>
          <p:nvPr/>
        </p:nvSpPr>
        <p:spPr>
          <a:xfrm>
            <a:off x="4921200" y="4845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2 400 €</a:t>
            </a:r>
            <a:endParaRPr lang="en-US" sz="900" dirty="0"/>
          </a:p>
        </p:txBody>
      </p:sp>
      <p:sp>
        <p:nvSpPr>
          <p:cNvPr id="82" name="Shape 79"/>
          <p:cNvSpPr/>
          <p:nvPr/>
        </p:nvSpPr>
        <p:spPr>
          <a:xfrm>
            <a:off x="5580000" y="4806000"/>
            <a:ext cx="720000" cy="432000"/>
          </a:xfrm>
          <a:prstGeom prst="rect">
            <a:avLst/>
          </a:prstGeom>
          <a:solidFill>
            <a:srgbClr val="D9EAF7"/>
          </a:solidFill>
          <a:ln w="6985">
            <a:solidFill>
              <a:srgbClr val="202020"/>
            </a:solidFill>
            <a:prstDash val="solid"/>
          </a:ln>
        </p:spPr>
      </p:sp>
      <p:sp>
        <p:nvSpPr>
          <p:cNvPr id="83" name="Text 80"/>
          <p:cNvSpPr/>
          <p:nvPr/>
        </p:nvSpPr>
        <p:spPr>
          <a:xfrm>
            <a:off x="564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6300000" y="4806000"/>
            <a:ext cx="720000" cy="432000"/>
          </a:xfrm>
          <a:prstGeom prst="rect">
            <a:avLst/>
          </a:prstGeom>
          <a:solidFill>
            <a:srgbClr val="D9EAF7"/>
          </a:solidFill>
          <a:ln w="6985">
            <a:solidFill>
              <a:srgbClr val="202020"/>
            </a:solidFill>
            <a:prstDash val="solid"/>
          </a:ln>
        </p:spPr>
      </p:sp>
      <p:sp>
        <p:nvSpPr>
          <p:cNvPr id="85" name="Text 82"/>
          <p:cNvSpPr/>
          <p:nvPr/>
        </p:nvSpPr>
        <p:spPr>
          <a:xfrm>
            <a:off x="636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1224000" y="5238000"/>
            <a:ext cx="3636000" cy="432000"/>
          </a:xfrm>
          <a:prstGeom prst="rect">
            <a:avLst/>
          </a:prstGeom>
          <a:solidFill>
            <a:srgbClr val="D9EAF7"/>
          </a:solidFill>
          <a:ln w="6985">
            <a:solidFill>
              <a:srgbClr val="202020"/>
            </a:solidFill>
            <a:prstDash val="solid"/>
          </a:ln>
        </p:spPr>
      </p:sp>
      <p:sp>
        <p:nvSpPr>
          <p:cNvPr id="87" name="Text 84"/>
          <p:cNvSpPr/>
          <p:nvPr/>
        </p:nvSpPr>
        <p:spPr>
          <a:xfrm>
            <a:off x="1285200" y="527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88" name="Shape 85"/>
          <p:cNvSpPr/>
          <p:nvPr/>
        </p:nvSpPr>
        <p:spPr>
          <a:xfrm>
            <a:off x="4860000" y="5238000"/>
            <a:ext cx="720000" cy="432000"/>
          </a:xfrm>
          <a:prstGeom prst="rect">
            <a:avLst/>
          </a:prstGeom>
          <a:solidFill>
            <a:srgbClr val="D9EAF7"/>
          </a:solidFill>
          <a:ln w="6985">
            <a:solidFill>
              <a:srgbClr val="202020"/>
            </a:solidFill>
            <a:prstDash val="solid"/>
          </a:ln>
        </p:spPr>
      </p:sp>
      <p:sp>
        <p:nvSpPr>
          <p:cNvPr id="89" name="Text 86"/>
          <p:cNvSpPr/>
          <p:nvPr/>
        </p:nvSpPr>
        <p:spPr>
          <a:xfrm>
            <a:off x="492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0" name="Shape 87"/>
          <p:cNvSpPr/>
          <p:nvPr/>
        </p:nvSpPr>
        <p:spPr>
          <a:xfrm>
            <a:off x="5580000" y="5238000"/>
            <a:ext cx="720000" cy="432000"/>
          </a:xfrm>
          <a:prstGeom prst="rect">
            <a:avLst/>
          </a:prstGeom>
          <a:solidFill>
            <a:srgbClr val="D9EAF7"/>
          </a:solidFill>
          <a:ln w="6985">
            <a:solidFill>
              <a:srgbClr val="202020"/>
            </a:solidFill>
            <a:prstDash val="solid"/>
          </a:ln>
        </p:spPr>
      </p:sp>
      <p:sp>
        <p:nvSpPr>
          <p:cNvPr id="91" name="Text 88"/>
          <p:cNvSpPr/>
          <p:nvPr/>
        </p:nvSpPr>
        <p:spPr>
          <a:xfrm>
            <a:off x="5641200" y="527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92" name="Shape 89"/>
          <p:cNvSpPr/>
          <p:nvPr/>
        </p:nvSpPr>
        <p:spPr>
          <a:xfrm>
            <a:off x="6300000" y="5238000"/>
            <a:ext cx="720000" cy="432000"/>
          </a:xfrm>
          <a:prstGeom prst="rect">
            <a:avLst/>
          </a:prstGeom>
          <a:solidFill>
            <a:srgbClr val="D9EAF7"/>
          </a:solidFill>
          <a:ln w="6985">
            <a:solidFill>
              <a:srgbClr val="202020"/>
            </a:solidFill>
            <a:prstDash val="solid"/>
          </a:ln>
        </p:spPr>
      </p:sp>
      <p:sp>
        <p:nvSpPr>
          <p:cNvPr id="93" name="Text 90"/>
          <p:cNvSpPr/>
          <p:nvPr/>
        </p:nvSpPr>
        <p:spPr>
          <a:xfrm>
            <a:off x="636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4" name="Shape 91"/>
          <p:cNvSpPr/>
          <p:nvPr/>
        </p:nvSpPr>
        <p:spPr>
          <a:xfrm>
            <a:off x="1224000" y="5670000"/>
            <a:ext cx="3636000" cy="432000"/>
          </a:xfrm>
          <a:prstGeom prst="rect">
            <a:avLst/>
          </a:prstGeom>
          <a:solidFill>
            <a:srgbClr val="D9EAF7"/>
          </a:solidFill>
          <a:ln w="6985">
            <a:solidFill>
              <a:srgbClr val="202020"/>
            </a:solidFill>
            <a:prstDash val="solid"/>
          </a:ln>
        </p:spPr>
      </p:sp>
      <p:sp>
        <p:nvSpPr>
          <p:cNvPr id="95" name="Text 92"/>
          <p:cNvSpPr/>
          <p:nvPr/>
        </p:nvSpPr>
        <p:spPr>
          <a:xfrm>
            <a:off x="1285200" y="570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96" name="Shape 93"/>
          <p:cNvSpPr/>
          <p:nvPr/>
        </p:nvSpPr>
        <p:spPr>
          <a:xfrm>
            <a:off x="4860000" y="5670000"/>
            <a:ext cx="720000" cy="432000"/>
          </a:xfrm>
          <a:prstGeom prst="rect">
            <a:avLst/>
          </a:prstGeom>
          <a:solidFill>
            <a:srgbClr val="D9EAF7"/>
          </a:solidFill>
          <a:ln w="6985">
            <a:solidFill>
              <a:srgbClr val="202020"/>
            </a:solidFill>
            <a:prstDash val="solid"/>
          </a:ln>
        </p:spPr>
      </p:sp>
      <p:sp>
        <p:nvSpPr>
          <p:cNvPr id="97" name="Text 94"/>
          <p:cNvSpPr/>
          <p:nvPr/>
        </p:nvSpPr>
        <p:spPr>
          <a:xfrm>
            <a:off x="492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8" name="Shape 95"/>
          <p:cNvSpPr/>
          <p:nvPr/>
        </p:nvSpPr>
        <p:spPr>
          <a:xfrm>
            <a:off x="5580000" y="5670000"/>
            <a:ext cx="720000" cy="432000"/>
          </a:xfrm>
          <a:prstGeom prst="rect">
            <a:avLst/>
          </a:prstGeom>
          <a:solidFill>
            <a:srgbClr val="D9EAF7"/>
          </a:solidFill>
          <a:ln w="6985">
            <a:solidFill>
              <a:srgbClr val="202020"/>
            </a:solidFill>
            <a:prstDash val="solid"/>
          </a:ln>
        </p:spPr>
      </p:sp>
      <p:sp>
        <p:nvSpPr>
          <p:cNvPr id="99" name="Text 96"/>
          <p:cNvSpPr/>
          <p:nvPr/>
        </p:nvSpPr>
        <p:spPr>
          <a:xfrm>
            <a:off x="564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100" name="Shape 97"/>
          <p:cNvSpPr/>
          <p:nvPr/>
        </p:nvSpPr>
        <p:spPr>
          <a:xfrm>
            <a:off x="6300000" y="5670000"/>
            <a:ext cx="720000" cy="432000"/>
          </a:xfrm>
          <a:prstGeom prst="rect">
            <a:avLst/>
          </a:prstGeom>
          <a:solidFill>
            <a:srgbClr val="D9EAF7"/>
          </a:solidFill>
          <a:ln w="6985">
            <a:solidFill>
              <a:srgbClr val="202020"/>
            </a:solidFill>
            <a:prstDash val="solid"/>
          </a:ln>
        </p:spPr>
      </p:sp>
      <p:sp>
        <p:nvSpPr>
          <p:cNvPr id="101" name="Text 98"/>
          <p:cNvSpPr/>
          <p:nvPr/>
        </p:nvSpPr>
        <p:spPr>
          <a:xfrm>
            <a:off x="6361200" y="570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6 250 €</a:t>
            </a:r>
            <a:endParaRPr lang="en-US" sz="900" dirty="0"/>
          </a:p>
        </p:txBody>
      </p:sp>
      <p:sp>
        <p:nvSpPr>
          <p:cNvPr id="102" name="Shape 99"/>
          <p:cNvSpPr/>
          <p:nvPr/>
        </p:nvSpPr>
        <p:spPr>
          <a:xfrm>
            <a:off x="1224000" y="6102000"/>
            <a:ext cx="3636000" cy="396000"/>
          </a:xfrm>
          <a:prstGeom prst="rect">
            <a:avLst/>
          </a:prstGeom>
          <a:solidFill>
            <a:srgbClr val="D9EAF7"/>
          </a:solidFill>
          <a:ln w="6985">
            <a:solidFill>
              <a:srgbClr val="202020"/>
            </a:solidFill>
            <a:prstDash val="solid"/>
          </a:ln>
        </p:spPr>
      </p:sp>
      <p:sp>
        <p:nvSpPr>
          <p:cNvPr id="103" name="Text 100"/>
          <p:cNvSpPr/>
          <p:nvPr/>
        </p:nvSpPr>
        <p:spPr>
          <a:xfrm>
            <a:off x="1285200" y="6141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104" name="Shape 101"/>
          <p:cNvSpPr/>
          <p:nvPr/>
        </p:nvSpPr>
        <p:spPr>
          <a:xfrm>
            <a:off x="4860000" y="6102000"/>
            <a:ext cx="2160000" cy="396000"/>
          </a:xfrm>
          <a:prstGeom prst="rect">
            <a:avLst/>
          </a:prstGeom>
          <a:solidFill>
            <a:srgbClr val="D9EAF7"/>
          </a:solidFill>
          <a:ln w="6985">
            <a:solidFill>
              <a:srgbClr val="202020"/>
            </a:solidFill>
            <a:prstDash val="solid"/>
          </a:ln>
        </p:spPr>
      </p:sp>
      <p:sp>
        <p:nvSpPr>
          <p:cNvPr id="105" name="Text 102"/>
          <p:cNvSpPr/>
          <p:nvPr/>
        </p:nvSpPr>
        <p:spPr>
          <a:xfrm>
            <a:off x="4921200" y="6141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8 650 €</a:t>
            </a:r>
            <a:endParaRPr lang="en-US" sz="900" dirty="0"/>
          </a:p>
        </p:txBody>
      </p:sp>
      <p:sp>
        <p:nvSpPr>
          <p:cNvPr id="106" name="Text 103"/>
          <p:cNvSpPr/>
          <p:nvPr/>
        </p:nvSpPr>
        <p:spPr>
          <a:xfrm>
            <a:off x="540000" y="6570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4 fiches curatives, réparties selon différents niveaux de priorité. Parmi celles-ci, 2 curatifs de niveau 1, représentant 50 %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2 curatifs de niveau 3, représentant 50 %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r>
              <a:rPr lang="en-US" sz="1200" dirty="0">
                <a:solidFill>
                  <a:srgbClr val="00B55A"/>
                </a:solidFill>
                <a:latin typeface="Aptos" pitchFamily="34" charset="0"/>
                <a:ea typeface="Aptos" pitchFamily="34" charset="-122"/>
                <a:cs typeface="Aptos" pitchFamily="34" charset="-120"/>
              </a:rPr>
              <a:t>✓</a:t>
            </a:r>
            <a:endParaRPr lang="en-US" sz="120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r>
              <a:rPr lang="en-US" sz="1200" dirty="0">
                <a:solidFill>
                  <a:srgbClr val="00B55A"/>
                </a:solidFill>
                <a:latin typeface="Aptos" pitchFamily="34" charset="0"/>
                <a:ea typeface="Aptos" pitchFamily="34" charset="-122"/>
                <a:cs typeface="Aptos" pitchFamily="34" charset="-120"/>
              </a:rPr>
              <a:t>✓</a:t>
            </a:r>
            <a:endParaRPr lang="en-US" sz="120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r>
              <a:rPr lang="en-US" sz="1200" dirty="0">
                <a:solidFill>
                  <a:srgbClr val="00B55A"/>
                </a:solidFill>
                <a:latin typeface="Aptos" pitchFamily="34" charset="0"/>
                <a:ea typeface="Aptos" pitchFamily="34" charset="-122"/>
                <a:cs typeface="Aptos" pitchFamily="34" charset="-120"/>
              </a:rPr>
              <a:t>✓</a:t>
            </a:r>
            <a:endParaRPr lang="en-US" sz="1200" dirty="0"/>
          </a:p>
        </p:txBody>
      </p:sp>
      <p:sp>
        <p:nvSpPr>
          <p:cNvPr id="64" name="Text 6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65" name="Text 6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66" name="Text 6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67" name="Text 6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68" name="Text 6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69" name="Text 6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0" name="Text 6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71" name="Text 6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2" name="Text 6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73" name="Text 6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4" name="Text 7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75" name="Text 7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77" name="Text 7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78" name="Text 7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4644000" y="1836000"/>
            <a:ext cx="1944000" cy="936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5040000" y="1944000"/>
            <a:ext cx="1357200" cy="14616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3 — validation visuelle, données fictives</dc:title>
  <dc:subject>PptxGenJS Presentation</dc:subject>
  <dc:creator>France Verte — validation interne</dc:creator>
  <cp:lastModifiedBy>France Verte — validation interne</cp:lastModifiedBy>
  <cp:revision>1</cp:revision>
  <dcterms:created xsi:type="dcterms:W3CDTF">2026-10-07T15:24:42Z</dcterms:created>
  <dcterms:modified xsi:type="dcterms:W3CDTF">2026-10-07T15:24:42Z</dcterms:modified>
</cp:coreProperties>
</file>