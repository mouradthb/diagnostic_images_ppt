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e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slideLayout" Target="../slideLayouts/slideLayout1.xml"/><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jpe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jpe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écor bleu France Verte">    </p:cNvPr>
          <p:cNvPicPr>
            <a:picLocks noChangeAspect="1"/>
          </p:cNvPicPr>
          <p:nvPr/>
        </p:nvPicPr>
        <p:blipFill>
          <a:blip r:embed="rId1"/>
          <a:srcRect l="0" r="0" t="0" b="0"/>
          <a:stretch/>
        </p:blipFill>
        <p:spPr>
          <a:xfrm>
            <a:off x="0" y="684000"/>
            <a:ext cx="979200" cy="2149200"/>
          </a:xfrm>
          <a:prstGeom prst="rect">
            <a:avLst/>
          </a:prstGeom>
        </p:spPr>
      </p:pic>
      <p:pic>
        <p:nvPicPr>
          <p:cNvPr id="3" name="Image 1" descr="Décor jaune France Verte">    </p:cNvPr>
          <p:cNvPicPr>
            <a:picLocks noChangeAspect="1"/>
          </p:cNvPicPr>
          <p:nvPr/>
        </p:nvPicPr>
        <p:blipFill>
          <a:blip r:embed="rId2"/>
          <a:srcRect l="0" r="0" t="0" b="0"/>
          <a:stretch/>
        </p:blipFill>
        <p:spPr>
          <a:xfrm rot="21360000">
            <a:off x="6656400" y="8172000"/>
            <a:ext cx="982800" cy="1944000"/>
          </a:xfrm>
          <a:prstGeom prst="rect">
            <a:avLst/>
          </a:prstGeom>
        </p:spPr>
      </p:pic>
      <p:pic>
        <p:nvPicPr>
          <p:cNvPr id="4" name="Image 2" descr="Logo France Verte">    </p:cNvPr>
          <p:cNvPicPr>
            <a:picLocks noChangeAspect="1"/>
          </p:cNvPicPr>
          <p:nvPr/>
        </p:nvPicPr>
        <p:blipFill>
          <a:blip r:embed="rId3"/>
          <a:srcRect l="0" r="0" t="0" b="0"/>
          <a:stretch/>
        </p:blipFill>
        <p:spPr>
          <a:xfrm>
            <a:off x="493200" y="97200"/>
            <a:ext cx="2246400" cy="594000"/>
          </a:xfrm>
          <a:prstGeom prst="rect">
            <a:avLst/>
          </a:prstGeom>
        </p:spPr>
      </p:pic>
      <p:pic>
        <p:nvPicPr>
          <p:cNvPr id="5" name="Image 3" descr="Logo RGE OPQIBI du modèle">    </p:cNvPr>
          <p:cNvPicPr>
            <a:picLocks noChangeAspect="1"/>
          </p:cNvPicPr>
          <p:nvPr/>
        </p:nvPicPr>
        <p:blipFill>
          <a:blip r:embed="rId4"/>
          <a:srcRect l="0" r="0" t="0" b="0"/>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algn="ctr" indent="0" marL="0">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algn="ctr" indent="0" marL="0">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algn="ctr" indent="0" marL="0">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indent="0" marL="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indent="0" marL="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algn="ctr" indent="0" marL="0">
              <a:buNone/>
            </a:pPr>
            <a:r>
              <a:rPr lang="en-US" sz="1240" b="1" dirty="0">
                <a:solidFill>
                  <a:srgbClr val="1C1C1C"/>
                </a:solidFill>
                <a:latin typeface="Calibri" pitchFamily="34" charset="0"/>
                <a:ea typeface="Calibri" pitchFamily="34" charset="-122"/>
                <a:cs typeface="Calibri" pitchFamily="34" charset="-120"/>
              </a:rPr>
              <a:t>Copropriété Résidence des Tilleuls</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algn="ctr" indent="0" marL="0">
              <a:buNone/>
            </a:pPr>
            <a:r>
              <a:rPr lang="en-US" sz="1100" dirty="0">
                <a:solidFill>
                  <a:srgbClr val="1C1C1C"/>
                </a:solidFill>
                <a:latin typeface="Calibri" pitchFamily="34" charset="0"/>
                <a:ea typeface="Calibri" pitchFamily="34" charset="-122"/>
                <a:cs typeface="Calibri" pitchFamily="34" charset="-120"/>
              </a:rPr>
              <a:t>Adresse : 24 avenue des Érables, 69003 Lyon</a:t>
            </a:r>
            <a:endParaRPr lang="en-US" sz="1100" dirty="0"/>
          </a:p>
        </p:txBody>
      </p:sp>
      <p:pic>
        <p:nvPicPr>
          <p:cNvPr id="19" name="Image 4" descr="Photographie principale de la copropriété">    </p:cNvPr>
          <p:cNvPicPr>
            <a:picLocks noChangeAspect="1"/>
          </p:cNvPicPr>
          <p:nvPr/>
        </p:nvPicPr>
        <p:blipFill>
          <a:blip r:embed="rId5"/>
          <a:srcRect l="0" r="0" t="0" b="0"/>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de visite : </a:t>
            </a:r>
            <a:pPr indent="0" marL="0">
              <a:buNone/>
            </a:pPr>
            <a:r>
              <a:rPr lang="en-US" sz="1130" dirty="0">
                <a:solidFill>
                  <a:srgbClr val="1C1C1C"/>
                </a:solidFill>
                <a:latin typeface="Calibri" pitchFamily="34" charset="0"/>
                <a:ea typeface="Calibri" pitchFamily="34" charset="-122"/>
                <a:cs typeface="Calibri" pitchFamily="34" charset="-120"/>
              </a:rPr>
              <a:t>05/09/2026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du rapport : </a:t>
            </a:r>
            <a:pPr indent="0" marL="0">
              <a:buNone/>
            </a:pPr>
            <a:r>
              <a:rPr lang="en-US" sz="1130" dirty="0">
                <a:solidFill>
                  <a:srgbClr val="1C1C1C"/>
                </a:solidFill>
                <a:latin typeface="Calibri" pitchFamily="34" charset="0"/>
                <a:ea typeface="Calibri" pitchFamily="34" charset="-122"/>
                <a:cs typeface="Calibri" pitchFamily="34" charset="-120"/>
              </a:rPr>
              <a:t>12/09/2026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Version du rapport : </a:t>
            </a:r>
            <a:pPr indent="0" marL="0">
              <a:buNone/>
            </a:pPr>
            <a:r>
              <a:rPr lang="en-US" sz="1130" dirty="0">
                <a:solidFill>
                  <a:srgbClr val="1C1C1C"/>
                </a:solidFill>
                <a:latin typeface="Calibri" pitchFamily="34" charset="0"/>
                <a:ea typeface="Calibri" pitchFamily="34" charset="-122"/>
                <a:cs typeface="Calibri" pitchFamily="34" charset="-120"/>
              </a:rPr>
              <a:t>Finale</a:t>
            </a:r>
            <a:endParaRPr lang="en-US" sz="1130" dirty="0"/>
          </a:p>
        </p:txBody>
      </p:sp>
      <p:pic>
        <p:nvPicPr>
          <p:cNvPr id="23" name="Image 5" descr="Tampon France Verte du modèle">    </p:cNvPr>
          <p:cNvPicPr>
            <a:picLocks noChangeAspect="1"/>
          </p:cNvPicPr>
          <p:nvPr/>
        </p:nvPicPr>
        <p:blipFill>
          <a:blip r:embed="rId6"/>
          <a:srcRect l="0" r="0" t="0" b="0"/>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algn="ctr" indent="0" marL="0">
              <a:buNone/>
            </a:pPr>
            <a:r>
              <a:rPr lang="en-US" sz="1120" dirty="0">
                <a:solidFill>
                  <a:srgbClr val="1C1C1C"/>
                </a:solidFill>
                <a:latin typeface="Calibri" pitchFamily="34" charset="0"/>
                <a:ea typeface="Calibri" pitchFamily="34" charset="-122"/>
                <a:cs typeface="Calibri" pitchFamily="34" charset="-120"/>
              </a:rPr>
              <a:t>Mission réalisée pour la copropriété </a:t>
            </a:r>
            <a:pPr algn="ctr" indent="0" marL="0">
              <a:buNone/>
            </a:pPr>
            <a:r>
              <a:rPr lang="en-US" sz="1120" b="1" dirty="0">
                <a:solidFill>
                  <a:srgbClr val="1C1C1C"/>
                </a:solidFill>
                <a:latin typeface="Calibri" pitchFamily="34" charset="0"/>
                <a:ea typeface="Calibri" pitchFamily="34" charset="-122"/>
                <a:cs typeface="Calibri" pitchFamily="34" charset="-120"/>
              </a:rPr>
              <a:t>Résidence des Tilleuls</a:t>
            </a:r>
            <a:pPr algn="ctr" indent="0" marL="0">
              <a:buNone/>
            </a:pPr>
            <a:r>
              <a:rPr lang="en-US" sz="1120" dirty="0">
                <a:solidFill>
                  <a:srgbClr val="1C1C1C"/>
                </a:solidFill>
                <a:latin typeface="Calibri" pitchFamily="34" charset="0"/>
                <a:ea typeface="Calibri" pitchFamily="34" charset="-122"/>
                <a:cs typeface="Calibri" pitchFamily="34" charset="-120"/>
              </a:rPr>
              <a:t>, représentée par son syndic, </a:t>
            </a:r>
            <a:pPr algn="ctr" indent="0" marL="0">
              <a:buNone/>
            </a:pPr>
            <a:r>
              <a:rPr lang="en-US" sz="1120" b="1" dirty="0">
                <a:solidFill>
                  <a:srgbClr val="1C1C1C"/>
                </a:solidFill>
                <a:latin typeface="Calibri" pitchFamily="34" charset="0"/>
                <a:ea typeface="Calibri" pitchFamily="34" charset="-122"/>
                <a:cs typeface="Calibri" pitchFamily="34" charset="-120"/>
              </a:rPr>
              <a:t>Syndic Équilibre</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algn="ctr" indent="0" marL="0">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indent="0" marL="0">
              <a:buNone/>
            </a:pPr>
            <a:r>
              <a:rPr lang="en-US" sz="1130" dirty="0">
                <a:solidFill>
                  <a:srgbClr val="1C1C1C"/>
                </a:solidFill>
                <a:latin typeface="Calibri" pitchFamily="34" charset="0"/>
                <a:ea typeface="Calibri" pitchFamily="34" charset="-122"/>
                <a:cs typeface="Calibri" pitchFamily="34" charset="-120"/>
              </a:rPr>
              <a:t>Ce rapport contient : 43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Syndic Équilibre</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8 place de la République, 69002 Lyon</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Camille Martin</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Alex Durand</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Chargée de projet</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Vérificateur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Nora Petit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24 avenue des Érables, 69003 Lyon</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Référence cadastrale : AZ 0421</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r>
          <p:cNvPicPr>
            <a:picLocks noChangeAspect="1"/>
          </p:cNvPicPr>
          <p:nvPr/>
        </p:nvPicPr>
        <p:blipFill>
          <a:blip r:embed="rId2"/>
          <a:srcRect l="0" r="0" t="0" b="0"/>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indent="0" marL="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Résidence Résidence des Tilleuls</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24 avenue des Érables, 69003 Lyon</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Entre 1980 et 1990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02/03/1986</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17/06/2018</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BB9876543</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48</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5</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Collectif gaz</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30</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2 140,5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183 m</a:t>
            </a:r>
            <a:endParaRPr lang="en-US" sz="1050" dirty="0"/>
          </a:p>
        </p:txBody>
      </p:sp>
      <p:pic>
        <p:nvPicPr>
          <p:cNvPr id="68" name="Image 1" descr="Vue aérienne rapprochée de la copropriété">    </p:cNvPr>
          <p:cNvPicPr>
            <a:picLocks noChangeAspect="1"/>
          </p:cNvPicPr>
          <p:nvPr/>
        </p:nvPicPr>
        <p:blipFill>
          <a:blip r:embed="rId2"/>
          <a:srcRect l="0" r="0" t="0" b="0"/>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indent="0" marL="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indent="0" marL="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r>
          <p:cNvPicPr>
            <a:picLocks noChangeAspect="1"/>
          </p:cNvPicPr>
          <p:nvPr/>
        </p:nvPicPr>
        <p:blipFill>
          <a:blip r:embed="rId2"/>
          <a:srcRect l="0" r="0" t="0" b="0"/>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8</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11</a:t>
            </a:r>
            <a:endParaRPr lang="en-US" sz="1160" dirty="0"/>
          </a:p>
        </p:txBody>
      </p:sp>
      <p:sp>
        <p:nvSpPr>
          <p:cNvPr id="31" name="Shape 28"/>
          <p:cNvSpPr/>
          <p:nvPr/>
        </p:nvSpPr>
        <p:spPr>
          <a:xfrm>
            <a:off x="1769760" y="4676400"/>
            <a:ext cx="4746240" cy="0"/>
          </a:xfrm>
          <a:prstGeom prst="line">
            <a:avLst/>
          </a:prstGeom>
          <a:noFill/>
          <a:ln w="11430">
            <a:solidFill>
              <a:srgbClr val="1C1C1C"/>
            </a:solidFill>
            <a:prstDash val="sysDot"/>
          </a:ln>
        </p:spPr>
      </p:sp>
      <p:sp>
        <p:nvSpPr>
          <p:cNvPr id="32" name="Text 29"/>
          <p:cNvSpPr/>
          <p:nvPr/>
        </p:nvSpPr>
        <p:spPr>
          <a:xfrm>
            <a:off x="810000" y="4478400"/>
            <a:ext cx="959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2.1 Entretien</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4" name="Shape 31"/>
          <p:cNvSpPr/>
          <p:nvPr/>
        </p:nvSpPr>
        <p:spPr>
          <a:xfrm>
            <a:off x="2228400" y="5052600"/>
            <a:ext cx="4287600" cy="0"/>
          </a:xfrm>
          <a:prstGeom prst="line">
            <a:avLst/>
          </a:prstGeom>
          <a:noFill/>
          <a:ln w="11430">
            <a:solidFill>
              <a:srgbClr val="1C1C1C"/>
            </a:solidFill>
            <a:prstDash val="sysDot"/>
          </a:ln>
        </p:spPr>
      </p:sp>
      <p:sp>
        <p:nvSpPr>
          <p:cNvPr id="35" name="Text 32"/>
          <p:cNvSpPr/>
          <p:nvPr/>
        </p:nvSpPr>
        <p:spPr>
          <a:xfrm>
            <a:off x="810000" y="48546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2.2 Curatif Niveau 1</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12</a:t>
            </a:r>
            <a:endParaRPr lang="en-US" sz="1090" dirty="0"/>
          </a:p>
        </p:txBody>
      </p:sp>
      <p:sp>
        <p:nvSpPr>
          <p:cNvPr id="37" name="Shape 34"/>
          <p:cNvSpPr/>
          <p:nvPr/>
        </p:nvSpPr>
        <p:spPr>
          <a:xfrm>
            <a:off x="1900800" y="5428800"/>
            <a:ext cx="4615200" cy="0"/>
          </a:xfrm>
          <a:prstGeom prst="line">
            <a:avLst/>
          </a:prstGeom>
          <a:noFill/>
          <a:ln w="11430">
            <a:solidFill>
              <a:srgbClr val="1C1C1C"/>
            </a:solidFill>
            <a:prstDash val="sysDot"/>
          </a:ln>
        </p:spPr>
      </p:sp>
      <p:sp>
        <p:nvSpPr>
          <p:cNvPr id="38" name="Text 35"/>
          <p:cNvSpPr/>
          <p:nvPr/>
        </p:nvSpPr>
        <p:spPr>
          <a:xfrm>
            <a:off x="810000" y="52308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2.3 À confirmer</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15</a:t>
            </a:r>
            <a:endParaRPr lang="en-US" sz="1090" dirty="0"/>
          </a:p>
        </p:txBody>
      </p:sp>
      <p:sp>
        <p:nvSpPr>
          <p:cNvPr id="40" name="Shape 37"/>
          <p:cNvSpPr/>
          <p:nvPr/>
        </p:nvSpPr>
        <p:spPr>
          <a:xfrm>
            <a:off x="3762000" y="5805000"/>
            <a:ext cx="2754000" cy="0"/>
          </a:xfrm>
          <a:prstGeom prst="line">
            <a:avLst/>
          </a:prstGeom>
          <a:noFill/>
          <a:ln w="11430">
            <a:solidFill>
              <a:srgbClr val="1C1C1C"/>
            </a:solidFill>
            <a:prstDash val="sysDot"/>
          </a:ln>
        </p:spPr>
      </p:sp>
      <p:sp>
        <p:nvSpPr>
          <p:cNvPr id="41" name="Text 38"/>
          <p:cNvSpPr/>
          <p:nvPr/>
        </p:nvSpPr>
        <p:spPr>
          <a:xfrm>
            <a:off x="630000" y="5607000"/>
            <a:ext cx="3132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3. Évolutions réglementaires et normatives</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16</a:t>
            </a:r>
            <a:endParaRPr lang="en-US" sz="1160" dirty="0"/>
          </a:p>
        </p:txBody>
      </p:sp>
      <p:sp>
        <p:nvSpPr>
          <p:cNvPr id="43" name="Shape 40"/>
          <p:cNvSpPr/>
          <p:nvPr/>
        </p:nvSpPr>
        <p:spPr>
          <a:xfrm>
            <a:off x="3407760" y="6181200"/>
            <a:ext cx="3108240" cy="0"/>
          </a:xfrm>
          <a:prstGeom prst="line">
            <a:avLst/>
          </a:prstGeom>
          <a:noFill/>
          <a:ln w="11430">
            <a:solidFill>
              <a:srgbClr val="1C1C1C"/>
            </a:solidFill>
            <a:prstDash val="sysDot"/>
          </a:ln>
        </p:spPr>
      </p:sp>
      <p:sp>
        <p:nvSpPr>
          <p:cNvPr id="44" name="Text 41"/>
          <p:cNvSpPr/>
          <p:nvPr/>
        </p:nvSpPr>
        <p:spPr>
          <a:xfrm>
            <a:off x="810000" y="59832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3.1 Décret thermostat et calorifugeage</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16</a:t>
            </a:r>
            <a:endParaRPr lang="en-US" sz="1090" dirty="0"/>
          </a:p>
        </p:txBody>
      </p:sp>
      <p:sp>
        <p:nvSpPr>
          <p:cNvPr id="46" name="Shape 43"/>
          <p:cNvSpPr/>
          <p:nvPr/>
        </p:nvSpPr>
        <p:spPr>
          <a:xfrm>
            <a:off x="4783680" y="6557400"/>
            <a:ext cx="1732320" cy="0"/>
          </a:xfrm>
          <a:prstGeom prst="line">
            <a:avLst/>
          </a:prstGeom>
          <a:noFill/>
          <a:ln w="11430">
            <a:solidFill>
              <a:srgbClr val="1C1C1C"/>
            </a:solidFill>
            <a:prstDash val="sysDot"/>
          </a:ln>
        </p:spPr>
      </p:sp>
      <p:sp>
        <p:nvSpPr>
          <p:cNvPr id="47" name="Text 44"/>
          <p:cNvSpPr/>
          <p:nvPr/>
        </p:nvSpPr>
        <p:spPr>
          <a:xfrm>
            <a:off x="810000" y="6359400"/>
            <a:ext cx="3973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3.2 Evolution des normes de contrôle d’accès en copropriété</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17</a:t>
            </a:r>
            <a:endParaRPr lang="en-US" sz="1090" dirty="0"/>
          </a:p>
        </p:txBody>
      </p:sp>
      <p:sp>
        <p:nvSpPr>
          <p:cNvPr id="49" name="Shape 46"/>
          <p:cNvSpPr/>
          <p:nvPr/>
        </p:nvSpPr>
        <p:spPr>
          <a:xfrm>
            <a:off x="3211200" y="6933600"/>
            <a:ext cx="3304800" cy="0"/>
          </a:xfrm>
          <a:prstGeom prst="line">
            <a:avLst/>
          </a:prstGeom>
          <a:noFill/>
          <a:ln w="11430">
            <a:solidFill>
              <a:srgbClr val="1C1C1C"/>
            </a:solidFill>
            <a:prstDash val="sysDot"/>
          </a:ln>
        </p:spPr>
      </p:sp>
      <p:sp>
        <p:nvSpPr>
          <p:cNvPr id="50" name="Text 47"/>
          <p:cNvSpPr/>
          <p:nvPr/>
        </p:nvSpPr>
        <p:spPr>
          <a:xfrm>
            <a:off x="810000" y="67356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3.3 Extinction des réseaux 2G et 3G</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18</a:t>
            </a:r>
            <a:endParaRPr lang="en-US" sz="1090" dirty="0"/>
          </a:p>
        </p:txBody>
      </p:sp>
      <p:sp>
        <p:nvSpPr>
          <p:cNvPr id="52" name="Shape 49"/>
          <p:cNvSpPr/>
          <p:nvPr/>
        </p:nvSpPr>
        <p:spPr>
          <a:xfrm>
            <a:off x="3186000" y="7309800"/>
            <a:ext cx="3330000" cy="0"/>
          </a:xfrm>
          <a:prstGeom prst="line">
            <a:avLst/>
          </a:prstGeom>
          <a:noFill/>
          <a:ln w="11430">
            <a:solidFill>
              <a:srgbClr val="1C1C1C"/>
            </a:solidFill>
            <a:prstDash val="sysDot"/>
          </a:ln>
        </p:spPr>
      </p:sp>
      <p:sp>
        <p:nvSpPr>
          <p:cNvPr id="53" name="Text 50"/>
          <p:cNvSpPr/>
          <p:nvPr/>
        </p:nvSpPr>
        <p:spPr>
          <a:xfrm>
            <a:off x="630000" y="7111800"/>
            <a:ext cx="255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4. Recommandations complémentaires</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19</a:t>
            </a:r>
            <a:endParaRPr lang="en-US" sz="1160" dirty="0"/>
          </a:p>
        </p:txBody>
      </p:sp>
      <p:sp>
        <p:nvSpPr>
          <p:cNvPr id="55" name="Shape 52"/>
          <p:cNvSpPr/>
          <p:nvPr/>
        </p:nvSpPr>
        <p:spPr>
          <a:xfrm>
            <a:off x="3145680" y="7686000"/>
            <a:ext cx="3370320" cy="0"/>
          </a:xfrm>
          <a:prstGeom prst="line">
            <a:avLst/>
          </a:prstGeom>
          <a:noFill/>
          <a:ln w="11430">
            <a:solidFill>
              <a:srgbClr val="1C1C1C"/>
            </a:solidFill>
            <a:prstDash val="sysDot"/>
          </a:ln>
        </p:spPr>
      </p:sp>
      <p:sp>
        <p:nvSpPr>
          <p:cNvPr id="56" name="Text 53"/>
          <p:cNvSpPr/>
          <p:nvPr/>
        </p:nvSpPr>
        <p:spPr>
          <a:xfrm>
            <a:off x="810000" y="7488000"/>
            <a:ext cx="2335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4.1 Défibrillateurs en copropriété</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19</a:t>
            </a:r>
            <a:endParaRPr lang="en-US" sz="1090" dirty="0"/>
          </a:p>
        </p:txBody>
      </p:sp>
      <p:sp>
        <p:nvSpPr>
          <p:cNvPr id="58" name="Shape 55"/>
          <p:cNvSpPr/>
          <p:nvPr/>
        </p:nvSpPr>
        <p:spPr>
          <a:xfrm>
            <a:off x="3690000" y="8062200"/>
            <a:ext cx="2826000" cy="0"/>
          </a:xfrm>
          <a:prstGeom prst="line">
            <a:avLst/>
          </a:prstGeom>
          <a:noFill/>
          <a:ln w="11430">
            <a:solidFill>
              <a:srgbClr val="1C1C1C"/>
            </a:solidFill>
            <a:prstDash val="sysDot"/>
          </a:ln>
        </p:spPr>
      </p:sp>
      <p:sp>
        <p:nvSpPr>
          <p:cNvPr id="59" name="Text 56"/>
          <p:cNvSpPr/>
          <p:nvPr/>
        </p:nvSpPr>
        <p:spPr>
          <a:xfrm>
            <a:off x="630000" y="7864200"/>
            <a:ext cx="3060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5. Analyse documentaire de la copropriété</a:t>
            </a:r>
            <a:endParaRPr lang="en-US" sz="116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20</a:t>
            </a:r>
            <a:endParaRPr lang="en-US" sz="1160" dirty="0"/>
          </a:p>
        </p:txBody>
      </p:sp>
      <p:sp>
        <p:nvSpPr>
          <p:cNvPr id="61" name="Shape 58"/>
          <p:cNvSpPr/>
          <p:nvPr/>
        </p:nvSpPr>
        <p:spPr>
          <a:xfrm>
            <a:off x="3931920" y="8438400"/>
            <a:ext cx="2584080" cy="0"/>
          </a:xfrm>
          <a:prstGeom prst="line">
            <a:avLst/>
          </a:prstGeom>
          <a:noFill/>
          <a:ln w="11430">
            <a:solidFill>
              <a:srgbClr val="1C1C1C"/>
            </a:solidFill>
            <a:prstDash val="sysDot"/>
          </a:ln>
        </p:spPr>
      </p:sp>
      <p:sp>
        <p:nvSpPr>
          <p:cNvPr id="62" name="Text 59"/>
          <p:cNvSpPr/>
          <p:nvPr/>
        </p:nvSpPr>
        <p:spPr>
          <a:xfrm>
            <a:off x="810000" y="8240400"/>
            <a:ext cx="3121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5.1 Documents réglementaires et administratifs</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20</a:t>
            </a:r>
            <a:endParaRPr lang="en-US" sz="1090" dirty="0"/>
          </a:p>
        </p:txBody>
      </p:sp>
      <p:sp>
        <p:nvSpPr>
          <p:cNvPr id="64" name="Shape 61"/>
          <p:cNvSpPr/>
          <p:nvPr/>
        </p:nvSpPr>
        <p:spPr>
          <a:xfrm>
            <a:off x="3473280" y="8814600"/>
            <a:ext cx="3042720" cy="0"/>
          </a:xfrm>
          <a:prstGeom prst="line">
            <a:avLst/>
          </a:prstGeom>
          <a:noFill/>
          <a:ln w="11430">
            <a:solidFill>
              <a:srgbClr val="1C1C1C"/>
            </a:solidFill>
            <a:prstDash val="sysDot"/>
          </a:ln>
        </p:spPr>
      </p:sp>
      <p:sp>
        <p:nvSpPr>
          <p:cNvPr id="65" name="Text 62"/>
          <p:cNvSpPr/>
          <p:nvPr/>
        </p:nvSpPr>
        <p:spPr>
          <a:xfrm>
            <a:off x="810000" y="8616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5.2 Diagnostics techniques obligatoires</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24</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2424960" y="1666800"/>
            <a:ext cx="4091040" cy="0"/>
          </a:xfrm>
          <a:prstGeom prst="line">
            <a:avLst/>
          </a:prstGeom>
          <a:noFill/>
          <a:ln w="11430">
            <a:solidFill>
              <a:srgbClr val="1C1C1C"/>
            </a:solidFill>
            <a:prstDash val="sysDot"/>
          </a:ln>
        </p:spPr>
      </p:sp>
      <p:sp>
        <p:nvSpPr>
          <p:cNvPr id="8" name="Text 5"/>
          <p:cNvSpPr/>
          <p:nvPr/>
        </p:nvSpPr>
        <p:spPr>
          <a:xfrm>
            <a:off x="810000" y="14688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5.3 Contrat d’entretien</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25</a:t>
            </a:r>
            <a:endParaRPr lang="en-US" sz="1090" dirty="0"/>
          </a:p>
        </p:txBody>
      </p:sp>
      <p:sp>
        <p:nvSpPr>
          <p:cNvPr id="10" name="Shape 7"/>
          <p:cNvSpPr/>
          <p:nvPr/>
        </p:nvSpPr>
        <p:spPr>
          <a:xfrm>
            <a:off x="2556000" y="2043000"/>
            <a:ext cx="3960000" cy="0"/>
          </a:xfrm>
          <a:prstGeom prst="line">
            <a:avLst/>
          </a:prstGeom>
          <a:noFill/>
          <a:ln w="11430">
            <a:solidFill>
              <a:srgbClr val="1C1C1C"/>
            </a:solidFill>
            <a:prstDash val="sysDot"/>
          </a:ln>
        </p:spPr>
      </p:sp>
      <p:sp>
        <p:nvSpPr>
          <p:cNvPr id="11" name="Text 8"/>
          <p:cNvSpPr/>
          <p:nvPr/>
        </p:nvSpPr>
        <p:spPr>
          <a:xfrm>
            <a:off x="810000" y="18450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Travaux recensés et votés</a:t>
            </a:r>
            <a:endParaRPr lang="en-US" sz="109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26</a:t>
            </a:r>
            <a:endParaRPr lang="en-US" sz="1090" dirty="0"/>
          </a:p>
        </p:txBody>
      </p:sp>
      <p:sp>
        <p:nvSpPr>
          <p:cNvPr id="13" name="Shape 10"/>
          <p:cNvSpPr/>
          <p:nvPr/>
        </p:nvSpPr>
        <p:spPr>
          <a:xfrm>
            <a:off x="2293920" y="2419200"/>
            <a:ext cx="4222080" cy="0"/>
          </a:xfrm>
          <a:prstGeom prst="line">
            <a:avLst/>
          </a:prstGeom>
          <a:noFill/>
          <a:ln w="11430">
            <a:solidFill>
              <a:srgbClr val="1C1C1C"/>
            </a:solidFill>
            <a:prstDash val="sysDot"/>
          </a:ln>
        </p:spPr>
      </p:sp>
      <p:sp>
        <p:nvSpPr>
          <p:cNvPr id="14" name="Text 11"/>
          <p:cNvSpPr/>
          <p:nvPr/>
        </p:nvSpPr>
        <p:spPr>
          <a:xfrm>
            <a:off x="810000" y="2221200"/>
            <a:ext cx="1483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5.4 Sécurité incendie</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27</a:t>
            </a:r>
            <a:endParaRPr lang="en-US" sz="1090" dirty="0"/>
          </a:p>
        </p:txBody>
      </p:sp>
      <p:sp>
        <p:nvSpPr>
          <p:cNvPr id="16" name="Shape 13"/>
          <p:cNvSpPr/>
          <p:nvPr/>
        </p:nvSpPr>
        <p:spPr>
          <a:xfrm>
            <a:off x="2106000" y="2795400"/>
            <a:ext cx="4410000" cy="0"/>
          </a:xfrm>
          <a:prstGeom prst="line">
            <a:avLst/>
          </a:prstGeom>
          <a:noFill/>
          <a:ln w="11430">
            <a:solidFill>
              <a:srgbClr val="1C1C1C"/>
            </a:solidFill>
            <a:prstDash val="sysDot"/>
          </a:ln>
        </p:spPr>
      </p:sp>
      <p:sp>
        <p:nvSpPr>
          <p:cNvPr id="17" name="Text 14"/>
          <p:cNvSpPr/>
          <p:nvPr/>
        </p:nvSpPr>
        <p:spPr>
          <a:xfrm>
            <a:off x="630000" y="2597400"/>
            <a:ext cx="147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6. Synthèse du PPPT</a:t>
            </a:r>
            <a:endParaRPr lang="en-US" sz="116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28</a:t>
            </a:r>
            <a:endParaRPr lang="en-US" sz="1160" dirty="0"/>
          </a:p>
        </p:txBody>
      </p:sp>
      <p:sp>
        <p:nvSpPr>
          <p:cNvPr id="19" name="Shape 16"/>
          <p:cNvSpPr/>
          <p:nvPr/>
        </p:nvSpPr>
        <p:spPr>
          <a:xfrm>
            <a:off x="3211200" y="3171600"/>
            <a:ext cx="3304800" cy="0"/>
          </a:xfrm>
          <a:prstGeom prst="line">
            <a:avLst/>
          </a:prstGeom>
          <a:noFill/>
          <a:ln w="11430">
            <a:solidFill>
              <a:srgbClr val="1C1C1C"/>
            </a:solidFill>
            <a:prstDash val="sysDot"/>
          </a:ln>
        </p:spPr>
      </p:sp>
      <p:sp>
        <p:nvSpPr>
          <p:cNvPr id="20" name="Text 17"/>
          <p:cNvSpPr/>
          <p:nvPr/>
        </p:nvSpPr>
        <p:spPr>
          <a:xfrm>
            <a:off x="810000" y="29736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6.1 La loi « Climat et Résilience »</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28</a:t>
            </a:r>
            <a:endParaRPr lang="en-US" sz="1090" dirty="0"/>
          </a:p>
        </p:txBody>
      </p:sp>
      <p:sp>
        <p:nvSpPr>
          <p:cNvPr id="22" name="Shape 19"/>
          <p:cNvSpPr/>
          <p:nvPr/>
        </p:nvSpPr>
        <p:spPr>
          <a:xfrm>
            <a:off x="4914720" y="3547800"/>
            <a:ext cx="1601280" cy="0"/>
          </a:xfrm>
          <a:prstGeom prst="line">
            <a:avLst/>
          </a:prstGeom>
          <a:noFill/>
          <a:ln w="11430">
            <a:solidFill>
              <a:srgbClr val="1C1C1C"/>
            </a:solidFill>
            <a:prstDash val="sysDot"/>
          </a:ln>
        </p:spPr>
      </p:sp>
      <p:sp>
        <p:nvSpPr>
          <p:cNvPr id="23" name="Text 20"/>
          <p:cNvSpPr/>
          <p:nvPr/>
        </p:nvSpPr>
        <p:spPr>
          <a:xfrm>
            <a:off x="810000" y="3349800"/>
            <a:ext cx="4104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6.2 Le diagnostic de performance énergétiques (DPE Collectif)</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29</a:t>
            </a:r>
            <a:endParaRPr lang="en-US" sz="1090" dirty="0"/>
          </a:p>
        </p:txBody>
      </p:sp>
      <p:sp>
        <p:nvSpPr>
          <p:cNvPr id="25" name="Shape 22"/>
          <p:cNvSpPr/>
          <p:nvPr/>
        </p:nvSpPr>
        <p:spPr>
          <a:xfrm>
            <a:off x="2556000" y="3924000"/>
            <a:ext cx="3960000" cy="0"/>
          </a:xfrm>
          <a:prstGeom prst="line">
            <a:avLst/>
          </a:prstGeom>
          <a:noFill/>
          <a:ln w="11430">
            <a:solidFill>
              <a:srgbClr val="1C1C1C"/>
            </a:solidFill>
            <a:prstDash val="sysDot"/>
          </a:ln>
        </p:spPr>
      </p:sp>
      <p:sp>
        <p:nvSpPr>
          <p:cNvPr id="26" name="Text 23"/>
          <p:cNvSpPr/>
          <p:nvPr/>
        </p:nvSpPr>
        <p:spPr>
          <a:xfrm>
            <a:off x="810000" y="37260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6.3 Synthèse des curatifs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31</a:t>
            </a:r>
            <a:endParaRPr lang="en-US" sz="1090" dirty="0"/>
          </a:p>
        </p:txBody>
      </p:sp>
      <p:sp>
        <p:nvSpPr>
          <p:cNvPr id="28" name="Shape 25"/>
          <p:cNvSpPr/>
          <p:nvPr/>
        </p:nvSpPr>
        <p:spPr>
          <a:xfrm>
            <a:off x="4456080" y="4300200"/>
            <a:ext cx="2059920" cy="0"/>
          </a:xfrm>
          <a:prstGeom prst="line">
            <a:avLst/>
          </a:prstGeom>
          <a:noFill/>
          <a:ln w="11430">
            <a:solidFill>
              <a:srgbClr val="1C1C1C"/>
            </a:solidFill>
            <a:prstDash val="sysDot"/>
          </a:ln>
        </p:spPr>
      </p:sp>
      <p:sp>
        <p:nvSpPr>
          <p:cNvPr id="29" name="Text 26"/>
          <p:cNvSpPr/>
          <p:nvPr/>
        </p:nvSpPr>
        <p:spPr>
          <a:xfrm>
            <a:off x="810000" y="4102200"/>
            <a:ext cx="36460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1 – Tableau récapitulatif des travaux curatifs</a:t>
            </a:r>
            <a:endParaRPr lang="en-US" sz="109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32</a:t>
            </a:r>
            <a:endParaRPr lang="en-US" sz="1090" dirty="0"/>
          </a:p>
        </p:txBody>
      </p:sp>
      <p:sp>
        <p:nvSpPr>
          <p:cNvPr id="31" name="Shape 28"/>
          <p:cNvSpPr/>
          <p:nvPr/>
        </p:nvSpPr>
        <p:spPr>
          <a:xfrm>
            <a:off x="4718160" y="4676400"/>
            <a:ext cx="1797840" cy="0"/>
          </a:xfrm>
          <a:prstGeom prst="line">
            <a:avLst/>
          </a:prstGeom>
          <a:noFill/>
          <a:ln w="11430">
            <a:solidFill>
              <a:srgbClr val="1C1C1C"/>
            </a:solidFill>
            <a:prstDash val="sysDot"/>
          </a:ln>
        </p:spPr>
      </p:sp>
      <p:sp>
        <p:nvSpPr>
          <p:cNvPr id="32" name="Text 29"/>
          <p:cNvSpPr/>
          <p:nvPr/>
        </p:nvSpPr>
        <p:spPr>
          <a:xfrm>
            <a:off x="810000" y="4478400"/>
            <a:ext cx="39081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2 – Tableau récapitulatif des travaux énergétiques</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33</a:t>
            </a:r>
            <a:endParaRPr lang="en-US" sz="1090" dirty="0"/>
          </a:p>
        </p:txBody>
      </p:sp>
      <p:sp>
        <p:nvSpPr>
          <p:cNvPr id="34" name="Shape 31"/>
          <p:cNvSpPr/>
          <p:nvPr/>
        </p:nvSpPr>
        <p:spPr>
          <a:xfrm>
            <a:off x="1674000" y="5052600"/>
            <a:ext cx="4842000" cy="0"/>
          </a:xfrm>
          <a:prstGeom prst="line">
            <a:avLst/>
          </a:prstGeom>
          <a:noFill/>
          <a:ln w="11430">
            <a:solidFill>
              <a:srgbClr val="1C1C1C"/>
            </a:solidFill>
            <a:prstDash val="sysDot"/>
          </a:ln>
        </p:spPr>
      </p:sp>
      <p:sp>
        <p:nvSpPr>
          <p:cNvPr id="35" name="Text 32"/>
          <p:cNvSpPr/>
          <p:nvPr/>
        </p:nvSpPr>
        <p:spPr>
          <a:xfrm>
            <a:off x="630000" y="4854600"/>
            <a:ext cx="104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7. CONCLUSION</a:t>
            </a:r>
            <a:endParaRPr lang="en-US" sz="116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34</a:t>
            </a:r>
            <a:endParaRPr lang="en-US" sz="1160" dirty="0"/>
          </a:p>
        </p:txBody>
      </p:sp>
      <p:sp>
        <p:nvSpPr>
          <p:cNvPr id="37" name="Shape 34"/>
          <p:cNvSpPr/>
          <p:nvPr/>
        </p:nvSpPr>
        <p:spPr>
          <a:xfrm>
            <a:off x="2424960" y="5428800"/>
            <a:ext cx="4091040" cy="0"/>
          </a:xfrm>
          <a:prstGeom prst="line">
            <a:avLst/>
          </a:prstGeom>
          <a:noFill/>
          <a:ln w="11430">
            <a:solidFill>
              <a:srgbClr val="1C1C1C"/>
            </a:solidFill>
            <a:prstDash val="sysDot"/>
          </a:ln>
        </p:spPr>
      </p:sp>
      <p:sp>
        <p:nvSpPr>
          <p:cNvPr id="38" name="Text 35"/>
          <p:cNvSpPr/>
          <p:nvPr/>
        </p:nvSpPr>
        <p:spPr>
          <a:xfrm>
            <a:off x="810000" y="52308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7.1 Conclusion générale</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34</a:t>
            </a:r>
            <a:endParaRPr lang="en-US" sz="1090" dirty="0"/>
          </a:p>
        </p:txBody>
      </p:sp>
      <p:sp>
        <p:nvSpPr>
          <p:cNvPr id="40" name="Shape 37"/>
          <p:cNvSpPr/>
          <p:nvPr/>
        </p:nvSpPr>
        <p:spPr>
          <a:xfrm>
            <a:off x="3834000" y="5805000"/>
            <a:ext cx="2682000" cy="0"/>
          </a:xfrm>
          <a:prstGeom prst="line">
            <a:avLst/>
          </a:prstGeom>
          <a:noFill/>
          <a:ln w="11430">
            <a:solidFill>
              <a:srgbClr val="1C1C1C"/>
            </a:solidFill>
            <a:prstDash val="sysDot"/>
          </a:ln>
        </p:spPr>
      </p:sp>
      <p:sp>
        <p:nvSpPr>
          <p:cNvPr id="41" name="Text 38"/>
          <p:cNvSpPr/>
          <p:nvPr/>
        </p:nvSpPr>
        <p:spPr>
          <a:xfrm>
            <a:off x="630000" y="5607000"/>
            <a:ext cx="320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8. FINANCEMENTS À LA RÉNOVATION ÉNERGÉTIQUE</a:t>
            </a:r>
            <a:endParaRPr lang="en-US" sz="116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35</a:t>
            </a:r>
            <a:endParaRPr lang="en-US" sz="1160" dirty="0"/>
          </a:p>
        </p:txBody>
      </p:sp>
      <p:sp>
        <p:nvSpPr>
          <p:cNvPr id="43" name="Shape 40"/>
          <p:cNvSpPr/>
          <p:nvPr/>
        </p:nvSpPr>
        <p:spPr>
          <a:xfrm>
            <a:off x="2949120" y="6181200"/>
            <a:ext cx="3566880" cy="0"/>
          </a:xfrm>
          <a:prstGeom prst="line">
            <a:avLst/>
          </a:prstGeom>
          <a:noFill/>
          <a:ln w="11430">
            <a:solidFill>
              <a:srgbClr val="1C1C1C"/>
            </a:solidFill>
            <a:prstDash val="sysDot"/>
          </a:ln>
        </p:spPr>
      </p:sp>
      <p:sp>
        <p:nvSpPr>
          <p:cNvPr id="44" name="Text 41"/>
          <p:cNvSpPr/>
          <p:nvPr/>
        </p:nvSpPr>
        <p:spPr>
          <a:xfrm>
            <a:off x="810000" y="59832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8.1 Ma Prime Rénov’Copropriétés</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35</a:t>
            </a:r>
            <a:endParaRPr lang="en-US" sz="1090" dirty="0"/>
          </a:p>
        </p:txBody>
      </p:sp>
      <p:sp>
        <p:nvSpPr>
          <p:cNvPr id="46" name="Shape 43"/>
          <p:cNvSpPr/>
          <p:nvPr/>
        </p:nvSpPr>
        <p:spPr>
          <a:xfrm>
            <a:off x="3604320" y="6557400"/>
            <a:ext cx="2911680" cy="0"/>
          </a:xfrm>
          <a:prstGeom prst="line">
            <a:avLst/>
          </a:prstGeom>
          <a:noFill/>
          <a:ln w="11430">
            <a:solidFill>
              <a:srgbClr val="1C1C1C"/>
            </a:solidFill>
            <a:prstDash val="sysDot"/>
          </a:ln>
        </p:spPr>
      </p:sp>
      <p:sp>
        <p:nvSpPr>
          <p:cNvPr id="47" name="Text 44"/>
          <p:cNvSpPr/>
          <p:nvPr/>
        </p:nvSpPr>
        <p:spPr>
          <a:xfrm>
            <a:off x="810000" y="6359400"/>
            <a:ext cx="27943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8.2 Les Certificats d’Économies d’Énergie</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36</a:t>
            </a:r>
            <a:endParaRPr lang="en-US" sz="1090" dirty="0"/>
          </a:p>
        </p:txBody>
      </p:sp>
      <p:sp>
        <p:nvSpPr>
          <p:cNvPr id="49" name="Shape 46"/>
          <p:cNvSpPr/>
          <p:nvPr/>
        </p:nvSpPr>
        <p:spPr>
          <a:xfrm>
            <a:off x="3407760" y="6933600"/>
            <a:ext cx="3108240" cy="0"/>
          </a:xfrm>
          <a:prstGeom prst="line">
            <a:avLst/>
          </a:prstGeom>
          <a:noFill/>
          <a:ln w="11430">
            <a:solidFill>
              <a:srgbClr val="1C1C1C"/>
            </a:solidFill>
            <a:prstDash val="sysDot"/>
          </a:ln>
        </p:spPr>
      </p:sp>
      <p:sp>
        <p:nvSpPr>
          <p:cNvPr id="50" name="Text 47"/>
          <p:cNvSpPr/>
          <p:nvPr/>
        </p:nvSpPr>
        <p:spPr>
          <a:xfrm>
            <a:off x="810000" y="67356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8.3 L’Éco-Prêt à Taux Zéro Copropriété</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37</a:t>
            </a:r>
            <a:endParaRPr lang="en-US" sz="1090" dirty="0"/>
          </a:p>
        </p:txBody>
      </p:sp>
      <p:sp>
        <p:nvSpPr>
          <p:cNvPr id="52" name="Shape 49"/>
          <p:cNvSpPr/>
          <p:nvPr/>
        </p:nvSpPr>
        <p:spPr>
          <a:xfrm>
            <a:off x="3014640" y="7309800"/>
            <a:ext cx="3501360" cy="0"/>
          </a:xfrm>
          <a:prstGeom prst="line">
            <a:avLst/>
          </a:prstGeom>
          <a:noFill/>
          <a:ln w="11430">
            <a:solidFill>
              <a:srgbClr val="1C1C1C"/>
            </a:solidFill>
            <a:prstDash val="sysDot"/>
          </a:ln>
        </p:spPr>
      </p:sp>
      <p:sp>
        <p:nvSpPr>
          <p:cNvPr id="53" name="Text 50"/>
          <p:cNvSpPr/>
          <p:nvPr/>
        </p:nvSpPr>
        <p:spPr>
          <a:xfrm>
            <a:off x="810000" y="7111800"/>
            <a:ext cx="220464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8.4 La TVA à taux réduite à 5,5%</a:t>
            </a:r>
            <a:endParaRPr lang="en-US" sz="109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38</a:t>
            </a:r>
            <a:endParaRPr lang="en-US" sz="1090" dirty="0"/>
          </a:p>
        </p:txBody>
      </p:sp>
      <p:sp>
        <p:nvSpPr>
          <p:cNvPr id="55" name="Shape 52"/>
          <p:cNvSpPr/>
          <p:nvPr/>
        </p:nvSpPr>
        <p:spPr>
          <a:xfrm>
            <a:off x="4062960" y="7686000"/>
            <a:ext cx="2453040" cy="0"/>
          </a:xfrm>
          <a:prstGeom prst="line">
            <a:avLst/>
          </a:prstGeom>
          <a:noFill/>
          <a:ln w="11430">
            <a:solidFill>
              <a:srgbClr val="1C1C1C"/>
            </a:solidFill>
            <a:prstDash val="sysDot"/>
          </a:ln>
        </p:spPr>
      </p:sp>
      <p:sp>
        <p:nvSpPr>
          <p:cNvPr id="56" name="Text 53"/>
          <p:cNvSpPr/>
          <p:nvPr/>
        </p:nvSpPr>
        <p:spPr>
          <a:xfrm>
            <a:off x="810000" y="74880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8.5 Précision sur le cumul des aides financières</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39</a:t>
            </a:r>
            <a:endParaRPr lang="en-US" sz="1090" dirty="0"/>
          </a:p>
        </p:txBody>
      </p:sp>
      <p:sp>
        <p:nvSpPr>
          <p:cNvPr id="58" name="Shape 55"/>
          <p:cNvSpPr/>
          <p:nvPr/>
        </p:nvSpPr>
        <p:spPr>
          <a:xfrm>
            <a:off x="4849200" y="8062200"/>
            <a:ext cx="1666800" cy="0"/>
          </a:xfrm>
          <a:prstGeom prst="line">
            <a:avLst/>
          </a:prstGeom>
          <a:noFill/>
          <a:ln w="11430">
            <a:solidFill>
              <a:srgbClr val="1C1C1C"/>
            </a:solidFill>
            <a:prstDash val="sysDot"/>
          </a:ln>
        </p:spPr>
      </p:sp>
      <p:sp>
        <p:nvSpPr>
          <p:cNvPr id="59" name="Text 56"/>
          <p:cNvSpPr/>
          <p:nvPr/>
        </p:nvSpPr>
        <p:spPr>
          <a:xfrm>
            <a:off x="810000" y="7864200"/>
            <a:ext cx="4039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8.6 Les étapes d’un projet de rénovation énergétique globale</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40</a:t>
            </a:r>
            <a:endParaRPr lang="en-US" sz="1090" dirty="0"/>
          </a:p>
        </p:txBody>
      </p:sp>
      <p:sp>
        <p:nvSpPr>
          <p:cNvPr id="61" name="Shape 58"/>
          <p:cNvSpPr/>
          <p:nvPr/>
        </p:nvSpPr>
        <p:spPr>
          <a:xfrm>
            <a:off x="1458000" y="8438400"/>
            <a:ext cx="5058000" cy="0"/>
          </a:xfrm>
          <a:prstGeom prst="line">
            <a:avLst/>
          </a:prstGeom>
          <a:noFill/>
          <a:ln w="11430">
            <a:solidFill>
              <a:srgbClr val="1C1C1C"/>
            </a:solidFill>
            <a:prstDash val="sysDot"/>
          </a:ln>
        </p:spPr>
      </p:sp>
      <p:sp>
        <p:nvSpPr>
          <p:cNvPr id="62" name="Text 59"/>
          <p:cNvSpPr/>
          <p:nvPr/>
        </p:nvSpPr>
        <p:spPr>
          <a:xfrm>
            <a:off x="630000" y="82404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9. Lexique</a:t>
            </a:r>
            <a:endParaRPr lang="en-US" sz="116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41</a:t>
            </a:r>
            <a:endParaRPr lang="en-US" sz="1160" dirty="0"/>
          </a:p>
        </p:txBody>
      </p:sp>
      <p:sp>
        <p:nvSpPr>
          <p:cNvPr id="64" name="Shape 61"/>
          <p:cNvSpPr/>
          <p:nvPr/>
        </p:nvSpPr>
        <p:spPr>
          <a:xfrm>
            <a:off x="1638720" y="8814600"/>
            <a:ext cx="4877280" cy="0"/>
          </a:xfrm>
          <a:prstGeom prst="line">
            <a:avLst/>
          </a:prstGeom>
          <a:noFill/>
          <a:ln w="11430">
            <a:solidFill>
              <a:srgbClr val="1C1C1C"/>
            </a:solidFill>
            <a:prstDash val="sysDot"/>
          </a:ln>
        </p:spPr>
      </p:sp>
      <p:sp>
        <p:nvSpPr>
          <p:cNvPr id="65" name="Text 62"/>
          <p:cNvSpPr/>
          <p:nvPr/>
        </p:nvSpPr>
        <p:spPr>
          <a:xfrm>
            <a:off x="810000" y="86166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9.1 Lexique</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41</a:t>
            </a:r>
            <a:endParaRPr lang="en-US" sz="10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1638720" y="1666800"/>
            <a:ext cx="4877280" cy="0"/>
          </a:xfrm>
          <a:prstGeom prst="line">
            <a:avLst/>
          </a:prstGeom>
          <a:noFill/>
          <a:ln w="11430">
            <a:solidFill>
              <a:srgbClr val="1C1C1C"/>
            </a:solidFill>
            <a:prstDash val="sysDot"/>
          </a:ln>
        </p:spPr>
      </p:sp>
      <p:sp>
        <p:nvSpPr>
          <p:cNvPr id="8" name="Text 5"/>
          <p:cNvSpPr/>
          <p:nvPr/>
        </p:nvSpPr>
        <p:spPr>
          <a:xfrm>
            <a:off x="810000" y="14688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9.2 Lexique</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42</a:t>
            </a:r>
            <a:endParaRPr lang="en-US" sz="1090" dirty="0"/>
          </a:p>
        </p:txBody>
      </p:sp>
      <p:sp>
        <p:nvSpPr>
          <p:cNvPr id="10" name="Shape 7"/>
          <p:cNvSpPr/>
          <p:nvPr/>
        </p:nvSpPr>
        <p:spPr>
          <a:xfrm>
            <a:off x="2826000" y="2043000"/>
            <a:ext cx="3690000" cy="0"/>
          </a:xfrm>
          <a:prstGeom prst="line">
            <a:avLst/>
          </a:prstGeom>
          <a:noFill/>
          <a:ln w="11430">
            <a:solidFill>
              <a:srgbClr val="1C1C1C"/>
            </a:solidFill>
            <a:prstDash val="sysDot"/>
          </a:ln>
        </p:spPr>
      </p:sp>
      <p:sp>
        <p:nvSpPr>
          <p:cNvPr id="11" name="Text 8"/>
          <p:cNvSpPr/>
          <p:nvPr/>
        </p:nvSpPr>
        <p:spPr>
          <a:xfrm>
            <a:off x="630000" y="1845000"/>
            <a:ext cx="219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10. Déclaration sur l’honneur</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3" name="Shape 10"/>
          <p:cNvSpPr/>
          <p:nvPr/>
        </p:nvSpPr>
        <p:spPr>
          <a:xfrm>
            <a:off x="1458000" y="2419200"/>
            <a:ext cx="5058000" cy="0"/>
          </a:xfrm>
          <a:prstGeom prst="line">
            <a:avLst/>
          </a:prstGeom>
          <a:noFill/>
          <a:ln w="11430">
            <a:solidFill>
              <a:srgbClr val="1C1C1C"/>
            </a:solidFill>
            <a:prstDash val="sysDot"/>
          </a:ln>
        </p:spPr>
      </p:sp>
      <p:sp>
        <p:nvSpPr>
          <p:cNvPr id="14" name="Text 11"/>
          <p:cNvSpPr/>
          <p:nvPr/>
        </p:nvSpPr>
        <p:spPr>
          <a:xfrm>
            <a:off x="630000" y="22212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11. Annexe</a:t>
            </a:r>
            <a:endParaRPr lang="en-US" sz="116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43</a:t>
            </a:r>
            <a:endParaRPr lang="en-US" sz="1160" dirty="0"/>
          </a:p>
        </p:txBody>
      </p:sp>
      <p:sp>
        <p:nvSpPr>
          <p:cNvPr id="16" name="Shape 13"/>
          <p:cNvSpPr/>
          <p:nvPr/>
        </p:nvSpPr>
        <p:spPr>
          <a:xfrm>
            <a:off x="4062960" y="2795400"/>
            <a:ext cx="2453040" cy="0"/>
          </a:xfrm>
          <a:prstGeom prst="line">
            <a:avLst/>
          </a:prstGeom>
          <a:noFill/>
          <a:ln w="11430">
            <a:solidFill>
              <a:srgbClr val="1C1C1C"/>
            </a:solidFill>
            <a:prstDash val="sysDot"/>
          </a:ln>
        </p:spPr>
      </p:sp>
      <p:sp>
        <p:nvSpPr>
          <p:cNvPr id="17" name="Text 14"/>
          <p:cNvSpPr/>
          <p:nvPr/>
        </p:nvSpPr>
        <p:spPr>
          <a:xfrm>
            <a:off x="810000" y="25974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11.1 Etat des risques et informations Géorisques</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43</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84840"/>
            <a:ext cx="6484680" cy="826812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présent document constitue un </a:t>
            </a:r>
            <a:pPr algn="just" indent="0" marL="0">
              <a:buNone/>
            </a:pPr>
            <a:r>
              <a:rPr lang="en-US" sz="1100" b="1" dirty="0">
                <a:solidFill>
                  <a:srgbClr val="1C1C1C"/>
                </a:solidFill>
                <a:latin typeface="Calibri" pitchFamily="34" charset="0"/>
                <a:ea typeface="Calibri" pitchFamily="34" charset="-122"/>
                <a:cs typeface="Calibri" pitchFamily="34" charset="-120"/>
              </a:rPr>
              <a:t>Projet de Plan Pluriannuel de Travaux (PPPT)</a:t>
            </a:r>
            <a:pPr algn="just" indent="0" marL="0">
              <a:buNone/>
            </a:pPr>
            <a:r>
              <a:rPr lang="en-US" sz="1100" dirty="0">
                <a:solidFill>
                  <a:srgbClr val="1C1C1C"/>
                </a:solidFill>
                <a:latin typeface="Calibri" pitchFamily="34" charset="0"/>
                <a:ea typeface="Calibri" pitchFamily="34" charset="-122"/>
                <a:cs typeface="Calibri" pitchFamily="34" charset="-120"/>
              </a:rPr>
              <a:t> établi conformément aux dispositions de la </a:t>
            </a:r>
            <a:pPr algn="just" indent="0" marL="0">
              <a:buNone/>
            </a:pPr>
            <a:r>
              <a:rPr lang="en-US" sz="1100" b="1" dirty="0">
                <a:solidFill>
                  <a:srgbClr val="1C1C1C"/>
                </a:solidFill>
                <a:latin typeface="Calibri" pitchFamily="34" charset="0"/>
                <a:ea typeface="Calibri" pitchFamily="34" charset="-122"/>
                <a:cs typeface="Calibri" pitchFamily="34" charset="-120"/>
              </a:rPr>
              <a:t>loi n° 2021-1104 du 22 août 2021</a:t>
            </a:r>
            <a:pPr algn="just" indent="0" marL="0">
              <a:buNone/>
            </a:pPr>
            <a:r>
              <a:rPr lang="en-US" sz="1100" dirty="0">
                <a:solidFill>
                  <a:srgbClr val="1C1C1C"/>
                </a:solidFill>
                <a:latin typeface="Calibri" pitchFamily="34" charset="0"/>
                <a:ea typeface="Calibri" pitchFamily="34" charset="-122"/>
                <a:cs typeface="Calibri" pitchFamily="34" charset="-120"/>
              </a:rPr>
              <a:t>, dite « Climat et Résilience », codifiées aux </a:t>
            </a:r>
            <a:pPr algn="just" indent="0" marL="0">
              <a:buNone/>
            </a:pPr>
            <a:r>
              <a:rPr lang="en-US" sz="1100" b="1" dirty="0">
                <a:solidFill>
                  <a:srgbClr val="1C1C1C"/>
                </a:solidFill>
                <a:latin typeface="Calibri" pitchFamily="34" charset="0"/>
                <a:ea typeface="Calibri" pitchFamily="34" charset="-122"/>
                <a:cs typeface="Calibri" pitchFamily="34" charset="-120"/>
              </a:rPr>
              <a:t>articles L.731-1 à L.731-5</a:t>
            </a:r>
            <a:pPr algn="just" indent="0" marL="0">
              <a:buNone/>
            </a:pPr>
            <a:r>
              <a:rPr lang="en-US" sz="1100" dirty="0">
                <a:solidFill>
                  <a:srgbClr val="1C1C1C"/>
                </a:solidFill>
                <a:latin typeface="Calibri" pitchFamily="34" charset="0"/>
                <a:ea typeface="Calibri" pitchFamily="34" charset="-122"/>
                <a:cs typeface="Calibri" pitchFamily="34" charset="-120"/>
              </a:rPr>
              <a:t> et </a:t>
            </a:r>
            <a:pPr algn="just" indent="0" marL="0">
              <a:buNone/>
            </a:pPr>
            <a:r>
              <a:rPr lang="en-US" sz="1100" b="1" dirty="0">
                <a:solidFill>
                  <a:srgbClr val="1C1C1C"/>
                </a:solidFill>
                <a:latin typeface="Calibri" pitchFamily="34" charset="0"/>
                <a:ea typeface="Calibri" pitchFamily="34" charset="-122"/>
                <a:cs typeface="Calibri" pitchFamily="34" charset="-120"/>
              </a:rPr>
              <a:t>R.731-1 à R.731-3 du Code de la construction et de l'habitation</a:t>
            </a:r>
            <a:pPr algn="just" indent="0" marL="0">
              <a:buNone/>
            </a:pPr>
            <a:r>
              <a:rPr lang="en-US" sz="1100" dirty="0">
                <a:solidFill>
                  <a:srgbClr val="1C1C1C"/>
                </a:solidFill>
                <a:latin typeface="Calibri" pitchFamily="34" charset="0"/>
                <a:ea typeface="Calibri" pitchFamily="34" charset="-122"/>
                <a:cs typeface="Calibri" pitchFamily="34" charset="-120"/>
              </a:rPr>
              <a:t>, ainsi qu'à </a:t>
            </a:r>
            <a:pPr algn="just" indent="0" marL="0">
              <a:buNone/>
            </a:pPr>
            <a:r>
              <a:rPr lang="en-US" sz="1100" b="1" dirty="0">
                <a:solidFill>
                  <a:srgbClr val="1C1C1C"/>
                </a:solidFill>
                <a:latin typeface="Calibri" pitchFamily="34" charset="0"/>
                <a:ea typeface="Calibri" pitchFamily="34" charset="-122"/>
                <a:cs typeface="Calibri" pitchFamily="34" charset="-120"/>
              </a:rPr>
              <a:t>l'arrêté du 30 mars 2022 relatif au contenu du Projet de Plan Pluriannuel de Travaux</a:t>
            </a:r>
            <a:pPr algn="just"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répond à trois objectifs majeurs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Assurer la conservation et la pérennité du patrimoine immobilier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Garantir la sécurité et le confort des occupants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Favoriser l’amélioration de la performance énergétique du bâtiment.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a:t>
            </a:r>
            <a:pPr algn="just" indent="0" marL="0">
              <a:buNone/>
            </a:pPr>
            <a:r>
              <a:rPr lang="en-US" sz="1100" b="1" dirty="0">
                <a:solidFill>
                  <a:srgbClr val="1C1C1C"/>
                </a:solidFill>
                <a:latin typeface="Calibri" pitchFamily="34" charset="0"/>
                <a:ea typeface="Calibri" pitchFamily="34" charset="-122"/>
                <a:cs typeface="Calibri" pitchFamily="34" charset="-120"/>
              </a:rPr>
              <a:t>Plan Pluriannuel de Travaux (PPT)</a:t>
            </a:r>
            <a:pPr algn="just" indent="0" marL="0">
              <a:buNone/>
            </a:pPr>
            <a:r>
              <a:rPr lang="en-US" sz="1100" dirty="0">
                <a:solidFill>
                  <a:srgbClr val="1C1C1C"/>
                </a:solidFill>
                <a:latin typeface="Calibri" pitchFamily="34" charset="0"/>
                <a:ea typeface="Calibri" pitchFamily="34" charset="-122"/>
                <a:cs typeface="Calibri" pitchFamily="34" charset="-120"/>
              </a:rPr>
              <a:t> et sert de référence pour la programmation des opérations à venir. Les travaux sont ensuite soumis au vote des copropriétaires selon les règles de majorité applicables à leur nature.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341000"/>
            <a:ext cx="6484680" cy="818856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1100" dirty="0"/>
          </a:p>
          <a:p>
            <a:pPr algn="just" indent="0" marL="0">
              <a:buNone/>
            </a:pP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documents et informations transmis par le syndicat des copropriétaires ou son représentant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constatations réalisées lors de la visite des lieux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éléments visibles et accessibles au moment de l'intervention.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locaux nécessitant un accès spécifique ou l'accompagnement d'une personne habilitée (chaufferie, machinerie d'ascenseur, locaux techniques, postes de transformation, etc.)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ouvrages situés à plus de 3 mètres de hauteur lorsqu'aucun moyen d'accès adapté n'était disponible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combles perdus, vides sanitaires, volumes confinés ou zones rendues inaccessibles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réseaux, canalisations, gaines techniques et structures non visibles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éléments situés sous les complexes d'étanchéité ou d'isolation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parties dont l'accès présentait un risque pour la sécurité des intervenants.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03480"/>
            <a:ext cx="6484680" cy="2697840"/>
          </a:xfrm>
          <a:prstGeom prst="rect">
            <a:avLst/>
          </a:prstGeom>
          <a:noFill/>
          <a:ln/>
        </p:spPr>
        <p:txBody>
          <a:bodyPr wrap="square" lIns="88900" tIns="44450" rIns="88900" bIns="44450" rtlCol="0" anchor="t"/>
          <a:lstStyle/>
          <a:p>
            <a:pPr algn="just" indent="0" marL="0">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100" dirty="0"/>
          </a:p>
        </p:txBody>
      </p:sp>
      <p:sp>
        <p:nvSpPr>
          <p:cNvPr id="6" name="Shape 3"/>
          <p:cNvSpPr/>
          <p:nvPr/>
        </p:nvSpPr>
        <p:spPr>
          <a:xfrm>
            <a:off x="541080" y="4195080"/>
            <a:ext cx="1681560" cy="795960"/>
          </a:xfrm>
          <a:prstGeom prst="rect">
            <a:avLst/>
          </a:prstGeom>
          <a:solidFill>
            <a:srgbClr val="FFFFFF"/>
          </a:solidFill>
          <a:ln w="12700">
            <a:solidFill>
              <a:srgbClr val="242424"/>
            </a:solidFill>
            <a:prstDash val="solid"/>
          </a:ln>
        </p:spPr>
      </p:sp>
      <p:sp>
        <p:nvSpPr>
          <p:cNvPr id="7" name="Shape 4"/>
          <p:cNvSpPr/>
          <p:nvPr/>
        </p:nvSpPr>
        <p:spPr>
          <a:xfrm>
            <a:off x="2222640" y="4195080"/>
            <a:ext cx="3352680" cy="795960"/>
          </a:xfrm>
          <a:prstGeom prst="rect">
            <a:avLst/>
          </a:prstGeom>
          <a:solidFill>
            <a:srgbClr val="FFFFFF"/>
          </a:solidFill>
          <a:ln w="12700">
            <a:solidFill>
              <a:srgbClr val="242424"/>
            </a:solidFill>
            <a:prstDash val="solid"/>
          </a:ln>
        </p:spPr>
      </p:sp>
      <p:sp>
        <p:nvSpPr>
          <p:cNvPr id="8" name="Shape 5"/>
          <p:cNvSpPr/>
          <p:nvPr/>
        </p:nvSpPr>
        <p:spPr>
          <a:xfrm>
            <a:off x="5575320" y="4195080"/>
            <a:ext cx="1450440" cy="795960"/>
          </a:xfrm>
          <a:prstGeom prst="rect">
            <a:avLst/>
          </a:prstGeom>
          <a:solidFill>
            <a:srgbClr val="FFFFFF"/>
          </a:solidFill>
          <a:ln w="12700">
            <a:solidFill>
              <a:srgbClr val="242424"/>
            </a:solidFill>
            <a:prstDash val="solid"/>
          </a:ln>
        </p:spPr>
      </p:sp>
      <p:sp>
        <p:nvSpPr>
          <p:cNvPr id="9" name="Shape 6"/>
          <p:cNvSpPr/>
          <p:nvPr/>
        </p:nvSpPr>
        <p:spPr>
          <a:xfrm>
            <a:off x="692460" y="4342500"/>
            <a:ext cx="1411560" cy="501120"/>
          </a:xfrm>
          <a:prstGeom prst="homePlate">
            <a:avLst/>
          </a:prstGeom>
          <a:solidFill>
            <a:srgbClr val="5DCCCC"/>
          </a:solidFill>
          <a:ln w="8890">
            <a:solidFill>
              <a:srgbClr val="242424"/>
            </a:solidFill>
            <a:prstDash val="solid"/>
          </a:ln>
        </p:spPr>
      </p:sp>
      <p:sp>
        <p:nvSpPr>
          <p:cNvPr id="10" name="Text 7"/>
          <p:cNvSpPr/>
          <p:nvPr/>
        </p:nvSpPr>
        <p:spPr>
          <a:xfrm>
            <a:off x="768060" y="44562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Entretien</a:t>
            </a:r>
            <a:endParaRPr lang="en-US" sz="1140" dirty="0"/>
          </a:p>
        </p:txBody>
      </p:sp>
      <p:sp>
        <p:nvSpPr>
          <p:cNvPr id="11" name="Text 8"/>
          <p:cNvSpPr/>
          <p:nvPr/>
        </p:nvSpPr>
        <p:spPr>
          <a:xfrm>
            <a:off x="2301840" y="4234680"/>
            <a:ext cx="3194280" cy="7167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Entretien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1100" dirty="0"/>
          </a:p>
        </p:txBody>
      </p:sp>
      <p:sp>
        <p:nvSpPr>
          <p:cNvPr id="12" name="Text 9"/>
          <p:cNvSpPr/>
          <p:nvPr/>
        </p:nvSpPr>
        <p:spPr>
          <a:xfrm>
            <a:off x="5640120" y="4234680"/>
            <a:ext cx="1320840" cy="71676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13" name="Shape 10"/>
          <p:cNvSpPr/>
          <p:nvPr/>
        </p:nvSpPr>
        <p:spPr>
          <a:xfrm>
            <a:off x="541080" y="4991040"/>
            <a:ext cx="1681560" cy="942120"/>
          </a:xfrm>
          <a:prstGeom prst="rect">
            <a:avLst/>
          </a:prstGeom>
          <a:solidFill>
            <a:srgbClr val="FFFFFF"/>
          </a:solidFill>
          <a:ln w="12700">
            <a:solidFill>
              <a:srgbClr val="242424"/>
            </a:solidFill>
            <a:prstDash val="solid"/>
          </a:ln>
        </p:spPr>
      </p:sp>
      <p:sp>
        <p:nvSpPr>
          <p:cNvPr id="14" name="Shape 11"/>
          <p:cNvSpPr/>
          <p:nvPr/>
        </p:nvSpPr>
        <p:spPr>
          <a:xfrm>
            <a:off x="2222640" y="4991040"/>
            <a:ext cx="3352680" cy="942120"/>
          </a:xfrm>
          <a:prstGeom prst="rect">
            <a:avLst/>
          </a:prstGeom>
          <a:solidFill>
            <a:srgbClr val="FFFFFF"/>
          </a:solidFill>
          <a:ln w="12700">
            <a:solidFill>
              <a:srgbClr val="242424"/>
            </a:solidFill>
            <a:prstDash val="solid"/>
          </a:ln>
        </p:spPr>
      </p:sp>
      <p:sp>
        <p:nvSpPr>
          <p:cNvPr id="15" name="Shape 12"/>
          <p:cNvSpPr/>
          <p:nvPr/>
        </p:nvSpPr>
        <p:spPr>
          <a:xfrm>
            <a:off x="5575320" y="4991040"/>
            <a:ext cx="1450440" cy="942120"/>
          </a:xfrm>
          <a:prstGeom prst="rect">
            <a:avLst/>
          </a:prstGeom>
          <a:solidFill>
            <a:srgbClr val="FFFFFF"/>
          </a:solidFill>
          <a:ln w="12700">
            <a:solidFill>
              <a:srgbClr val="242424"/>
            </a:solidFill>
            <a:prstDash val="solid"/>
          </a:ln>
        </p:spPr>
      </p:sp>
      <p:sp>
        <p:nvSpPr>
          <p:cNvPr id="16" name="Shape 13"/>
          <p:cNvSpPr/>
          <p:nvPr/>
        </p:nvSpPr>
        <p:spPr>
          <a:xfrm>
            <a:off x="692460" y="5211540"/>
            <a:ext cx="1411560" cy="501120"/>
          </a:xfrm>
          <a:prstGeom prst="homePlate">
            <a:avLst/>
          </a:prstGeom>
          <a:solidFill>
            <a:srgbClr val="006FC0"/>
          </a:solidFill>
          <a:ln w="8890">
            <a:solidFill>
              <a:srgbClr val="242424"/>
            </a:solidFill>
            <a:prstDash val="solid"/>
          </a:ln>
        </p:spPr>
      </p:sp>
      <p:sp>
        <p:nvSpPr>
          <p:cNvPr id="17" name="Text 14"/>
          <p:cNvSpPr/>
          <p:nvPr/>
        </p:nvSpPr>
        <p:spPr>
          <a:xfrm>
            <a:off x="768060" y="532530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Signalement</a:t>
            </a:r>
            <a:endParaRPr lang="en-US" sz="1140" dirty="0"/>
          </a:p>
        </p:txBody>
      </p:sp>
      <p:sp>
        <p:nvSpPr>
          <p:cNvPr id="18" name="Text 15"/>
          <p:cNvSpPr/>
          <p:nvPr/>
        </p:nvSpPr>
        <p:spPr>
          <a:xfrm>
            <a:off x="2301840" y="5030640"/>
            <a:ext cx="3194280" cy="862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Signalements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1100" dirty="0"/>
          </a:p>
        </p:txBody>
      </p:sp>
      <p:sp>
        <p:nvSpPr>
          <p:cNvPr id="19" name="Text 16"/>
          <p:cNvSpPr/>
          <p:nvPr/>
        </p:nvSpPr>
        <p:spPr>
          <a:xfrm>
            <a:off x="5640120" y="5030640"/>
            <a:ext cx="1320840" cy="8629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20" name="Shape 17"/>
          <p:cNvSpPr/>
          <p:nvPr/>
        </p:nvSpPr>
        <p:spPr>
          <a:xfrm>
            <a:off x="541080" y="6173640"/>
            <a:ext cx="1681560" cy="806760"/>
          </a:xfrm>
          <a:prstGeom prst="rect">
            <a:avLst/>
          </a:prstGeom>
          <a:solidFill>
            <a:srgbClr val="FFFFFF"/>
          </a:solidFill>
          <a:ln w="12700">
            <a:solidFill>
              <a:srgbClr val="242424"/>
            </a:solidFill>
            <a:prstDash val="solid"/>
          </a:ln>
        </p:spPr>
      </p:sp>
      <p:sp>
        <p:nvSpPr>
          <p:cNvPr id="21" name="Shape 18"/>
          <p:cNvSpPr/>
          <p:nvPr/>
        </p:nvSpPr>
        <p:spPr>
          <a:xfrm>
            <a:off x="2222640" y="6173640"/>
            <a:ext cx="3352680" cy="806760"/>
          </a:xfrm>
          <a:prstGeom prst="rect">
            <a:avLst/>
          </a:prstGeom>
          <a:solidFill>
            <a:srgbClr val="FFFFFF"/>
          </a:solidFill>
          <a:ln w="12700">
            <a:solidFill>
              <a:srgbClr val="242424"/>
            </a:solidFill>
            <a:prstDash val="solid"/>
          </a:ln>
        </p:spPr>
      </p:sp>
      <p:sp>
        <p:nvSpPr>
          <p:cNvPr id="22" name="Shape 19"/>
          <p:cNvSpPr/>
          <p:nvPr/>
        </p:nvSpPr>
        <p:spPr>
          <a:xfrm>
            <a:off x="5575320" y="6173640"/>
            <a:ext cx="1450440" cy="806760"/>
          </a:xfrm>
          <a:prstGeom prst="rect">
            <a:avLst/>
          </a:prstGeom>
          <a:solidFill>
            <a:srgbClr val="FFFFFF"/>
          </a:solidFill>
          <a:ln w="12700">
            <a:solidFill>
              <a:srgbClr val="242424"/>
            </a:solidFill>
            <a:prstDash val="solid"/>
          </a:ln>
        </p:spPr>
      </p:sp>
      <p:sp>
        <p:nvSpPr>
          <p:cNvPr id="23" name="Shape 20"/>
          <p:cNvSpPr/>
          <p:nvPr/>
        </p:nvSpPr>
        <p:spPr>
          <a:xfrm>
            <a:off x="692460" y="6326460"/>
            <a:ext cx="1411560" cy="501120"/>
          </a:xfrm>
          <a:prstGeom prst="homePlate">
            <a:avLst/>
          </a:prstGeom>
          <a:solidFill>
            <a:srgbClr val="D02334"/>
          </a:solidFill>
          <a:ln w="8890">
            <a:solidFill>
              <a:srgbClr val="242424"/>
            </a:solidFill>
            <a:prstDash val="solid"/>
          </a:ln>
        </p:spPr>
      </p:sp>
      <p:sp>
        <p:nvSpPr>
          <p:cNvPr id="24" name="Text 21"/>
          <p:cNvSpPr/>
          <p:nvPr/>
        </p:nvSpPr>
        <p:spPr>
          <a:xfrm>
            <a:off x="768060" y="644022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1</a:t>
            </a:r>
            <a:endParaRPr lang="en-US" sz="1140" dirty="0"/>
          </a:p>
        </p:txBody>
      </p:sp>
      <p:sp>
        <p:nvSpPr>
          <p:cNvPr id="25" name="Text 22"/>
          <p:cNvSpPr/>
          <p:nvPr/>
        </p:nvSpPr>
        <p:spPr>
          <a:xfrm>
            <a:off x="2301840" y="6213240"/>
            <a:ext cx="319428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prioritaires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1100" dirty="0"/>
          </a:p>
        </p:txBody>
      </p:sp>
      <p:sp>
        <p:nvSpPr>
          <p:cNvPr id="26" name="Text 23"/>
          <p:cNvSpPr/>
          <p:nvPr/>
        </p:nvSpPr>
        <p:spPr>
          <a:xfrm>
            <a:off x="5640120" y="6213240"/>
            <a:ext cx="132084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Sous 2 ans</a:t>
            </a:r>
            <a:endParaRPr lang="en-US" sz="1100" dirty="0"/>
          </a:p>
        </p:txBody>
      </p:sp>
      <p:sp>
        <p:nvSpPr>
          <p:cNvPr id="27" name="Shape 24"/>
          <p:cNvSpPr/>
          <p:nvPr/>
        </p:nvSpPr>
        <p:spPr>
          <a:xfrm>
            <a:off x="541080" y="6980400"/>
            <a:ext cx="1681560" cy="735120"/>
          </a:xfrm>
          <a:prstGeom prst="rect">
            <a:avLst/>
          </a:prstGeom>
          <a:solidFill>
            <a:srgbClr val="FFFFFF"/>
          </a:solidFill>
          <a:ln w="12700">
            <a:solidFill>
              <a:srgbClr val="242424"/>
            </a:solidFill>
            <a:prstDash val="solid"/>
          </a:ln>
        </p:spPr>
      </p:sp>
      <p:sp>
        <p:nvSpPr>
          <p:cNvPr id="28" name="Shape 25"/>
          <p:cNvSpPr/>
          <p:nvPr/>
        </p:nvSpPr>
        <p:spPr>
          <a:xfrm>
            <a:off x="2222640" y="6980400"/>
            <a:ext cx="3352680" cy="735120"/>
          </a:xfrm>
          <a:prstGeom prst="rect">
            <a:avLst/>
          </a:prstGeom>
          <a:solidFill>
            <a:srgbClr val="FFFFFF"/>
          </a:solidFill>
          <a:ln w="12700">
            <a:solidFill>
              <a:srgbClr val="242424"/>
            </a:solidFill>
            <a:prstDash val="solid"/>
          </a:ln>
        </p:spPr>
      </p:sp>
      <p:sp>
        <p:nvSpPr>
          <p:cNvPr id="29" name="Shape 26"/>
          <p:cNvSpPr/>
          <p:nvPr/>
        </p:nvSpPr>
        <p:spPr>
          <a:xfrm>
            <a:off x="5575320" y="6980400"/>
            <a:ext cx="1450440" cy="735120"/>
          </a:xfrm>
          <a:prstGeom prst="rect">
            <a:avLst/>
          </a:prstGeom>
          <a:solidFill>
            <a:srgbClr val="FFFFFF"/>
          </a:solidFill>
          <a:ln w="12700">
            <a:solidFill>
              <a:srgbClr val="242424"/>
            </a:solidFill>
            <a:prstDash val="solid"/>
          </a:ln>
        </p:spPr>
      </p:sp>
      <p:sp>
        <p:nvSpPr>
          <p:cNvPr id="30" name="Shape 27"/>
          <p:cNvSpPr/>
          <p:nvPr/>
        </p:nvSpPr>
        <p:spPr>
          <a:xfrm>
            <a:off x="692460" y="7097400"/>
            <a:ext cx="1411560" cy="501120"/>
          </a:xfrm>
          <a:prstGeom prst="homePlate">
            <a:avLst/>
          </a:prstGeom>
          <a:solidFill>
            <a:srgbClr val="E96620"/>
          </a:solidFill>
          <a:ln w="8890">
            <a:solidFill>
              <a:srgbClr val="242424"/>
            </a:solidFill>
            <a:prstDash val="solid"/>
          </a:ln>
        </p:spPr>
      </p:sp>
      <p:sp>
        <p:nvSpPr>
          <p:cNvPr id="31" name="Text 28"/>
          <p:cNvSpPr/>
          <p:nvPr/>
        </p:nvSpPr>
        <p:spPr>
          <a:xfrm>
            <a:off x="768060" y="72111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2</a:t>
            </a:r>
            <a:endParaRPr lang="en-US" sz="1140" dirty="0"/>
          </a:p>
        </p:txBody>
      </p:sp>
      <p:sp>
        <p:nvSpPr>
          <p:cNvPr id="32" name="Text 29"/>
          <p:cNvSpPr/>
          <p:nvPr/>
        </p:nvSpPr>
        <p:spPr>
          <a:xfrm>
            <a:off x="2301840" y="7020000"/>
            <a:ext cx="319428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moyen terme</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1100" dirty="0"/>
          </a:p>
        </p:txBody>
      </p:sp>
      <p:sp>
        <p:nvSpPr>
          <p:cNvPr id="33" name="Text 30"/>
          <p:cNvSpPr/>
          <p:nvPr/>
        </p:nvSpPr>
        <p:spPr>
          <a:xfrm>
            <a:off x="5640120" y="7020000"/>
            <a:ext cx="132084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3 et 5 ans</a:t>
            </a:r>
            <a:endParaRPr lang="en-US" sz="1100" dirty="0"/>
          </a:p>
        </p:txBody>
      </p:sp>
      <p:sp>
        <p:nvSpPr>
          <p:cNvPr id="34" name="Shape 31"/>
          <p:cNvSpPr/>
          <p:nvPr/>
        </p:nvSpPr>
        <p:spPr>
          <a:xfrm>
            <a:off x="541080" y="7715520"/>
            <a:ext cx="1681560" cy="785880"/>
          </a:xfrm>
          <a:prstGeom prst="rect">
            <a:avLst/>
          </a:prstGeom>
          <a:solidFill>
            <a:srgbClr val="FFFFFF"/>
          </a:solidFill>
          <a:ln w="12700">
            <a:solidFill>
              <a:srgbClr val="242424"/>
            </a:solidFill>
            <a:prstDash val="solid"/>
          </a:ln>
        </p:spPr>
      </p:sp>
      <p:sp>
        <p:nvSpPr>
          <p:cNvPr id="35" name="Shape 32"/>
          <p:cNvSpPr/>
          <p:nvPr/>
        </p:nvSpPr>
        <p:spPr>
          <a:xfrm>
            <a:off x="2222640" y="7715520"/>
            <a:ext cx="3352680" cy="785880"/>
          </a:xfrm>
          <a:prstGeom prst="rect">
            <a:avLst/>
          </a:prstGeom>
          <a:solidFill>
            <a:srgbClr val="FFFFFF"/>
          </a:solidFill>
          <a:ln w="12700">
            <a:solidFill>
              <a:srgbClr val="242424"/>
            </a:solidFill>
            <a:prstDash val="solid"/>
          </a:ln>
        </p:spPr>
      </p:sp>
      <p:sp>
        <p:nvSpPr>
          <p:cNvPr id="36" name="Shape 33"/>
          <p:cNvSpPr/>
          <p:nvPr/>
        </p:nvSpPr>
        <p:spPr>
          <a:xfrm>
            <a:off x="5575320" y="7715520"/>
            <a:ext cx="1450440" cy="785880"/>
          </a:xfrm>
          <a:prstGeom prst="rect">
            <a:avLst/>
          </a:prstGeom>
          <a:solidFill>
            <a:srgbClr val="FFFFFF"/>
          </a:solidFill>
          <a:ln w="12700">
            <a:solidFill>
              <a:srgbClr val="242424"/>
            </a:solidFill>
            <a:prstDash val="solid"/>
          </a:ln>
        </p:spPr>
      </p:sp>
      <p:sp>
        <p:nvSpPr>
          <p:cNvPr id="37" name="Shape 34"/>
          <p:cNvSpPr/>
          <p:nvPr/>
        </p:nvSpPr>
        <p:spPr>
          <a:xfrm>
            <a:off x="692460" y="7857900"/>
            <a:ext cx="1411560" cy="501120"/>
          </a:xfrm>
          <a:prstGeom prst="homePlate">
            <a:avLst/>
          </a:prstGeom>
          <a:solidFill>
            <a:srgbClr val="04CC7E"/>
          </a:solidFill>
          <a:ln w="8890">
            <a:solidFill>
              <a:srgbClr val="242424"/>
            </a:solidFill>
            <a:prstDash val="solid"/>
          </a:ln>
        </p:spPr>
      </p:sp>
      <p:sp>
        <p:nvSpPr>
          <p:cNvPr id="38" name="Text 35"/>
          <p:cNvSpPr/>
          <p:nvPr/>
        </p:nvSpPr>
        <p:spPr>
          <a:xfrm>
            <a:off x="768060" y="79716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3</a:t>
            </a:r>
            <a:endParaRPr lang="en-US" sz="1140" dirty="0"/>
          </a:p>
        </p:txBody>
      </p:sp>
      <p:sp>
        <p:nvSpPr>
          <p:cNvPr id="39" name="Text 36"/>
          <p:cNvSpPr/>
          <p:nvPr/>
        </p:nvSpPr>
        <p:spPr>
          <a:xfrm>
            <a:off x="2301840" y="7755120"/>
            <a:ext cx="319428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d’esthétiques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1100" dirty="0"/>
          </a:p>
        </p:txBody>
      </p:sp>
      <p:sp>
        <p:nvSpPr>
          <p:cNvPr id="40" name="Text 37"/>
          <p:cNvSpPr/>
          <p:nvPr/>
        </p:nvSpPr>
        <p:spPr>
          <a:xfrm>
            <a:off x="5640120" y="7755120"/>
            <a:ext cx="132084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6 et 10 ans</a:t>
            </a:r>
            <a:endParaRPr lang="en-US" sz="1100" dirty="0"/>
          </a:p>
        </p:txBody>
      </p:sp>
      <p:sp>
        <p:nvSpPr>
          <p:cNvPr id="41" name="Shape 38"/>
          <p:cNvSpPr/>
          <p:nvPr/>
        </p:nvSpPr>
        <p:spPr>
          <a:xfrm>
            <a:off x="541080" y="8741880"/>
            <a:ext cx="1681560" cy="895320"/>
          </a:xfrm>
          <a:prstGeom prst="rect">
            <a:avLst/>
          </a:prstGeom>
          <a:solidFill>
            <a:srgbClr val="FFFFFF"/>
          </a:solidFill>
          <a:ln w="12700">
            <a:solidFill>
              <a:srgbClr val="242424"/>
            </a:solidFill>
            <a:prstDash val="solid"/>
          </a:ln>
        </p:spPr>
      </p:sp>
      <p:sp>
        <p:nvSpPr>
          <p:cNvPr id="42" name="Shape 39"/>
          <p:cNvSpPr/>
          <p:nvPr/>
        </p:nvSpPr>
        <p:spPr>
          <a:xfrm>
            <a:off x="2222640" y="8741880"/>
            <a:ext cx="3352680" cy="895320"/>
          </a:xfrm>
          <a:prstGeom prst="rect">
            <a:avLst/>
          </a:prstGeom>
          <a:solidFill>
            <a:srgbClr val="FFFFFF"/>
          </a:solidFill>
          <a:ln w="12700">
            <a:solidFill>
              <a:srgbClr val="242424"/>
            </a:solidFill>
            <a:prstDash val="solid"/>
          </a:ln>
        </p:spPr>
      </p:sp>
      <p:sp>
        <p:nvSpPr>
          <p:cNvPr id="43" name="Shape 40"/>
          <p:cNvSpPr/>
          <p:nvPr/>
        </p:nvSpPr>
        <p:spPr>
          <a:xfrm>
            <a:off x="5575320" y="8741880"/>
            <a:ext cx="1450440" cy="895320"/>
          </a:xfrm>
          <a:prstGeom prst="rect">
            <a:avLst/>
          </a:prstGeom>
          <a:solidFill>
            <a:srgbClr val="FFFFFF"/>
          </a:solidFill>
          <a:ln w="12700">
            <a:solidFill>
              <a:srgbClr val="242424"/>
            </a:solidFill>
            <a:prstDash val="solid"/>
          </a:ln>
        </p:spPr>
      </p:sp>
      <p:sp>
        <p:nvSpPr>
          <p:cNvPr id="44" name="Shape 41"/>
          <p:cNvSpPr/>
          <p:nvPr/>
        </p:nvSpPr>
        <p:spPr>
          <a:xfrm>
            <a:off x="692460" y="8938980"/>
            <a:ext cx="1411560" cy="501120"/>
          </a:xfrm>
          <a:prstGeom prst="homePlate">
            <a:avLst/>
          </a:prstGeom>
          <a:solidFill>
            <a:srgbClr val="4EA72E"/>
          </a:solidFill>
          <a:ln w="8890">
            <a:solidFill>
              <a:srgbClr val="242424"/>
            </a:solidFill>
            <a:prstDash val="solid"/>
          </a:ln>
        </p:spPr>
      </p:sp>
      <p:sp>
        <p:nvSpPr>
          <p:cNvPr id="45" name="Text 42"/>
          <p:cNvSpPr/>
          <p:nvPr/>
        </p:nvSpPr>
        <p:spPr>
          <a:xfrm>
            <a:off x="768060" y="905274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Travaux</a:t>
            </a:r>
            <a:endParaRPr lang="en-US" sz="1140" dirty="0"/>
          </a:p>
          <a:p>
            <a:pPr algn="ctr" indent="0" marL="0">
              <a:buNone/>
            </a:pPr>
            <a:r>
              <a:rPr lang="en-US" sz="1140" b="1" dirty="0">
                <a:solidFill>
                  <a:srgbClr val="FFFFFF"/>
                </a:solidFill>
                <a:latin typeface="Calibri" pitchFamily="34" charset="0"/>
                <a:ea typeface="Calibri" pitchFamily="34" charset="-122"/>
                <a:cs typeface="Calibri" pitchFamily="34" charset="-120"/>
              </a:rPr>
              <a:t>énergétiques</a:t>
            </a:r>
            <a:endParaRPr lang="en-US" sz="1140" dirty="0"/>
          </a:p>
        </p:txBody>
      </p:sp>
      <p:sp>
        <p:nvSpPr>
          <p:cNvPr id="46" name="Text 43"/>
          <p:cNvSpPr/>
          <p:nvPr/>
        </p:nvSpPr>
        <p:spPr>
          <a:xfrm>
            <a:off x="2301840" y="8781480"/>
            <a:ext cx="3194280" cy="8161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énergétiques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1100" dirty="0"/>
          </a:p>
        </p:txBody>
      </p:sp>
      <p:sp>
        <p:nvSpPr>
          <p:cNvPr id="47" name="Text 44"/>
          <p:cNvSpPr/>
          <p:nvPr/>
        </p:nvSpPr>
        <p:spPr>
          <a:xfrm>
            <a:off x="5640120" y="8781480"/>
            <a:ext cx="1320840" cy="8161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Selon la stratégie de</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rénovation retenue</a:t>
            </a:r>
            <a:endParaRPr lang="en-US" sz="1100" dirty="0"/>
          </a:p>
        </p:txBody>
      </p:sp>
      <p:sp>
        <p:nvSpPr>
          <p:cNvPr id="48" name="Text 4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9" name="Text 4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54C4C5"/>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Entretien</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Opérations d'entretien courant et de maintenance préventive nécessaires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au maintien en bon état des équipements et du bâtiment.</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54C4C5"/>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maintenance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maintenance.</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1">    </p:cNvPr>
          <p:cNvPicPr>
            <a:picLocks noChangeAspect="1"/>
          </p:cNvPicPr>
          <p:nvPr/>
        </p:nvPicPr>
        <p:blipFill>
          <a:blip r:embed="rId2"/>
          <a:stretch>
            <a:fillRect/>
          </a:stretch>
        </p:blipFill>
        <p:spPr>
          <a:xfrm>
            <a:off x="1420686" y="4914900"/>
            <a:ext cx="4718304" cy="3538728"/>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D5223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1</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1 (impact fort) – Travaux à effectuer sous 2 ans (2027-2028)</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urgentes nécessaires à la sécurité des occupants, à la préservation du bâti</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ou à la continuité de service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D5223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41908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6035040"/>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1 visible sur la photographie. Observation 2 visible sur la photographie. Observation 3</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visible sur la photographie. Observation 4 visible sur la photographie. Observation 5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 visible sur la photographie. Observation 7 visible sur la photographie.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8 visible sur la photographie. Observation 9 visible sur la photographie. Observation</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10 visible sur la photographie. Observation 11 visible sur la photographie. Observation 12 visible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sur la photographie. Observation 13 visible sur la photographie. Observation 14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15 visible sur la photographie. Observation 16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17 visible sur la photographie. Observation 18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19 visible sur la photographie. Observation 20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21 visible sur la photographie. Observation 22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23 visible sur la photographie. Observation 24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25 visible sur la photographie. Observation 26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27 visible sur la photographie. Observation 28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29 visible sur la photographie. Observation 30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31 visible sur la photographie. Observation 32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33 visible sur la photographie. Observation 34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35 visible sur la photographie. Observation 36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37 visible sur la photographie. Observation 38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39 visible sur la photographie. Observation 40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41 visible sur la photographie. Observation 42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43 visible sur la photographie. Observation 44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45 visible sur la photographie. Observation 46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47 visible sur la photographie. Observation 48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49 visible sur la photographie. Observation 50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51 visible sur la photographie. Observation 52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53 visible sur la photographie. Observation 54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55 visible sur la photographie. Observation 56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57 visible sur la photographie. Observation 58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59 visible sur la photographie. Observation 60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61 visible sur la photographie. Observation 62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63 visible sur la photographie. Observation 64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65 visible sur la photographie. Observation 66 visible sur la</a:t>
            </a:r>
            <a:endParaRPr lang="en-US" sz="1050" dirty="0"/>
          </a:p>
        </p:txBody>
      </p:sp>
      <p:sp>
        <p:nvSpPr>
          <p:cNvPr id="20" name="Text 17"/>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1" name="Text 18"/>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12</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47320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(suite) :</a:t>
            </a:r>
            <a:endParaRPr lang="en-US" sz="1010" dirty="0"/>
          </a:p>
        </p:txBody>
      </p:sp>
      <p:sp>
        <p:nvSpPr>
          <p:cNvPr id="13" name="Text 10"/>
          <p:cNvSpPr/>
          <p:nvPr/>
        </p:nvSpPr>
        <p:spPr>
          <a:xfrm>
            <a:off x="585216" y="2075688"/>
            <a:ext cx="6389243" cy="4347972"/>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67 visible sur la photographie. Observation 68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69 visible sur la photographie. Observation 70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71 visible sur la photographie. Observation 72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73 visible sur la photographie. Observation 74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75 visible sur la photographie. Observation 76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77 visible sur la photographie. Observation 78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79 visible sur la photographie. Observation 80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81 visible sur la photographie. Observation 82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83 visible sur la photographie. Observation 84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85 visible sur la photographie. Observation 86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87 visible sur la photographie. Observation 88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89 visible sur la photographie. Observation 90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91 visible sur la photographie. Observation 92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93 visible sur la photographie. Observation 94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95 visible sur la photographie. Observation 96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97 visible sur la photographie. Observation 98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99 visible sur la photographie. Observation 100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101 visible sur la photographie. Observation 102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103 visible sur la photographie. Observation 104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105 visible sur la photographie. Observation 106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107 visible sur la photographie. Observation 108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109 visible sur la photographie. Observation 110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a:t>
            </a:r>
            <a:endParaRPr lang="en-US" sz="1050" dirty="0"/>
          </a:p>
        </p:txBody>
      </p:sp>
      <p:sp>
        <p:nvSpPr>
          <p:cNvPr id="14" name="Shape 11"/>
          <p:cNvSpPr/>
          <p:nvPr/>
        </p:nvSpPr>
        <p:spPr>
          <a:xfrm>
            <a:off x="512064" y="6524244"/>
            <a:ext cx="6535547" cy="608076"/>
          </a:xfrm>
          <a:prstGeom prst="rect">
            <a:avLst/>
          </a:prstGeom>
          <a:solidFill>
            <a:srgbClr val="FFFFFF"/>
          </a:solidFill>
          <a:ln w="8255">
            <a:solidFill>
              <a:srgbClr val="2B2B2B"/>
            </a:solidFill>
            <a:prstDash val="solid"/>
          </a:ln>
        </p:spPr>
      </p:sp>
      <p:sp>
        <p:nvSpPr>
          <p:cNvPr id="15" name="Text 12"/>
          <p:cNvSpPr/>
          <p:nvPr/>
        </p:nvSpPr>
        <p:spPr>
          <a:xfrm>
            <a:off x="585216" y="658825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16" name="Text 13"/>
          <p:cNvSpPr/>
          <p:nvPr/>
        </p:nvSpPr>
        <p:spPr>
          <a:xfrm>
            <a:off x="585216" y="6807708"/>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a:t>
            </a:r>
            <a:endParaRPr lang="en-US" sz="1050" dirty="0"/>
          </a:p>
        </p:txBody>
      </p:sp>
      <p:sp>
        <p:nvSpPr>
          <p:cNvPr id="17" name="Shape 14"/>
          <p:cNvSpPr/>
          <p:nvPr/>
        </p:nvSpPr>
        <p:spPr>
          <a:xfrm>
            <a:off x="512064" y="7132320"/>
            <a:ext cx="6535547" cy="768096"/>
          </a:xfrm>
          <a:prstGeom prst="rect">
            <a:avLst/>
          </a:prstGeom>
          <a:solidFill>
            <a:srgbClr val="FFFFFF"/>
          </a:solidFill>
          <a:ln w="8255">
            <a:solidFill>
              <a:srgbClr val="2B2B2B"/>
            </a:solidFill>
            <a:prstDash val="solid"/>
          </a:ln>
        </p:spPr>
      </p:sp>
      <p:sp>
        <p:nvSpPr>
          <p:cNvPr id="18" name="Text 15"/>
          <p:cNvSpPr/>
          <p:nvPr/>
        </p:nvSpPr>
        <p:spPr>
          <a:xfrm>
            <a:off x="585216" y="71871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19" name="Text 16"/>
          <p:cNvSpPr/>
          <p:nvPr/>
        </p:nvSpPr>
        <p:spPr>
          <a:xfrm>
            <a:off x="603504" y="7397496"/>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0" name="Text 17"/>
          <p:cNvSpPr/>
          <p:nvPr/>
        </p:nvSpPr>
        <p:spPr>
          <a:xfrm>
            <a:off x="603504" y="7635240"/>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1" name="Text 18"/>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2" name="Text 19"/>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13</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39319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13" name="Image 1" descr="Photographie du diagnostic n°2">    </p:cNvPr>
          <p:cNvPicPr>
            <a:picLocks noChangeAspect="1"/>
          </p:cNvPicPr>
          <p:nvPr/>
        </p:nvPicPr>
        <p:blipFill>
          <a:blip r:embed="rId2"/>
          <a:stretch>
            <a:fillRect/>
          </a:stretch>
        </p:blipFill>
        <p:spPr>
          <a:xfrm>
            <a:off x="1420686" y="2103120"/>
            <a:ext cx="4718304" cy="3538728"/>
          </a:xfrm>
          <a:prstGeom prst="rect">
            <a:avLst/>
          </a:prstGeom>
        </p:spPr>
      </p:pic>
      <p:sp>
        <p:nvSpPr>
          <p:cNvPr id="14" name="Text 10"/>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15" name="Text 11"/>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14</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confirm</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confirm.</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confirm.</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3">    </p:cNvPr>
          <p:cNvPicPr>
            <a:picLocks noChangeAspect="1"/>
          </p:cNvPicPr>
          <p:nvPr/>
        </p:nvPicPr>
        <p:blipFill>
          <a:blip r:embed="rId2"/>
          <a:stretch>
            <a:fillRect/>
          </a:stretch>
        </p:blipFill>
        <p:spPr>
          <a:xfrm>
            <a:off x="1420686" y="5500116"/>
            <a:ext cx="4718304" cy="3538728"/>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15</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14616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Commentaire documentaire long à conserver lors de l’assemblage du rapport complet. Précision 1 transmise par le syndic et à vérifier par l’ingénieur. Précision 2 transmise par le syndic et à vérifier par</a:t>
            </a:r>
            <a:endParaRPr lang="en-US" sz="1000" dirty="0"/>
          </a:p>
        </p:txBody>
      </p:sp>
      <p:sp>
        <p:nvSpPr>
          <p:cNvPr id="20" name="Shape 17"/>
          <p:cNvSpPr/>
          <p:nvPr/>
        </p:nvSpPr>
        <p:spPr>
          <a:xfrm>
            <a:off x="540000" y="4809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4849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4809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4849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4809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4849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 transmise par le syndic et à vérifier par l’ingénieur. Précision 4 transmise par le syndic et à vérifier par l’ingénieur. Précision 5 transmise par le syndic et à vérifier par</a:t>
            </a:r>
            <a:endParaRPr lang="en-US" sz="1000" dirty="0"/>
          </a:p>
        </p:txBody>
      </p:sp>
      <p:sp>
        <p:nvSpPr>
          <p:cNvPr id="26" name="Shape 23"/>
          <p:cNvSpPr/>
          <p:nvPr/>
        </p:nvSpPr>
        <p:spPr>
          <a:xfrm>
            <a:off x="540000" y="6271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6310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6271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6310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6271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6310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6 transmise par le syndic et à vérifier par l’ingénieur. Précision 7 transmise par le syndic et à vérifier par l’ingénieur. Précision 8 transmise par le syndic et à vérifier par</a:t>
            </a:r>
            <a:endParaRPr lang="en-US" sz="1000" dirty="0"/>
          </a:p>
        </p:txBody>
      </p:sp>
      <p:sp>
        <p:nvSpPr>
          <p:cNvPr id="32" name="Shape 29"/>
          <p:cNvSpPr/>
          <p:nvPr/>
        </p:nvSpPr>
        <p:spPr>
          <a:xfrm>
            <a:off x="540000" y="7732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7772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7732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7772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7732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7772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9 transmise par le syndic et à vérifier par l’ingénieur. Précision 10 transmise par le syndic et à vérifier par l’ingénieur. Précision 11 transmise par le syndic et à vérifier par</a:t>
            </a:r>
            <a:endParaRPr lang="en-US" sz="1000" dirty="0"/>
          </a:p>
        </p:txBody>
      </p:sp>
      <p:sp>
        <p:nvSpPr>
          <p:cNvPr id="38" name="Text 35"/>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39" name="Text 36"/>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12 transmise par le syndic et à vérifier par l’ingénieur. Précision 13 transmise par le syndic et à vérifier par l’ingénieur. Précision 14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15 transmise par le syndic et à vérifier par l’ingénieur. Précision 16 transmise par le syndic et à vérifier par l’ingénieur. Précision 17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18 transmise par le syndic et à vérifier par l’ingénieur. Précision 19 transmise par le syndic et à vérifier par l’ingénieur. Précision 20 transmise par le syndic et à vérifier par</a:t>
            </a:r>
            <a:endParaRPr lang="en-US" sz="1000" dirty="0"/>
          </a:p>
        </p:txBody>
      </p:sp>
      <p:sp>
        <p:nvSpPr>
          <p:cNvPr id="32" name="Shape 29"/>
          <p:cNvSpPr/>
          <p:nvPr/>
        </p:nvSpPr>
        <p:spPr>
          <a:xfrm>
            <a:off x="540000" y="6418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21 transmise par le syndic et à vérifier par l’ingénieur. Précision 22 transmise par le syndic et à vérifier par l’ingénieur. Précision 23 transmise par le syndic et à vérifier par</a:t>
            </a:r>
            <a:endParaRPr lang="en-US" sz="1000" dirty="0"/>
          </a:p>
        </p:txBody>
      </p:sp>
      <p:sp>
        <p:nvSpPr>
          <p:cNvPr id="38" name="Shape 35"/>
          <p:cNvSpPr/>
          <p:nvPr/>
        </p:nvSpPr>
        <p:spPr>
          <a:xfrm>
            <a:off x="540000" y="7880400"/>
            <a:ext cx="3492000" cy="1461600"/>
          </a:xfrm>
          <a:prstGeom prst="rect">
            <a:avLst/>
          </a:prstGeom>
          <a:solidFill>
            <a:srgbClr val="FFFFFF"/>
          </a:solidFill>
          <a:ln w="6985">
            <a:solidFill>
              <a:srgbClr val="202020"/>
            </a:solidFill>
            <a:prstDash val="solid"/>
          </a:ln>
        </p:spPr>
      </p:sp>
      <p:sp>
        <p:nvSpPr>
          <p:cNvPr id="39" name="Text 36"/>
          <p:cNvSpPr/>
          <p:nvPr/>
        </p:nvSpPr>
        <p:spPr>
          <a:xfrm>
            <a:off x="601200" y="7920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40" name="Shape 37"/>
          <p:cNvSpPr/>
          <p:nvPr/>
        </p:nvSpPr>
        <p:spPr>
          <a:xfrm>
            <a:off x="4032000" y="7880400"/>
            <a:ext cx="1152000" cy="1461600"/>
          </a:xfrm>
          <a:prstGeom prst="rect">
            <a:avLst/>
          </a:prstGeom>
          <a:solidFill>
            <a:srgbClr val="FFFFFF"/>
          </a:solidFill>
          <a:ln w="6985">
            <a:solidFill>
              <a:srgbClr val="202020"/>
            </a:solidFill>
            <a:prstDash val="solid"/>
          </a:ln>
        </p:spPr>
      </p:sp>
      <p:sp>
        <p:nvSpPr>
          <p:cNvPr id="41" name="Text 38"/>
          <p:cNvSpPr/>
          <p:nvPr/>
        </p:nvSpPr>
        <p:spPr>
          <a:xfrm>
            <a:off x="4093200" y="79200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42" name="Shape 39"/>
          <p:cNvSpPr/>
          <p:nvPr/>
        </p:nvSpPr>
        <p:spPr>
          <a:xfrm>
            <a:off x="5184000" y="7880400"/>
            <a:ext cx="1836000" cy="1461600"/>
          </a:xfrm>
          <a:prstGeom prst="rect">
            <a:avLst/>
          </a:prstGeom>
          <a:solidFill>
            <a:srgbClr val="FFFFFF"/>
          </a:solidFill>
          <a:ln w="6985">
            <a:solidFill>
              <a:srgbClr val="202020"/>
            </a:solidFill>
            <a:prstDash val="solid"/>
          </a:ln>
        </p:spPr>
      </p:sp>
      <p:sp>
        <p:nvSpPr>
          <p:cNvPr id="43" name="Text 40"/>
          <p:cNvSpPr/>
          <p:nvPr/>
        </p:nvSpPr>
        <p:spPr>
          <a:xfrm>
            <a:off x="5245200" y="79200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24 transmise par le syndic et à vérifier par l’ingénieur. Précision 25 transmise par le syndic et à vérifier par l’ingénieur. Précision 26 transmise par le syndic et à vérifier par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27 transmise par le syndic et à vérifier par l’ingénieur. Précision 28 transmise par le syndic et à vérifier par l’ingénieur. Précision 29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30 transmise par le syndic et à vérifier par l’ingénieur. Précision 31 transmise par le syndic et à vérifier par l’ingénieur. Précision 32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33 transmise par le syndic et à vérifier par l’ingénieur. Précision 34 transmise par le syndic et à vérifier par l’ingénieur. Précision 35 transmise par le syndic et à vérifier par</a:t>
            </a:r>
            <a:endParaRPr lang="en-US" sz="1000" dirty="0"/>
          </a:p>
        </p:txBody>
      </p:sp>
      <p:sp>
        <p:nvSpPr>
          <p:cNvPr id="32" name="Shape 29"/>
          <p:cNvSpPr/>
          <p:nvPr/>
        </p:nvSpPr>
        <p:spPr>
          <a:xfrm>
            <a:off x="540000" y="6418800"/>
            <a:ext cx="3492000" cy="9648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9648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8856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9648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8856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36 transmise par le syndic et à vérifier par l’ingénieur. Fin du commentaire documentaire à conserver.</a:t>
            </a:r>
            <a:endParaRPr lang="en-US" sz="1000" dirty="0"/>
          </a:p>
        </p:txBody>
      </p:sp>
      <p:sp>
        <p:nvSpPr>
          <p:cNvPr id="38" name="Shape 35"/>
          <p:cNvSpPr/>
          <p:nvPr/>
        </p:nvSpPr>
        <p:spPr>
          <a:xfrm>
            <a:off x="540000" y="73836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23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40" name="Shape 37"/>
          <p:cNvSpPr/>
          <p:nvPr/>
        </p:nvSpPr>
        <p:spPr>
          <a:xfrm>
            <a:off x="4032000" y="7383600"/>
            <a:ext cx="1152000" cy="964800"/>
          </a:xfrm>
          <a:prstGeom prst="rect">
            <a:avLst/>
          </a:prstGeom>
          <a:solidFill>
            <a:srgbClr val="00B55A"/>
          </a:solidFill>
          <a:ln w="6985">
            <a:solidFill>
              <a:srgbClr val="202020"/>
            </a:solidFill>
            <a:prstDash val="solid"/>
          </a:ln>
        </p:spPr>
      </p:sp>
      <p:sp>
        <p:nvSpPr>
          <p:cNvPr id="41" name="Text 38"/>
          <p:cNvSpPr/>
          <p:nvPr/>
        </p:nvSpPr>
        <p:spPr>
          <a:xfrm>
            <a:off x="4093200" y="7423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3836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232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484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880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46" name="Shape 43"/>
          <p:cNvSpPr/>
          <p:nvPr/>
        </p:nvSpPr>
        <p:spPr>
          <a:xfrm>
            <a:off x="4032000" y="8348400"/>
            <a:ext cx="1152000" cy="964800"/>
          </a:xfrm>
          <a:prstGeom prst="rect">
            <a:avLst/>
          </a:prstGeom>
          <a:solidFill>
            <a:srgbClr val="00B55A"/>
          </a:solidFill>
          <a:ln w="6985">
            <a:solidFill>
              <a:srgbClr val="202020"/>
            </a:solidFill>
            <a:prstDash val="solid"/>
          </a:ln>
        </p:spPr>
      </p:sp>
      <p:sp>
        <p:nvSpPr>
          <p:cNvPr id="47" name="Text 44"/>
          <p:cNvSpPr/>
          <p:nvPr/>
        </p:nvSpPr>
        <p:spPr>
          <a:xfrm>
            <a:off x="4093200" y="8388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8" name="Shape 45"/>
          <p:cNvSpPr/>
          <p:nvPr/>
        </p:nvSpPr>
        <p:spPr>
          <a:xfrm>
            <a:off x="5184000" y="83484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880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9648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22" name="Shape 19"/>
          <p:cNvSpPr/>
          <p:nvPr/>
        </p:nvSpPr>
        <p:spPr>
          <a:xfrm>
            <a:off x="4032000" y="3164400"/>
            <a:ext cx="1152000" cy="9648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129200"/>
            <a:ext cx="3492000" cy="964800"/>
          </a:xfrm>
          <a:prstGeom prst="rect">
            <a:avLst/>
          </a:prstGeom>
          <a:solidFill>
            <a:srgbClr val="FFFFFF"/>
          </a:solidFill>
          <a:ln w="6985">
            <a:solidFill>
              <a:srgbClr val="202020"/>
            </a:solidFill>
            <a:prstDash val="solid"/>
          </a:ln>
        </p:spPr>
      </p:sp>
      <p:sp>
        <p:nvSpPr>
          <p:cNvPr id="27" name="Text 24"/>
          <p:cNvSpPr/>
          <p:nvPr/>
        </p:nvSpPr>
        <p:spPr>
          <a:xfrm>
            <a:off x="601200" y="41688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28" name="Shape 25"/>
          <p:cNvSpPr/>
          <p:nvPr/>
        </p:nvSpPr>
        <p:spPr>
          <a:xfrm>
            <a:off x="4032000" y="4129200"/>
            <a:ext cx="1152000" cy="964800"/>
          </a:xfrm>
          <a:prstGeom prst="rect">
            <a:avLst/>
          </a:prstGeom>
          <a:solidFill>
            <a:srgbClr val="00B55A"/>
          </a:solidFill>
          <a:ln w="6985">
            <a:solidFill>
              <a:srgbClr val="202020"/>
            </a:solidFill>
            <a:prstDash val="solid"/>
          </a:ln>
        </p:spPr>
      </p:sp>
      <p:sp>
        <p:nvSpPr>
          <p:cNvPr id="29" name="Text 26"/>
          <p:cNvSpPr/>
          <p:nvPr/>
        </p:nvSpPr>
        <p:spPr>
          <a:xfrm>
            <a:off x="4093200" y="41688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1292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41688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00B55A"/>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00B55A"/>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sp>
        <p:nvSpPr>
          <p:cNvPr id="18"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19"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0" name="Shape 17"/>
          <p:cNvSpPr/>
          <p:nvPr/>
        </p:nvSpPr>
        <p:spPr>
          <a:xfrm>
            <a:off x="3780000" y="7092000"/>
            <a:ext cx="3240000" cy="2196000"/>
          </a:xfrm>
          <a:prstGeom prst="rect">
            <a:avLst/>
          </a:prstGeom>
          <a:solidFill>
            <a:srgbClr val="FFFFFF"/>
          </a:solidFill>
          <a:ln w="6985">
            <a:solidFill>
              <a:srgbClr val="202020"/>
            </a:solidFill>
            <a:prstDash val="solid"/>
          </a:ln>
        </p:spPr>
      </p:sp>
      <p:sp>
        <p:nvSpPr>
          <p:cNvPr id="21"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30</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D52234"/>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224000" y="2502000"/>
            <a:ext cx="720000" cy="5760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a:t>
            </a:r>
            <a:endParaRPr lang="en-US" sz="950" dirty="0"/>
          </a:p>
        </p:txBody>
      </p:sp>
      <p:sp>
        <p:nvSpPr>
          <p:cNvPr id="26" name="Shape 23"/>
          <p:cNvSpPr/>
          <p:nvPr/>
        </p:nvSpPr>
        <p:spPr>
          <a:xfrm>
            <a:off x="1944000" y="2502000"/>
            <a:ext cx="2160000" cy="5760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Intervention curative.</a:t>
            </a:r>
            <a:endParaRPr lang="en-US" sz="950" dirty="0"/>
          </a:p>
        </p:txBody>
      </p:sp>
      <p:sp>
        <p:nvSpPr>
          <p:cNvPr id="28" name="Shape 25"/>
          <p:cNvSpPr/>
          <p:nvPr/>
        </p:nvSpPr>
        <p:spPr>
          <a:xfrm>
            <a:off x="4104000" y="2502000"/>
            <a:ext cx="756000" cy="5760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1 250 €</a:t>
            </a:r>
            <a:endParaRPr lang="en-US" sz="950" dirty="0"/>
          </a:p>
        </p:txBody>
      </p:sp>
      <p:sp>
        <p:nvSpPr>
          <p:cNvPr id="30" name="Shape 27"/>
          <p:cNvSpPr/>
          <p:nvPr/>
        </p:nvSpPr>
        <p:spPr>
          <a:xfrm>
            <a:off x="4860000" y="2502000"/>
            <a:ext cx="720000" cy="5760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580000" y="2502000"/>
            <a:ext cx="720000" cy="5760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5760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1224000" y="3078000"/>
            <a:ext cx="3636000" cy="432000"/>
          </a:xfrm>
          <a:prstGeom prst="rect">
            <a:avLst/>
          </a:prstGeom>
          <a:solidFill>
            <a:srgbClr val="D9EAF7"/>
          </a:solidFill>
          <a:ln w="6985">
            <a:solidFill>
              <a:srgbClr val="202020"/>
            </a:solidFill>
            <a:prstDash val="solid"/>
          </a:ln>
        </p:spPr>
      </p:sp>
      <p:sp>
        <p:nvSpPr>
          <p:cNvPr id="37" name="Text 34"/>
          <p:cNvSpPr/>
          <p:nvPr/>
        </p:nvSpPr>
        <p:spPr>
          <a:xfrm>
            <a:off x="1285200" y="3117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38" name="Shape 35"/>
          <p:cNvSpPr/>
          <p:nvPr/>
        </p:nvSpPr>
        <p:spPr>
          <a:xfrm>
            <a:off x="4860000" y="3078000"/>
            <a:ext cx="720000" cy="432000"/>
          </a:xfrm>
          <a:prstGeom prst="rect">
            <a:avLst/>
          </a:prstGeom>
          <a:solidFill>
            <a:srgbClr val="D9EAF7"/>
          </a:solidFill>
          <a:ln w="6985">
            <a:solidFill>
              <a:srgbClr val="202020"/>
            </a:solidFill>
            <a:prstDash val="solid"/>
          </a:ln>
        </p:spPr>
      </p:sp>
      <p:sp>
        <p:nvSpPr>
          <p:cNvPr id="39" name="Text 36"/>
          <p:cNvSpPr/>
          <p:nvPr/>
        </p:nvSpPr>
        <p:spPr>
          <a:xfrm>
            <a:off x="4921200" y="3117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40" name="Shape 37"/>
          <p:cNvSpPr/>
          <p:nvPr/>
        </p:nvSpPr>
        <p:spPr>
          <a:xfrm>
            <a:off x="5580000" y="3078000"/>
            <a:ext cx="720000" cy="432000"/>
          </a:xfrm>
          <a:prstGeom prst="rect">
            <a:avLst/>
          </a:prstGeom>
          <a:solidFill>
            <a:srgbClr val="D9EAF7"/>
          </a:solidFill>
          <a:ln w="6985">
            <a:solidFill>
              <a:srgbClr val="202020"/>
            </a:solidFill>
            <a:prstDash val="solid"/>
          </a:ln>
        </p:spPr>
      </p:sp>
      <p:sp>
        <p:nvSpPr>
          <p:cNvPr id="41" name="Text 38"/>
          <p:cNvSpPr/>
          <p:nvPr/>
        </p:nvSpPr>
        <p:spPr>
          <a:xfrm>
            <a:off x="5641200" y="311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42" name="Shape 39"/>
          <p:cNvSpPr/>
          <p:nvPr/>
        </p:nvSpPr>
        <p:spPr>
          <a:xfrm>
            <a:off x="6300000" y="3078000"/>
            <a:ext cx="720000" cy="432000"/>
          </a:xfrm>
          <a:prstGeom prst="rect">
            <a:avLst/>
          </a:prstGeom>
          <a:solidFill>
            <a:srgbClr val="D9EAF7"/>
          </a:solidFill>
          <a:ln w="6985">
            <a:solidFill>
              <a:srgbClr val="202020"/>
            </a:solidFill>
            <a:prstDash val="solid"/>
          </a:ln>
        </p:spPr>
      </p:sp>
      <p:sp>
        <p:nvSpPr>
          <p:cNvPr id="43" name="Text 40"/>
          <p:cNvSpPr/>
          <p:nvPr/>
        </p:nvSpPr>
        <p:spPr>
          <a:xfrm>
            <a:off x="6361200" y="311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44" name="Shape 41"/>
          <p:cNvSpPr/>
          <p:nvPr/>
        </p:nvSpPr>
        <p:spPr>
          <a:xfrm>
            <a:off x="1224000" y="3510000"/>
            <a:ext cx="3636000" cy="432000"/>
          </a:xfrm>
          <a:prstGeom prst="rect">
            <a:avLst/>
          </a:prstGeom>
          <a:solidFill>
            <a:srgbClr val="D9EAF7"/>
          </a:solidFill>
          <a:ln w="6985">
            <a:solidFill>
              <a:srgbClr val="202020"/>
            </a:solidFill>
            <a:prstDash val="solid"/>
          </a:ln>
        </p:spPr>
      </p:sp>
      <p:sp>
        <p:nvSpPr>
          <p:cNvPr id="45" name="Text 42"/>
          <p:cNvSpPr/>
          <p:nvPr/>
        </p:nvSpPr>
        <p:spPr>
          <a:xfrm>
            <a:off x="1285200" y="354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46" name="Shape 43"/>
          <p:cNvSpPr/>
          <p:nvPr/>
        </p:nvSpPr>
        <p:spPr>
          <a:xfrm>
            <a:off x="4860000" y="3510000"/>
            <a:ext cx="720000" cy="432000"/>
          </a:xfrm>
          <a:prstGeom prst="rect">
            <a:avLst/>
          </a:prstGeom>
          <a:solidFill>
            <a:srgbClr val="D9EAF7"/>
          </a:solidFill>
          <a:ln w="6985">
            <a:solidFill>
              <a:srgbClr val="202020"/>
            </a:solidFill>
            <a:prstDash val="solid"/>
          </a:ln>
        </p:spPr>
      </p:sp>
      <p:sp>
        <p:nvSpPr>
          <p:cNvPr id="47" name="Text 44"/>
          <p:cNvSpPr/>
          <p:nvPr/>
        </p:nvSpPr>
        <p:spPr>
          <a:xfrm>
            <a:off x="4921200" y="354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48" name="Shape 45"/>
          <p:cNvSpPr/>
          <p:nvPr/>
        </p:nvSpPr>
        <p:spPr>
          <a:xfrm>
            <a:off x="5580000" y="3510000"/>
            <a:ext cx="720000" cy="432000"/>
          </a:xfrm>
          <a:prstGeom prst="rect">
            <a:avLst/>
          </a:prstGeom>
          <a:solidFill>
            <a:srgbClr val="D9EAF7"/>
          </a:solidFill>
          <a:ln w="6985">
            <a:solidFill>
              <a:srgbClr val="202020"/>
            </a:solidFill>
            <a:prstDash val="solid"/>
          </a:ln>
        </p:spPr>
      </p:sp>
      <p:sp>
        <p:nvSpPr>
          <p:cNvPr id="49" name="Text 46"/>
          <p:cNvSpPr/>
          <p:nvPr/>
        </p:nvSpPr>
        <p:spPr>
          <a:xfrm>
            <a:off x="5641200" y="354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50" name="Shape 47"/>
          <p:cNvSpPr/>
          <p:nvPr/>
        </p:nvSpPr>
        <p:spPr>
          <a:xfrm>
            <a:off x="6300000" y="3510000"/>
            <a:ext cx="720000" cy="432000"/>
          </a:xfrm>
          <a:prstGeom prst="rect">
            <a:avLst/>
          </a:prstGeom>
          <a:solidFill>
            <a:srgbClr val="D9EAF7"/>
          </a:solidFill>
          <a:ln w="6985">
            <a:solidFill>
              <a:srgbClr val="202020"/>
            </a:solidFill>
            <a:prstDash val="solid"/>
          </a:ln>
        </p:spPr>
      </p:sp>
      <p:sp>
        <p:nvSpPr>
          <p:cNvPr id="51" name="Text 48"/>
          <p:cNvSpPr/>
          <p:nvPr/>
        </p:nvSpPr>
        <p:spPr>
          <a:xfrm>
            <a:off x="6361200" y="354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52" name="Shape 49"/>
          <p:cNvSpPr/>
          <p:nvPr/>
        </p:nvSpPr>
        <p:spPr>
          <a:xfrm>
            <a:off x="1224000" y="3942000"/>
            <a:ext cx="3636000" cy="432000"/>
          </a:xfrm>
          <a:prstGeom prst="rect">
            <a:avLst/>
          </a:prstGeom>
          <a:solidFill>
            <a:srgbClr val="D9EAF7"/>
          </a:solidFill>
          <a:ln w="6985">
            <a:solidFill>
              <a:srgbClr val="202020"/>
            </a:solidFill>
            <a:prstDash val="solid"/>
          </a:ln>
        </p:spPr>
      </p:sp>
      <p:sp>
        <p:nvSpPr>
          <p:cNvPr id="53" name="Text 50"/>
          <p:cNvSpPr/>
          <p:nvPr/>
        </p:nvSpPr>
        <p:spPr>
          <a:xfrm>
            <a:off x="1285200" y="3981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54" name="Shape 51"/>
          <p:cNvSpPr/>
          <p:nvPr/>
        </p:nvSpPr>
        <p:spPr>
          <a:xfrm>
            <a:off x="4860000" y="3942000"/>
            <a:ext cx="720000" cy="432000"/>
          </a:xfrm>
          <a:prstGeom prst="rect">
            <a:avLst/>
          </a:prstGeom>
          <a:solidFill>
            <a:srgbClr val="D9EAF7"/>
          </a:solidFill>
          <a:ln w="6985">
            <a:solidFill>
              <a:srgbClr val="202020"/>
            </a:solidFill>
            <a:prstDash val="solid"/>
          </a:ln>
        </p:spPr>
      </p:sp>
      <p:sp>
        <p:nvSpPr>
          <p:cNvPr id="55" name="Text 52"/>
          <p:cNvSpPr/>
          <p:nvPr/>
        </p:nvSpPr>
        <p:spPr>
          <a:xfrm>
            <a:off x="4921200" y="3981600"/>
            <a:ext cx="597600" cy="352800"/>
          </a:xfrm>
          <a:prstGeom prst="rect">
            <a:avLst/>
          </a:prstGeom>
          <a:noFill/>
          <a:ln/>
        </p:spPr>
        <p:txBody>
          <a:bodyPr wrap="square" lIns="0" tIns="0" rIns="0" bIns="0" rtlCol="0" anchor="ctr"/>
          <a:lstStyle/>
          <a:p>
            <a:pPr algn="ctr" indent="0" marL="0">
              <a:buNone/>
            </a:pPr>
            <a:endParaRPr lang="en-US" sz="900" dirty="0"/>
          </a:p>
        </p:txBody>
      </p:sp>
      <p:sp>
        <p:nvSpPr>
          <p:cNvPr id="56" name="Shape 53"/>
          <p:cNvSpPr/>
          <p:nvPr/>
        </p:nvSpPr>
        <p:spPr>
          <a:xfrm>
            <a:off x="5580000" y="3942000"/>
            <a:ext cx="720000" cy="432000"/>
          </a:xfrm>
          <a:prstGeom prst="rect">
            <a:avLst/>
          </a:prstGeom>
          <a:solidFill>
            <a:srgbClr val="D9EAF7"/>
          </a:solidFill>
          <a:ln w="6985">
            <a:solidFill>
              <a:srgbClr val="202020"/>
            </a:solidFill>
            <a:prstDash val="solid"/>
          </a:ln>
        </p:spPr>
      </p:sp>
      <p:sp>
        <p:nvSpPr>
          <p:cNvPr id="57" name="Text 54"/>
          <p:cNvSpPr/>
          <p:nvPr/>
        </p:nvSpPr>
        <p:spPr>
          <a:xfrm>
            <a:off x="5641200" y="3981600"/>
            <a:ext cx="597600" cy="352800"/>
          </a:xfrm>
          <a:prstGeom prst="rect">
            <a:avLst/>
          </a:prstGeom>
          <a:noFill/>
          <a:ln/>
        </p:spPr>
        <p:txBody>
          <a:bodyPr wrap="square" lIns="0" tIns="0" rIns="0" bIns="0" rtlCol="0" anchor="ctr"/>
          <a:lstStyle/>
          <a:p>
            <a:pPr algn="ctr" indent="0" marL="0">
              <a:buNone/>
            </a:pPr>
            <a:endParaRPr lang="en-US" sz="900" dirty="0"/>
          </a:p>
        </p:txBody>
      </p:sp>
      <p:sp>
        <p:nvSpPr>
          <p:cNvPr id="58" name="Shape 55"/>
          <p:cNvSpPr/>
          <p:nvPr/>
        </p:nvSpPr>
        <p:spPr>
          <a:xfrm>
            <a:off x="6300000" y="3942000"/>
            <a:ext cx="720000" cy="432000"/>
          </a:xfrm>
          <a:prstGeom prst="rect">
            <a:avLst/>
          </a:prstGeom>
          <a:solidFill>
            <a:srgbClr val="D9EAF7"/>
          </a:solidFill>
          <a:ln w="6985">
            <a:solidFill>
              <a:srgbClr val="202020"/>
            </a:solidFill>
            <a:prstDash val="solid"/>
          </a:ln>
        </p:spPr>
      </p:sp>
      <p:sp>
        <p:nvSpPr>
          <p:cNvPr id="59" name="Text 56"/>
          <p:cNvSpPr/>
          <p:nvPr/>
        </p:nvSpPr>
        <p:spPr>
          <a:xfrm>
            <a:off x="6361200" y="3981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60" name="Shape 57"/>
          <p:cNvSpPr/>
          <p:nvPr/>
        </p:nvSpPr>
        <p:spPr>
          <a:xfrm>
            <a:off x="1224000" y="4374000"/>
            <a:ext cx="3636000" cy="396000"/>
          </a:xfrm>
          <a:prstGeom prst="rect">
            <a:avLst/>
          </a:prstGeom>
          <a:solidFill>
            <a:srgbClr val="D9EAF7"/>
          </a:solidFill>
          <a:ln w="6985">
            <a:solidFill>
              <a:srgbClr val="202020"/>
            </a:solidFill>
            <a:prstDash val="solid"/>
          </a:ln>
        </p:spPr>
      </p:sp>
      <p:sp>
        <p:nvSpPr>
          <p:cNvPr id="61" name="Text 58"/>
          <p:cNvSpPr/>
          <p:nvPr/>
        </p:nvSpPr>
        <p:spPr>
          <a:xfrm>
            <a:off x="1285200" y="4413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62" name="Shape 59"/>
          <p:cNvSpPr/>
          <p:nvPr/>
        </p:nvSpPr>
        <p:spPr>
          <a:xfrm>
            <a:off x="4860000" y="4374000"/>
            <a:ext cx="2160000" cy="396000"/>
          </a:xfrm>
          <a:prstGeom prst="rect">
            <a:avLst/>
          </a:prstGeom>
          <a:solidFill>
            <a:srgbClr val="D9EAF7"/>
          </a:solidFill>
          <a:ln w="6985">
            <a:solidFill>
              <a:srgbClr val="202020"/>
            </a:solidFill>
            <a:prstDash val="solid"/>
          </a:ln>
        </p:spPr>
      </p:sp>
      <p:sp>
        <p:nvSpPr>
          <p:cNvPr id="63" name="Text 60"/>
          <p:cNvSpPr/>
          <p:nvPr/>
        </p:nvSpPr>
        <p:spPr>
          <a:xfrm>
            <a:off x="4921200" y="4413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64" name="Text 61"/>
          <p:cNvSpPr/>
          <p:nvPr/>
        </p:nvSpPr>
        <p:spPr>
          <a:xfrm>
            <a:off x="540000" y="4842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L’analyse réalisée a conduit à l’identification de 1 fiches curatives, réparties selon différents niveaux de priorité. Parmi celles-ci, 1 curatifs de niveau 1, représentant 100 % du total des actions préconisées, concernent des interventions à engager à court terme afin de traiter les désordres les plus sensibles ou d’éviter une dégradation accélérée des ouvrages et équipements.</a:t>
            </a:r>
            <a:endParaRPr lang="en-US" sz="1000" dirty="0"/>
          </a:p>
        </p:txBody>
      </p:sp>
      <p:sp>
        <p:nvSpPr>
          <p:cNvPr id="10" name="Text 7"/>
          <p:cNvSpPr/>
          <p:nvPr/>
        </p:nvSpPr>
        <p:spPr>
          <a:xfrm>
            <a:off x="648000" y="3250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1000" dirty="0"/>
          </a:p>
        </p:txBody>
      </p:sp>
      <p:sp>
        <p:nvSpPr>
          <p:cNvPr id="11" name="Text 8"/>
          <p:cNvSpPr/>
          <p:nvPr/>
        </p:nvSpPr>
        <p:spPr>
          <a:xfrm>
            <a:off x="648000" y="3920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Enfin, 0 curatifs de niveau 3, représentant 0 % des préconisations, correspondent principalement à des travaux d’entretien, d’amélioration ou de renouvellement à plus long terme destinés à préserver durablement les performances et l’aspect général de l’immeuble.</a:t>
            </a:r>
            <a:endParaRPr lang="en-US" sz="1000" dirty="0"/>
          </a:p>
        </p:txBody>
      </p:sp>
      <p:sp>
        <p:nvSpPr>
          <p:cNvPr id="12" name="Text 9"/>
          <p:cNvSpPr/>
          <p:nvPr/>
        </p:nvSpPr>
        <p:spPr>
          <a:xfrm>
            <a:off x="648000" y="45900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3" name="Text 10"/>
          <p:cNvSpPr/>
          <p:nvPr/>
        </p:nvSpPr>
        <p:spPr>
          <a:xfrm>
            <a:off x="648000" y="55908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4" name="Text 11"/>
          <p:cNvSpPr/>
          <p:nvPr/>
        </p:nvSpPr>
        <p:spPr>
          <a:xfrm>
            <a:off x="648000" y="659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5" name="Text 12"/>
          <p:cNvSpPr/>
          <p:nvPr/>
        </p:nvSpPr>
        <p:spPr>
          <a:xfrm>
            <a:off x="648000" y="7426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endParaRPr lang="en-US" sz="77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endParaRPr lang="en-US" sz="77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endParaRPr lang="en-US" sz="770" dirty="0"/>
          </a:p>
        </p:txBody>
      </p:sp>
      <p:sp>
        <p:nvSpPr>
          <p:cNvPr id="64" name="Shape 60"/>
          <p:cNvSpPr/>
          <p:nvPr/>
        </p:nvSpPr>
        <p:spPr>
          <a:xfrm>
            <a:off x="2415600" y="7063200"/>
            <a:ext cx="115200" cy="115200"/>
          </a:xfrm>
          <a:prstGeom prst="ellipse">
            <a:avLst/>
          </a:prstGeom>
          <a:solidFill>
            <a:srgbClr val="FFFFFF"/>
          </a:solidFill>
          <a:ln w="13970">
            <a:solidFill>
              <a:srgbClr val="FFC700"/>
            </a:solidFill>
            <a:prstDash val="solid"/>
          </a:ln>
        </p:spPr>
      </p:sp>
      <p:sp>
        <p:nvSpPr>
          <p:cNvPr id="65" name="Text 61"/>
          <p:cNvSpPr/>
          <p:nvPr/>
        </p:nvSpPr>
        <p:spPr>
          <a:xfrm>
            <a:off x="2428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66" name="Shape 62"/>
          <p:cNvSpPr/>
          <p:nvPr/>
        </p:nvSpPr>
        <p:spPr>
          <a:xfrm>
            <a:off x="3387600" y="7063200"/>
            <a:ext cx="115200" cy="115200"/>
          </a:xfrm>
          <a:prstGeom prst="ellipse">
            <a:avLst/>
          </a:prstGeom>
          <a:solidFill>
            <a:srgbClr val="FFFFFF"/>
          </a:solidFill>
          <a:ln w="13970">
            <a:solidFill>
              <a:srgbClr val="00B55A"/>
            </a:solidFill>
            <a:prstDash val="solid"/>
          </a:ln>
        </p:spPr>
      </p:sp>
      <p:sp>
        <p:nvSpPr>
          <p:cNvPr id="67" name="Text 63"/>
          <p:cNvSpPr/>
          <p:nvPr/>
        </p:nvSpPr>
        <p:spPr>
          <a:xfrm>
            <a:off x="3400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68" name="Shape 64"/>
          <p:cNvSpPr/>
          <p:nvPr/>
        </p:nvSpPr>
        <p:spPr>
          <a:xfrm>
            <a:off x="4431600" y="7063200"/>
            <a:ext cx="115200" cy="115200"/>
          </a:xfrm>
          <a:prstGeom prst="ellipse">
            <a:avLst/>
          </a:prstGeom>
          <a:solidFill>
            <a:srgbClr val="FFFFFF"/>
          </a:solidFill>
          <a:ln w="13970">
            <a:solidFill>
              <a:srgbClr val="2442F5"/>
            </a:solidFill>
            <a:prstDash val="solid"/>
          </a:ln>
        </p:spPr>
      </p:sp>
      <p:sp>
        <p:nvSpPr>
          <p:cNvPr id="69" name="Text 65"/>
          <p:cNvSpPr/>
          <p:nvPr/>
        </p:nvSpPr>
        <p:spPr>
          <a:xfrm>
            <a:off x="4444200" y="7072200"/>
            <a:ext cx="90000" cy="90000"/>
          </a:xfrm>
          <a:prstGeom prst="rect">
            <a:avLst/>
          </a:prstGeom>
          <a:noFill/>
          <a:ln/>
        </p:spPr>
        <p:txBody>
          <a:bodyPr wrap="square" lIns="0" tIns="0" rIns="0" bIns="0" rtlCol="0" anchor="ctr"/>
          <a:lstStyle/>
          <a:p>
            <a:pPr algn="ctr" indent="0" marL="0">
              <a:buNone/>
            </a:pPr>
            <a:r>
              <a:rPr lang="en-US" sz="550" b="1" dirty="0">
                <a:solidFill>
                  <a:srgbClr val="2442F5"/>
                </a:solidFill>
                <a:latin typeface="Aptos" pitchFamily="34" charset="0"/>
                <a:ea typeface="Aptos" pitchFamily="34" charset="-122"/>
                <a:cs typeface="Aptos" pitchFamily="34" charset="-120"/>
              </a:rPr>
              <a:t>✓</a:t>
            </a:r>
            <a:endParaRPr lang="en-US" sz="550" dirty="0"/>
          </a:p>
        </p:txBody>
      </p:sp>
      <p:sp>
        <p:nvSpPr>
          <p:cNvPr id="70" name="Shape 66"/>
          <p:cNvSpPr/>
          <p:nvPr/>
        </p:nvSpPr>
        <p:spPr>
          <a:xfrm>
            <a:off x="5511600" y="7063200"/>
            <a:ext cx="115200" cy="115200"/>
          </a:xfrm>
          <a:prstGeom prst="ellipse">
            <a:avLst/>
          </a:prstGeom>
          <a:solidFill>
            <a:srgbClr val="FFFFFF"/>
          </a:solidFill>
          <a:ln w="13970">
            <a:solidFill>
              <a:srgbClr val="FFC700"/>
            </a:solidFill>
            <a:prstDash val="solid"/>
          </a:ln>
        </p:spPr>
      </p:sp>
      <p:sp>
        <p:nvSpPr>
          <p:cNvPr id="71" name="Text 67"/>
          <p:cNvSpPr/>
          <p:nvPr/>
        </p:nvSpPr>
        <p:spPr>
          <a:xfrm>
            <a:off x="5524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72" name="Shape 68"/>
          <p:cNvSpPr/>
          <p:nvPr/>
        </p:nvSpPr>
        <p:spPr>
          <a:xfrm>
            <a:off x="6735600" y="7063200"/>
            <a:ext cx="115200" cy="115200"/>
          </a:xfrm>
          <a:prstGeom prst="ellipse">
            <a:avLst/>
          </a:prstGeom>
          <a:solidFill>
            <a:srgbClr val="FFFFFF"/>
          </a:solidFill>
          <a:ln w="13970">
            <a:solidFill>
              <a:srgbClr val="00B55A"/>
            </a:solidFill>
            <a:prstDash val="solid"/>
          </a:ln>
        </p:spPr>
      </p:sp>
      <p:sp>
        <p:nvSpPr>
          <p:cNvPr id="73" name="Text 69"/>
          <p:cNvSpPr/>
          <p:nvPr/>
        </p:nvSpPr>
        <p:spPr>
          <a:xfrm>
            <a:off x="6748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74" name="Text 7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75" name="Text 7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77" name="Text 7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8" name="Text 7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79" name="Text 7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0" name="Text 7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81" name="Text 7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2" name="Text 7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83" name="Text 7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4" name="Text 8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85" name="Text 8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6" name="Text 8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87" name="Text 8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88" name="Text 8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5040000" y="1836000"/>
            <a:ext cx="2055600" cy="864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4748400" y="1879200"/>
            <a:ext cx="2412000" cy="14400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41</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42</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43</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France Verte</cp:lastModifiedBy>
  <cp:revision>1</cp:revision>
  <dcterms:created xsi:type="dcterms:W3CDTF">2026-10-07T16:39:38Z</dcterms:created>
  <dcterms:modified xsi:type="dcterms:W3CDTF">2026-10-07T16:39:38Z</dcterms:modified>
</cp:coreProperties>
</file>