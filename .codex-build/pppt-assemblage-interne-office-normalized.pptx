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5778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Décor bleu France Verte"/>
          <p:cNvPicPr>
            <a:picLocks noChangeAspect="1"/>
          </p:cNvPicPr>
          <p:nvPr/>
        </p:nvPicPr>
        <p:blipFill>
          <a:blip r:embed="rId3"/>
          <a:srcRect/>
          <a:stretch/>
        </p:blipFill>
        <p:spPr>
          <a:xfrm>
            <a:off x="0" y="684000"/>
            <a:ext cx="979200" cy="2149200"/>
          </a:xfrm>
          <a:prstGeom prst="rect">
            <a:avLst/>
          </a:prstGeom>
        </p:spPr>
      </p:pic>
      <p:pic>
        <p:nvPicPr>
          <p:cNvPr id="3" name="Image 1" descr="Décor jaune France Verte"/>
          <p:cNvPicPr>
            <a:picLocks noChangeAspect="1"/>
          </p:cNvPicPr>
          <p:nvPr/>
        </p:nvPicPr>
        <p:blipFill>
          <a:blip r:embed="rId4"/>
          <a:srcRect/>
          <a:stretch/>
        </p:blipFill>
        <p:spPr>
          <a:xfrm rot="21360000">
            <a:off x="6656400" y="8172000"/>
            <a:ext cx="982800" cy="1944000"/>
          </a:xfrm>
          <a:prstGeom prst="rect">
            <a:avLst/>
          </a:prstGeom>
        </p:spPr>
      </p:pic>
      <p:pic>
        <p:nvPicPr>
          <p:cNvPr id="4" name="Image 2" descr="Logo France Verte"/>
          <p:cNvPicPr>
            <a:picLocks noChangeAspect="1"/>
          </p:cNvPicPr>
          <p:nvPr/>
        </p:nvPicPr>
        <p:blipFill>
          <a:blip r:embed="rId5"/>
          <a:srcRect/>
          <a:stretch/>
        </p:blipFill>
        <p:spPr>
          <a:xfrm>
            <a:off x="493200" y="97200"/>
            <a:ext cx="2246400" cy="594000"/>
          </a:xfrm>
          <a:prstGeom prst="rect">
            <a:avLst/>
          </a:prstGeom>
        </p:spPr>
      </p:pic>
      <p:pic>
        <p:nvPicPr>
          <p:cNvPr id="5" name="Image 3" descr="Logo RGE OPQIBI du modèle"/>
          <p:cNvPicPr>
            <a:picLocks noChangeAspect="1"/>
          </p:cNvPicPr>
          <p:nvPr/>
        </p:nvPicPr>
        <p:blipFill>
          <a:blip r:embed="rId6"/>
          <a:srcRect/>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marL="0" indent="0" algn="ctr">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marL="0" indent="0" algn="ctr">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marL="0" indent="0" algn="ctr">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marL="0" indent="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marL="0" indent="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marL="0" indent="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marL="0" indent="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marL="0" indent="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marL="0" indent="0" algn="ctr">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marL="0" indent="0" algn="ctr">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icPr>
            <a:picLocks noChangeAspect="1"/>
          </p:cNvPicPr>
          <p:nvPr/>
        </p:nvPicPr>
        <p:blipFill>
          <a:blip r:embed="rId7"/>
          <a:srcRect/>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marL="0" indent="0">
              <a:buNone/>
            </a:pPr>
            <a:r>
              <a:rPr lang="en-US" sz="1130" b="1" dirty="0">
                <a:solidFill>
                  <a:srgbClr val="1C1C1C"/>
                </a:solidFill>
                <a:latin typeface="Calibri" pitchFamily="34" charset="0"/>
                <a:ea typeface="Calibri" pitchFamily="34" charset="-122"/>
                <a:cs typeface="Calibri" pitchFamily="34" charset="-120"/>
              </a:rPr>
              <a:t>Date de visite : </a:t>
            </a: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marL="0" indent="0">
              <a:buNone/>
            </a:pPr>
            <a:r>
              <a:rPr lang="en-US" sz="1130" b="1" dirty="0">
                <a:solidFill>
                  <a:srgbClr val="1C1C1C"/>
                </a:solidFill>
                <a:latin typeface="Calibri" pitchFamily="34" charset="0"/>
                <a:ea typeface="Calibri" pitchFamily="34" charset="-122"/>
                <a:cs typeface="Calibri" pitchFamily="34" charset="-120"/>
              </a:rPr>
              <a:t>Date du rapport : </a:t>
            </a: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marL="0" indent="0">
              <a:buNone/>
            </a:pPr>
            <a:r>
              <a:rPr lang="en-US" sz="1130" b="1" dirty="0">
                <a:solidFill>
                  <a:srgbClr val="1C1C1C"/>
                </a:solidFill>
                <a:latin typeface="Calibri" pitchFamily="34" charset="0"/>
                <a:ea typeface="Calibri" pitchFamily="34" charset="-122"/>
                <a:cs typeface="Calibri" pitchFamily="34" charset="-120"/>
              </a:rPr>
              <a:t>Version du rapport : </a:t>
            </a: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icPr>
            <a:picLocks noChangeAspect="1"/>
          </p:cNvPicPr>
          <p:nvPr/>
        </p:nvPicPr>
        <p:blipFill>
          <a:blip r:embed="rId8"/>
          <a:srcRect/>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marL="0" indent="0" algn="ctr">
              <a:buNone/>
            </a:pPr>
            <a:r>
              <a:rPr lang="en-US" sz="1120" dirty="0">
                <a:solidFill>
                  <a:srgbClr val="1C1C1C"/>
                </a:solidFill>
                <a:latin typeface="Calibri" pitchFamily="34" charset="0"/>
                <a:ea typeface="Calibri" pitchFamily="34" charset="-122"/>
                <a:cs typeface="Calibri" pitchFamily="34" charset="-120"/>
              </a:rPr>
              <a:t>Mission réalisée pour la copropriété </a:t>
            </a:r>
            <a:r>
              <a:rPr lang="en-US" sz="1120" b="1" dirty="0">
                <a:solidFill>
                  <a:srgbClr val="1C1C1C"/>
                </a:solidFill>
                <a:latin typeface="Calibri" pitchFamily="34" charset="0"/>
                <a:ea typeface="Calibri" pitchFamily="34" charset="-122"/>
                <a:cs typeface="Calibri" pitchFamily="34" charset="-120"/>
              </a:rPr>
              <a:t>Résidence des Tilleuls</a:t>
            </a:r>
            <a:r>
              <a:rPr lang="en-US" sz="1120" dirty="0">
                <a:solidFill>
                  <a:srgbClr val="1C1C1C"/>
                </a:solidFill>
                <a:latin typeface="Calibri" pitchFamily="34" charset="0"/>
                <a:ea typeface="Calibri" pitchFamily="34" charset="-122"/>
                <a:cs typeface="Calibri" pitchFamily="34" charset="-120"/>
              </a:rPr>
              <a:t>, représentée par son syndic, </a:t>
            </a: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marL="0" indent="0" algn="ctr">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marL="0" indent="0">
              <a:buNone/>
            </a:pPr>
            <a:r>
              <a:rPr lang="en-US" sz="1130" dirty="0">
                <a:solidFill>
                  <a:srgbClr val="1C1C1C"/>
                </a:solidFill>
                <a:latin typeface="Calibri" pitchFamily="34" charset="0"/>
                <a:ea typeface="Calibri" pitchFamily="34" charset="-122"/>
                <a:cs typeface="Calibri" pitchFamily="34" charset="-120"/>
              </a:rPr>
              <a:t>Ce rapport contient : 43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icPr>
            <a:picLocks noChangeAspect="1"/>
          </p:cNvPicPr>
          <p:nvPr/>
        </p:nvPicPr>
        <p:blipFill>
          <a:blip r:embed="rId4"/>
          <a:srcRect/>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marL="0" indent="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marL="0" indent="0" algn="ctr">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marL="0" indent="0" algn="l">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marL="0" indent="0" algn="l">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marL="0" indent="0" algn="l">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marL="0" indent="0" algn="ctr">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icPr>
            <a:picLocks noChangeAspect="1"/>
          </p:cNvPicPr>
          <p:nvPr/>
        </p:nvPicPr>
        <p:blipFill>
          <a:blip r:embed="rId4"/>
          <a:srcRect/>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marL="0" indent="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marL="0" indent="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marL="0" indent="0" algn="ctr">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marL="0" indent="0" algn="ctr">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marL="0" indent="0" algn="ctr">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marL="0" indent="0" algn="ctr">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marL="0" indent="0" algn="l">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marL="0" indent="0" algn="l">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marL="0" indent="0" algn="ctr">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marL="0" indent="0" algn="l">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marL="0" indent="0" algn="l">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marL="0" indent="0" algn="ctr">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marL="0" indent="0" algn="l">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marL="0" indent="0" algn="l">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marL="0" indent="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marL="0" indent="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marL="0" indent="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marL="0" indent="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marL="0" indent="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marL="0" indent="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marL="0" indent="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icPr>
            <a:picLocks noChangeAspect="1"/>
          </p:cNvPicPr>
          <p:nvPr/>
        </p:nvPicPr>
        <p:blipFill>
          <a:blip r:embed="rId4"/>
          <a:srcRect/>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2228400" y="5052600"/>
            <a:ext cx="4287600" cy="0"/>
          </a:xfrm>
          <a:prstGeom prst="line">
            <a:avLst/>
          </a:prstGeom>
          <a:noFill/>
          <a:ln w="11430">
            <a:solidFill>
              <a:srgbClr val="1C1C1C"/>
            </a:solidFill>
            <a:prstDash val="sysDot"/>
          </a:ln>
        </p:spPr>
      </p:sp>
      <p:sp>
        <p:nvSpPr>
          <p:cNvPr id="35" name="Text 32"/>
          <p:cNvSpPr/>
          <p:nvPr/>
        </p:nvSpPr>
        <p:spPr>
          <a:xfrm>
            <a:off x="810000" y="4854600"/>
            <a:ext cx="14184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2.2 Curatif Niveau 1</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1900800" y="5428800"/>
            <a:ext cx="4615200" cy="0"/>
          </a:xfrm>
          <a:prstGeom prst="line">
            <a:avLst/>
          </a:prstGeom>
          <a:noFill/>
          <a:ln w="11430">
            <a:solidFill>
              <a:srgbClr val="1C1C1C"/>
            </a:solidFill>
            <a:prstDash val="sysDot"/>
          </a:ln>
        </p:spPr>
      </p:sp>
      <p:sp>
        <p:nvSpPr>
          <p:cNvPr id="38" name="Text 35"/>
          <p:cNvSpPr/>
          <p:nvPr/>
        </p:nvSpPr>
        <p:spPr>
          <a:xfrm>
            <a:off x="810000" y="5230800"/>
            <a:ext cx="10908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2.3 À confirmer</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15</a:t>
            </a:r>
            <a:endParaRPr lang="en-US" sz="1090" dirty="0"/>
          </a:p>
        </p:txBody>
      </p:sp>
      <p:sp>
        <p:nvSpPr>
          <p:cNvPr id="40" name="Shape 37"/>
          <p:cNvSpPr/>
          <p:nvPr/>
        </p:nvSpPr>
        <p:spPr>
          <a:xfrm>
            <a:off x="3762000" y="5805000"/>
            <a:ext cx="2754000" cy="0"/>
          </a:xfrm>
          <a:prstGeom prst="line">
            <a:avLst/>
          </a:prstGeom>
          <a:noFill/>
          <a:ln w="11430">
            <a:solidFill>
              <a:srgbClr val="1C1C1C"/>
            </a:solidFill>
            <a:prstDash val="sysDot"/>
          </a:ln>
        </p:spPr>
      </p:sp>
      <p:sp>
        <p:nvSpPr>
          <p:cNvPr id="41" name="Text 38"/>
          <p:cNvSpPr/>
          <p:nvPr/>
        </p:nvSpPr>
        <p:spPr>
          <a:xfrm>
            <a:off x="630000" y="5607000"/>
            <a:ext cx="3132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16</a:t>
            </a:r>
            <a:endParaRPr lang="en-US" sz="1160" dirty="0"/>
          </a:p>
        </p:txBody>
      </p:sp>
      <p:sp>
        <p:nvSpPr>
          <p:cNvPr id="43" name="Shape 40"/>
          <p:cNvSpPr/>
          <p:nvPr/>
        </p:nvSpPr>
        <p:spPr>
          <a:xfrm>
            <a:off x="3407760" y="6181200"/>
            <a:ext cx="3108240" cy="0"/>
          </a:xfrm>
          <a:prstGeom prst="line">
            <a:avLst/>
          </a:prstGeom>
          <a:noFill/>
          <a:ln w="11430">
            <a:solidFill>
              <a:srgbClr val="1C1C1C"/>
            </a:solidFill>
            <a:prstDash val="sysDot"/>
          </a:ln>
        </p:spPr>
      </p:sp>
      <p:sp>
        <p:nvSpPr>
          <p:cNvPr id="44" name="Text 41"/>
          <p:cNvSpPr/>
          <p:nvPr/>
        </p:nvSpPr>
        <p:spPr>
          <a:xfrm>
            <a:off x="810000" y="5983200"/>
            <a:ext cx="25977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6" name="Shape 43"/>
          <p:cNvSpPr/>
          <p:nvPr/>
        </p:nvSpPr>
        <p:spPr>
          <a:xfrm>
            <a:off x="4783680" y="6557400"/>
            <a:ext cx="1732320" cy="0"/>
          </a:xfrm>
          <a:prstGeom prst="line">
            <a:avLst/>
          </a:prstGeom>
          <a:noFill/>
          <a:ln w="11430">
            <a:solidFill>
              <a:srgbClr val="1C1C1C"/>
            </a:solidFill>
            <a:prstDash val="sysDot"/>
          </a:ln>
        </p:spPr>
      </p:sp>
      <p:sp>
        <p:nvSpPr>
          <p:cNvPr id="47" name="Text 44"/>
          <p:cNvSpPr/>
          <p:nvPr/>
        </p:nvSpPr>
        <p:spPr>
          <a:xfrm>
            <a:off x="810000" y="6359400"/>
            <a:ext cx="397368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9" name="Shape 46"/>
          <p:cNvSpPr/>
          <p:nvPr/>
        </p:nvSpPr>
        <p:spPr>
          <a:xfrm>
            <a:off x="3211200" y="6933600"/>
            <a:ext cx="3304800" cy="0"/>
          </a:xfrm>
          <a:prstGeom prst="line">
            <a:avLst/>
          </a:prstGeom>
          <a:noFill/>
          <a:ln w="11430">
            <a:solidFill>
              <a:srgbClr val="1C1C1C"/>
            </a:solidFill>
            <a:prstDash val="sysDot"/>
          </a:ln>
        </p:spPr>
      </p:sp>
      <p:sp>
        <p:nvSpPr>
          <p:cNvPr id="50" name="Text 47"/>
          <p:cNvSpPr/>
          <p:nvPr/>
        </p:nvSpPr>
        <p:spPr>
          <a:xfrm>
            <a:off x="810000" y="6735600"/>
            <a:ext cx="24012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52" name="Shape 49"/>
          <p:cNvSpPr/>
          <p:nvPr/>
        </p:nvSpPr>
        <p:spPr>
          <a:xfrm>
            <a:off x="3186000" y="7309800"/>
            <a:ext cx="3330000" cy="0"/>
          </a:xfrm>
          <a:prstGeom prst="line">
            <a:avLst/>
          </a:prstGeom>
          <a:noFill/>
          <a:ln w="11430">
            <a:solidFill>
              <a:srgbClr val="1C1C1C"/>
            </a:solidFill>
            <a:prstDash val="sysDot"/>
          </a:ln>
        </p:spPr>
      </p:sp>
      <p:sp>
        <p:nvSpPr>
          <p:cNvPr id="53" name="Text 50"/>
          <p:cNvSpPr/>
          <p:nvPr/>
        </p:nvSpPr>
        <p:spPr>
          <a:xfrm>
            <a:off x="630000" y="7111800"/>
            <a:ext cx="2556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19</a:t>
            </a:r>
            <a:endParaRPr lang="en-US" sz="1160" dirty="0"/>
          </a:p>
        </p:txBody>
      </p:sp>
      <p:sp>
        <p:nvSpPr>
          <p:cNvPr id="55" name="Shape 52"/>
          <p:cNvSpPr/>
          <p:nvPr/>
        </p:nvSpPr>
        <p:spPr>
          <a:xfrm>
            <a:off x="3145680" y="7686000"/>
            <a:ext cx="3370320" cy="0"/>
          </a:xfrm>
          <a:prstGeom prst="line">
            <a:avLst/>
          </a:prstGeom>
          <a:noFill/>
          <a:ln w="11430">
            <a:solidFill>
              <a:srgbClr val="1C1C1C"/>
            </a:solidFill>
            <a:prstDash val="sysDot"/>
          </a:ln>
        </p:spPr>
      </p:sp>
      <p:sp>
        <p:nvSpPr>
          <p:cNvPr id="56" name="Text 53"/>
          <p:cNvSpPr/>
          <p:nvPr/>
        </p:nvSpPr>
        <p:spPr>
          <a:xfrm>
            <a:off x="810000" y="7488000"/>
            <a:ext cx="233568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8" name="Shape 55"/>
          <p:cNvSpPr/>
          <p:nvPr/>
        </p:nvSpPr>
        <p:spPr>
          <a:xfrm>
            <a:off x="3690000" y="8062200"/>
            <a:ext cx="2826000" cy="0"/>
          </a:xfrm>
          <a:prstGeom prst="line">
            <a:avLst/>
          </a:prstGeom>
          <a:noFill/>
          <a:ln w="11430">
            <a:solidFill>
              <a:srgbClr val="1C1C1C"/>
            </a:solidFill>
            <a:prstDash val="sysDot"/>
          </a:ln>
        </p:spPr>
      </p:sp>
      <p:sp>
        <p:nvSpPr>
          <p:cNvPr id="59" name="Text 56"/>
          <p:cNvSpPr/>
          <p:nvPr/>
        </p:nvSpPr>
        <p:spPr>
          <a:xfrm>
            <a:off x="630000" y="7864200"/>
            <a:ext cx="3060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61" name="Shape 58"/>
          <p:cNvSpPr/>
          <p:nvPr/>
        </p:nvSpPr>
        <p:spPr>
          <a:xfrm>
            <a:off x="3931920" y="8438400"/>
            <a:ext cx="2584080" cy="0"/>
          </a:xfrm>
          <a:prstGeom prst="line">
            <a:avLst/>
          </a:prstGeom>
          <a:noFill/>
          <a:ln w="11430">
            <a:solidFill>
              <a:srgbClr val="1C1C1C"/>
            </a:solidFill>
            <a:prstDash val="sysDot"/>
          </a:ln>
        </p:spPr>
      </p:sp>
      <p:sp>
        <p:nvSpPr>
          <p:cNvPr id="62" name="Text 59"/>
          <p:cNvSpPr/>
          <p:nvPr/>
        </p:nvSpPr>
        <p:spPr>
          <a:xfrm>
            <a:off x="810000" y="8240400"/>
            <a:ext cx="31219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64" name="Shape 61"/>
          <p:cNvSpPr/>
          <p:nvPr/>
        </p:nvSpPr>
        <p:spPr>
          <a:xfrm>
            <a:off x="3473280" y="8814600"/>
            <a:ext cx="3042720" cy="0"/>
          </a:xfrm>
          <a:prstGeom prst="line">
            <a:avLst/>
          </a:prstGeom>
          <a:noFill/>
          <a:ln w="11430">
            <a:solidFill>
              <a:srgbClr val="1C1C1C"/>
            </a:solidFill>
            <a:prstDash val="sysDot"/>
          </a:ln>
        </p:spPr>
      </p:sp>
      <p:sp>
        <p:nvSpPr>
          <p:cNvPr id="65" name="Text 62"/>
          <p:cNvSpPr/>
          <p:nvPr/>
        </p:nvSpPr>
        <p:spPr>
          <a:xfrm>
            <a:off x="810000" y="8616600"/>
            <a:ext cx="266328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2424960" y="1666800"/>
            <a:ext cx="4091040" cy="0"/>
          </a:xfrm>
          <a:prstGeom prst="line">
            <a:avLst/>
          </a:prstGeom>
          <a:noFill/>
          <a:ln w="11430">
            <a:solidFill>
              <a:srgbClr val="1C1C1C"/>
            </a:solidFill>
            <a:prstDash val="sysDot"/>
          </a:ln>
        </p:spPr>
      </p:sp>
      <p:sp>
        <p:nvSpPr>
          <p:cNvPr id="8" name="Text 5"/>
          <p:cNvSpPr/>
          <p:nvPr/>
        </p:nvSpPr>
        <p:spPr>
          <a:xfrm>
            <a:off x="810000" y="1468800"/>
            <a:ext cx="16149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25</a:t>
            </a:r>
            <a:endParaRPr lang="en-US" sz="1090" dirty="0"/>
          </a:p>
        </p:txBody>
      </p:sp>
      <p:sp>
        <p:nvSpPr>
          <p:cNvPr id="10" name="Shape 7"/>
          <p:cNvSpPr/>
          <p:nvPr/>
        </p:nvSpPr>
        <p:spPr>
          <a:xfrm>
            <a:off x="2556000" y="2043000"/>
            <a:ext cx="3960000" cy="0"/>
          </a:xfrm>
          <a:prstGeom prst="line">
            <a:avLst/>
          </a:prstGeom>
          <a:noFill/>
          <a:ln w="11430">
            <a:solidFill>
              <a:srgbClr val="1C1C1C"/>
            </a:solidFill>
            <a:prstDash val="sysDot"/>
          </a:ln>
        </p:spPr>
      </p:sp>
      <p:sp>
        <p:nvSpPr>
          <p:cNvPr id="11" name="Text 8"/>
          <p:cNvSpPr/>
          <p:nvPr/>
        </p:nvSpPr>
        <p:spPr>
          <a:xfrm>
            <a:off x="810000" y="1845000"/>
            <a:ext cx="17460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26</a:t>
            </a:r>
            <a:endParaRPr lang="en-US" sz="1090" dirty="0"/>
          </a:p>
        </p:txBody>
      </p:sp>
      <p:sp>
        <p:nvSpPr>
          <p:cNvPr id="13" name="Shape 10"/>
          <p:cNvSpPr/>
          <p:nvPr/>
        </p:nvSpPr>
        <p:spPr>
          <a:xfrm>
            <a:off x="2293920" y="2419200"/>
            <a:ext cx="4222080" cy="0"/>
          </a:xfrm>
          <a:prstGeom prst="line">
            <a:avLst/>
          </a:prstGeom>
          <a:noFill/>
          <a:ln w="11430">
            <a:solidFill>
              <a:srgbClr val="1C1C1C"/>
            </a:solidFill>
            <a:prstDash val="sysDot"/>
          </a:ln>
        </p:spPr>
      </p:sp>
      <p:sp>
        <p:nvSpPr>
          <p:cNvPr id="14" name="Text 11"/>
          <p:cNvSpPr/>
          <p:nvPr/>
        </p:nvSpPr>
        <p:spPr>
          <a:xfrm>
            <a:off x="810000" y="2221200"/>
            <a:ext cx="14839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27</a:t>
            </a:r>
            <a:endParaRPr lang="en-US" sz="1090" dirty="0"/>
          </a:p>
        </p:txBody>
      </p:sp>
      <p:sp>
        <p:nvSpPr>
          <p:cNvPr id="16" name="Shape 13"/>
          <p:cNvSpPr/>
          <p:nvPr/>
        </p:nvSpPr>
        <p:spPr>
          <a:xfrm>
            <a:off x="2106000" y="2795400"/>
            <a:ext cx="4410000" cy="0"/>
          </a:xfrm>
          <a:prstGeom prst="line">
            <a:avLst/>
          </a:prstGeom>
          <a:noFill/>
          <a:ln w="11430">
            <a:solidFill>
              <a:srgbClr val="1C1C1C"/>
            </a:solidFill>
            <a:prstDash val="sysDot"/>
          </a:ln>
        </p:spPr>
      </p:sp>
      <p:sp>
        <p:nvSpPr>
          <p:cNvPr id="17" name="Text 14"/>
          <p:cNvSpPr/>
          <p:nvPr/>
        </p:nvSpPr>
        <p:spPr>
          <a:xfrm>
            <a:off x="630000" y="2597400"/>
            <a:ext cx="1476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28</a:t>
            </a:r>
            <a:endParaRPr lang="en-US" sz="1160" dirty="0"/>
          </a:p>
        </p:txBody>
      </p:sp>
      <p:sp>
        <p:nvSpPr>
          <p:cNvPr id="19" name="Shape 16"/>
          <p:cNvSpPr/>
          <p:nvPr/>
        </p:nvSpPr>
        <p:spPr>
          <a:xfrm>
            <a:off x="3211200" y="3171600"/>
            <a:ext cx="3304800" cy="0"/>
          </a:xfrm>
          <a:prstGeom prst="line">
            <a:avLst/>
          </a:prstGeom>
          <a:noFill/>
          <a:ln w="11430">
            <a:solidFill>
              <a:srgbClr val="1C1C1C"/>
            </a:solidFill>
            <a:prstDash val="sysDot"/>
          </a:ln>
        </p:spPr>
      </p:sp>
      <p:sp>
        <p:nvSpPr>
          <p:cNvPr id="20" name="Text 17"/>
          <p:cNvSpPr/>
          <p:nvPr/>
        </p:nvSpPr>
        <p:spPr>
          <a:xfrm>
            <a:off x="810000" y="2973600"/>
            <a:ext cx="24012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22" name="Shape 19"/>
          <p:cNvSpPr/>
          <p:nvPr/>
        </p:nvSpPr>
        <p:spPr>
          <a:xfrm>
            <a:off x="4914720" y="3547800"/>
            <a:ext cx="1601280" cy="0"/>
          </a:xfrm>
          <a:prstGeom prst="line">
            <a:avLst/>
          </a:prstGeom>
          <a:noFill/>
          <a:ln w="11430">
            <a:solidFill>
              <a:srgbClr val="1C1C1C"/>
            </a:solidFill>
            <a:prstDash val="sysDot"/>
          </a:ln>
        </p:spPr>
      </p:sp>
      <p:sp>
        <p:nvSpPr>
          <p:cNvPr id="23" name="Text 20"/>
          <p:cNvSpPr/>
          <p:nvPr/>
        </p:nvSpPr>
        <p:spPr>
          <a:xfrm>
            <a:off x="810000" y="3349800"/>
            <a:ext cx="41047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5" name="Shape 22"/>
          <p:cNvSpPr/>
          <p:nvPr/>
        </p:nvSpPr>
        <p:spPr>
          <a:xfrm>
            <a:off x="2556000" y="3924000"/>
            <a:ext cx="3960000" cy="0"/>
          </a:xfrm>
          <a:prstGeom prst="line">
            <a:avLst/>
          </a:prstGeom>
          <a:noFill/>
          <a:ln w="11430">
            <a:solidFill>
              <a:srgbClr val="1C1C1C"/>
            </a:solidFill>
            <a:prstDash val="sysDot"/>
          </a:ln>
        </p:spPr>
      </p:sp>
      <p:sp>
        <p:nvSpPr>
          <p:cNvPr id="26" name="Text 23"/>
          <p:cNvSpPr/>
          <p:nvPr/>
        </p:nvSpPr>
        <p:spPr>
          <a:xfrm>
            <a:off x="810000" y="3726000"/>
            <a:ext cx="17460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4456080" y="4300200"/>
            <a:ext cx="2059920" cy="0"/>
          </a:xfrm>
          <a:prstGeom prst="line">
            <a:avLst/>
          </a:prstGeom>
          <a:noFill/>
          <a:ln w="11430">
            <a:solidFill>
              <a:srgbClr val="1C1C1C"/>
            </a:solidFill>
            <a:prstDash val="sysDot"/>
          </a:ln>
        </p:spPr>
      </p:sp>
      <p:sp>
        <p:nvSpPr>
          <p:cNvPr id="29" name="Text 26"/>
          <p:cNvSpPr/>
          <p:nvPr/>
        </p:nvSpPr>
        <p:spPr>
          <a:xfrm>
            <a:off x="810000" y="4102200"/>
            <a:ext cx="364608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1" name="Shape 28"/>
          <p:cNvSpPr/>
          <p:nvPr/>
        </p:nvSpPr>
        <p:spPr>
          <a:xfrm>
            <a:off x="4718160" y="4676400"/>
            <a:ext cx="1797840" cy="0"/>
          </a:xfrm>
          <a:prstGeom prst="line">
            <a:avLst/>
          </a:prstGeom>
          <a:noFill/>
          <a:ln w="11430">
            <a:solidFill>
              <a:srgbClr val="1C1C1C"/>
            </a:solidFill>
            <a:prstDash val="sysDot"/>
          </a:ln>
        </p:spPr>
      </p:sp>
      <p:sp>
        <p:nvSpPr>
          <p:cNvPr id="32" name="Text 29"/>
          <p:cNvSpPr/>
          <p:nvPr/>
        </p:nvSpPr>
        <p:spPr>
          <a:xfrm>
            <a:off x="810000" y="4478400"/>
            <a:ext cx="39081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4" name="Shape 31"/>
          <p:cNvSpPr/>
          <p:nvPr/>
        </p:nvSpPr>
        <p:spPr>
          <a:xfrm>
            <a:off x="1674000" y="5052600"/>
            <a:ext cx="4842000" cy="0"/>
          </a:xfrm>
          <a:prstGeom prst="line">
            <a:avLst/>
          </a:prstGeom>
          <a:noFill/>
          <a:ln w="11430">
            <a:solidFill>
              <a:srgbClr val="1C1C1C"/>
            </a:solidFill>
            <a:prstDash val="sysDot"/>
          </a:ln>
        </p:spPr>
      </p:sp>
      <p:sp>
        <p:nvSpPr>
          <p:cNvPr id="35" name="Text 32"/>
          <p:cNvSpPr/>
          <p:nvPr/>
        </p:nvSpPr>
        <p:spPr>
          <a:xfrm>
            <a:off x="630000" y="4854600"/>
            <a:ext cx="1044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34</a:t>
            </a:r>
            <a:endParaRPr lang="en-US" sz="1160" dirty="0"/>
          </a:p>
        </p:txBody>
      </p:sp>
      <p:sp>
        <p:nvSpPr>
          <p:cNvPr id="37" name="Shape 34"/>
          <p:cNvSpPr/>
          <p:nvPr/>
        </p:nvSpPr>
        <p:spPr>
          <a:xfrm>
            <a:off x="2424960" y="5428800"/>
            <a:ext cx="4091040" cy="0"/>
          </a:xfrm>
          <a:prstGeom prst="line">
            <a:avLst/>
          </a:prstGeom>
          <a:noFill/>
          <a:ln w="11430">
            <a:solidFill>
              <a:srgbClr val="1C1C1C"/>
            </a:solidFill>
            <a:prstDash val="sysDot"/>
          </a:ln>
        </p:spPr>
      </p:sp>
      <p:sp>
        <p:nvSpPr>
          <p:cNvPr id="38" name="Text 35"/>
          <p:cNvSpPr/>
          <p:nvPr/>
        </p:nvSpPr>
        <p:spPr>
          <a:xfrm>
            <a:off x="810000" y="5230800"/>
            <a:ext cx="16149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34</a:t>
            </a:r>
            <a:endParaRPr lang="en-US" sz="1090" dirty="0"/>
          </a:p>
        </p:txBody>
      </p:sp>
      <p:sp>
        <p:nvSpPr>
          <p:cNvPr id="40" name="Shape 37"/>
          <p:cNvSpPr/>
          <p:nvPr/>
        </p:nvSpPr>
        <p:spPr>
          <a:xfrm>
            <a:off x="3834000" y="5805000"/>
            <a:ext cx="2682000" cy="0"/>
          </a:xfrm>
          <a:prstGeom prst="line">
            <a:avLst/>
          </a:prstGeom>
          <a:noFill/>
          <a:ln w="11430">
            <a:solidFill>
              <a:srgbClr val="1C1C1C"/>
            </a:solidFill>
            <a:prstDash val="sysDot"/>
          </a:ln>
        </p:spPr>
      </p:sp>
      <p:sp>
        <p:nvSpPr>
          <p:cNvPr id="41" name="Text 38"/>
          <p:cNvSpPr/>
          <p:nvPr/>
        </p:nvSpPr>
        <p:spPr>
          <a:xfrm>
            <a:off x="630000" y="5607000"/>
            <a:ext cx="3204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35</a:t>
            </a:r>
            <a:endParaRPr lang="en-US" sz="1160" dirty="0"/>
          </a:p>
        </p:txBody>
      </p:sp>
      <p:sp>
        <p:nvSpPr>
          <p:cNvPr id="43" name="Shape 40"/>
          <p:cNvSpPr/>
          <p:nvPr/>
        </p:nvSpPr>
        <p:spPr>
          <a:xfrm>
            <a:off x="2949120" y="6181200"/>
            <a:ext cx="3566880" cy="0"/>
          </a:xfrm>
          <a:prstGeom prst="line">
            <a:avLst/>
          </a:prstGeom>
          <a:noFill/>
          <a:ln w="11430">
            <a:solidFill>
              <a:srgbClr val="1C1C1C"/>
            </a:solidFill>
            <a:prstDash val="sysDot"/>
          </a:ln>
        </p:spPr>
      </p:sp>
      <p:sp>
        <p:nvSpPr>
          <p:cNvPr id="44" name="Text 41"/>
          <p:cNvSpPr/>
          <p:nvPr/>
        </p:nvSpPr>
        <p:spPr>
          <a:xfrm>
            <a:off x="810000" y="5983200"/>
            <a:ext cx="21391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6" name="Shape 43"/>
          <p:cNvSpPr/>
          <p:nvPr/>
        </p:nvSpPr>
        <p:spPr>
          <a:xfrm>
            <a:off x="3604320" y="6557400"/>
            <a:ext cx="2911680" cy="0"/>
          </a:xfrm>
          <a:prstGeom prst="line">
            <a:avLst/>
          </a:prstGeom>
          <a:noFill/>
          <a:ln w="11430">
            <a:solidFill>
              <a:srgbClr val="1C1C1C"/>
            </a:solidFill>
            <a:prstDash val="sysDot"/>
          </a:ln>
        </p:spPr>
      </p:sp>
      <p:sp>
        <p:nvSpPr>
          <p:cNvPr id="47" name="Text 44"/>
          <p:cNvSpPr/>
          <p:nvPr/>
        </p:nvSpPr>
        <p:spPr>
          <a:xfrm>
            <a:off x="810000" y="6359400"/>
            <a:ext cx="27943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9" name="Shape 46"/>
          <p:cNvSpPr/>
          <p:nvPr/>
        </p:nvSpPr>
        <p:spPr>
          <a:xfrm>
            <a:off x="3407760" y="6933600"/>
            <a:ext cx="3108240" cy="0"/>
          </a:xfrm>
          <a:prstGeom prst="line">
            <a:avLst/>
          </a:prstGeom>
          <a:noFill/>
          <a:ln w="11430">
            <a:solidFill>
              <a:srgbClr val="1C1C1C"/>
            </a:solidFill>
            <a:prstDash val="sysDot"/>
          </a:ln>
        </p:spPr>
      </p:sp>
      <p:sp>
        <p:nvSpPr>
          <p:cNvPr id="50" name="Text 47"/>
          <p:cNvSpPr/>
          <p:nvPr/>
        </p:nvSpPr>
        <p:spPr>
          <a:xfrm>
            <a:off x="810000" y="6735600"/>
            <a:ext cx="25977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52" name="Shape 49"/>
          <p:cNvSpPr/>
          <p:nvPr/>
        </p:nvSpPr>
        <p:spPr>
          <a:xfrm>
            <a:off x="3014640" y="7309800"/>
            <a:ext cx="3501360" cy="0"/>
          </a:xfrm>
          <a:prstGeom prst="line">
            <a:avLst/>
          </a:prstGeom>
          <a:noFill/>
          <a:ln w="11430">
            <a:solidFill>
              <a:srgbClr val="1C1C1C"/>
            </a:solidFill>
            <a:prstDash val="sysDot"/>
          </a:ln>
        </p:spPr>
      </p:sp>
      <p:sp>
        <p:nvSpPr>
          <p:cNvPr id="53" name="Text 50"/>
          <p:cNvSpPr/>
          <p:nvPr/>
        </p:nvSpPr>
        <p:spPr>
          <a:xfrm>
            <a:off x="810000" y="7111800"/>
            <a:ext cx="220464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5" name="Shape 52"/>
          <p:cNvSpPr/>
          <p:nvPr/>
        </p:nvSpPr>
        <p:spPr>
          <a:xfrm>
            <a:off x="4062960" y="7686000"/>
            <a:ext cx="2453040" cy="0"/>
          </a:xfrm>
          <a:prstGeom prst="line">
            <a:avLst/>
          </a:prstGeom>
          <a:noFill/>
          <a:ln w="11430">
            <a:solidFill>
              <a:srgbClr val="1C1C1C"/>
            </a:solidFill>
            <a:prstDash val="sysDot"/>
          </a:ln>
        </p:spPr>
      </p:sp>
      <p:sp>
        <p:nvSpPr>
          <p:cNvPr id="56" name="Text 53"/>
          <p:cNvSpPr/>
          <p:nvPr/>
        </p:nvSpPr>
        <p:spPr>
          <a:xfrm>
            <a:off x="810000" y="7488000"/>
            <a:ext cx="32529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4849200" y="8062200"/>
            <a:ext cx="1666800" cy="0"/>
          </a:xfrm>
          <a:prstGeom prst="line">
            <a:avLst/>
          </a:prstGeom>
          <a:noFill/>
          <a:ln w="11430">
            <a:solidFill>
              <a:srgbClr val="1C1C1C"/>
            </a:solidFill>
            <a:prstDash val="sysDot"/>
          </a:ln>
        </p:spPr>
      </p:sp>
      <p:sp>
        <p:nvSpPr>
          <p:cNvPr id="59" name="Text 56"/>
          <p:cNvSpPr/>
          <p:nvPr/>
        </p:nvSpPr>
        <p:spPr>
          <a:xfrm>
            <a:off x="810000" y="7864200"/>
            <a:ext cx="403920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1458000" y="8438400"/>
            <a:ext cx="5058000" cy="0"/>
          </a:xfrm>
          <a:prstGeom prst="line">
            <a:avLst/>
          </a:prstGeom>
          <a:noFill/>
          <a:ln w="11430">
            <a:solidFill>
              <a:srgbClr val="1C1C1C"/>
            </a:solidFill>
            <a:prstDash val="sysDot"/>
          </a:ln>
        </p:spPr>
      </p:sp>
      <p:sp>
        <p:nvSpPr>
          <p:cNvPr id="62" name="Text 59"/>
          <p:cNvSpPr/>
          <p:nvPr/>
        </p:nvSpPr>
        <p:spPr>
          <a:xfrm>
            <a:off x="630000" y="8240400"/>
            <a:ext cx="828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41</a:t>
            </a:r>
            <a:endParaRPr lang="en-US" sz="1160" dirty="0"/>
          </a:p>
        </p:txBody>
      </p:sp>
      <p:sp>
        <p:nvSpPr>
          <p:cNvPr id="64" name="Shape 61"/>
          <p:cNvSpPr/>
          <p:nvPr/>
        </p:nvSpPr>
        <p:spPr>
          <a:xfrm>
            <a:off x="1638720" y="8814600"/>
            <a:ext cx="4877280" cy="0"/>
          </a:xfrm>
          <a:prstGeom prst="line">
            <a:avLst/>
          </a:prstGeom>
          <a:noFill/>
          <a:ln w="11430">
            <a:solidFill>
              <a:srgbClr val="1C1C1C"/>
            </a:solidFill>
            <a:prstDash val="sysDot"/>
          </a:ln>
        </p:spPr>
      </p:sp>
      <p:sp>
        <p:nvSpPr>
          <p:cNvPr id="65" name="Text 62"/>
          <p:cNvSpPr/>
          <p:nvPr/>
        </p:nvSpPr>
        <p:spPr>
          <a:xfrm>
            <a:off x="810000" y="8616600"/>
            <a:ext cx="8287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1638720" y="1666800"/>
            <a:ext cx="4877280" cy="0"/>
          </a:xfrm>
          <a:prstGeom prst="line">
            <a:avLst/>
          </a:prstGeom>
          <a:noFill/>
          <a:ln w="11430">
            <a:solidFill>
              <a:srgbClr val="1C1C1C"/>
            </a:solidFill>
            <a:prstDash val="sysDot"/>
          </a:ln>
        </p:spPr>
      </p:sp>
      <p:sp>
        <p:nvSpPr>
          <p:cNvPr id="8" name="Text 5"/>
          <p:cNvSpPr/>
          <p:nvPr/>
        </p:nvSpPr>
        <p:spPr>
          <a:xfrm>
            <a:off x="810000" y="1468800"/>
            <a:ext cx="82872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
        <p:nvSpPr>
          <p:cNvPr id="10" name="Shape 7"/>
          <p:cNvSpPr/>
          <p:nvPr/>
        </p:nvSpPr>
        <p:spPr>
          <a:xfrm>
            <a:off x="2826000" y="2043000"/>
            <a:ext cx="3690000" cy="0"/>
          </a:xfrm>
          <a:prstGeom prst="line">
            <a:avLst/>
          </a:prstGeom>
          <a:noFill/>
          <a:ln w="11430">
            <a:solidFill>
              <a:srgbClr val="1C1C1C"/>
            </a:solidFill>
            <a:prstDash val="sysDot"/>
          </a:ln>
        </p:spPr>
      </p:sp>
      <p:sp>
        <p:nvSpPr>
          <p:cNvPr id="11" name="Text 8"/>
          <p:cNvSpPr/>
          <p:nvPr/>
        </p:nvSpPr>
        <p:spPr>
          <a:xfrm>
            <a:off x="630000" y="1845000"/>
            <a:ext cx="2196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marL="0" indent="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marL="0" indent="0" algn="r">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6" name="Shape 13"/>
          <p:cNvSpPr/>
          <p:nvPr/>
        </p:nvSpPr>
        <p:spPr>
          <a:xfrm>
            <a:off x="4062960" y="2795400"/>
            <a:ext cx="2453040" cy="0"/>
          </a:xfrm>
          <a:prstGeom prst="line">
            <a:avLst/>
          </a:prstGeom>
          <a:noFill/>
          <a:ln w="11430">
            <a:solidFill>
              <a:srgbClr val="1C1C1C"/>
            </a:solidFill>
            <a:prstDash val="sysDot"/>
          </a:ln>
        </p:spPr>
      </p:sp>
      <p:sp>
        <p:nvSpPr>
          <p:cNvPr id="17" name="Text 14"/>
          <p:cNvSpPr/>
          <p:nvPr/>
        </p:nvSpPr>
        <p:spPr>
          <a:xfrm>
            <a:off x="810000" y="2597400"/>
            <a:ext cx="3252960" cy="262800"/>
          </a:xfrm>
          <a:prstGeom prst="rect">
            <a:avLst/>
          </a:prstGeom>
          <a:noFill/>
          <a:ln/>
        </p:spPr>
        <p:txBody>
          <a:bodyPr wrap="square" lIns="0" tIns="0" rIns="0" bIns="0" rtlCol="0" anchor="ctr">
            <a:normAutofit/>
          </a:bodyPr>
          <a:lstStyle/>
          <a:p>
            <a:pPr marL="0" indent="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marL="0" indent="0" algn="r">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marL="0" indent="0" algn="just">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 présent document constitue un </a:t>
            </a:r>
            <a:r>
              <a:rPr lang="en-US" sz="1100" b="1" dirty="0">
                <a:solidFill>
                  <a:srgbClr val="1C1C1C"/>
                </a:solidFill>
                <a:latin typeface="Calibri" pitchFamily="34" charset="0"/>
                <a:ea typeface="Calibri" pitchFamily="34" charset="-122"/>
                <a:cs typeface="Calibri" pitchFamily="34" charset="-120"/>
              </a:rPr>
              <a:t>Projet de Plan Pluriannuel de Travaux (PPPT)</a:t>
            </a:r>
            <a:r>
              <a:rPr lang="en-US" sz="1100" dirty="0">
                <a:solidFill>
                  <a:srgbClr val="1C1C1C"/>
                </a:solidFill>
                <a:latin typeface="Calibri" pitchFamily="34" charset="0"/>
                <a:ea typeface="Calibri" pitchFamily="34" charset="-122"/>
                <a:cs typeface="Calibri" pitchFamily="34" charset="-120"/>
              </a:rPr>
              <a:t> établi conformément aux dispositions de la </a:t>
            </a:r>
            <a:r>
              <a:rPr lang="en-US" sz="1100" b="1" dirty="0">
                <a:solidFill>
                  <a:srgbClr val="1C1C1C"/>
                </a:solidFill>
                <a:latin typeface="Calibri" pitchFamily="34" charset="0"/>
                <a:ea typeface="Calibri" pitchFamily="34" charset="-122"/>
                <a:cs typeface="Calibri" pitchFamily="34" charset="-120"/>
              </a:rPr>
              <a:t>loi n° 2021-1104 du 22 août 2021</a:t>
            </a:r>
            <a:r>
              <a:rPr lang="en-US" sz="1100" dirty="0">
                <a:solidFill>
                  <a:srgbClr val="1C1C1C"/>
                </a:solidFill>
                <a:latin typeface="Calibri" pitchFamily="34" charset="0"/>
                <a:ea typeface="Calibri" pitchFamily="34" charset="-122"/>
                <a:cs typeface="Calibri" pitchFamily="34" charset="-120"/>
              </a:rPr>
              <a:t>, dite « Climat et Résilience », codifiées aux </a:t>
            </a:r>
            <a:r>
              <a:rPr lang="en-US" sz="1100" b="1" dirty="0">
                <a:solidFill>
                  <a:srgbClr val="1C1C1C"/>
                </a:solidFill>
                <a:latin typeface="Calibri" pitchFamily="34" charset="0"/>
                <a:ea typeface="Calibri" pitchFamily="34" charset="-122"/>
                <a:cs typeface="Calibri" pitchFamily="34" charset="-120"/>
              </a:rPr>
              <a:t>articles L.731-1 à L.731-5</a:t>
            </a:r>
            <a:r>
              <a:rPr lang="en-US" sz="1100" dirty="0">
                <a:solidFill>
                  <a:srgbClr val="1C1C1C"/>
                </a:solidFill>
                <a:latin typeface="Calibri" pitchFamily="34" charset="0"/>
                <a:ea typeface="Calibri" pitchFamily="34" charset="-122"/>
                <a:cs typeface="Calibri" pitchFamily="34" charset="-120"/>
              </a:rPr>
              <a:t> et </a:t>
            </a: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r>
              <a:rPr lang="en-US" sz="1100" dirty="0">
                <a:solidFill>
                  <a:srgbClr val="1C1C1C"/>
                </a:solidFill>
                <a:latin typeface="Calibri" pitchFamily="34" charset="0"/>
                <a:ea typeface="Calibri" pitchFamily="34" charset="-122"/>
                <a:cs typeface="Calibri" pitchFamily="34" charset="-120"/>
              </a:rPr>
              <a:t>, ainsi qu'à </a:t>
            </a: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r>
              <a:rPr lang="en-US" sz="1100" dirty="0">
                <a:solidFill>
                  <a:srgbClr val="1C1C1C"/>
                </a:solidFill>
                <a:latin typeface="Calibri" pitchFamily="34" charset="0"/>
                <a:ea typeface="Calibri" pitchFamily="34" charset="-122"/>
                <a:cs typeface="Calibri" pitchFamily="34" charset="-120"/>
              </a:rPr>
              <a:t>.</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r>
              <a:rPr lang="en-US" sz="1100" b="1" dirty="0">
                <a:solidFill>
                  <a:srgbClr val="1C1C1C"/>
                </a:solidFill>
                <a:latin typeface="Calibri" pitchFamily="34" charset="0"/>
                <a:ea typeface="Calibri" pitchFamily="34" charset="-122"/>
                <a:cs typeface="Calibri" pitchFamily="34" charset="-120"/>
              </a:rPr>
              <a:t>Plan Pluriannuel de Travaux (PPT)</a:t>
            </a: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marL="0" indent="0" algn="just">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marL="0" indent="0" algn="just">
              <a:buNone/>
            </a:pPr>
            <a:endParaRPr lang="en-US" sz="1100" dirty="0"/>
          </a:p>
          <a:p>
            <a:pPr marL="0" indent="0" algn="just">
              <a:buNone/>
            </a:pPr>
            <a:endParaRPr lang="en-US" sz="1100" dirty="0"/>
          </a:p>
          <a:p>
            <a:pPr marL="0" indent="0" algn="just">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marL="0" indent="0" algn="just">
              <a:buNone/>
            </a:pPr>
            <a:endParaRPr lang="en-US" sz="1100" dirty="0"/>
          </a:p>
          <a:p>
            <a:pPr marL="0" indent="0" algn="just">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marL="0" indent="0" algn="just">
              <a:buNone/>
            </a:pPr>
            <a:endParaRPr lang="en-US" sz="1100" dirty="0"/>
          </a:p>
          <a:p>
            <a:pPr marL="0" indent="0" algn="just">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marL="0" indent="0" algn="just">
              <a:buNone/>
            </a:pPr>
            <a:endParaRPr lang="en-US" sz="1100" dirty="0"/>
          </a:p>
          <a:p>
            <a:pPr marL="0" indent="0" algn="just">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marL="150368" indent="-150368" algn="just">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marL="0" indent="0" algn="ctr">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marL="0" indent="0" algn="just">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marL="0" indent="0" algn="just">
              <a:buNone/>
            </a:pP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marL="0" indent="0" algn="just">
              <a:buNone/>
            </a:pPr>
            <a:endParaRPr lang="en-US" sz="1100" dirty="0"/>
          </a:p>
          <a:p>
            <a:pPr marL="0" indent="0" algn="just">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marL="0" indent="0" algn="ctr">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marL="0" indent="0" algn="ctr">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marL="0" indent="0" algn="ctr">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marL="0" indent="0" algn="ctr">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marL="0" indent="0" algn="ctr">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marL="0" indent="0" algn="ctr">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marL="0" indent="0" algn="ctr">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marL="0" indent="0" algn="ctr">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marL="0" indent="0" algn="ctr">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marL="0" indent="0" algn="ctr">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marL="0" indent="0" algn="ctr">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marL="0" indent="0" algn="ctr">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marL="0" indent="0" algn="ctr">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marL="0" indent="0" algn="ctr">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marL="0" indent="0" algn="ctr">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marL="0" indent="0" algn="just">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marL="0" indent="0" algn="ctr">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marL="0" indent="0" algn="ctr">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marL="0" indent="0" algn="ctr">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marL="0" indent="0" algn="r">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France Verte, bureau d’études fluides et thermiques"/>
          <p:cNvPicPr>
            <a:picLocks noChangeAspect="1"/>
          </p:cNvPicPr>
          <p:nvPr/>
        </p:nvPicPr>
        <p:blipFill>
          <a:blip r:embed="rId3"/>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marL="0" indent="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marL="0" indent="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marL="0" indent="0" algn="ctr">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marL="0" indent="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icPr>
            <a:picLocks noChangeAspect="1"/>
          </p:cNvPicPr>
          <p:nvPr/>
        </p:nvPicPr>
        <p:blipFill>
          <a:blip r:embed="rId3"/>
          <a:stretch>
            <a:fillRect/>
          </a:stretch>
        </p:blipFill>
        <p:spPr>
          <a:xfrm>
            <a:off x="640080" y="5892728"/>
            <a:ext cx="6279515" cy="1583071"/>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marL="0" indent="0" algn="ctr">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marL="0" indent="0" algn="r">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France Verte, bureau d’études fluides et thermiques"/>
          <p:cNvPicPr>
            <a:picLocks noChangeAspect="1"/>
          </p:cNvPicPr>
          <p:nvPr/>
        </p:nvPicPr>
        <p:blipFill>
          <a:blip r:embed="rId3"/>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marL="0" indent="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marL="0" indent="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marL="0" indent="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marL="0" indent="0" algn="ctr">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marL="0" indent="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marL="0" indent="0" algn="ctr">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marL="0" indent="0" algn="r">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France Verte, bureau d’études fluides et thermiques"/>
          <p:cNvPicPr>
            <a:picLocks noChangeAspect="1"/>
          </p:cNvPicPr>
          <p:nvPr/>
        </p:nvPicPr>
        <p:blipFill>
          <a:blip r:embed="rId3"/>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marL="0" indent="0" algn="ctr">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marL="0" indent="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marL="0" indent="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Intervention curative.</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marL="0" indent="0" algn="ctr">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marL="0" indent="0" algn="ctr">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marL="0" indent="0" algn="ctr">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marL="0" indent="0" algn="r">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France Verte, bureau d’études fluides et thermiques"/>
          <p:cNvPicPr>
            <a:picLocks noChangeAspect="1"/>
          </p:cNvPicPr>
          <p:nvPr/>
        </p:nvPicPr>
        <p:blipFill>
          <a:blip r:embed="rId3"/>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marL="0" indent="0" algn="ctr">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marL="0" indent="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2"/>
          <p:cNvPicPr>
            <a:picLocks noChangeAspect="1"/>
          </p:cNvPicPr>
          <p:nvPr/>
        </p:nvPicPr>
        <p:blipFill>
          <a:blip r:embed="rId3"/>
          <a:stretch>
            <a:fillRect/>
          </a:stretch>
        </p:blipFill>
        <p:spPr>
          <a:xfrm>
            <a:off x="640080" y="3080948"/>
            <a:ext cx="6279515" cy="1583071"/>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marL="0" indent="0" algn="ctr">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marL="0" indent="0" algn="r">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France Verte, bureau d’études fluides et thermiques"/>
          <p:cNvPicPr>
            <a:picLocks noChangeAspect="1"/>
          </p:cNvPicPr>
          <p:nvPr/>
        </p:nvPicPr>
        <p:blipFill>
          <a:blip r:embed="rId3"/>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marL="0" indent="0" algn="ctr">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marL="0" indent="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marL="0" indent="0" algn="ctr">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marL="0" indent="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marL="0" indent="0" algn="ctr">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marL="0" indent="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marL="0" indent="0" algn="ctr">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marL="0" indent="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3"/>
          <p:cNvPicPr>
            <a:picLocks noChangeAspect="1"/>
          </p:cNvPicPr>
          <p:nvPr/>
        </p:nvPicPr>
        <p:blipFill>
          <a:blip r:embed="rId3"/>
          <a:stretch>
            <a:fillRect/>
          </a:stretch>
        </p:blipFill>
        <p:spPr>
          <a:xfrm>
            <a:off x="640080" y="6477944"/>
            <a:ext cx="6279515" cy="1583071"/>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marL="0" indent="0" algn="ctr">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marL="0" indent="0" algn="r">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marL="0" indent="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marL="0" indent="0">
              <a:buNone/>
            </a:pPr>
            <a:r>
              <a:rPr lang="en-US" sz="970" dirty="0">
                <a:solidFill>
                  <a:srgbClr val="1C1C1C"/>
                </a:solidFill>
                <a:latin typeface="Aptos" pitchFamily="34" charset="0"/>
                <a:ea typeface="Aptos" pitchFamily="34" charset="-122"/>
                <a:cs typeface="Aptos" pitchFamily="34" charset="-120"/>
              </a:rPr>
              <a:t>Aides disponibles :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74784"/>
            <a:ext cx="6264000" cy="237024"/>
          </a:xfrm>
          <a:prstGeom prst="rect">
            <a:avLst/>
          </a:prstGeom>
          <a:noFill/>
          <a:ln/>
        </p:spPr>
        <p:txBody>
          <a:bodyPr wrap="square" lIns="0" tIns="0" rIns="0" bIns="0" rtlCol="0" anchor="t"/>
          <a:lstStyle/>
          <a:p>
            <a:pPr marL="0" indent="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87408"/>
            <a:ext cx="6264000" cy="374472"/>
          </a:xfrm>
          <a:prstGeom prst="rect">
            <a:avLst/>
          </a:prstGeom>
          <a:noFill/>
          <a:ln/>
        </p:spPr>
        <p:txBody>
          <a:bodyPr wrap="square" lIns="0" tIns="0" rIns="0" bIns="0" rtlCol="0" anchor="t"/>
          <a:lstStyle/>
          <a:p>
            <a:pPr marL="0" indent="0">
              <a:buNone/>
            </a:pPr>
            <a:r>
              <a:rPr lang="en-US" sz="935" dirty="0">
                <a:solidFill>
                  <a:srgbClr val="1C1C1C"/>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35" dirty="0"/>
          </a:p>
        </p:txBody>
      </p:sp>
      <p:sp>
        <p:nvSpPr>
          <p:cNvPr id="19" name="Text 16"/>
          <p:cNvSpPr/>
          <p:nvPr/>
        </p:nvSpPr>
        <p:spPr>
          <a:xfrm>
            <a:off x="648000" y="5923080"/>
            <a:ext cx="6264000" cy="529308"/>
          </a:xfrm>
          <a:prstGeom prst="rect">
            <a:avLst/>
          </a:prstGeom>
          <a:noFill/>
          <a:ln/>
        </p:spPr>
        <p:txBody>
          <a:bodyPr wrap="square" lIns="0" tIns="0" rIns="0" bIns="0" rtlCol="0" anchor="t"/>
          <a:lstStyle/>
          <a:p>
            <a:pPr marL="0" indent="0">
              <a:buNone/>
            </a:pPr>
            <a:r>
              <a:rPr lang="en-US" sz="935"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35" dirty="0"/>
          </a:p>
        </p:txBody>
      </p:sp>
      <p:sp>
        <p:nvSpPr>
          <p:cNvPr id="20" name="Text 17"/>
          <p:cNvSpPr/>
          <p:nvPr/>
        </p:nvSpPr>
        <p:spPr>
          <a:xfrm>
            <a:off x="648000" y="6513588"/>
            <a:ext cx="6264000" cy="529308"/>
          </a:xfrm>
          <a:prstGeom prst="rect">
            <a:avLst/>
          </a:prstGeom>
          <a:noFill/>
          <a:ln/>
        </p:spPr>
        <p:txBody>
          <a:bodyPr wrap="square" lIns="0" tIns="0" rIns="0" bIns="0" rtlCol="0" anchor="t"/>
          <a:lstStyle/>
          <a:p>
            <a:pPr marL="0" indent="0">
              <a:buNone/>
            </a:pPr>
            <a:r>
              <a:rPr lang="en-US" sz="935"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35" dirty="0"/>
          </a:p>
        </p:txBody>
      </p:sp>
      <p:sp>
        <p:nvSpPr>
          <p:cNvPr id="21" name="Text 18"/>
          <p:cNvSpPr/>
          <p:nvPr/>
        </p:nvSpPr>
        <p:spPr>
          <a:xfrm>
            <a:off x="648000" y="7104096"/>
            <a:ext cx="6264000" cy="838980"/>
          </a:xfrm>
          <a:prstGeom prst="rect">
            <a:avLst/>
          </a:prstGeom>
          <a:noFill/>
          <a:ln/>
        </p:spPr>
        <p:txBody>
          <a:bodyPr wrap="square" lIns="0" tIns="0" rIns="0" bIns="0" rtlCol="0" anchor="t"/>
          <a:lstStyle/>
          <a:p>
            <a:pPr marL="0" indent="0">
              <a:buNone/>
            </a:pPr>
            <a:r>
              <a:rPr lang="en-US" sz="935"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35" dirty="0"/>
          </a:p>
        </p:txBody>
      </p:sp>
      <p:sp>
        <p:nvSpPr>
          <p:cNvPr id="22" name="Text 19"/>
          <p:cNvSpPr/>
          <p:nvPr/>
        </p:nvSpPr>
        <p:spPr>
          <a:xfrm>
            <a:off x="648000" y="8004276"/>
            <a:ext cx="6264000" cy="366192"/>
          </a:xfrm>
          <a:prstGeom prst="rect">
            <a:avLst/>
          </a:prstGeom>
          <a:noFill/>
          <a:ln/>
        </p:spPr>
        <p:txBody>
          <a:bodyPr wrap="square" lIns="0" tIns="0" rIns="0" bIns="0" rtlCol="0" anchor="t"/>
          <a:lstStyle/>
          <a:p>
            <a:pPr marL="0" indent="0">
              <a:buNone/>
            </a:pPr>
            <a:r>
              <a:rPr lang="en-US" sz="910" dirty="0">
                <a:solidFill>
                  <a:srgbClr val="1C1C1C"/>
                </a:solidFill>
                <a:latin typeface="Aptos" pitchFamily="34" charset="0"/>
                <a:ea typeface="Aptos" pitchFamily="34" charset="-122"/>
                <a:cs typeface="Aptos" pitchFamily="34" charset="-120"/>
              </a:rPr>
              <a:t>Aides disponibles : La prime relative à l’isolation des points singuliers d’un réseau permet également une subvention de 60 euros par points singuliers par un professionnel.</a:t>
            </a:r>
            <a:endParaRPr lang="en-US" sz="91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marL="0" indent="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marL="0" indent="0">
              <a:buNone/>
            </a:pPr>
            <a:r>
              <a:rPr lang="en-US" sz="1000" b="1" dirty="0">
                <a:solidFill>
                  <a:srgbClr val="00B55A"/>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9590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900" dirty="0"/>
          </a:p>
        </p:txBody>
      </p:sp>
      <p:sp>
        <p:nvSpPr>
          <p:cNvPr id="11" name="Text 8"/>
          <p:cNvSpPr/>
          <p:nvPr/>
        </p:nvSpPr>
        <p:spPr>
          <a:xfrm>
            <a:off x="648000" y="3337776"/>
            <a:ext cx="6264000" cy="230400"/>
          </a:xfrm>
          <a:prstGeom prst="rect">
            <a:avLst/>
          </a:prstGeom>
          <a:noFill/>
          <a:ln/>
        </p:spPr>
        <p:txBody>
          <a:bodyPr wrap="square" lIns="0" tIns="0" rIns="0" bIns="0" rtlCol="0" anchor="t"/>
          <a:lstStyle/>
          <a:p>
            <a:pPr marL="0" indent="0">
              <a:buNone/>
            </a:pPr>
            <a:r>
              <a:rPr lang="en-US" sz="1000" b="1" dirty="0">
                <a:solidFill>
                  <a:srgbClr val="00B55A"/>
                </a:solidFill>
                <a:latin typeface="Aptos" pitchFamily="34" charset="0"/>
                <a:ea typeface="Aptos" pitchFamily="34" charset="-122"/>
                <a:cs typeface="Aptos" pitchFamily="34" charset="-120"/>
              </a:rPr>
              <a:t>Qu’est ce que le VIGIK+</a:t>
            </a:r>
            <a:endParaRPr lang="en-US" sz="1000" dirty="0"/>
          </a:p>
        </p:txBody>
      </p:sp>
      <p:sp>
        <p:nvSpPr>
          <p:cNvPr id="12" name="Text 9"/>
          <p:cNvSpPr/>
          <p:nvPr/>
        </p:nvSpPr>
        <p:spPr>
          <a:xfrm>
            <a:off x="648000" y="3607776"/>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900" dirty="0"/>
          </a:p>
        </p:txBody>
      </p:sp>
      <p:sp>
        <p:nvSpPr>
          <p:cNvPr id="13" name="Text 10"/>
          <p:cNvSpPr/>
          <p:nvPr/>
        </p:nvSpPr>
        <p:spPr>
          <a:xfrm>
            <a:off x="648000" y="4333536"/>
            <a:ext cx="6264000" cy="230400"/>
          </a:xfrm>
          <a:prstGeom prst="rect">
            <a:avLst/>
          </a:prstGeom>
          <a:noFill/>
          <a:ln/>
        </p:spPr>
        <p:txBody>
          <a:bodyPr wrap="square" lIns="0" tIns="0" rIns="0" bIns="0" rtlCol="0" anchor="t"/>
          <a:lstStyle/>
          <a:p>
            <a:pPr marL="0" indent="0">
              <a:buNone/>
            </a:pPr>
            <a:r>
              <a:rPr lang="en-US" sz="1000" b="1" dirty="0">
                <a:solidFill>
                  <a:srgbClr val="00B55A"/>
                </a:solidFill>
                <a:latin typeface="Aptos" pitchFamily="34" charset="0"/>
                <a:ea typeface="Aptos" pitchFamily="34" charset="-122"/>
                <a:cs typeface="Aptos" pitchFamily="34" charset="-120"/>
              </a:rPr>
              <a:t>Principales évolutions</a:t>
            </a:r>
            <a:endParaRPr lang="en-US" sz="1000" dirty="0"/>
          </a:p>
        </p:txBody>
      </p:sp>
      <p:sp>
        <p:nvSpPr>
          <p:cNvPr id="14" name="Text 11"/>
          <p:cNvSpPr/>
          <p:nvPr/>
        </p:nvSpPr>
        <p:spPr>
          <a:xfrm>
            <a:off x="648000" y="4603536"/>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900" dirty="0"/>
          </a:p>
        </p:txBody>
      </p:sp>
      <p:sp>
        <p:nvSpPr>
          <p:cNvPr id="15" name="Text 12"/>
          <p:cNvSpPr/>
          <p:nvPr/>
        </p:nvSpPr>
        <p:spPr>
          <a:xfrm>
            <a:off x="648000" y="5478336"/>
            <a:ext cx="6264000" cy="230400"/>
          </a:xfrm>
          <a:prstGeom prst="rect">
            <a:avLst/>
          </a:prstGeom>
          <a:noFill/>
          <a:ln/>
        </p:spPr>
        <p:txBody>
          <a:bodyPr wrap="square" lIns="0" tIns="0" rIns="0" bIns="0" rtlCol="0" anchor="t"/>
          <a:lstStyle/>
          <a:p>
            <a:pPr marL="0" indent="0">
              <a:buNone/>
            </a:pPr>
            <a:r>
              <a:rPr lang="en-US" sz="1000" b="1" dirty="0">
                <a:solidFill>
                  <a:srgbClr val="00B55A"/>
                </a:solidFill>
                <a:latin typeface="Aptos" pitchFamily="34" charset="0"/>
                <a:ea typeface="Aptos" pitchFamily="34" charset="-122"/>
                <a:cs typeface="Aptos" pitchFamily="34" charset="-120"/>
              </a:rPr>
              <a:t>Impacts pour les copropriétés</a:t>
            </a:r>
            <a:endParaRPr lang="en-US" sz="1000" dirty="0"/>
          </a:p>
        </p:txBody>
      </p:sp>
      <p:sp>
        <p:nvSpPr>
          <p:cNvPr id="16" name="Text 13"/>
          <p:cNvSpPr/>
          <p:nvPr/>
        </p:nvSpPr>
        <p:spPr>
          <a:xfrm>
            <a:off x="648000" y="5748336"/>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900" dirty="0"/>
          </a:p>
        </p:txBody>
      </p:sp>
      <p:sp>
        <p:nvSpPr>
          <p:cNvPr id="17" name="Text 14"/>
          <p:cNvSpPr/>
          <p:nvPr/>
        </p:nvSpPr>
        <p:spPr>
          <a:xfrm>
            <a:off x="648000" y="6623136"/>
            <a:ext cx="6264000" cy="230400"/>
          </a:xfrm>
          <a:prstGeom prst="rect">
            <a:avLst/>
          </a:prstGeom>
          <a:noFill/>
          <a:ln/>
        </p:spPr>
        <p:txBody>
          <a:bodyPr wrap="square" lIns="0" tIns="0" rIns="0" bIns="0" rtlCol="0" anchor="t"/>
          <a:lstStyle/>
          <a:p>
            <a:pPr marL="0" indent="0">
              <a:buNone/>
            </a:pPr>
            <a:r>
              <a:rPr lang="en-US" sz="1000" b="1" dirty="0">
                <a:solidFill>
                  <a:srgbClr val="00B55A"/>
                </a:solidFill>
                <a:latin typeface="Aptos" pitchFamily="34" charset="0"/>
                <a:ea typeface="Aptos" pitchFamily="34" charset="-122"/>
                <a:cs typeface="Aptos" pitchFamily="34" charset="-120"/>
              </a:rPr>
              <a:t>Pourquoi anticiper ?</a:t>
            </a:r>
            <a:endParaRPr lang="en-US" sz="1000" dirty="0"/>
          </a:p>
        </p:txBody>
      </p:sp>
      <p:sp>
        <p:nvSpPr>
          <p:cNvPr id="18" name="Text 15"/>
          <p:cNvSpPr/>
          <p:nvPr/>
        </p:nvSpPr>
        <p:spPr>
          <a:xfrm>
            <a:off x="648000" y="6893136"/>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marL="0" indent="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marL="0" indent="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marL="0" indent="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marL="0" indent="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marL="0" indent="0">
              <a:buNone/>
            </a:pPr>
            <a:r>
              <a:rPr lang="en-US" sz="1000" b="1" dirty="0">
                <a:solidFill>
                  <a:srgbClr val="00B050"/>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marL="0" indent="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marL="0" indent="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4032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900" dirty="0"/>
          </a:p>
        </p:txBody>
      </p:sp>
      <p:sp>
        <p:nvSpPr>
          <p:cNvPr id="9" name="Text 6"/>
          <p:cNvSpPr/>
          <p:nvPr/>
        </p:nvSpPr>
        <p:spPr>
          <a:xfrm>
            <a:off x="648000" y="2610000"/>
            <a:ext cx="4032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900" dirty="0"/>
          </a:p>
        </p:txBody>
      </p:sp>
      <p:sp>
        <p:nvSpPr>
          <p:cNvPr id="10" name="Text 7"/>
          <p:cNvSpPr/>
          <p:nvPr/>
        </p:nvSpPr>
        <p:spPr>
          <a:xfrm>
            <a:off x="648000" y="3346560"/>
            <a:ext cx="4032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900" dirty="0"/>
          </a:p>
        </p:txBody>
      </p:sp>
      <p:sp>
        <p:nvSpPr>
          <p:cNvPr id="11" name="Text 8"/>
          <p:cNvSpPr/>
          <p:nvPr/>
        </p:nvSpPr>
        <p:spPr>
          <a:xfrm>
            <a:off x="648000" y="4232160"/>
            <a:ext cx="4032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900" dirty="0"/>
          </a:p>
        </p:txBody>
      </p:sp>
      <p:sp>
        <p:nvSpPr>
          <p:cNvPr id="12" name="Text 9"/>
          <p:cNvSpPr/>
          <p:nvPr/>
        </p:nvSpPr>
        <p:spPr>
          <a:xfrm>
            <a:off x="756000" y="467064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10"/>
          <p:cNvSpPr/>
          <p:nvPr/>
        </p:nvSpPr>
        <p:spPr>
          <a:xfrm>
            <a:off x="900000" y="4670640"/>
            <a:ext cx="3888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amélioration de la sécurité des résidents ;</a:t>
            </a:r>
            <a:endParaRPr lang="en-US" sz="900" dirty="0"/>
          </a:p>
        </p:txBody>
      </p:sp>
      <p:sp>
        <p:nvSpPr>
          <p:cNvPr id="14" name="Text 11"/>
          <p:cNvSpPr/>
          <p:nvPr/>
        </p:nvSpPr>
        <p:spPr>
          <a:xfrm>
            <a:off x="756000" y="49312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2"/>
          <p:cNvSpPr/>
          <p:nvPr/>
        </p:nvSpPr>
        <p:spPr>
          <a:xfrm>
            <a:off x="900000" y="4931280"/>
            <a:ext cx="3888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intervention rapide en cas d’urgence cardiaque ;</a:t>
            </a:r>
            <a:endParaRPr lang="en-US" sz="900" dirty="0"/>
          </a:p>
        </p:txBody>
      </p:sp>
      <p:sp>
        <p:nvSpPr>
          <p:cNvPr id="16" name="Text 13"/>
          <p:cNvSpPr/>
          <p:nvPr/>
        </p:nvSpPr>
        <p:spPr>
          <a:xfrm>
            <a:off x="756000" y="519192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4"/>
          <p:cNvSpPr/>
          <p:nvPr/>
        </p:nvSpPr>
        <p:spPr>
          <a:xfrm>
            <a:off x="900000" y="5191920"/>
            <a:ext cx="3888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équipement accessible et simple d’utilisation ;</a:t>
            </a:r>
            <a:endParaRPr lang="en-US" sz="900" dirty="0"/>
          </a:p>
        </p:txBody>
      </p:sp>
      <p:sp>
        <p:nvSpPr>
          <p:cNvPr id="18" name="Text 15"/>
          <p:cNvSpPr/>
          <p:nvPr/>
        </p:nvSpPr>
        <p:spPr>
          <a:xfrm>
            <a:off x="756000" y="545256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6"/>
          <p:cNvSpPr/>
          <p:nvPr/>
        </p:nvSpPr>
        <p:spPr>
          <a:xfrm>
            <a:off x="900000" y="5452560"/>
            <a:ext cx="3888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valorisation des équipements de sécurité de l’immeuble.</a:t>
            </a:r>
            <a:endParaRPr lang="en-US" sz="900" dirty="0"/>
          </a:p>
        </p:txBody>
      </p:sp>
      <p:sp>
        <p:nvSpPr>
          <p:cNvPr id="20" name="Text 17"/>
          <p:cNvSpPr/>
          <p:nvPr/>
        </p:nvSpPr>
        <p:spPr>
          <a:xfrm>
            <a:off x="648000" y="5778000"/>
            <a:ext cx="4032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900" dirty="0"/>
          </a:p>
        </p:txBody>
      </p:sp>
      <p:sp>
        <p:nvSpPr>
          <p:cNvPr id="21" name="Text 18"/>
          <p:cNvSpPr/>
          <p:nvPr/>
        </p:nvSpPr>
        <p:spPr>
          <a:xfrm>
            <a:off x="756000" y="636552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900000" y="6365520"/>
            <a:ext cx="3888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une maintenance régulière de l’appareil ;</a:t>
            </a:r>
            <a:endParaRPr lang="en-US" sz="900" dirty="0"/>
          </a:p>
        </p:txBody>
      </p:sp>
      <p:sp>
        <p:nvSpPr>
          <p:cNvPr id="23" name="Text 20"/>
          <p:cNvSpPr/>
          <p:nvPr/>
        </p:nvSpPr>
        <p:spPr>
          <a:xfrm>
            <a:off x="756000" y="662616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900000" y="6626160"/>
            <a:ext cx="3888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900" dirty="0"/>
          </a:p>
        </p:txBody>
      </p:sp>
      <p:sp>
        <p:nvSpPr>
          <p:cNvPr id="25" name="Text 22"/>
          <p:cNvSpPr/>
          <p:nvPr/>
        </p:nvSpPr>
        <p:spPr>
          <a:xfrm>
            <a:off x="756000" y="703584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900000" y="7035840"/>
            <a:ext cx="3888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une assurance contre les dégradations ou le vol.</a:t>
            </a:r>
            <a:endParaRPr lang="en-US" sz="900" dirty="0"/>
          </a:p>
        </p:txBody>
      </p:sp>
      <p:sp>
        <p:nvSpPr>
          <p:cNvPr id="27" name="Text 24"/>
          <p:cNvSpPr/>
          <p:nvPr/>
        </p:nvSpPr>
        <p:spPr>
          <a:xfrm>
            <a:off x="648000" y="7368480"/>
            <a:ext cx="4032000" cy="12571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900" dirty="0"/>
          </a:p>
        </p:txBody>
      </p:sp>
      <p:sp>
        <p:nvSpPr>
          <p:cNvPr id="28" name="Shape 25"/>
          <p:cNvSpPr/>
          <p:nvPr/>
        </p:nvSpPr>
        <p:spPr>
          <a:xfrm>
            <a:off x="4932000" y="2556000"/>
            <a:ext cx="1836000" cy="1548000"/>
          </a:xfrm>
          <a:prstGeom prst="rect">
            <a:avLst/>
          </a:prstGeom>
          <a:solidFill>
            <a:srgbClr val="F7F7F7"/>
          </a:solidFill>
          <a:ln w="6985">
            <a:solidFill>
              <a:srgbClr val="D9D9D9"/>
            </a:solidFill>
            <a:prstDash val="solid"/>
          </a:ln>
        </p:spPr>
      </p:sp>
      <p:sp>
        <p:nvSpPr>
          <p:cNvPr id="29" name="Text 26"/>
          <p:cNvSpPr/>
          <p:nvPr/>
        </p:nvSpPr>
        <p:spPr>
          <a:xfrm>
            <a:off x="5004000" y="3168000"/>
            <a:ext cx="1692000" cy="252000"/>
          </a:xfrm>
          <a:prstGeom prst="rect">
            <a:avLst/>
          </a:prstGeom>
          <a:noFill/>
          <a:ln/>
        </p:spPr>
        <p:txBody>
          <a:bodyPr wrap="square" lIns="0" tIns="0" rIns="0" bIns="0" rtlCol="0" anchor="ctr"/>
          <a:lstStyle/>
          <a:p>
            <a:pPr marL="0" indent="0" algn="ctr">
              <a:buNone/>
            </a:pPr>
            <a:r>
              <a:rPr lang="en-US" sz="800" dirty="0">
                <a:solidFill>
                  <a:srgbClr val="6E7480"/>
                </a:solidFill>
                <a:latin typeface="Aptos" pitchFamily="34" charset="0"/>
                <a:ea typeface="Aptos" pitchFamily="34" charset="-122"/>
                <a:cs typeface="Aptos" pitchFamily="34" charset="-120"/>
              </a:rPr>
              <a:t>Illustration du modèle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2808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168000"/>
            <a:ext cx="3492000" cy="324000"/>
          </a:xfrm>
          <a:prstGeom prst="rect">
            <a:avLst/>
          </a:prstGeom>
          <a:solidFill>
            <a:srgbClr val="FFFFFF"/>
          </a:solidFill>
          <a:ln w="6985">
            <a:solidFill>
              <a:srgbClr val="202020"/>
            </a:solidFill>
            <a:prstDash val="solid"/>
          </a:ln>
        </p:spPr>
      </p:sp>
      <p:sp>
        <p:nvSpPr>
          <p:cNvPr id="9" name="Text 6"/>
          <p:cNvSpPr/>
          <p:nvPr/>
        </p:nvSpPr>
        <p:spPr>
          <a:xfrm>
            <a:off x="601200" y="3207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168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207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168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207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492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5316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492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531600"/>
            <a:ext cx="1029600" cy="13824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492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5316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953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9932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953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9932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953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9932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415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4548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415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4548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415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4548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876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9164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876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9164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876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9164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Assurance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marL="0" indent="0" algn="ctr">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marL="0" indent="0" algn="l">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Immatriculation de la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marL="0" indent="0" algn="l">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Fiche synthétique</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marL="0" indent="0" algn="l">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Règlement de copropriété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marL="0" indent="0" algn="l">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Compte bancaire séparé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marL="0" indent="0" algn="l">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Procès-verbaux des assemblées générales</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marL="0" indent="0" algn="l">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0512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Dossier Technique Amiante (DTA)</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376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0512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051200"/>
          </a:xfrm>
          <a:prstGeom prst="rect">
            <a:avLst/>
          </a:prstGeom>
          <a:noFill/>
          <a:ln/>
        </p:spPr>
        <p:txBody>
          <a:bodyPr wrap="square" lIns="0" tIns="0" rIns="0" bIns="0" rtlCol="0" anchor="t"/>
          <a:lstStyle/>
          <a:p>
            <a:pPr marL="0" indent="0" algn="l">
              <a:buNone/>
            </a:pPr>
            <a:endParaRPr lang="en-US" sz="1000" dirty="0"/>
          </a:p>
        </p:txBody>
      </p:sp>
      <p:sp>
        <p:nvSpPr>
          <p:cNvPr id="20" name="Shape 17"/>
          <p:cNvSpPr/>
          <p:nvPr/>
        </p:nvSpPr>
        <p:spPr>
          <a:xfrm>
            <a:off x="540000" y="3506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546000"/>
            <a:ext cx="3369600" cy="10512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Diagnostic plomb – Parties communes (CREP)</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506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546000"/>
            <a:ext cx="1029600" cy="10512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506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546000"/>
            <a:ext cx="1713600" cy="1051200"/>
          </a:xfrm>
          <a:prstGeom prst="rect">
            <a:avLst/>
          </a:prstGeom>
          <a:noFill/>
          <a:ln/>
        </p:spPr>
        <p:txBody>
          <a:bodyPr wrap="square" lIns="0" tIns="0" rIns="0" bIns="0" rtlCol="0" anchor="t"/>
          <a:lstStyle/>
          <a:p>
            <a:pPr marL="0" indent="0" algn="l">
              <a:buNone/>
            </a:pPr>
            <a:endParaRPr lang="en-US" sz="1000" dirty="0"/>
          </a:p>
        </p:txBody>
      </p:sp>
      <p:sp>
        <p:nvSpPr>
          <p:cNvPr id="26" name="Shape 23"/>
          <p:cNvSpPr/>
          <p:nvPr/>
        </p:nvSpPr>
        <p:spPr>
          <a:xfrm>
            <a:off x="540000" y="4636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6764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Diagnostic Technique Global (DTG)</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636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676400"/>
            <a:ext cx="1029600" cy="13824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636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676400"/>
            <a:ext cx="1713600" cy="1382400"/>
          </a:xfrm>
          <a:prstGeom prst="rect">
            <a:avLst/>
          </a:prstGeom>
          <a:noFill/>
          <a:ln/>
        </p:spPr>
        <p:txBody>
          <a:bodyPr wrap="square" lIns="0" tIns="0" rIns="0" bIns="0" rtlCol="0" anchor="t"/>
          <a:lstStyle/>
          <a:p>
            <a:pPr marL="0" indent="0" algn="l">
              <a:buNone/>
            </a:pPr>
            <a:endParaRPr lang="en-US" sz="1000" dirty="0"/>
          </a:p>
        </p:txBody>
      </p:sp>
      <p:sp>
        <p:nvSpPr>
          <p:cNvPr id="32" name="Shape 29"/>
          <p:cNvSpPr/>
          <p:nvPr/>
        </p:nvSpPr>
        <p:spPr>
          <a:xfrm>
            <a:off x="540000" y="6098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138000"/>
            <a:ext cx="3369600" cy="13824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Diagnostic termites</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6098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6138000"/>
            <a:ext cx="1029600" cy="13824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098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138000"/>
            <a:ext cx="1713600" cy="1382400"/>
          </a:xfrm>
          <a:prstGeom prst="rect">
            <a:avLst/>
          </a:prstGeom>
          <a:noFill/>
          <a:ln/>
        </p:spPr>
        <p:txBody>
          <a:bodyPr wrap="square" lIns="0" tIns="0" rIns="0" bIns="0" rtlCol="0" anchor="t"/>
          <a:lstStyle/>
          <a:p>
            <a:pPr marL="0" indent="0" algn="l">
              <a:buNone/>
            </a:pPr>
            <a:endParaRPr lang="en-US" sz="1000" dirty="0"/>
          </a:p>
        </p:txBody>
      </p:sp>
      <p:sp>
        <p:nvSpPr>
          <p:cNvPr id="38" name="Shape 35"/>
          <p:cNvSpPr/>
          <p:nvPr/>
        </p:nvSpPr>
        <p:spPr>
          <a:xfrm>
            <a:off x="540000" y="7560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599600"/>
            <a:ext cx="3369600" cy="12168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Diagnostic mérules</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560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599600"/>
            <a:ext cx="1029600" cy="12168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560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599600"/>
            <a:ext cx="1713600" cy="1216800"/>
          </a:xfrm>
          <a:prstGeom prst="rect">
            <a:avLst/>
          </a:prstGeom>
          <a:noFill/>
          <a:ln/>
        </p:spPr>
        <p:txBody>
          <a:bodyPr wrap="square" lIns="0" tIns="0" rIns="0" bIns="0" rtlCol="0" anchor="t"/>
          <a:lstStyle/>
          <a:p>
            <a:pPr marL="0" indent="0" algn="l">
              <a:buNone/>
            </a:pP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0512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376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0512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051200"/>
          </a:xfrm>
          <a:prstGeom prst="rect">
            <a:avLst/>
          </a:prstGeom>
          <a:noFill/>
          <a:ln/>
        </p:spPr>
        <p:txBody>
          <a:bodyPr wrap="square" lIns="0" tIns="0" rIns="0" bIns="0" rtlCol="0" anchor="t"/>
          <a:lstStyle/>
          <a:p>
            <a:pPr marL="0" indent="0" algn="l">
              <a:buNone/>
            </a:pPr>
            <a:endParaRPr lang="en-US" sz="1000" dirty="0"/>
          </a:p>
        </p:txBody>
      </p:sp>
      <p:sp>
        <p:nvSpPr>
          <p:cNvPr id="20" name="Shape 17"/>
          <p:cNvSpPr/>
          <p:nvPr/>
        </p:nvSpPr>
        <p:spPr>
          <a:xfrm>
            <a:off x="540000" y="3506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546000"/>
            <a:ext cx="3369600" cy="10512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506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546000"/>
            <a:ext cx="1029600" cy="10512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506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546000"/>
            <a:ext cx="1713600" cy="1051200"/>
          </a:xfrm>
          <a:prstGeom prst="rect">
            <a:avLst/>
          </a:prstGeom>
          <a:noFill/>
          <a:ln/>
        </p:spPr>
        <p:txBody>
          <a:bodyPr wrap="square" lIns="0" tIns="0" rIns="0" bIns="0" rtlCol="0" anchor="t"/>
          <a:lstStyle/>
          <a:p>
            <a:pPr marL="0" indent="0" algn="l">
              <a:buNone/>
            </a:pPr>
            <a:endParaRPr lang="en-US" sz="1000" dirty="0"/>
          </a:p>
        </p:txBody>
      </p:sp>
      <p:sp>
        <p:nvSpPr>
          <p:cNvPr id="26" name="Shape 23"/>
          <p:cNvSpPr/>
          <p:nvPr/>
        </p:nvSpPr>
        <p:spPr>
          <a:xfrm>
            <a:off x="540000" y="4636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676400"/>
            <a:ext cx="3369600" cy="8568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Carnet d’entretien de l’immeuble</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636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676400"/>
            <a:ext cx="1029600" cy="8568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636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676400"/>
            <a:ext cx="1713600" cy="856800"/>
          </a:xfrm>
          <a:prstGeom prst="rect">
            <a:avLst/>
          </a:prstGeom>
          <a:noFill/>
          <a:ln/>
        </p:spPr>
        <p:txBody>
          <a:bodyPr wrap="square" lIns="0" tIns="0" rIns="0" bIns="0" rtlCol="0" anchor="t"/>
          <a:lstStyle/>
          <a:p>
            <a:pPr marL="0" indent="0" algn="l">
              <a:buNone/>
            </a:pPr>
            <a:endParaRPr lang="en-US" sz="1000" dirty="0"/>
          </a:p>
        </p:txBody>
      </p:sp>
      <p:sp>
        <p:nvSpPr>
          <p:cNvPr id="32" name="Text 29"/>
          <p:cNvSpPr/>
          <p:nvPr/>
        </p:nvSpPr>
        <p:spPr>
          <a:xfrm>
            <a:off x="648000" y="5752800"/>
            <a:ext cx="6264000" cy="9590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5.3 Contrats et travaux recensés</a:t>
            </a:r>
            <a:endParaRPr lang="en-US" sz="1300" dirty="0"/>
          </a:p>
        </p:txBody>
      </p:sp>
      <p:sp>
        <p:nvSpPr>
          <p:cNvPr id="8" name="Text 5"/>
          <p:cNvSpPr/>
          <p:nvPr/>
        </p:nvSpPr>
        <p:spPr>
          <a:xfrm>
            <a:off x="576000" y="1710000"/>
            <a:ext cx="6408000" cy="198000"/>
          </a:xfrm>
          <a:prstGeom prst="rect">
            <a:avLst/>
          </a:prstGeom>
          <a:noFill/>
          <a:ln/>
        </p:spPr>
        <p:txBody>
          <a:bodyPr wrap="square" lIns="0" tIns="0" rIns="0" bIns="0" rtlCol="0" anchor="ctr"/>
          <a:lstStyle/>
          <a:p>
            <a:pPr marL="0" indent="0">
              <a:buNone/>
            </a:pPr>
            <a:r>
              <a:rPr lang="en-US" sz="900" b="1" dirty="0">
                <a:solidFill>
                  <a:srgbClr val="1C1C1C"/>
                </a:solidFill>
                <a:latin typeface="Aptos" pitchFamily="34" charset="0"/>
                <a:ea typeface="Aptos" pitchFamily="34" charset="-122"/>
                <a:cs typeface="Aptos" pitchFamily="34" charset="-120"/>
              </a:rPr>
              <a:t>Travaux recensés dans le carnet d’entretien</a:t>
            </a:r>
            <a:endParaRPr lang="en-US" sz="900" dirty="0"/>
          </a:p>
        </p:txBody>
      </p:sp>
      <p:sp>
        <p:nvSpPr>
          <p:cNvPr id="9" name="Shape 6"/>
          <p:cNvSpPr/>
          <p:nvPr/>
        </p:nvSpPr>
        <p:spPr>
          <a:xfrm>
            <a:off x="540000" y="1962000"/>
            <a:ext cx="3348000" cy="288000"/>
          </a:xfrm>
          <a:prstGeom prst="rect">
            <a:avLst/>
          </a:prstGeom>
          <a:solidFill>
            <a:srgbClr val="FFFFFF"/>
          </a:solidFill>
          <a:ln w="6985">
            <a:solidFill>
              <a:srgbClr val="202020"/>
            </a:solidFill>
            <a:prstDash val="solid"/>
          </a:ln>
        </p:spPr>
      </p:sp>
      <p:sp>
        <p:nvSpPr>
          <p:cNvPr id="10" name="Text 7"/>
          <p:cNvSpPr/>
          <p:nvPr/>
        </p:nvSpPr>
        <p:spPr>
          <a:xfrm>
            <a:off x="601200" y="2001600"/>
            <a:ext cx="3225600" cy="208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DÉSIGNATION</a:t>
            </a:r>
            <a:endParaRPr lang="en-US" sz="1000" dirty="0"/>
          </a:p>
        </p:txBody>
      </p:sp>
      <p:sp>
        <p:nvSpPr>
          <p:cNvPr id="11" name="Shape 8"/>
          <p:cNvSpPr/>
          <p:nvPr/>
        </p:nvSpPr>
        <p:spPr>
          <a:xfrm>
            <a:off x="3888000" y="1962000"/>
            <a:ext cx="3132000" cy="288000"/>
          </a:xfrm>
          <a:prstGeom prst="rect">
            <a:avLst/>
          </a:prstGeom>
          <a:solidFill>
            <a:srgbClr val="FFFFFF"/>
          </a:solidFill>
          <a:ln w="6985">
            <a:solidFill>
              <a:srgbClr val="202020"/>
            </a:solidFill>
            <a:prstDash val="solid"/>
          </a:ln>
        </p:spPr>
      </p:sp>
      <p:sp>
        <p:nvSpPr>
          <p:cNvPr id="12" name="Text 9"/>
          <p:cNvSpPr/>
          <p:nvPr/>
        </p:nvSpPr>
        <p:spPr>
          <a:xfrm>
            <a:off x="3949200" y="2001600"/>
            <a:ext cx="3009600" cy="208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ÉLÉMENT À CONFIRMER</a:t>
            </a:r>
            <a:endParaRPr lang="en-US" sz="1000" dirty="0"/>
          </a:p>
        </p:txBody>
      </p:sp>
      <p:sp>
        <p:nvSpPr>
          <p:cNvPr id="13" name="Shape 10"/>
          <p:cNvSpPr/>
          <p:nvPr/>
        </p:nvSpPr>
        <p:spPr>
          <a:xfrm>
            <a:off x="540000" y="2250000"/>
            <a:ext cx="3348000" cy="432000"/>
          </a:xfrm>
          <a:prstGeom prst="rect">
            <a:avLst/>
          </a:prstGeom>
          <a:solidFill>
            <a:srgbClr val="FFFFFF"/>
          </a:solidFill>
          <a:ln w="6985">
            <a:solidFill>
              <a:srgbClr val="202020"/>
            </a:solidFill>
            <a:prstDash val="solid"/>
          </a:ln>
        </p:spPr>
      </p:sp>
      <p:sp>
        <p:nvSpPr>
          <p:cNvPr id="14" name="Text 11"/>
          <p:cNvSpPr/>
          <p:nvPr/>
        </p:nvSpPr>
        <p:spPr>
          <a:xfrm>
            <a:off x="601200" y="2289600"/>
            <a:ext cx="3225600" cy="352800"/>
          </a:xfrm>
          <a:prstGeom prst="rect">
            <a:avLst/>
          </a:prstGeom>
          <a:noFill/>
          <a:ln/>
        </p:spPr>
        <p:txBody>
          <a:bodyPr wrap="square" lIns="0" tIns="0" rIns="0" bIns="0" rtlCol="0" anchor="ctr"/>
          <a:lstStyle/>
          <a:p>
            <a:pPr marL="0" indent="0" algn="l">
              <a:buNone/>
            </a:pPr>
            <a:r>
              <a:rPr lang="en-US" sz="1000" dirty="0">
                <a:solidFill>
                  <a:srgbClr val="1C1C1C"/>
                </a:solidFill>
                <a:latin typeface="Aptos" pitchFamily="34" charset="0"/>
                <a:ea typeface="Aptos" pitchFamily="34" charset="-122"/>
                <a:cs typeface="Aptos" pitchFamily="34" charset="-120"/>
              </a:rPr>
              <a:t>Travaux recensés dans le carnet d’entretien</a:t>
            </a:r>
            <a:endParaRPr lang="en-US" sz="1000" dirty="0"/>
          </a:p>
        </p:txBody>
      </p:sp>
      <p:sp>
        <p:nvSpPr>
          <p:cNvPr id="15" name="Shape 12"/>
          <p:cNvSpPr/>
          <p:nvPr/>
        </p:nvSpPr>
        <p:spPr>
          <a:xfrm>
            <a:off x="3888000" y="2250000"/>
            <a:ext cx="3132000" cy="432000"/>
          </a:xfrm>
          <a:prstGeom prst="rect">
            <a:avLst/>
          </a:prstGeom>
          <a:solidFill>
            <a:srgbClr val="FFFFFF"/>
          </a:solidFill>
          <a:ln w="6985">
            <a:solidFill>
              <a:srgbClr val="202020"/>
            </a:solidFill>
            <a:prstDash val="solid"/>
          </a:ln>
        </p:spPr>
      </p:sp>
      <p:sp>
        <p:nvSpPr>
          <p:cNvPr id="16" name="Text 13"/>
          <p:cNvSpPr/>
          <p:nvPr/>
        </p:nvSpPr>
        <p:spPr>
          <a:xfrm>
            <a:off x="3949200" y="2289600"/>
            <a:ext cx="3009600" cy="352800"/>
          </a:xfrm>
          <a:prstGeom prst="rect">
            <a:avLst/>
          </a:prstGeom>
          <a:noFill/>
          <a:ln/>
        </p:spPr>
        <p:txBody>
          <a:bodyPr wrap="square" lIns="0" tIns="0" rIns="0" bIns="0" rtlCol="0" anchor="ctr"/>
          <a:lstStyle/>
          <a:p>
            <a:pPr marL="0" indent="0" algn="ctr">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Text 14"/>
          <p:cNvSpPr/>
          <p:nvPr/>
        </p:nvSpPr>
        <p:spPr>
          <a:xfrm>
            <a:off x="576000" y="2826000"/>
            <a:ext cx="6408000" cy="198000"/>
          </a:xfrm>
          <a:prstGeom prst="rect">
            <a:avLst/>
          </a:prstGeom>
          <a:noFill/>
          <a:ln/>
        </p:spPr>
        <p:txBody>
          <a:bodyPr wrap="square" lIns="0" tIns="0" rIns="0" bIns="0" rtlCol="0" anchor="ctr"/>
          <a:lstStyle/>
          <a:p>
            <a:pPr marL="0" indent="0">
              <a:buNone/>
            </a:pPr>
            <a:r>
              <a:rPr lang="en-US" sz="900" b="1" dirty="0">
                <a:solidFill>
                  <a:srgbClr val="1C1C1C"/>
                </a:solidFill>
                <a:latin typeface="Aptos" pitchFamily="34" charset="0"/>
                <a:ea typeface="Aptos" pitchFamily="34" charset="-122"/>
                <a:cs typeface="Aptos" pitchFamily="34" charset="-120"/>
              </a:rPr>
              <a:t>Travaux votés en assemblée générale</a:t>
            </a:r>
            <a:endParaRPr lang="en-US" sz="900" dirty="0"/>
          </a:p>
        </p:txBody>
      </p:sp>
      <p:sp>
        <p:nvSpPr>
          <p:cNvPr id="18" name="Shape 15"/>
          <p:cNvSpPr/>
          <p:nvPr/>
        </p:nvSpPr>
        <p:spPr>
          <a:xfrm>
            <a:off x="540000" y="3078000"/>
            <a:ext cx="3348000" cy="288000"/>
          </a:xfrm>
          <a:prstGeom prst="rect">
            <a:avLst/>
          </a:prstGeom>
          <a:solidFill>
            <a:srgbClr val="FFFFFF"/>
          </a:solidFill>
          <a:ln w="6985">
            <a:solidFill>
              <a:srgbClr val="202020"/>
            </a:solidFill>
            <a:prstDash val="solid"/>
          </a:ln>
        </p:spPr>
      </p:sp>
      <p:sp>
        <p:nvSpPr>
          <p:cNvPr id="19" name="Text 16"/>
          <p:cNvSpPr/>
          <p:nvPr/>
        </p:nvSpPr>
        <p:spPr>
          <a:xfrm>
            <a:off x="601200" y="3117600"/>
            <a:ext cx="3225600" cy="208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DÉSIGNATION</a:t>
            </a:r>
            <a:endParaRPr lang="en-US" sz="1000" dirty="0"/>
          </a:p>
        </p:txBody>
      </p:sp>
      <p:sp>
        <p:nvSpPr>
          <p:cNvPr id="20" name="Shape 17"/>
          <p:cNvSpPr/>
          <p:nvPr/>
        </p:nvSpPr>
        <p:spPr>
          <a:xfrm>
            <a:off x="3888000" y="3078000"/>
            <a:ext cx="3132000" cy="288000"/>
          </a:xfrm>
          <a:prstGeom prst="rect">
            <a:avLst/>
          </a:prstGeom>
          <a:solidFill>
            <a:srgbClr val="FFFFFF"/>
          </a:solidFill>
          <a:ln w="6985">
            <a:solidFill>
              <a:srgbClr val="202020"/>
            </a:solidFill>
            <a:prstDash val="solid"/>
          </a:ln>
        </p:spPr>
      </p:sp>
      <p:sp>
        <p:nvSpPr>
          <p:cNvPr id="21" name="Text 18"/>
          <p:cNvSpPr/>
          <p:nvPr/>
        </p:nvSpPr>
        <p:spPr>
          <a:xfrm>
            <a:off x="3949200" y="3117600"/>
            <a:ext cx="3009600" cy="208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ÉLÉMENT À CONFIRMER</a:t>
            </a:r>
            <a:endParaRPr lang="en-US" sz="1000" dirty="0"/>
          </a:p>
        </p:txBody>
      </p:sp>
      <p:sp>
        <p:nvSpPr>
          <p:cNvPr id="22" name="Shape 19"/>
          <p:cNvSpPr/>
          <p:nvPr/>
        </p:nvSpPr>
        <p:spPr>
          <a:xfrm>
            <a:off x="540000" y="3366000"/>
            <a:ext cx="3348000" cy="432000"/>
          </a:xfrm>
          <a:prstGeom prst="rect">
            <a:avLst/>
          </a:prstGeom>
          <a:solidFill>
            <a:srgbClr val="FFFFFF"/>
          </a:solidFill>
          <a:ln w="6985">
            <a:solidFill>
              <a:srgbClr val="202020"/>
            </a:solidFill>
            <a:prstDash val="solid"/>
          </a:ln>
        </p:spPr>
      </p:sp>
      <p:sp>
        <p:nvSpPr>
          <p:cNvPr id="23" name="Text 20"/>
          <p:cNvSpPr/>
          <p:nvPr/>
        </p:nvSpPr>
        <p:spPr>
          <a:xfrm>
            <a:off x="601200" y="3405600"/>
            <a:ext cx="3225600" cy="352800"/>
          </a:xfrm>
          <a:prstGeom prst="rect">
            <a:avLst/>
          </a:prstGeom>
          <a:noFill/>
          <a:ln/>
        </p:spPr>
        <p:txBody>
          <a:bodyPr wrap="square" lIns="0" tIns="0" rIns="0" bIns="0" rtlCol="0" anchor="ctr"/>
          <a:lstStyle/>
          <a:p>
            <a:pPr marL="0" indent="0" algn="l">
              <a:buNone/>
            </a:pPr>
            <a:r>
              <a:rPr lang="en-US" sz="1000" dirty="0">
                <a:solidFill>
                  <a:srgbClr val="1C1C1C"/>
                </a:solidFill>
                <a:latin typeface="Aptos" pitchFamily="34" charset="0"/>
                <a:ea typeface="Aptos" pitchFamily="34" charset="-122"/>
                <a:cs typeface="Aptos" pitchFamily="34" charset="-120"/>
              </a:rPr>
              <a:t>Travaux votés en assemblée générale</a:t>
            </a:r>
            <a:endParaRPr lang="en-US" sz="1000" dirty="0"/>
          </a:p>
        </p:txBody>
      </p:sp>
      <p:sp>
        <p:nvSpPr>
          <p:cNvPr id="24" name="Shape 21"/>
          <p:cNvSpPr/>
          <p:nvPr/>
        </p:nvSpPr>
        <p:spPr>
          <a:xfrm>
            <a:off x="3888000" y="3366000"/>
            <a:ext cx="3132000" cy="432000"/>
          </a:xfrm>
          <a:prstGeom prst="rect">
            <a:avLst/>
          </a:prstGeom>
          <a:solidFill>
            <a:srgbClr val="FFFFFF"/>
          </a:solidFill>
          <a:ln w="6985">
            <a:solidFill>
              <a:srgbClr val="202020"/>
            </a:solidFill>
            <a:prstDash val="solid"/>
          </a:ln>
        </p:spPr>
      </p:sp>
      <p:sp>
        <p:nvSpPr>
          <p:cNvPr id="25" name="Text 22"/>
          <p:cNvSpPr/>
          <p:nvPr/>
        </p:nvSpPr>
        <p:spPr>
          <a:xfrm>
            <a:off x="3949200" y="3405600"/>
            <a:ext cx="3009600" cy="352800"/>
          </a:xfrm>
          <a:prstGeom prst="rect">
            <a:avLst/>
          </a:prstGeom>
          <a:noFill/>
          <a:ln/>
        </p:spPr>
        <p:txBody>
          <a:bodyPr wrap="square" lIns="0" tIns="0" rIns="0" bIns="0" rtlCol="0" anchor="ctr"/>
          <a:lstStyle/>
          <a:p>
            <a:pPr marL="0" indent="0" algn="ctr">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692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2052000"/>
            <a:ext cx="3492000" cy="324000"/>
          </a:xfrm>
          <a:prstGeom prst="rect">
            <a:avLst/>
          </a:prstGeom>
          <a:solidFill>
            <a:srgbClr val="FFFFFF"/>
          </a:solidFill>
          <a:ln w="6985">
            <a:solidFill>
              <a:srgbClr val="202020"/>
            </a:solidFill>
            <a:prstDash val="solid"/>
          </a:ln>
        </p:spPr>
      </p:sp>
      <p:sp>
        <p:nvSpPr>
          <p:cNvPr id="9" name="Text 6"/>
          <p:cNvSpPr/>
          <p:nvPr/>
        </p:nvSpPr>
        <p:spPr>
          <a:xfrm>
            <a:off x="601200" y="2091600"/>
            <a:ext cx="336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2052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2091600"/>
            <a:ext cx="1029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2052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2091600"/>
            <a:ext cx="1713600" cy="244800"/>
          </a:xfrm>
          <a:prstGeom prst="rect">
            <a:avLst/>
          </a:prstGeom>
          <a:noFill/>
          <a:ln/>
        </p:spPr>
        <p:txBody>
          <a:bodyPr wrap="square" lIns="0" tIns="0" rIns="0" bIns="0" rtlCol="0" anchor="ctr"/>
          <a:lstStyle/>
          <a:p>
            <a:pPr marL="0" indent="0" algn="ctr">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376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415600"/>
            <a:ext cx="3369600" cy="15480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Registre de sécurité</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376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415600"/>
            <a:ext cx="1029600" cy="15480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376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415600"/>
            <a:ext cx="1713600" cy="1548000"/>
          </a:xfrm>
          <a:prstGeom prst="rect">
            <a:avLst/>
          </a:prstGeom>
          <a:noFill/>
          <a:ln/>
        </p:spPr>
        <p:txBody>
          <a:bodyPr wrap="square" lIns="0" tIns="0" rIns="0" bIns="0" rtlCol="0" anchor="t"/>
          <a:lstStyle/>
          <a:p>
            <a:pPr marL="0" indent="0" algn="l">
              <a:buNone/>
            </a:pPr>
            <a:endParaRPr lang="en-US" sz="1000" dirty="0"/>
          </a:p>
        </p:txBody>
      </p:sp>
      <p:sp>
        <p:nvSpPr>
          <p:cNvPr id="20" name="Shape 17"/>
          <p:cNvSpPr/>
          <p:nvPr/>
        </p:nvSpPr>
        <p:spPr>
          <a:xfrm>
            <a:off x="540000" y="4003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4042800"/>
            <a:ext cx="3369600" cy="15480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4003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4042800"/>
            <a:ext cx="1029600" cy="15480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4003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4042800"/>
            <a:ext cx="1713600" cy="1548000"/>
          </a:xfrm>
          <a:prstGeom prst="rect">
            <a:avLst/>
          </a:prstGeom>
          <a:noFill/>
          <a:ln/>
        </p:spPr>
        <p:txBody>
          <a:bodyPr wrap="square" lIns="0" tIns="0" rIns="0" bIns="0" rtlCol="0" anchor="t"/>
          <a:lstStyle/>
          <a:p>
            <a:pPr marL="0" indent="0" algn="l">
              <a:buNone/>
            </a:pPr>
            <a:endParaRPr lang="en-US" sz="1000" dirty="0"/>
          </a:p>
        </p:txBody>
      </p:sp>
      <p:sp>
        <p:nvSpPr>
          <p:cNvPr id="26" name="Shape 23"/>
          <p:cNvSpPr/>
          <p:nvPr/>
        </p:nvSpPr>
        <p:spPr>
          <a:xfrm>
            <a:off x="540000" y="5630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670000"/>
            <a:ext cx="3369600" cy="1548000"/>
          </a:xfrm>
          <a:prstGeom prst="rect">
            <a:avLst/>
          </a:prstGeom>
          <a:noFill/>
          <a:ln/>
        </p:spPr>
        <p:txBody>
          <a:bodyPr wrap="square" lIns="0" tIns="0" rIns="0" bIns="0" rtlCol="0" anchor="t"/>
          <a:lstStyle/>
          <a:p>
            <a:pPr marL="0" indent="0" algn="l">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marL="0" indent="0" algn="l">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marL="0" indent="0" algn="l">
              <a:buNone/>
            </a:pPr>
            <a:endParaRPr lang="en-US" sz="1000" dirty="0"/>
          </a:p>
          <a:p>
            <a:pPr marL="0" indent="0" algn="l">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630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670000"/>
            <a:ext cx="1029600" cy="154800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630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670000"/>
            <a:ext cx="1713600" cy="1548000"/>
          </a:xfrm>
          <a:prstGeom prst="rect">
            <a:avLst/>
          </a:prstGeom>
          <a:noFill/>
          <a:ln/>
        </p:spPr>
        <p:txBody>
          <a:bodyPr wrap="square" lIns="0" tIns="0" rIns="0" bIns="0" rtlCol="0" anchor="t"/>
          <a:lstStyle/>
          <a:p>
            <a:pPr marL="0" indent="0" algn="l">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677520"/>
          </a:xfrm>
          <a:prstGeom prst="rect">
            <a:avLst/>
          </a:prstGeom>
          <a:noFill/>
          <a:ln/>
        </p:spPr>
        <p:txBody>
          <a:bodyPr wrap="square" lIns="0" tIns="0" rIns="0" bIns="0" rtlCol="0" anchor="t"/>
          <a:lstStyle/>
          <a:p>
            <a:pPr marL="0" indent="0">
              <a:buNone/>
            </a:pPr>
            <a:r>
              <a:rPr lang="en-US" sz="925"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925" dirty="0"/>
          </a:p>
        </p:txBody>
      </p:sp>
      <p:sp>
        <p:nvSpPr>
          <p:cNvPr id="9" name="Text 6"/>
          <p:cNvSpPr/>
          <p:nvPr/>
        </p:nvSpPr>
        <p:spPr>
          <a:xfrm>
            <a:off x="648000" y="2459520"/>
            <a:ext cx="6264000" cy="830700"/>
          </a:xfrm>
          <a:prstGeom prst="rect">
            <a:avLst/>
          </a:prstGeom>
          <a:noFill/>
          <a:ln/>
        </p:spPr>
        <p:txBody>
          <a:bodyPr wrap="square" lIns="0" tIns="0" rIns="0" bIns="0" rtlCol="0" anchor="t"/>
          <a:lstStyle/>
          <a:p>
            <a:pPr marL="0" indent="0">
              <a:buNone/>
            </a:pPr>
            <a:r>
              <a:rPr lang="en-US" sz="925"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925" dirty="0"/>
          </a:p>
        </p:txBody>
      </p:sp>
      <p:sp>
        <p:nvSpPr>
          <p:cNvPr id="10" name="Text 7"/>
          <p:cNvSpPr/>
          <p:nvPr/>
        </p:nvSpPr>
        <p:spPr>
          <a:xfrm>
            <a:off x="648000" y="3362220"/>
            <a:ext cx="6264000" cy="830700"/>
          </a:xfrm>
          <a:prstGeom prst="rect">
            <a:avLst/>
          </a:prstGeom>
          <a:noFill/>
          <a:ln/>
        </p:spPr>
        <p:txBody>
          <a:bodyPr wrap="square" lIns="0" tIns="0" rIns="0" bIns="0" rtlCol="0" anchor="t"/>
          <a:lstStyle/>
          <a:p>
            <a:pPr marL="0" indent="0">
              <a:buNone/>
            </a:pPr>
            <a:r>
              <a:rPr lang="en-US" sz="925"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925" dirty="0"/>
          </a:p>
        </p:txBody>
      </p:sp>
      <p:sp>
        <p:nvSpPr>
          <p:cNvPr id="11" name="Text 8"/>
          <p:cNvSpPr/>
          <p:nvPr/>
        </p:nvSpPr>
        <p:spPr>
          <a:xfrm>
            <a:off x="648000" y="4264920"/>
            <a:ext cx="6264000" cy="677520"/>
          </a:xfrm>
          <a:prstGeom prst="rect">
            <a:avLst/>
          </a:prstGeom>
          <a:noFill/>
          <a:ln/>
        </p:spPr>
        <p:txBody>
          <a:bodyPr wrap="square" lIns="0" tIns="0" rIns="0" bIns="0" rtlCol="0" anchor="t"/>
          <a:lstStyle/>
          <a:p>
            <a:pPr marL="0" indent="0">
              <a:buNone/>
            </a:pPr>
            <a:r>
              <a:rPr lang="en-US" sz="925"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925" dirty="0"/>
          </a:p>
        </p:txBody>
      </p:sp>
      <p:sp>
        <p:nvSpPr>
          <p:cNvPr id="12" name="Shape 9"/>
          <p:cNvSpPr/>
          <p:nvPr/>
        </p:nvSpPr>
        <p:spPr>
          <a:xfrm>
            <a:off x="972000" y="5760000"/>
            <a:ext cx="1980000" cy="360000"/>
          </a:xfrm>
          <a:prstGeom prst="rect">
            <a:avLst/>
          </a:prstGeom>
          <a:solidFill>
            <a:srgbClr val="FFFFFF"/>
          </a:solidFill>
          <a:ln w="6985">
            <a:solidFill>
              <a:srgbClr val="202020"/>
            </a:solidFill>
            <a:prstDash val="solid"/>
          </a:ln>
        </p:spPr>
      </p:sp>
      <p:sp>
        <p:nvSpPr>
          <p:cNvPr id="13" name="Text 10"/>
          <p:cNvSpPr/>
          <p:nvPr/>
        </p:nvSpPr>
        <p:spPr>
          <a:xfrm>
            <a:off x="1033200" y="5799600"/>
            <a:ext cx="1857600" cy="280800"/>
          </a:xfrm>
          <a:prstGeom prst="rect">
            <a:avLst/>
          </a:prstGeom>
          <a:noFill/>
          <a:ln/>
        </p:spPr>
        <p:txBody>
          <a:bodyPr wrap="square" lIns="0" tIns="0" rIns="0" bIns="0" rtlCol="0" anchor="ctr"/>
          <a:lstStyle/>
          <a:p>
            <a:pPr marL="0" indent="0" algn="ctr">
              <a:buNone/>
            </a:pPr>
            <a:r>
              <a:rPr lang="en-US" sz="900" b="1" dirty="0">
                <a:solidFill>
                  <a:srgbClr val="0070C0"/>
                </a:solidFill>
                <a:latin typeface="Aptos" pitchFamily="34" charset="0"/>
                <a:ea typeface="Aptos" pitchFamily="34" charset="-122"/>
                <a:cs typeface="Aptos" pitchFamily="34" charset="-120"/>
              </a:rPr>
              <a:t>Pour la vente</a:t>
            </a:r>
            <a:endParaRPr lang="en-US" sz="900" dirty="0"/>
          </a:p>
        </p:txBody>
      </p:sp>
      <p:sp>
        <p:nvSpPr>
          <p:cNvPr id="14" name="Shape 11"/>
          <p:cNvSpPr/>
          <p:nvPr/>
        </p:nvSpPr>
        <p:spPr>
          <a:xfrm>
            <a:off x="2952000" y="5760000"/>
            <a:ext cx="1980000" cy="360000"/>
          </a:xfrm>
          <a:prstGeom prst="rect">
            <a:avLst/>
          </a:prstGeom>
          <a:solidFill>
            <a:srgbClr val="FFFFFF"/>
          </a:solidFill>
          <a:ln w="6985">
            <a:solidFill>
              <a:srgbClr val="202020"/>
            </a:solidFill>
            <a:prstDash val="solid"/>
          </a:ln>
        </p:spPr>
      </p:sp>
      <p:sp>
        <p:nvSpPr>
          <p:cNvPr id="15" name="Text 12"/>
          <p:cNvSpPr/>
          <p:nvPr/>
        </p:nvSpPr>
        <p:spPr>
          <a:xfrm>
            <a:off x="3013200" y="5799600"/>
            <a:ext cx="1857600" cy="280800"/>
          </a:xfrm>
          <a:prstGeom prst="rect">
            <a:avLst/>
          </a:prstGeom>
          <a:noFill/>
          <a:ln/>
        </p:spPr>
        <p:txBody>
          <a:bodyPr wrap="square" lIns="0" tIns="0" rIns="0" bIns="0" rtlCol="0" anchor="ctr"/>
          <a:lstStyle/>
          <a:p>
            <a:pPr marL="0" indent="0" algn="ctr">
              <a:buNone/>
            </a:pPr>
            <a:r>
              <a:rPr lang="en-US" sz="900" b="1" dirty="0">
                <a:solidFill>
                  <a:srgbClr val="0070C0"/>
                </a:solidFill>
                <a:latin typeface="Aptos" pitchFamily="34" charset="0"/>
                <a:ea typeface="Aptos" pitchFamily="34" charset="-122"/>
                <a:cs typeface="Aptos" pitchFamily="34" charset="-120"/>
              </a:rPr>
              <a:t>Dates clés</a:t>
            </a:r>
            <a:endParaRPr lang="en-US" sz="900" dirty="0"/>
          </a:p>
        </p:txBody>
      </p:sp>
      <p:sp>
        <p:nvSpPr>
          <p:cNvPr id="16" name="Shape 13"/>
          <p:cNvSpPr/>
          <p:nvPr/>
        </p:nvSpPr>
        <p:spPr>
          <a:xfrm>
            <a:off x="4932000" y="5760000"/>
            <a:ext cx="1980000" cy="360000"/>
          </a:xfrm>
          <a:prstGeom prst="rect">
            <a:avLst/>
          </a:prstGeom>
          <a:solidFill>
            <a:srgbClr val="FFFFFF"/>
          </a:solidFill>
          <a:ln w="6985">
            <a:solidFill>
              <a:srgbClr val="202020"/>
            </a:solidFill>
            <a:prstDash val="solid"/>
          </a:ln>
        </p:spPr>
      </p:sp>
      <p:sp>
        <p:nvSpPr>
          <p:cNvPr id="17" name="Text 14"/>
          <p:cNvSpPr/>
          <p:nvPr/>
        </p:nvSpPr>
        <p:spPr>
          <a:xfrm>
            <a:off x="4993200" y="5799600"/>
            <a:ext cx="1857600" cy="280800"/>
          </a:xfrm>
          <a:prstGeom prst="rect">
            <a:avLst/>
          </a:prstGeom>
          <a:noFill/>
          <a:ln/>
        </p:spPr>
        <p:txBody>
          <a:bodyPr wrap="square" lIns="0" tIns="0" rIns="0" bIns="0" rtlCol="0" anchor="ctr"/>
          <a:lstStyle/>
          <a:p>
            <a:pPr marL="0" indent="0" algn="ctr">
              <a:buNone/>
            </a:pPr>
            <a:r>
              <a:rPr lang="en-US" sz="900" b="1" dirty="0">
                <a:solidFill>
                  <a:srgbClr val="0070C0"/>
                </a:solidFill>
                <a:latin typeface="Aptos" pitchFamily="34" charset="0"/>
                <a:ea typeface="Aptos" pitchFamily="34" charset="-122"/>
                <a:cs typeface="Aptos" pitchFamily="34" charset="-120"/>
              </a:rPr>
              <a:t>Pour la location</a:t>
            </a:r>
            <a:endParaRPr lang="en-US" sz="900" dirty="0"/>
          </a:p>
        </p:txBody>
      </p:sp>
      <p:sp>
        <p:nvSpPr>
          <p:cNvPr id="18" name="Shape 15"/>
          <p:cNvSpPr/>
          <p:nvPr/>
        </p:nvSpPr>
        <p:spPr>
          <a:xfrm>
            <a:off x="972000" y="6120000"/>
            <a:ext cx="1980000" cy="756000"/>
          </a:xfrm>
          <a:prstGeom prst="rect">
            <a:avLst/>
          </a:prstGeom>
          <a:solidFill>
            <a:srgbClr val="FFFFFF"/>
          </a:solidFill>
          <a:ln w="6985">
            <a:solidFill>
              <a:srgbClr val="202020"/>
            </a:solidFill>
            <a:prstDash val="solid"/>
          </a:ln>
        </p:spPr>
      </p:sp>
      <p:sp>
        <p:nvSpPr>
          <p:cNvPr id="19" name="Text 16"/>
          <p:cNvSpPr/>
          <p:nvPr/>
        </p:nvSpPr>
        <p:spPr>
          <a:xfrm>
            <a:off x="1033200" y="6159600"/>
            <a:ext cx="1857600" cy="676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Gel des loyers</a:t>
            </a:r>
            <a:endParaRPr lang="en-US" sz="900" dirty="0"/>
          </a:p>
        </p:txBody>
      </p:sp>
      <p:sp>
        <p:nvSpPr>
          <p:cNvPr id="20" name="Shape 17"/>
          <p:cNvSpPr/>
          <p:nvPr/>
        </p:nvSpPr>
        <p:spPr>
          <a:xfrm>
            <a:off x="2952000" y="6120000"/>
            <a:ext cx="1980000" cy="756000"/>
          </a:xfrm>
          <a:prstGeom prst="rect">
            <a:avLst/>
          </a:prstGeom>
          <a:solidFill>
            <a:srgbClr val="FFFFFF"/>
          </a:solidFill>
          <a:ln w="6985">
            <a:solidFill>
              <a:srgbClr val="202020"/>
            </a:solidFill>
            <a:prstDash val="solid"/>
          </a:ln>
        </p:spPr>
      </p:sp>
      <p:sp>
        <p:nvSpPr>
          <p:cNvPr id="21" name="Text 18"/>
          <p:cNvSpPr/>
          <p:nvPr/>
        </p:nvSpPr>
        <p:spPr>
          <a:xfrm>
            <a:off x="3013200" y="6159600"/>
            <a:ext cx="1857600" cy="676800"/>
          </a:xfrm>
          <a:prstGeom prst="rect">
            <a:avLst/>
          </a:prstGeom>
          <a:noFill/>
          <a:ln/>
        </p:spPr>
        <p:txBody>
          <a:bodyPr wrap="square" lIns="0" tIns="0" rIns="0" bIns="0" rtlCol="0" anchor="ctr"/>
          <a:lstStyle/>
          <a:p>
            <a:pPr marL="0" indent="0" algn="ctr">
              <a:buNone/>
            </a:pPr>
            <a:r>
              <a:rPr lang="en-US" sz="900" b="1" dirty="0">
                <a:solidFill>
                  <a:srgbClr val="00B55A"/>
                </a:solidFill>
                <a:latin typeface="Aptos" pitchFamily="34" charset="0"/>
                <a:ea typeface="Aptos" pitchFamily="34" charset="-122"/>
                <a:cs typeface="Aptos" pitchFamily="34" charset="-120"/>
              </a:rPr>
              <a:t>Août 2022</a:t>
            </a:r>
            <a:endParaRPr lang="en-US" sz="900" dirty="0"/>
          </a:p>
        </p:txBody>
      </p:sp>
      <p:sp>
        <p:nvSpPr>
          <p:cNvPr id="22" name="Shape 19"/>
          <p:cNvSpPr/>
          <p:nvPr/>
        </p:nvSpPr>
        <p:spPr>
          <a:xfrm>
            <a:off x="4932000" y="6120000"/>
            <a:ext cx="1980000" cy="756000"/>
          </a:xfrm>
          <a:prstGeom prst="rect">
            <a:avLst/>
          </a:prstGeom>
          <a:solidFill>
            <a:srgbClr val="FFFFFF"/>
          </a:solidFill>
          <a:ln w="6985">
            <a:solidFill>
              <a:srgbClr val="202020"/>
            </a:solidFill>
            <a:prstDash val="solid"/>
          </a:ln>
        </p:spPr>
      </p:sp>
      <p:sp>
        <p:nvSpPr>
          <p:cNvPr id="23" name="Text 20"/>
          <p:cNvSpPr/>
          <p:nvPr/>
        </p:nvSpPr>
        <p:spPr>
          <a:xfrm>
            <a:off x="4993200" y="6159600"/>
            <a:ext cx="1857600" cy="676800"/>
          </a:xfrm>
          <a:prstGeom prst="rect">
            <a:avLst/>
          </a:prstGeom>
          <a:noFill/>
          <a:ln/>
        </p:spPr>
        <p:txBody>
          <a:bodyPr wrap="square" lIns="0" tIns="0" rIns="0" bIns="0" rtlCol="0" anchor="ctr"/>
          <a:lstStyle/>
          <a:p>
            <a:pPr marL="0" indent="0" algn="ctr">
              <a:buNone/>
            </a:pPr>
            <a:endParaRPr lang="en-US" sz="900" dirty="0"/>
          </a:p>
        </p:txBody>
      </p:sp>
      <p:sp>
        <p:nvSpPr>
          <p:cNvPr id="24" name="Shape 21"/>
          <p:cNvSpPr/>
          <p:nvPr/>
        </p:nvSpPr>
        <p:spPr>
          <a:xfrm>
            <a:off x="972000" y="6876000"/>
            <a:ext cx="1980000" cy="756000"/>
          </a:xfrm>
          <a:prstGeom prst="rect">
            <a:avLst/>
          </a:prstGeom>
          <a:solidFill>
            <a:srgbClr val="FFFFFF"/>
          </a:solidFill>
          <a:ln w="6985">
            <a:solidFill>
              <a:srgbClr val="202020"/>
            </a:solidFill>
            <a:prstDash val="solid"/>
          </a:ln>
        </p:spPr>
      </p:sp>
      <p:sp>
        <p:nvSpPr>
          <p:cNvPr id="25" name="Text 22"/>
          <p:cNvSpPr/>
          <p:nvPr/>
        </p:nvSpPr>
        <p:spPr>
          <a:xfrm>
            <a:off x="1033200" y="6915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26" name="Shape 23"/>
          <p:cNvSpPr/>
          <p:nvPr/>
        </p:nvSpPr>
        <p:spPr>
          <a:xfrm>
            <a:off x="2952000" y="6876000"/>
            <a:ext cx="1980000" cy="756000"/>
          </a:xfrm>
          <a:prstGeom prst="rect">
            <a:avLst/>
          </a:prstGeom>
          <a:solidFill>
            <a:srgbClr val="FFFFFF"/>
          </a:solidFill>
          <a:ln w="6985">
            <a:solidFill>
              <a:srgbClr val="202020"/>
            </a:solidFill>
            <a:prstDash val="solid"/>
          </a:ln>
        </p:spPr>
      </p:sp>
      <p:sp>
        <p:nvSpPr>
          <p:cNvPr id="27" name="Text 24"/>
          <p:cNvSpPr/>
          <p:nvPr/>
        </p:nvSpPr>
        <p:spPr>
          <a:xfrm>
            <a:off x="3013200" y="6915600"/>
            <a:ext cx="1857600" cy="676800"/>
          </a:xfrm>
          <a:prstGeom prst="rect">
            <a:avLst/>
          </a:prstGeom>
          <a:noFill/>
          <a:ln/>
        </p:spPr>
        <p:txBody>
          <a:bodyPr wrap="square" lIns="0" tIns="0" rIns="0" bIns="0" rtlCol="0" anchor="ctr"/>
          <a:lstStyle/>
          <a:p>
            <a:pPr marL="0" indent="0" algn="ctr">
              <a:buNone/>
            </a:pPr>
            <a:r>
              <a:rPr lang="en-US" sz="900" b="1" dirty="0">
                <a:solidFill>
                  <a:srgbClr val="00B55A"/>
                </a:solidFill>
                <a:latin typeface="Aptos" pitchFamily="34" charset="0"/>
                <a:ea typeface="Aptos" pitchFamily="34" charset="-122"/>
                <a:cs typeface="Aptos" pitchFamily="34" charset="-120"/>
              </a:rPr>
              <a:t>Janvier 2023</a:t>
            </a:r>
            <a:endParaRPr lang="en-US" sz="900" dirty="0"/>
          </a:p>
        </p:txBody>
      </p:sp>
      <p:sp>
        <p:nvSpPr>
          <p:cNvPr id="28" name="Shape 25"/>
          <p:cNvSpPr/>
          <p:nvPr/>
        </p:nvSpPr>
        <p:spPr>
          <a:xfrm>
            <a:off x="4932000" y="6876000"/>
            <a:ext cx="1980000" cy="756000"/>
          </a:xfrm>
          <a:prstGeom prst="rect">
            <a:avLst/>
          </a:prstGeom>
          <a:solidFill>
            <a:srgbClr val="FFFFFF"/>
          </a:solidFill>
          <a:ln w="6985">
            <a:solidFill>
              <a:srgbClr val="202020"/>
            </a:solidFill>
            <a:prstDash val="solid"/>
          </a:ln>
        </p:spPr>
      </p:sp>
      <p:sp>
        <p:nvSpPr>
          <p:cNvPr id="29" name="Text 26"/>
          <p:cNvSpPr/>
          <p:nvPr/>
        </p:nvSpPr>
        <p:spPr>
          <a:xfrm>
            <a:off x="4993200" y="6915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Location interdite</a:t>
            </a:r>
            <a:endParaRPr lang="en-US" sz="900" dirty="0"/>
          </a:p>
          <a:p>
            <a:pPr marL="0" indent="0" algn="ctr">
              <a:buNone/>
            </a:pPr>
            <a:r>
              <a:rPr lang="en-US" sz="900" b="1" dirty="0">
                <a:solidFill>
                  <a:srgbClr val="1C1C1C"/>
                </a:solidFill>
                <a:latin typeface="Aptos" pitchFamily="34" charset="0"/>
                <a:ea typeface="Aptos" pitchFamily="34" charset="-122"/>
                <a:cs typeface="Aptos" pitchFamily="34" charset="-120"/>
              </a:rPr>
              <a:t>si consommation annuelle &gt; 450 kWh/m²</a:t>
            </a:r>
            <a:endParaRPr lang="en-US" sz="900" dirty="0"/>
          </a:p>
        </p:txBody>
      </p:sp>
      <p:sp>
        <p:nvSpPr>
          <p:cNvPr id="30" name="Shape 27"/>
          <p:cNvSpPr/>
          <p:nvPr/>
        </p:nvSpPr>
        <p:spPr>
          <a:xfrm>
            <a:off x="972000" y="7632000"/>
            <a:ext cx="1980000" cy="756000"/>
          </a:xfrm>
          <a:prstGeom prst="rect">
            <a:avLst/>
          </a:prstGeom>
          <a:solidFill>
            <a:srgbClr val="FFFFFF"/>
          </a:solidFill>
          <a:ln w="6985">
            <a:solidFill>
              <a:srgbClr val="202020"/>
            </a:solidFill>
            <a:prstDash val="solid"/>
          </a:ln>
        </p:spPr>
      </p:sp>
      <p:sp>
        <p:nvSpPr>
          <p:cNvPr id="31" name="Text 28"/>
          <p:cNvSpPr/>
          <p:nvPr/>
        </p:nvSpPr>
        <p:spPr>
          <a:xfrm>
            <a:off x="1033200" y="7671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32" name="Shape 29"/>
          <p:cNvSpPr/>
          <p:nvPr/>
        </p:nvSpPr>
        <p:spPr>
          <a:xfrm>
            <a:off x="2952000" y="7632000"/>
            <a:ext cx="1980000" cy="756000"/>
          </a:xfrm>
          <a:prstGeom prst="rect">
            <a:avLst/>
          </a:prstGeom>
          <a:solidFill>
            <a:srgbClr val="FFFFFF"/>
          </a:solidFill>
          <a:ln w="6985">
            <a:solidFill>
              <a:srgbClr val="202020"/>
            </a:solidFill>
            <a:prstDash val="solid"/>
          </a:ln>
        </p:spPr>
      </p:sp>
      <p:sp>
        <p:nvSpPr>
          <p:cNvPr id="33" name="Text 30"/>
          <p:cNvSpPr/>
          <p:nvPr/>
        </p:nvSpPr>
        <p:spPr>
          <a:xfrm>
            <a:off x="3013200" y="7671600"/>
            <a:ext cx="1857600" cy="676800"/>
          </a:xfrm>
          <a:prstGeom prst="rect">
            <a:avLst/>
          </a:prstGeom>
          <a:noFill/>
          <a:ln/>
        </p:spPr>
        <p:txBody>
          <a:bodyPr wrap="square" lIns="0" tIns="0" rIns="0" bIns="0" rtlCol="0" anchor="ctr"/>
          <a:lstStyle/>
          <a:p>
            <a:pPr marL="0" indent="0" algn="ctr">
              <a:buNone/>
            </a:pPr>
            <a:r>
              <a:rPr lang="en-US" sz="900" b="1" dirty="0">
                <a:solidFill>
                  <a:srgbClr val="00B55A"/>
                </a:solidFill>
                <a:latin typeface="Aptos" pitchFamily="34" charset="0"/>
                <a:ea typeface="Aptos" pitchFamily="34" charset="-122"/>
                <a:cs typeface="Aptos" pitchFamily="34" charset="-120"/>
              </a:rPr>
              <a:t>Janvier 2025</a:t>
            </a:r>
            <a:endParaRPr lang="en-US" sz="900" dirty="0"/>
          </a:p>
        </p:txBody>
      </p:sp>
      <p:sp>
        <p:nvSpPr>
          <p:cNvPr id="34" name="Shape 31"/>
          <p:cNvSpPr/>
          <p:nvPr/>
        </p:nvSpPr>
        <p:spPr>
          <a:xfrm>
            <a:off x="4932000" y="7632000"/>
            <a:ext cx="1980000" cy="756000"/>
          </a:xfrm>
          <a:prstGeom prst="rect">
            <a:avLst/>
          </a:prstGeom>
          <a:solidFill>
            <a:srgbClr val="FFFFFF"/>
          </a:solidFill>
          <a:ln w="6985">
            <a:solidFill>
              <a:srgbClr val="202020"/>
            </a:solidFill>
            <a:prstDash val="solid"/>
          </a:ln>
        </p:spPr>
      </p:sp>
      <p:sp>
        <p:nvSpPr>
          <p:cNvPr id="35" name="Text 32"/>
          <p:cNvSpPr/>
          <p:nvPr/>
        </p:nvSpPr>
        <p:spPr>
          <a:xfrm>
            <a:off x="4993200" y="7671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Location interdite — classe G</a:t>
            </a:r>
            <a:endParaRPr lang="en-US" sz="900" dirty="0"/>
          </a:p>
        </p:txBody>
      </p:sp>
      <p:sp>
        <p:nvSpPr>
          <p:cNvPr id="36" name="Shape 33"/>
          <p:cNvSpPr/>
          <p:nvPr/>
        </p:nvSpPr>
        <p:spPr>
          <a:xfrm>
            <a:off x="972000" y="8388000"/>
            <a:ext cx="1980000" cy="756000"/>
          </a:xfrm>
          <a:prstGeom prst="rect">
            <a:avLst/>
          </a:prstGeom>
          <a:solidFill>
            <a:srgbClr val="FFFFFF"/>
          </a:solidFill>
          <a:ln w="6985">
            <a:solidFill>
              <a:srgbClr val="202020"/>
            </a:solidFill>
            <a:prstDash val="solid"/>
          </a:ln>
        </p:spPr>
      </p:sp>
      <p:sp>
        <p:nvSpPr>
          <p:cNvPr id="37" name="Text 34"/>
          <p:cNvSpPr/>
          <p:nvPr/>
        </p:nvSpPr>
        <p:spPr>
          <a:xfrm>
            <a:off x="1033200" y="8427600"/>
            <a:ext cx="1857600" cy="676800"/>
          </a:xfrm>
          <a:prstGeom prst="rect">
            <a:avLst/>
          </a:prstGeom>
          <a:noFill/>
          <a:ln/>
        </p:spPr>
        <p:txBody>
          <a:bodyPr wrap="square" lIns="0" tIns="0" rIns="0" bIns="0" rtlCol="0" anchor="ctr"/>
          <a:lstStyle/>
          <a:p>
            <a:pPr marL="0" indent="0" algn="ctr">
              <a:buNone/>
            </a:pPr>
            <a:endParaRPr lang="en-US" sz="900" dirty="0"/>
          </a:p>
        </p:txBody>
      </p:sp>
      <p:sp>
        <p:nvSpPr>
          <p:cNvPr id="38" name="Shape 35"/>
          <p:cNvSpPr/>
          <p:nvPr/>
        </p:nvSpPr>
        <p:spPr>
          <a:xfrm>
            <a:off x="2952000" y="8388000"/>
            <a:ext cx="1980000" cy="756000"/>
          </a:xfrm>
          <a:prstGeom prst="rect">
            <a:avLst/>
          </a:prstGeom>
          <a:solidFill>
            <a:srgbClr val="FFFFFF"/>
          </a:solidFill>
          <a:ln w="6985">
            <a:solidFill>
              <a:srgbClr val="202020"/>
            </a:solidFill>
            <a:prstDash val="solid"/>
          </a:ln>
        </p:spPr>
      </p:sp>
      <p:sp>
        <p:nvSpPr>
          <p:cNvPr id="39" name="Text 36"/>
          <p:cNvSpPr/>
          <p:nvPr/>
        </p:nvSpPr>
        <p:spPr>
          <a:xfrm>
            <a:off x="3013200" y="8427600"/>
            <a:ext cx="1857600" cy="676800"/>
          </a:xfrm>
          <a:prstGeom prst="rect">
            <a:avLst/>
          </a:prstGeom>
          <a:noFill/>
          <a:ln/>
        </p:spPr>
        <p:txBody>
          <a:bodyPr wrap="square" lIns="0" tIns="0" rIns="0" bIns="0" rtlCol="0" anchor="ctr"/>
          <a:lstStyle/>
          <a:p>
            <a:pPr marL="0" indent="0" algn="ctr">
              <a:buNone/>
            </a:pPr>
            <a:r>
              <a:rPr lang="en-US" sz="900" b="1" dirty="0">
                <a:solidFill>
                  <a:srgbClr val="00B55A"/>
                </a:solidFill>
                <a:latin typeface="Aptos" pitchFamily="34" charset="0"/>
                <a:ea typeface="Aptos" pitchFamily="34" charset="-122"/>
                <a:cs typeface="Aptos" pitchFamily="34" charset="-120"/>
              </a:rPr>
              <a:t>Janvier 2028</a:t>
            </a:r>
            <a:endParaRPr lang="en-US" sz="900" dirty="0"/>
          </a:p>
        </p:txBody>
      </p:sp>
      <p:sp>
        <p:nvSpPr>
          <p:cNvPr id="40" name="Shape 37"/>
          <p:cNvSpPr/>
          <p:nvPr/>
        </p:nvSpPr>
        <p:spPr>
          <a:xfrm>
            <a:off x="4932000" y="8388000"/>
            <a:ext cx="1980000" cy="756000"/>
          </a:xfrm>
          <a:prstGeom prst="rect">
            <a:avLst/>
          </a:prstGeom>
          <a:solidFill>
            <a:srgbClr val="FFFFFF"/>
          </a:solidFill>
          <a:ln w="6985">
            <a:solidFill>
              <a:srgbClr val="202020"/>
            </a:solidFill>
            <a:prstDash val="solid"/>
          </a:ln>
        </p:spPr>
      </p:sp>
      <p:sp>
        <p:nvSpPr>
          <p:cNvPr id="41" name="Text 38"/>
          <p:cNvSpPr/>
          <p:nvPr/>
        </p:nvSpPr>
        <p:spPr>
          <a:xfrm>
            <a:off x="4993200" y="8427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Location interdite — classe F</a:t>
            </a:r>
            <a:endParaRPr lang="en-US" sz="900" dirty="0"/>
          </a:p>
        </p:txBody>
      </p:sp>
      <p:sp>
        <p:nvSpPr>
          <p:cNvPr id="42" name="Shape 39"/>
          <p:cNvSpPr/>
          <p:nvPr/>
        </p:nvSpPr>
        <p:spPr>
          <a:xfrm>
            <a:off x="972000" y="9144000"/>
            <a:ext cx="1980000" cy="756000"/>
          </a:xfrm>
          <a:prstGeom prst="rect">
            <a:avLst/>
          </a:prstGeom>
          <a:solidFill>
            <a:srgbClr val="FFFFFF"/>
          </a:solidFill>
          <a:ln w="6985">
            <a:solidFill>
              <a:srgbClr val="202020"/>
            </a:solidFill>
            <a:prstDash val="solid"/>
          </a:ln>
        </p:spPr>
      </p:sp>
      <p:sp>
        <p:nvSpPr>
          <p:cNvPr id="43" name="Text 40"/>
          <p:cNvSpPr/>
          <p:nvPr/>
        </p:nvSpPr>
        <p:spPr>
          <a:xfrm>
            <a:off x="1033200" y="9183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Audit énergétique obligatoire</a:t>
            </a:r>
            <a:endParaRPr lang="en-US" sz="900" dirty="0"/>
          </a:p>
        </p:txBody>
      </p:sp>
      <p:sp>
        <p:nvSpPr>
          <p:cNvPr id="44" name="Shape 41"/>
          <p:cNvSpPr/>
          <p:nvPr/>
        </p:nvSpPr>
        <p:spPr>
          <a:xfrm>
            <a:off x="2952000" y="9144000"/>
            <a:ext cx="1980000" cy="756000"/>
          </a:xfrm>
          <a:prstGeom prst="rect">
            <a:avLst/>
          </a:prstGeom>
          <a:solidFill>
            <a:srgbClr val="FFFFFF"/>
          </a:solidFill>
          <a:ln w="6985">
            <a:solidFill>
              <a:srgbClr val="202020"/>
            </a:solidFill>
            <a:prstDash val="solid"/>
          </a:ln>
        </p:spPr>
      </p:sp>
      <p:sp>
        <p:nvSpPr>
          <p:cNvPr id="45" name="Text 42"/>
          <p:cNvSpPr/>
          <p:nvPr/>
        </p:nvSpPr>
        <p:spPr>
          <a:xfrm>
            <a:off x="3013200" y="9183600"/>
            <a:ext cx="1857600" cy="676800"/>
          </a:xfrm>
          <a:prstGeom prst="rect">
            <a:avLst/>
          </a:prstGeom>
          <a:noFill/>
          <a:ln/>
        </p:spPr>
        <p:txBody>
          <a:bodyPr wrap="square" lIns="0" tIns="0" rIns="0" bIns="0" rtlCol="0" anchor="ctr"/>
          <a:lstStyle/>
          <a:p>
            <a:pPr marL="0" indent="0" algn="ctr">
              <a:buNone/>
            </a:pPr>
            <a:r>
              <a:rPr lang="en-US" sz="900" b="1" dirty="0">
                <a:solidFill>
                  <a:srgbClr val="00B55A"/>
                </a:solidFill>
                <a:latin typeface="Aptos" pitchFamily="34" charset="0"/>
                <a:ea typeface="Aptos" pitchFamily="34" charset="-122"/>
                <a:cs typeface="Aptos" pitchFamily="34" charset="-120"/>
              </a:rPr>
              <a:t>Janvier 2034</a:t>
            </a:r>
            <a:endParaRPr lang="en-US" sz="900" dirty="0"/>
          </a:p>
        </p:txBody>
      </p:sp>
      <p:sp>
        <p:nvSpPr>
          <p:cNvPr id="46" name="Shape 43"/>
          <p:cNvSpPr/>
          <p:nvPr/>
        </p:nvSpPr>
        <p:spPr>
          <a:xfrm>
            <a:off x="4932000" y="9144000"/>
            <a:ext cx="1980000" cy="756000"/>
          </a:xfrm>
          <a:prstGeom prst="rect">
            <a:avLst/>
          </a:prstGeom>
          <a:solidFill>
            <a:srgbClr val="FFFFFF"/>
          </a:solidFill>
          <a:ln w="6985">
            <a:solidFill>
              <a:srgbClr val="202020"/>
            </a:solidFill>
            <a:prstDash val="solid"/>
          </a:ln>
        </p:spPr>
      </p:sp>
      <p:sp>
        <p:nvSpPr>
          <p:cNvPr id="47" name="Text 44"/>
          <p:cNvSpPr/>
          <p:nvPr/>
        </p:nvSpPr>
        <p:spPr>
          <a:xfrm>
            <a:off x="4993200" y="9183600"/>
            <a:ext cx="1857600" cy="676800"/>
          </a:xfrm>
          <a:prstGeom prst="rect">
            <a:avLst/>
          </a:prstGeom>
          <a:noFill/>
          <a:ln/>
        </p:spPr>
        <p:txBody>
          <a:bodyPr wrap="square" lIns="0" tIns="0" rIns="0" bIns="0" rtlCol="0" anchor="ctr"/>
          <a:lstStyle/>
          <a:p>
            <a:pPr marL="0" indent="0" algn="ctr">
              <a:buNone/>
            </a:pPr>
            <a:r>
              <a:rPr lang="en-US" sz="900" b="1" dirty="0">
                <a:solidFill>
                  <a:srgbClr val="1C1C1C"/>
                </a:solidFill>
                <a:latin typeface="Aptos" pitchFamily="34" charset="0"/>
                <a:ea typeface="Aptos" pitchFamily="34" charset="-122"/>
                <a:cs typeface="Aptos" pitchFamily="34" charset="-120"/>
              </a:rPr>
              <a:t>Location interdite — classe 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674208"/>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920" dirty="0"/>
          </a:p>
        </p:txBody>
      </p:sp>
      <p:sp>
        <p:nvSpPr>
          <p:cNvPr id="9" name="Text 6"/>
          <p:cNvSpPr/>
          <p:nvPr/>
        </p:nvSpPr>
        <p:spPr>
          <a:xfrm>
            <a:off x="648000" y="2456208"/>
            <a:ext cx="6264000" cy="674208"/>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920" dirty="0"/>
          </a:p>
        </p:txBody>
      </p:sp>
      <p:sp>
        <p:nvSpPr>
          <p:cNvPr id="10" name="Text 7"/>
          <p:cNvSpPr/>
          <p:nvPr/>
        </p:nvSpPr>
        <p:spPr>
          <a:xfrm>
            <a:off x="648000" y="3202416"/>
            <a:ext cx="6264000" cy="826560"/>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920" dirty="0"/>
          </a:p>
        </p:txBody>
      </p:sp>
      <p:sp>
        <p:nvSpPr>
          <p:cNvPr id="11" name="Text 8"/>
          <p:cNvSpPr/>
          <p:nvPr/>
        </p:nvSpPr>
        <p:spPr>
          <a:xfrm>
            <a:off x="648000" y="4100976"/>
            <a:ext cx="6264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La réalisation du DPE collectif : À confirmer.</a:t>
            </a:r>
            <a:endParaRPr lang="en-US" sz="920" dirty="0"/>
          </a:p>
        </p:txBody>
      </p:sp>
      <p:sp>
        <p:nvSpPr>
          <p:cNvPr id="12" name="Text 9"/>
          <p:cNvSpPr/>
          <p:nvPr/>
        </p:nvSpPr>
        <p:spPr>
          <a:xfrm>
            <a:off x="648000" y="4372128"/>
            <a:ext cx="6264000" cy="217152"/>
          </a:xfrm>
          <a:prstGeom prst="rect">
            <a:avLst/>
          </a:prstGeom>
          <a:noFill/>
          <a:ln/>
        </p:spPr>
        <p:txBody>
          <a:bodyPr wrap="square" lIns="0" tIns="0" rIns="0" bIns="0" rtlCol="0" anchor="t"/>
          <a:lstStyle/>
          <a:p>
            <a:pPr marL="0" indent="0">
              <a:buNone/>
            </a:pPr>
            <a:r>
              <a:rPr lang="en-US" sz="92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920" dirty="0"/>
          </a:p>
        </p:txBody>
      </p:sp>
      <p:sp>
        <p:nvSpPr>
          <p:cNvPr id="13" name="Text 10"/>
          <p:cNvSpPr/>
          <p:nvPr/>
        </p:nvSpPr>
        <p:spPr>
          <a:xfrm>
            <a:off x="648000" y="4896000"/>
            <a:ext cx="3096000" cy="180000"/>
          </a:xfrm>
          <a:prstGeom prst="rect">
            <a:avLst/>
          </a:prstGeom>
          <a:noFill/>
          <a:ln/>
        </p:spPr>
        <p:txBody>
          <a:bodyPr wrap="square" lIns="0" tIns="0" rIns="0" bIns="0" rtlCol="0" anchor="ctr"/>
          <a:lstStyle/>
          <a:p>
            <a:pPr marL="0" indent="0">
              <a:buNone/>
            </a:pPr>
            <a:r>
              <a:rPr lang="en-US" sz="940" b="1" dirty="0">
                <a:solidFill>
                  <a:srgbClr val="1C1C1C"/>
                </a:solidFill>
                <a:latin typeface="Aptos" pitchFamily="34" charset="0"/>
                <a:ea typeface="Aptos" pitchFamily="34" charset="-122"/>
                <a:cs typeface="Aptos" pitchFamily="34" charset="-120"/>
              </a:rPr>
              <a:t>Date de réalisation du DPE collectif : À confirmer</a:t>
            </a:r>
            <a:endParaRPr lang="en-US" sz="940" dirty="0"/>
          </a:p>
        </p:txBody>
      </p:sp>
      <p:sp>
        <p:nvSpPr>
          <p:cNvPr id="14" name="Text 11"/>
          <p:cNvSpPr/>
          <p:nvPr/>
        </p:nvSpPr>
        <p:spPr>
          <a:xfrm>
            <a:off x="3888000" y="4896000"/>
            <a:ext cx="3024000" cy="180000"/>
          </a:xfrm>
          <a:prstGeom prst="rect">
            <a:avLst/>
          </a:prstGeom>
          <a:noFill/>
          <a:ln/>
        </p:spPr>
        <p:txBody>
          <a:bodyPr wrap="square" lIns="0" tIns="0" rIns="0" bIns="0" rtlCol="0" anchor="ctr"/>
          <a:lstStyle/>
          <a:p>
            <a:pPr marL="0" indent="0">
              <a:buNone/>
            </a:pPr>
            <a:r>
              <a:rPr lang="en-US" sz="940" b="1" dirty="0">
                <a:solidFill>
                  <a:srgbClr val="1C1C1C"/>
                </a:solidFill>
                <a:latin typeface="Aptos" pitchFamily="34" charset="0"/>
                <a:ea typeface="Aptos" pitchFamily="34" charset="-122"/>
                <a:cs typeface="Aptos" pitchFamily="34" charset="-120"/>
              </a:rPr>
              <a:t>N° du DPE collectif : À confirmer</a:t>
            </a:r>
            <a:endParaRPr lang="en-US" sz="940" dirty="0"/>
          </a:p>
        </p:txBody>
      </p:sp>
      <p:sp>
        <p:nvSpPr>
          <p:cNvPr id="15" name="Shape 12"/>
          <p:cNvSpPr/>
          <p:nvPr/>
        </p:nvSpPr>
        <p:spPr>
          <a:xfrm>
            <a:off x="540000" y="6156000"/>
            <a:ext cx="3204000" cy="468000"/>
          </a:xfrm>
          <a:prstGeom prst="rect">
            <a:avLst/>
          </a:prstGeom>
          <a:solidFill>
            <a:srgbClr val="0A2B6B"/>
          </a:solidFill>
          <a:ln w="6985">
            <a:solidFill>
              <a:srgbClr val="202020"/>
            </a:solidFill>
            <a:prstDash val="solid"/>
          </a:ln>
        </p:spPr>
      </p:sp>
      <p:sp>
        <p:nvSpPr>
          <p:cNvPr id="16" name="Text 13"/>
          <p:cNvSpPr/>
          <p:nvPr/>
        </p:nvSpPr>
        <p:spPr>
          <a:xfrm>
            <a:off x="601200" y="6195600"/>
            <a:ext cx="3081600" cy="38880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État initial</a:t>
            </a:r>
            <a:endParaRPr lang="en-US" sz="920" dirty="0"/>
          </a:p>
        </p:txBody>
      </p:sp>
      <p:sp>
        <p:nvSpPr>
          <p:cNvPr id="17" name="Shape 14"/>
          <p:cNvSpPr/>
          <p:nvPr/>
        </p:nvSpPr>
        <p:spPr>
          <a:xfrm>
            <a:off x="540000" y="6624000"/>
            <a:ext cx="3204000" cy="1620000"/>
          </a:xfrm>
          <a:prstGeom prst="rect">
            <a:avLst/>
          </a:prstGeom>
          <a:solidFill>
            <a:srgbClr val="FFFFFF"/>
          </a:solidFill>
          <a:ln w="6985">
            <a:solidFill>
              <a:srgbClr val="202020"/>
            </a:solidFill>
            <a:prstDash val="solid"/>
          </a:ln>
        </p:spPr>
      </p:sp>
      <p:sp>
        <p:nvSpPr>
          <p:cNvPr id="18" name="Shape 15"/>
          <p:cNvSpPr/>
          <p:nvPr/>
        </p:nvSpPr>
        <p:spPr>
          <a:xfrm>
            <a:off x="3816000" y="6156000"/>
            <a:ext cx="3204000" cy="468000"/>
          </a:xfrm>
          <a:prstGeom prst="rect">
            <a:avLst/>
          </a:prstGeom>
          <a:solidFill>
            <a:srgbClr val="0A2B6B"/>
          </a:solidFill>
          <a:ln w="6985">
            <a:solidFill>
              <a:srgbClr val="202020"/>
            </a:solidFill>
            <a:prstDash val="solid"/>
          </a:ln>
        </p:spPr>
      </p:sp>
      <p:sp>
        <p:nvSpPr>
          <p:cNvPr id="19" name="Text 16"/>
          <p:cNvSpPr/>
          <p:nvPr/>
        </p:nvSpPr>
        <p:spPr>
          <a:xfrm>
            <a:off x="3877200" y="6195600"/>
            <a:ext cx="3081600" cy="388800"/>
          </a:xfrm>
          <a:prstGeom prst="rect">
            <a:avLst/>
          </a:prstGeom>
          <a:noFill/>
          <a:ln/>
        </p:spPr>
        <p:txBody>
          <a:bodyPr wrap="square" lIns="0" tIns="0" rIns="0" bIns="0" rtlCol="0" anchor="ctr"/>
          <a:lstStyle/>
          <a:p>
            <a:pPr marL="0" indent="0" algn="ctr">
              <a:buNone/>
            </a:pPr>
            <a:r>
              <a:rPr lang="en-US" sz="920" b="1" dirty="0">
                <a:solidFill>
                  <a:srgbClr val="FFFFFF"/>
                </a:solidFill>
                <a:latin typeface="Aptos" pitchFamily="34" charset="0"/>
                <a:ea typeface="Aptos" pitchFamily="34" charset="-122"/>
                <a:cs typeface="Aptos" pitchFamily="34" charset="-120"/>
              </a:rPr>
              <a:t>Scénario de rénovation le plus ambitieux</a:t>
            </a:r>
            <a:endParaRPr lang="en-US" sz="920" dirty="0"/>
          </a:p>
          <a:p>
            <a:pPr marL="0" indent="0" algn="ctr">
              <a:buNone/>
            </a:pPr>
            <a:r>
              <a:rPr lang="en-US" sz="920" b="1" dirty="0">
                <a:solidFill>
                  <a:srgbClr val="FFFFFF"/>
                </a:solidFill>
                <a:latin typeface="Aptos" pitchFamily="34" charset="0"/>
                <a:ea typeface="Aptos" pitchFamily="34" charset="-122"/>
                <a:cs typeface="Aptos" pitchFamily="34" charset="-120"/>
              </a:rPr>
              <a:t>(Scénario n° 1)</a:t>
            </a:r>
            <a:endParaRPr lang="en-US" sz="920" dirty="0"/>
          </a:p>
        </p:txBody>
      </p:sp>
      <p:sp>
        <p:nvSpPr>
          <p:cNvPr id="20" name="Shape 17"/>
          <p:cNvSpPr/>
          <p:nvPr/>
        </p:nvSpPr>
        <p:spPr>
          <a:xfrm>
            <a:off x="3816000" y="6624000"/>
            <a:ext cx="3204000" cy="1620000"/>
          </a:xfrm>
          <a:prstGeom prst="rect">
            <a:avLst/>
          </a:prstGeom>
          <a:solidFill>
            <a:srgbClr val="FFFFFF"/>
          </a:solidFill>
          <a:ln w="6985">
            <a:solidFill>
              <a:srgbClr val="202020"/>
            </a:solidFill>
            <a:prstDash val="solid"/>
          </a:ln>
        </p:spPr>
      </p:sp>
      <p:sp>
        <p:nvSpPr>
          <p:cNvPr id="21" name="Text 18"/>
          <p:cNvSpPr/>
          <p:nvPr/>
        </p:nvSpPr>
        <p:spPr>
          <a:xfrm>
            <a:off x="648000" y="5544000"/>
            <a:ext cx="6264000" cy="324000"/>
          </a:xfrm>
          <a:prstGeom prst="rect">
            <a:avLst/>
          </a:prstGeom>
          <a:noFill/>
          <a:ln/>
        </p:spPr>
        <p:txBody>
          <a:bodyPr wrap="square" lIns="0" tIns="0" rIns="0" bIns="0" rtlCol="0" anchor="t"/>
          <a:lstStyle/>
          <a:p>
            <a:pPr marL="0" indent="0">
              <a:buNone/>
            </a:pPr>
            <a:r>
              <a:rPr lang="en-US" sz="9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900" dirty="0"/>
          </a:p>
          <a:p>
            <a:pPr marL="0" indent="0">
              <a:buNone/>
            </a:pPr>
            <a:r>
              <a:rPr lang="en-US" sz="9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Shape 5"/>
          <p:cNvSpPr/>
          <p:nvPr/>
        </p:nvSpPr>
        <p:spPr>
          <a:xfrm>
            <a:off x="540000" y="1944000"/>
            <a:ext cx="2124000" cy="360000"/>
          </a:xfrm>
          <a:prstGeom prst="rect">
            <a:avLst/>
          </a:prstGeom>
          <a:solidFill>
            <a:srgbClr val="0A2B6B"/>
          </a:solidFill>
          <a:ln w="6985">
            <a:solidFill>
              <a:srgbClr val="202020"/>
            </a:solidFill>
            <a:prstDash val="solid"/>
          </a:ln>
        </p:spPr>
      </p:sp>
      <p:sp>
        <p:nvSpPr>
          <p:cNvPr id="9" name="Text 6"/>
          <p:cNvSpPr/>
          <p:nvPr/>
        </p:nvSpPr>
        <p:spPr>
          <a:xfrm>
            <a:off x="601200" y="1983600"/>
            <a:ext cx="2001600" cy="28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Travaux énergétiques</a:t>
            </a:r>
            <a:endParaRPr lang="en-US" sz="900" dirty="0"/>
          </a:p>
        </p:txBody>
      </p:sp>
      <p:sp>
        <p:nvSpPr>
          <p:cNvPr id="10" name="Shape 7"/>
          <p:cNvSpPr/>
          <p:nvPr/>
        </p:nvSpPr>
        <p:spPr>
          <a:xfrm>
            <a:off x="2664000" y="1944000"/>
            <a:ext cx="1450800" cy="360000"/>
          </a:xfrm>
          <a:prstGeom prst="rect">
            <a:avLst/>
          </a:prstGeom>
          <a:solidFill>
            <a:srgbClr val="0A2B6B"/>
          </a:solidFill>
          <a:ln w="6985">
            <a:solidFill>
              <a:srgbClr val="202020"/>
            </a:solidFill>
            <a:prstDash val="solid"/>
          </a:ln>
        </p:spPr>
      </p:sp>
      <p:sp>
        <p:nvSpPr>
          <p:cNvPr id="11" name="Text 8"/>
          <p:cNvSpPr/>
          <p:nvPr/>
        </p:nvSpPr>
        <p:spPr>
          <a:xfrm>
            <a:off x="2725200" y="1983600"/>
            <a:ext cx="1328400" cy="28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Scénario 1</a:t>
            </a:r>
            <a:endParaRPr lang="en-US" sz="900" dirty="0"/>
          </a:p>
        </p:txBody>
      </p:sp>
      <p:sp>
        <p:nvSpPr>
          <p:cNvPr id="12" name="Shape 9"/>
          <p:cNvSpPr/>
          <p:nvPr/>
        </p:nvSpPr>
        <p:spPr>
          <a:xfrm>
            <a:off x="4114800" y="1944000"/>
            <a:ext cx="1450800" cy="360000"/>
          </a:xfrm>
          <a:prstGeom prst="rect">
            <a:avLst/>
          </a:prstGeom>
          <a:solidFill>
            <a:srgbClr val="0A2B6B"/>
          </a:solidFill>
          <a:ln w="6985">
            <a:solidFill>
              <a:srgbClr val="202020"/>
            </a:solidFill>
            <a:prstDash val="solid"/>
          </a:ln>
        </p:spPr>
      </p:sp>
      <p:sp>
        <p:nvSpPr>
          <p:cNvPr id="13" name="Text 10"/>
          <p:cNvSpPr/>
          <p:nvPr/>
        </p:nvSpPr>
        <p:spPr>
          <a:xfrm>
            <a:off x="4176000" y="1983600"/>
            <a:ext cx="1328400" cy="28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Scénario 2</a:t>
            </a:r>
            <a:endParaRPr lang="en-US" sz="900" dirty="0"/>
          </a:p>
        </p:txBody>
      </p:sp>
      <p:sp>
        <p:nvSpPr>
          <p:cNvPr id="14" name="Shape 11"/>
          <p:cNvSpPr/>
          <p:nvPr/>
        </p:nvSpPr>
        <p:spPr>
          <a:xfrm>
            <a:off x="5565600" y="1944000"/>
            <a:ext cx="1454400" cy="360000"/>
          </a:xfrm>
          <a:prstGeom prst="rect">
            <a:avLst/>
          </a:prstGeom>
          <a:solidFill>
            <a:srgbClr val="0A2B6B"/>
          </a:solidFill>
          <a:ln w="6985">
            <a:solidFill>
              <a:srgbClr val="202020"/>
            </a:solidFill>
            <a:prstDash val="solid"/>
          </a:ln>
        </p:spPr>
      </p:sp>
      <p:sp>
        <p:nvSpPr>
          <p:cNvPr id="15" name="Text 12"/>
          <p:cNvSpPr/>
          <p:nvPr/>
        </p:nvSpPr>
        <p:spPr>
          <a:xfrm>
            <a:off x="5626800" y="1983600"/>
            <a:ext cx="1332000" cy="28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Scénario 3</a:t>
            </a:r>
            <a:endParaRPr lang="en-US" sz="900" dirty="0"/>
          </a:p>
        </p:txBody>
      </p:sp>
      <p:sp>
        <p:nvSpPr>
          <p:cNvPr id="16" name="Shape 13"/>
          <p:cNvSpPr/>
          <p:nvPr/>
        </p:nvSpPr>
        <p:spPr>
          <a:xfrm>
            <a:off x="540000" y="2304000"/>
            <a:ext cx="2124000" cy="612000"/>
          </a:xfrm>
          <a:prstGeom prst="rect">
            <a:avLst/>
          </a:prstGeom>
          <a:solidFill>
            <a:srgbClr val="FFFFFF"/>
          </a:solidFill>
          <a:ln w="6985">
            <a:solidFill>
              <a:srgbClr val="202020"/>
            </a:solidFill>
            <a:prstDash val="solid"/>
          </a:ln>
        </p:spPr>
      </p:sp>
      <p:sp>
        <p:nvSpPr>
          <p:cNvPr id="17" name="Text 14"/>
          <p:cNvSpPr/>
          <p:nvPr/>
        </p:nvSpPr>
        <p:spPr>
          <a:xfrm>
            <a:off x="601200" y="2343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Étiquette énergétique</a:t>
            </a:r>
            <a:endParaRPr lang="en-US" sz="900" dirty="0"/>
          </a:p>
        </p:txBody>
      </p:sp>
      <p:sp>
        <p:nvSpPr>
          <p:cNvPr id="18" name="Shape 15"/>
          <p:cNvSpPr/>
          <p:nvPr/>
        </p:nvSpPr>
        <p:spPr>
          <a:xfrm>
            <a:off x="2664000" y="2304000"/>
            <a:ext cx="1450800" cy="612000"/>
          </a:xfrm>
          <a:prstGeom prst="rect">
            <a:avLst/>
          </a:prstGeom>
          <a:solidFill>
            <a:srgbClr val="FFFFFF"/>
          </a:solidFill>
          <a:ln w="6985">
            <a:solidFill>
              <a:srgbClr val="202020"/>
            </a:solidFill>
            <a:prstDash val="solid"/>
          </a:ln>
        </p:spPr>
      </p:sp>
      <p:sp>
        <p:nvSpPr>
          <p:cNvPr id="19" name="Text 16"/>
          <p:cNvSpPr/>
          <p:nvPr/>
        </p:nvSpPr>
        <p:spPr>
          <a:xfrm>
            <a:off x="2725200" y="2343600"/>
            <a:ext cx="1328400" cy="532800"/>
          </a:xfrm>
          <a:prstGeom prst="rect">
            <a:avLst/>
          </a:prstGeom>
          <a:noFill/>
          <a:ln/>
        </p:spPr>
        <p:txBody>
          <a:bodyPr wrap="square" lIns="0" tIns="0" rIns="0" bIns="0" rtlCol="0" anchor="ctr"/>
          <a:lstStyle/>
          <a:p>
            <a:pPr marL="0" indent="0" algn="l">
              <a:buNone/>
            </a:pPr>
            <a:endParaRPr lang="en-US" sz="900" dirty="0"/>
          </a:p>
        </p:txBody>
      </p:sp>
      <p:sp>
        <p:nvSpPr>
          <p:cNvPr id="20" name="Shape 17"/>
          <p:cNvSpPr/>
          <p:nvPr/>
        </p:nvSpPr>
        <p:spPr>
          <a:xfrm>
            <a:off x="4114800" y="2304000"/>
            <a:ext cx="1450800" cy="612000"/>
          </a:xfrm>
          <a:prstGeom prst="rect">
            <a:avLst/>
          </a:prstGeom>
          <a:solidFill>
            <a:srgbClr val="FFFFFF"/>
          </a:solidFill>
          <a:ln w="6985">
            <a:solidFill>
              <a:srgbClr val="202020"/>
            </a:solidFill>
            <a:prstDash val="solid"/>
          </a:ln>
        </p:spPr>
      </p:sp>
      <p:sp>
        <p:nvSpPr>
          <p:cNvPr id="21" name="Text 18"/>
          <p:cNvSpPr/>
          <p:nvPr/>
        </p:nvSpPr>
        <p:spPr>
          <a:xfrm>
            <a:off x="4176000" y="2343600"/>
            <a:ext cx="1328400" cy="532800"/>
          </a:xfrm>
          <a:prstGeom prst="rect">
            <a:avLst/>
          </a:prstGeom>
          <a:noFill/>
          <a:ln/>
        </p:spPr>
        <p:txBody>
          <a:bodyPr wrap="square" lIns="0" tIns="0" rIns="0" bIns="0" rtlCol="0" anchor="ctr"/>
          <a:lstStyle/>
          <a:p>
            <a:pPr marL="0" indent="0" algn="l">
              <a:buNone/>
            </a:pPr>
            <a:endParaRPr lang="en-US" sz="900" dirty="0"/>
          </a:p>
        </p:txBody>
      </p:sp>
      <p:sp>
        <p:nvSpPr>
          <p:cNvPr id="22" name="Shape 19"/>
          <p:cNvSpPr/>
          <p:nvPr/>
        </p:nvSpPr>
        <p:spPr>
          <a:xfrm>
            <a:off x="5565600" y="2304000"/>
            <a:ext cx="1454400" cy="612000"/>
          </a:xfrm>
          <a:prstGeom prst="rect">
            <a:avLst/>
          </a:prstGeom>
          <a:solidFill>
            <a:srgbClr val="FFFFFF"/>
          </a:solidFill>
          <a:ln w="6985">
            <a:solidFill>
              <a:srgbClr val="202020"/>
            </a:solidFill>
            <a:prstDash val="solid"/>
          </a:ln>
        </p:spPr>
      </p:sp>
      <p:sp>
        <p:nvSpPr>
          <p:cNvPr id="23" name="Text 20"/>
          <p:cNvSpPr/>
          <p:nvPr/>
        </p:nvSpPr>
        <p:spPr>
          <a:xfrm>
            <a:off x="5626800" y="2343600"/>
            <a:ext cx="1332000" cy="532800"/>
          </a:xfrm>
          <a:prstGeom prst="rect">
            <a:avLst/>
          </a:prstGeom>
          <a:noFill/>
          <a:ln/>
        </p:spPr>
        <p:txBody>
          <a:bodyPr wrap="square" lIns="0" tIns="0" rIns="0" bIns="0" rtlCol="0" anchor="ctr"/>
          <a:lstStyle/>
          <a:p>
            <a:pPr marL="0" indent="0" algn="l">
              <a:buNone/>
            </a:pPr>
            <a:endParaRPr lang="en-US" sz="900" dirty="0"/>
          </a:p>
        </p:txBody>
      </p:sp>
      <p:sp>
        <p:nvSpPr>
          <p:cNvPr id="24" name="Shape 21"/>
          <p:cNvSpPr/>
          <p:nvPr/>
        </p:nvSpPr>
        <p:spPr>
          <a:xfrm>
            <a:off x="540000" y="2916000"/>
            <a:ext cx="2124000" cy="612000"/>
          </a:xfrm>
          <a:prstGeom prst="rect">
            <a:avLst/>
          </a:prstGeom>
          <a:solidFill>
            <a:srgbClr val="FFFFFF"/>
          </a:solidFill>
          <a:ln w="6985">
            <a:solidFill>
              <a:srgbClr val="202020"/>
            </a:solidFill>
            <a:prstDash val="solid"/>
          </a:ln>
        </p:spPr>
      </p:sp>
      <p:sp>
        <p:nvSpPr>
          <p:cNvPr id="25" name="Text 22"/>
          <p:cNvSpPr/>
          <p:nvPr/>
        </p:nvSpPr>
        <p:spPr>
          <a:xfrm>
            <a:off x="601200" y="2955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Consommation en énergie primaire (kWhEP/m²/an)</a:t>
            </a:r>
            <a:endParaRPr lang="en-US" sz="900" dirty="0"/>
          </a:p>
        </p:txBody>
      </p:sp>
      <p:sp>
        <p:nvSpPr>
          <p:cNvPr id="26" name="Shape 23"/>
          <p:cNvSpPr/>
          <p:nvPr/>
        </p:nvSpPr>
        <p:spPr>
          <a:xfrm>
            <a:off x="2664000" y="2916000"/>
            <a:ext cx="1450800" cy="612000"/>
          </a:xfrm>
          <a:prstGeom prst="rect">
            <a:avLst/>
          </a:prstGeom>
          <a:solidFill>
            <a:srgbClr val="FFFFFF"/>
          </a:solidFill>
          <a:ln w="6985">
            <a:solidFill>
              <a:srgbClr val="202020"/>
            </a:solidFill>
            <a:prstDash val="solid"/>
          </a:ln>
        </p:spPr>
      </p:sp>
      <p:sp>
        <p:nvSpPr>
          <p:cNvPr id="27" name="Text 24"/>
          <p:cNvSpPr/>
          <p:nvPr/>
        </p:nvSpPr>
        <p:spPr>
          <a:xfrm>
            <a:off x="2725200" y="2955600"/>
            <a:ext cx="1328400" cy="532800"/>
          </a:xfrm>
          <a:prstGeom prst="rect">
            <a:avLst/>
          </a:prstGeom>
          <a:noFill/>
          <a:ln/>
        </p:spPr>
        <p:txBody>
          <a:bodyPr wrap="square" lIns="0" tIns="0" rIns="0" bIns="0" rtlCol="0" anchor="ctr"/>
          <a:lstStyle/>
          <a:p>
            <a:pPr marL="0" indent="0" algn="l">
              <a:buNone/>
            </a:pPr>
            <a:endParaRPr lang="en-US" sz="900" dirty="0"/>
          </a:p>
        </p:txBody>
      </p:sp>
      <p:sp>
        <p:nvSpPr>
          <p:cNvPr id="28" name="Shape 25"/>
          <p:cNvSpPr/>
          <p:nvPr/>
        </p:nvSpPr>
        <p:spPr>
          <a:xfrm>
            <a:off x="4114800" y="2916000"/>
            <a:ext cx="1450800" cy="612000"/>
          </a:xfrm>
          <a:prstGeom prst="rect">
            <a:avLst/>
          </a:prstGeom>
          <a:solidFill>
            <a:srgbClr val="FFFFFF"/>
          </a:solidFill>
          <a:ln w="6985">
            <a:solidFill>
              <a:srgbClr val="202020"/>
            </a:solidFill>
            <a:prstDash val="solid"/>
          </a:ln>
        </p:spPr>
      </p:sp>
      <p:sp>
        <p:nvSpPr>
          <p:cNvPr id="29" name="Text 26"/>
          <p:cNvSpPr/>
          <p:nvPr/>
        </p:nvSpPr>
        <p:spPr>
          <a:xfrm>
            <a:off x="4176000" y="2955600"/>
            <a:ext cx="1328400" cy="532800"/>
          </a:xfrm>
          <a:prstGeom prst="rect">
            <a:avLst/>
          </a:prstGeom>
          <a:noFill/>
          <a:ln/>
        </p:spPr>
        <p:txBody>
          <a:bodyPr wrap="square" lIns="0" tIns="0" rIns="0" bIns="0" rtlCol="0" anchor="ctr"/>
          <a:lstStyle/>
          <a:p>
            <a:pPr marL="0" indent="0" algn="l">
              <a:buNone/>
            </a:pPr>
            <a:endParaRPr lang="en-US" sz="900" dirty="0"/>
          </a:p>
        </p:txBody>
      </p:sp>
      <p:sp>
        <p:nvSpPr>
          <p:cNvPr id="30" name="Shape 27"/>
          <p:cNvSpPr/>
          <p:nvPr/>
        </p:nvSpPr>
        <p:spPr>
          <a:xfrm>
            <a:off x="5565600" y="2916000"/>
            <a:ext cx="1454400" cy="612000"/>
          </a:xfrm>
          <a:prstGeom prst="rect">
            <a:avLst/>
          </a:prstGeom>
          <a:solidFill>
            <a:srgbClr val="FFFFFF"/>
          </a:solidFill>
          <a:ln w="6985">
            <a:solidFill>
              <a:srgbClr val="202020"/>
            </a:solidFill>
            <a:prstDash val="solid"/>
          </a:ln>
        </p:spPr>
      </p:sp>
      <p:sp>
        <p:nvSpPr>
          <p:cNvPr id="31" name="Text 28"/>
          <p:cNvSpPr/>
          <p:nvPr/>
        </p:nvSpPr>
        <p:spPr>
          <a:xfrm>
            <a:off x="5626800" y="2955600"/>
            <a:ext cx="1332000" cy="532800"/>
          </a:xfrm>
          <a:prstGeom prst="rect">
            <a:avLst/>
          </a:prstGeom>
          <a:noFill/>
          <a:ln/>
        </p:spPr>
        <p:txBody>
          <a:bodyPr wrap="square" lIns="0" tIns="0" rIns="0" bIns="0" rtlCol="0" anchor="ctr"/>
          <a:lstStyle/>
          <a:p>
            <a:pPr marL="0" indent="0" algn="l">
              <a:buNone/>
            </a:pPr>
            <a:endParaRPr lang="en-US" sz="900" dirty="0"/>
          </a:p>
        </p:txBody>
      </p:sp>
      <p:sp>
        <p:nvSpPr>
          <p:cNvPr id="32" name="Shape 29"/>
          <p:cNvSpPr/>
          <p:nvPr/>
        </p:nvSpPr>
        <p:spPr>
          <a:xfrm>
            <a:off x="540000" y="3528000"/>
            <a:ext cx="2124000" cy="612000"/>
          </a:xfrm>
          <a:prstGeom prst="rect">
            <a:avLst/>
          </a:prstGeom>
          <a:solidFill>
            <a:srgbClr val="FFFFFF"/>
          </a:solidFill>
          <a:ln w="6985">
            <a:solidFill>
              <a:srgbClr val="202020"/>
            </a:solidFill>
            <a:prstDash val="solid"/>
          </a:ln>
        </p:spPr>
      </p:sp>
      <p:sp>
        <p:nvSpPr>
          <p:cNvPr id="33" name="Text 30"/>
          <p:cNvSpPr/>
          <p:nvPr/>
        </p:nvSpPr>
        <p:spPr>
          <a:xfrm>
            <a:off x="601200" y="3567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Gaz à effet de serre (kgCO2/m²/an)</a:t>
            </a:r>
            <a:endParaRPr lang="en-US" sz="900" dirty="0"/>
          </a:p>
        </p:txBody>
      </p:sp>
      <p:sp>
        <p:nvSpPr>
          <p:cNvPr id="34" name="Shape 31"/>
          <p:cNvSpPr/>
          <p:nvPr/>
        </p:nvSpPr>
        <p:spPr>
          <a:xfrm>
            <a:off x="2664000" y="3528000"/>
            <a:ext cx="1450800" cy="612000"/>
          </a:xfrm>
          <a:prstGeom prst="rect">
            <a:avLst/>
          </a:prstGeom>
          <a:solidFill>
            <a:srgbClr val="FFFFFF"/>
          </a:solidFill>
          <a:ln w="6985">
            <a:solidFill>
              <a:srgbClr val="202020"/>
            </a:solidFill>
            <a:prstDash val="solid"/>
          </a:ln>
        </p:spPr>
      </p:sp>
      <p:sp>
        <p:nvSpPr>
          <p:cNvPr id="35" name="Text 32"/>
          <p:cNvSpPr/>
          <p:nvPr/>
        </p:nvSpPr>
        <p:spPr>
          <a:xfrm>
            <a:off x="2725200" y="3567600"/>
            <a:ext cx="1328400" cy="532800"/>
          </a:xfrm>
          <a:prstGeom prst="rect">
            <a:avLst/>
          </a:prstGeom>
          <a:noFill/>
          <a:ln/>
        </p:spPr>
        <p:txBody>
          <a:bodyPr wrap="square" lIns="0" tIns="0" rIns="0" bIns="0" rtlCol="0" anchor="ctr"/>
          <a:lstStyle/>
          <a:p>
            <a:pPr marL="0" indent="0" algn="l">
              <a:buNone/>
            </a:pPr>
            <a:endParaRPr lang="en-US" sz="900" dirty="0"/>
          </a:p>
        </p:txBody>
      </p:sp>
      <p:sp>
        <p:nvSpPr>
          <p:cNvPr id="36" name="Shape 33"/>
          <p:cNvSpPr/>
          <p:nvPr/>
        </p:nvSpPr>
        <p:spPr>
          <a:xfrm>
            <a:off x="4114800" y="3528000"/>
            <a:ext cx="1450800" cy="612000"/>
          </a:xfrm>
          <a:prstGeom prst="rect">
            <a:avLst/>
          </a:prstGeom>
          <a:solidFill>
            <a:srgbClr val="FFFFFF"/>
          </a:solidFill>
          <a:ln w="6985">
            <a:solidFill>
              <a:srgbClr val="202020"/>
            </a:solidFill>
            <a:prstDash val="solid"/>
          </a:ln>
        </p:spPr>
      </p:sp>
      <p:sp>
        <p:nvSpPr>
          <p:cNvPr id="37" name="Text 34"/>
          <p:cNvSpPr/>
          <p:nvPr/>
        </p:nvSpPr>
        <p:spPr>
          <a:xfrm>
            <a:off x="4176000" y="3567600"/>
            <a:ext cx="1328400" cy="532800"/>
          </a:xfrm>
          <a:prstGeom prst="rect">
            <a:avLst/>
          </a:prstGeom>
          <a:noFill/>
          <a:ln/>
        </p:spPr>
        <p:txBody>
          <a:bodyPr wrap="square" lIns="0" tIns="0" rIns="0" bIns="0" rtlCol="0" anchor="ctr"/>
          <a:lstStyle/>
          <a:p>
            <a:pPr marL="0" indent="0" algn="l">
              <a:buNone/>
            </a:pPr>
            <a:endParaRPr lang="en-US" sz="900" dirty="0"/>
          </a:p>
        </p:txBody>
      </p:sp>
      <p:sp>
        <p:nvSpPr>
          <p:cNvPr id="38" name="Shape 35"/>
          <p:cNvSpPr/>
          <p:nvPr/>
        </p:nvSpPr>
        <p:spPr>
          <a:xfrm>
            <a:off x="5565600" y="3528000"/>
            <a:ext cx="1454400" cy="612000"/>
          </a:xfrm>
          <a:prstGeom prst="rect">
            <a:avLst/>
          </a:prstGeom>
          <a:solidFill>
            <a:srgbClr val="FFFFFF"/>
          </a:solidFill>
          <a:ln w="6985">
            <a:solidFill>
              <a:srgbClr val="202020"/>
            </a:solidFill>
            <a:prstDash val="solid"/>
          </a:ln>
        </p:spPr>
      </p:sp>
      <p:sp>
        <p:nvSpPr>
          <p:cNvPr id="39" name="Text 36"/>
          <p:cNvSpPr/>
          <p:nvPr/>
        </p:nvSpPr>
        <p:spPr>
          <a:xfrm>
            <a:off x="5626800" y="3567600"/>
            <a:ext cx="1332000" cy="532800"/>
          </a:xfrm>
          <a:prstGeom prst="rect">
            <a:avLst/>
          </a:prstGeom>
          <a:noFill/>
          <a:ln/>
        </p:spPr>
        <p:txBody>
          <a:bodyPr wrap="square" lIns="0" tIns="0" rIns="0" bIns="0" rtlCol="0" anchor="ctr"/>
          <a:lstStyle/>
          <a:p>
            <a:pPr marL="0" indent="0" algn="l">
              <a:buNone/>
            </a:pPr>
            <a:endParaRPr lang="en-US" sz="900" dirty="0"/>
          </a:p>
        </p:txBody>
      </p:sp>
      <p:sp>
        <p:nvSpPr>
          <p:cNvPr id="40" name="Shape 37"/>
          <p:cNvSpPr/>
          <p:nvPr/>
        </p:nvSpPr>
        <p:spPr>
          <a:xfrm>
            <a:off x="540000" y="4140000"/>
            <a:ext cx="2124000" cy="612000"/>
          </a:xfrm>
          <a:prstGeom prst="rect">
            <a:avLst/>
          </a:prstGeom>
          <a:solidFill>
            <a:srgbClr val="FFFFFF"/>
          </a:solidFill>
          <a:ln w="6985">
            <a:solidFill>
              <a:srgbClr val="202020"/>
            </a:solidFill>
            <a:prstDash val="solid"/>
          </a:ln>
        </p:spPr>
      </p:sp>
      <p:sp>
        <p:nvSpPr>
          <p:cNvPr id="41" name="Text 38"/>
          <p:cNvSpPr/>
          <p:nvPr/>
        </p:nvSpPr>
        <p:spPr>
          <a:xfrm>
            <a:off x="601200" y="4179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Gain énergétique</a:t>
            </a:r>
            <a:endParaRPr lang="en-US" sz="900" dirty="0"/>
          </a:p>
        </p:txBody>
      </p:sp>
      <p:sp>
        <p:nvSpPr>
          <p:cNvPr id="42" name="Shape 39"/>
          <p:cNvSpPr/>
          <p:nvPr/>
        </p:nvSpPr>
        <p:spPr>
          <a:xfrm>
            <a:off x="2664000" y="4140000"/>
            <a:ext cx="1450800" cy="612000"/>
          </a:xfrm>
          <a:prstGeom prst="rect">
            <a:avLst/>
          </a:prstGeom>
          <a:solidFill>
            <a:srgbClr val="FFFFFF"/>
          </a:solidFill>
          <a:ln w="6985">
            <a:solidFill>
              <a:srgbClr val="202020"/>
            </a:solidFill>
            <a:prstDash val="solid"/>
          </a:ln>
        </p:spPr>
      </p:sp>
      <p:sp>
        <p:nvSpPr>
          <p:cNvPr id="43" name="Text 40"/>
          <p:cNvSpPr/>
          <p:nvPr/>
        </p:nvSpPr>
        <p:spPr>
          <a:xfrm>
            <a:off x="2725200" y="4179600"/>
            <a:ext cx="1328400" cy="532800"/>
          </a:xfrm>
          <a:prstGeom prst="rect">
            <a:avLst/>
          </a:prstGeom>
          <a:noFill/>
          <a:ln/>
        </p:spPr>
        <p:txBody>
          <a:bodyPr wrap="square" lIns="0" tIns="0" rIns="0" bIns="0" rtlCol="0" anchor="ctr"/>
          <a:lstStyle/>
          <a:p>
            <a:pPr marL="0" indent="0" algn="l">
              <a:buNone/>
            </a:pPr>
            <a:endParaRPr lang="en-US" sz="900" dirty="0"/>
          </a:p>
        </p:txBody>
      </p:sp>
      <p:sp>
        <p:nvSpPr>
          <p:cNvPr id="44" name="Shape 41"/>
          <p:cNvSpPr/>
          <p:nvPr/>
        </p:nvSpPr>
        <p:spPr>
          <a:xfrm>
            <a:off x="4114800" y="4140000"/>
            <a:ext cx="1450800" cy="612000"/>
          </a:xfrm>
          <a:prstGeom prst="rect">
            <a:avLst/>
          </a:prstGeom>
          <a:solidFill>
            <a:srgbClr val="FFFFFF"/>
          </a:solidFill>
          <a:ln w="6985">
            <a:solidFill>
              <a:srgbClr val="202020"/>
            </a:solidFill>
            <a:prstDash val="solid"/>
          </a:ln>
        </p:spPr>
      </p:sp>
      <p:sp>
        <p:nvSpPr>
          <p:cNvPr id="45" name="Text 42"/>
          <p:cNvSpPr/>
          <p:nvPr/>
        </p:nvSpPr>
        <p:spPr>
          <a:xfrm>
            <a:off x="4176000" y="4179600"/>
            <a:ext cx="1328400" cy="532800"/>
          </a:xfrm>
          <a:prstGeom prst="rect">
            <a:avLst/>
          </a:prstGeom>
          <a:noFill/>
          <a:ln/>
        </p:spPr>
        <p:txBody>
          <a:bodyPr wrap="square" lIns="0" tIns="0" rIns="0" bIns="0" rtlCol="0" anchor="ctr"/>
          <a:lstStyle/>
          <a:p>
            <a:pPr marL="0" indent="0" algn="l">
              <a:buNone/>
            </a:pPr>
            <a:endParaRPr lang="en-US" sz="900" dirty="0"/>
          </a:p>
        </p:txBody>
      </p:sp>
      <p:sp>
        <p:nvSpPr>
          <p:cNvPr id="46" name="Shape 43"/>
          <p:cNvSpPr/>
          <p:nvPr/>
        </p:nvSpPr>
        <p:spPr>
          <a:xfrm>
            <a:off x="5565600" y="4140000"/>
            <a:ext cx="1454400" cy="612000"/>
          </a:xfrm>
          <a:prstGeom prst="rect">
            <a:avLst/>
          </a:prstGeom>
          <a:solidFill>
            <a:srgbClr val="FFFFFF"/>
          </a:solidFill>
          <a:ln w="6985">
            <a:solidFill>
              <a:srgbClr val="202020"/>
            </a:solidFill>
            <a:prstDash val="solid"/>
          </a:ln>
        </p:spPr>
      </p:sp>
      <p:sp>
        <p:nvSpPr>
          <p:cNvPr id="47" name="Text 44"/>
          <p:cNvSpPr/>
          <p:nvPr/>
        </p:nvSpPr>
        <p:spPr>
          <a:xfrm>
            <a:off x="5626800" y="4179600"/>
            <a:ext cx="1332000" cy="532800"/>
          </a:xfrm>
          <a:prstGeom prst="rect">
            <a:avLst/>
          </a:prstGeom>
          <a:noFill/>
          <a:ln/>
        </p:spPr>
        <p:txBody>
          <a:bodyPr wrap="square" lIns="0" tIns="0" rIns="0" bIns="0" rtlCol="0" anchor="ctr"/>
          <a:lstStyle/>
          <a:p>
            <a:pPr marL="0" indent="0" algn="l">
              <a:buNone/>
            </a:pPr>
            <a:endParaRPr lang="en-US" sz="900" dirty="0"/>
          </a:p>
        </p:txBody>
      </p:sp>
      <p:sp>
        <p:nvSpPr>
          <p:cNvPr id="48" name="Shape 45"/>
          <p:cNvSpPr/>
          <p:nvPr/>
        </p:nvSpPr>
        <p:spPr>
          <a:xfrm>
            <a:off x="540000" y="4752000"/>
            <a:ext cx="2124000" cy="612000"/>
          </a:xfrm>
          <a:prstGeom prst="rect">
            <a:avLst/>
          </a:prstGeom>
          <a:solidFill>
            <a:srgbClr val="FFFFFF"/>
          </a:solidFill>
          <a:ln w="6985">
            <a:solidFill>
              <a:srgbClr val="202020"/>
            </a:solidFill>
            <a:prstDash val="solid"/>
          </a:ln>
        </p:spPr>
      </p:sp>
      <p:sp>
        <p:nvSpPr>
          <p:cNvPr id="49" name="Text 46"/>
          <p:cNvSpPr/>
          <p:nvPr/>
        </p:nvSpPr>
        <p:spPr>
          <a:xfrm>
            <a:off x="601200" y="4791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Investissement en TTC (sans les aides)</a:t>
            </a:r>
            <a:endParaRPr lang="en-US" sz="900" dirty="0"/>
          </a:p>
        </p:txBody>
      </p:sp>
      <p:sp>
        <p:nvSpPr>
          <p:cNvPr id="50" name="Shape 47"/>
          <p:cNvSpPr/>
          <p:nvPr/>
        </p:nvSpPr>
        <p:spPr>
          <a:xfrm>
            <a:off x="2664000" y="4752000"/>
            <a:ext cx="1450800" cy="612000"/>
          </a:xfrm>
          <a:prstGeom prst="rect">
            <a:avLst/>
          </a:prstGeom>
          <a:solidFill>
            <a:srgbClr val="FFFFFF"/>
          </a:solidFill>
          <a:ln w="6985">
            <a:solidFill>
              <a:srgbClr val="202020"/>
            </a:solidFill>
            <a:prstDash val="solid"/>
          </a:ln>
        </p:spPr>
      </p:sp>
      <p:sp>
        <p:nvSpPr>
          <p:cNvPr id="51" name="Text 48"/>
          <p:cNvSpPr/>
          <p:nvPr/>
        </p:nvSpPr>
        <p:spPr>
          <a:xfrm>
            <a:off x="2725200" y="4791600"/>
            <a:ext cx="1328400" cy="532800"/>
          </a:xfrm>
          <a:prstGeom prst="rect">
            <a:avLst/>
          </a:prstGeom>
          <a:noFill/>
          <a:ln/>
        </p:spPr>
        <p:txBody>
          <a:bodyPr wrap="square" lIns="0" tIns="0" rIns="0" bIns="0" rtlCol="0" anchor="ctr"/>
          <a:lstStyle/>
          <a:p>
            <a:pPr marL="0" indent="0" algn="l">
              <a:buNone/>
            </a:pPr>
            <a:endParaRPr lang="en-US" sz="900" dirty="0"/>
          </a:p>
        </p:txBody>
      </p:sp>
      <p:sp>
        <p:nvSpPr>
          <p:cNvPr id="52" name="Shape 49"/>
          <p:cNvSpPr/>
          <p:nvPr/>
        </p:nvSpPr>
        <p:spPr>
          <a:xfrm>
            <a:off x="4114800" y="4752000"/>
            <a:ext cx="1450800" cy="612000"/>
          </a:xfrm>
          <a:prstGeom prst="rect">
            <a:avLst/>
          </a:prstGeom>
          <a:solidFill>
            <a:srgbClr val="FFFFFF"/>
          </a:solidFill>
          <a:ln w="6985">
            <a:solidFill>
              <a:srgbClr val="202020"/>
            </a:solidFill>
            <a:prstDash val="solid"/>
          </a:ln>
        </p:spPr>
      </p:sp>
      <p:sp>
        <p:nvSpPr>
          <p:cNvPr id="53" name="Text 50"/>
          <p:cNvSpPr/>
          <p:nvPr/>
        </p:nvSpPr>
        <p:spPr>
          <a:xfrm>
            <a:off x="4176000" y="4791600"/>
            <a:ext cx="1328400" cy="532800"/>
          </a:xfrm>
          <a:prstGeom prst="rect">
            <a:avLst/>
          </a:prstGeom>
          <a:noFill/>
          <a:ln/>
        </p:spPr>
        <p:txBody>
          <a:bodyPr wrap="square" lIns="0" tIns="0" rIns="0" bIns="0" rtlCol="0" anchor="ctr"/>
          <a:lstStyle/>
          <a:p>
            <a:pPr marL="0" indent="0" algn="l">
              <a:buNone/>
            </a:pPr>
            <a:endParaRPr lang="en-US" sz="900" dirty="0"/>
          </a:p>
        </p:txBody>
      </p:sp>
      <p:sp>
        <p:nvSpPr>
          <p:cNvPr id="54" name="Shape 51"/>
          <p:cNvSpPr/>
          <p:nvPr/>
        </p:nvSpPr>
        <p:spPr>
          <a:xfrm>
            <a:off x="5565600" y="4752000"/>
            <a:ext cx="1454400" cy="612000"/>
          </a:xfrm>
          <a:prstGeom prst="rect">
            <a:avLst/>
          </a:prstGeom>
          <a:solidFill>
            <a:srgbClr val="FFFFFF"/>
          </a:solidFill>
          <a:ln w="6985">
            <a:solidFill>
              <a:srgbClr val="202020"/>
            </a:solidFill>
            <a:prstDash val="solid"/>
          </a:ln>
        </p:spPr>
      </p:sp>
      <p:sp>
        <p:nvSpPr>
          <p:cNvPr id="55" name="Text 52"/>
          <p:cNvSpPr/>
          <p:nvPr/>
        </p:nvSpPr>
        <p:spPr>
          <a:xfrm>
            <a:off x="5626800" y="4791600"/>
            <a:ext cx="1332000" cy="532800"/>
          </a:xfrm>
          <a:prstGeom prst="rect">
            <a:avLst/>
          </a:prstGeom>
          <a:noFill/>
          <a:ln/>
        </p:spPr>
        <p:txBody>
          <a:bodyPr wrap="square" lIns="0" tIns="0" rIns="0" bIns="0" rtlCol="0" anchor="ctr"/>
          <a:lstStyle/>
          <a:p>
            <a:pPr marL="0" indent="0" algn="l">
              <a:buNone/>
            </a:pPr>
            <a:endParaRPr lang="en-US" sz="900" dirty="0"/>
          </a:p>
        </p:txBody>
      </p:sp>
      <p:sp>
        <p:nvSpPr>
          <p:cNvPr id="56" name="Shape 53"/>
          <p:cNvSpPr/>
          <p:nvPr/>
        </p:nvSpPr>
        <p:spPr>
          <a:xfrm>
            <a:off x="540000" y="5364000"/>
            <a:ext cx="2124000" cy="612000"/>
          </a:xfrm>
          <a:prstGeom prst="rect">
            <a:avLst/>
          </a:prstGeom>
          <a:solidFill>
            <a:srgbClr val="FFFFFF"/>
          </a:solidFill>
          <a:ln w="6985">
            <a:solidFill>
              <a:srgbClr val="202020"/>
            </a:solidFill>
            <a:prstDash val="solid"/>
          </a:ln>
        </p:spPr>
      </p:sp>
      <p:sp>
        <p:nvSpPr>
          <p:cNvPr id="57" name="Text 54"/>
          <p:cNvSpPr/>
          <p:nvPr/>
        </p:nvSpPr>
        <p:spPr>
          <a:xfrm>
            <a:off x="601200" y="5403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Estimatif de l’aide MaPrimeRénov ’Copropriétés</a:t>
            </a:r>
            <a:endParaRPr lang="en-US" sz="900" dirty="0"/>
          </a:p>
        </p:txBody>
      </p:sp>
      <p:sp>
        <p:nvSpPr>
          <p:cNvPr id="58" name="Shape 55"/>
          <p:cNvSpPr/>
          <p:nvPr/>
        </p:nvSpPr>
        <p:spPr>
          <a:xfrm>
            <a:off x="2664000" y="5364000"/>
            <a:ext cx="1450800" cy="612000"/>
          </a:xfrm>
          <a:prstGeom prst="rect">
            <a:avLst/>
          </a:prstGeom>
          <a:solidFill>
            <a:srgbClr val="FFFFFF"/>
          </a:solidFill>
          <a:ln w="6985">
            <a:solidFill>
              <a:srgbClr val="202020"/>
            </a:solidFill>
            <a:prstDash val="solid"/>
          </a:ln>
        </p:spPr>
      </p:sp>
      <p:sp>
        <p:nvSpPr>
          <p:cNvPr id="59" name="Text 56"/>
          <p:cNvSpPr/>
          <p:nvPr/>
        </p:nvSpPr>
        <p:spPr>
          <a:xfrm>
            <a:off x="2725200" y="5403600"/>
            <a:ext cx="1328400" cy="532800"/>
          </a:xfrm>
          <a:prstGeom prst="rect">
            <a:avLst/>
          </a:prstGeom>
          <a:noFill/>
          <a:ln/>
        </p:spPr>
        <p:txBody>
          <a:bodyPr wrap="square" lIns="0" tIns="0" rIns="0" bIns="0" rtlCol="0" anchor="ctr"/>
          <a:lstStyle/>
          <a:p>
            <a:pPr marL="0" indent="0" algn="l">
              <a:buNone/>
            </a:pPr>
            <a:endParaRPr lang="en-US" sz="900" dirty="0"/>
          </a:p>
        </p:txBody>
      </p:sp>
      <p:sp>
        <p:nvSpPr>
          <p:cNvPr id="60" name="Shape 57"/>
          <p:cNvSpPr/>
          <p:nvPr/>
        </p:nvSpPr>
        <p:spPr>
          <a:xfrm>
            <a:off x="4114800" y="5364000"/>
            <a:ext cx="1450800" cy="612000"/>
          </a:xfrm>
          <a:prstGeom prst="rect">
            <a:avLst/>
          </a:prstGeom>
          <a:solidFill>
            <a:srgbClr val="FFFFFF"/>
          </a:solidFill>
          <a:ln w="6985">
            <a:solidFill>
              <a:srgbClr val="202020"/>
            </a:solidFill>
            <a:prstDash val="solid"/>
          </a:ln>
        </p:spPr>
      </p:sp>
      <p:sp>
        <p:nvSpPr>
          <p:cNvPr id="61" name="Text 58"/>
          <p:cNvSpPr/>
          <p:nvPr/>
        </p:nvSpPr>
        <p:spPr>
          <a:xfrm>
            <a:off x="4176000" y="5403600"/>
            <a:ext cx="1328400" cy="532800"/>
          </a:xfrm>
          <a:prstGeom prst="rect">
            <a:avLst/>
          </a:prstGeom>
          <a:noFill/>
          <a:ln/>
        </p:spPr>
        <p:txBody>
          <a:bodyPr wrap="square" lIns="0" tIns="0" rIns="0" bIns="0" rtlCol="0" anchor="ctr"/>
          <a:lstStyle/>
          <a:p>
            <a:pPr marL="0" indent="0" algn="l">
              <a:buNone/>
            </a:pPr>
            <a:endParaRPr lang="en-US" sz="900" dirty="0"/>
          </a:p>
        </p:txBody>
      </p:sp>
      <p:sp>
        <p:nvSpPr>
          <p:cNvPr id="62" name="Shape 59"/>
          <p:cNvSpPr/>
          <p:nvPr/>
        </p:nvSpPr>
        <p:spPr>
          <a:xfrm>
            <a:off x="5565600" y="5364000"/>
            <a:ext cx="1454400" cy="612000"/>
          </a:xfrm>
          <a:prstGeom prst="rect">
            <a:avLst/>
          </a:prstGeom>
          <a:solidFill>
            <a:srgbClr val="FFFFFF"/>
          </a:solidFill>
          <a:ln w="6985">
            <a:solidFill>
              <a:srgbClr val="202020"/>
            </a:solidFill>
            <a:prstDash val="solid"/>
          </a:ln>
        </p:spPr>
      </p:sp>
      <p:sp>
        <p:nvSpPr>
          <p:cNvPr id="63" name="Text 60"/>
          <p:cNvSpPr/>
          <p:nvPr/>
        </p:nvSpPr>
        <p:spPr>
          <a:xfrm>
            <a:off x="5626800" y="5403600"/>
            <a:ext cx="1332000" cy="532800"/>
          </a:xfrm>
          <a:prstGeom prst="rect">
            <a:avLst/>
          </a:prstGeom>
          <a:noFill/>
          <a:ln/>
        </p:spPr>
        <p:txBody>
          <a:bodyPr wrap="square" lIns="0" tIns="0" rIns="0" bIns="0" rtlCol="0" anchor="ctr"/>
          <a:lstStyle/>
          <a:p>
            <a:pPr marL="0" indent="0" algn="l">
              <a:buNone/>
            </a:pPr>
            <a:endParaRPr lang="en-US" sz="900" dirty="0"/>
          </a:p>
        </p:txBody>
      </p:sp>
      <p:sp>
        <p:nvSpPr>
          <p:cNvPr id="64" name="Shape 61"/>
          <p:cNvSpPr/>
          <p:nvPr/>
        </p:nvSpPr>
        <p:spPr>
          <a:xfrm>
            <a:off x="540000" y="5976000"/>
            <a:ext cx="2124000" cy="612000"/>
          </a:xfrm>
          <a:prstGeom prst="rect">
            <a:avLst/>
          </a:prstGeom>
          <a:solidFill>
            <a:srgbClr val="FFFFFF"/>
          </a:solidFill>
          <a:ln w="6985">
            <a:solidFill>
              <a:srgbClr val="202020"/>
            </a:solidFill>
            <a:prstDash val="solid"/>
          </a:ln>
        </p:spPr>
      </p:sp>
      <p:sp>
        <p:nvSpPr>
          <p:cNvPr id="65" name="Text 62"/>
          <p:cNvSpPr/>
          <p:nvPr/>
        </p:nvSpPr>
        <p:spPr>
          <a:xfrm>
            <a:off x="601200" y="6015600"/>
            <a:ext cx="2001600" cy="532800"/>
          </a:xfrm>
          <a:prstGeom prst="rect">
            <a:avLst/>
          </a:prstGeom>
          <a:noFill/>
          <a:ln/>
        </p:spPr>
        <p:txBody>
          <a:bodyPr wrap="square" lIns="0" tIns="0" rIns="0" bIns="0" rtlCol="0" anchor="ctr"/>
          <a:lstStyle/>
          <a:p>
            <a:pPr marL="0" indent="0" algn="l">
              <a:buNone/>
            </a:pPr>
            <a:r>
              <a:rPr lang="en-US" sz="900" b="1" dirty="0">
                <a:solidFill>
                  <a:srgbClr val="1C1C1C"/>
                </a:solidFill>
                <a:latin typeface="Aptos" pitchFamily="34" charset="0"/>
                <a:ea typeface="Aptos" pitchFamily="34" charset="-122"/>
                <a:cs typeface="Aptos" pitchFamily="34" charset="-120"/>
              </a:rPr>
              <a:t>Estimatif de l’aide des CEE (Certificats d’Economies d’Energie)</a:t>
            </a:r>
            <a:endParaRPr lang="en-US" sz="900" dirty="0"/>
          </a:p>
        </p:txBody>
      </p:sp>
      <p:sp>
        <p:nvSpPr>
          <p:cNvPr id="66" name="Shape 63"/>
          <p:cNvSpPr/>
          <p:nvPr/>
        </p:nvSpPr>
        <p:spPr>
          <a:xfrm>
            <a:off x="2664000" y="5976000"/>
            <a:ext cx="1450800" cy="612000"/>
          </a:xfrm>
          <a:prstGeom prst="rect">
            <a:avLst/>
          </a:prstGeom>
          <a:solidFill>
            <a:srgbClr val="FFFFFF"/>
          </a:solidFill>
          <a:ln w="6985">
            <a:solidFill>
              <a:srgbClr val="202020"/>
            </a:solidFill>
            <a:prstDash val="solid"/>
          </a:ln>
        </p:spPr>
      </p:sp>
      <p:sp>
        <p:nvSpPr>
          <p:cNvPr id="67" name="Text 64"/>
          <p:cNvSpPr/>
          <p:nvPr/>
        </p:nvSpPr>
        <p:spPr>
          <a:xfrm>
            <a:off x="2725200" y="6015600"/>
            <a:ext cx="1328400" cy="532800"/>
          </a:xfrm>
          <a:prstGeom prst="rect">
            <a:avLst/>
          </a:prstGeom>
          <a:noFill/>
          <a:ln/>
        </p:spPr>
        <p:txBody>
          <a:bodyPr wrap="square" lIns="0" tIns="0" rIns="0" bIns="0" rtlCol="0" anchor="ctr"/>
          <a:lstStyle/>
          <a:p>
            <a:pPr marL="0" indent="0" algn="l">
              <a:buNone/>
            </a:pPr>
            <a:endParaRPr lang="en-US" sz="900" dirty="0"/>
          </a:p>
        </p:txBody>
      </p:sp>
      <p:sp>
        <p:nvSpPr>
          <p:cNvPr id="68" name="Shape 65"/>
          <p:cNvSpPr/>
          <p:nvPr/>
        </p:nvSpPr>
        <p:spPr>
          <a:xfrm>
            <a:off x="4114800" y="5976000"/>
            <a:ext cx="1450800" cy="612000"/>
          </a:xfrm>
          <a:prstGeom prst="rect">
            <a:avLst/>
          </a:prstGeom>
          <a:solidFill>
            <a:srgbClr val="FFFFFF"/>
          </a:solidFill>
          <a:ln w="6985">
            <a:solidFill>
              <a:srgbClr val="202020"/>
            </a:solidFill>
            <a:prstDash val="solid"/>
          </a:ln>
        </p:spPr>
      </p:sp>
      <p:sp>
        <p:nvSpPr>
          <p:cNvPr id="69" name="Text 66"/>
          <p:cNvSpPr/>
          <p:nvPr/>
        </p:nvSpPr>
        <p:spPr>
          <a:xfrm>
            <a:off x="4176000" y="6015600"/>
            <a:ext cx="1328400" cy="532800"/>
          </a:xfrm>
          <a:prstGeom prst="rect">
            <a:avLst/>
          </a:prstGeom>
          <a:noFill/>
          <a:ln/>
        </p:spPr>
        <p:txBody>
          <a:bodyPr wrap="square" lIns="0" tIns="0" rIns="0" bIns="0" rtlCol="0" anchor="ctr"/>
          <a:lstStyle/>
          <a:p>
            <a:pPr marL="0" indent="0" algn="l">
              <a:buNone/>
            </a:pPr>
            <a:endParaRPr lang="en-US" sz="900" dirty="0"/>
          </a:p>
        </p:txBody>
      </p:sp>
      <p:sp>
        <p:nvSpPr>
          <p:cNvPr id="70" name="Shape 67"/>
          <p:cNvSpPr/>
          <p:nvPr/>
        </p:nvSpPr>
        <p:spPr>
          <a:xfrm>
            <a:off x="5565600" y="5976000"/>
            <a:ext cx="1454400" cy="612000"/>
          </a:xfrm>
          <a:prstGeom prst="rect">
            <a:avLst/>
          </a:prstGeom>
          <a:solidFill>
            <a:srgbClr val="FFFFFF"/>
          </a:solidFill>
          <a:ln w="6985">
            <a:solidFill>
              <a:srgbClr val="202020"/>
            </a:solidFill>
            <a:prstDash val="solid"/>
          </a:ln>
        </p:spPr>
      </p:sp>
      <p:sp>
        <p:nvSpPr>
          <p:cNvPr id="71" name="Text 68"/>
          <p:cNvSpPr/>
          <p:nvPr/>
        </p:nvSpPr>
        <p:spPr>
          <a:xfrm>
            <a:off x="5626800" y="6015600"/>
            <a:ext cx="1332000" cy="532800"/>
          </a:xfrm>
          <a:prstGeom prst="rect">
            <a:avLst/>
          </a:prstGeom>
          <a:noFill/>
          <a:ln/>
        </p:spPr>
        <p:txBody>
          <a:bodyPr wrap="square" lIns="0" tIns="0" rIns="0" bIns="0" rtlCol="0" anchor="ctr"/>
          <a:lstStyle/>
          <a:p>
            <a:pPr marL="0" indent="0" algn="l">
              <a:buNone/>
            </a:pPr>
            <a:endParaRPr lang="en-US" sz="900" dirty="0"/>
          </a:p>
        </p:txBody>
      </p:sp>
      <p:sp>
        <p:nvSpPr>
          <p:cNvPr id="72" name="Shape 69"/>
          <p:cNvSpPr/>
          <p:nvPr/>
        </p:nvSpPr>
        <p:spPr>
          <a:xfrm>
            <a:off x="972000" y="7272000"/>
            <a:ext cx="972000" cy="432000"/>
          </a:xfrm>
          <a:prstGeom prst="rect">
            <a:avLst/>
          </a:prstGeom>
          <a:solidFill>
            <a:srgbClr val="F3C400"/>
          </a:solidFill>
          <a:ln w="6985">
            <a:solidFill>
              <a:srgbClr val="202020"/>
            </a:solidFill>
            <a:prstDash val="solid"/>
          </a:ln>
        </p:spPr>
      </p:sp>
      <p:sp>
        <p:nvSpPr>
          <p:cNvPr id="73" name="Text 70"/>
          <p:cNvSpPr/>
          <p:nvPr/>
        </p:nvSpPr>
        <p:spPr>
          <a:xfrm>
            <a:off x="1033200" y="7311600"/>
            <a:ext cx="849600" cy="352800"/>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D</a:t>
            </a:r>
            <a:endParaRPr lang="en-US" sz="1100" dirty="0"/>
          </a:p>
        </p:txBody>
      </p:sp>
      <p:sp>
        <p:nvSpPr>
          <p:cNvPr id="74" name="Shape 71"/>
          <p:cNvSpPr/>
          <p:nvPr/>
        </p:nvSpPr>
        <p:spPr>
          <a:xfrm>
            <a:off x="2484000" y="7272000"/>
            <a:ext cx="972000" cy="432000"/>
          </a:xfrm>
          <a:prstGeom prst="rect">
            <a:avLst/>
          </a:prstGeom>
          <a:solidFill>
            <a:srgbClr val="F29500"/>
          </a:solidFill>
          <a:ln w="6985">
            <a:solidFill>
              <a:srgbClr val="202020"/>
            </a:solidFill>
            <a:prstDash val="solid"/>
          </a:ln>
        </p:spPr>
      </p:sp>
      <p:sp>
        <p:nvSpPr>
          <p:cNvPr id="75" name="Text 72"/>
          <p:cNvSpPr/>
          <p:nvPr/>
        </p:nvSpPr>
        <p:spPr>
          <a:xfrm>
            <a:off x="2545200" y="7311600"/>
            <a:ext cx="849600" cy="352800"/>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E</a:t>
            </a:r>
            <a:endParaRPr lang="en-US" sz="1100" dirty="0"/>
          </a:p>
        </p:txBody>
      </p:sp>
      <p:sp>
        <p:nvSpPr>
          <p:cNvPr id="76" name="Shape 73"/>
          <p:cNvSpPr/>
          <p:nvPr/>
        </p:nvSpPr>
        <p:spPr>
          <a:xfrm>
            <a:off x="3996000" y="7272000"/>
            <a:ext cx="972000" cy="432000"/>
          </a:xfrm>
          <a:prstGeom prst="rect">
            <a:avLst/>
          </a:prstGeom>
          <a:solidFill>
            <a:srgbClr val="E65A23"/>
          </a:solidFill>
          <a:ln w="6985">
            <a:solidFill>
              <a:srgbClr val="202020"/>
            </a:solidFill>
            <a:prstDash val="solid"/>
          </a:ln>
        </p:spPr>
      </p:sp>
      <p:sp>
        <p:nvSpPr>
          <p:cNvPr id="77" name="Text 74"/>
          <p:cNvSpPr/>
          <p:nvPr/>
        </p:nvSpPr>
        <p:spPr>
          <a:xfrm>
            <a:off x="4057200" y="7311600"/>
            <a:ext cx="849600" cy="352800"/>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F</a:t>
            </a:r>
            <a:endParaRPr lang="en-US" sz="1100" dirty="0"/>
          </a:p>
        </p:txBody>
      </p:sp>
      <p:sp>
        <p:nvSpPr>
          <p:cNvPr id="78" name="Shape 75"/>
          <p:cNvSpPr/>
          <p:nvPr/>
        </p:nvSpPr>
        <p:spPr>
          <a:xfrm>
            <a:off x="5508000" y="7272000"/>
            <a:ext cx="972000" cy="432000"/>
          </a:xfrm>
          <a:prstGeom prst="rect">
            <a:avLst/>
          </a:prstGeom>
          <a:solidFill>
            <a:srgbClr val="DC2F26"/>
          </a:solidFill>
          <a:ln w="6985">
            <a:solidFill>
              <a:srgbClr val="202020"/>
            </a:solidFill>
            <a:prstDash val="solid"/>
          </a:ln>
        </p:spPr>
      </p:sp>
      <p:sp>
        <p:nvSpPr>
          <p:cNvPr id="79" name="Text 76"/>
          <p:cNvSpPr/>
          <p:nvPr/>
        </p:nvSpPr>
        <p:spPr>
          <a:xfrm>
            <a:off x="5569200" y="7311600"/>
            <a:ext cx="849600" cy="352800"/>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G</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900" dirty="0"/>
          </a:p>
        </p:txBody>
      </p:sp>
      <p:sp>
        <p:nvSpPr>
          <p:cNvPr id="9" name="Text 6"/>
          <p:cNvSpPr/>
          <p:nvPr/>
        </p:nvSpPr>
        <p:spPr>
          <a:xfrm>
            <a:off x="648000" y="262800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900" dirty="0"/>
          </a:p>
        </p:txBody>
      </p:sp>
      <p:sp>
        <p:nvSpPr>
          <p:cNvPr id="10" name="Text 7"/>
          <p:cNvSpPr/>
          <p:nvPr/>
        </p:nvSpPr>
        <p:spPr>
          <a:xfrm>
            <a:off x="648000" y="3396960"/>
            <a:ext cx="6264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900" dirty="0"/>
          </a:p>
        </p:txBody>
      </p:sp>
      <p:sp>
        <p:nvSpPr>
          <p:cNvPr id="11" name="Text 8"/>
          <p:cNvSpPr/>
          <p:nvPr/>
        </p:nvSpPr>
        <p:spPr>
          <a:xfrm>
            <a:off x="648000" y="3867840"/>
            <a:ext cx="6264000" cy="230400"/>
          </a:xfrm>
          <a:prstGeom prst="rect">
            <a:avLst/>
          </a:prstGeom>
          <a:noFill/>
          <a:ln/>
        </p:spPr>
        <p:txBody>
          <a:bodyPr wrap="square" lIns="0" tIns="0" rIns="0" bIns="0" rtlCol="0" anchor="t"/>
          <a:lstStyle/>
          <a:p>
            <a:pPr marL="0" indent="0">
              <a:buNone/>
            </a:pPr>
            <a:r>
              <a:rPr lang="en-US" sz="1000" b="1" dirty="0">
                <a:solidFill>
                  <a:srgbClr val="0A2B6B"/>
                </a:solidFill>
                <a:latin typeface="Aptos" pitchFamily="34" charset="0"/>
                <a:ea typeface="Aptos" pitchFamily="34" charset="-122"/>
                <a:cs typeface="Aptos" pitchFamily="34" charset="-120"/>
              </a:rPr>
              <a:t>Tableau 1 : Travaux curatifs</a:t>
            </a:r>
            <a:endParaRPr lang="en-US" sz="1000" dirty="0"/>
          </a:p>
        </p:txBody>
      </p:sp>
      <p:sp>
        <p:nvSpPr>
          <p:cNvPr id="12" name="Text 9"/>
          <p:cNvSpPr/>
          <p:nvPr/>
        </p:nvSpPr>
        <p:spPr>
          <a:xfrm>
            <a:off x="648000" y="4152240"/>
            <a:ext cx="6264000" cy="462240"/>
          </a:xfrm>
          <a:prstGeom prst="rect">
            <a:avLst/>
          </a:prstGeom>
          <a:noFill/>
          <a:ln/>
        </p:spPr>
        <p:txBody>
          <a:bodyPr wrap="square" lIns="0" tIns="0" rIns="0" bIns="0" rtlCol="0" anchor="t"/>
          <a:lstStyle/>
          <a:p>
            <a:pPr marL="0" indent="0">
              <a:buNone/>
            </a:pPr>
            <a:r>
              <a:rPr lang="en-US" sz="8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800" dirty="0"/>
          </a:p>
        </p:txBody>
      </p:sp>
      <p:sp>
        <p:nvSpPr>
          <p:cNvPr id="13" name="Text 10"/>
          <p:cNvSpPr/>
          <p:nvPr/>
        </p:nvSpPr>
        <p:spPr>
          <a:xfrm>
            <a:off x="648000" y="4729680"/>
            <a:ext cx="6264000" cy="230400"/>
          </a:xfrm>
          <a:prstGeom prst="rect">
            <a:avLst/>
          </a:prstGeom>
          <a:noFill/>
          <a:ln/>
        </p:spPr>
        <p:txBody>
          <a:bodyPr wrap="square" lIns="0" tIns="0" rIns="0" bIns="0" rtlCol="0" anchor="t"/>
          <a:lstStyle/>
          <a:p>
            <a:pPr marL="0" indent="0">
              <a:buNone/>
            </a:pPr>
            <a:r>
              <a:rPr lang="en-US" sz="1000" b="1" dirty="0">
                <a:solidFill>
                  <a:srgbClr val="0A2B6B"/>
                </a:solidFill>
                <a:latin typeface="Aptos" pitchFamily="34" charset="0"/>
                <a:ea typeface="Aptos" pitchFamily="34" charset="-122"/>
                <a:cs typeface="Aptos" pitchFamily="34" charset="-120"/>
              </a:rPr>
              <a:t>Tableau 2 : Travaux d’amélioration énergétique</a:t>
            </a:r>
            <a:endParaRPr lang="en-US" sz="1000" dirty="0"/>
          </a:p>
        </p:txBody>
      </p:sp>
      <p:sp>
        <p:nvSpPr>
          <p:cNvPr id="14" name="Text 11"/>
          <p:cNvSpPr/>
          <p:nvPr/>
        </p:nvSpPr>
        <p:spPr>
          <a:xfrm>
            <a:off x="648000" y="5014080"/>
            <a:ext cx="6264000" cy="594720"/>
          </a:xfrm>
          <a:prstGeom prst="rect">
            <a:avLst/>
          </a:prstGeom>
          <a:noFill/>
          <a:ln/>
        </p:spPr>
        <p:txBody>
          <a:bodyPr wrap="square" lIns="0" tIns="0" rIns="0" bIns="0" rtlCol="0" anchor="t"/>
          <a:lstStyle/>
          <a:p>
            <a:pPr marL="0" indent="0">
              <a:buNone/>
            </a:pPr>
            <a:r>
              <a:rPr lang="en-US" sz="8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972000" cy="432000"/>
          </a:xfrm>
          <a:prstGeom prst="rect">
            <a:avLst/>
          </a:prstGeom>
          <a:solidFill>
            <a:srgbClr val="0A2B6B"/>
          </a:solidFill>
          <a:ln w="6985">
            <a:solidFill>
              <a:srgbClr val="202020"/>
            </a:solidFill>
            <a:prstDash val="solid"/>
          </a:ln>
        </p:spPr>
      </p:sp>
      <p:sp>
        <p:nvSpPr>
          <p:cNvPr id="9" name="Text 6"/>
          <p:cNvSpPr/>
          <p:nvPr/>
        </p:nvSpPr>
        <p:spPr>
          <a:xfrm>
            <a:off x="601200" y="1749600"/>
            <a:ext cx="849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Niveau</a:t>
            </a:r>
            <a:endParaRPr lang="en-US" sz="900" dirty="0"/>
          </a:p>
        </p:txBody>
      </p:sp>
      <p:sp>
        <p:nvSpPr>
          <p:cNvPr id="10" name="Shape 7"/>
          <p:cNvSpPr/>
          <p:nvPr/>
        </p:nvSpPr>
        <p:spPr>
          <a:xfrm>
            <a:off x="1512000" y="1710000"/>
            <a:ext cx="540000" cy="432000"/>
          </a:xfrm>
          <a:prstGeom prst="rect">
            <a:avLst/>
          </a:prstGeom>
          <a:solidFill>
            <a:srgbClr val="0A2B6B"/>
          </a:solidFill>
          <a:ln w="6985">
            <a:solidFill>
              <a:srgbClr val="202020"/>
            </a:solidFill>
            <a:prstDash val="solid"/>
          </a:ln>
        </p:spPr>
      </p:sp>
      <p:sp>
        <p:nvSpPr>
          <p:cNvPr id="11" name="Text 8"/>
          <p:cNvSpPr/>
          <p:nvPr/>
        </p:nvSpPr>
        <p:spPr>
          <a:xfrm>
            <a:off x="1573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a:t>
            </a:r>
            <a:endParaRPr lang="en-US" sz="900" dirty="0"/>
          </a:p>
        </p:txBody>
      </p:sp>
      <p:sp>
        <p:nvSpPr>
          <p:cNvPr id="12" name="Shape 9"/>
          <p:cNvSpPr/>
          <p:nvPr/>
        </p:nvSpPr>
        <p:spPr>
          <a:xfrm>
            <a:off x="2052000" y="1710000"/>
            <a:ext cx="2484000" cy="432000"/>
          </a:xfrm>
          <a:prstGeom prst="rect">
            <a:avLst/>
          </a:prstGeom>
          <a:solidFill>
            <a:srgbClr val="0A2B6B"/>
          </a:solidFill>
          <a:ln w="6985">
            <a:solidFill>
              <a:srgbClr val="202020"/>
            </a:solidFill>
            <a:prstDash val="solid"/>
          </a:ln>
        </p:spPr>
      </p:sp>
      <p:sp>
        <p:nvSpPr>
          <p:cNvPr id="13" name="Text 10"/>
          <p:cNvSpPr/>
          <p:nvPr/>
        </p:nvSpPr>
        <p:spPr>
          <a:xfrm>
            <a:off x="2113200" y="1749600"/>
            <a:ext cx="2361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Nature de travaux</a:t>
            </a:r>
            <a:endParaRPr lang="en-US" sz="900" dirty="0"/>
          </a:p>
        </p:txBody>
      </p:sp>
      <p:sp>
        <p:nvSpPr>
          <p:cNvPr id="14" name="Shape 11"/>
          <p:cNvSpPr/>
          <p:nvPr/>
        </p:nvSpPr>
        <p:spPr>
          <a:xfrm>
            <a:off x="4536000" y="1710000"/>
            <a:ext cx="864000" cy="432000"/>
          </a:xfrm>
          <a:prstGeom prst="rect">
            <a:avLst/>
          </a:prstGeom>
          <a:solidFill>
            <a:srgbClr val="0A2B6B"/>
          </a:solidFill>
          <a:ln w="6985">
            <a:solidFill>
              <a:srgbClr val="202020"/>
            </a:solidFill>
            <a:prstDash val="solid"/>
          </a:ln>
        </p:spPr>
      </p:sp>
      <p:sp>
        <p:nvSpPr>
          <p:cNvPr id="15" name="Text 12"/>
          <p:cNvSpPr/>
          <p:nvPr/>
        </p:nvSpPr>
        <p:spPr>
          <a:xfrm>
            <a:off x="4597200" y="1749600"/>
            <a:ext cx="741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Chiffrage</a:t>
            </a:r>
            <a:endParaRPr lang="en-US" sz="900" dirty="0"/>
          </a:p>
          <a:p>
            <a:pPr marL="0" indent="0" algn="ctr">
              <a:buNone/>
            </a:pPr>
            <a:r>
              <a:rPr lang="en-US" sz="900" b="1" dirty="0">
                <a:solidFill>
                  <a:srgbClr val="FFFFFF"/>
                </a:solidFill>
                <a:latin typeface="Aptos" pitchFamily="34" charset="0"/>
                <a:ea typeface="Aptos" pitchFamily="34" charset="-122"/>
                <a:cs typeface="Aptos" pitchFamily="34" charset="-120"/>
              </a:rPr>
              <a:t>(TTC)</a:t>
            </a:r>
            <a:endParaRPr lang="en-US" sz="900" dirty="0"/>
          </a:p>
        </p:txBody>
      </p:sp>
      <p:sp>
        <p:nvSpPr>
          <p:cNvPr id="16" name="Shape 13"/>
          <p:cNvSpPr/>
          <p:nvPr/>
        </p:nvSpPr>
        <p:spPr>
          <a:xfrm>
            <a:off x="5400000" y="1710000"/>
            <a:ext cx="540000" cy="432000"/>
          </a:xfrm>
          <a:prstGeom prst="rect">
            <a:avLst/>
          </a:prstGeom>
          <a:solidFill>
            <a:srgbClr val="0A2B6B"/>
          </a:solidFill>
          <a:ln w="6985">
            <a:solidFill>
              <a:srgbClr val="202020"/>
            </a:solidFill>
            <a:prstDash val="solid"/>
          </a:ln>
        </p:spPr>
      </p:sp>
      <p:sp>
        <p:nvSpPr>
          <p:cNvPr id="17" name="Text 14"/>
          <p:cNvSpPr/>
          <p:nvPr/>
        </p:nvSpPr>
        <p:spPr>
          <a:xfrm>
            <a:off x="5461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N1</a:t>
            </a:r>
            <a:endParaRPr lang="en-US" sz="900" dirty="0"/>
          </a:p>
        </p:txBody>
      </p:sp>
      <p:sp>
        <p:nvSpPr>
          <p:cNvPr id="18" name="Shape 15"/>
          <p:cNvSpPr/>
          <p:nvPr/>
        </p:nvSpPr>
        <p:spPr>
          <a:xfrm>
            <a:off x="5940000" y="1710000"/>
            <a:ext cx="540000" cy="432000"/>
          </a:xfrm>
          <a:prstGeom prst="rect">
            <a:avLst/>
          </a:prstGeom>
          <a:solidFill>
            <a:srgbClr val="0A2B6B"/>
          </a:solidFill>
          <a:ln w="6985">
            <a:solidFill>
              <a:srgbClr val="202020"/>
            </a:solidFill>
            <a:prstDash val="solid"/>
          </a:ln>
        </p:spPr>
      </p:sp>
      <p:sp>
        <p:nvSpPr>
          <p:cNvPr id="19" name="Text 16"/>
          <p:cNvSpPr/>
          <p:nvPr/>
        </p:nvSpPr>
        <p:spPr>
          <a:xfrm>
            <a:off x="6001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N2</a:t>
            </a:r>
            <a:endParaRPr lang="en-US" sz="900" dirty="0"/>
          </a:p>
        </p:txBody>
      </p:sp>
      <p:sp>
        <p:nvSpPr>
          <p:cNvPr id="20" name="Shape 17"/>
          <p:cNvSpPr/>
          <p:nvPr/>
        </p:nvSpPr>
        <p:spPr>
          <a:xfrm>
            <a:off x="6480000" y="1710000"/>
            <a:ext cx="540000" cy="432000"/>
          </a:xfrm>
          <a:prstGeom prst="rect">
            <a:avLst/>
          </a:prstGeom>
          <a:solidFill>
            <a:srgbClr val="0A2B6B"/>
          </a:solidFill>
          <a:ln w="6985">
            <a:solidFill>
              <a:srgbClr val="202020"/>
            </a:solidFill>
            <a:prstDash val="solid"/>
          </a:ln>
        </p:spPr>
      </p:sp>
      <p:sp>
        <p:nvSpPr>
          <p:cNvPr id="21" name="Text 18"/>
          <p:cNvSpPr/>
          <p:nvPr/>
        </p:nvSpPr>
        <p:spPr>
          <a:xfrm>
            <a:off x="6541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N3</a:t>
            </a:r>
            <a:endParaRPr lang="en-US" sz="900" dirty="0"/>
          </a:p>
        </p:txBody>
      </p:sp>
      <p:sp>
        <p:nvSpPr>
          <p:cNvPr id="22" name="Shape 19"/>
          <p:cNvSpPr/>
          <p:nvPr/>
        </p:nvSpPr>
        <p:spPr>
          <a:xfrm>
            <a:off x="540000" y="2142000"/>
            <a:ext cx="972000" cy="648000"/>
          </a:xfrm>
          <a:prstGeom prst="rect">
            <a:avLst/>
          </a:prstGeom>
          <a:solidFill>
            <a:srgbClr val="D52234"/>
          </a:solidFill>
          <a:ln w="6985">
            <a:solidFill>
              <a:srgbClr val="202020"/>
            </a:solidFill>
            <a:prstDash val="solid"/>
          </a:ln>
        </p:spPr>
      </p:sp>
      <p:sp>
        <p:nvSpPr>
          <p:cNvPr id="23" name="Text 20"/>
          <p:cNvSpPr/>
          <p:nvPr/>
        </p:nvSpPr>
        <p:spPr>
          <a:xfrm>
            <a:off x="601200" y="2181600"/>
            <a:ext cx="849600" cy="568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512000" y="2142000"/>
            <a:ext cx="540000" cy="648000"/>
          </a:xfrm>
          <a:prstGeom prst="rect">
            <a:avLst/>
          </a:prstGeom>
          <a:solidFill>
            <a:srgbClr val="FFFFFF"/>
          </a:solidFill>
          <a:ln w="6985">
            <a:solidFill>
              <a:srgbClr val="202020"/>
            </a:solidFill>
            <a:prstDash val="solid"/>
          </a:ln>
        </p:spPr>
      </p:sp>
      <p:sp>
        <p:nvSpPr>
          <p:cNvPr id="25" name="Text 22"/>
          <p:cNvSpPr/>
          <p:nvPr/>
        </p:nvSpPr>
        <p:spPr>
          <a:xfrm>
            <a:off x="1573200" y="2181600"/>
            <a:ext cx="417600" cy="568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1</a:t>
            </a:r>
            <a:endParaRPr lang="en-US" sz="900" dirty="0"/>
          </a:p>
        </p:txBody>
      </p:sp>
      <p:sp>
        <p:nvSpPr>
          <p:cNvPr id="26" name="Shape 23"/>
          <p:cNvSpPr/>
          <p:nvPr/>
        </p:nvSpPr>
        <p:spPr>
          <a:xfrm>
            <a:off x="2052000" y="2142000"/>
            <a:ext cx="2484000" cy="648000"/>
          </a:xfrm>
          <a:prstGeom prst="rect">
            <a:avLst/>
          </a:prstGeom>
          <a:solidFill>
            <a:srgbClr val="FFFFFF"/>
          </a:solidFill>
          <a:ln w="6985">
            <a:solidFill>
              <a:srgbClr val="202020"/>
            </a:solidFill>
            <a:prstDash val="solid"/>
          </a:ln>
        </p:spPr>
      </p:sp>
      <p:sp>
        <p:nvSpPr>
          <p:cNvPr id="27" name="Text 24"/>
          <p:cNvSpPr/>
          <p:nvPr/>
        </p:nvSpPr>
        <p:spPr>
          <a:xfrm>
            <a:off x="2113200" y="2181600"/>
            <a:ext cx="2361600" cy="568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Intervention curative.</a:t>
            </a:r>
            <a:endParaRPr lang="en-US" sz="900" dirty="0"/>
          </a:p>
        </p:txBody>
      </p:sp>
      <p:sp>
        <p:nvSpPr>
          <p:cNvPr id="28" name="Shape 25"/>
          <p:cNvSpPr/>
          <p:nvPr/>
        </p:nvSpPr>
        <p:spPr>
          <a:xfrm>
            <a:off x="4536000" y="2142000"/>
            <a:ext cx="864000" cy="648000"/>
          </a:xfrm>
          <a:prstGeom prst="rect">
            <a:avLst/>
          </a:prstGeom>
          <a:solidFill>
            <a:srgbClr val="FFFFFF"/>
          </a:solidFill>
          <a:ln w="6985">
            <a:solidFill>
              <a:srgbClr val="202020"/>
            </a:solidFill>
            <a:prstDash val="solid"/>
          </a:ln>
        </p:spPr>
      </p:sp>
      <p:sp>
        <p:nvSpPr>
          <p:cNvPr id="29" name="Text 26"/>
          <p:cNvSpPr/>
          <p:nvPr/>
        </p:nvSpPr>
        <p:spPr>
          <a:xfrm>
            <a:off x="4597200" y="2181600"/>
            <a:ext cx="741600" cy="568800"/>
          </a:xfrm>
          <a:prstGeom prst="rect">
            <a:avLst/>
          </a:prstGeom>
          <a:noFill/>
          <a:ln/>
        </p:spPr>
        <p:txBody>
          <a:bodyPr wrap="square" lIns="0" tIns="0" rIns="0" bIns="0" rtlCol="0" anchor="ctr"/>
          <a:lstStyle/>
          <a:p>
            <a:pPr marL="0" indent="0" algn="r">
              <a:buNone/>
            </a:pPr>
            <a:r>
              <a:rPr lang="en-US" sz="900" dirty="0">
                <a:solidFill>
                  <a:srgbClr val="1C1C1C"/>
                </a:solidFill>
                <a:latin typeface="Aptos" pitchFamily="34" charset="0"/>
                <a:ea typeface="Aptos" pitchFamily="34" charset="-122"/>
                <a:cs typeface="Aptos" pitchFamily="34" charset="-120"/>
              </a:rPr>
              <a:t>1 250 €</a:t>
            </a:r>
            <a:endParaRPr lang="en-US" sz="900" dirty="0"/>
          </a:p>
        </p:txBody>
      </p:sp>
      <p:sp>
        <p:nvSpPr>
          <p:cNvPr id="30" name="Shape 27"/>
          <p:cNvSpPr/>
          <p:nvPr/>
        </p:nvSpPr>
        <p:spPr>
          <a:xfrm>
            <a:off x="5400000" y="2142000"/>
            <a:ext cx="540000" cy="648000"/>
          </a:xfrm>
          <a:prstGeom prst="rect">
            <a:avLst/>
          </a:prstGeom>
          <a:solidFill>
            <a:srgbClr val="FFFFFF"/>
          </a:solidFill>
          <a:ln w="6985">
            <a:solidFill>
              <a:srgbClr val="202020"/>
            </a:solidFill>
            <a:prstDash val="solid"/>
          </a:ln>
        </p:spPr>
      </p:sp>
      <p:sp>
        <p:nvSpPr>
          <p:cNvPr id="31" name="Text 28"/>
          <p:cNvSpPr/>
          <p:nvPr/>
        </p:nvSpPr>
        <p:spPr>
          <a:xfrm>
            <a:off x="5461200" y="2181600"/>
            <a:ext cx="417600" cy="568800"/>
          </a:xfrm>
          <a:prstGeom prst="rect">
            <a:avLst/>
          </a:prstGeom>
          <a:noFill/>
          <a:ln/>
        </p:spPr>
        <p:txBody>
          <a:bodyPr wrap="square" lIns="0" tIns="0" rIns="0" bIns="0" rtlCol="0" anchor="ctr"/>
          <a:lstStyle/>
          <a:p>
            <a:pPr marL="0" indent="0" algn="ctr">
              <a:buNone/>
            </a:pPr>
            <a:r>
              <a:rPr lang="en-US" sz="1100" b="1" dirty="0">
                <a:solidFill>
                  <a:srgbClr val="D52234"/>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940000" y="2142000"/>
            <a:ext cx="540000" cy="648000"/>
          </a:xfrm>
          <a:prstGeom prst="rect">
            <a:avLst/>
          </a:prstGeom>
          <a:solidFill>
            <a:srgbClr val="FFFFFF"/>
          </a:solidFill>
          <a:ln w="6985">
            <a:solidFill>
              <a:srgbClr val="202020"/>
            </a:solidFill>
            <a:prstDash val="solid"/>
          </a:ln>
        </p:spPr>
      </p:sp>
      <p:sp>
        <p:nvSpPr>
          <p:cNvPr id="33" name="Text 30"/>
          <p:cNvSpPr/>
          <p:nvPr/>
        </p:nvSpPr>
        <p:spPr>
          <a:xfrm>
            <a:off x="6001200" y="2181600"/>
            <a:ext cx="417600" cy="568800"/>
          </a:xfrm>
          <a:prstGeom prst="rect">
            <a:avLst/>
          </a:prstGeom>
          <a:noFill/>
          <a:ln/>
        </p:spPr>
        <p:txBody>
          <a:bodyPr wrap="square" lIns="0" tIns="0" rIns="0" bIns="0" rtlCol="0" anchor="ctr"/>
          <a:lstStyle/>
          <a:p>
            <a:pPr marL="0" indent="0" algn="ctr">
              <a:buNone/>
            </a:pPr>
            <a:endParaRPr lang="en-US" sz="1100" dirty="0"/>
          </a:p>
        </p:txBody>
      </p:sp>
      <p:sp>
        <p:nvSpPr>
          <p:cNvPr id="34" name="Shape 31"/>
          <p:cNvSpPr/>
          <p:nvPr/>
        </p:nvSpPr>
        <p:spPr>
          <a:xfrm>
            <a:off x="6480000" y="2142000"/>
            <a:ext cx="540000" cy="648000"/>
          </a:xfrm>
          <a:prstGeom prst="rect">
            <a:avLst/>
          </a:prstGeom>
          <a:solidFill>
            <a:srgbClr val="FFFFFF"/>
          </a:solidFill>
          <a:ln w="6985">
            <a:solidFill>
              <a:srgbClr val="202020"/>
            </a:solidFill>
            <a:prstDash val="solid"/>
          </a:ln>
        </p:spPr>
      </p:sp>
      <p:sp>
        <p:nvSpPr>
          <p:cNvPr id="35" name="Text 32"/>
          <p:cNvSpPr/>
          <p:nvPr/>
        </p:nvSpPr>
        <p:spPr>
          <a:xfrm>
            <a:off x="6541200" y="2181600"/>
            <a:ext cx="417600" cy="568800"/>
          </a:xfrm>
          <a:prstGeom prst="rect">
            <a:avLst/>
          </a:prstGeom>
          <a:noFill/>
          <a:ln/>
        </p:spPr>
        <p:txBody>
          <a:bodyPr wrap="square" lIns="0" tIns="0" rIns="0" bIns="0" rtlCol="0" anchor="ctr"/>
          <a:lstStyle/>
          <a:p>
            <a:pPr marL="0" indent="0" algn="ctr">
              <a:buNone/>
            </a:pPr>
            <a:endParaRPr lang="en-US" sz="1100" dirty="0"/>
          </a:p>
        </p:txBody>
      </p:sp>
      <p:sp>
        <p:nvSpPr>
          <p:cNvPr id="36" name="Shape 33"/>
          <p:cNvSpPr/>
          <p:nvPr/>
        </p:nvSpPr>
        <p:spPr>
          <a:xfrm>
            <a:off x="540000" y="2790000"/>
            <a:ext cx="4860000" cy="468000"/>
          </a:xfrm>
          <a:prstGeom prst="rect">
            <a:avLst/>
          </a:prstGeom>
          <a:solidFill>
            <a:srgbClr val="DDEBF7"/>
          </a:solidFill>
          <a:ln w="6985">
            <a:solidFill>
              <a:srgbClr val="202020"/>
            </a:solidFill>
            <a:prstDash val="solid"/>
          </a:ln>
        </p:spPr>
      </p:sp>
      <p:sp>
        <p:nvSpPr>
          <p:cNvPr id="37" name="Text 34"/>
          <p:cNvSpPr/>
          <p:nvPr/>
        </p:nvSpPr>
        <p:spPr>
          <a:xfrm>
            <a:off x="601200" y="2829600"/>
            <a:ext cx="4737600" cy="388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marL="0" indent="0" algn="ctr">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38" name="Shape 35"/>
          <p:cNvSpPr/>
          <p:nvPr/>
        </p:nvSpPr>
        <p:spPr>
          <a:xfrm>
            <a:off x="5400000" y="2790000"/>
            <a:ext cx="1620000" cy="468000"/>
          </a:xfrm>
          <a:prstGeom prst="rect">
            <a:avLst/>
          </a:prstGeom>
          <a:solidFill>
            <a:srgbClr val="DDEBF7"/>
          </a:solidFill>
          <a:ln w="6985">
            <a:solidFill>
              <a:srgbClr val="202020"/>
            </a:solidFill>
            <a:prstDash val="solid"/>
          </a:ln>
        </p:spPr>
      </p:sp>
      <p:sp>
        <p:nvSpPr>
          <p:cNvPr id="39" name="Text 36"/>
          <p:cNvSpPr/>
          <p:nvPr/>
        </p:nvSpPr>
        <p:spPr>
          <a:xfrm>
            <a:off x="5461200" y="2829600"/>
            <a:ext cx="1497600" cy="388800"/>
          </a:xfrm>
          <a:prstGeom prst="rect">
            <a:avLst/>
          </a:prstGeom>
          <a:noFill/>
          <a:ln/>
        </p:spPr>
        <p:txBody>
          <a:bodyPr wrap="square" lIns="0" tIns="0" rIns="0" bIns="0" rtlCol="0" anchor="ctr"/>
          <a:lstStyle/>
          <a:p>
            <a:pPr marL="0" indent="0" algn="r">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40" name="Shape 37"/>
          <p:cNvSpPr/>
          <p:nvPr/>
        </p:nvSpPr>
        <p:spPr>
          <a:xfrm>
            <a:off x="540000" y="3258000"/>
            <a:ext cx="4860000" cy="468000"/>
          </a:xfrm>
          <a:prstGeom prst="rect">
            <a:avLst/>
          </a:prstGeom>
          <a:solidFill>
            <a:srgbClr val="DDEBF7"/>
          </a:solidFill>
          <a:ln w="6985">
            <a:solidFill>
              <a:srgbClr val="202020"/>
            </a:solidFill>
            <a:prstDash val="solid"/>
          </a:ln>
        </p:spPr>
      </p:sp>
      <p:sp>
        <p:nvSpPr>
          <p:cNvPr id="41" name="Text 38"/>
          <p:cNvSpPr/>
          <p:nvPr/>
        </p:nvSpPr>
        <p:spPr>
          <a:xfrm>
            <a:off x="601200" y="3297600"/>
            <a:ext cx="4737600" cy="388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marL="0" indent="0" algn="ctr">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42" name="Shape 39"/>
          <p:cNvSpPr/>
          <p:nvPr/>
        </p:nvSpPr>
        <p:spPr>
          <a:xfrm>
            <a:off x="5400000" y="3258000"/>
            <a:ext cx="1620000" cy="468000"/>
          </a:xfrm>
          <a:prstGeom prst="rect">
            <a:avLst/>
          </a:prstGeom>
          <a:solidFill>
            <a:srgbClr val="DDEBF7"/>
          </a:solidFill>
          <a:ln w="6985">
            <a:solidFill>
              <a:srgbClr val="202020"/>
            </a:solidFill>
            <a:prstDash val="solid"/>
          </a:ln>
        </p:spPr>
      </p:sp>
      <p:sp>
        <p:nvSpPr>
          <p:cNvPr id="43" name="Text 40"/>
          <p:cNvSpPr/>
          <p:nvPr/>
        </p:nvSpPr>
        <p:spPr>
          <a:xfrm>
            <a:off x="5461200" y="3297600"/>
            <a:ext cx="1497600" cy="388800"/>
          </a:xfrm>
          <a:prstGeom prst="rect">
            <a:avLst/>
          </a:prstGeom>
          <a:noFill/>
          <a:ln/>
        </p:spPr>
        <p:txBody>
          <a:bodyPr wrap="square" lIns="0" tIns="0" rIns="0" bIns="0" rtlCol="0" anchor="ctr"/>
          <a:lstStyle/>
          <a:p>
            <a:pPr marL="0" indent="0" algn="r">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44" name="Shape 41"/>
          <p:cNvSpPr/>
          <p:nvPr/>
        </p:nvSpPr>
        <p:spPr>
          <a:xfrm>
            <a:off x="540000" y="3726000"/>
            <a:ext cx="4860000" cy="468000"/>
          </a:xfrm>
          <a:prstGeom prst="rect">
            <a:avLst/>
          </a:prstGeom>
          <a:solidFill>
            <a:srgbClr val="DDEBF7"/>
          </a:solidFill>
          <a:ln w="6985">
            <a:solidFill>
              <a:srgbClr val="202020"/>
            </a:solidFill>
            <a:prstDash val="solid"/>
          </a:ln>
        </p:spPr>
      </p:sp>
      <p:sp>
        <p:nvSpPr>
          <p:cNvPr id="45" name="Text 42"/>
          <p:cNvSpPr/>
          <p:nvPr/>
        </p:nvSpPr>
        <p:spPr>
          <a:xfrm>
            <a:off x="601200" y="3765600"/>
            <a:ext cx="4737600" cy="388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marL="0" indent="0" algn="ctr">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46" name="Shape 43"/>
          <p:cNvSpPr/>
          <p:nvPr/>
        </p:nvSpPr>
        <p:spPr>
          <a:xfrm>
            <a:off x="5400000" y="3726000"/>
            <a:ext cx="1620000" cy="468000"/>
          </a:xfrm>
          <a:prstGeom prst="rect">
            <a:avLst/>
          </a:prstGeom>
          <a:solidFill>
            <a:srgbClr val="DDEBF7"/>
          </a:solidFill>
          <a:ln w="6985">
            <a:solidFill>
              <a:srgbClr val="202020"/>
            </a:solidFill>
            <a:prstDash val="solid"/>
          </a:ln>
        </p:spPr>
      </p:sp>
      <p:sp>
        <p:nvSpPr>
          <p:cNvPr id="47" name="Text 44"/>
          <p:cNvSpPr/>
          <p:nvPr/>
        </p:nvSpPr>
        <p:spPr>
          <a:xfrm>
            <a:off x="5461200" y="3765600"/>
            <a:ext cx="1497600" cy="388800"/>
          </a:xfrm>
          <a:prstGeom prst="rect">
            <a:avLst/>
          </a:prstGeom>
          <a:noFill/>
          <a:ln/>
        </p:spPr>
        <p:txBody>
          <a:bodyPr wrap="square" lIns="0" tIns="0" rIns="0" bIns="0" rtlCol="0" anchor="ctr"/>
          <a:lstStyle/>
          <a:p>
            <a:pPr marL="0" indent="0" algn="r">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48" name="Shape 45"/>
          <p:cNvSpPr/>
          <p:nvPr/>
        </p:nvSpPr>
        <p:spPr>
          <a:xfrm>
            <a:off x="540000" y="4194000"/>
            <a:ext cx="4860000" cy="396000"/>
          </a:xfrm>
          <a:prstGeom prst="rect">
            <a:avLst/>
          </a:prstGeom>
          <a:solidFill>
            <a:srgbClr val="0A2B6B"/>
          </a:solidFill>
          <a:ln w="6985">
            <a:solidFill>
              <a:srgbClr val="202020"/>
            </a:solidFill>
            <a:prstDash val="solid"/>
          </a:ln>
        </p:spPr>
      </p:sp>
      <p:sp>
        <p:nvSpPr>
          <p:cNvPr id="49" name="Text 46"/>
          <p:cNvSpPr/>
          <p:nvPr/>
        </p:nvSpPr>
        <p:spPr>
          <a:xfrm>
            <a:off x="601200" y="4233600"/>
            <a:ext cx="4737600" cy="316800"/>
          </a:xfrm>
          <a:prstGeom prst="rect">
            <a:avLst/>
          </a:prstGeom>
          <a:noFill/>
          <a:ln/>
        </p:spPr>
        <p:txBody>
          <a:bodyPr wrap="square" lIns="0" tIns="0" rIns="0" bIns="0" rtlCol="0" anchor="ctr"/>
          <a:lstStyle/>
          <a:p>
            <a:pPr marL="0" indent="0" algn="l">
              <a:buNone/>
            </a:pPr>
            <a:r>
              <a:rPr lang="en-US" sz="900" b="1" dirty="0">
                <a:solidFill>
                  <a:srgbClr val="FFFFFF"/>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50" name="Shape 47"/>
          <p:cNvSpPr/>
          <p:nvPr/>
        </p:nvSpPr>
        <p:spPr>
          <a:xfrm>
            <a:off x="5400000" y="4194000"/>
            <a:ext cx="1620000" cy="396000"/>
          </a:xfrm>
          <a:prstGeom prst="rect">
            <a:avLst/>
          </a:prstGeom>
          <a:solidFill>
            <a:srgbClr val="0A2B6B"/>
          </a:solidFill>
          <a:ln w="6985">
            <a:solidFill>
              <a:srgbClr val="202020"/>
            </a:solidFill>
            <a:prstDash val="solid"/>
          </a:ln>
        </p:spPr>
      </p:sp>
      <p:sp>
        <p:nvSpPr>
          <p:cNvPr id="51" name="Text 48"/>
          <p:cNvSpPr/>
          <p:nvPr/>
        </p:nvSpPr>
        <p:spPr>
          <a:xfrm>
            <a:off x="5461200" y="4233600"/>
            <a:ext cx="1497600" cy="316800"/>
          </a:xfrm>
          <a:prstGeom prst="rect">
            <a:avLst/>
          </a:prstGeom>
          <a:noFill/>
          <a:ln/>
        </p:spPr>
        <p:txBody>
          <a:bodyPr wrap="square" lIns="0" tIns="0" rIns="0" bIns="0" rtlCol="0" anchor="ctr"/>
          <a:lstStyle/>
          <a:p>
            <a:pPr marL="0" indent="0" algn="r">
              <a:buNone/>
            </a:pPr>
            <a:r>
              <a:rPr lang="en-US" sz="900" b="1" dirty="0">
                <a:solidFill>
                  <a:srgbClr val="FFFFFF"/>
                </a:solidFill>
                <a:latin typeface="Aptos" pitchFamily="34" charset="0"/>
                <a:ea typeface="Aptos" pitchFamily="34" charset="-122"/>
                <a:cs typeface="Aptos" pitchFamily="34" charset="-120"/>
              </a:rPr>
              <a:t>1 250 €</a:t>
            </a:r>
            <a:endParaRPr lang="en-US" sz="900" dirty="0"/>
          </a:p>
        </p:txBody>
      </p:sp>
      <p:sp>
        <p:nvSpPr>
          <p:cNvPr id="52" name="Text 49"/>
          <p:cNvSpPr/>
          <p:nvPr/>
        </p:nvSpPr>
        <p:spPr>
          <a:xfrm>
            <a:off x="540000" y="4698000"/>
            <a:ext cx="6480000" cy="180000"/>
          </a:xfrm>
          <a:prstGeom prst="rect">
            <a:avLst/>
          </a:prstGeom>
          <a:noFill/>
          <a:ln/>
        </p:spPr>
        <p:txBody>
          <a:bodyPr wrap="square" lIns="0" tIns="0" rIns="0" bIns="0" rtlCol="0" anchor="ctr"/>
          <a:lstStyle/>
          <a:p>
            <a:pPr marL="0" indent="0" algn="r">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710000"/>
            <a:ext cx="972000" cy="432000"/>
          </a:xfrm>
          <a:prstGeom prst="rect">
            <a:avLst/>
          </a:prstGeom>
          <a:solidFill>
            <a:srgbClr val="0A2B6B"/>
          </a:solidFill>
          <a:ln w="6985">
            <a:solidFill>
              <a:srgbClr val="202020"/>
            </a:solidFill>
            <a:prstDash val="solid"/>
          </a:ln>
        </p:spPr>
      </p:sp>
      <p:sp>
        <p:nvSpPr>
          <p:cNvPr id="9" name="Text 6"/>
          <p:cNvSpPr/>
          <p:nvPr/>
        </p:nvSpPr>
        <p:spPr>
          <a:xfrm>
            <a:off x="601200" y="1749600"/>
            <a:ext cx="849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Niveau</a:t>
            </a:r>
            <a:endParaRPr lang="en-US" sz="900" dirty="0"/>
          </a:p>
        </p:txBody>
      </p:sp>
      <p:sp>
        <p:nvSpPr>
          <p:cNvPr id="10" name="Shape 7"/>
          <p:cNvSpPr/>
          <p:nvPr/>
        </p:nvSpPr>
        <p:spPr>
          <a:xfrm>
            <a:off x="1512000" y="1710000"/>
            <a:ext cx="540000" cy="432000"/>
          </a:xfrm>
          <a:prstGeom prst="rect">
            <a:avLst/>
          </a:prstGeom>
          <a:solidFill>
            <a:srgbClr val="0A2B6B"/>
          </a:solidFill>
          <a:ln w="6985">
            <a:solidFill>
              <a:srgbClr val="202020"/>
            </a:solidFill>
            <a:prstDash val="solid"/>
          </a:ln>
        </p:spPr>
      </p:sp>
      <p:sp>
        <p:nvSpPr>
          <p:cNvPr id="11" name="Text 8"/>
          <p:cNvSpPr/>
          <p:nvPr/>
        </p:nvSpPr>
        <p:spPr>
          <a:xfrm>
            <a:off x="1573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a:t>
            </a:r>
            <a:endParaRPr lang="en-US" sz="900" dirty="0"/>
          </a:p>
        </p:txBody>
      </p:sp>
      <p:sp>
        <p:nvSpPr>
          <p:cNvPr id="12" name="Shape 9"/>
          <p:cNvSpPr/>
          <p:nvPr/>
        </p:nvSpPr>
        <p:spPr>
          <a:xfrm>
            <a:off x="2052000" y="1710000"/>
            <a:ext cx="2484000" cy="432000"/>
          </a:xfrm>
          <a:prstGeom prst="rect">
            <a:avLst/>
          </a:prstGeom>
          <a:solidFill>
            <a:srgbClr val="0A2B6B"/>
          </a:solidFill>
          <a:ln w="6985">
            <a:solidFill>
              <a:srgbClr val="202020"/>
            </a:solidFill>
            <a:prstDash val="solid"/>
          </a:ln>
        </p:spPr>
      </p:sp>
      <p:sp>
        <p:nvSpPr>
          <p:cNvPr id="13" name="Text 10"/>
          <p:cNvSpPr/>
          <p:nvPr/>
        </p:nvSpPr>
        <p:spPr>
          <a:xfrm>
            <a:off x="2113200" y="1749600"/>
            <a:ext cx="2361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Nature de travaux</a:t>
            </a:r>
            <a:endParaRPr lang="en-US" sz="900" dirty="0"/>
          </a:p>
        </p:txBody>
      </p:sp>
      <p:sp>
        <p:nvSpPr>
          <p:cNvPr id="14" name="Shape 11"/>
          <p:cNvSpPr/>
          <p:nvPr/>
        </p:nvSpPr>
        <p:spPr>
          <a:xfrm>
            <a:off x="4536000" y="1710000"/>
            <a:ext cx="864000" cy="432000"/>
          </a:xfrm>
          <a:prstGeom prst="rect">
            <a:avLst/>
          </a:prstGeom>
          <a:solidFill>
            <a:srgbClr val="0A2B6B"/>
          </a:solidFill>
          <a:ln w="6985">
            <a:solidFill>
              <a:srgbClr val="202020"/>
            </a:solidFill>
            <a:prstDash val="solid"/>
          </a:ln>
        </p:spPr>
      </p:sp>
      <p:sp>
        <p:nvSpPr>
          <p:cNvPr id="15" name="Text 12"/>
          <p:cNvSpPr/>
          <p:nvPr/>
        </p:nvSpPr>
        <p:spPr>
          <a:xfrm>
            <a:off x="4597200" y="1749600"/>
            <a:ext cx="741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Chiffrage</a:t>
            </a:r>
            <a:endParaRPr lang="en-US" sz="900" dirty="0"/>
          </a:p>
          <a:p>
            <a:pPr marL="0" indent="0" algn="ctr">
              <a:buNone/>
            </a:pPr>
            <a:r>
              <a:rPr lang="en-US" sz="900" b="1" dirty="0">
                <a:solidFill>
                  <a:srgbClr val="FFFFFF"/>
                </a:solidFill>
                <a:latin typeface="Aptos" pitchFamily="34" charset="0"/>
                <a:ea typeface="Aptos" pitchFamily="34" charset="-122"/>
                <a:cs typeface="Aptos" pitchFamily="34" charset="-120"/>
              </a:rPr>
              <a:t>(TTC)</a:t>
            </a:r>
            <a:endParaRPr lang="en-US" sz="900" dirty="0"/>
          </a:p>
        </p:txBody>
      </p:sp>
      <p:sp>
        <p:nvSpPr>
          <p:cNvPr id="16" name="Shape 13"/>
          <p:cNvSpPr/>
          <p:nvPr/>
        </p:nvSpPr>
        <p:spPr>
          <a:xfrm>
            <a:off x="5400000" y="1710000"/>
            <a:ext cx="540000" cy="432000"/>
          </a:xfrm>
          <a:prstGeom prst="rect">
            <a:avLst/>
          </a:prstGeom>
          <a:solidFill>
            <a:srgbClr val="0A2B6B"/>
          </a:solidFill>
          <a:ln w="6985">
            <a:solidFill>
              <a:srgbClr val="202020"/>
            </a:solidFill>
            <a:prstDash val="solid"/>
          </a:ln>
        </p:spPr>
      </p:sp>
      <p:sp>
        <p:nvSpPr>
          <p:cNvPr id="17" name="Text 14"/>
          <p:cNvSpPr/>
          <p:nvPr/>
        </p:nvSpPr>
        <p:spPr>
          <a:xfrm>
            <a:off x="5461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N1</a:t>
            </a:r>
            <a:endParaRPr lang="en-US" sz="900" dirty="0"/>
          </a:p>
        </p:txBody>
      </p:sp>
      <p:sp>
        <p:nvSpPr>
          <p:cNvPr id="18" name="Shape 15"/>
          <p:cNvSpPr/>
          <p:nvPr/>
        </p:nvSpPr>
        <p:spPr>
          <a:xfrm>
            <a:off x="5940000" y="1710000"/>
            <a:ext cx="540000" cy="432000"/>
          </a:xfrm>
          <a:prstGeom prst="rect">
            <a:avLst/>
          </a:prstGeom>
          <a:solidFill>
            <a:srgbClr val="0A2B6B"/>
          </a:solidFill>
          <a:ln w="6985">
            <a:solidFill>
              <a:srgbClr val="202020"/>
            </a:solidFill>
            <a:prstDash val="solid"/>
          </a:ln>
        </p:spPr>
      </p:sp>
      <p:sp>
        <p:nvSpPr>
          <p:cNvPr id="19" name="Text 16"/>
          <p:cNvSpPr/>
          <p:nvPr/>
        </p:nvSpPr>
        <p:spPr>
          <a:xfrm>
            <a:off x="6001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N2</a:t>
            </a:r>
            <a:endParaRPr lang="en-US" sz="900" dirty="0"/>
          </a:p>
        </p:txBody>
      </p:sp>
      <p:sp>
        <p:nvSpPr>
          <p:cNvPr id="20" name="Shape 17"/>
          <p:cNvSpPr/>
          <p:nvPr/>
        </p:nvSpPr>
        <p:spPr>
          <a:xfrm>
            <a:off x="6480000" y="1710000"/>
            <a:ext cx="540000" cy="432000"/>
          </a:xfrm>
          <a:prstGeom prst="rect">
            <a:avLst/>
          </a:prstGeom>
          <a:solidFill>
            <a:srgbClr val="0A2B6B"/>
          </a:solidFill>
          <a:ln w="6985">
            <a:solidFill>
              <a:srgbClr val="202020"/>
            </a:solidFill>
            <a:prstDash val="solid"/>
          </a:ln>
        </p:spPr>
      </p:sp>
      <p:sp>
        <p:nvSpPr>
          <p:cNvPr id="21" name="Text 18"/>
          <p:cNvSpPr/>
          <p:nvPr/>
        </p:nvSpPr>
        <p:spPr>
          <a:xfrm>
            <a:off x="6541200" y="1749600"/>
            <a:ext cx="417600" cy="35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N3</a:t>
            </a:r>
            <a:endParaRPr lang="en-US" sz="900" dirty="0"/>
          </a:p>
        </p:txBody>
      </p:sp>
      <p:sp>
        <p:nvSpPr>
          <p:cNvPr id="22" name="Shape 19"/>
          <p:cNvSpPr/>
          <p:nvPr/>
        </p:nvSpPr>
        <p:spPr>
          <a:xfrm>
            <a:off x="540000" y="2142000"/>
            <a:ext cx="972000" cy="756000"/>
          </a:xfrm>
          <a:prstGeom prst="rect">
            <a:avLst/>
          </a:prstGeom>
          <a:solidFill>
            <a:srgbClr val="00B55A"/>
          </a:solidFill>
          <a:ln w="6985">
            <a:solidFill>
              <a:srgbClr val="202020"/>
            </a:solidFill>
            <a:prstDash val="solid"/>
          </a:ln>
        </p:spPr>
      </p:sp>
      <p:sp>
        <p:nvSpPr>
          <p:cNvPr id="23" name="Text 20"/>
          <p:cNvSpPr/>
          <p:nvPr/>
        </p:nvSpPr>
        <p:spPr>
          <a:xfrm>
            <a:off x="601200" y="2181600"/>
            <a:ext cx="849600" cy="676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Travaux énergétiques</a:t>
            </a:r>
            <a:endParaRPr lang="en-US" sz="900" dirty="0"/>
          </a:p>
        </p:txBody>
      </p:sp>
      <p:sp>
        <p:nvSpPr>
          <p:cNvPr id="24" name="Shape 21"/>
          <p:cNvSpPr/>
          <p:nvPr/>
        </p:nvSpPr>
        <p:spPr>
          <a:xfrm>
            <a:off x="1512000" y="2142000"/>
            <a:ext cx="540000" cy="756000"/>
          </a:xfrm>
          <a:prstGeom prst="rect">
            <a:avLst/>
          </a:prstGeom>
          <a:solidFill>
            <a:srgbClr val="FFFFFF"/>
          </a:solidFill>
          <a:ln w="6985">
            <a:solidFill>
              <a:srgbClr val="202020"/>
            </a:solidFill>
            <a:prstDash val="solid"/>
          </a:ln>
        </p:spPr>
      </p:sp>
      <p:sp>
        <p:nvSpPr>
          <p:cNvPr id="25" name="Text 22"/>
          <p:cNvSpPr/>
          <p:nvPr/>
        </p:nvSpPr>
        <p:spPr>
          <a:xfrm>
            <a:off x="1573200" y="2181600"/>
            <a:ext cx="417600" cy="676800"/>
          </a:xfrm>
          <a:prstGeom prst="rect">
            <a:avLst/>
          </a:prstGeom>
          <a:noFill/>
          <a:ln/>
        </p:spPr>
        <p:txBody>
          <a:bodyPr wrap="square" lIns="0" tIns="0" rIns="0" bIns="0" rtlCol="0" anchor="ctr"/>
          <a:lstStyle/>
          <a:p>
            <a:pPr marL="0" indent="0" algn="ctr">
              <a:buNone/>
            </a:pPr>
            <a:endParaRPr lang="en-US" sz="870" dirty="0"/>
          </a:p>
        </p:txBody>
      </p:sp>
      <p:sp>
        <p:nvSpPr>
          <p:cNvPr id="26" name="Shape 23"/>
          <p:cNvSpPr/>
          <p:nvPr/>
        </p:nvSpPr>
        <p:spPr>
          <a:xfrm>
            <a:off x="2052000" y="2142000"/>
            <a:ext cx="2484000" cy="756000"/>
          </a:xfrm>
          <a:prstGeom prst="rect">
            <a:avLst/>
          </a:prstGeom>
          <a:solidFill>
            <a:srgbClr val="FFFFFF"/>
          </a:solidFill>
          <a:ln w="6985">
            <a:solidFill>
              <a:srgbClr val="202020"/>
            </a:solidFill>
            <a:prstDash val="solid"/>
          </a:ln>
        </p:spPr>
      </p:sp>
      <p:sp>
        <p:nvSpPr>
          <p:cNvPr id="27" name="Text 24"/>
          <p:cNvSpPr/>
          <p:nvPr/>
        </p:nvSpPr>
        <p:spPr>
          <a:xfrm>
            <a:off x="2113200" y="2181600"/>
            <a:ext cx="2361600" cy="676800"/>
          </a:xfrm>
          <a:prstGeom prst="rect">
            <a:avLst/>
          </a:prstGeom>
          <a:noFill/>
          <a:ln/>
        </p:spPr>
        <p:txBody>
          <a:bodyPr wrap="square" lIns="0" tIns="0" rIns="0" bIns="0" rtlCol="0" anchor="ctr"/>
          <a:lstStyle/>
          <a:p>
            <a:pPr marL="0" indent="0" algn="l">
              <a:buNone/>
            </a:pPr>
            <a:r>
              <a:rPr lang="en-US" sz="900" dirty="0">
                <a:solidFill>
                  <a:srgbClr val="1C1C1C"/>
                </a:solidFill>
                <a:latin typeface="Aptos" pitchFamily="34" charset="0"/>
                <a:ea typeface="Aptos" pitchFamily="34" charset="-122"/>
                <a:cs typeface="Aptos" pitchFamily="34" charset="-120"/>
              </a:rPr>
              <a:t>À confirmer</a:t>
            </a:r>
            <a:endParaRPr lang="en-US" sz="900" dirty="0"/>
          </a:p>
        </p:txBody>
      </p:sp>
      <p:sp>
        <p:nvSpPr>
          <p:cNvPr id="28" name="Shape 25"/>
          <p:cNvSpPr/>
          <p:nvPr/>
        </p:nvSpPr>
        <p:spPr>
          <a:xfrm>
            <a:off x="4536000" y="2142000"/>
            <a:ext cx="864000" cy="756000"/>
          </a:xfrm>
          <a:prstGeom prst="rect">
            <a:avLst/>
          </a:prstGeom>
          <a:solidFill>
            <a:srgbClr val="FFFFFF"/>
          </a:solidFill>
          <a:ln w="6985">
            <a:solidFill>
              <a:srgbClr val="202020"/>
            </a:solidFill>
            <a:prstDash val="solid"/>
          </a:ln>
        </p:spPr>
      </p:sp>
      <p:sp>
        <p:nvSpPr>
          <p:cNvPr id="29" name="Text 26"/>
          <p:cNvSpPr/>
          <p:nvPr/>
        </p:nvSpPr>
        <p:spPr>
          <a:xfrm>
            <a:off x="4597200" y="2181600"/>
            <a:ext cx="741600" cy="676800"/>
          </a:xfrm>
          <a:prstGeom prst="rect">
            <a:avLst/>
          </a:prstGeom>
          <a:noFill/>
          <a:ln/>
        </p:spPr>
        <p:txBody>
          <a:bodyPr wrap="square" lIns="0" tIns="0" rIns="0" bIns="0" rtlCol="0" anchor="ctr"/>
          <a:lstStyle/>
          <a:p>
            <a:pPr marL="0" indent="0" algn="r">
              <a:buNone/>
            </a:pPr>
            <a:r>
              <a:rPr lang="en-US" sz="900" dirty="0">
                <a:solidFill>
                  <a:srgbClr val="1C1C1C"/>
                </a:solidFill>
                <a:latin typeface="Aptos" pitchFamily="34" charset="0"/>
                <a:ea typeface="Aptos" pitchFamily="34" charset="-122"/>
                <a:cs typeface="Aptos" pitchFamily="34" charset="-120"/>
              </a:rPr>
              <a:t>À confirmer</a:t>
            </a:r>
            <a:endParaRPr lang="en-US" sz="900" dirty="0"/>
          </a:p>
        </p:txBody>
      </p:sp>
      <p:sp>
        <p:nvSpPr>
          <p:cNvPr id="30" name="Shape 27"/>
          <p:cNvSpPr/>
          <p:nvPr/>
        </p:nvSpPr>
        <p:spPr>
          <a:xfrm>
            <a:off x="5400000" y="2142000"/>
            <a:ext cx="1620000" cy="756000"/>
          </a:xfrm>
          <a:prstGeom prst="rect">
            <a:avLst/>
          </a:prstGeom>
          <a:solidFill>
            <a:srgbClr val="FFFFFF"/>
          </a:solidFill>
          <a:ln w="6985">
            <a:solidFill>
              <a:srgbClr val="202020"/>
            </a:solidFill>
            <a:prstDash val="solid"/>
          </a:ln>
        </p:spPr>
      </p:sp>
      <p:sp>
        <p:nvSpPr>
          <p:cNvPr id="31" name="Text 28"/>
          <p:cNvSpPr/>
          <p:nvPr/>
        </p:nvSpPr>
        <p:spPr>
          <a:xfrm>
            <a:off x="5461200" y="2181600"/>
            <a:ext cx="1497600" cy="676800"/>
          </a:xfrm>
          <a:prstGeom prst="rect">
            <a:avLst/>
          </a:prstGeom>
          <a:noFill/>
          <a:ln/>
        </p:spPr>
        <p:txBody>
          <a:bodyPr wrap="square" lIns="0" tIns="0" rIns="0" bIns="0" rtlCol="0" anchor="ctr"/>
          <a:lstStyle/>
          <a:p>
            <a:pPr marL="0" indent="0" algn="l">
              <a:buNone/>
            </a:pPr>
            <a:endParaRPr lang="en-US" sz="900" dirty="0"/>
          </a:p>
        </p:txBody>
      </p:sp>
      <p:sp>
        <p:nvSpPr>
          <p:cNvPr id="32" name="Shape 29"/>
          <p:cNvSpPr/>
          <p:nvPr/>
        </p:nvSpPr>
        <p:spPr>
          <a:xfrm>
            <a:off x="540000" y="3078000"/>
            <a:ext cx="4860000" cy="396000"/>
          </a:xfrm>
          <a:prstGeom prst="rect">
            <a:avLst/>
          </a:prstGeom>
          <a:solidFill>
            <a:srgbClr val="0A2B6B"/>
          </a:solidFill>
          <a:ln w="6985">
            <a:solidFill>
              <a:srgbClr val="202020"/>
            </a:solidFill>
            <a:prstDash val="solid"/>
          </a:ln>
        </p:spPr>
      </p:sp>
      <p:sp>
        <p:nvSpPr>
          <p:cNvPr id="33" name="Text 30"/>
          <p:cNvSpPr/>
          <p:nvPr/>
        </p:nvSpPr>
        <p:spPr>
          <a:xfrm>
            <a:off x="601200" y="3117600"/>
            <a:ext cx="4737600" cy="316800"/>
          </a:xfrm>
          <a:prstGeom prst="rect">
            <a:avLst/>
          </a:prstGeom>
          <a:noFill/>
          <a:ln/>
        </p:spPr>
        <p:txBody>
          <a:bodyPr wrap="square" lIns="0" tIns="0" rIns="0" bIns="0" rtlCol="0" anchor="ctr"/>
          <a:lstStyle/>
          <a:p>
            <a:pPr marL="0" indent="0" algn="l">
              <a:buNone/>
            </a:pPr>
            <a:r>
              <a:rPr lang="en-US" sz="900" b="1" dirty="0">
                <a:solidFill>
                  <a:srgbClr val="FFFFFF"/>
                </a:solidFill>
                <a:latin typeface="Aptos" pitchFamily="34" charset="0"/>
                <a:ea typeface="Aptos" pitchFamily="34" charset="-122"/>
                <a:cs typeface="Aptos" pitchFamily="34" charset="-120"/>
              </a:rPr>
              <a:t>Scénario x  - Montant total de l’investissement des travaux énergétiques (TTC)</a:t>
            </a:r>
            <a:endParaRPr lang="en-US" sz="900" dirty="0"/>
          </a:p>
        </p:txBody>
      </p:sp>
      <p:sp>
        <p:nvSpPr>
          <p:cNvPr id="34" name="Shape 31"/>
          <p:cNvSpPr/>
          <p:nvPr/>
        </p:nvSpPr>
        <p:spPr>
          <a:xfrm>
            <a:off x="5400000" y="3078000"/>
            <a:ext cx="1620000" cy="396000"/>
          </a:xfrm>
          <a:prstGeom prst="rect">
            <a:avLst/>
          </a:prstGeom>
          <a:solidFill>
            <a:srgbClr val="0A2B6B"/>
          </a:solidFill>
          <a:ln w="6985">
            <a:solidFill>
              <a:srgbClr val="202020"/>
            </a:solidFill>
            <a:prstDash val="solid"/>
          </a:ln>
        </p:spPr>
      </p:sp>
      <p:sp>
        <p:nvSpPr>
          <p:cNvPr id="35" name="Text 32"/>
          <p:cNvSpPr/>
          <p:nvPr/>
        </p:nvSpPr>
        <p:spPr>
          <a:xfrm>
            <a:off x="5461200" y="3117600"/>
            <a:ext cx="1497600" cy="316800"/>
          </a:xfrm>
          <a:prstGeom prst="rect">
            <a:avLst/>
          </a:prstGeom>
          <a:noFill/>
          <a:ln/>
        </p:spPr>
        <p:txBody>
          <a:bodyPr wrap="square" lIns="0" tIns="0" rIns="0" bIns="0" rtlCol="0" anchor="ctr"/>
          <a:lstStyle/>
          <a:p>
            <a:pPr marL="0" indent="0" algn="r">
              <a:buNone/>
            </a:pPr>
            <a:r>
              <a:rPr lang="en-US" sz="900" b="1" dirty="0">
                <a:solidFill>
                  <a:srgbClr val="FFFFFF"/>
                </a:solidFill>
                <a:latin typeface="Aptos" pitchFamily="34" charset="0"/>
                <a:ea typeface="Aptos" pitchFamily="34" charset="-122"/>
                <a:cs typeface="Aptos" pitchFamily="34" charset="-120"/>
              </a:rPr>
              <a:t>À confirmer</a:t>
            </a:r>
            <a:endParaRPr lang="en-US" sz="900" dirty="0"/>
          </a:p>
        </p:txBody>
      </p:sp>
      <p:sp>
        <p:nvSpPr>
          <p:cNvPr id="36" name="Text 33"/>
          <p:cNvSpPr/>
          <p:nvPr/>
        </p:nvSpPr>
        <p:spPr>
          <a:xfrm>
            <a:off x="648000" y="3726000"/>
            <a:ext cx="6264000" cy="230400"/>
          </a:xfrm>
          <a:prstGeom prst="rect">
            <a:avLst/>
          </a:prstGeom>
          <a:noFill/>
          <a:ln/>
        </p:spPr>
        <p:txBody>
          <a:bodyPr wrap="square" lIns="0" tIns="0" rIns="0" bIns="0" rtlCol="0" anchor="t"/>
          <a:lstStyle/>
          <a:p>
            <a:pPr marL="0" indent="0">
              <a:buNone/>
            </a:pPr>
            <a:r>
              <a:rPr lang="en-US" sz="1000" b="1" dirty="0">
                <a:solidFill>
                  <a:srgbClr val="0A2B6B"/>
                </a:solidFill>
                <a:latin typeface="Aptos" pitchFamily="34" charset="0"/>
                <a:ea typeface="Aptos" pitchFamily="34" charset="-122"/>
                <a:cs typeface="Aptos" pitchFamily="34" charset="-120"/>
              </a:rPr>
              <a:t>Programmation des travaux énergétiques</a:t>
            </a:r>
            <a:endParaRPr lang="en-US" sz="1000" dirty="0"/>
          </a:p>
        </p:txBody>
      </p:sp>
      <p:sp>
        <p:nvSpPr>
          <p:cNvPr id="37" name="Text 34"/>
          <p:cNvSpPr/>
          <p:nvPr/>
        </p:nvSpPr>
        <p:spPr>
          <a:xfrm>
            <a:off x="648000" y="402840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900" dirty="0"/>
          </a:p>
        </p:txBody>
      </p:sp>
      <p:sp>
        <p:nvSpPr>
          <p:cNvPr id="38" name="Text 35"/>
          <p:cNvSpPr/>
          <p:nvPr/>
        </p:nvSpPr>
        <p:spPr>
          <a:xfrm>
            <a:off x="648000" y="463392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900" dirty="0"/>
          </a:p>
        </p:txBody>
      </p:sp>
      <p:sp>
        <p:nvSpPr>
          <p:cNvPr id="39" name="Text 36"/>
          <p:cNvSpPr/>
          <p:nvPr/>
        </p:nvSpPr>
        <p:spPr>
          <a:xfrm>
            <a:off x="648000" y="523944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900" dirty="0"/>
          </a:p>
        </p:txBody>
      </p:sp>
      <p:sp>
        <p:nvSpPr>
          <p:cNvPr id="9" name="Text 6"/>
          <p:cNvSpPr/>
          <p:nvPr/>
        </p:nvSpPr>
        <p:spPr>
          <a:xfrm>
            <a:off x="648000" y="2311920"/>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900" dirty="0"/>
          </a:p>
        </p:txBody>
      </p:sp>
      <p:sp>
        <p:nvSpPr>
          <p:cNvPr id="10" name="Text 7"/>
          <p:cNvSpPr/>
          <p:nvPr/>
        </p:nvSpPr>
        <p:spPr>
          <a:xfrm>
            <a:off x="648000" y="321192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L’analyse réalisée a conduit à l’identification de 1 fiches curatives, réparties selon différents niveaux de priorité. Parmi celles-ci, 1 curatifs de niveau 1, représentant 100 % du total des actions préconisées, concernent des interventions à engager à court terme afin de traiter les désordres les plus sensibles ou d’éviter une dégradation accélérée des ouvrages et équipements.</a:t>
            </a:r>
            <a:endParaRPr lang="en-US" sz="900" dirty="0"/>
          </a:p>
        </p:txBody>
      </p:sp>
      <p:sp>
        <p:nvSpPr>
          <p:cNvPr id="11" name="Text 8"/>
          <p:cNvSpPr/>
          <p:nvPr/>
        </p:nvSpPr>
        <p:spPr>
          <a:xfrm>
            <a:off x="648000" y="395928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900" dirty="0"/>
          </a:p>
        </p:txBody>
      </p:sp>
      <p:sp>
        <p:nvSpPr>
          <p:cNvPr id="12" name="Text 9"/>
          <p:cNvSpPr/>
          <p:nvPr/>
        </p:nvSpPr>
        <p:spPr>
          <a:xfrm>
            <a:off x="648000" y="455760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Enfin, 0 curatifs de niveau 3, représentant 0 % des préconisations, correspondent principalement à des travaux d’entretien, d’amélioration ou de renouvellement à plus long terme destinés à préserver durablement les performances et l’aspect général de l’immeuble.</a:t>
            </a:r>
            <a:endParaRPr lang="en-US" sz="900" dirty="0"/>
          </a:p>
        </p:txBody>
      </p:sp>
      <p:sp>
        <p:nvSpPr>
          <p:cNvPr id="13" name="Text 10"/>
          <p:cNvSpPr/>
          <p:nvPr/>
        </p:nvSpPr>
        <p:spPr>
          <a:xfrm>
            <a:off x="648000" y="5155920"/>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900" dirty="0"/>
          </a:p>
        </p:txBody>
      </p:sp>
      <p:sp>
        <p:nvSpPr>
          <p:cNvPr id="14" name="Text 11"/>
          <p:cNvSpPr/>
          <p:nvPr/>
        </p:nvSpPr>
        <p:spPr>
          <a:xfrm>
            <a:off x="648000" y="603792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900" dirty="0"/>
          </a:p>
        </p:txBody>
      </p:sp>
      <p:sp>
        <p:nvSpPr>
          <p:cNvPr id="15" name="Text 12"/>
          <p:cNvSpPr/>
          <p:nvPr/>
        </p:nvSpPr>
        <p:spPr>
          <a:xfrm>
            <a:off x="648000" y="677088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710000"/>
            <a:ext cx="3960000" cy="1108080"/>
          </a:xfrm>
          <a:prstGeom prst="rect">
            <a:avLst/>
          </a:prstGeom>
          <a:noFill/>
          <a:ln/>
        </p:spPr>
        <p:txBody>
          <a:bodyPr wrap="square" lIns="0" tIns="0" rIns="0" bIns="0" rtlCol="0" anchor="t"/>
          <a:lstStyle/>
          <a:p>
            <a:pPr marL="0" indent="0">
              <a:buNone/>
            </a:pPr>
            <a:r>
              <a:rPr lang="en-US" sz="90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00" dirty="0"/>
          </a:p>
          <a:p>
            <a:pPr marL="0" indent="0">
              <a:buNone/>
            </a:pPr>
            <a:endParaRPr lang="en-US" sz="900" dirty="0"/>
          </a:p>
          <a:p>
            <a:pPr marL="0" indent="0">
              <a:buNone/>
            </a:pPr>
            <a:r>
              <a:rPr lang="en-US" sz="90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00" dirty="0"/>
          </a:p>
        </p:txBody>
      </p:sp>
      <p:sp>
        <p:nvSpPr>
          <p:cNvPr id="9" name="Text 6"/>
          <p:cNvSpPr/>
          <p:nvPr/>
        </p:nvSpPr>
        <p:spPr>
          <a:xfrm>
            <a:off x="648000" y="302400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Conditions d’éligibilité :</a:t>
            </a:r>
            <a:endParaRPr lang="en-US" sz="950" dirty="0"/>
          </a:p>
        </p:txBody>
      </p:sp>
      <p:sp>
        <p:nvSpPr>
          <p:cNvPr id="10" name="Text 7"/>
          <p:cNvSpPr/>
          <p:nvPr/>
        </p:nvSpPr>
        <p:spPr>
          <a:xfrm>
            <a:off x="756000" y="326772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1" name="Text 8"/>
          <p:cNvSpPr/>
          <p:nvPr/>
        </p:nvSpPr>
        <p:spPr>
          <a:xfrm>
            <a:off x="900000" y="3267720"/>
            <a:ext cx="597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9"/>
          <p:cNvSpPr/>
          <p:nvPr/>
        </p:nvSpPr>
        <p:spPr>
          <a:xfrm>
            <a:off x="756000" y="364320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10"/>
          <p:cNvSpPr/>
          <p:nvPr/>
        </p:nvSpPr>
        <p:spPr>
          <a:xfrm>
            <a:off x="900000" y="3643200"/>
            <a:ext cx="597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Être composée d’au moins 65 % de résidences principales (pour les copropriétés de 20 lots ou moins) ou d’au moins 75 % pour les copropriétés de plus de 20 lots.</a:t>
            </a:r>
            <a:endParaRPr lang="en-US" sz="900" dirty="0"/>
          </a:p>
        </p:txBody>
      </p:sp>
      <p:sp>
        <p:nvSpPr>
          <p:cNvPr id="14" name="Text 11"/>
          <p:cNvSpPr/>
          <p:nvPr/>
        </p:nvSpPr>
        <p:spPr>
          <a:xfrm>
            <a:off x="756000" y="40186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2"/>
          <p:cNvSpPr/>
          <p:nvPr/>
        </p:nvSpPr>
        <p:spPr>
          <a:xfrm>
            <a:off x="900000" y="401868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Copropriété immatriculée au registre national des copropriétés.</a:t>
            </a:r>
            <a:endParaRPr lang="en-US" sz="900" dirty="0"/>
          </a:p>
        </p:txBody>
      </p:sp>
      <p:sp>
        <p:nvSpPr>
          <p:cNvPr id="16" name="Text 13"/>
          <p:cNvSpPr/>
          <p:nvPr/>
        </p:nvSpPr>
        <p:spPr>
          <a:xfrm>
            <a:off x="648000" y="770400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Les principales étapes sont les suivantes :</a:t>
            </a:r>
            <a:endParaRPr lang="en-US" sz="950" dirty="0"/>
          </a:p>
        </p:txBody>
      </p:sp>
      <p:sp>
        <p:nvSpPr>
          <p:cNvPr id="17" name="Text 14"/>
          <p:cNvSpPr/>
          <p:nvPr/>
        </p:nvSpPr>
        <p:spPr>
          <a:xfrm>
            <a:off x="540000" y="794412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684000" y="7944120"/>
            <a:ext cx="633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900" dirty="0"/>
          </a:p>
        </p:txBody>
      </p:sp>
      <p:sp>
        <p:nvSpPr>
          <p:cNvPr id="19" name="Text 16"/>
          <p:cNvSpPr/>
          <p:nvPr/>
        </p:nvSpPr>
        <p:spPr>
          <a:xfrm>
            <a:off x="540000" y="815796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0" name="Text 17"/>
          <p:cNvSpPr/>
          <p:nvPr/>
        </p:nvSpPr>
        <p:spPr>
          <a:xfrm>
            <a:off x="684000" y="8157960"/>
            <a:ext cx="633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900" dirty="0"/>
          </a:p>
        </p:txBody>
      </p:sp>
      <p:sp>
        <p:nvSpPr>
          <p:cNvPr id="21" name="Text 18"/>
          <p:cNvSpPr/>
          <p:nvPr/>
        </p:nvSpPr>
        <p:spPr>
          <a:xfrm>
            <a:off x="540000" y="837180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684000" y="8371800"/>
            <a:ext cx="633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900" dirty="0"/>
          </a:p>
        </p:txBody>
      </p:sp>
      <p:sp>
        <p:nvSpPr>
          <p:cNvPr id="23" name="Text 20"/>
          <p:cNvSpPr/>
          <p:nvPr/>
        </p:nvSpPr>
        <p:spPr>
          <a:xfrm>
            <a:off x="540000" y="873468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684000" y="8734680"/>
            <a:ext cx="633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900" dirty="0"/>
          </a:p>
        </p:txBody>
      </p:sp>
      <p:sp>
        <p:nvSpPr>
          <p:cNvPr id="25" name="Text 22"/>
          <p:cNvSpPr/>
          <p:nvPr/>
        </p:nvSpPr>
        <p:spPr>
          <a:xfrm>
            <a:off x="540000" y="909756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684000" y="9097560"/>
            <a:ext cx="633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900" dirty="0"/>
          </a:p>
        </p:txBody>
      </p:sp>
      <p:sp>
        <p:nvSpPr>
          <p:cNvPr id="27" name="Text 24"/>
          <p:cNvSpPr/>
          <p:nvPr/>
        </p:nvSpPr>
        <p:spPr>
          <a:xfrm>
            <a:off x="540000" y="931140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8" name="Text 25"/>
          <p:cNvSpPr/>
          <p:nvPr/>
        </p:nvSpPr>
        <p:spPr>
          <a:xfrm>
            <a:off x="684000" y="9311400"/>
            <a:ext cx="633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900" dirty="0"/>
          </a:p>
        </p:txBody>
      </p:sp>
      <p:sp>
        <p:nvSpPr>
          <p:cNvPr id="29" name="Text 26"/>
          <p:cNvSpPr/>
          <p:nvPr/>
        </p:nvSpPr>
        <p:spPr>
          <a:xfrm>
            <a:off x="648000" y="9936000"/>
            <a:ext cx="6264000" cy="180000"/>
          </a:xfrm>
          <a:prstGeom prst="rect">
            <a:avLst/>
          </a:prstGeom>
          <a:noFill/>
          <a:ln/>
        </p:spPr>
        <p:txBody>
          <a:bodyPr wrap="square" lIns="0" tIns="0" rIns="0" bIns="0" rtlCol="0" anchor="ctr"/>
          <a:lstStyle/>
          <a:p>
            <a:pPr marL="0" indent="0" algn="ctr">
              <a:buNone/>
            </a:pPr>
            <a:r>
              <a:rPr lang="en-US" sz="700" i="1" dirty="0">
                <a:solidFill>
                  <a:srgbClr val="0A2B6B"/>
                </a:solidFill>
                <a:latin typeface="Aptos" pitchFamily="34" charset="0"/>
                <a:ea typeface="Aptos" pitchFamily="34" charset="-122"/>
                <a:cs typeface="Aptos" pitchFamily="34" charset="-120"/>
              </a:rPr>
              <a:t>MaPrimeRénov’ Copropriété : tout savoir sur l’aide à la rénovation des parties communes | economie.gouv.fr</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sp>
        <p:nvSpPr>
          <p:cNvPr id="8" name="Text 5"/>
          <p:cNvSpPr/>
          <p:nvPr/>
        </p:nvSpPr>
        <p:spPr>
          <a:xfrm>
            <a:off x="648000" y="1710000"/>
            <a:ext cx="4032000" cy="1323360"/>
          </a:xfrm>
          <a:prstGeom prst="rect">
            <a:avLst/>
          </a:prstGeom>
          <a:noFill/>
          <a:ln/>
        </p:spPr>
        <p:txBody>
          <a:bodyPr wrap="square" lIns="0" tIns="0" rIns="0" bIns="0" rtlCol="0" anchor="t"/>
          <a:lstStyle/>
          <a:p>
            <a:pPr marL="0" indent="0">
              <a:buNone/>
            </a:pPr>
            <a:r>
              <a:rPr lang="en-US" sz="95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950" dirty="0"/>
          </a:p>
          <a:p>
            <a:pPr marL="0" indent="0">
              <a:buNone/>
            </a:pPr>
            <a:endParaRPr lang="en-US" sz="950" dirty="0"/>
          </a:p>
          <a:p>
            <a:pPr marL="0" indent="0">
              <a:buNone/>
            </a:pPr>
            <a:r>
              <a:rPr lang="en-US" sz="95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950" dirty="0"/>
          </a:p>
        </p:txBody>
      </p:sp>
      <p:sp>
        <p:nvSpPr>
          <p:cNvPr id="9" name="Text 6"/>
          <p:cNvSpPr/>
          <p:nvPr/>
        </p:nvSpPr>
        <p:spPr>
          <a:xfrm>
            <a:off x="648000" y="327600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Les CEE poste par poste</a:t>
            </a:r>
            <a:endParaRPr lang="en-US" sz="950" dirty="0"/>
          </a:p>
        </p:txBody>
      </p:sp>
      <p:sp>
        <p:nvSpPr>
          <p:cNvPr id="10" name="Text 7"/>
          <p:cNvSpPr/>
          <p:nvPr/>
        </p:nvSpPr>
        <p:spPr>
          <a:xfrm>
            <a:off x="648000" y="351972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Les opérations les plus couramment éligibles sont notamment :</a:t>
            </a:r>
            <a:endParaRPr lang="en-US" sz="900" dirty="0"/>
          </a:p>
        </p:txBody>
      </p:sp>
      <p:sp>
        <p:nvSpPr>
          <p:cNvPr id="11" name="Text 8"/>
          <p:cNvSpPr/>
          <p:nvPr/>
        </p:nvSpPr>
        <p:spPr>
          <a:xfrm>
            <a:off x="756000" y="42166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421668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L’isolation des murs, toitures, combles et planchers bas ;</a:t>
            </a:r>
            <a:endParaRPr lang="en-US" sz="900" dirty="0"/>
          </a:p>
        </p:txBody>
      </p:sp>
      <p:sp>
        <p:nvSpPr>
          <p:cNvPr id="13" name="Text 10"/>
          <p:cNvSpPr/>
          <p:nvPr/>
        </p:nvSpPr>
        <p:spPr>
          <a:xfrm>
            <a:off x="756000" y="444852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44852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remplacement des menuiseries extérieures ;</a:t>
            </a:r>
            <a:endParaRPr lang="en-US" sz="900" dirty="0"/>
          </a:p>
        </p:txBody>
      </p:sp>
      <p:sp>
        <p:nvSpPr>
          <p:cNvPr id="15" name="Text 12"/>
          <p:cNvSpPr/>
          <p:nvPr/>
        </p:nvSpPr>
        <p:spPr>
          <a:xfrm>
            <a:off x="756000" y="468036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68036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L’amélioration des systèmes de chauffage ;</a:t>
            </a:r>
            <a:endParaRPr lang="en-US" sz="900" dirty="0"/>
          </a:p>
        </p:txBody>
      </p:sp>
      <p:sp>
        <p:nvSpPr>
          <p:cNvPr id="17" name="Text 14"/>
          <p:cNvSpPr/>
          <p:nvPr/>
        </p:nvSpPr>
        <p:spPr>
          <a:xfrm>
            <a:off x="756000" y="491220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91220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L’installation de systèmes de ventilation performants ;</a:t>
            </a:r>
            <a:endParaRPr lang="en-US" sz="900" dirty="0"/>
          </a:p>
        </p:txBody>
      </p:sp>
      <p:sp>
        <p:nvSpPr>
          <p:cNvPr id="19" name="Text 16"/>
          <p:cNvSpPr/>
          <p:nvPr/>
        </p:nvSpPr>
        <p:spPr>
          <a:xfrm>
            <a:off x="756000" y="514404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0" name="Text 17"/>
          <p:cNvSpPr/>
          <p:nvPr/>
        </p:nvSpPr>
        <p:spPr>
          <a:xfrm>
            <a:off x="900000" y="514404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raccordement à un réseau de chaleur.</a:t>
            </a:r>
            <a:endParaRPr lang="en-US" sz="900" dirty="0"/>
          </a:p>
        </p:txBody>
      </p:sp>
      <p:sp>
        <p:nvSpPr>
          <p:cNvPr id="21" name="Text 18"/>
          <p:cNvSpPr/>
          <p:nvPr/>
        </p:nvSpPr>
        <p:spPr>
          <a:xfrm>
            <a:off x="648000" y="541188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00" dirty="0"/>
          </a:p>
        </p:txBody>
      </p:sp>
      <p:sp>
        <p:nvSpPr>
          <p:cNvPr id="22" name="Text 19"/>
          <p:cNvSpPr/>
          <p:nvPr/>
        </p:nvSpPr>
        <p:spPr>
          <a:xfrm>
            <a:off x="648000" y="595620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Les CEE « Rénovation globale » (BAR-TH-177)</a:t>
            </a:r>
            <a:endParaRPr lang="en-US" sz="950" dirty="0"/>
          </a:p>
        </p:txBody>
      </p:sp>
      <p:sp>
        <p:nvSpPr>
          <p:cNvPr id="23" name="Text 20"/>
          <p:cNvSpPr/>
          <p:nvPr/>
        </p:nvSpPr>
        <p:spPr>
          <a:xfrm>
            <a:off x="648000" y="6199920"/>
            <a:ext cx="6264000" cy="20023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00" dirty="0"/>
          </a:p>
        </p:txBody>
      </p:sp>
      <p:sp>
        <p:nvSpPr>
          <p:cNvPr id="24" name="Text 21"/>
          <p:cNvSpPr/>
          <p:nvPr/>
        </p:nvSpPr>
        <p:spPr>
          <a:xfrm>
            <a:off x="648000" y="9936000"/>
            <a:ext cx="6264000" cy="180000"/>
          </a:xfrm>
          <a:prstGeom prst="rect">
            <a:avLst/>
          </a:prstGeom>
          <a:noFill/>
          <a:ln/>
        </p:spPr>
        <p:txBody>
          <a:bodyPr wrap="square" lIns="0" tIns="0" rIns="0" bIns="0" rtlCol="0" anchor="ctr"/>
          <a:lstStyle/>
          <a:p>
            <a:pPr marL="0" indent="0" algn="ctr">
              <a:buNone/>
            </a:pPr>
            <a:r>
              <a:rPr lang="en-US" sz="700" i="1" dirty="0">
                <a:solidFill>
                  <a:srgbClr val="0A2B6B"/>
                </a:solidFill>
                <a:latin typeface="Aptos" pitchFamily="34" charset="0"/>
                <a:ea typeface="Aptos" pitchFamily="34" charset="-122"/>
                <a:cs typeface="Aptos" pitchFamily="34" charset="-120"/>
              </a:rPr>
              <a:t>Certificats d’économie d’énergie (CEE) | Service Public</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710000"/>
            <a:ext cx="4032000" cy="1952640"/>
          </a:xfrm>
          <a:prstGeom prst="rect">
            <a:avLst/>
          </a:prstGeom>
          <a:noFill/>
          <a:ln/>
        </p:spPr>
        <p:txBody>
          <a:bodyPr wrap="square" lIns="0" tIns="0" rIns="0" bIns="0" rtlCol="0" anchor="t"/>
          <a:lstStyle/>
          <a:p>
            <a:pPr marL="0" indent="0">
              <a:buNone/>
            </a:pPr>
            <a:r>
              <a:rPr lang="en-US" sz="95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950" dirty="0"/>
          </a:p>
          <a:p>
            <a:pPr marL="0" indent="0">
              <a:buNone/>
            </a:pPr>
            <a:endParaRPr lang="en-US" sz="950" dirty="0"/>
          </a:p>
          <a:p>
            <a:pPr marL="0" indent="0">
              <a:buNone/>
            </a:pPr>
            <a:r>
              <a:rPr lang="en-US" sz="95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950" dirty="0"/>
          </a:p>
        </p:txBody>
      </p:sp>
      <p:sp>
        <p:nvSpPr>
          <p:cNvPr id="9" name="Text 6"/>
          <p:cNvSpPr/>
          <p:nvPr/>
        </p:nvSpPr>
        <p:spPr>
          <a:xfrm>
            <a:off x="648000" y="376344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0" name="Text 7"/>
          <p:cNvSpPr/>
          <p:nvPr/>
        </p:nvSpPr>
        <p:spPr>
          <a:xfrm>
            <a:off x="648000" y="4007160"/>
            <a:ext cx="6264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900" dirty="0"/>
          </a:p>
        </p:txBody>
      </p:sp>
      <p:sp>
        <p:nvSpPr>
          <p:cNvPr id="11" name="Text 8"/>
          <p:cNvSpPr/>
          <p:nvPr/>
        </p:nvSpPr>
        <p:spPr>
          <a:xfrm>
            <a:off x="756000" y="425700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425700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900" dirty="0"/>
          </a:p>
        </p:txBody>
      </p:sp>
      <p:sp>
        <p:nvSpPr>
          <p:cNvPr id="13" name="Text 10"/>
          <p:cNvSpPr/>
          <p:nvPr/>
        </p:nvSpPr>
        <p:spPr>
          <a:xfrm>
            <a:off x="756000" y="448884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48884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900" dirty="0"/>
          </a:p>
        </p:txBody>
      </p:sp>
      <p:sp>
        <p:nvSpPr>
          <p:cNvPr id="15" name="Text 12"/>
          <p:cNvSpPr/>
          <p:nvPr/>
        </p:nvSpPr>
        <p:spPr>
          <a:xfrm>
            <a:off x="756000" y="47206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72068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900" dirty="0"/>
          </a:p>
        </p:txBody>
      </p:sp>
      <p:sp>
        <p:nvSpPr>
          <p:cNvPr id="17" name="Text 14"/>
          <p:cNvSpPr/>
          <p:nvPr/>
        </p:nvSpPr>
        <p:spPr>
          <a:xfrm>
            <a:off x="756000" y="495252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952520"/>
            <a:ext cx="597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900" dirty="0"/>
          </a:p>
        </p:txBody>
      </p:sp>
      <p:sp>
        <p:nvSpPr>
          <p:cNvPr id="19" name="Text 16"/>
          <p:cNvSpPr/>
          <p:nvPr/>
        </p:nvSpPr>
        <p:spPr>
          <a:xfrm>
            <a:off x="648000" y="5369400"/>
            <a:ext cx="6264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engagés doivent permettre :</a:t>
            </a:r>
            <a:endParaRPr lang="en-US" sz="900" dirty="0"/>
          </a:p>
        </p:txBody>
      </p:sp>
      <p:sp>
        <p:nvSpPr>
          <p:cNvPr id="20" name="Text 17"/>
          <p:cNvSpPr/>
          <p:nvPr/>
        </p:nvSpPr>
        <p:spPr>
          <a:xfrm>
            <a:off x="756000" y="561564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1" name="Text 18"/>
          <p:cNvSpPr/>
          <p:nvPr/>
        </p:nvSpPr>
        <p:spPr>
          <a:xfrm>
            <a:off x="900000" y="5615640"/>
            <a:ext cx="597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900" dirty="0"/>
          </a:p>
        </p:txBody>
      </p:sp>
      <p:sp>
        <p:nvSpPr>
          <p:cNvPr id="22" name="Text 19"/>
          <p:cNvSpPr/>
          <p:nvPr/>
        </p:nvSpPr>
        <p:spPr>
          <a:xfrm>
            <a:off x="756000" y="5996520"/>
            <a:ext cx="12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20"/>
          <p:cNvSpPr/>
          <p:nvPr/>
        </p:nvSpPr>
        <p:spPr>
          <a:xfrm>
            <a:off x="900000" y="5996520"/>
            <a:ext cx="5976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900" dirty="0"/>
          </a:p>
        </p:txBody>
      </p:sp>
      <p:sp>
        <p:nvSpPr>
          <p:cNvPr id="24" name="Text 21"/>
          <p:cNvSpPr/>
          <p:nvPr/>
        </p:nvSpPr>
        <p:spPr>
          <a:xfrm>
            <a:off x="648000" y="641700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Montant et durée du prêt</a:t>
            </a:r>
            <a:endParaRPr lang="en-US" sz="950" dirty="0"/>
          </a:p>
        </p:txBody>
      </p:sp>
      <p:sp>
        <p:nvSpPr>
          <p:cNvPr id="25" name="Text 22"/>
          <p:cNvSpPr/>
          <p:nvPr/>
        </p:nvSpPr>
        <p:spPr>
          <a:xfrm>
            <a:off x="648000" y="6660720"/>
            <a:ext cx="6264000" cy="81000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900" dirty="0"/>
          </a:p>
        </p:txBody>
      </p:sp>
      <p:sp>
        <p:nvSpPr>
          <p:cNvPr id="26" name="Text 23"/>
          <p:cNvSpPr/>
          <p:nvPr/>
        </p:nvSpPr>
        <p:spPr>
          <a:xfrm>
            <a:off x="648000" y="750672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Fonctionnement en copropriété</a:t>
            </a:r>
            <a:endParaRPr lang="en-US" sz="950" dirty="0"/>
          </a:p>
        </p:txBody>
      </p:sp>
      <p:sp>
        <p:nvSpPr>
          <p:cNvPr id="27" name="Text 24"/>
          <p:cNvSpPr/>
          <p:nvPr/>
        </p:nvSpPr>
        <p:spPr>
          <a:xfrm>
            <a:off x="648000" y="7750440"/>
            <a:ext cx="6264000" cy="9590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900" dirty="0"/>
          </a:p>
          <a:p>
            <a:pPr marL="0" indent="0">
              <a:buNone/>
            </a:pPr>
            <a:endParaRPr lang="en-US" sz="900" dirty="0"/>
          </a:p>
          <a:p>
            <a:pPr marL="0" indent="0">
              <a:buNone/>
            </a:pPr>
            <a:r>
              <a:rPr lang="en-US" sz="9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900" dirty="0"/>
          </a:p>
        </p:txBody>
      </p:sp>
      <p:sp>
        <p:nvSpPr>
          <p:cNvPr id="28" name="Text 25"/>
          <p:cNvSpPr/>
          <p:nvPr/>
        </p:nvSpPr>
        <p:spPr>
          <a:xfrm>
            <a:off x="648000" y="874548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29" name="Text 26"/>
          <p:cNvSpPr/>
          <p:nvPr/>
        </p:nvSpPr>
        <p:spPr>
          <a:xfrm>
            <a:off x="648000" y="898920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900" dirty="0"/>
          </a:p>
        </p:txBody>
      </p:sp>
      <p:sp>
        <p:nvSpPr>
          <p:cNvPr id="30" name="Text 27"/>
          <p:cNvSpPr/>
          <p:nvPr/>
        </p:nvSpPr>
        <p:spPr>
          <a:xfrm>
            <a:off x="648000" y="9936000"/>
            <a:ext cx="6264000" cy="180000"/>
          </a:xfrm>
          <a:prstGeom prst="rect">
            <a:avLst/>
          </a:prstGeom>
          <a:noFill/>
          <a:ln/>
        </p:spPr>
        <p:txBody>
          <a:bodyPr wrap="square" lIns="0" tIns="0" rIns="0" bIns="0" rtlCol="0" anchor="ctr"/>
          <a:lstStyle/>
          <a:p>
            <a:pPr marL="0" indent="0" algn="ctr">
              <a:buNone/>
            </a:pPr>
            <a:r>
              <a:rPr lang="en-US" sz="700" i="1" dirty="0">
                <a:solidFill>
                  <a:srgbClr val="0A2B6B"/>
                </a:solidFill>
                <a:latin typeface="Aptos" pitchFamily="34" charset="0"/>
                <a:ea typeface="Aptos" pitchFamily="34" charset="-122"/>
                <a:cs typeface="Aptos" pitchFamily="34" charset="-120"/>
              </a:rPr>
              <a:t>Éco-prêt à taux zéro (éco-PTZ) Copropriétés | Service Public</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sp>
        <p:nvSpPr>
          <p:cNvPr id="8" name="Text 5"/>
          <p:cNvSpPr/>
          <p:nvPr/>
        </p:nvSpPr>
        <p:spPr>
          <a:xfrm>
            <a:off x="648000" y="1710000"/>
            <a:ext cx="4032000" cy="851400"/>
          </a:xfrm>
          <a:prstGeom prst="rect">
            <a:avLst/>
          </a:prstGeom>
          <a:noFill/>
          <a:ln/>
        </p:spPr>
        <p:txBody>
          <a:bodyPr wrap="square" lIns="0" tIns="0" rIns="0" bIns="0" rtlCol="0" anchor="t"/>
          <a:lstStyle/>
          <a:p>
            <a:pPr marL="0" indent="0">
              <a:buNone/>
            </a:pPr>
            <a:r>
              <a:rPr lang="en-US" sz="95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950" dirty="0"/>
          </a:p>
        </p:txBody>
      </p:sp>
      <p:sp>
        <p:nvSpPr>
          <p:cNvPr id="9" name="Text 6"/>
          <p:cNvSpPr/>
          <p:nvPr/>
        </p:nvSpPr>
        <p:spPr>
          <a:xfrm>
            <a:off x="648000" y="327600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0" name="Text 7"/>
          <p:cNvSpPr/>
          <p:nvPr/>
        </p:nvSpPr>
        <p:spPr>
          <a:xfrm>
            <a:off x="648000" y="3519720"/>
            <a:ext cx="6264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1" name="Text 8"/>
          <p:cNvSpPr/>
          <p:nvPr/>
        </p:nvSpPr>
        <p:spPr>
          <a:xfrm>
            <a:off x="756000" y="376956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2" name="Text 9"/>
          <p:cNvSpPr/>
          <p:nvPr/>
        </p:nvSpPr>
        <p:spPr>
          <a:xfrm>
            <a:off x="900000" y="376956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3" name="Text 10"/>
          <p:cNvSpPr/>
          <p:nvPr/>
        </p:nvSpPr>
        <p:spPr>
          <a:xfrm>
            <a:off x="756000" y="400140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4" name="Text 11"/>
          <p:cNvSpPr/>
          <p:nvPr/>
        </p:nvSpPr>
        <p:spPr>
          <a:xfrm>
            <a:off x="900000" y="400140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5" name="Text 12"/>
          <p:cNvSpPr/>
          <p:nvPr/>
        </p:nvSpPr>
        <p:spPr>
          <a:xfrm>
            <a:off x="756000" y="423324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6" name="Text 13"/>
          <p:cNvSpPr/>
          <p:nvPr/>
        </p:nvSpPr>
        <p:spPr>
          <a:xfrm>
            <a:off x="900000" y="423324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7" name="Text 14"/>
          <p:cNvSpPr/>
          <p:nvPr/>
        </p:nvSpPr>
        <p:spPr>
          <a:xfrm>
            <a:off x="756000" y="44650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8" name="Text 15"/>
          <p:cNvSpPr/>
          <p:nvPr/>
        </p:nvSpPr>
        <p:spPr>
          <a:xfrm>
            <a:off x="900000" y="446508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19" name="Text 16"/>
          <p:cNvSpPr/>
          <p:nvPr/>
        </p:nvSpPr>
        <p:spPr>
          <a:xfrm>
            <a:off x="648000" y="473292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0" name="Text 17"/>
          <p:cNvSpPr/>
          <p:nvPr/>
        </p:nvSpPr>
        <p:spPr>
          <a:xfrm>
            <a:off x="648000" y="4976640"/>
            <a:ext cx="6264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1" name="Text 18"/>
          <p:cNvSpPr/>
          <p:nvPr/>
        </p:nvSpPr>
        <p:spPr>
          <a:xfrm>
            <a:off x="756000" y="52264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2" name="Text 19"/>
          <p:cNvSpPr/>
          <p:nvPr/>
        </p:nvSpPr>
        <p:spPr>
          <a:xfrm>
            <a:off x="900000" y="522648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3" name="Text 20"/>
          <p:cNvSpPr/>
          <p:nvPr/>
        </p:nvSpPr>
        <p:spPr>
          <a:xfrm>
            <a:off x="756000" y="545832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4" name="Text 21"/>
          <p:cNvSpPr/>
          <p:nvPr/>
        </p:nvSpPr>
        <p:spPr>
          <a:xfrm>
            <a:off x="900000" y="545832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5" name="Text 22"/>
          <p:cNvSpPr/>
          <p:nvPr/>
        </p:nvSpPr>
        <p:spPr>
          <a:xfrm>
            <a:off x="756000" y="569016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6" name="Text 23"/>
          <p:cNvSpPr/>
          <p:nvPr/>
        </p:nvSpPr>
        <p:spPr>
          <a:xfrm>
            <a:off x="900000" y="569016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7" name="Text 24"/>
          <p:cNvSpPr/>
          <p:nvPr/>
        </p:nvSpPr>
        <p:spPr>
          <a:xfrm>
            <a:off x="756000" y="592200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8" name="Text 25"/>
          <p:cNvSpPr/>
          <p:nvPr/>
        </p:nvSpPr>
        <p:spPr>
          <a:xfrm>
            <a:off x="900000" y="592200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29" name="Text 26"/>
          <p:cNvSpPr/>
          <p:nvPr/>
        </p:nvSpPr>
        <p:spPr>
          <a:xfrm>
            <a:off x="756000" y="615384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0" name="Text 27"/>
          <p:cNvSpPr/>
          <p:nvPr/>
        </p:nvSpPr>
        <p:spPr>
          <a:xfrm>
            <a:off x="900000" y="615384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1" name="Text 28"/>
          <p:cNvSpPr/>
          <p:nvPr/>
        </p:nvSpPr>
        <p:spPr>
          <a:xfrm>
            <a:off x="756000" y="638568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2" name="Text 29"/>
          <p:cNvSpPr/>
          <p:nvPr/>
        </p:nvSpPr>
        <p:spPr>
          <a:xfrm>
            <a:off x="900000" y="638568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3" name="Text 30"/>
          <p:cNvSpPr/>
          <p:nvPr/>
        </p:nvSpPr>
        <p:spPr>
          <a:xfrm>
            <a:off x="756000" y="6617520"/>
            <a:ext cx="12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4" name="Text 31"/>
          <p:cNvSpPr/>
          <p:nvPr/>
        </p:nvSpPr>
        <p:spPr>
          <a:xfrm>
            <a:off x="900000" y="6617520"/>
            <a:ext cx="5976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5" name="Text 32"/>
          <p:cNvSpPr/>
          <p:nvPr/>
        </p:nvSpPr>
        <p:spPr>
          <a:xfrm>
            <a:off x="648000" y="688536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6" name="Text 33"/>
          <p:cNvSpPr/>
          <p:nvPr/>
        </p:nvSpPr>
        <p:spPr>
          <a:xfrm>
            <a:off x="648000" y="7129080"/>
            <a:ext cx="6264000" cy="66096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7" name="Text 34"/>
          <p:cNvSpPr/>
          <p:nvPr/>
        </p:nvSpPr>
        <p:spPr>
          <a:xfrm>
            <a:off x="648000" y="7826040"/>
            <a:ext cx="6264000" cy="222120"/>
          </a:xfrm>
          <a:prstGeom prst="rect">
            <a:avLst/>
          </a:prstGeom>
          <a:noFill/>
          <a:ln/>
        </p:spPr>
        <p:txBody>
          <a:bodyPr wrap="square" lIns="0" tIns="0" rIns="0" bIns="0" rtlCol="0" anchor="t"/>
          <a:lstStyle/>
          <a:p>
            <a:pPr marL="0" indent="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8" name="Text 35"/>
          <p:cNvSpPr/>
          <p:nvPr/>
        </p:nvSpPr>
        <p:spPr>
          <a:xfrm>
            <a:off x="648000" y="8069760"/>
            <a:ext cx="6264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39" name="Text 36"/>
          <p:cNvSpPr/>
          <p:nvPr/>
        </p:nvSpPr>
        <p:spPr>
          <a:xfrm>
            <a:off x="648000" y="9936000"/>
            <a:ext cx="6264000" cy="180000"/>
          </a:xfrm>
          <a:prstGeom prst="rect">
            <a:avLst/>
          </a:prstGeom>
          <a:noFill/>
          <a:ln/>
        </p:spPr>
        <p:txBody>
          <a:bodyPr wrap="square" lIns="0" tIns="0" rIns="0" bIns="0" rtlCol="0" anchor="ctr"/>
          <a:lstStyle/>
          <a:p>
            <a:pPr marL="0" indent="0" algn="ctr">
              <a:buNone/>
            </a:pPr>
            <a:r>
              <a:rPr lang="en-US" sz="700" i="1" dirty="0">
                <a:solidFill>
                  <a:srgbClr val="0A2B6B"/>
                </a:solidFill>
                <a:latin typeface="Aptos" pitchFamily="34" charset="0"/>
                <a:ea typeface="Aptos" pitchFamily="34" charset="-122"/>
                <a:cs typeface="Aptos" pitchFamily="34" charset="-120"/>
              </a:rPr>
              <a:t>TVA à taux réduit : pour quels travaux ? | economie.gouv.fr</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980000"/>
            <a:ext cx="1332000" cy="720000"/>
          </a:xfrm>
          <a:prstGeom prst="rect">
            <a:avLst/>
          </a:prstGeom>
          <a:solidFill>
            <a:srgbClr val="FFFFFF"/>
          </a:solidFill>
          <a:ln w="6985">
            <a:solidFill>
              <a:srgbClr val="FFFFFF"/>
            </a:solidFill>
            <a:prstDash val="solid"/>
          </a:ln>
        </p:spPr>
      </p:sp>
      <p:sp>
        <p:nvSpPr>
          <p:cNvPr id="9" name="Text 6"/>
          <p:cNvSpPr/>
          <p:nvPr/>
        </p:nvSpPr>
        <p:spPr>
          <a:xfrm>
            <a:off x="601200" y="2019600"/>
            <a:ext cx="1209600" cy="640800"/>
          </a:xfrm>
          <a:prstGeom prst="rect">
            <a:avLst/>
          </a:prstGeom>
          <a:noFill/>
          <a:ln/>
        </p:spPr>
        <p:txBody>
          <a:bodyPr wrap="square" lIns="0" tIns="0" rIns="0" bIns="0" rtlCol="0" anchor="ctr"/>
          <a:lstStyle/>
          <a:p>
            <a:pPr marL="0" indent="0" algn="l">
              <a:buNone/>
            </a:pPr>
            <a:endParaRPr lang="en-US" sz="870" dirty="0"/>
          </a:p>
        </p:txBody>
      </p:sp>
      <p:sp>
        <p:nvSpPr>
          <p:cNvPr id="10" name="Shape 7"/>
          <p:cNvSpPr/>
          <p:nvPr/>
        </p:nvSpPr>
        <p:spPr>
          <a:xfrm>
            <a:off x="1872000" y="1980000"/>
            <a:ext cx="1287000" cy="720000"/>
          </a:xfrm>
          <a:prstGeom prst="rect">
            <a:avLst/>
          </a:prstGeom>
          <a:solidFill>
            <a:srgbClr val="0A2B6B"/>
          </a:solidFill>
          <a:ln w="6985">
            <a:solidFill>
              <a:srgbClr val="202020"/>
            </a:solidFill>
            <a:prstDash val="solid"/>
          </a:ln>
        </p:spPr>
      </p:sp>
      <p:sp>
        <p:nvSpPr>
          <p:cNvPr id="11" name="Text 8"/>
          <p:cNvSpPr/>
          <p:nvPr/>
        </p:nvSpPr>
        <p:spPr>
          <a:xfrm>
            <a:off x="1933200" y="2019600"/>
            <a:ext cx="1164600" cy="64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Ma Prime Rénov Copropriété</a:t>
            </a:r>
            <a:endParaRPr lang="en-US" sz="900" dirty="0"/>
          </a:p>
        </p:txBody>
      </p:sp>
      <p:sp>
        <p:nvSpPr>
          <p:cNvPr id="12" name="Shape 9"/>
          <p:cNvSpPr/>
          <p:nvPr/>
        </p:nvSpPr>
        <p:spPr>
          <a:xfrm>
            <a:off x="3159000" y="1980000"/>
            <a:ext cx="1287000" cy="720000"/>
          </a:xfrm>
          <a:prstGeom prst="rect">
            <a:avLst/>
          </a:prstGeom>
          <a:solidFill>
            <a:srgbClr val="0A2B6B"/>
          </a:solidFill>
          <a:ln w="6985">
            <a:solidFill>
              <a:srgbClr val="202020"/>
            </a:solidFill>
            <a:prstDash val="solid"/>
          </a:ln>
        </p:spPr>
      </p:sp>
      <p:sp>
        <p:nvSpPr>
          <p:cNvPr id="13" name="Text 10"/>
          <p:cNvSpPr/>
          <p:nvPr/>
        </p:nvSpPr>
        <p:spPr>
          <a:xfrm>
            <a:off x="3220200" y="2019600"/>
            <a:ext cx="1164600" cy="64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Aides des collectivités locales</a:t>
            </a:r>
            <a:endParaRPr lang="en-US" sz="900" dirty="0"/>
          </a:p>
        </p:txBody>
      </p:sp>
      <p:sp>
        <p:nvSpPr>
          <p:cNvPr id="14" name="Shape 11"/>
          <p:cNvSpPr/>
          <p:nvPr/>
        </p:nvSpPr>
        <p:spPr>
          <a:xfrm>
            <a:off x="4446000" y="1980000"/>
            <a:ext cx="1287000" cy="720000"/>
          </a:xfrm>
          <a:prstGeom prst="rect">
            <a:avLst/>
          </a:prstGeom>
          <a:solidFill>
            <a:srgbClr val="0A2B6B"/>
          </a:solidFill>
          <a:ln w="6985">
            <a:solidFill>
              <a:srgbClr val="202020"/>
            </a:solidFill>
            <a:prstDash val="solid"/>
          </a:ln>
        </p:spPr>
      </p:sp>
      <p:sp>
        <p:nvSpPr>
          <p:cNvPr id="15" name="Text 12"/>
          <p:cNvSpPr/>
          <p:nvPr/>
        </p:nvSpPr>
        <p:spPr>
          <a:xfrm>
            <a:off x="4507200" y="2019600"/>
            <a:ext cx="1164600" cy="64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Aides des fournisseurs d’énergie (CEE)</a:t>
            </a:r>
            <a:endParaRPr lang="en-US" sz="900" dirty="0"/>
          </a:p>
        </p:txBody>
      </p:sp>
      <p:sp>
        <p:nvSpPr>
          <p:cNvPr id="16" name="Shape 13"/>
          <p:cNvSpPr/>
          <p:nvPr/>
        </p:nvSpPr>
        <p:spPr>
          <a:xfrm>
            <a:off x="5733000" y="1980000"/>
            <a:ext cx="1287000" cy="720000"/>
          </a:xfrm>
          <a:prstGeom prst="rect">
            <a:avLst/>
          </a:prstGeom>
          <a:solidFill>
            <a:srgbClr val="0A2B6B"/>
          </a:solidFill>
          <a:ln w="6985">
            <a:solidFill>
              <a:srgbClr val="202020"/>
            </a:solidFill>
            <a:prstDash val="solid"/>
          </a:ln>
        </p:spPr>
      </p:sp>
      <p:sp>
        <p:nvSpPr>
          <p:cNvPr id="17" name="Text 14"/>
          <p:cNvSpPr/>
          <p:nvPr/>
        </p:nvSpPr>
        <p:spPr>
          <a:xfrm>
            <a:off x="5794200" y="2019600"/>
            <a:ext cx="1164600" cy="640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Éco-Prêt à taux zéro</a:t>
            </a:r>
            <a:endParaRPr lang="en-US" sz="900" dirty="0"/>
          </a:p>
        </p:txBody>
      </p:sp>
      <p:sp>
        <p:nvSpPr>
          <p:cNvPr id="18" name="Shape 15"/>
          <p:cNvSpPr/>
          <p:nvPr/>
        </p:nvSpPr>
        <p:spPr>
          <a:xfrm>
            <a:off x="540000" y="2700000"/>
            <a:ext cx="1332000" cy="1044000"/>
          </a:xfrm>
          <a:prstGeom prst="rect">
            <a:avLst/>
          </a:prstGeom>
          <a:solidFill>
            <a:srgbClr val="0A2B6B"/>
          </a:solidFill>
          <a:ln w="6985">
            <a:solidFill>
              <a:srgbClr val="202020"/>
            </a:solidFill>
            <a:prstDash val="solid"/>
          </a:ln>
        </p:spPr>
      </p:sp>
      <p:sp>
        <p:nvSpPr>
          <p:cNvPr id="19" name="Text 16"/>
          <p:cNvSpPr/>
          <p:nvPr/>
        </p:nvSpPr>
        <p:spPr>
          <a:xfrm>
            <a:off x="601200" y="2739600"/>
            <a:ext cx="1209600" cy="964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Ma Prime Rénov Copropriété</a:t>
            </a:r>
            <a:endParaRPr lang="en-US" sz="900" dirty="0"/>
          </a:p>
        </p:txBody>
      </p:sp>
      <p:sp>
        <p:nvSpPr>
          <p:cNvPr id="20" name="Shape 17"/>
          <p:cNvSpPr/>
          <p:nvPr/>
        </p:nvSpPr>
        <p:spPr>
          <a:xfrm>
            <a:off x="1872000" y="2700000"/>
            <a:ext cx="1287000" cy="1044000"/>
          </a:xfrm>
          <a:prstGeom prst="rect">
            <a:avLst/>
          </a:prstGeom>
          <a:solidFill>
            <a:srgbClr val="D9EAF7"/>
          </a:solidFill>
          <a:ln w="6985">
            <a:solidFill>
              <a:srgbClr val="202020"/>
            </a:solidFill>
            <a:prstDash val="solid"/>
          </a:ln>
        </p:spPr>
      </p:sp>
      <p:sp>
        <p:nvSpPr>
          <p:cNvPr id="21" name="Text 18"/>
          <p:cNvSpPr/>
          <p:nvPr/>
        </p:nvSpPr>
        <p:spPr>
          <a:xfrm>
            <a:off x="1933200" y="2739600"/>
            <a:ext cx="1164600" cy="964800"/>
          </a:xfrm>
          <a:prstGeom prst="rect">
            <a:avLst/>
          </a:prstGeom>
          <a:noFill/>
          <a:ln/>
        </p:spPr>
        <p:txBody>
          <a:bodyPr wrap="square" lIns="0" tIns="0" rIns="0" bIns="0" rtlCol="0" anchor="ctr"/>
          <a:lstStyle/>
          <a:p>
            <a:pPr marL="0" indent="0" algn="ctr">
              <a:buNone/>
            </a:pPr>
            <a:endParaRPr lang="en-US" sz="900" dirty="0"/>
          </a:p>
        </p:txBody>
      </p:sp>
      <p:sp>
        <p:nvSpPr>
          <p:cNvPr id="22" name="Shape 19"/>
          <p:cNvSpPr/>
          <p:nvPr/>
        </p:nvSpPr>
        <p:spPr>
          <a:xfrm>
            <a:off x="3159000" y="2700000"/>
            <a:ext cx="1287000" cy="1044000"/>
          </a:xfrm>
          <a:prstGeom prst="rect">
            <a:avLst/>
          </a:prstGeom>
          <a:solidFill>
            <a:srgbClr val="FFFFFF"/>
          </a:solidFill>
          <a:ln w="6985">
            <a:solidFill>
              <a:srgbClr val="202020"/>
            </a:solidFill>
            <a:prstDash val="solid"/>
          </a:ln>
        </p:spPr>
      </p:sp>
      <p:sp>
        <p:nvSpPr>
          <p:cNvPr id="23" name="Text 20"/>
          <p:cNvSpPr/>
          <p:nvPr/>
        </p:nvSpPr>
        <p:spPr>
          <a:xfrm>
            <a:off x="3220200" y="2739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24" name="Shape 21"/>
          <p:cNvSpPr/>
          <p:nvPr/>
        </p:nvSpPr>
        <p:spPr>
          <a:xfrm>
            <a:off x="4446000" y="2700000"/>
            <a:ext cx="1287000" cy="1044000"/>
          </a:xfrm>
          <a:prstGeom prst="rect">
            <a:avLst/>
          </a:prstGeom>
          <a:solidFill>
            <a:srgbClr val="FFFFFF"/>
          </a:solidFill>
          <a:ln w="6985">
            <a:solidFill>
              <a:srgbClr val="202020"/>
            </a:solidFill>
            <a:prstDash val="solid"/>
          </a:ln>
        </p:spPr>
      </p:sp>
      <p:sp>
        <p:nvSpPr>
          <p:cNvPr id="25" name="Text 22"/>
          <p:cNvSpPr/>
          <p:nvPr/>
        </p:nvSpPr>
        <p:spPr>
          <a:xfrm>
            <a:off x="4507200" y="2739600"/>
            <a:ext cx="1164600" cy="964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Sauf en cas de copropriétés en difficultés ou fragiles</a:t>
            </a:r>
            <a:endParaRPr lang="en-US" sz="900" dirty="0"/>
          </a:p>
        </p:txBody>
      </p:sp>
      <p:sp>
        <p:nvSpPr>
          <p:cNvPr id="26" name="Shape 23"/>
          <p:cNvSpPr/>
          <p:nvPr/>
        </p:nvSpPr>
        <p:spPr>
          <a:xfrm>
            <a:off x="5733000" y="2700000"/>
            <a:ext cx="1287000" cy="1044000"/>
          </a:xfrm>
          <a:prstGeom prst="rect">
            <a:avLst/>
          </a:prstGeom>
          <a:solidFill>
            <a:srgbClr val="FFFFFF"/>
          </a:solidFill>
          <a:ln w="6985">
            <a:solidFill>
              <a:srgbClr val="202020"/>
            </a:solidFill>
            <a:prstDash val="solid"/>
          </a:ln>
        </p:spPr>
      </p:sp>
      <p:sp>
        <p:nvSpPr>
          <p:cNvPr id="27" name="Text 24"/>
          <p:cNvSpPr/>
          <p:nvPr/>
        </p:nvSpPr>
        <p:spPr>
          <a:xfrm>
            <a:off x="5794200" y="2739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28" name="Shape 25"/>
          <p:cNvSpPr/>
          <p:nvPr/>
        </p:nvSpPr>
        <p:spPr>
          <a:xfrm>
            <a:off x="540000" y="3744000"/>
            <a:ext cx="1332000" cy="1044000"/>
          </a:xfrm>
          <a:prstGeom prst="rect">
            <a:avLst/>
          </a:prstGeom>
          <a:solidFill>
            <a:srgbClr val="0A2B6B"/>
          </a:solidFill>
          <a:ln w="6985">
            <a:solidFill>
              <a:srgbClr val="202020"/>
            </a:solidFill>
            <a:prstDash val="solid"/>
          </a:ln>
        </p:spPr>
      </p:sp>
      <p:sp>
        <p:nvSpPr>
          <p:cNvPr id="29" name="Text 26"/>
          <p:cNvSpPr/>
          <p:nvPr/>
        </p:nvSpPr>
        <p:spPr>
          <a:xfrm>
            <a:off x="601200" y="3783600"/>
            <a:ext cx="1209600" cy="964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Aides des collectivités locales</a:t>
            </a:r>
            <a:endParaRPr lang="en-US" sz="900" dirty="0"/>
          </a:p>
        </p:txBody>
      </p:sp>
      <p:sp>
        <p:nvSpPr>
          <p:cNvPr id="30" name="Shape 27"/>
          <p:cNvSpPr/>
          <p:nvPr/>
        </p:nvSpPr>
        <p:spPr>
          <a:xfrm>
            <a:off x="1872000" y="3744000"/>
            <a:ext cx="1287000" cy="1044000"/>
          </a:xfrm>
          <a:prstGeom prst="rect">
            <a:avLst/>
          </a:prstGeom>
          <a:solidFill>
            <a:srgbClr val="FFFFFF"/>
          </a:solidFill>
          <a:ln w="6985">
            <a:solidFill>
              <a:srgbClr val="202020"/>
            </a:solidFill>
            <a:prstDash val="solid"/>
          </a:ln>
        </p:spPr>
      </p:sp>
      <p:sp>
        <p:nvSpPr>
          <p:cNvPr id="31" name="Text 28"/>
          <p:cNvSpPr/>
          <p:nvPr/>
        </p:nvSpPr>
        <p:spPr>
          <a:xfrm>
            <a:off x="1933200" y="3783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2" name="Shape 29"/>
          <p:cNvSpPr/>
          <p:nvPr/>
        </p:nvSpPr>
        <p:spPr>
          <a:xfrm>
            <a:off x="3159000" y="3744000"/>
            <a:ext cx="1287000" cy="1044000"/>
          </a:xfrm>
          <a:prstGeom prst="rect">
            <a:avLst/>
          </a:prstGeom>
          <a:solidFill>
            <a:srgbClr val="D9EAF7"/>
          </a:solidFill>
          <a:ln w="6985">
            <a:solidFill>
              <a:srgbClr val="202020"/>
            </a:solidFill>
            <a:prstDash val="solid"/>
          </a:ln>
        </p:spPr>
      </p:sp>
      <p:sp>
        <p:nvSpPr>
          <p:cNvPr id="33" name="Text 30"/>
          <p:cNvSpPr/>
          <p:nvPr/>
        </p:nvSpPr>
        <p:spPr>
          <a:xfrm>
            <a:off x="3220200" y="3783600"/>
            <a:ext cx="1164600" cy="964800"/>
          </a:xfrm>
          <a:prstGeom prst="rect">
            <a:avLst/>
          </a:prstGeom>
          <a:noFill/>
          <a:ln/>
        </p:spPr>
        <p:txBody>
          <a:bodyPr wrap="square" lIns="0" tIns="0" rIns="0" bIns="0" rtlCol="0" anchor="ctr"/>
          <a:lstStyle/>
          <a:p>
            <a:pPr marL="0" indent="0" algn="ctr">
              <a:buNone/>
            </a:pPr>
            <a:endParaRPr lang="en-US" sz="900" dirty="0"/>
          </a:p>
        </p:txBody>
      </p:sp>
      <p:sp>
        <p:nvSpPr>
          <p:cNvPr id="34" name="Shape 31"/>
          <p:cNvSpPr/>
          <p:nvPr/>
        </p:nvSpPr>
        <p:spPr>
          <a:xfrm>
            <a:off x="4446000" y="3744000"/>
            <a:ext cx="1287000" cy="1044000"/>
          </a:xfrm>
          <a:prstGeom prst="rect">
            <a:avLst/>
          </a:prstGeom>
          <a:solidFill>
            <a:srgbClr val="FFFFFF"/>
          </a:solidFill>
          <a:ln w="6985">
            <a:solidFill>
              <a:srgbClr val="202020"/>
            </a:solidFill>
            <a:prstDash val="solid"/>
          </a:ln>
        </p:spPr>
      </p:sp>
      <p:sp>
        <p:nvSpPr>
          <p:cNvPr id="35" name="Text 32"/>
          <p:cNvSpPr/>
          <p:nvPr/>
        </p:nvSpPr>
        <p:spPr>
          <a:xfrm>
            <a:off x="4507200" y="3783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6" name="Shape 33"/>
          <p:cNvSpPr/>
          <p:nvPr/>
        </p:nvSpPr>
        <p:spPr>
          <a:xfrm>
            <a:off x="5733000" y="3744000"/>
            <a:ext cx="1287000" cy="1044000"/>
          </a:xfrm>
          <a:prstGeom prst="rect">
            <a:avLst/>
          </a:prstGeom>
          <a:solidFill>
            <a:srgbClr val="FFFFFF"/>
          </a:solidFill>
          <a:ln w="6985">
            <a:solidFill>
              <a:srgbClr val="202020"/>
            </a:solidFill>
            <a:prstDash val="solid"/>
          </a:ln>
        </p:spPr>
      </p:sp>
      <p:sp>
        <p:nvSpPr>
          <p:cNvPr id="37" name="Text 34"/>
          <p:cNvSpPr/>
          <p:nvPr/>
        </p:nvSpPr>
        <p:spPr>
          <a:xfrm>
            <a:off x="5794200" y="3783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38" name="Shape 35"/>
          <p:cNvSpPr/>
          <p:nvPr/>
        </p:nvSpPr>
        <p:spPr>
          <a:xfrm>
            <a:off x="540000" y="4788000"/>
            <a:ext cx="1332000" cy="1044000"/>
          </a:xfrm>
          <a:prstGeom prst="rect">
            <a:avLst/>
          </a:prstGeom>
          <a:solidFill>
            <a:srgbClr val="0A2B6B"/>
          </a:solidFill>
          <a:ln w="6985">
            <a:solidFill>
              <a:srgbClr val="202020"/>
            </a:solidFill>
            <a:prstDash val="solid"/>
          </a:ln>
        </p:spPr>
      </p:sp>
      <p:sp>
        <p:nvSpPr>
          <p:cNvPr id="39" name="Text 36"/>
          <p:cNvSpPr/>
          <p:nvPr/>
        </p:nvSpPr>
        <p:spPr>
          <a:xfrm>
            <a:off x="601200" y="4827600"/>
            <a:ext cx="1209600" cy="964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Aides des fournisseurs d’énergie (CEE)</a:t>
            </a:r>
            <a:endParaRPr lang="en-US" sz="900" dirty="0"/>
          </a:p>
        </p:txBody>
      </p:sp>
      <p:sp>
        <p:nvSpPr>
          <p:cNvPr id="40" name="Shape 37"/>
          <p:cNvSpPr/>
          <p:nvPr/>
        </p:nvSpPr>
        <p:spPr>
          <a:xfrm>
            <a:off x="1872000" y="4788000"/>
            <a:ext cx="1287000" cy="1044000"/>
          </a:xfrm>
          <a:prstGeom prst="rect">
            <a:avLst/>
          </a:prstGeom>
          <a:solidFill>
            <a:srgbClr val="FFFFFF"/>
          </a:solidFill>
          <a:ln w="6985">
            <a:solidFill>
              <a:srgbClr val="202020"/>
            </a:solidFill>
            <a:prstDash val="solid"/>
          </a:ln>
        </p:spPr>
      </p:sp>
      <p:sp>
        <p:nvSpPr>
          <p:cNvPr id="41" name="Text 38"/>
          <p:cNvSpPr/>
          <p:nvPr/>
        </p:nvSpPr>
        <p:spPr>
          <a:xfrm>
            <a:off x="1933200" y="4827600"/>
            <a:ext cx="1164600" cy="964800"/>
          </a:xfrm>
          <a:prstGeom prst="rect">
            <a:avLst/>
          </a:prstGeom>
          <a:noFill/>
          <a:ln/>
        </p:spPr>
        <p:txBody>
          <a:bodyPr wrap="square" lIns="0" tIns="0" rIns="0" bIns="0" rtlCol="0" anchor="ctr"/>
          <a:lstStyle/>
          <a:p>
            <a:pPr marL="0" indent="0" algn="ctr">
              <a:buNone/>
            </a:pPr>
            <a:r>
              <a:rPr lang="en-US" sz="900" dirty="0">
                <a:solidFill>
                  <a:srgbClr val="1C1C1C"/>
                </a:solidFill>
                <a:latin typeface="Aptos" pitchFamily="34" charset="0"/>
                <a:ea typeface="Aptos" pitchFamily="34" charset="-122"/>
                <a:cs typeface="Aptos" pitchFamily="34" charset="-120"/>
              </a:rPr>
              <a:t>Sauf en cas de copropriétés en difficultés ou fragiles</a:t>
            </a:r>
            <a:endParaRPr lang="en-US" sz="900" dirty="0"/>
          </a:p>
        </p:txBody>
      </p:sp>
      <p:sp>
        <p:nvSpPr>
          <p:cNvPr id="42" name="Shape 39"/>
          <p:cNvSpPr/>
          <p:nvPr/>
        </p:nvSpPr>
        <p:spPr>
          <a:xfrm>
            <a:off x="3159000" y="4788000"/>
            <a:ext cx="1287000" cy="1044000"/>
          </a:xfrm>
          <a:prstGeom prst="rect">
            <a:avLst/>
          </a:prstGeom>
          <a:solidFill>
            <a:srgbClr val="FFFFFF"/>
          </a:solidFill>
          <a:ln w="6985">
            <a:solidFill>
              <a:srgbClr val="202020"/>
            </a:solidFill>
            <a:prstDash val="solid"/>
          </a:ln>
        </p:spPr>
      </p:sp>
      <p:sp>
        <p:nvSpPr>
          <p:cNvPr id="43" name="Text 40"/>
          <p:cNvSpPr/>
          <p:nvPr/>
        </p:nvSpPr>
        <p:spPr>
          <a:xfrm>
            <a:off x="3220200" y="4827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44" name="Shape 41"/>
          <p:cNvSpPr/>
          <p:nvPr/>
        </p:nvSpPr>
        <p:spPr>
          <a:xfrm>
            <a:off x="4446000" y="4788000"/>
            <a:ext cx="1287000" cy="1044000"/>
          </a:xfrm>
          <a:prstGeom prst="rect">
            <a:avLst/>
          </a:prstGeom>
          <a:solidFill>
            <a:srgbClr val="D9EAF7"/>
          </a:solidFill>
          <a:ln w="6985">
            <a:solidFill>
              <a:srgbClr val="202020"/>
            </a:solidFill>
            <a:prstDash val="solid"/>
          </a:ln>
        </p:spPr>
      </p:sp>
      <p:sp>
        <p:nvSpPr>
          <p:cNvPr id="45" name="Text 42"/>
          <p:cNvSpPr/>
          <p:nvPr/>
        </p:nvSpPr>
        <p:spPr>
          <a:xfrm>
            <a:off x="4507200" y="4827600"/>
            <a:ext cx="1164600" cy="964800"/>
          </a:xfrm>
          <a:prstGeom prst="rect">
            <a:avLst/>
          </a:prstGeom>
          <a:noFill/>
          <a:ln/>
        </p:spPr>
        <p:txBody>
          <a:bodyPr wrap="square" lIns="0" tIns="0" rIns="0" bIns="0" rtlCol="0" anchor="ctr"/>
          <a:lstStyle/>
          <a:p>
            <a:pPr marL="0" indent="0" algn="ctr">
              <a:buNone/>
            </a:pPr>
            <a:endParaRPr lang="en-US" sz="900" dirty="0"/>
          </a:p>
        </p:txBody>
      </p:sp>
      <p:sp>
        <p:nvSpPr>
          <p:cNvPr id="46" name="Shape 43"/>
          <p:cNvSpPr/>
          <p:nvPr/>
        </p:nvSpPr>
        <p:spPr>
          <a:xfrm>
            <a:off x="5733000" y="4788000"/>
            <a:ext cx="1287000" cy="1044000"/>
          </a:xfrm>
          <a:prstGeom prst="rect">
            <a:avLst/>
          </a:prstGeom>
          <a:solidFill>
            <a:srgbClr val="FFFFFF"/>
          </a:solidFill>
          <a:ln w="6985">
            <a:solidFill>
              <a:srgbClr val="202020"/>
            </a:solidFill>
            <a:prstDash val="solid"/>
          </a:ln>
        </p:spPr>
      </p:sp>
      <p:sp>
        <p:nvSpPr>
          <p:cNvPr id="47" name="Text 44"/>
          <p:cNvSpPr/>
          <p:nvPr/>
        </p:nvSpPr>
        <p:spPr>
          <a:xfrm>
            <a:off x="5794200" y="4827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48" name="Shape 45"/>
          <p:cNvSpPr/>
          <p:nvPr/>
        </p:nvSpPr>
        <p:spPr>
          <a:xfrm>
            <a:off x="540000" y="5832000"/>
            <a:ext cx="1332000" cy="1044000"/>
          </a:xfrm>
          <a:prstGeom prst="rect">
            <a:avLst/>
          </a:prstGeom>
          <a:solidFill>
            <a:srgbClr val="0A2B6B"/>
          </a:solidFill>
          <a:ln w="6985">
            <a:solidFill>
              <a:srgbClr val="202020"/>
            </a:solidFill>
            <a:prstDash val="solid"/>
          </a:ln>
        </p:spPr>
      </p:sp>
      <p:sp>
        <p:nvSpPr>
          <p:cNvPr id="49" name="Text 46"/>
          <p:cNvSpPr/>
          <p:nvPr/>
        </p:nvSpPr>
        <p:spPr>
          <a:xfrm>
            <a:off x="601200" y="5871600"/>
            <a:ext cx="1209600" cy="964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Éco-Prêt à taux zéro</a:t>
            </a:r>
            <a:endParaRPr lang="en-US" sz="900" dirty="0"/>
          </a:p>
        </p:txBody>
      </p:sp>
      <p:sp>
        <p:nvSpPr>
          <p:cNvPr id="50" name="Shape 47"/>
          <p:cNvSpPr/>
          <p:nvPr/>
        </p:nvSpPr>
        <p:spPr>
          <a:xfrm>
            <a:off x="1872000" y="5832000"/>
            <a:ext cx="1287000" cy="1044000"/>
          </a:xfrm>
          <a:prstGeom prst="rect">
            <a:avLst/>
          </a:prstGeom>
          <a:solidFill>
            <a:srgbClr val="FFFFFF"/>
          </a:solidFill>
          <a:ln w="6985">
            <a:solidFill>
              <a:srgbClr val="202020"/>
            </a:solidFill>
            <a:prstDash val="solid"/>
          </a:ln>
        </p:spPr>
      </p:sp>
      <p:sp>
        <p:nvSpPr>
          <p:cNvPr id="51" name="Text 48"/>
          <p:cNvSpPr/>
          <p:nvPr/>
        </p:nvSpPr>
        <p:spPr>
          <a:xfrm>
            <a:off x="1933200" y="5871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2" name="Shape 49"/>
          <p:cNvSpPr/>
          <p:nvPr/>
        </p:nvSpPr>
        <p:spPr>
          <a:xfrm>
            <a:off x="3159000" y="5832000"/>
            <a:ext cx="1287000" cy="1044000"/>
          </a:xfrm>
          <a:prstGeom prst="rect">
            <a:avLst/>
          </a:prstGeom>
          <a:solidFill>
            <a:srgbClr val="FFFFFF"/>
          </a:solidFill>
          <a:ln w="6985">
            <a:solidFill>
              <a:srgbClr val="202020"/>
            </a:solidFill>
            <a:prstDash val="solid"/>
          </a:ln>
        </p:spPr>
      </p:sp>
      <p:sp>
        <p:nvSpPr>
          <p:cNvPr id="53" name="Text 50"/>
          <p:cNvSpPr/>
          <p:nvPr/>
        </p:nvSpPr>
        <p:spPr>
          <a:xfrm>
            <a:off x="3220200" y="5871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4" name="Shape 51"/>
          <p:cNvSpPr/>
          <p:nvPr/>
        </p:nvSpPr>
        <p:spPr>
          <a:xfrm>
            <a:off x="4446000" y="5832000"/>
            <a:ext cx="1287000" cy="1044000"/>
          </a:xfrm>
          <a:prstGeom prst="rect">
            <a:avLst/>
          </a:prstGeom>
          <a:solidFill>
            <a:srgbClr val="FFFFFF"/>
          </a:solidFill>
          <a:ln w="6985">
            <a:solidFill>
              <a:srgbClr val="202020"/>
            </a:solidFill>
            <a:prstDash val="solid"/>
          </a:ln>
        </p:spPr>
      </p:sp>
      <p:sp>
        <p:nvSpPr>
          <p:cNvPr id="55" name="Text 52"/>
          <p:cNvSpPr/>
          <p:nvPr/>
        </p:nvSpPr>
        <p:spPr>
          <a:xfrm>
            <a:off x="4507200" y="5871600"/>
            <a:ext cx="1164600" cy="964800"/>
          </a:xfrm>
          <a:prstGeom prst="rect">
            <a:avLst/>
          </a:prstGeom>
          <a:noFill/>
          <a:ln/>
        </p:spPr>
        <p:txBody>
          <a:bodyPr wrap="square" lIns="0" tIns="0" rIns="0" bIns="0" rtlCol="0" anchor="ctr"/>
          <a:lstStyle/>
          <a:p>
            <a:pPr marL="0" indent="0" algn="ctr">
              <a:buNone/>
            </a:pPr>
            <a:r>
              <a:rPr lang="en-US" sz="1500" b="1" dirty="0">
                <a:solidFill>
                  <a:srgbClr val="00B55A"/>
                </a:solidFill>
                <a:latin typeface="Aptos" pitchFamily="34" charset="0"/>
                <a:ea typeface="Aptos" pitchFamily="34" charset="-122"/>
                <a:cs typeface="Aptos" pitchFamily="34" charset="-120"/>
              </a:rPr>
              <a:t>✓</a:t>
            </a:r>
            <a:endParaRPr lang="en-US" sz="1500" dirty="0"/>
          </a:p>
        </p:txBody>
      </p:sp>
      <p:sp>
        <p:nvSpPr>
          <p:cNvPr id="56" name="Shape 53"/>
          <p:cNvSpPr/>
          <p:nvPr/>
        </p:nvSpPr>
        <p:spPr>
          <a:xfrm>
            <a:off x="5733000" y="5832000"/>
            <a:ext cx="1287000" cy="1044000"/>
          </a:xfrm>
          <a:prstGeom prst="rect">
            <a:avLst/>
          </a:prstGeom>
          <a:solidFill>
            <a:srgbClr val="D9EAF7"/>
          </a:solidFill>
          <a:ln w="6985">
            <a:solidFill>
              <a:srgbClr val="202020"/>
            </a:solidFill>
            <a:prstDash val="solid"/>
          </a:ln>
        </p:spPr>
      </p:sp>
      <p:sp>
        <p:nvSpPr>
          <p:cNvPr id="57" name="Text 54"/>
          <p:cNvSpPr/>
          <p:nvPr/>
        </p:nvSpPr>
        <p:spPr>
          <a:xfrm>
            <a:off x="5794200" y="5871600"/>
            <a:ext cx="1164600" cy="964800"/>
          </a:xfrm>
          <a:prstGeom prst="rect">
            <a:avLst/>
          </a:prstGeom>
          <a:noFill/>
          <a:ln/>
        </p:spPr>
        <p:txBody>
          <a:bodyPr wrap="square" lIns="0" tIns="0" rIns="0" bIns="0" rtlCol="0" anchor="ctr"/>
          <a:lstStyle/>
          <a:p>
            <a:pPr marL="0" indent="0" algn="ctr">
              <a:buNone/>
            </a:pPr>
            <a:endParaRPr lang="en-US" sz="900" dirty="0"/>
          </a:p>
        </p:txBody>
      </p:sp>
      <p:sp>
        <p:nvSpPr>
          <p:cNvPr id="58" name="Text 55"/>
          <p:cNvSpPr/>
          <p:nvPr/>
        </p:nvSpPr>
        <p:spPr>
          <a:xfrm>
            <a:off x="648000" y="7164000"/>
            <a:ext cx="6264000" cy="213840"/>
          </a:xfrm>
          <a:prstGeom prst="rect">
            <a:avLst/>
          </a:prstGeom>
          <a:noFill/>
          <a:ln/>
        </p:spPr>
        <p:txBody>
          <a:bodyPr wrap="square" lIns="0" tIns="0" rIns="0" bIns="0" rtlCol="0" anchor="t"/>
          <a:lstStyle/>
          <a:p>
            <a:pPr marL="0" indent="0">
              <a:buNone/>
            </a:pPr>
            <a:r>
              <a:rPr lang="en-US" sz="900" i="1" dirty="0">
                <a:solidFill>
                  <a:srgbClr val="6E7480"/>
                </a:solidFill>
                <a:latin typeface="Aptos" pitchFamily="34" charset="0"/>
                <a:ea typeface="Aptos" pitchFamily="34" charset="-122"/>
                <a:cs typeface="Aptos" pitchFamily="34" charset="-120"/>
              </a:rPr>
              <a:t>Sauf en cas de copropriétés en difficultés ou fragiles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marL="0" indent="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Shape 5"/>
          <p:cNvSpPr/>
          <p:nvPr/>
        </p:nvSpPr>
        <p:spPr>
          <a:xfrm>
            <a:off x="540000" y="1872000"/>
            <a:ext cx="900000" cy="1242000"/>
          </a:xfrm>
          <a:prstGeom prst="rect">
            <a:avLst/>
          </a:prstGeom>
          <a:solidFill>
            <a:srgbClr val="00B55A"/>
          </a:solidFill>
          <a:ln w="6985">
            <a:solidFill>
              <a:srgbClr val="202020"/>
            </a:solidFill>
            <a:prstDash val="solid"/>
          </a:ln>
        </p:spPr>
      </p:sp>
      <p:sp>
        <p:nvSpPr>
          <p:cNvPr id="9" name="Text 6"/>
          <p:cNvSpPr/>
          <p:nvPr/>
        </p:nvSpPr>
        <p:spPr>
          <a:xfrm>
            <a:off x="601200" y="191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1 - Réalisation du PPPT et du DPE collectif</a:t>
            </a:r>
            <a:endParaRPr lang="en-US" sz="900" dirty="0"/>
          </a:p>
        </p:txBody>
      </p:sp>
      <p:sp>
        <p:nvSpPr>
          <p:cNvPr id="10" name="Shape 7"/>
          <p:cNvSpPr/>
          <p:nvPr/>
        </p:nvSpPr>
        <p:spPr>
          <a:xfrm>
            <a:off x="1440000" y="1872000"/>
            <a:ext cx="2376000" cy="1242000"/>
          </a:xfrm>
          <a:prstGeom prst="rect">
            <a:avLst/>
          </a:prstGeom>
          <a:solidFill>
            <a:srgbClr val="FFFFFF"/>
          </a:solidFill>
          <a:ln w="6985">
            <a:solidFill>
              <a:srgbClr val="202020"/>
            </a:solidFill>
            <a:prstDash val="solid"/>
          </a:ln>
        </p:spPr>
      </p:sp>
      <p:sp>
        <p:nvSpPr>
          <p:cNvPr id="11" name="Text 8"/>
          <p:cNvSpPr/>
          <p:nvPr/>
        </p:nvSpPr>
        <p:spPr>
          <a:xfrm>
            <a:off x="1501200" y="191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00" dirty="0"/>
          </a:p>
        </p:txBody>
      </p:sp>
      <p:sp>
        <p:nvSpPr>
          <p:cNvPr id="12" name="Shape 9"/>
          <p:cNvSpPr/>
          <p:nvPr/>
        </p:nvSpPr>
        <p:spPr>
          <a:xfrm>
            <a:off x="3816000" y="1872000"/>
            <a:ext cx="900000" cy="1242000"/>
          </a:xfrm>
          <a:prstGeom prst="rect">
            <a:avLst/>
          </a:prstGeom>
          <a:solidFill>
            <a:srgbClr val="00B55A"/>
          </a:solidFill>
          <a:ln w="6985">
            <a:solidFill>
              <a:srgbClr val="202020"/>
            </a:solidFill>
            <a:prstDash val="solid"/>
          </a:ln>
        </p:spPr>
      </p:sp>
      <p:sp>
        <p:nvSpPr>
          <p:cNvPr id="13" name="Text 10"/>
          <p:cNvSpPr/>
          <p:nvPr/>
        </p:nvSpPr>
        <p:spPr>
          <a:xfrm>
            <a:off x="3877200" y="191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2 - Réalisation de l’audit énergétique</a:t>
            </a:r>
            <a:endParaRPr lang="en-US" sz="900" dirty="0"/>
          </a:p>
        </p:txBody>
      </p:sp>
      <p:sp>
        <p:nvSpPr>
          <p:cNvPr id="14" name="Shape 11"/>
          <p:cNvSpPr/>
          <p:nvPr/>
        </p:nvSpPr>
        <p:spPr>
          <a:xfrm>
            <a:off x="4716000" y="1872000"/>
            <a:ext cx="2376000" cy="1242000"/>
          </a:xfrm>
          <a:prstGeom prst="rect">
            <a:avLst/>
          </a:prstGeom>
          <a:solidFill>
            <a:srgbClr val="FFFFFF"/>
          </a:solidFill>
          <a:ln w="6985">
            <a:solidFill>
              <a:srgbClr val="202020"/>
            </a:solidFill>
            <a:prstDash val="solid"/>
          </a:ln>
        </p:spPr>
      </p:sp>
      <p:sp>
        <p:nvSpPr>
          <p:cNvPr id="15" name="Text 12"/>
          <p:cNvSpPr/>
          <p:nvPr/>
        </p:nvSpPr>
        <p:spPr>
          <a:xfrm>
            <a:off x="4777200" y="191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00" dirty="0"/>
          </a:p>
        </p:txBody>
      </p:sp>
      <p:sp>
        <p:nvSpPr>
          <p:cNvPr id="16" name="Shape 13"/>
          <p:cNvSpPr/>
          <p:nvPr/>
        </p:nvSpPr>
        <p:spPr>
          <a:xfrm>
            <a:off x="540000" y="3132000"/>
            <a:ext cx="900000" cy="1242000"/>
          </a:xfrm>
          <a:prstGeom prst="rect">
            <a:avLst/>
          </a:prstGeom>
          <a:solidFill>
            <a:srgbClr val="00B55A"/>
          </a:solidFill>
          <a:ln w="6985">
            <a:solidFill>
              <a:srgbClr val="202020"/>
            </a:solidFill>
            <a:prstDash val="solid"/>
          </a:ln>
        </p:spPr>
      </p:sp>
      <p:sp>
        <p:nvSpPr>
          <p:cNvPr id="17" name="Text 14"/>
          <p:cNvSpPr/>
          <p:nvPr/>
        </p:nvSpPr>
        <p:spPr>
          <a:xfrm>
            <a:off x="601200" y="317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3 - Choix d’un scénario de rénovation</a:t>
            </a:r>
            <a:endParaRPr lang="en-US" sz="900" dirty="0"/>
          </a:p>
        </p:txBody>
      </p:sp>
      <p:sp>
        <p:nvSpPr>
          <p:cNvPr id="18" name="Shape 15"/>
          <p:cNvSpPr/>
          <p:nvPr/>
        </p:nvSpPr>
        <p:spPr>
          <a:xfrm>
            <a:off x="1440000" y="3132000"/>
            <a:ext cx="2376000" cy="1242000"/>
          </a:xfrm>
          <a:prstGeom prst="rect">
            <a:avLst/>
          </a:prstGeom>
          <a:solidFill>
            <a:srgbClr val="FFFFFF"/>
          </a:solidFill>
          <a:ln w="6985">
            <a:solidFill>
              <a:srgbClr val="202020"/>
            </a:solidFill>
            <a:prstDash val="solid"/>
          </a:ln>
        </p:spPr>
      </p:sp>
      <p:sp>
        <p:nvSpPr>
          <p:cNvPr id="19" name="Text 16"/>
          <p:cNvSpPr/>
          <p:nvPr/>
        </p:nvSpPr>
        <p:spPr>
          <a:xfrm>
            <a:off x="1501200" y="317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00" dirty="0"/>
          </a:p>
        </p:txBody>
      </p:sp>
      <p:sp>
        <p:nvSpPr>
          <p:cNvPr id="20" name="Shape 17"/>
          <p:cNvSpPr/>
          <p:nvPr/>
        </p:nvSpPr>
        <p:spPr>
          <a:xfrm>
            <a:off x="3816000" y="3132000"/>
            <a:ext cx="900000" cy="1242000"/>
          </a:xfrm>
          <a:prstGeom prst="rect">
            <a:avLst/>
          </a:prstGeom>
          <a:solidFill>
            <a:srgbClr val="00B55A"/>
          </a:solidFill>
          <a:ln w="6985">
            <a:solidFill>
              <a:srgbClr val="202020"/>
            </a:solidFill>
            <a:prstDash val="solid"/>
          </a:ln>
        </p:spPr>
      </p:sp>
      <p:sp>
        <p:nvSpPr>
          <p:cNvPr id="21" name="Text 18"/>
          <p:cNvSpPr/>
          <p:nvPr/>
        </p:nvSpPr>
        <p:spPr>
          <a:xfrm>
            <a:off x="3877200" y="317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4 - Désignation d’un Assistant à Maîtrise d’Ouvrage (AMO)</a:t>
            </a:r>
            <a:endParaRPr lang="en-US" sz="900" dirty="0"/>
          </a:p>
        </p:txBody>
      </p:sp>
      <p:sp>
        <p:nvSpPr>
          <p:cNvPr id="22" name="Shape 19"/>
          <p:cNvSpPr/>
          <p:nvPr/>
        </p:nvSpPr>
        <p:spPr>
          <a:xfrm>
            <a:off x="4716000" y="3132000"/>
            <a:ext cx="2376000" cy="1242000"/>
          </a:xfrm>
          <a:prstGeom prst="rect">
            <a:avLst/>
          </a:prstGeom>
          <a:solidFill>
            <a:srgbClr val="FFFFFF"/>
          </a:solidFill>
          <a:ln w="6985">
            <a:solidFill>
              <a:srgbClr val="202020"/>
            </a:solidFill>
            <a:prstDash val="solid"/>
          </a:ln>
        </p:spPr>
      </p:sp>
      <p:sp>
        <p:nvSpPr>
          <p:cNvPr id="23" name="Text 20"/>
          <p:cNvSpPr/>
          <p:nvPr/>
        </p:nvSpPr>
        <p:spPr>
          <a:xfrm>
            <a:off x="4777200" y="317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00" dirty="0"/>
          </a:p>
        </p:txBody>
      </p:sp>
      <p:sp>
        <p:nvSpPr>
          <p:cNvPr id="24" name="Shape 21"/>
          <p:cNvSpPr/>
          <p:nvPr/>
        </p:nvSpPr>
        <p:spPr>
          <a:xfrm>
            <a:off x="540000" y="4392000"/>
            <a:ext cx="900000" cy="1242000"/>
          </a:xfrm>
          <a:prstGeom prst="rect">
            <a:avLst/>
          </a:prstGeom>
          <a:solidFill>
            <a:srgbClr val="00B55A"/>
          </a:solidFill>
          <a:ln w="6985">
            <a:solidFill>
              <a:srgbClr val="202020"/>
            </a:solidFill>
            <a:prstDash val="solid"/>
          </a:ln>
        </p:spPr>
      </p:sp>
      <p:sp>
        <p:nvSpPr>
          <p:cNvPr id="25" name="Text 22"/>
          <p:cNvSpPr/>
          <p:nvPr/>
        </p:nvSpPr>
        <p:spPr>
          <a:xfrm>
            <a:off x="601200" y="443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5 - Désignation d’un Maître d’Œuvre (MOE)</a:t>
            </a:r>
            <a:endParaRPr lang="en-US" sz="900" dirty="0"/>
          </a:p>
        </p:txBody>
      </p:sp>
      <p:sp>
        <p:nvSpPr>
          <p:cNvPr id="26" name="Shape 23"/>
          <p:cNvSpPr/>
          <p:nvPr/>
        </p:nvSpPr>
        <p:spPr>
          <a:xfrm>
            <a:off x="1440000" y="4392000"/>
            <a:ext cx="2376000" cy="1242000"/>
          </a:xfrm>
          <a:prstGeom prst="rect">
            <a:avLst/>
          </a:prstGeom>
          <a:solidFill>
            <a:srgbClr val="FFFFFF"/>
          </a:solidFill>
          <a:ln w="6985">
            <a:solidFill>
              <a:srgbClr val="202020"/>
            </a:solidFill>
            <a:prstDash val="solid"/>
          </a:ln>
        </p:spPr>
      </p:sp>
      <p:sp>
        <p:nvSpPr>
          <p:cNvPr id="27" name="Text 24"/>
          <p:cNvSpPr/>
          <p:nvPr/>
        </p:nvSpPr>
        <p:spPr>
          <a:xfrm>
            <a:off x="1501200" y="443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00" dirty="0"/>
          </a:p>
        </p:txBody>
      </p:sp>
      <p:sp>
        <p:nvSpPr>
          <p:cNvPr id="28" name="Shape 25"/>
          <p:cNvSpPr/>
          <p:nvPr/>
        </p:nvSpPr>
        <p:spPr>
          <a:xfrm>
            <a:off x="3816000" y="4392000"/>
            <a:ext cx="900000" cy="1242000"/>
          </a:xfrm>
          <a:prstGeom prst="rect">
            <a:avLst/>
          </a:prstGeom>
          <a:solidFill>
            <a:srgbClr val="00B55A"/>
          </a:solidFill>
          <a:ln w="6985">
            <a:solidFill>
              <a:srgbClr val="202020"/>
            </a:solidFill>
            <a:prstDash val="solid"/>
          </a:ln>
        </p:spPr>
      </p:sp>
      <p:sp>
        <p:nvSpPr>
          <p:cNvPr id="29" name="Text 26"/>
          <p:cNvSpPr/>
          <p:nvPr/>
        </p:nvSpPr>
        <p:spPr>
          <a:xfrm>
            <a:off x="3877200" y="443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6 - Consultation des entreprises</a:t>
            </a:r>
            <a:endParaRPr lang="en-US" sz="900" dirty="0"/>
          </a:p>
        </p:txBody>
      </p:sp>
      <p:sp>
        <p:nvSpPr>
          <p:cNvPr id="30" name="Shape 27"/>
          <p:cNvSpPr/>
          <p:nvPr/>
        </p:nvSpPr>
        <p:spPr>
          <a:xfrm>
            <a:off x="4716000" y="4392000"/>
            <a:ext cx="2376000" cy="1242000"/>
          </a:xfrm>
          <a:prstGeom prst="rect">
            <a:avLst/>
          </a:prstGeom>
          <a:solidFill>
            <a:srgbClr val="FFFFFF"/>
          </a:solidFill>
          <a:ln w="6985">
            <a:solidFill>
              <a:srgbClr val="202020"/>
            </a:solidFill>
            <a:prstDash val="solid"/>
          </a:ln>
        </p:spPr>
      </p:sp>
      <p:sp>
        <p:nvSpPr>
          <p:cNvPr id="31" name="Text 28"/>
          <p:cNvSpPr/>
          <p:nvPr/>
        </p:nvSpPr>
        <p:spPr>
          <a:xfrm>
            <a:off x="4777200" y="443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00" dirty="0"/>
          </a:p>
        </p:txBody>
      </p:sp>
      <p:sp>
        <p:nvSpPr>
          <p:cNvPr id="32" name="Shape 29"/>
          <p:cNvSpPr/>
          <p:nvPr/>
        </p:nvSpPr>
        <p:spPr>
          <a:xfrm>
            <a:off x="540000" y="5652000"/>
            <a:ext cx="900000" cy="1242000"/>
          </a:xfrm>
          <a:prstGeom prst="rect">
            <a:avLst/>
          </a:prstGeom>
          <a:solidFill>
            <a:srgbClr val="00B55A"/>
          </a:solidFill>
          <a:ln w="6985">
            <a:solidFill>
              <a:srgbClr val="202020"/>
            </a:solidFill>
            <a:prstDash val="solid"/>
          </a:ln>
        </p:spPr>
      </p:sp>
      <p:sp>
        <p:nvSpPr>
          <p:cNvPr id="33" name="Text 30"/>
          <p:cNvSpPr/>
          <p:nvPr/>
        </p:nvSpPr>
        <p:spPr>
          <a:xfrm>
            <a:off x="601200" y="569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7 - Finalisation du plan de financement</a:t>
            </a:r>
            <a:endParaRPr lang="en-US" sz="900" dirty="0"/>
          </a:p>
        </p:txBody>
      </p:sp>
      <p:sp>
        <p:nvSpPr>
          <p:cNvPr id="34" name="Shape 31"/>
          <p:cNvSpPr/>
          <p:nvPr/>
        </p:nvSpPr>
        <p:spPr>
          <a:xfrm>
            <a:off x="1440000" y="5652000"/>
            <a:ext cx="2376000" cy="1242000"/>
          </a:xfrm>
          <a:prstGeom prst="rect">
            <a:avLst/>
          </a:prstGeom>
          <a:solidFill>
            <a:srgbClr val="FFFFFF"/>
          </a:solidFill>
          <a:ln w="6985">
            <a:solidFill>
              <a:srgbClr val="202020"/>
            </a:solidFill>
            <a:prstDash val="solid"/>
          </a:ln>
        </p:spPr>
      </p:sp>
      <p:sp>
        <p:nvSpPr>
          <p:cNvPr id="35" name="Text 32"/>
          <p:cNvSpPr/>
          <p:nvPr/>
        </p:nvSpPr>
        <p:spPr>
          <a:xfrm>
            <a:off x="1501200" y="569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00" dirty="0"/>
          </a:p>
        </p:txBody>
      </p:sp>
      <p:sp>
        <p:nvSpPr>
          <p:cNvPr id="36" name="Shape 33"/>
          <p:cNvSpPr/>
          <p:nvPr/>
        </p:nvSpPr>
        <p:spPr>
          <a:xfrm>
            <a:off x="3816000" y="5652000"/>
            <a:ext cx="900000" cy="1242000"/>
          </a:xfrm>
          <a:prstGeom prst="rect">
            <a:avLst/>
          </a:prstGeom>
          <a:solidFill>
            <a:srgbClr val="00B55A"/>
          </a:solidFill>
          <a:ln w="6985">
            <a:solidFill>
              <a:srgbClr val="202020"/>
            </a:solidFill>
            <a:prstDash val="solid"/>
          </a:ln>
        </p:spPr>
      </p:sp>
      <p:sp>
        <p:nvSpPr>
          <p:cNvPr id="37" name="Text 34"/>
          <p:cNvSpPr/>
          <p:nvPr/>
        </p:nvSpPr>
        <p:spPr>
          <a:xfrm>
            <a:off x="3877200" y="569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8 - Vote des travaux en assemblée générale</a:t>
            </a:r>
            <a:endParaRPr lang="en-US" sz="900" dirty="0"/>
          </a:p>
        </p:txBody>
      </p:sp>
      <p:sp>
        <p:nvSpPr>
          <p:cNvPr id="38" name="Shape 35"/>
          <p:cNvSpPr/>
          <p:nvPr/>
        </p:nvSpPr>
        <p:spPr>
          <a:xfrm>
            <a:off x="4716000" y="5652000"/>
            <a:ext cx="2376000" cy="1242000"/>
          </a:xfrm>
          <a:prstGeom prst="rect">
            <a:avLst/>
          </a:prstGeom>
          <a:solidFill>
            <a:srgbClr val="FFFFFF"/>
          </a:solidFill>
          <a:ln w="6985">
            <a:solidFill>
              <a:srgbClr val="202020"/>
            </a:solidFill>
            <a:prstDash val="solid"/>
          </a:ln>
        </p:spPr>
      </p:sp>
      <p:sp>
        <p:nvSpPr>
          <p:cNvPr id="39" name="Text 36"/>
          <p:cNvSpPr/>
          <p:nvPr/>
        </p:nvSpPr>
        <p:spPr>
          <a:xfrm>
            <a:off x="4777200" y="569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00" dirty="0"/>
          </a:p>
        </p:txBody>
      </p:sp>
      <p:sp>
        <p:nvSpPr>
          <p:cNvPr id="40" name="Shape 37"/>
          <p:cNvSpPr/>
          <p:nvPr/>
        </p:nvSpPr>
        <p:spPr>
          <a:xfrm>
            <a:off x="540000" y="6912000"/>
            <a:ext cx="900000" cy="1242000"/>
          </a:xfrm>
          <a:prstGeom prst="rect">
            <a:avLst/>
          </a:prstGeom>
          <a:solidFill>
            <a:srgbClr val="00B55A"/>
          </a:solidFill>
          <a:ln w="6985">
            <a:solidFill>
              <a:srgbClr val="202020"/>
            </a:solidFill>
            <a:prstDash val="solid"/>
          </a:ln>
        </p:spPr>
      </p:sp>
      <p:sp>
        <p:nvSpPr>
          <p:cNvPr id="41" name="Text 38"/>
          <p:cNvSpPr/>
          <p:nvPr/>
        </p:nvSpPr>
        <p:spPr>
          <a:xfrm>
            <a:off x="601200" y="695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9 - Dépôt et validation des demandes d’aides</a:t>
            </a:r>
            <a:endParaRPr lang="en-US" sz="900" dirty="0"/>
          </a:p>
        </p:txBody>
      </p:sp>
      <p:sp>
        <p:nvSpPr>
          <p:cNvPr id="42" name="Shape 39"/>
          <p:cNvSpPr/>
          <p:nvPr/>
        </p:nvSpPr>
        <p:spPr>
          <a:xfrm>
            <a:off x="1440000" y="6912000"/>
            <a:ext cx="2376000" cy="1242000"/>
          </a:xfrm>
          <a:prstGeom prst="rect">
            <a:avLst/>
          </a:prstGeom>
          <a:solidFill>
            <a:srgbClr val="FFFFFF"/>
          </a:solidFill>
          <a:ln w="6985">
            <a:solidFill>
              <a:srgbClr val="202020"/>
            </a:solidFill>
            <a:prstDash val="solid"/>
          </a:ln>
        </p:spPr>
      </p:sp>
      <p:sp>
        <p:nvSpPr>
          <p:cNvPr id="43" name="Text 40"/>
          <p:cNvSpPr/>
          <p:nvPr/>
        </p:nvSpPr>
        <p:spPr>
          <a:xfrm>
            <a:off x="1501200" y="695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00" dirty="0"/>
          </a:p>
        </p:txBody>
      </p:sp>
      <p:sp>
        <p:nvSpPr>
          <p:cNvPr id="44" name="Shape 41"/>
          <p:cNvSpPr/>
          <p:nvPr/>
        </p:nvSpPr>
        <p:spPr>
          <a:xfrm>
            <a:off x="3816000" y="6912000"/>
            <a:ext cx="900000" cy="1242000"/>
          </a:xfrm>
          <a:prstGeom prst="rect">
            <a:avLst/>
          </a:prstGeom>
          <a:solidFill>
            <a:srgbClr val="00B55A"/>
          </a:solidFill>
          <a:ln w="6985">
            <a:solidFill>
              <a:srgbClr val="202020"/>
            </a:solidFill>
            <a:prstDash val="solid"/>
          </a:ln>
        </p:spPr>
      </p:sp>
      <p:sp>
        <p:nvSpPr>
          <p:cNvPr id="45" name="Text 42"/>
          <p:cNvSpPr/>
          <p:nvPr/>
        </p:nvSpPr>
        <p:spPr>
          <a:xfrm>
            <a:off x="3877200" y="695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10 - Réalisation et suivi des travaux</a:t>
            </a:r>
            <a:endParaRPr lang="en-US" sz="900" dirty="0"/>
          </a:p>
        </p:txBody>
      </p:sp>
      <p:sp>
        <p:nvSpPr>
          <p:cNvPr id="46" name="Shape 43"/>
          <p:cNvSpPr/>
          <p:nvPr/>
        </p:nvSpPr>
        <p:spPr>
          <a:xfrm>
            <a:off x="4716000" y="6912000"/>
            <a:ext cx="2376000" cy="1242000"/>
          </a:xfrm>
          <a:prstGeom prst="rect">
            <a:avLst/>
          </a:prstGeom>
          <a:solidFill>
            <a:srgbClr val="FFFFFF"/>
          </a:solidFill>
          <a:ln w="6985">
            <a:solidFill>
              <a:srgbClr val="202020"/>
            </a:solidFill>
            <a:prstDash val="solid"/>
          </a:ln>
        </p:spPr>
      </p:sp>
      <p:sp>
        <p:nvSpPr>
          <p:cNvPr id="47" name="Text 44"/>
          <p:cNvSpPr/>
          <p:nvPr/>
        </p:nvSpPr>
        <p:spPr>
          <a:xfrm>
            <a:off x="4777200" y="695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00" dirty="0"/>
          </a:p>
        </p:txBody>
      </p:sp>
      <p:sp>
        <p:nvSpPr>
          <p:cNvPr id="48" name="Shape 45"/>
          <p:cNvSpPr/>
          <p:nvPr/>
        </p:nvSpPr>
        <p:spPr>
          <a:xfrm>
            <a:off x="540000" y="8172000"/>
            <a:ext cx="900000" cy="1242000"/>
          </a:xfrm>
          <a:prstGeom prst="rect">
            <a:avLst/>
          </a:prstGeom>
          <a:solidFill>
            <a:srgbClr val="00B55A"/>
          </a:solidFill>
          <a:ln w="6985">
            <a:solidFill>
              <a:srgbClr val="202020"/>
            </a:solidFill>
            <a:prstDash val="solid"/>
          </a:ln>
        </p:spPr>
      </p:sp>
      <p:sp>
        <p:nvSpPr>
          <p:cNvPr id="49" name="Text 46"/>
          <p:cNvSpPr/>
          <p:nvPr/>
        </p:nvSpPr>
        <p:spPr>
          <a:xfrm>
            <a:off x="601200" y="821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11 - Réception des travaux et versement des aides</a:t>
            </a:r>
            <a:endParaRPr lang="en-US" sz="900" dirty="0"/>
          </a:p>
        </p:txBody>
      </p:sp>
      <p:sp>
        <p:nvSpPr>
          <p:cNvPr id="50" name="Shape 47"/>
          <p:cNvSpPr/>
          <p:nvPr/>
        </p:nvSpPr>
        <p:spPr>
          <a:xfrm>
            <a:off x="1440000" y="8172000"/>
            <a:ext cx="2376000" cy="1242000"/>
          </a:xfrm>
          <a:prstGeom prst="rect">
            <a:avLst/>
          </a:prstGeom>
          <a:solidFill>
            <a:srgbClr val="FFFFFF"/>
          </a:solidFill>
          <a:ln w="6985">
            <a:solidFill>
              <a:srgbClr val="202020"/>
            </a:solidFill>
            <a:prstDash val="solid"/>
          </a:ln>
        </p:spPr>
      </p:sp>
      <p:sp>
        <p:nvSpPr>
          <p:cNvPr id="51" name="Text 48"/>
          <p:cNvSpPr/>
          <p:nvPr/>
        </p:nvSpPr>
        <p:spPr>
          <a:xfrm>
            <a:off x="1501200" y="821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00" dirty="0"/>
          </a:p>
        </p:txBody>
      </p:sp>
      <p:sp>
        <p:nvSpPr>
          <p:cNvPr id="52" name="Shape 49"/>
          <p:cNvSpPr/>
          <p:nvPr/>
        </p:nvSpPr>
        <p:spPr>
          <a:xfrm>
            <a:off x="3816000" y="8172000"/>
            <a:ext cx="900000" cy="1242000"/>
          </a:xfrm>
          <a:prstGeom prst="rect">
            <a:avLst/>
          </a:prstGeom>
          <a:solidFill>
            <a:srgbClr val="00B55A"/>
          </a:solidFill>
          <a:ln w="6985">
            <a:solidFill>
              <a:srgbClr val="202020"/>
            </a:solidFill>
            <a:prstDash val="solid"/>
          </a:ln>
        </p:spPr>
      </p:sp>
      <p:sp>
        <p:nvSpPr>
          <p:cNvPr id="53" name="Text 50"/>
          <p:cNvSpPr/>
          <p:nvPr/>
        </p:nvSpPr>
        <p:spPr>
          <a:xfrm>
            <a:off x="3877200" y="8211600"/>
            <a:ext cx="777600" cy="1162800"/>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12 - Suivi des performances</a:t>
            </a:r>
            <a:endParaRPr lang="en-US" sz="900" dirty="0"/>
          </a:p>
        </p:txBody>
      </p:sp>
      <p:sp>
        <p:nvSpPr>
          <p:cNvPr id="54" name="Shape 51"/>
          <p:cNvSpPr/>
          <p:nvPr/>
        </p:nvSpPr>
        <p:spPr>
          <a:xfrm>
            <a:off x="4716000" y="8172000"/>
            <a:ext cx="2376000" cy="1242000"/>
          </a:xfrm>
          <a:prstGeom prst="rect">
            <a:avLst/>
          </a:prstGeom>
          <a:solidFill>
            <a:srgbClr val="FFFFFF"/>
          </a:solidFill>
          <a:ln w="6985">
            <a:solidFill>
              <a:srgbClr val="202020"/>
            </a:solidFill>
            <a:prstDash val="solid"/>
          </a:ln>
        </p:spPr>
      </p:sp>
      <p:sp>
        <p:nvSpPr>
          <p:cNvPr id="55" name="Text 52"/>
          <p:cNvSpPr/>
          <p:nvPr/>
        </p:nvSpPr>
        <p:spPr>
          <a:xfrm>
            <a:off x="4777200" y="8211600"/>
            <a:ext cx="2253600" cy="1162800"/>
          </a:xfrm>
          <a:prstGeom prst="rect">
            <a:avLst/>
          </a:prstGeom>
          <a:noFill/>
          <a:ln/>
        </p:spPr>
        <p:txBody>
          <a:bodyPr wrap="square" lIns="0" tIns="0" rIns="0" bIns="0" rtlCol="0" anchor="t"/>
          <a:lstStyle/>
          <a:p>
            <a:pPr marL="0" indent="0" algn="l">
              <a:buNone/>
            </a:pPr>
            <a:r>
              <a:rPr lang="en-US" sz="90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68000"/>
            <a:ext cx="6264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00" dirty="0"/>
          </a:p>
        </p:txBody>
      </p:sp>
      <p:sp>
        <p:nvSpPr>
          <p:cNvPr id="8" name="Text 5"/>
          <p:cNvSpPr/>
          <p:nvPr/>
        </p:nvSpPr>
        <p:spPr>
          <a:xfrm>
            <a:off x="540000" y="17812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540000" y="20124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00" dirty="0"/>
          </a:p>
        </p:txBody>
      </p:sp>
      <p:sp>
        <p:nvSpPr>
          <p:cNvPr id="10" name="Text 7"/>
          <p:cNvSpPr/>
          <p:nvPr/>
        </p:nvSpPr>
        <p:spPr>
          <a:xfrm>
            <a:off x="540000" y="23932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540000" y="26244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00" dirty="0"/>
          </a:p>
        </p:txBody>
      </p:sp>
      <p:sp>
        <p:nvSpPr>
          <p:cNvPr id="12" name="Text 9"/>
          <p:cNvSpPr/>
          <p:nvPr/>
        </p:nvSpPr>
        <p:spPr>
          <a:xfrm>
            <a:off x="540000" y="30052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540000" y="3236400"/>
            <a:ext cx="6480000" cy="51192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00" dirty="0"/>
          </a:p>
        </p:txBody>
      </p:sp>
      <p:sp>
        <p:nvSpPr>
          <p:cNvPr id="14" name="Text 11"/>
          <p:cNvSpPr/>
          <p:nvPr/>
        </p:nvSpPr>
        <p:spPr>
          <a:xfrm>
            <a:off x="540000" y="376632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540000" y="399744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00" dirty="0"/>
          </a:p>
        </p:txBody>
      </p:sp>
      <p:sp>
        <p:nvSpPr>
          <p:cNvPr id="16" name="Text 13"/>
          <p:cNvSpPr/>
          <p:nvPr/>
        </p:nvSpPr>
        <p:spPr>
          <a:xfrm>
            <a:off x="540000" y="437832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540000" y="4609440"/>
            <a:ext cx="6480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00" dirty="0"/>
          </a:p>
        </p:txBody>
      </p:sp>
      <p:sp>
        <p:nvSpPr>
          <p:cNvPr id="18" name="Text 15"/>
          <p:cNvSpPr/>
          <p:nvPr/>
        </p:nvSpPr>
        <p:spPr>
          <a:xfrm>
            <a:off x="540000" y="48412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540000" y="5072400"/>
            <a:ext cx="6480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00" dirty="0"/>
          </a:p>
        </p:txBody>
      </p:sp>
      <p:sp>
        <p:nvSpPr>
          <p:cNvPr id="20" name="Text 17"/>
          <p:cNvSpPr/>
          <p:nvPr/>
        </p:nvSpPr>
        <p:spPr>
          <a:xfrm>
            <a:off x="540000" y="530424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540000" y="553536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00" dirty="0"/>
          </a:p>
        </p:txBody>
      </p:sp>
      <p:sp>
        <p:nvSpPr>
          <p:cNvPr id="22" name="Text 19"/>
          <p:cNvSpPr/>
          <p:nvPr/>
        </p:nvSpPr>
        <p:spPr>
          <a:xfrm>
            <a:off x="540000" y="591624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540000" y="614736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00" dirty="0"/>
          </a:p>
        </p:txBody>
      </p:sp>
      <p:sp>
        <p:nvSpPr>
          <p:cNvPr id="24" name="Text 21"/>
          <p:cNvSpPr/>
          <p:nvPr/>
        </p:nvSpPr>
        <p:spPr>
          <a:xfrm>
            <a:off x="540000" y="652824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540000" y="6759360"/>
            <a:ext cx="6480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00" dirty="0"/>
          </a:p>
        </p:txBody>
      </p:sp>
      <p:sp>
        <p:nvSpPr>
          <p:cNvPr id="26" name="Text 23"/>
          <p:cNvSpPr/>
          <p:nvPr/>
        </p:nvSpPr>
        <p:spPr>
          <a:xfrm>
            <a:off x="540000" y="69912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540000" y="72223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00" dirty="0"/>
          </a:p>
        </p:txBody>
      </p:sp>
      <p:sp>
        <p:nvSpPr>
          <p:cNvPr id="28" name="Text 25"/>
          <p:cNvSpPr/>
          <p:nvPr/>
        </p:nvSpPr>
        <p:spPr>
          <a:xfrm>
            <a:off x="540000" y="76032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540000" y="78343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00" dirty="0"/>
          </a:p>
        </p:txBody>
      </p:sp>
      <p:sp>
        <p:nvSpPr>
          <p:cNvPr id="30" name="Text 27"/>
          <p:cNvSpPr/>
          <p:nvPr/>
        </p:nvSpPr>
        <p:spPr>
          <a:xfrm>
            <a:off x="540000" y="82152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540000" y="84463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00" dirty="0"/>
          </a:p>
        </p:txBody>
      </p:sp>
      <p:sp>
        <p:nvSpPr>
          <p:cNvPr id="32" name="Text 29"/>
          <p:cNvSpPr/>
          <p:nvPr/>
        </p:nvSpPr>
        <p:spPr>
          <a:xfrm>
            <a:off x="540000" y="88272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540000" y="90583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00" dirty="0"/>
          </a:p>
        </p:txBody>
      </p:sp>
      <p:sp>
        <p:nvSpPr>
          <p:cNvPr id="34" name="Text 31"/>
          <p:cNvSpPr/>
          <p:nvPr/>
        </p:nvSpPr>
        <p:spPr>
          <a:xfrm>
            <a:off x="540000" y="94392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540000" y="96703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3" name="Text 1"/>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4" name="Text 2"/>
          <p:cNvSpPr/>
          <p:nvPr/>
        </p:nvSpPr>
        <p:spPr>
          <a:xfrm>
            <a:off x="540000" y="5400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5" name="Text 3"/>
          <p:cNvSpPr/>
          <p:nvPr/>
        </p:nvSpPr>
        <p:spPr>
          <a:xfrm>
            <a:off x="540000" y="7711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00" dirty="0"/>
          </a:p>
        </p:txBody>
      </p:sp>
      <p:sp>
        <p:nvSpPr>
          <p:cNvPr id="6" name="Text 4"/>
          <p:cNvSpPr/>
          <p:nvPr/>
        </p:nvSpPr>
        <p:spPr>
          <a:xfrm>
            <a:off x="540000" y="11430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7" name="Text 5"/>
          <p:cNvSpPr/>
          <p:nvPr/>
        </p:nvSpPr>
        <p:spPr>
          <a:xfrm>
            <a:off x="540000" y="137412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00" dirty="0"/>
          </a:p>
        </p:txBody>
      </p:sp>
      <p:sp>
        <p:nvSpPr>
          <p:cNvPr id="8" name="Text 6"/>
          <p:cNvSpPr/>
          <p:nvPr/>
        </p:nvSpPr>
        <p:spPr>
          <a:xfrm>
            <a:off x="540000" y="174600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9" name="Text 7"/>
          <p:cNvSpPr/>
          <p:nvPr/>
        </p:nvSpPr>
        <p:spPr>
          <a:xfrm>
            <a:off x="540000" y="1977120"/>
            <a:ext cx="6480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00" dirty="0"/>
          </a:p>
        </p:txBody>
      </p:sp>
      <p:sp>
        <p:nvSpPr>
          <p:cNvPr id="10" name="Text 8"/>
          <p:cNvSpPr/>
          <p:nvPr/>
        </p:nvSpPr>
        <p:spPr>
          <a:xfrm>
            <a:off x="540000" y="219996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1" name="Text 9"/>
          <p:cNvSpPr/>
          <p:nvPr/>
        </p:nvSpPr>
        <p:spPr>
          <a:xfrm>
            <a:off x="540000" y="243108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00" dirty="0"/>
          </a:p>
        </p:txBody>
      </p:sp>
      <p:sp>
        <p:nvSpPr>
          <p:cNvPr id="12" name="Text 10"/>
          <p:cNvSpPr/>
          <p:nvPr/>
        </p:nvSpPr>
        <p:spPr>
          <a:xfrm>
            <a:off x="540000" y="280296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3" name="Text 11"/>
          <p:cNvSpPr/>
          <p:nvPr/>
        </p:nvSpPr>
        <p:spPr>
          <a:xfrm>
            <a:off x="540000" y="303408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00" dirty="0"/>
          </a:p>
        </p:txBody>
      </p:sp>
      <p:sp>
        <p:nvSpPr>
          <p:cNvPr id="14" name="Text 12"/>
          <p:cNvSpPr/>
          <p:nvPr/>
        </p:nvSpPr>
        <p:spPr>
          <a:xfrm>
            <a:off x="540000" y="340596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5" name="Text 13"/>
          <p:cNvSpPr/>
          <p:nvPr/>
        </p:nvSpPr>
        <p:spPr>
          <a:xfrm>
            <a:off x="540000" y="363708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00" dirty="0"/>
          </a:p>
        </p:txBody>
      </p:sp>
      <p:sp>
        <p:nvSpPr>
          <p:cNvPr id="16" name="Text 14"/>
          <p:cNvSpPr/>
          <p:nvPr/>
        </p:nvSpPr>
        <p:spPr>
          <a:xfrm>
            <a:off x="540000" y="400896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17" name="Text 15"/>
          <p:cNvSpPr/>
          <p:nvPr/>
        </p:nvSpPr>
        <p:spPr>
          <a:xfrm>
            <a:off x="540000" y="4240080"/>
            <a:ext cx="6480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00" dirty="0"/>
          </a:p>
        </p:txBody>
      </p:sp>
      <p:sp>
        <p:nvSpPr>
          <p:cNvPr id="18" name="Text 16"/>
          <p:cNvSpPr/>
          <p:nvPr/>
        </p:nvSpPr>
        <p:spPr>
          <a:xfrm>
            <a:off x="540000" y="446292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19" name="Text 17"/>
          <p:cNvSpPr/>
          <p:nvPr/>
        </p:nvSpPr>
        <p:spPr>
          <a:xfrm>
            <a:off x="540000" y="4694040"/>
            <a:ext cx="6480000" cy="21384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00" dirty="0"/>
          </a:p>
        </p:txBody>
      </p:sp>
      <p:sp>
        <p:nvSpPr>
          <p:cNvPr id="20" name="Text 18"/>
          <p:cNvSpPr/>
          <p:nvPr/>
        </p:nvSpPr>
        <p:spPr>
          <a:xfrm>
            <a:off x="540000" y="4916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1" name="Text 19"/>
          <p:cNvSpPr/>
          <p:nvPr/>
        </p:nvSpPr>
        <p:spPr>
          <a:xfrm>
            <a:off x="540000" y="5148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00" dirty="0"/>
          </a:p>
        </p:txBody>
      </p:sp>
      <p:sp>
        <p:nvSpPr>
          <p:cNvPr id="22" name="Text 20"/>
          <p:cNvSpPr/>
          <p:nvPr/>
        </p:nvSpPr>
        <p:spPr>
          <a:xfrm>
            <a:off x="540000" y="5519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3" name="Text 21"/>
          <p:cNvSpPr/>
          <p:nvPr/>
        </p:nvSpPr>
        <p:spPr>
          <a:xfrm>
            <a:off x="540000" y="5751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00" dirty="0"/>
          </a:p>
        </p:txBody>
      </p:sp>
      <p:sp>
        <p:nvSpPr>
          <p:cNvPr id="24" name="Text 22"/>
          <p:cNvSpPr/>
          <p:nvPr/>
        </p:nvSpPr>
        <p:spPr>
          <a:xfrm>
            <a:off x="540000" y="6122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5" name="Text 23"/>
          <p:cNvSpPr/>
          <p:nvPr/>
        </p:nvSpPr>
        <p:spPr>
          <a:xfrm>
            <a:off x="540000" y="6354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00" dirty="0"/>
          </a:p>
        </p:txBody>
      </p:sp>
      <p:sp>
        <p:nvSpPr>
          <p:cNvPr id="26" name="Text 24"/>
          <p:cNvSpPr/>
          <p:nvPr/>
        </p:nvSpPr>
        <p:spPr>
          <a:xfrm>
            <a:off x="540000" y="6725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27" name="Text 25"/>
          <p:cNvSpPr/>
          <p:nvPr/>
        </p:nvSpPr>
        <p:spPr>
          <a:xfrm>
            <a:off x="540000" y="6957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00" dirty="0"/>
          </a:p>
        </p:txBody>
      </p:sp>
      <p:sp>
        <p:nvSpPr>
          <p:cNvPr id="28" name="Text 26"/>
          <p:cNvSpPr/>
          <p:nvPr/>
        </p:nvSpPr>
        <p:spPr>
          <a:xfrm>
            <a:off x="540000" y="7328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29" name="Text 27"/>
          <p:cNvSpPr/>
          <p:nvPr/>
        </p:nvSpPr>
        <p:spPr>
          <a:xfrm>
            <a:off x="540000" y="7560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00" dirty="0"/>
          </a:p>
        </p:txBody>
      </p:sp>
      <p:sp>
        <p:nvSpPr>
          <p:cNvPr id="30" name="Text 28"/>
          <p:cNvSpPr/>
          <p:nvPr/>
        </p:nvSpPr>
        <p:spPr>
          <a:xfrm>
            <a:off x="540000" y="7931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1" name="Text 29"/>
          <p:cNvSpPr/>
          <p:nvPr/>
        </p:nvSpPr>
        <p:spPr>
          <a:xfrm>
            <a:off x="540000" y="8163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00" dirty="0"/>
          </a:p>
        </p:txBody>
      </p:sp>
      <p:sp>
        <p:nvSpPr>
          <p:cNvPr id="32" name="Text 30"/>
          <p:cNvSpPr/>
          <p:nvPr/>
        </p:nvSpPr>
        <p:spPr>
          <a:xfrm>
            <a:off x="540000" y="8534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3" name="Text 31"/>
          <p:cNvSpPr/>
          <p:nvPr/>
        </p:nvSpPr>
        <p:spPr>
          <a:xfrm>
            <a:off x="540000" y="8766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00" dirty="0"/>
          </a:p>
        </p:txBody>
      </p:sp>
      <p:sp>
        <p:nvSpPr>
          <p:cNvPr id="34" name="Text 32"/>
          <p:cNvSpPr/>
          <p:nvPr/>
        </p:nvSpPr>
        <p:spPr>
          <a:xfrm>
            <a:off x="540000" y="9137880"/>
            <a:ext cx="6480000" cy="222120"/>
          </a:xfrm>
          <a:prstGeom prst="rect">
            <a:avLst/>
          </a:prstGeom>
          <a:noFill/>
          <a:ln/>
        </p:spPr>
        <p:txBody>
          <a:bodyPr wrap="square" lIns="0" tIns="0" rIns="0" bIns="0" rtlCol="0" anchor="t"/>
          <a:lstStyle/>
          <a:p>
            <a:pPr marL="0" indent="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5" name="Text 33"/>
          <p:cNvSpPr/>
          <p:nvPr/>
        </p:nvSpPr>
        <p:spPr>
          <a:xfrm>
            <a:off x="540000" y="9369000"/>
            <a:ext cx="6480000" cy="362880"/>
          </a:xfrm>
          <a:prstGeom prst="rect">
            <a:avLst/>
          </a:prstGeom>
          <a:noFill/>
          <a:ln/>
        </p:spPr>
        <p:txBody>
          <a:bodyPr wrap="square" lIns="0" tIns="0" rIns="0" bIns="0" rtlCol="0" anchor="t"/>
          <a:lstStyle/>
          <a:p>
            <a:pPr marL="0" indent="0">
              <a:buNone/>
            </a:pPr>
            <a:r>
              <a:rPr lang="en-US" sz="90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pic>
        <p:nvPicPr>
          <p:cNvPr id="2" name="Image 0" descr="Logo France Verte"/>
          <p:cNvPicPr>
            <a:picLocks noChangeAspect="1"/>
          </p:cNvPicPr>
          <p:nvPr/>
        </p:nvPicPr>
        <p:blipFill>
          <a:blip r:embed="rId3"/>
          <a:srcRect/>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marL="0" indent="0" algn="ctr">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marL="0" indent="0" algn="r">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marL="0" indent="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marL="0" indent="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marL="0" indent="0" algn="ctr">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marL="0" indent="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marL="0" indent="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marL="0" indent="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11468</Words>
  <Application>Microsoft Office PowerPoint</Application>
  <PresentationFormat>Personnalisé</PresentationFormat>
  <Paragraphs>1184</Paragraphs>
  <Slides>43</Slides>
  <Notes>43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43</vt:i4>
      </vt:variant>
    </vt:vector>
  </HeadingPairs>
  <TitlesOfParts>
    <vt:vector size="48" baseType="lpstr">
      <vt:lpstr>Aptos</vt:lpstr>
      <vt:lpstr>Aptos Display</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MT-013</cp:lastModifiedBy>
  <cp:revision>1</cp:revision>
  <dcterms:created xsi:type="dcterms:W3CDTF">2026-10-07T09:40:52Z</dcterms:created>
  <dcterms:modified xsi:type="dcterms:W3CDTF">2026-10-07T09:46:08Z</dcterms:modified>
</cp:coreProperties>
</file>