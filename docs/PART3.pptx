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7"/>
  </p:notesMasterIdLst>
  <p:sldIdLst>
    <p:sldId id="265" r:id="rId2"/>
    <p:sldId id="266" r:id="rId3"/>
    <p:sldId id="267" r:id="rId4"/>
    <p:sldId id="269" r:id="rId5"/>
    <p:sldId id="271" r:id="rId6"/>
    <p:sldId id="294" r:id="rId7"/>
    <p:sldId id="273" r:id="rId8"/>
    <p:sldId id="289" r:id="rId9"/>
    <p:sldId id="288" r:id="rId10"/>
    <p:sldId id="274" r:id="rId11"/>
    <p:sldId id="275" r:id="rId12"/>
    <p:sldId id="326" r:id="rId13"/>
    <p:sldId id="276" r:id="rId14"/>
    <p:sldId id="290" r:id="rId15"/>
    <p:sldId id="291" r:id="rId16"/>
    <p:sldId id="277" r:id="rId17"/>
    <p:sldId id="278" r:id="rId18"/>
    <p:sldId id="329" r:id="rId19"/>
    <p:sldId id="330" r:id="rId20"/>
    <p:sldId id="331" r:id="rId21"/>
    <p:sldId id="279" r:id="rId22"/>
    <p:sldId id="370" r:id="rId23"/>
    <p:sldId id="332" r:id="rId24"/>
    <p:sldId id="333" r:id="rId25"/>
    <p:sldId id="280" r:id="rId26"/>
  </p:sldIdLst>
  <p:sldSz cx="7559675" cy="1069181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8" userDrawn="1">
          <p15:clr>
            <a:srgbClr val="A4A3A4"/>
          </p15:clr>
        </p15:guide>
        <p15:guide id="2" pos="2381" userDrawn="1">
          <p15:clr>
            <a:srgbClr val="A4A3A4"/>
          </p15:clr>
        </p15:guide>
        <p15:guide id="3" pos="2472" userDrawn="1">
          <p15:clr>
            <a:srgbClr val="A4A3A4"/>
          </p15:clr>
        </p15:guide>
        <p15:guide id="4" pos="22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00B050"/>
    <a:srgbClr val="156082"/>
    <a:srgbClr val="C2F1C8"/>
    <a:srgbClr val="4EA72E"/>
    <a:srgbClr val="04CC7E"/>
    <a:srgbClr val="E96620"/>
    <a:srgbClr val="2D44FF"/>
    <a:srgbClr val="467886"/>
    <a:srgbClr val="FBE3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74" autoAdjust="0"/>
    <p:restoredTop sz="94660"/>
  </p:normalViewPr>
  <p:slideViewPr>
    <p:cSldViewPr snapToGrid="0">
      <p:cViewPr varScale="1">
        <p:scale>
          <a:sx n="99" d="100"/>
          <a:sy n="99" d="100"/>
        </p:scale>
        <p:origin x="726" y="90"/>
      </p:cViewPr>
      <p:guideLst>
        <p:guide orient="horz" pos="3368"/>
        <p:guide pos="2381"/>
        <p:guide pos="2472"/>
        <p:guide pos="229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9690E79-DA3E-4BFF-9C78-B47714BE1CA9}" type="datetimeFigureOut">
              <a:rPr lang="fr-FR" smtClean="0"/>
              <a:t>05/10/2026</a:t>
            </a:fld>
            <a:endParaRPr lang="fr-FR"/>
          </a:p>
        </p:txBody>
      </p:sp>
      <p:sp>
        <p:nvSpPr>
          <p:cNvPr id="4" name="Espace réservé de l'image des diapositives 3"/>
          <p:cNvSpPr>
            <a:spLocks noGrp="1" noRot="1" noChangeAspect="1"/>
          </p:cNvSpPr>
          <p:nvPr>
            <p:ph type="sldImg" idx="2"/>
          </p:nvPr>
        </p:nvSpPr>
        <p:spPr>
          <a:xfrm>
            <a:off x="2216150" y="1241425"/>
            <a:ext cx="236537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89D1605-573C-4CF6-A9F0-1F3AECF8392C}" type="slidenum">
              <a:rPr lang="fr-FR" smtClean="0"/>
              <a:t>‹N°›</a:t>
            </a:fld>
            <a:endParaRPr lang="fr-FR"/>
          </a:p>
        </p:txBody>
      </p:sp>
    </p:spTree>
    <p:extLst>
      <p:ext uri="{BB962C8B-B14F-4D97-AF65-F5344CB8AC3E}">
        <p14:creationId xmlns:p14="http://schemas.microsoft.com/office/powerpoint/2010/main" val="719370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fr-FR"/>
              <a:t>Modifiez le style du titre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0A1BD472-B65B-4567-AD30-1DF699FACF41}" type="datetime1">
              <a:rPr lang="fr-FR" smtClean="0"/>
              <a:t>05/10/2026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2242727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1DEDEFD-4F79-4367-B527-098ED8B19067}" type="datetime1">
              <a:rPr lang="fr-FR" smtClean="0"/>
              <a:t>05/10/2026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1856358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fr-FR"/>
              <a:t>Modifiez le style du titre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tint val="82000"/>
                  </a:schemeClr>
                </a:solidFill>
              </a:defRPr>
            </a:lvl1pPr>
            <a:lvl2pPr marL="377967" indent="0">
              <a:buNone/>
              <a:defRPr sz="1653">
                <a:solidFill>
                  <a:schemeClr val="tx1">
                    <a:tint val="82000"/>
                  </a:schemeClr>
                </a:solidFill>
              </a:defRPr>
            </a:lvl2pPr>
            <a:lvl3pPr marL="755934" indent="0">
              <a:buNone/>
              <a:defRPr sz="1488">
                <a:solidFill>
                  <a:schemeClr val="tx1">
                    <a:tint val="82000"/>
                  </a:schemeClr>
                </a:solidFill>
              </a:defRPr>
            </a:lvl3pPr>
            <a:lvl4pPr marL="1133902" indent="0">
              <a:buNone/>
              <a:defRPr sz="1323">
                <a:solidFill>
                  <a:schemeClr val="tx1">
                    <a:tint val="82000"/>
                  </a:schemeClr>
                </a:solidFill>
              </a:defRPr>
            </a:lvl4pPr>
            <a:lvl5pPr marL="1511869" indent="0">
              <a:buNone/>
              <a:defRPr sz="1323">
                <a:solidFill>
                  <a:schemeClr val="tx1">
                    <a:tint val="82000"/>
                  </a:schemeClr>
                </a:solidFill>
              </a:defRPr>
            </a:lvl5pPr>
            <a:lvl6pPr marL="1889836" indent="0">
              <a:buNone/>
              <a:defRPr sz="1323">
                <a:solidFill>
                  <a:schemeClr val="tx1">
                    <a:tint val="82000"/>
                  </a:schemeClr>
                </a:solidFill>
              </a:defRPr>
            </a:lvl6pPr>
            <a:lvl7pPr marL="2267803" indent="0">
              <a:buNone/>
              <a:defRPr sz="1323">
                <a:solidFill>
                  <a:schemeClr val="tx1">
                    <a:tint val="82000"/>
                  </a:schemeClr>
                </a:solidFill>
              </a:defRPr>
            </a:lvl7pPr>
            <a:lvl8pPr marL="2645771" indent="0">
              <a:buNone/>
              <a:defRPr sz="1323">
                <a:solidFill>
                  <a:schemeClr val="tx1">
                    <a:tint val="82000"/>
                  </a:schemeClr>
                </a:solidFill>
              </a:defRPr>
            </a:lvl8pPr>
            <a:lvl9pPr marL="3023738" indent="0">
              <a:buNone/>
              <a:defRPr sz="1323">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FE70C46-16F6-4176-832E-B3B5DE54975B}" type="datetime1">
              <a:rPr lang="fr-FR" smtClean="0"/>
              <a:t>05/10/2026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4169245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06479B6-7307-47D5-B7A7-7371AFA9F5E0}" type="datetime1">
              <a:rPr lang="fr-FR" smtClean="0"/>
              <a:t>05/10/2026</a:t>
            </a:fld>
            <a:endParaRPr lang="fr-FR"/>
          </a:p>
        </p:txBody>
      </p:sp>
      <p:sp>
        <p:nvSpPr>
          <p:cNvPr id="6" name="Footer Placeholder 5"/>
          <p:cNvSpPr>
            <a:spLocks noGrp="1"/>
          </p:cNvSpPr>
          <p:nvPr>
            <p:ph type="ftr" sz="quarter" idx="11"/>
          </p:nvPr>
        </p:nvSpPr>
        <p:spPr/>
        <p:txBody>
          <a:bodyPr/>
          <a:lstStyle/>
          <a:p>
            <a:r>
              <a:rPr lang="fr-FR"/>
              <a:t>Copropriété LE COTE SQUARE </a:t>
            </a:r>
          </a:p>
        </p:txBody>
      </p:sp>
      <p:sp>
        <p:nvSpPr>
          <p:cNvPr id="7" name="Slide Number Placeholder 6"/>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2600546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fr-FR"/>
              <a:t>Modifiez le style du titre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fr-FR"/>
              <a:t>Cliquez pour modifier les styles du texte du masque</a:t>
            </a:r>
          </a:p>
        </p:txBody>
      </p:sp>
      <p:sp>
        <p:nvSpPr>
          <p:cNvPr id="4" name="Content Placeholder 3"/>
          <p:cNvSpPr>
            <a:spLocks noGrp="1"/>
          </p:cNvSpPr>
          <p:nvPr>
            <p:ph sz="half" idx="2"/>
          </p:nvPr>
        </p:nvSpPr>
        <p:spPr>
          <a:xfrm>
            <a:off x="520713" y="3905482"/>
            <a:ext cx="3198096" cy="57443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fr-FR"/>
              <a:t>Cliquez pour modifier les styles du texte du masque</a:t>
            </a:r>
          </a:p>
        </p:txBody>
      </p:sp>
      <p:sp>
        <p:nvSpPr>
          <p:cNvPr id="6" name="Content Placeholder 5"/>
          <p:cNvSpPr>
            <a:spLocks noGrp="1"/>
          </p:cNvSpPr>
          <p:nvPr>
            <p:ph sz="quarter" idx="4"/>
          </p:nvPr>
        </p:nvSpPr>
        <p:spPr>
          <a:xfrm>
            <a:off x="3827086" y="3905482"/>
            <a:ext cx="3213847" cy="57443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7877E2A-AA77-4E9D-93D3-5D0AFC92DCFC}" type="datetime1">
              <a:rPr lang="fr-FR" smtClean="0"/>
              <a:t>05/10/2026</a:t>
            </a:fld>
            <a:endParaRPr lang="fr-FR"/>
          </a:p>
        </p:txBody>
      </p:sp>
      <p:sp>
        <p:nvSpPr>
          <p:cNvPr id="8" name="Footer Placeholder 7"/>
          <p:cNvSpPr>
            <a:spLocks noGrp="1"/>
          </p:cNvSpPr>
          <p:nvPr>
            <p:ph type="ftr" sz="quarter" idx="11"/>
          </p:nvPr>
        </p:nvSpPr>
        <p:spPr/>
        <p:txBody>
          <a:bodyPr/>
          <a:lstStyle/>
          <a:p>
            <a:r>
              <a:rPr lang="fr-FR"/>
              <a:t>Copropriété LE COTE SQUARE </a:t>
            </a:r>
          </a:p>
        </p:txBody>
      </p:sp>
      <p:sp>
        <p:nvSpPr>
          <p:cNvPr id="9" name="Slide Number Placeholder 8"/>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491909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A777905-9335-483D-90EF-172FE98E5E7F}" type="datetime1">
              <a:rPr lang="fr-FR" smtClean="0"/>
              <a:t>05/10/2026</a:t>
            </a:fld>
            <a:endParaRPr lang="fr-FR"/>
          </a:p>
        </p:txBody>
      </p:sp>
      <p:sp>
        <p:nvSpPr>
          <p:cNvPr id="4" name="Footer Placeholder 3"/>
          <p:cNvSpPr>
            <a:spLocks noGrp="1"/>
          </p:cNvSpPr>
          <p:nvPr>
            <p:ph type="ftr" sz="quarter" idx="11"/>
          </p:nvPr>
        </p:nvSpPr>
        <p:spPr/>
        <p:txBody>
          <a:bodyPr/>
          <a:lstStyle/>
          <a:p>
            <a:r>
              <a:rPr lang="fr-FR"/>
              <a:t>Copropriété LE COTE SQUARE </a:t>
            </a:r>
          </a:p>
        </p:txBody>
      </p:sp>
      <p:sp>
        <p:nvSpPr>
          <p:cNvPr id="5" name="Slide Number Placeholder 4"/>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1240067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ACB476-76D3-4F35-A96D-52F05361F705}" type="datetime1">
              <a:rPr lang="fr-FR" smtClean="0"/>
              <a:t>05/10/2026</a:t>
            </a:fld>
            <a:endParaRPr lang="fr-FR"/>
          </a:p>
        </p:txBody>
      </p:sp>
      <p:sp>
        <p:nvSpPr>
          <p:cNvPr id="3" name="Footer Placeholder 2"/>
          <p:cNvSpPr>
            <a:spLocks noGrp="1"/>
          </p:cNvSpPr>
          <p:nvPr>
            <p:ph type="ftr" sz="quarter" idx="11"/>
          </p:nvPr>
        </p:nvSpPr>
        <p:spPr/>
        <p:txBody>
          <a:bodyPr/>
          <a:lstStyle/>
          <a:p>
            <a:r>
              <a:rPr lang="fr-FR"/>
              <a:t>Copropriété LE COTE SQUARE </a:t>
            </a:r>
          </a:p>
        </p:txBody>
      </p:sp>
      <p:sp>
        <p:nvSpPr>
          <p:cNvPr id="4" name="Slide Number Placeholder 3"/>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3215863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fr-FR"/>
              <a:t>Modifiez le style du titre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1687447-0B0B-40FE-9BB6-68CC756BCD61}" type="datetime1">
              <a:rPr lang="fr-FR" smtClean="0"/>
              <a:t>05/10/2026</a:t>
            </a:fld>
            <a:endParaRPr lang="fr-FR"/>
          </a:p>
        </p:txBody>
      </p:sp>
      <p:sp>
        <p:nvSpPr>
          <p:cNvPr id="6" name="Footer Placeholder 5"/>
          <p:cNvSpPr>
            <a:spLocks noGrp="1"/>
          </p:cNvSpPr>
          <p:nvPr>
            <p:ph type="ftr" sz="quarter" idx="11"/>
          </p:nvPr>
        </p:nvSpPr>
        <p:spPr/>
        <p:txBody>
          <a:bodyPr/>
          <a:lstStyle/>
          <a:p>
            <a:r>
              <a:rPr lang="fr-FR"/>
              <a:t>Copropriété LE COTE SQUARE </a:t>
            </a:r>
          </a:p>
        </p:txBody>
      </p:sp>
      <p:sp>
        <p:nvSpPr>
          <p:cNvPr id="7" name="Slide Number Placeholder 6"/>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478745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fr-FR"/>
              <a:t>Modifiez le style du titre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fr-FR"/>
              <a:t>Cliquez sur l'icône pour ajouter une image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C2734D5-B6FC-41B0-BEB0-479DDE9F5D67}" type="datetime1">
              <a:rPr lang="fr-FR" smtClean="0"/>
              <a:t>05/10/2026</a:t>
            </a:fld>
            <a:endParaRPr lang="fr-FR"/>
          </a:p>
        </p:txBody>
      </p:sp>
      <p:sp>
        <p:nvSpPr>
          <p:cNvPr id="6" name="Footer Placeholder 5"/>
          <p:cNvSpPr>
            <a:spLocks noGrp="1"/>
          </p:cNvSpPr>
          <p:nvPr>
            <p:ph type="ftr" sz="quarter" idx="11"/>
          </p:nvPr>
        </p:nvSpPr>
        <p:spPr/>
        <p:txBody>
          <a:bodyPr/>
          <a:lstStyle/>
          <a:p>
            <a:r>
              <a:rPr lang="fr-FR"/>
              <a:t>Copropriété LE COTE SQUARE </a:t>
            </a:r>
          </a:p>
        </p:txBody>
      </p:sp>
      <p:sp>
        <p:nvSpPr>
          <p:cNvPr id="7" name="Slide Number Placeholder 6"/>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355645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5D94D43-A7D0-4324-92A9-D15D8859801C}" type="datetime1">
              <a:rPr lang="fr-FR" smtClean="0"/>
              <a:t>05/10/2026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971197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F2A4FB4-4DFD-4D6D-84B1-92D629FFF5A0}" type="datetime1">
              <a:rPr lang="fr-FR" smtClean="0"/>
              <a:t>05/10/2026</a:t>
            </a:fld>
            <a:endParaRPr lang="fr-FR"/>
          </a:p>
        </p:txBody>
      </p:sp>
      <p:sp>
        <p:nvSpPr>
          <p:cNvPr id="5" name="Footer Placeholder 4"/>
          <p:cNvSpPr>
            <a:spLocks noGrp="1"/>
          </p:cNvSpPr>
          <p:nvPr>
            <p:ph type="ftr" sz="quarter" idx="11"/>
          </p:nvPr>
        </p:nvSpPr>
        <p:spPr/>
        <p:txBody>
          <a:bodyPr/>
          <a:lstStyle/>
          <a:p>
            <a:r>
              <a:rPr lang="fr-FR"/>
              <a:t>Copropriété LE COTE SQUARE </a:t>
            </a:r>
          </a:p>
        </p:txBody>
      </p:sp>
      <p:sp>
        <p:nvSpPr>
          <p:cNvPr id="6" name="Slide Number Placeholder 5"/>
          <p:cNvSpPr>
            <a:spLocks noGrp="1"/>
          </p:cNvSpPr>
          <p:nvPr>
            <p:ph type="sldNum" sz="quarter" idx="12"/>
          </p:nvPr>
        </p:nvSpPr>
        <p:spPr/>
        <p:txBody>
          <a:bodyPr/>
          <a:lstStyle/>
          <a:p>
            <a:fld id="{CAAAFFDE-0A40-4191-B1DF-7348E5FF338F}" type="slidenum">
              <a:rPr lang="fr-FR" smtClean="0"/>
              <a:t>‹N°›</a:t>
            </a:fld>
            <a:endParaRPr lang="fr-FR"/>
          </a:p>
        </p:txBody>
      </p:sp>
    </p:spTree>
    <p:extLst>
      <p:ext uri="{BB962C8B-B14F-4D97-AF65-F5344CB8AC3E}">
        <p14:creationId xmlns:p14="http://schemas.microsoft.com/office/powerpoint/2010/main" val="3170839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82000"/>
                  </a:schemeClr>
                </a:solidFill>
              </a:defRPr>
            </a:lvl1pPr>
          </a:lstStyle>
          <a:p>
            <a:fld id="{09308C15-22CB-49DB-A23D-77345A1B2009}" type="datetime1">
              <a:rPr lang="fr-FR" smtClean="0"/>
              <a:t>05/10/2026</a:t>
            </a:fld>
            <a:endParaRPr lang="fr-FR"/>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82000"/>
                  </a:schemeClr>
                </a:solidFill>
              </a:defRPr>
            </a:lvl1pPr>
          </a:lstStyle>
          <a:p>
            <a:r>
              <a:rPr lang="fr-FR"/>
              <a:t>Copropriété LE COTE SQUARE </a:t>
            </a:r>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82000"/>
                  </a:schemeClr>
                </a:solidFill>
              </a:defRPr>
            </a:lvl1pPr>
          </a:lstStyle>
          <a:p>
            <a:fld id="{CAAAFFDE-0A40-4191-B1DF-7348E5FF338F}" type="slidenum">
              <a:rPr lang="fr-FR" smtClean="0"/>
              <a:t>‹N°›</a:t>
            </a:fld>
            <a:endParaRPr lang="fr-FR"/>
          </a:p>
        </p:txBody>
      </p:sp>
    </p:spTree>
    <p:extLst>
      <p:ext uri="{BB962C8B-B14F-4D97-AF65-F5344CB8AC3E}">
        <p14:creationId xmlns:p14="http://schemas.microsoft.com/office/powerpoint/2010/main" val="25091059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economie.gouv.fr/particuliers/faire-des-economies-denergie/maprimerenov-copropriete-tout-savoir-sur-laide-la-renovation-des-parties-commune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service-public.gouv.fr/particuliers/vosdroits/F35584"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hyperlink" Target="https://www.service-public.gouv.fr/particuliers/vosdroits/F38064"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s://www.economie.gouv.fr/particuliers/impots-et-fiscalite/gerer-mes-autres-impots-et-taxes/tva-taux-reduit-pour-quels-travaux"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georisques.gouv.fr/"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2258A-877B-82C2-D288-9F9AAFECF476}"/>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BCAE26F4-136B-6915-D4F5-4E9E37F93E71}"/>
              </a:ext>
            </a:extLst>
          </p:cNvPr>
          <p:cNvSpPr txBox="1"/>
          <p:nvPr/>
        </p:nvSpPr>
        <p:spPr>
          <a:xfrm>
            <a:off x="541020" y="1284704"/>
            <a:ext cx="6484620" cy="7579896"/>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3.1 Décret thermostat et calorifugeage</a:t>
            </a:r>
          </a:p>
          <a:p>
            <a:pPr algn="just"/>
            <a:endParaRPr lang="fr-FR" sz="1228"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latin typeface="Calibri" panose="020F0502020204030204" pitchFamily="34" charset="0"/>
                <a:ea typeface="Calibri" panose="020F0502020204030204" pitchFamily="34" charset="0"/>
                <a:cs typeface="Calibri" panose="020F0502020204030204" pitchFamily="34" charset="0"/>
              </a:rPr>
              <a:t>Installation des systèmes de régulation de la température – Chauffage et refroidissement </a:t>
            </a:r>
          </a:p>
          <a:p>
            <a:pPr algn="just"/>
            <a:endPar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r>
              <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rPr>
              <a:t>Tous les logements possédant une installation de chauffage et/ou de refroidissement sont concernés par cette obligation.</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 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Une régulation par pièce ou par zone de chauffage,</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Avec un pas de temps horaire (programmation et commande au minimum à l’heure).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u="sng" dirty="0">
                <a:latin typeface="Calibri" panose="020F0502020204030204" pitchFamily="34" charset="0"/>
                <a:ea typeface="Calibri" panose="020F0502020204030204" pitchFamily="34" charset="0"/>
                <a:cs typeface="Calibri" panose="020F0502020204030204" pitchFamily="34" charset="0"/>
              </a:rPr>
              <a:t>Aides disponibles : </a:t>
            </a:r>
            <a:r>
              <a:rPr lang="fr-FR" sz="1100" dirty="0">
                <a:latin typeface="Calibri" panose="020F0502020204030204" pitchFamily="34" charset="0"/>
                <a:ea typeface="Calibri" panose="020F0502020204030204" pitchFamily="34" charset="0"/>
                <a:cs typeface="Calibri" panose="020F0502020204030204" pitchFamily="34" charset="0"/>
              </a:rPr>
              <a:t>Avec les primes des certificats d’économies d’énergie (CEE), l’Etat offre un accompagnement jusqu’à 60 euros par ménage pour l’installation par un professionnel d’un système de régulation de la température et de robinets thermostatiques.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endParaRPr lang="fr-FR" sz="1100" b="1" dirty="0">
              <a:latin typeface="Calibri" panose="020F0502020204030204" pitchFamily="34" charset="0"/>
              <a:ea typeface="Calibri" panose="020F0502020204030204" pitchFamily="34" charset="0"/>
              <a:cs typeface="Calibri" panose="020F0502020204030204" pitchFamily="34" charset="0"/>
            </a:endParaRPr>
          </a:p>
          <a:p>
            <a:pPr algn="just"/>
            <a:endParaRPr lang="fr-FR" sz="1100"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latin typeface="Calibri" panose="020F0502020204030204" pitchFamily="34" charset="0"/>
                <a:ea typeface="Calibri" panose="020F0502020204030204" pitchFamily="34" charset="0"/>
                <a:cs typeface="Calibri" panose="020F0502020204030204" pitchFamily="34" charset="0"/>
              </a:rPr>
              <a:t> Calorifugeage des réseaux de distribution de chaleur et de froid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rPr>
              <a:t>Tous les logements présents en bâtiments d’habitation collectif et possédant une installation de chauffage et/ou de refroidissement collective sont concernés par cette obligation.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réseaux de chauffage et de production d’eau chaude sanitaire peuvent générer des pertes thermiques importantes, notamment lorsqu’ils traversent des parties non chauffées : caves, garages, locaux techniques, combles, etc.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Lors du transport, l’eau chaude peut perdre jusqu’à 20 % de son énergie en raison de la distance parcourue et du manque d’isolation des tuyauteries. Dans le cadre du plan de sobriété énergétique, cette obligation a été étendue.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u="sng" dirty="0">
                <a:latin typeface="Calibri" panose="020F0502020204030204" pitchFamily="34" charset="0"/>
                <a:ea typeface="Calibri" panose="020F0502020204030204" pitchFamily="34" charset="0"/>
                <a:cs typeface="Calibri" panose="020F0502020204030204" pitchFamily="34" charset="0"/>
              </a:rPr>
              <a:t>Aides disponibles : </a:t>
            </a:r>
            <a:r>
              <a:rPr lang="fr-FR" sz="1100" dirty="0">
                <a:latin typeface="Calibri" panose="020F0502020204030204" pitchFamily="34" charset="0"/>
                <a:ea typeface="Calibri" panose="020F0502020204030204" pitchFamily="34" charset="0"/>
                <a:cs typeface="Calibri" panose="020F0502020204030204" pitchFamily="34" charset="0"/>
              </a:rPr>
              <a:t>La prime relative à l’isolation des points singuliers d’un réseau permet également une subvention de 60 euros par points singuliers par un professionnel.</a:t>
            </a:r>
          </a:p>
        </p:txBody>
      </p:sp>
      <p:sp>
        <p:nvSpPr>
          <p:cNvPr id="2" name="Espace réservé du pied de page 5">
            <a:extLst>
              <a:ext uri="{FF2B5EF4-FFF2-40B4-BE49-F238E27FC236}">
                <a16:creationId xmlns:a16="http://schemas.microsoft.com/office/drawing/2014/main" id="{2054F998-1F4D-B6A3-B0AF-EA3C5ACE84C1}"/>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C19462B0-8BD5-90C2-692B-3C8D8F89F4B0}"/>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a:t>
            </a:fld>
            <a:endParaRPr lang="fr-FR" sz="965" dirty="0"/>
          </a:p>
        </p:txBody>
      </p:sp>
      <p:pic>
        <p:nvPicPr>
          <p:cNvPr id="4" name="Image 3">
            <a:extLst>
              <a:ext uri="{FF2B5EF4-FFF2-40B4-BE49-F238E27FC236}">
                <a16:creationId xmlns:a16="http://schemas.microsoft.com/office/drawing/2014/main" id="{B116FD1B-EE5D-B595-5528-7D8C2C5CC707}"/>
              </a:ext>
            </a:extLst>
          </p:cNvPr>
          <p:cNvPicPr>
            <a:picLocks noChangeAspect="1"/>
          </p:cNvPicPr>
          <p:nvPr/>
        </p:nvPicPr>
        <p:blipFill>
          <a:blip r:embed="rId2"/>
          <a:stretch>
            <a:fillRect/>
          </a:stretch>
        </p:blipFill>
        <p:spPr>
          <a:xfrm>
            <a:off x="541020" y="98814"/>
            <a:ext cx="2246544" cy="594519"/>
          </a:xfrm>
          <a:prstGeom prst="rect">
            <a:avLst/>
          </a:prstGeom>
        </p:spPr>
      </p:pic>
      <p:sp>
        <p:nvSpPr>
          <p:cNvPr id="5" name="ZoneTexte 4">
            <a:extLst>
              <a:ext uri="{FF2B5EF4-FFF2-40B4-BE49-F238E27FC236}">
                <a16:creationId xmlns:a16="http://schemas.microsoft.com/office/drawing/2014/main" id="{C8D1A481-DC02-3889-77C8-F7A84F06A138}"/>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3. ÉVOLUTIONS RÉGLEMENTAIRES ET NORMATIVES </a:t>
            </a:r>
          </a:p>
        </p:txBody>
      </p:sp>
    </p:spTree>
    <p:extLst>
      <p:ext uri="{BB962C8B-B14F-4D97-AF65-F5344CB8AC3E}">
        <p14:creationId xmlns:p14="http://schemas.microsoft.com/office/powerpoint/2010/main" val="3093979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35AB4-B2B6-6527-BF9D-68FE5B85623E}"/>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15A644C7-A266-3310-7AA2-3B1C36245827}"/>
              </a:ext>
            </a:extLst>
          </p:cNvPr>
          <p:cNvSpPr txBox="1"/>
          <p:nvPr/>
        </p:nvSpPr>
        <p:spPr>
          <a:xfrm>
            <a:off x="541020" y="1284704"/>
            <a:ext cx="6484620" cy="6575326"/>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3.2 Evolution des normes de contrôle d’accès en copropriété</a:t>
            </a:r>
          </a:p>
          <a:p>
            <a:endParaRPr lang="fr-FR" sz="1228"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latin typeface="Calibri" panose="020F0502020204030204" pitchFamily="34" charset="0"/>
                <a:ea typeface="Calibri" panose="020F0502020204030204" pitchFamily="34" charset="0"/>
                <a:cs typeface="Calibri" panose="020F0502020204030204" pitchFamily="34" charset="0"/>
              </a:rPr>
              <a:t>Passage au système VIGIK+ échéance au 1 er janvier 2030 </a:t>
            </a:r>
          </a:p>
          <a:p>
            <a:pPr algn="just"/>
            <a:endPar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Contexte </a:t>
            </a:r>
          </a:p>
          <a:p>
            <a:pPr algn="just"/>
            <a:r>
              <a:rPr lang="fr-FR" sz="1100" dirty="0">
                <a:latin typeface="Calibri" panose="020F0502020204030204" pitchFamily="34" charset="0"/>
                <a:ea typeface="Calibri" panose="020F0502020204030204" pitchFamily="34" charset="0"/>
                <a:cs typeface="Calibri" panose="020F0502020204030204" pitchFamily="34" charset="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rPr>
              <a:t>À compter du 1 er janvier 2030 le VIGIK classique ne constituera plus le standard de référence en matière de contrôle d’accès pour les copropriétés.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Qu’est ce que le VIGIK+ </a:t>
            </a:r>
          </a:p>
          <a:p>
            <a:pPr algn="just"/>
            <a:r>
              <a:rPr lang="fr-FR" sz="1100" dirty="0">
                <a:latin typeface="Calibri" panose="020F0502020204030204" pitchFamily="34" charset="0"/>
                <a:ea typeface="Calibri" panose="020F0502020204030204" pitchFamily="34" charset="0"/>
                <a:cs typeface="Calibri" panose="020F0502020204030204" pitchFamily="34" charset="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Principales évolutions </a:t>
            </a:r>
          </a:p>
          <a:p>
            <a:pPr algn="just"/>
            <a:r>
              <a:rPr lang="fr-FR" sz="1100" dirty="0">
                <a:latin typeface="Calibri" panose="020F0502020204030204" pitchFamily="34" charset="0"/>
                <a:ea typeface="Calibri" panose="020F0502020204030204" pitchFamily="34" charset="0"/>
                <a:cs typeface="Calibri" panose="020F0502020204030204" pitchFamily="34" charset="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Impacts pour les copropriétés </a:t>
            </a:r>
          </a:p>
          <a:p>
            <a:pPr algn="just"/>
            <a:r>
              <a:rPr lang="fr-FR" sz="1100" dirty="0">
                <a:latin typeface="Calibri" panose="020F0502020204030204" pitchFamily="34" charset="0"/>
                <a:ea typeface="Calibri" panose="020F0502020204030204" pitchFamily="34" charset="0"/>
                <a:cs typeface="Calibri" panose="020F0502020204030204" pitchFamily="34" charset="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Pourquoi anticiper ? </a:t>
            </a:r>
          </a:p>
          <a:p>
            <a:pPr algn="just"/>
            <a:r>
              <a:rPr lang="fr-FR" sz="1100" dirty="0">
                <a:latin typeface="Calibri" panose="020F0502020204030204" pitchFamily="34" charset="0"/>
                <a:ea typeface="Calibri" panose="020F0502020204030204" pitchFamily="34" charset="0"/>
                <a:cs typeface="Calibri" panose="020F0502020204030204" pitchFamily="34" charset="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p>
        </p:txBody>
      </p:sp>
      <p:sp>
        <p:nvSpPr>
          <p:cNvPr id="2" name="Espace réservé du pied de page 5">
            <a:extLst>
              <a:ext uri="{FF2B5EF4-FFF2-40B4-BE49-F238E27FC236}">
                <a16:creationId xmlns:a16="http://schemas.microsoft.com/office/drawing/2014/main" id="{0A037391-C54F-006A-06F3-940C44458AAB}"/>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07462CDB-140F-BF3F-3C4E-91CA0362909F}"/>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a:t>
            </a:fld>
            <a:endParaRPr lang="fr-FR" sz="965" dirty="0"/>
          </a:p>
        </p:txBody>
      </p:sp>
      <p:pic>
        <p:nvPicPr>
          <p:cNvPr id="4" name="Image 3">
            <a:extLst>
              <a:ext uri="{FF2B5EF4-FFF2-40B4-BE49-F238E27FC236}">
                <a16:creationId xmlns:a16="http://schemas.microsoft.com/office/drawing/2014/main" id="{CF6A3BB9-E85B-9963-11D0-B858991F5DB5}"/>
              </a:ext>
            </a:extLst>
          </p:cNvPr>
          <p:cNvPicPr>
            <a:picLocks noChangeAspect="1"/>
          </p:cNvPicPr>
          <p:nvPr/>
        </p:nvPicPr>
        <p:blipFill>
          <a:blip r:embed="rId2"/>
          <a:stretch>
            <a:fillRect/>
          </a:stretch>
        </p:blipFill>
        <p:spPr>
          <a:xfrm>
            <a:off x="541020" y="98814"/>
            <a:ext cx="2246544" cy="594519"/>
          </a:xfrm>
          <a:prstGeom prst="rect">
            <a:avLst/>
          </a:prstGeom>
        </p:spPr>
      </p:pic>
      <p:sp>
        <p:nvSpPr>
          <p:cNvPr id="5" name="ZoneTexte 4">
            <a:extLst>
              <a:ext uri="{FF2B5EF4-FFF2-40B4-BE49-F238E27FC236}">
                <a16:creationId xmlns:a16="http://schemas.microsoft.com/office/drawing/2014/main" id="{437ECC17-07B6-51A0-D2E0-A06D89BD2E2C}"/>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3. ÉVOLUTIONS RÉGLEMENTAIRES ET NORMATIVES </a:t>
            </a:r>
          </a:p>
        </p:txBody>
      </p:sp>
    </p:spTree>
    <p:extLst>
      <p:ext uri="{BB962C8B-B14F-4D97-AF65-F5344CB8AC3E}">
        <p14:creationId xmlns:p14="http://schemas.microsoft.com/office/powerpoint/2010/main" val="4160763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64EF-18F3-D53E-C1BD-28E38CA372F2}"/>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4D34CF82-7021-F8F1-5726-E0AEC0D9D389}"/>
              </a:ext>
            </a:extLst>
          </p:cNvPr>
          <p:cNvSpPr txBox="1"/>
          <p:nvPr/>
        </p:nvSpPr>
        <p:spPr>
          <a:xfrm>
            <a:off x="541019" y="1284704"/>
            <a:ext cx="6484620" cy="7579896"/>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3.3 Extinction des réseaux 2G et 3G</a:t>
            </a:r>
          </a:p>
          <a:p>
            <a:endParaRPr lang="fr-FR" sz="1228"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latin typeface="Calibri" panose="020F0502020204030204" pitchFamily="34" charset="0"/>
                <a:ea typeface="Calibri" panose="020F0502020204030204" pitchFamily="34" charset="0"/>
                <a:cs typeface="Calibri" panose="020F0502020204030204" pitchFamily="34" charset="0"/>
              </a:rPr>
              <a:t>Mise à niveau des systèmes de communication des ascenseurs</a:t>
            </a:r>
          </a:p>
          <a:p>
            <a:pPr algn="just"/>
            <a:endPar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Contexte </a:t>
            </a:r>
          </a:p>
          <a:p>
            <a:pPr algn="just"/>
            <a:r>
              <a:rPr lang="fr-FR" sz="1100" dirty="0">
                <a:latin typeface="Calibri" panose="020F0502020204030204" pitchFamily="34" charset="0"/>
                <a:ea typeface="Calibri" panose="020F0502020204030204" pitchFamily="34" charset="0"/>
                <a:cs typeface="Calibri" panose="020F0502020204030204" pitchFamily="34" charset="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p>
          <a:p>
            <a:pPr algn="just"/>
            <a:endPar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algn="just"/>
            <a:r>
              <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rPr>
              <a:t>À compter du 31 mars 2026, le démarrage de l’extinction des réseaux 2G pourra rendre certains systèmes de téléalarme d’ascenseurs inopérants.</a:t>
            </a:r>
          </a:p>
          <a:p>
            <a:pPr algn="just"/>
            <a:endPar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4CC7E"/>
                </a:solidFill>
                <a:latin typeface="Calibri" panose="020F0502020204030204" pitchFamily="34" charset="0"/>
                <a:ea typeface="Calibri" panose="020F0502020204030204" pitchFamily="34" charset="0"/>
                <a:cs typeface="Calibri" panose="020F0502020204030204" pitchFamily="34" charset="0"/>
              </a:rPr>
              <a:t>Impacts pour les copropriétés </a:t>
            </a:r>
          </a:p>
          <a:p>
            <a:pPr algn="just"/>
            <a:r>
              <a:rPr lang="fr-FR" sz="1100" dirty="0">
                <a:latin typeface="Calibri" panose="020F0502020204030204" pitchFamily="34" charset="0"/>
                <a:ea typeface="Calibri" panose="020F0502020204030204" pitchFamily="34" charset="0"/>
                <a:cs typeface="Calibri" panose="020F0502020204030204" pitchFamily="34" charset="0"/>
              </a:rPr>
              <a:t>Une partie importante du parc d’ascenseurs français utilise encore des systèmes de communication reposant sur les réseaux 2G ou 3G. Ces équipements devront être modernisés afin de garantir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 maintien du système de téléalarme réglementaire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la continuité des communications avec les services d’intervention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 maintien en fonctionnement des appareils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la conformité réglementaire des installations.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Cette évolution peut nécessiter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 remplacement des modules GSM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une mise à niveau des systèmes de télécommunication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 remplacement de certains équipements anciens incompatibles avec la 4G/5G.</a:t>
            </a:r>
          </a:p>
          <a:p>
            <a:pPr marL="150362" indent="-150362" algn="just">
              <a:buFont typeface="Arial" panose="020B0604020202020204" pitchFamily="34" charset="0"/>
              <a:buChar char="•"/>
            </a:pPr>
            <a:endPar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4CC7E"/>
                </a:solidFill>
                <a:latin typeface="Calibri" panose="020F0502020204030204" pitchFamily="34" charset="0"/>
                <a:ea typeface="Calibri" panose="020F0502020204030204" pitchFamily="34" charset="0"/>
                <a:cs typeface="Calibri" panose="020F0502020204030204" pitchFamily="34" charset="0"/>
              </a:rPr>
              <a:t>Mesures réglementaires et obligations à venir </a:t>
            </a:r>
          </a:p>
          <a:p>
            <a:pPr algn="just"/>
            <a:r>
              <a:rPr lang="fr-FR" sz="1100" dirty="0">
                <a:latin typeface="Calibri" panose="020F0502020204030204" pitchFamily="34" charset="0"/>
                <a:ea typeface="Calibri" panose="020F0502020204030204" pitchFamily="34" charset="0"/>
                <a:cs typeface="Calibri" panose="020F0502020204030204" pitchFamily="34" charset="0"/>
              </a:rPr>
              <a:t>Des évolutions réglementaires sont en cours afin de renforcer l’information et la mise à niveau des équipements concernés. Il est notamment prévu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une obligation d’information du propriétaire par l’ascensoriste lors des visites de maintenance si l’équipement fonctionne encore en 2G ou 3G ;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une vérification de la mise à niveau des dispositifs de communication lors du contrôle technique quinquennal des ascenseurs.</a:t>
            </a:r>
          </a:p>
          <a:p>
            <a:pPr marL="150362" indent="-150362" algn="just">
              <a:buFont typeface="Arial" panose="020B0604020202020204" pitchFamily="34" charset="0"/>
              <a:buChar char="•"/>
            </a:pPr>
            <a:endPar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solidFill>
                  <a:srgbClr val="04CC7E"/>
                </a:solidFill>
                <a:latin typeface="Calibri" panose="020F0502020204030204" pitchFamily="34" charset="0"/>
                <a:ea typeface="Calibri" panose="020F0502020204030204" pitchFamily="34" charset="0"/>
                <a:cs typeface="Calibri" panose="020F0502020204030204" pitchFamily="34" charset="0"/>
              </a:rPr>
              <a:t>Pourquoi anticiper ? </a:t>
            </a:r>
          </a:p>
          <a:p>
            <a:pPr algn="just"/>
            <a:r>
              <a:rPr lang="fr-FR" sz="1100" dirty="0">
                <a:latin typeface="Calibri" panose="020F0502020204030204" pitchFamily="34" charset="0"/>
                <a:ea typeface="Calibri" panose="020F0502020204030204" pitchFamily="34" charset="0"/>
                <a:cs typeface="Calibri" panose="020F0502020204030204" pitchFamily="34" charset="0"/>
              </a:rPr>
              <a:t>L’anticipation de ces travaux permet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d’éviter une interruption de service des ascenseurs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de prévenir les mises à l’arrêt pour non-conformité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de limiter les interventions en urgence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de planifier les coûts de modernisation des équipements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de coordonner ces adaptations avec d’autres travaux techniques de la copropriété.</a:t>
            </a:r>
            <a:endPar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Espace réservé du pied de page 5">
            <a:extLst>
              <a:ext uri="{FF2B5EF4-FFF2-40B4-BE49-F238E27FC236}">
                <a16:creationId xmlns:a16="http://schemas.microsoft.com/office/drawing/2014/main" id="{5C371D61-1104-AED2-5FE2-A12BD9C27656}"/>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29DAD4D1-3C3C-865A-6D09-58A695654626}"/>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3</a:t>
            </a:fld>
            <a:endParaRPr lang="fr-FR" sz="965" dirty="0"/>
          </a:p>
        </p:txBody>
      </p:sp>
      <p:pic>
        <p:nvPicPr>
          <p:cNvPr id="4" name="Image 3">
            <a:extLst>
              <a:ext uri="{FF2B5EF4-FFF2-40B4-BE49-F238E27FC236}">
                <a16:creationId xmlns:a16="http://schemas.microsoft.com/office/drawing/2014/main" id="{E6678931-4D76-644A-FC1E-DDD38CCA2342}"/>
              </a:ext>
            </a:extLst>
          </p:cNvPr>
          <p:cNvPicPr>
            <a:picLocks noChangeAspect="1"/>
          </p:cNvPicPr>
          <p:nvPr/>
        </p:nvPicPr>
        <p:blipFill>
          <a:blip r:embed="rId2"/>
          <a:stretch>
            <a:fillRect/>
          </a:stretch>
        </p:blipFill>
        <p:spPr>
          <a:xfrm>
            <a:off x="541020" y="98814"/>
            <a:ext cx="2246544" cy="594519"/>
          </a:xfrm>
          <a:prstGeom prst="rect">
            <a:avLst/>
          </a:prstGeom>
        </p:spPr>
      </p:pic>
      <p:sp>
        <p:nvSpPr>
          <p:cNvPr id="5" name="ZoneTexte 4">
            <a:extLst>
              <a:ext uri="{FF2B5EF4-FFF2-40B4-BE49-F238E27FC236}">
                <a16:creationId xmlns:a16="http://schemas.microsoft.com/office/drawing/2014/main" id="{A0200A99-1FFA-7355-88FA-6F950C135013}"/>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3. ÉVOLUTIONS RÉGLEMENTAIRES ET NORMATIVES </a:t>
            </a:r>
          </a:p>
        </p:txBody>
      </p:sp>
    </p:spTree>
    <p:extLst>
      <p:ext uri="{BB962C8B-B14F-4D97-AF65-F5344CB8AC3E}">
        <p14:creationId xmlns:p14="http://schemas.microsoft.com/office/powerpoint/2010/main" val="1877952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DAB72-B6B3-2C33-6BA2-05C8E3052DC1}"/>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A1FD7554-F1DE-1EA1-F4B9-B08485D625CF}"/>
              </a:ext>
            </a:extLst>
          </p:cNvPr>
          <p:cNvSpPr txBox="1"/>
          <p:nvPr/>
        </p:nvSpPr>
        <p:spPr>
          <a:xfrm>
            <a:off x="541020" y="1284704"/>
            <a:ext cx="6484620" cy="6174062"/>
          </a:xfrm>
          <a:prstGeom prst="rect">
            <a:avLst/>
          </a:prstGeom>
          <a:noFill/>
        </p:spPr>
        <p:txBody>
          <a:bodyPr wrap="square" rtlCol="0">
            <a:spAutoFit/>
          </a:bodyPr>
          <a:lstStyle/>
          <a:p>
            <a:r>
              <a:rPr lang="fr-FR" sz="1228" b="1" dirty="0">
                <a:latin typeface="Calibri" panose="020F0502020204030204" pitchFamily="34" charset="0"/>
                <a:ea typeface="Calibri" panose="020F0502020204030204" pitchFamily="34" charset="0"/>
                <a:cs typeface="Calibri" panose="020F0502020204030204" pitchFamily="34" charset="0"/>
              </a:rPr>
              <a:t>4.1 Défibrillateurs en copropriété</a:t>
            </a:r>
          </a:p>
          <a:p>
            <a:endParaRPr lang="fr-FR" sz="1228" dirty="0"/>
          </a:p>
          <a:p>
            <a:pPr algn="just"/>
            <a:endParaRPr lang="fr-FR" sz="1052" dirty="0"/>
          </a:p>
          <a:p>
            <a:pPr algn="just"/>
            <a:endParaRPr lang="fr-FR" sz="1052" dirty="0"/>
          </a:p>
          <a:p>
            <a:pPr algn="just"/>
            <a:endParaRPr lang="fr-FR" sz="1052" dirty="0"/>
          </a:p>
          <a:p>
            <a:pPr algn="just"/>
            <a:endParaRPr lang="fr-FR" sz="1052" dirty="0"/>
          </a:p>
          <a:p>
            <a:pPr algn="just"/>
            <a:endParaRPr lang="fr-FR" sz="1052" dirty="0"/>
          </a:p>
          <a:p>
            <a:pPr algn="just"/>
            <a:endParaRPr lang="fr-FR" sz="1052" dirty="0"/>
          </a:p>
          <a:p>
            <a:pPr algn="just"/>
            <a:endParaRPr lang="fr-FR" sz="1052" dirty="0"/>
          </a:p>
          <a:p>
            <a:pPr algn="just"/>
            <a:r>
              <a:rPr lang="fr-FR" sz="1100" dirty="0">
                <a:latin typeface="Calibri" panose="020F0502020204030204" pitchFamily="34" charset="0"/>
                <a:ea typeface="Calibri" panose="020F0502020204030204" pitchFamily="34" charset="0"/>
                <a:cs typeface="Calibri" panose="020F0502020204030204" pitchFamily="34" charset="0"/>
              </a:rPr>
              <a:t>Contrairement aux établissements recevant du public (ERP), l’installation d’un défibrillateur n’est actuellement pas obligatoire dans les copropriétés. Toutefois, cet équipement est fortement recommandé, notamment au regard des enjeux de sécurité des occupants.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L’installation d’un défibrillateur au sein d’une copropriété présente plusieurs avantages :</a:t>
            </a:r>
          </a:p>
          <a:p>
            <a:pPr marL="250603" indent="-250603"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amélioration de la sécurité des résidents ;</a:t>
            </a:r>
          </a:p>
          <a:p>
            <a:pPr marL="250603" indent="-250603"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intervention rapide en cas d’urgence cardiaque ;</a:t>
            </a:r>
          </a:p>
          <a:p>
            <a:pPr marL="250603" indent="-250603"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équipement accessible et simple d’utilisation ;</a:t>
            </a:r>
          </a:p>
          <a:p>
            <a:pPr marL="250603" indent="-250603"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valorisation des équipements de sécurité de l’immeuble.</a:t>
            </a:r>
          </a:p>
          <a:p>
            <a:pPr marL="250603" indent="-250603" algn="just">
              <a:buFont typeface="Arial" panose="020B0604020202020204" pitchFamily="34" charset="0"/>
              <a:buChar char="•"/>
            </a:pPr>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défibrillateur peut être installé dans un espace commun facilement accessible (hall d’entrée, loge gardien, parking ou local commun). Il est recommandé de prévoir :</a:t>
            </a:r>
          </a:p>
          <a:p>
            <a:pPr marL="250603" indent="-250603"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une maintenance régulière de l’appareil ;</a:t>
            </a:r>
          </a:p>
          <a:p>
            <a:pPr marL="250603" indent="-250603"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le remplacement périodique des consommables (batteries et électrodes) ;</a:t>
            </a:r>
          </a:p>
          <a:p>
            <a:pPr marL="250603" indent="-250603"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 une assurance contre les dégradations ou le vol.</a:t>
            </a:r>
          </a:p>
          <a:p>
            <a:pPr marL="250603" indent="-250603" algn="just">
              <a:buFont typeface="Arial" panose="020B0604020202020204" pitchFamily="34" charset="0"/>
              <a:buChar char="•"/>
            </a:pPr>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La mise en place d’un défibrillateur doit faire l’objet d’un vote en assemblée générale des copropriétaires. De nombreuses offres “tout compris” existent aujourd’hui, incluant la fourniture, l’installation et la maintenance de l’équipement.</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Cette démarche constitue une amélioration préventive des équipements de sécurité de la copropriété et participe à la protection des occupants.</a:t>
            </a:r>
          </a:p>
        </p:txBody>
      </p:sp>
      <p:pic>
        <p:nvPicPr>
          <p:cNvPr id="4" name="Image 3">
            <a:extLst>
              <a:ext uri="{FF2B5EF4-FFF2-40B4-BE49-F238E27FC236}">
                <a16:creationId xmlns:a16="http://schemas.microsoft.com/office/drawing/2014/main" id="{87763F9D-B36F-25D1-0059-1F9EA12D438C}"/>
              </a:ext>
            </a:extLst>
          </p:cNvPr>
          <p:cNvPicPr>
            <a:picLocks noChangeAspect="1"/>
          </p:cNvPicPr>
          <p:nvPr/>
        </p:nvPicPr>
        <p:blipFill>
          <a:blip r:embed="rId2"/>
          <a:stretch>
            <a:fillRect/>
          </a:stretch>
        </p:blipFill>
        <p:spPr>
          <a:xfrm>
            <a:off x="4828294" y="1579563"/>
            <a:ext cx="1354277" cy="1128563"/>
          </a:xfrm>
          <a:prstGeom prst="rect">
            <a:avLst/>
          </a:prstGeom>
        </p:spPr>
      </p:pic>
      <p:sp>
        <p:nvSpPr>
          <p:cNvPr id="2" name="ZoneTexte 1">
            <a:extLst>
              <a:ext uri="{FF2B5EF4-FFF2-40B4-BE49-F238E27FC236}">
                <a16:creationId xmlns:a16="http://schemas.microsoft.com/office/drawing/2014/main" id="{A68715D8-831D-C051-08A0-8F9086AAC1E2}"/>
              </a:ext>
            </a:extLst>
          </p:cNvPr>
          <p:cNvSpPr txBox="1"/>
          <p:nvPr/>
        </p:nvSpPr>
        <p:spPr>
          <a:xfrm>
            <a:off x="541020" y="1674486"/>
            <a:ext cx="3878580" cy="938719"/>
          </a:xfrm>
          <a:prstGeom prst="rect">
            <a:avLst/>
          </a:prstGeom>
          <a:noFill/>
        </p:spPr>
        <p:txBody>
          <a:bodyPr wrap="square" rtlCol="0" anchor="ctr">
            <a:spAutoFit/>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p>
        </p:txBody>
      </p:sp>
      <p:sp>
        <p:nvSpPr>
          <p:cNvPr id="3" name="Espace réservé du pied de page 5">
            <a:extLst>
              <a:ext uri="{FF2B5EF4-FFF2-40B4-BE49-F238E27FC236}">
                <a16:creationId xmlns:a16="http://schemas.microsoft.com/office/drawing/2014/main" id="{8E24B4A7-2C50-692C-56F3-1C4DDD6FE4D5}"/>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369B883B-EE80-55BC-8F82-76A362D9A9DF}"/>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4</a:t>
            </a:fld>
            <a:endParaRPr lang="fr-FR" sz="965" dirty="0"/>
          </a:p>
        </p:txBody>
      </p:sp>
      <p:pic>
        <p:nvPicPr>
          <p:cNvPr id="6" name="Image 5">
            <a:extLst>
              <a:ext uri="{FF2B5EF4-FFF2-40B4-BE49-F238E27FC236}">
                <a16:creationId xmlns:a16="http://schemas.microsoft.com/office/drawing/2014/main" id="{4425765B-784B-3E98-DF69-3A3688560635}"/>
              </a:ext>
            </a:extLst>
          </p:cNvPr>
          <p:cNvPicPr>
            <a:picLocks noChangeAspect="1"/>
          </p:cNvPicPr>
          <p:nvPr/>
        </p:nvPicPr>
        <p:blipFill>
          <a:blip r:embed="rId3"/>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117D83C2-419C-6B6C-7B87-3FD3394A101D}"/>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4. RECOMMANDATIONS COMPLÉMENTAIRES</a:t>
            </a:r>
          </a:p>
        </p:txBody>
      </p:sp>
    </p:spTree>
    <p:extLst>
      <p:ext uri="{BB962C8B-B14F-4D97-AF65-F5344CB8AC3E}">
        <p14:creationId xmlns:p14="http://schemas.microsoft.com/office/powerpoint/2010/main" val="254157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F16E4-A3D0-8BF5-5B87-80C603FFB047}"/>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0B37EA16-0537-F9EC-FBBB-ED1A05D0A720}"/>
              </a:ext>
            </a:extLst>
          </p:cNvPr>
          <p:cNvGraphicFramePr>
            <a:graphicFrameLocks noGrp="1"/>
          </p:cNvGraphicFramePr>
          <p:nvPr>
            <p:extLst>
              <p:ext uri="{D42A27DB-BD31-4B8C-83A1-F6EECF244321}">
                <p14:modId xmlns:p14="http://schemas.microsoft.com/office/powerpoint/2010/main" val="3630472373"/>
              </p:ext>
            </p:extLst>
          </p:nvPr>
        </p:nvGraphicFramePr>
        <p:xfrm>
          <a:off x="541020" y="3074862"/>
          <a:ext cx="6484620" cy="6240168"/>
        </p:xfrm>
        <a:graphic>
          <a:graphicData uri="http://schemas.openxmlformats.org/drawingml/2006/table">
            <a:tbl>
              <a:tblPr firstRow="1" bandRow="1">
                <a:tableStyleId>{5940675A-B579-460E-94D1-54222C63F5DA}</a:tableStyleId>
              </a:tblPr>
              <a:tblGrid>
                <a:gridCol w="3480547">
                  <a:extLst>
                    <a:ext uri="{9D8B030D-6E8A-4147-A177-3AD203B41FA5}">
                      <a16:colId xmlns:a16="http://schemas.microsoft.com/office/drawing/2014/main" val="4119313766"/>
                    </a:ext>
                  </a:extLst>
                </a:gridCol>
                <a:gridCol w="1177169">
                  <a:extLst>
                    <a:ext uri="{9D8B030D-6E8A-4147-A177-3AD203B41FA5}">
                      <a16:colId xmlns:a16="http://schemas.microsoft.com/office/drawing/2014/main" val="2729404737"/>
                    </a:ext>
                  </a:extLst>
                </a:gridCol>
                <a:gridCol w="1826904">
                  <a:extLst>
                    <a:ext uri="{9D8B030D-6E8A-4147-A177-3AD203B41FA5}">
                      <a16:colId xmlns:a16="http://schemas.microsoft.com/office/drawing/2014/main" val="2870236974"/>
                    </a:ext>
                  </a:extLst>
                </a:gridCol>
              </a:tblGrid>
              <a:tr h="314072">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DESIGNATION</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STATUT</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COMMENTAIRE</a:t>
                      </a:r>
                    </a:p>
                  </a:txBody>
                  <a:tcPr marL="80189" marR="80189" marT="40094" marB="40094" anchor="ctr"/>
                </a:tc>
                <a:extLst>
                  <a:ext uri="{0D108BD9-81ED-4DB2-BD59-A6C34878D82A}">
                    <a16:rowId xmlns:a16="http://schemas.microsoft.com/office/drawing/2014/main" val="1186977461"/>
                  </a:ext>
                </a:extLst>
              </a:tr>
              <a:tr h="1042452">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Assurance de la copropriété</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65-557 du 10/07/1965 : art. 9-1</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2014-366 du 24/03/2014 (ALUR)</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souscrire une assurance responsabilité civile pour le compte de la copropriété.</a:t>
                      </a:r>
                      <a:endParaRPr lang="fr-FR" sz="1100" b="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Transmis</a:t>
                      </a:r>
                    </a:p>
                  </a:txBody>
                  <a:tcPr marL="80189" marR="80189" marT="40094" marB="40094" anchor="ctr">
                    <a:solidFill>
                      <a:srgbClr val="00B05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973100668"/>
                  </a:ext>
                </a:extLst>
              </a:tr>
              <a:tr h="882075">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Immatriculation de la copropriété</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65-557 du 10/07/1965 : art. 8-2</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2014-366 du 24/03/2014 (ALUR)</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d’immatriculer la copropriété au registre national des copropriétés.</a:t>
                      </a: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Transmis</a:t>
                      </a:r>
                    </a:p>
                  </a:txBody>
                  <a:tcPr marL="80189" marR="80189" marT="40094" marB="40094" anchor="ctr">
                    <a:solidFill>
                      <a:srgbClr val="00B05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438823467"/>
                  </a:ext>
                </a:extLst>
              </a:tr>
              <a:tr h="1042452">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Fiche synthétique</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65-557 du 10/07/1965 : art. 8-2-1</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Décret n° 2016-1822 du 21/12/2016</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d’établir et de mettre à jour annuellement une fiche synthétique de la copropriété.</a:t>
                      </a: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Transmis</a:t>
                      </a:r>
                    </a:p>
                  </a:txBody>
                  <a:tcPr marL="80189" marR="80189" marT="40094" marB="40094" anchor="ctr">
                    <a:solidFill>
                      <a:srgbClr val="FF000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1413238456"/>
                  </a:ext>
                </a:extLst>
              </a:tr>
              <a:tr h="1042452">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Règlement de copropriété</a:t>
                      </a:r>
                    </a:p>
                    <a:p>
                      <a:pPr algn="ctr"/>
                      <a:r>
                        <a:rPr lang="fr-FR" sz="110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65-557 du 10/07/1965 : art. 8</a:t>
                      </a:r>
                      <a:endParaRPr lang="fr-FR" sz="1100" b="1"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disposer d’un règlement de copropriété définissant l’organisation, les parties communes et privatives, ainsi que les droits et obligations des copropriétaires.</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Transmis</a:t>
                      </a:r>
                    </a:p>
                  </a:txBody>
                  <a:tcPr marL="80189" marR="80189" marT="40094" marB="40094" anchor="ctr">
                    <a:solidFill>
                      <a:srgbClr val="00B050"/>
                    </a:solidFill>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3547124683"/>
                  </a:ext>
                </a:extLst>
              </a:tr>
              <a:tr h="882075">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Compte bancaire séparé</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65-557 du 10/07/1965 : art. 18</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2014-366 du 24/03/2014 (ALUR)</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d’ouvrir et de tenir un compte bancaire séparé au nom du syndicat des copropriétaires.</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 Non Transmis</a:t>
                      </a:r>
                    </a:p>
                  </a:txBody>
                  <a:tcPr marL="80189" marR="80189" marT="40094" marB="40094" anchor="ctr">
                    <a:solidFill>
                      <a:srgbClr val="FF000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2496824256"/>
                  </a:ext>
                </a:extLst>
              </a:tr>
              <a:tr h="882075">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Procès-verbaux des assemblées générales</a:t>
                      </a:r>
                    </a:p>
                    <a:p>
                      <a:pPr algn="ctr"/>
                      <a:r>
                        <a:rPr lang="fr-FR" sz="1100" b="0" i="1" dirty="0">
                          <a:solidFill>
                            <a:srgbClr val="BFBFBF"/>
                          </a:solidFill>
                          <a:latin typeface="Calibri" panose="020F0502020204030204" pitchFamily="34" charset="0"/>
                          <a:ea typeface="Calibri" panose="020F0502020204030204" pitchFamily="34" charset="0"/>
                          <a:cs typeface="Calibri" panose="020F0502020204030204" pitchFamily="34" charset="0"/>
                        </a:rPr>
                        <a:t>Loi n° 65-557 du 10/07/1965 : art. 17, 17-1 et 42</a:t>
                      </a:r>
                      <a:br>
                        <a:rPr lang="fr-FR" sz="1100" b="0" i="1" dirty="0">
                          <a:solidFill>
                            <a:srgbClr val="BFBFBF"/>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rgbClr val="BFBFBF"/>
                          </a:solidFill>
                          <a:latin typeface="Calibri" panose="020F0502020204030204" pitchFamily="34" charset="0"/>
                          <a:ea typeface="Calibri" panose="020F0502020204030204" pitchFamily="34" charset="0"/>
                          <a:cs typeface="Calibri" panose="020F0502020204030204" pitchFamily="34" charset="0"/>
                        </a:rPr>
                        <a:t>Décret n° 67-223 du 17/03/1967</a:t>
                      </a:r>
                    </a:p>
                    <a:p>
                      <a:pPr algn="ctr"/>
                      <a:r>
                        <a:rPr lang="fr-FR" sz="1100" dirty="0">
                          <a:latin typeface="Calibri" panose="020F0502020204030204" pitchFamily="34" charset="0"/>
                          <a:ea typeface="Calibri" panose="020F0502020204030204" pitchFamily="34" charset="0"/>
                          <a:cs typeface="Calibri" panose="020F0502020204030204" pitchFamily="34" charset="0"/>
                        </a:rPr>
                        <a:t>Les procès-verbaux des assemblées générales retracent les décisions votées par les copropriétaires. </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Transmis</a:t>
                      </a:r>
                    </a:p>
                  </a:txBody>
                  <a:tcPr marL="80189" marR="80189" marT="40094" marB="40094" anchor="ctr">
                    <a:solidFill>
                      <a:srgbClr val="00B05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2126250457"/>
                  </a:ext>
                </a:extLst>
              </a:tr>
            </a:tbl>
          </a:graphicData>
        </a:graphic>
      </p:graphicFrame>
      <p:sp>
        <p:nvSpPr>
          <p:cNvPr id="3" name="ZoneTexte 2">
            <a:extLst>
              <a:ext uri="{FF2B5EF4-FFF2-40B4-BE49-F238E27FC236}">
                <a16:creationId xmlns:a16="http://schemas.microsoft.com/office/drawing/2014/main" id="{FABDD4F7-1CFE-C5DE-A0ED-8E8A60904242}"/>
              </a:ext>
            </a:extLst>
          </p:cNvPr>
          <p:cNvSpPr txBox="1"/>
          <p:nvPr/>
        </p:nvSpPr>
        <p:spPr>
          <a:xfrm>
            <a:off x="541020" y="1314961"/>
            <a:ext cx="6484620" cy="1639231"/>
          </a:xfrm>
          <a:prstGeom prst="rect">
            <a:avLst/>
          </a:prstGeom>
          <a:noFill/>
        </p:spPr>
        <p:txBody>
          <a:bodyPr wrap="square" rtlCol="0">
            <a:spAutoFit/>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tableau ci-après récapitule les principaux documents examinés ainsi que leur statut de transmission au moment de la réalisation de l'étude.</a:t>
            </a:r>
          </a:p>
          <a:p>
            <a:endParaRPr lang="fr-FR" sz="1052" dirty="0">
              <a:latin typeface="Calibri" panose="020F0502020204030204" pitchFamily="34" charset="0"/>
              <a:ea typeface="Calibri" panose="020F0502020204030204" pitchFamily="34" charset="0"/>
              <a:cs typeface="Calibri" panose="020F0502020204030204" pitchFamily="34" charset="0"/>
            </a:endParaRPr>
          </a:p>
          <a:p>
            <a:r>
              <a:rPr lang="fr-FR" sz="1300" b="1" dirty="0">
                <a:latin typeface="Calibri" panose="020F0502020204030204" pitchFamily="34" charset="0"/>
                <a:ea typeface="Calibri" panose="020F0502020204030204" pitchFamily="34" charset="0"/>
                <a:cs typeface="Calibri" panose="020F0502020204030204" pitchFamily="34" charset="0"/>
              </a:rPr>
              <a:t>5.1 Documents réglementaires et administratifs </a:t>
            </a:r>
          </a:p>
        </p:txBody>
      </p:sp>
      <p:sp>
        <p:nvSpPr>
          <p:cNvPr id="4" name="Espace réservé du pied de page 5">
            <a:extLst>
              <a:ext uri="{FF2B5EF4-FFF2-40B4-BE49-F238E27FC236}">
                <a16:creationId xmlns:a16="http://schemas.microsoft.com/office/drawing/2014/main" id="{C271076D-A53D-EB4C-AA6A-70A13507F7F8}"/>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07CE7931-488B-F8F8-F4FE-136D6E4AF05C}"/>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5</a:t>
            </a:fld>
            <a:endParaRPr lang="fr-FR" sz="965" dirty="0"/>
          </a:p>
        </p:txBody>
      </p:sp>
      <p:pic>
        <p:nvPicPr>
          <p:cNvPr id="6" name="Image 5">
            <a:extLst>
              <a:ext uri="{FF2B5EF4-FFF2-40B4-BE49-F238E27FC236}">
                <a16:creationId xmlns:a16="http://schemas.microsoft.com/office/drawing/2014/main" id="{CFB22FF2-AD41-4B04-C62A-BBE0C935F70A}"/>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4CAFD32B-97C0-57B3-8849-E81F100BB6D1}"/>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5. ANALYSE DOCUMENTAIRE DE LA COPROPRIÉTÉ</a:t>
            </a:r>
          </a:p>
        </p:txBody>
      </p:sp>
    </p:spTree>
    <p:extLst>
      <p:ext uri="{BB962C8B-B14F-4D97-AF65-F5344CB8AC3E}">
        <p14:creationId xmlns:p14="http://schemas.microsoft.com/office/powerpoint/2010/main" val="2355198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B3DDD-F71D-F043-4056-AACF0381B180}"/>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33D7BCD-1ACA-3E39-2CFC-6108886C7FA2}"/>
              </a:ext>
            </a:extLst>
          </p:cNvPr>
          <p:cNvSpPr txBox="1"/>
          <p:nvPr/>
        </p:nvSpPr>
        <p:spPr>
          <a:xfrm>
            <a:off x="541020" y="1313465"/>
            <a:ext cx="5668887" cy="292388"/>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5.2 Diagnostics techniques obligatoires</a:t>
            </a:r>
          </a:p>
        </p:txBody>
      </p:sp>
      <p:graphicFrame>
        <p:nvGraphicFramePr>
          <p:cNvPr id="4" name="Tableau 3">
            <a:extLst>
              <a:ext uri="{FF2B5EF4-FFF2-40B4-BE49-F238E27FC236}">
                <a16:creationId xmlns:a16="http://schemas.microsoft.com/office/drawing/2014/main" id="{041B44CC-0A16-159A-2A41-1BB4E2B1600E}"/>
              </a:ext>
            </a:extLst>
          </p:cNvPr>
          <p:cNvGraphicFramePr>
            <a:graphicFrameLocks noGrp="1"/>
          </p:cNvGraphicFramePr>
          <p:nvPr>
            <p:extLst>
              <p:ext uri="{D42A27DB-BD31-4B8C-83A1-F6EECF244321}">
                <p14:modId xmlns:p14="http://schemas.microsoft.com/office/powerpoint/2010/main" val="9547064"/>
              </p:ext>
            </p:extLst>
          </p:nvPr>
        </p:nvGraphicFramePr>
        <p:xfrm>
          <a:off x="541019" y="1775763"/>
          <a:ext cx="6484620" cy="6918289"/>
        </p:xfrm>
        <a:graphic>
          <a:graphicData uri="http://schemas.openxmlformats.org/drawingml/2006/table">
            <a:tbl>
              <a:tblPr firstRow="1" bandRow="1">
                <a:tableStyleId>{5940675A-B579-460E-94D1-54222C63F5DA}</a:tableStyleId>
              </a:tblPr>
              <a:tblGrid>
                <a:gridCol w="3537258">
                  <a:extLst>
                    <a:ext uri="{9D8B030D-6E8A-4147-A177-3AD203B41FA5}">
                      <a16:colId xmlns:a16="http://schemas.microsoft.com/office/drawing/2014/main" val="4159167149"/>
                    </a:ext>
                  </a:extLst>
                </a:gridCol>
                <a:gridCol w="1274978">
                  <a:extLst>
                    <a:ext uri="{9D8B030D-6E8A-4147-A177-3AD203B41FA5}">
                      <a16:colId xmlns:a16="http://schemas.microsoft.com/office/drawing/2014/main" val="2509692209"/>
                    </a:ext>
                  </a:extLst>
                </a:gridCol>
                <a:gridCol w="1672384">
                  <a:extLst>
                    <a:ext uri="{9D8B030D-6E8A-4147-A177-3AD203B41FA5}">
                      <a16:colId xmlns:a16="http://schemas.microsoft.com/office/drawing/2014/main" val="2497089173"/>
                    </a:ext>
                  </a:extLst>
                </a:gridCol>
              </a:tblGrid>
              <a:tr h="314072">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DESIGNATION</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STATUT</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COMMENTAIRE</a:t>
                      </a:r>
                    </a:p>
                  </a:txBody>
                  <a:tcPr marL="80189" marR="80189" marT="40094" marB="40094" anchor="ctr"/>
                </a:tc>
                <a:extLst>
                  <a:ext uri="{0D108BD9-81ED-4DB2-BD59-A6C34878D82A}">
                    <a16:rowId xmlns:a16="http://schemas.microsoft.com/office/drawing/2014/main" val="1940834753"/>
                  </a:ext>
                </a:extLst>
              </a:tr>
              <a:tr h="1202829">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Dossier Technique Amiante (DTA)</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65-557 du 10/07/1965 : art. 18</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2014-366 du 24/03/2014 (ALUR)</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d’établir et de tenir à jour un dossier technique amiante pour les immeubles dont le permis de construire est antérieur au 1er juillet 1997.</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concerné</a:t>
                      </a:r>
                    </a:p>
                  </a:txBody>
                  <a:tcPr marL="80189" marR="80189" marT="40094" marB="40094" anchor="ctr">
                    <a:solidFill>
                      <a:srgbClr val="BFBFBF"/>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881779513"/>
                  </a:ext>
                </a:extLst>
              </a:tr>
              <a:tr h="1363206">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Diagnostic plomb – Parties communes (CREP)</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Code de la santé publique : art. L1334-5 à L1334-12</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Décret n° 2006-474 du 25/04/2006</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réaliser un diagnostic plomb des parties communes pour les immeubles construits avant 1949, en cas de situation à risque ou avant travaux.</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concerné</a:t>
                      </a:r>
                    </a:p>
                  </a:txBody>
                  <a:tcPr marL="80189" marR="80189" marT="40094" marB="40094" anchor="ctr">
                    <a:solidFill>
                      <a:srgbClr val="BFBFBF"/>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3426186064"/>
                  </a:ext>
                </a:extLst>
              </a:tr>
              <a:tr h="1363206">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Diagnostic Technique Global (DTG)</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65-557 du 10/07/1965 : art. L731-1 et L731-2 du CCH</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2014-366 du 24/03/2014 (ALUR)</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réaliser un diagnostic technique global pour les copropriétés de plus de 10 ans, en cas de mise en copropriété ou sur décision de l’assemblée générale.</a:t>
                      </a: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concerné</a:t>
                      </a:r>
                    </a:p>
                  </a:txBody>
                  <a:tcPr marL="80189" marR="80189" marT="40094" marB="40094" anchor="ctr">
                    <a:solidFill>
                      <a:schemeClr val="bg1">
                        <a:lumMod val="75000"/>
                      </a:schemeClr>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4193821738"/>
                  </a:ext>
                </a:extLst>
              </a:tr>
              <a:tr h="1363206">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Diagnostic termites</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Code de la construction et de l’habitation : art. L133-1 à L133-6</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Arrêté préfectoral de classement en zone termites</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réaliser un diagnostic termites pour les immeubles situés dans une zone déclarée infestée par arrêté préfectoral, notamment en cas de vente ou de travaux.</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concerné</a:t>
                      </a:r>
                    </a:p>
                  </a:txBody>
                  <a:tcPr marL="80189" marR="80189" marT="40094" marB="40094" anchor="ctr">
                    <a:solidFill>
                      <a:srgbClr val="BFBFBF"/>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455496444"/>
                  </a:ext>
                </a:extLst>
              </a:tr>
              <a:tr h="1202829">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Diagnostic mérules</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Code de la construction et de l’habitation : art. L133-7 à L133-9</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Code de la santé publique : art. L1331-1</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Obligation de déclarer en mairie la présence de mérules et d’informer les occupants en cas de contamination du bâtiment.</a:t>
                      </a: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concerné</a:t>
                      </a:r>
                    </a:p>
                  </a:txBody>
                  <a:tcPr marL="80189" marR="80189" marT="40094" marB="40094" anchor="ctr">
                    <a:solidFill>
                      <a:srgbClr val="BFBFBF"/>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3401130292"/>
                  </a:ext>
                </a:extLst>
              </a:tr>
            </a:tbl>
          </a:graphicData>
        </a:graphic>
      </p:graphicFrame>
      <p:sp>
        <p:nvSpPr>
          <p:cNvPr id="8" name="Espace réservé du pied de page 5">
            <a:extLst>
              <a:ext uri="{FF2B5EF4-FFF2-40B4-BE49-F238E27FC236}">
                <a16:creationId xmlns:a16="http://schemas.microsoft.com/office/drawing/2014/main" id="{F7F5813B-2EA8-0F73-1DFA-FA7A7EFB3050}"/>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E96FFEFC-B227-B5AF-3AF4-B4508328DE54}"/>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6</a:t>
            </a:fld>
            <a:endParaRPr lang="fr-FR" sz="965" dirty="0"/>
          </a:p>
        </p:txBody>
      </p:sp>
      <p:pic>
        <p:nvPicPr>
          <p:cNvPr id="2" name="Image 1">
            <a:extLst>
              <a:ext uri="{FF2B5EF4-FFF2-40B4-BE49-F238E27FC236}">
                <a16:creationId xmlns:a16="http://schemas.microsoft.com/office/drawing/2014/main" id="{7A86318E-75C7-5F58-7152-B69A86C77A70}"/>
              </a:ext>
            </a:extLst>
          </p:cNvPr>
          <p:cNvPicPr>
            <a:picLocks noChangeAspect="1"/>
          </p:cNvPicPr>
          <p:nvPr/>
        </p:nvPicPr>
        <p:blipFill>
          <a:blip r:embed="rId2"/>
          <a:stretch>
            <a:fillRect/>
          </a:stretch>
        </p:blipFill>
        <p:spPr>
          <a:xfrm>
            <a:off x="541020" y="98814"/>
            <a:ext cx="2246544" cy="594519"/>
          </a:xfrm>
          <a:prstGeom prst="rect">
            <a:avLst/>
          </a:prstGeom>
        </p:spPr>
      </p:pic>
      <p:sp>
        <p:nvSpPr>
          <p:cNvPr id="5" name="ZoneTexte 4">
            <a:extLst>
              <a:ext uri="{FF2B5EF4-FFF2-40B4-BE49-F238E27FC236}">
                <a16:creationId xmlns:a16="http://schemas.microsoft.com/office/drawing/2014/main" id="{1FABA14A-7CB9-BA75-7CF5-FD5433D98E0B}"/>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5. ANALYSE DOCUMENTAIRE DE LA COPROPRIÉTÉ</a:t>
            </a:r>
          </a:p>
        </p:txBody>
      </p:sp>
    </p:spTree>
    <p:extLst>
      <p:ext uri="{BB962C8B-B14F-4D97-AF65-F5344CB8AC3E}">
        <p14:creationId xmlns:p14="http://schemas.microsoft.com/office/powerpoint/2010/main" val="302022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07CD-A82D-525C-EAC3-4ECA02493A4F}"/>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EF6A3772-5E45-B471-1278-C63461C9F8C2}"/>
              </a:ext>
            </a:extLst>
          </p:cNvPr>
          <p:cNvSpPr txBox="1"/>
          <p:nvPr/>
        </p:nvSpPr>
        <p:spPr>
          <a:xfrm>
            <a:off x="513684" y="1327697"/>
            <a:ext cx="5668887" cy="292388"/>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5.3 Contrat d’entretien</a:t>
            </a:r>
          </a:p>
        </p:txBody>
      </p:sp>
      <p:graphicFrame>
        <p:nvGraphicFramePr>
          <p:cNvPr id="4" name="Tableau 3">
            <a:extLst>
              <a:ext uri="{FF2B5EF4-FFF2-40B4-BE49-F238E27FC236}">
                <a16:creationId xmlns:a16="http://schemas.microsoft.com/office/drawing/2014/main" id="{F3D07149-8BA7-7D14-3410-32BB8BC3EFEF}"/>
              </a:ext>
            </a:extLst>
          </p:cNvPr>
          <p:cNvGraphicFramePr>
            <a:graphicFrameLocks noGrp="1"/>
          </p:cNvGraphicFramePr>
          <p:nvPr>
            <p:extLst>
              <p:ext uri="{D42A27DB-BD31-4B8C-83A1-F6EECF244321}">
                <p14:modId xmlns:p14="http://schemas.microsoft.com/office/powerpoint/2010/main" val="1965008068"/>
              </p:ext>
            </p:extLst>
          </p:nvPr>
        </p:nvGraphicFramePr>
        <p:xfrm>
          <a:off x="541019" y="1740728"/>
          <a:ext cx="6484619" cy="3531201"/>
        </p:xfrm>
        <a:graphic>
          <a:graphicData uri="http://schemas.openxmlformats.org/drawingml/2006/table">
            <a:tbl>
              <a:tblPr firstRow="1" bandRow="1">
                <a:tableStyleId>{5940675A-B579-460E-94D1-54222C63F5DA}</a:tableStyleId>
              </a:tblPr>
              <a:tblGrid>
                <a:gridCol w="3595880">
                  <a:extLst>
                    <a:ext uri="{9D8B030D-6E8A-4147-A177-3AD203B41FA5}">
                      <a16:colId xmlns:a16="http://schemas.microsoft.com/office/drawing/2014/main" val="790578122"/>
                    </a:ext>
                  </a:extLst>
                </a:gridCol>
                <a:gridCol w="1302512">
                  <a:extLst>
                    <a:ext uri="{9D8B030D-6E8A-4147-A177-3AD203B41FA5}">
                      <a16:colId xmlns:a16="http://schemas.microsoft.com/office/drawing/2014/main" val="3934817665"/>
                    </a:ext>
                  </a:extLst>
                </a:gridCol>
                <a:gridCol w="1586227">
                  <a:extLst>
                    <a:ext uri="{9D8B030D-6E8A-4147-A177-3AD203B41FA5}">
                      <a16:colId xmlns:a16="http://schemas.microsoft.com/office/drawing/2014/main" val="4106796576"/>
                    </a:ext>
                  </a:extLst>
                </a:gridCol>
              </a:tblGrid>
              <a:tr h="314072">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DESIGNATION</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STATUT</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COMMENTAIRE</a:t>
                      </a:r>
                    </a:p>
                  </a:txBody>
                  <a:tcPr marL="80189" marR="80189" marT="40094" marB="40094" anchor="ctr"/>
                </a:tc>
                <a:extLst>
                  <a:ext uri="{0D108BD9-81ED-4DB2-BD59-A6C34878D82A}">
                    <a16:rowId xmlns:a16="http://schemas.microsoft.com/office/drawing/2014/main" val="122612088"/>
                  </a:ext>
                </a:extLst>
              </a:tr>
              <a:tr h="1202829">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Maintenance des chaudières collectives &lt; 400 kW</a:t>
                      </a:r>
                    </a:p>
                    <a:p>
                      <a:pPr algn="ctr"/>
                      <a:r>
                        <a:rPr lang="fr-FR" sz="110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Arrêté du 15 septembre 2009 modifié relatif à l’entretien des chaudières</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faire réaliser un entretien annuel des chaudières collectives dont la puissance est comprise entre 4 et 400 kW.</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concerné</a:t>
                      </a:r>
                    </a:p>
                  </a:txBody>
                  <a:tcPr marL="80189" marR="80189" marT="40094" marB="40094" anchor="ctr">
                    <a:solidFill>
                      <a:srgbClr val="BFBFBF"/>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3112882896"/>
                  </a:ext>
                </a:extLst>
              </a:tr>
              <a:tr h="1202829">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Maintenance des chaudières collectives &gt; 400 kW</a:t>
                      </a:r>
                    </a:p>
                    <a:p>
                      <a:pPr algn="ctr"/>
                      <a:r>
                        <a:rPr lang="fr-FR" sz="110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Arrêté du 2 octobre 2009 relatif à l’inspection des chaudières</a:t>
                      </a:r>
                    </a:p>
                    <a:p>
                      <a:pPr algn="ctr"/>
                      <a:r>
                        <a:rPr lang="fr-FR" sz="1100" dirty="0">
                          <a:latin typeface="Calibri" panose="020F0502020204030204" pitchFamily="34" charset="0"/>
                          <a:ea typeface="Calibri" panose="020F0502020204030204" pitchFamily="34" charset="0"/>
                          <a:cs typeface="Calibri" panose="020F0502020204030204" pitchFamily="34" charset="0"/>
                        </a:rPr>
                        <a:t>Inspection périodique obligatoire tous les 2 ans pour les chaudières collectives de puissance supérieure à 400 kW.</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concerné</a:t>
                      </a:r>
                    </a:p>
                  </a:txBody>
                  <a:tcPr marL="80189" marR="80189" marT="40094" marB="40094" anchor="ctr">
                    <a:solidFill>
                      <a:srgbClr val="BFBFBF"/>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3601796926"/>
                  </a:ext>
                </a:extLst>
              </a:tr>
              <a:tr h="811471">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Carnet d’entretien de l’immeuble</a:t>
                      </a:r>
                    </a:p>
                    <a:p>
                      <a:pPr algn="ctr"/>
                      <a:r>
                        <a:rPr lang="fr-FR" sz="110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Loi n° 65-557 du 10/07/1965 : art. 18</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tenir à jour le carnet d’entretien de la copropriété.</a:t>
                      </a: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Transmis</a:t>
                      </a:r>
                    </a:p>
                  </a:txBody>
                  <a:tcPr marL="80189" marR="80189" marT="40094" marB="40094" anchor="ctr">
                    <a:solidFill>
                      <a:srgbClr val="00B05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191791625"/>
                  </a:ext>
                </a:extLst>
              </a:tr>
            </a:tbl>
          </a:graphicData>
        </a:graphic>
      </p:graphicFrame>
      <p:sp>
        <p:nvSpPr>
          <p:cNvPr id="8" name="ZoneTexte 7">
            <a:extLst>
              <a:ext uri="{FF2B5EF4-FFF2-40B4-BE49-F238E27FC236}">
                <a16:creationId xmlns:a16="http://schemas.microsoft.com/office/drawing/2014/main" id="{55E8C2AB-CEF4-A0EC-6074-D8F763411814}"/>
              </a:ext>
            </a:extLst>
          </p:cNvPr>
          <p:cNvSpPr txBox="1"/>
          <p:nvPr/>
        </p:nvSpPr>
        <p:spPr>
          <a:xfrm>
            <a:off x="541019" y="5452317"/>
            <a:ext cx="6484619" cy="1107996"/>
          </a:xfrm>
          <a:prstGeom prst="rect">
            <a:avLst/>
          </a:prstGeom>
          <a:noFill/>
        </p:spPr>
        <p:txBody>
          <a:bodyPr wrap="square" rtlCol="0">
            <a:spAutoFit/>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fr-FR" sz="1100" b="1"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0" name="Tableau 9">
            <a:extLst>
              <a:ext uri="{FF2B5EF4-FFF2-40B4-BE49-F238E27FC236}">
                <a16:creationId xmlns:a16="http://schemas.microsoft.com/office/drawing/2014/main" id="{ED613CA3-7FB0-909C-01D1-8D06C8967858}"/>
              </a:ext>
            </a:extLst>
          </p:cNvPr>
          <p:cNvGraphicFramePr>
            <a:graphicFrameLocks noGrp="1"/>
          </p:cNvGraphicFramePr>
          <p:nvPr>
            <p:extLst>
              <p:ext uri="{D42A27DB-BD31-4B8C-83A1-F6EECF244321}">
                <p14:modId xmlns:p14="http://schemas.microsoft.com/office/powerpoint/2010/main" val="7995983"/>
              </p:ext>
            </p:extLst>
          </p:nvPr>
        </p:nvGraphicFramePr>
        <p:xfrm>
          <a:off x="513684" y="6688548"/>
          <a:ext cx="6511954" cy="1300836"/>
        </p:xfrm>
        <a:graphic>
          <a:graphicData uri="http://schemas.openxmlformats.org/drawingml/2006/table">
            <a:tbl>
              <a:tblPr firstRow="1" bandRow="1">
                <a:tableStyleId>{5940675A-B579-460E-94D1-54222C63F5DA}</a:tableStyleId>
              </a:tblPr>
              <a:tblGrid>
                <a:gridCol w="3255977">
                  <a:extLst>
                    <a:ext uri="{9D8B030D-6E8A-4147-A177-3AD203B41FA5}">
                      <a16:colId xmlns:a16="http://schemas.microsoft.com/office/drawing/2014/main" val="733587093"/>
                    </a:ext>
                  </a:extLst>
                </a:gridCol>
                <a:gridCol w="3255977">
                  <a:extLst>
                    <a:ext uri="{9D8B030D-6E8A-4147-A177-3AD203B41FA5}">
                      <a16:colId xmlns:a16="http://schemas.microsoft.com/office/drawing/2014/main" val="1263194178"/>
                    </a:ext>
                  </a:extLst>
                </a:gridCol>
              </a:tblGrid>
              <a:tr h="325209">
                <a:tc gridSpan="2">
                  <a:txBody>
                    <a:bodyPr/>
                    <a:lstStyle/>
                    <a:p>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Contrat d’assurance</a:t>
                      </a:r>
                    </a:p>
                  </a:txBody>
                  <a:tcPr marL="80189" marR="80189" marT="40094" marB="40094" anchor="ctr">
                    <a:solidFill>
                      <a:srgbClr val="002060"/>
                    </a:solidFill>
                  </a:tcPr>
                </a:tc>
                <a:tc hMerge="1">
                  <a:txBody>
                    <a:bodyPr/>
                    <a:lstStyle/>
                    <a:p>
                      <a:endParaRPr lang="fr-FR" sz="1200" dirty="0"/>
                    </a:p>
                  </a:txBody>
                  <a:tcPr/>
                </a:tc>
                <a:extLst>
                  <a:ext uri="{0D108BD9-81ED-4DB2-BD59-A6C34878D82A}">
                    <a16:rowId xmlns:a16="http://schemas.microsoft.com/office/drawing/2014/main" val="2581108166"/>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Multirisques Immeubles</a:t>
                      </a:r>
                    </a:p>
                  </a:txBody>
                  <a:tcPr marL="80189" marR="80189" marT="40094" marB="40094" anchor="ct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extLst>
                  <a:ext uri="{0D108BD9-81ED-4DB2-BD59-A6C34878D82A}">
                    <a16:rowId xmlns:a16="http://schemas.microsoft.com/office/drawing/2014/main" val="2038409747"/>
                  </a:ext>
                </a:extLst>
              </a:tr>
              <a:tr h="325209">
                <a:tc gridSpan="2">
                  <a:txBody>
                    <a:bodyPr/>
                    <a:lstStyle/>
                    <a:p>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Contrats d’entretien des équipements communs </a:t>
                      </a:r>
                    </a:p>
                  </a:txBody>
                  <a:tcPr marL="80189" marR="80189" marT="40094" marB="40094" anchor="ctr">
                    <a:solidFill>
                      <a:srgbClr val="002060"/>
                    </a:solidFill>
                  </a:tcPr>
                </a:tc>
                <a:tc hMerge="1">
                  <a:txBody>
                    <a:bodyPr/>
                    <a:lstStyle/>
                    <a:p>
                      <a:endParaRPr lang="fr-FR" sz="1200" dirty="0"/>
                    </a:p>
                  </a:txBody>
                  <a:tcPr/>
                </a:tc>
                <a:extLst>
                  <a:ext uri="{0D108BD9-81ED-4DB2-BD59-A6C34878D82A}">
                    <a16:rowId xmlns:a16="http://schemas.microsoft.com/office/drawing/2014/main" val="2884215640"/>
                  </a:ext>
                </a:extLst>
              </a:tr>
              <a:tr h="325209">
                <a:tc>
                  <a:txBody>
                    <a:bodyPr/>
                    <a:lstStyle/>
                    <a:p>
                      <a:r>
                        <a:rPr lang="fr-FR" sz="1100" dirty="0"/>
                        <a:t>Sans objet </a:t>
                      </a: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extLst>
                  <a:ext uri="{0D108BD9-81ED-4DB2-BD59-A6C34878D82A}">
                    <a16:rowId xmlns:a16="http://schemas.microsoft.com/office/drawing/2014/main" val="3863977736"/>
                  </a:ext>
                </a:extLst>
              </a:tr>
            </a:tbl>
          </a:graphicData>
        </a:graphic>
      </p:graphicFrame>
      <p:sp>
        <p:nvSpPr>
          <p:cNvPr id="11" name="Espace réservé du pied de page 5">
            <a:extLst>
              <a:ext uri="{FF2B5EF4-FFF2-40B4-BE49-F238E27FC236}">
                <a16:creationId xmlns:a16="http://schemas.microsoft.com/office/drawing/2014/main" id="{6FEFC785-8DDE-7095-E9A3-7610635B761A}"/>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3" name="Espace réservé du numéro de diapositive 6">
            <a:extLst>
              <a:ext uri="{FF2B5EF4-FFF2-40B4-BE49-F238E27FC236}">
                <a16:creationId xmlns:a16="http://schemas.microsoft.com/office/drawing/2014/main" id="{9B75684F-1D65-B9EF-A623-452392AAAB08}"/>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7</a:t>
            </a:fld>
            <a:endParaRPr lang="fr-FR" sz="965" dirty="0"/>
          </a:p>
        </p:txBody>
      </p:sp>
      <p:pic>
        <p:nvPicPr>
          <p:cNvPr id="2" name="Image 1">
            <a:extLst>
              <a:ext uri="{FF2B5EF4-FFF2-40B4-BE49-F238E27FC236}">
                <a16:creationId xmlns:a16="http://schemas.microsoft.com/office/drawing/2014/main" id="{DDD3F05F-92F2-1F56-410C-0A3E2AAA52C2}"/>
              </a:ext>
            </a:extLst>
          </p:cNvPr>
          <p:cNvPicPr>
            <a:picLocks noChangeAspect="1"/>
          </p:cNvPicPr>
          <p:nvPr/>
        </p:nvPicPr>
        <p:blipFill>
          <a:blip r:embed="rId2"/>
          <a:stretch>
            <a:fillRect/>
          </a:stretch>
        </p:blipFill>
        <p:spPr>
          <a:xfrm>
            <a:off x="541020" y="98814"/>
            <a:ext cx="2246544" cy="594519"/>
          </a:xfrm>
          <a:prstGeom prst="rect">
            <a:avLst/>
          </a:prstGeom>
        </p:spPr>
      </p:pic>
      <p:sp>
        <p:nvSpPr>
          <p:cNvPr id="5" name="ZoneTexte 4">
            <a:extLst>
              <a:ext uri="{FF2B5EF4-FFF2-40B4-BE49-F238E27FC236}">
                <a16:creationId xmlns:a16="http://schemas.microsoft.com/office/drawing/2014/main" id="{F02D5C75-54D9-9479-924E-2484496068E6}"/>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5. ANALYSE DOCUMENTAIRE DE LA COPROPRIÉTÉ</a:t>
            </a:r>
          </a:p>
        </p:txBody>
      </p:sp>
    </p:spTree>
    <p:extLst>
      <p:ext uri="{BB962C8B-B14F-4D97-AF65-F5344CB8AC3E}">
        <p14:creationId xmlns:p14="http://schemas.microsoft.com/office/powerpoint/2010/main" val="3093752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1AF2A-023B-4A25-D5D7-E83EADBAF806}"/>
            </a:ext>
          </a:extLst>
        </p:cNvPr>
        <p:cNvGrpSpPr/>
        <p:nvPr/>
      </p:nvGrpSpPr>
      <p:grpSpPr>
        <a:xfrm>
          <a:off x="0" y="0"/>
          <a:ext cx="0" cy="0"/>
          <a:chOff x="0" y="0"/>
          <a:chExt cx="0" cy="0"/>
        </a:xfrm>
      </p:grpSpPr>
      <p:graphicFrame>
        <p:nvGraphicFramePr>
          <p:cNvPr id="10" name="Tableau 9">
            <a:extLst>
              <a:ext uri="{FF2B5EF4-FFF2-40B4-BE49-F238E27FC236}">
                <a16:creationId xmlns:a16="http://schemas.microsoft.com/office/drawing/2014/main" id="{4F6D6B10-703E-291E-2E3D-60D2148E313F}"/>
              </a:ext>
            </a:extLst>
          </p:cNvPr>
          <p:cNvGraphicFramePr>
            <a:graphicFrameLocks noGrp="1"/>
          </p:cNvGraphicFramePr>
          <p:nvPr>
            <p:extLst>
              <p:ext uri="{D42A27DB-BD31-4B8C-83A1-F6EECF244321}">
                <p14:modId xmlns:p14="http://schemas.microsoft.com/office/powerpoint/2010/main" val="381437861"/>
              </p:ext>
            </p:extLst>
          </p:nvPr>
        </p:nvGraphicFramePr>
        <p:xfrm>
          <a:off x="541020" y="1369317"/>
          <a:ext cx="6484620" cy="1626045"/>
        </p:xfrm>
        <a:graphic>
          <a:graphicData uri="http://schemas.openxmlformats.org/drawingml/2006/table">
            <a:tbl>
              <a:tblPr firstRow="1" bandRow="1">
                <a:tableStyleId>{5940675A-B579-460E-94D1-54222C63F5DA}</a:tableStyleId>
              </a:tblPr>
              <a:tblGrid>
                <a:gridCol w="3242310">
                  <a:extLst>
                    <a:ext uri="{9D8B030D-6E8A-4147-A177-3AD203B41FA5}">
                      <a16:colId xmlns:a16="http://schemas.microsoft.com/office/drawing/2014/main" val="733587093"/>
                    </a:ext>
                  </a:extLst>
                </a:gridCol>
                <a:gridCol w="3242310">
                  <a:extLst>
                    <a:ext uri="{9D8B030D-6E8A-4147-A177-3AD203B41FA5}">
                      <a16:colId xmlns:a16="http://schemas.microsoft.com/office/drawing/2014/main" val="1263194178"/>
                    </a:ext>
                  </a:extLst>
                </a:gridCol>
              </a:tblGrid>
              <a:tr h="325209">
                <a:tc gridSpan="2">
                  <a:txBody>
                    <a:bodyPr/>
                    <a:lstStyle/>
                    <a:p>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Travaux recensés dans le carnet d’entretien</a:t>
                      </a:r>
                    </a:p>
                  </a:txBody>
                  <a:tcPr marL="80189" marR="80189" marT="40094" marB="40094" anchor="ctr">
                    <a:solidFill>
                      <a:srgbClr val="002060"/>
                    </a:solidFill>
                  </a:tcPr>
                </a:tc>
                <a:tc hMerge="1">
                  <a:txBody>
                    <a:bodyPr/>
                    <a:lstStyle/>
                    <a:p>
                      <a:endParaRPr lang="fr-FR" sz="1200" dirty="0"/>
                    </a:p>
                  </a:txBody>
                  <a:tcPr/>
                </a:tc>
                <a:extLst>
                  <a:ext uri="{0D108BD9-81ED-4DB2-BD59-A6C34878D82A}">
                    <a16:rowId xmlns:a16="http://schemas.microsoft.com/office/drawing/2014/main" val="2581108166"/>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Réfection soubassement façade côté rue.</a:t>
                      </a:r>
                    </a:p>
                  </a:txBody>
                  <a:tcPr marL="80189" marR="80189" marT="40094" marB="40094" anchor="ctr"/>
                </a:tc>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Date du vote : 22/06/2023 – Montant : 2575,00 €</a:t>
                      </a:r>
                    </a:p>
                  </a:txBody>
                  <a:tcPr marL="80189" marR="80189" marT="40094" marB="40094" anchor="ctr"/>
                </a:tc>
                <a:extLst>
                  <a:ext uri="{0D108BD9-81ED-4DB2-BD59-A6C34878D82A}">
                    <a16:rowId xmlns:a16="http://schemas.microsoft.com/office/drawing/2014/main" val="2038409747"/>
                  </a:ext>
                </a:extLst>
              </a:tr>
              <a:tr h="325209">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B w="12700" cmpd="sng">
                      <a:noFill/>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9286945"/>
                  </a:ext>
                </a:extLst>
              </a:tr>
              <a:tr h="325209">
                <a:tc gridSpan="2">
                  <a:txBody>
                    <a:bodyPr/>
                    <a:lstStyle/>
                    <a:p>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Travaux votés en assemblée générale</a:t>
                      </a:r>
                    </a:p>
                  </a:txBody>
                  <a:tcPr marL="80189" marR="80189" marT="40094" marB="40094" anchor="ctr">
                    <a:lnT w="12700" cmpd="sng">
                      <a:noFill/>
                    </a:lnT>
                    <a:solidFill>
                      <a:srgbClr val="002060"/>
                    </a:solidFill>
                  </a:tcPr>
                </a:tc>
                <a:tc hMerge="1">
                  <a:txBody>
                    <a:bodyPr/>
                    <a:lstStyle/>
                    <a:p>
                      <a:endParaRPr lang="fr-FR" sz="1200" dirty="0"/>
                    </a:p>
                  </a:txBody>
                  <a:tcPr/>
                </a:tc>
                <a:extLst>
                  <a:ext uri="{0D108BD9-81ED-4DB2-BD59-A6C34878D82A}">
                    <a16:rowId xmlns:a16="http://schemas.microsoft.com/office/drawing/2014/main" val="2884215640"/>
                  </a:ext>
                </a:extLst>
              </a:tr>
              <a:tr h="325209">
                <a:tc>
                  <a:txBody>
                    <a:bodyPr/>
                    <a:lstStyle/>
                    <a:p>
                      <a:r>
                        <a:rPr lang="fr-FR" sz="1100" dirty="0">
                          <a:latin typeface="Calibri" panose="020F0502020204030204" pitchFamily="34" charset="0"/>
                          <a:ea typeface="Calibri" panose="020F0502020204030204" pitchFamily="34" charset="0"/>
                          <a:cs typeface="Calibri" panose="020F0502020204030204" pitchFamily="34" charset="0"/>
                        </a:rPr>
                        <a:t>Sans objet</a:t>
                      </a:r>
                    </a:p>
                  </a:txBody>
                  <a:tcPr marL="80189" marR="80189" marT="40094" marB="40094" anchor="ct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extLst>
                  <a:ext uri="{0D108BD9-81ED-4DB2-BD59-A6C34878D82A}">
                    <a16:rowId xmlns:a16="http://schemas.microsoft.com/office/drawing/2014/main" val="3863977736"/>
                  </a:ext>
                </a:extLst>
              </a:tr>
            </a:tbl>
          </a:graphicData>
        </a:graphic>
      </p:graphicFrame>
      <p:sp>
        <p:nvSpPr>
          <p:cNvPr id="2" name="Espace réservé du pied de page 5">
            <a:extLst>
              <a:ext uri="{FF2B5EF4-FFF2-40B4-BE49-F238E27FC236}">
                <a16:creationId xmlns:a16="http://schemas.microsoft.com/office/drawing/2014/main" id="{AD2232E1-739F-4ACA-4B36-BC002ADD0069}"/>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058AFBE1-8E48-6E63-D27D-227193AE358E}"/>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8</a:t>
            </a:fld>
            <a:endParaRPr lang="fr-FR" sz="965" dirty="0"/>
          </a:p>
        </p:txBody>
      </p:sp>
      <p:pic>
        <p:nvPicPr>
          <p:cNvPr id="3" name="Image 2">
            <a:extLst>
              <a:ext uri="{FF2B5EF4-FFF2-40B4-BE49-F238E27FC236}">
                <a16:creationId xmlns:a16="http://schemas.microsoft.com/office/drawing/2014/main" id="{E04E3A36-0BB9-CE75-0BDB-D345E35C7918}"/>
              </a:ext>
            </a:extLst>
          </p:cNvPr>
          <p:cNvPicPr>
            <a:picLocks noChangeAspect="1"/>
          </p:cNvPicPr>
          <p:nvPr/>
        </p:nvPicPr>
        <p:blipFill>
          <a:blip r:embed="rId2"/>
          <a:stretch>
            <a:fillRect/>
          </a:stretch>
        </p:blipFill>
        <p:spPr>
          <a:xfrm>
            <a:off x="541020" y="98814"/>
            <a:ext cx="2246544" cy="594519"/>
          </a:xfrm>
          <a:prstGeom prst="rect">
            <a:avLst/>
          </a:prstGeom>
        </p:spPr>
      </p:pic>
      <p:sp>
        <p:nvSpPr>
          <p:cNvPr id="4" name="ZoneTexte 3">
            <a:extLst>
              <a:ext uri="{FF2B5EF4-FFF2-40B4-BE49-F238E27FC236}">
                <a16:creationId xmlns:a16="http://schemas.microsoft.com/office/drawing/2014/main" id="{5215D3D3-FB52-DF2F-332B-C138A9D7639D}"/>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5. ANALYSE DOCUMENTAIRE DE LA COPROPRIÉTÉ</a:t>
            </a:r>
          </a:p>
        </p:txBody>
      </p:sp>
    </p:spTree>
    <p:extLst>
      <p:ext uri="{BB962C8B-B14F-4D97-AF65-F5344CB8AC3E}">
        <p14:creationId xmlns:p14="http://schemas.microsoft.com/office/powerpoint/2010/main" val="2041257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6C7CF-A923-7392-9CE8-6A323CD93C0C}"/>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387F45A5-88A6-B2C7-E881-F3FC64FD8273}"/>
              </a:ext>
            </a:extLst>
          </p:cNvPr>
          <p:cNvSpPr txBox="1"/>
          <p:nvPr/>
        </p:nvSpPr>
        <p:spPr>
          <a:xfrm>
            <a:off x="513684" y="1295429"/>
            <a:ext cx="5668887" cy="292388"/>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5.4 Sécurité incendie</a:t>
            </a:r>
          </a:p>
        </p:txBody>
      </p:sp>
      <p:graphicFrame>
        <p:nvGraphicFramePr>
          <p:cNvPr id="2" name="Tableau 1">
            <a:extLst>
              <a:ext uri="{FF2B5EF4-FFF2-40B4-BE49-F238E27FC236}">
                <a16:creationId xmlns:a16="http://schemas.microsoft.com/office/drawing/2014/main" id="{9D8A3543-1C75-B17A-A4B4-D98DBEED14FC}"/>
              </a:ext>
            </a:extLst>
          </p:cNvPr>
          <p:cNvGraphicFramePr>
            <a:graphicFrameLocks noGrp="1"/>
          </p:cNvGraphicFramePr>
          <p:nvPr>
            <p:extLst>
              <p:ext uri="{D42A27DB-BD31-4B8C-83A1-F6EECF244321}">
                <p14:modId xmlns:p14="http://schemas.microsoft.com/office/powerpoint/2010/main" val="1670400485"/>
              </p:ext>
            </p:extLst>
          </p:nvPr>
        </p:nvGraphicFramePr>
        <p:xfrm>
          <a:off x="541020" y="1750784"/>
          <a:ext cx="6484620" cy="4884821"/>
        </p:xfrm>
        <a:graphic>
          <a:graphicData uri="http://schemas.openxmlformats.org/drawingml/2006/table">
            <a:tbl>
              <a:tblPr firstRow="1" bandRow="1">
                <a:tableStyleId>{5940675A-B579-460E-94D1-54222C63F5DA}</a:tableStyleId>
              </a:tblPr>
              <a:tblGrid>
                <a:gridCol w="3598783">
                  <a:extLst>
                    <a:ext uri="{9D8B030D-6E8A-4147-A177-3AD203B41FA5}">
                      <a16:colId xmlns:a16="http://schemas.microsoft.com/office/drawing/2014/main" val="3130691622"/>
                    </a:ext>
                  </a:extLst>
                </a:gridCol>
                <a:gridCol w="1213073">
                  <a:extLst>
                    <a:ext uri="{9D8B030D-6E8A-4147-A177-3AD203B41FA5}">
                      <a16:colId xmlns:a16="http://schemas.microsoft.com/office/drawing/2014/main" val="65197487"/>
                    </a:ext>
                  </a:extLst>
                </a:gridCol>
                <a:gridCol w="1672764">
                  <a:extLst>
                    <a:ext uri="{9D8B030D-6E8A-4147-A177-3AD203B41FA5}">
                      <a16:colId xmlns:a16="http://schemas.microsoft.com/office/drawing/2014/main" val="3029577308"/>
                    </a:ext>
                  </a:extLst>
                </a:gridCol>
              </a:tblGrid>
              <a:tr h="314072">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DESIGNATION</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STATUT</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COMMENTAIRE</a:t>
                      </a:r>
                    </a:p>
                  </a:txBody>
                  <a:tcPr marL="80189" marR="80189" marT="40094" marB="40094" anchor="ctr"/>
                </a:tc>
                <a:extLst>
                  <a:ext uri="{0D108BD9-81ED-4DB2-BD59-A6C34878D82A}">
                    <a16:rowId xmlns:a16="http://schemas.microsoft.com/office/drawing/2014/main" val="988118249"/>
                  </a:ext>
                </a:extLst>
              </a:tr>
              <a:tr h="1523583">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Registre de sécurité</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Arrêté du 31 janvier 1986 relatif à la protection contre l’incendie des bâtiments d’habitation</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Code de la construction et de l’habitation : art. R*111-13 et suivants</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tenir à jour un registre de sécurité recensant les contrôles, vérifications et opérations d’entretien liés à la sécurité incendie de l’immeuble.</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concerné</a:t>
                      </a:r>
                    </a:p>
                  </a:txBody>
                  <a:tcPr marL="80189" marR="80189" marT="40094" marB="40094" anchor="ctr">
                    <a:solidFill>
                      <a:srgbClr val="BFBFBF"/>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2086156147"/>
                  </a:ext>
                </a:extLst>
              </a:tr>
              <a:tr h="1523583">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Affichage des consignes de sécurité – Parties communes</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Arrêté du 31 janvier 1986 relatif à la protection contre l’incendie des bâtiments d’habitation</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Code de la construction et de l’habitation : art. R*111-13 et suivants</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d’afficher dans les parties communes les consignes de sécurité incendie et d’évacuation à destination des occupants.</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Transmis</a:t>
                      </a:r>
                    </a:p>
                  </a:txBody>
                  <a:tcPr marL="80189" marR="80189" marT="40094" marB="40094" anchor="ctr">
                    <a:solidFill>
                      <a:srgbClr val="00B05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226063961"/>
                  </a:ext>
                </a:extLst>
              </a:tr>
              <a:tr h="1523583">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Vérifications périodiques des installations incendie</a:t>
                      </a:r>
                    </a:p>
                    <a:p>
                      <a:pPr algn="ct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Arrêté du 31 janvier 1986 relatif à la protection contre l’incendie des bâtiments d’habitation</a:t>
                      </a:r>
                      <a:b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fr-FR" sz="1100" b="0" i="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Code de la construction et de l’habitation : art. R*111-13 et suivants</a:t>
                      </a:r>
                    </a:p>
                    <a:p>
                      <a:pPr algn="ctr"/>
                      <a:r>
                        <a:rPr lang="fr-FR" sz="1100" dirty="0">
                          <a:latin typeface="Calibri" panose="020F0502020204030204" pitchFamily="34" charset="0"/>
                          <a:ea typeface="Calibri" panose="020F0502020204030204" pitchFamily="34" charset="0"/>
                          <a:cs typeface="Calibri" panose="020F0502020204030204" pitchFamily="34" charset="0"/>
                        </a:rPr>
                        <a:t>Obligation de faire réaliser des vérifications périodiques des équipements de sécurité incendie et d’en assurer la traçabilité.</a:t>
                      </a: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Non transmis</a:t>
                      </a:r>
                    </a:p>
                  </a:txBody>
                  <a:tcPr marL="80189" marR="80189" marT="40094" marB="40094" anchor="ctr">
                    <a:solidFill>
                      <a:srgbClr val="FF000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2680372341"/>
                  </a:ext>
                </a:extLst>
              </a:tr>
            </a:tbl>
          </a:graphicData>
        </a:graphic>
      </p:graphicFrame>
      <p:sp>
        <p:nvSpPr>
          <p:cNvPr id="4" name="Espace réservé du pied de page 5">
            <a:extLst>
              <a:ext uri="{FF2B5EF4-FFF2-40B4-BE49-F238E27FC236}">
                <a16:creationId xmlns:a16="http://schemas.microsoft.com/office/drawing/2014/main" id="{5A582A9C-48C0-C071-D104-2960AFAD6779}"/>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A1A9175C-6ACE-7ED4-5A49-EC5793E53EAE}"/>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9</a:t>
            </a:fld>
            <a:endParaRPr lang="fr-FR" sz="965" dirty="0"/>
          </a:p>
        </p:txBody>
      </p:sp>
      <p:pic>
        <p:nvPicPr>
          <p:cNvPr id="6" name="Image 5">
            <a:extLst>
              <a:ext uri="{FF2B5EF4-FFF2-40B4-BE49-F238E27FC236}">
                <a16:creationId xmlns:a16="http://schemas.microsoft.com/office/drawing/2014/main" id="{85022AA1-FC88-B827-84F1-38757346F212}"/>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6328B973-2ED7-515F-3FEA-126A0D09A230}"/>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5. ANALYSE DOCUMENTAIRE DE LA COPROPRIÉTÉ</a:t>
            </a:r>
          </a:p>
        </p:txBody>
      </p:sp>
    </p:spTree>
    <p:extLst>
      <p:ext uri="{BB962C8B-B14F-4D97-AF65-F5344CB8AC3E}">
        <p14:creationId xmlns:p14="http://schemas.microsoft.com/office/powerpoint/2010/main" val="3945342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C127F-17A5-8EB4-F96A-67E40B25CBC4}"/>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D4BEB41-1CA9-328C-1352-CB916423EAF5}"/>
              </a:ext>
            </a:extLst>
          </p:cNvPr>
          <p:cNvSpPr txBox="1"/>
          <p:nvPr/>
        </p:nvSpPr>
        <p:spPr>
          <a:xfrm>
            <a:off x="541020" y="1327662"/>
            <a:ext cx="6484620" cy="4356257"/>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6.1 La loi « Climat et Résilience »</a:t>
            </a:r>
          </a:p>
          <a:p>
            <a:endParaRPr lang="fr-FR" sz="1052"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p>
          <a:p>
            <a:endParaRPr lang="fr-FR" sz="1228" b="1" dirty="0"/>
          </a:p>
        </p:txBody>
      </p:sp>
      <p:graphicFrame>
        <p:nvGraphicFramePr>
          <p:cNvPr id="4" name="Tableau 3">
            <a:extLst>
              <a:ext uri="{FF2B5EF4-FFF2-40B4-BE49-F238E27FC236}">
                <a16:creationId xmlns:a16="http://schemas.microsoft.com/office/drawing/2014/main" id="{4E73DC31-E385-EF27-CA08-8FB8FD63579B}"/>
              </a:ext>
            </a:extLst>
          </p:cNvPr>
          <p:cNvGraphicFramePr>
            <a:graphicFrameLocks noGrp="1"/>
          </p:cNvGraphicFramePr>
          <p:nvPr>
            <p:extLst>
              <p:ext uri="{D42A27DB-BD31-4B8C-83A1-F6EECF244321}">
                <p14:modId xmlns:p14="http://schemas.microsoft.com/office/powerpoint/2010/main" val="2655270220"/>
              </p:ext>
            </p:extLst>
          </p:nvPr>
        </p:nvGraphicFramePr>
        <p:xfrm>
          <a:off x="958121" y="5562187"/>
          <a:ext cx="5613201" cy="4179915"/>
        </p:xfrm>
        <a:graphic>
          <a:graphicData uri="http://schemas.openxmlformats.org/drawingml/2006/table">
            <a:tbl>
              <a:tblPr firstRow="1" bandRow="1">
                <a:tableStyleId>{5940675A-B579-460E-94D1-54222C63F5DA}</a:tableStyleId>
              </a:tblPr>
              <a:tblGrid>
                <a:gridCol w="1871067">
                  <a:extLst>
                    <a:ext uri="{9D8B030D-6E8A-4147-A177-3AD203B41FA5}">
                      <a16:colId xmlns:a16="http://schemas.microsoft.com/office/drawing/2014/main" val="1070470678"/>
                    </a:ext>
                  </a:extLst>
                </a:gridCol>
                <a:gridCol w="1871067">
                  <a:extLst>
                    <a:ext uri="{9D8B030D-6E8A-4147-A177-3AD203B41FA5}">
                      <a16:colId xmlns:a16="http://schemas.microsoft.com/office/drawing/2014/main" val="1241091150"/>
                    </a:ext>
                  </a:extLst>
                </a:gridCol>
                <a:gridCol w="1871067">
                  <a:extLst>
                    <a:ext uri="{9D8B030D-6E8A-4147-A177-3AD203B41FA5}">
                      <a16:colId xmlns:a16="http://schemas.microsoft.com/office/drawing/2014/main" val="3917743838"/>
                    </a:ext>
                  </a:extLst>
                </a:gridCol>
              </a:tblGrid>
              <a:tr h="325209">
                <a:tc>
                  <a:txBody>
                    <a:bodyPr/>
                    <a:lstStyle/>
                    <a:p>
                      <a:pPr algn="ctr"/>
                      <a:r>
                        <a:rPr lang="fr-FR" sz="1100" b="1" dirty="0">
                          <a:solidFill>
                            <a:srgbClr val="0070C0"/>
                          </a:solidFill>
                          <a:latin typeface="Calibri" panose="020F0502020204030204" pitchFamily="34" charset="0"/>
                          <a:ea typeface="Calibri" panose="020F0502020204030204" pitchFamily="34" charset="0"/>
                          <a:cs typeface="Calibri" panose="020F0502020204030204" pitchFamily="34" charset="0"/>
                        </a:rPr>
                        <a:t>Pour la vente</a:t>
                      </a:r>
                    </a:p>
                  </a:txBody>
                  <a:tcPr marL="80189" marR="80189" marT="40094" marB="40094" anchor="ctr"/>
                </a:tc>
                <a:tc>
                  <a:txBody>
                    <a:bodyPr/>
                    <a:lstStyle/>
                    <a:p>
                      <a:pPr algn="ctr"/>
                      <a:r>
                        <a:rPr lang="fr-FR" sz="1100" b="1" dirty="0">
                          <a:solidFill>
                            <a:srgbClr val="0070C0"/>
                          </a:solidFill>
                          <a:latin typeface="Calibri" panose="020F0502020204030204" pitchFamily="34" charset="0"/>
                          <a:ea typeface="Calibri" panose="020F0502020204030204" pitchFamily="34" charset="0"/>
                          <a:cs typeface="Calibri" panose="020F0502020204030204" pitchFamily="34" charset="0"/>
                        </a:rPr>
                        <a:t>Dates clés</a:t>
                      </a:r>
                    </a:p>
                  </a:txBody>
                  <a:tcPr marL="80189" marR="80189" marT="40094" marB="40094" anchor="ctr"/>
                </a:tc>
                <a:tc>
                  <a:txBody>
                    <a:bodyPr/>
                    <a:lstStyle/>
                    <a:p>
                      <a:pPr algn="ctr"/>
                      <a:r>
                        <a:rPr lang="fr-FR" sz="1100" b="1" dirty="0">
                          <a:solidFill>
                            <a:srgbClr val="0070C0"/>
                          </a:solidFill>
                          <a:latin typeface="Calibri" panose="020F0502020204030204" pitchFamily="34" charset="0"/>
                          <a:ea typeface="Calibri" panose="020F0502020204030204" pitchFamily="34" charset="0"/>
                          <a:cs typeface="Calibri" panose="020F0502020204030204" pitchFamily="34" charset="0"/>
                        </a:rPr>
                        <a:t>Pour la location</a:t>
                      </a:r>
                    </a:p>
                  </a:txBody>
                  <a:tcPr marL="80189" marR="80189" marT="40094" marB="40094" anchor="ctr"/>
                </a:tc>
                <a:extLst>
                  <a:ext uri="{0D108BD9-81ED-4DB2-BD59-A6C34878D82A}">
                    <a16:rowId xmlns:a16="http://schemas.microsoft.com/office/drawing/2014/main" val="2636714456"/>
                  </a:ext>
                </a:extLst>
              </a:tr>
              <a:tr h="645288">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tc>
                  <a:txBody>
                    <a:bodyPr/>
                    <a:lstStyle/>
                    <a:p>
                      <a:pPr algn="ctr"/>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Août 2022</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Gel des loyers</a:t>
                      </a: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extLst>
                  <a:ext uri="{0D108BD9-81ED-4DB2-BD59-A6C34878D82A}">
                    <a16:rowId xmlns:a16="http://schemas.microsoft.com/office/drawing/2014/main" val="328479170"/>
                  </a:ext>
                </a:extLst>
              </a:tr>
              <a:tr h="632251">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Audit énergétique obligatoire</a:t>
                      </a:r>
                    </a:p>
                  </a:txBody>
                  <a:tcPr marL="80189" marR="80189" marT="40094" marB="40094"/>
                </a:tc>
                <a:tc>
                  <a:txBody>
                    <a:bodyPr/>
                    <a:lstStyle/>
                    <a:p>
                      <a:pPr algn="ctr"/>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Janvier 2023</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Location interdite</a:t>
                      </a: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r>
                        <a:rPr lang="fr-FR" sz="1100" b="0" dirty="0">
                          <a:latin typeface="Calibri" panose="020F0502020204030204" pitchFamily="34" charset="0"/>
                          <a:ea typeface="Calibri" panose="020F0502020204030204" pitchFamily="34" charset="0"/>
                          <a:cs typeface="Calibri" panose="020F0502020204030204" pitchFamily="34" charset="0"/>
                        </a:rPr>
                        <a:t>Si la consommation annuelle &gt; 450 Kwh/m²</a:t>
                      </a:r>
                    </a:p>
                  </a:txBody>
                  <a:tcPr marL="80189" marR="80189" marT="40094" marB="40094" anchor="ctr"/>
                </a:tc>
                <a:extLst>
                  <a:ext uri="{0D108BD9-81ED-4DB2-BD59-A6C34878D82A}">
                    <a16:rowId xmlns:a16="http://schemas.microsoft.com/office/drawing/2014/main" val="2316161685"/>
                  </a:ext>
                </a:extLst>
              </a:tr>
              <a:tr h="713233">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Audit énergétique obligatoire</a:t>
                      </a: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pPr algn="ctr"/>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Janvier 2025</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Location interdite</a:t>
                      </a: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extLst>
                  <a:ext uri="{0D108BD9-81ED-4DB2-BD59-A6C34878D82A}">
                    <a16:rowId xmlns:a16="http://schemas.microsoft.com/office/drawing/2014/main" val="1535466829"/>
                  </a:ext>
                </a:extLst>
              </a:tr>
              <a:tr h="621894">
                <a:tc>
                  <a:txBody>
                    <a:bodyPr/>
                    <a:lstStyle/>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tc>
                  <a:txBody>
                    <a:bodyPr/>
                    <a:lstStyle/>
                    <a:p>
                      <a:pPr algn="ctr"/>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Janvier 2028</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Location interdite</a:t>
                      </a: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extLst>
                  <a:ext uri="{0D108BD9-81ED-4DB2-BD59-A6C34878D82A}">
                    <a16:rowId xmlns:a16="http://schemas.microsoft.com/office/drawing/2014/main" val="3114450156"/>
                  </a:ext>
                </a:extLst>
              </a:tr>
              <a:tr h="713233">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Audit énergétique obligatoire</a:t>
                      </a: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tc>
                  <a:txBody>
                    <a:bodyPr/>
                    <a:lstStyle/>
                    <a:p>
                      <a:pPr algn="ctr"/>
                      <a:r>
                        <a:rPr lang="fr-FR" sz="1100" b="1" dirty="0">
                          <a:solidFill>
                            <a:srgbClr val="00B050"/>
                          </a:solidFill>
                          <a:latin typeface="Calibri" panose="020F0502020204030204" pitchFamily="34" charset="0"/>
                          <a:ea typeface="Calibri" panose="020F0502020204030204" pitchFamily="34" charset="0"/>
                          <a:cs typeface="Calibri" panose="020F0502020204030204" pitchFamily="34" charset="0"/>
                        </a:rPr>
                        <a:t>Janvier 2034</a:t>
                      </a:r>
                    </a:p>
                  </a:txBody>
                  <a:tcPr marL="80189" marR="80189" marT="40094" marB="40094" anchor="ctr"/>
                </a:tc>
                <a:tc>
                  <a:txBody>
                    <a:bodyPr/>
                    <a:lstStyle/>
                    <a:p>
                      <a:pPr algn="ctr"/>
                      <a:r>
                        <a:rPr lang="fr-FR" sz="1100" b="1" dirty="0">
                          <a:latin typeface="Calibri" panose="020F0502020204030204" pitchFamily="34" charset="0"/>
                          <a:ea typeface="Calibri" panose="020F0502020204030204" pitchFamily="34" charset="0"/>
                          <a:cs typeface="Calibri" panose="020F0502020204030204" pitchFamily="34" charset="0"/>
                        </a:rPr>
                        <a:t>Location interdite</a:t>
                      </a: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ctr"/>
                      <a:endParaRPr lang="fr-FR" sz="11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tc>
                <a:extLst>
                  <a:ext uri="{0D108BD9-81ED-4DB2-BD59-A6C34878D82A}">
                    <a16:rowId xmlns:a16="http://schemas.microsoft.com/office/drawing/2014/main" val="510750672"/>
                  </a:ext>
                </a:extLst>
              </a:tr>
            </a:tbl>
          </a:graphicData>
        </a:graphic>
      </p:graphicFrame>
      <p:pic>
        <p:nvPicPr>
          <p:cNvPr id="5" name="Image 4" descr="Une image contenant symbole, logo, Police, Graphique&#10;&#10;Le contenu généré par l’IA peut être incorrect.">
            <a:extLst>
              <a:ext uri="{FF2B5EF4-FFF2-40B4-BE49-F238E27FC236}">
                <a16:creationId xmlns:a16="http://schemas.microsoft.com/office/drawing/2014/main" id="{C1370151-2493-C8B8-A39C-C9B8643E36F2}"/>
              </a:ext>
            </a:extLst>
          </p:cNvPr>
          <p:cNvPicPr>
            <a:picLocks noChangeAspect="1"/>
          </p:cNvPicPr>
          <p:nvPr/>
        </p:nvPicPr>
        <p:blipFill>
          <a:blip r:embed="rId2"/>
          <a:stretch>
            <a:fillRect/>
          </a:stretch>
        </p:blipFill>
        <p:spPr>
          <a:xfrm>
            <a:off x="1644634" y="9369277"/>
            <a:ext cx="553325" cy="315660"/>
          </a:xfrm>
          <a:prstGeom prst="rect">
            <a:avLst/>
          </a:prstGeom>
        </p:spPr>
      </p:pic>
      <p:pic>
        <p:nvPicPr>
          <p:cNvPr id="8" name="Image 7" descr="Une image contenant capture d’écran, jaune, symbole, Police&#10;&#10;Le contenu généré par l’IA peut être incorrect.">
            <a:extLst>
              <a:ext uri="{FF2B5EF4-FFF2-40B4-BE49-F238E27FC236}">
                <a16:creationId xmlns:a16="http://schemas.microsoft.com/office/drawing/2014/main" id="{89FF87B7-E7CB-657A-5D4E-C55B252FB9EF}"/>
              </a:ext>
            </a:extLst>
          </p:cNvPr>
          <p:cNvPicPr>
            <a:picLocks noChangeAspect="1"/>
          </p:cNvPicPr>
          <p:nvPr/>
        </p:nvPicPr>
        <p:blipFill>
          <a:blip r:embed="rId3"/>
          <a:stretch>
            <a:fillRect/>
          </a:stretch>
        </p:blipFill>
        <p:spPr>
          <a:xfrm>
            <a:off x="5429037" y="9330749"/>
            <a:ext cx="553293" cy="311769"/>
          </a:xfrm>
          <a:prstGeom prst="rect">
            <a:avLst/>
          </a:prstGeom>
        </p:spPr>
      </p:pic>
      <p:pic>
        <p:nvPicPr>
          <p:cNvPr id="10" name="Image 9" descr="Une image contenant symbole, logo, capture d’écran, Police&#10;&#10;Le contenu généré par l’IA peut être incorrect.">
            <a:extLst>
              <a:ext uri="{FF2B5EF4-FFF2-40B4-BE49-F238E27FC236}">
                <a16:creationId xmlns:a16="http://schemas.microsoft.com/office/drawing/2014/main" id="{D7145FB1-2FDB-6FFA-0BD2-2A3E979ABB48}"/>
              </a:ext>
            </a:extLst>
          </p:cNvPr>
          <p:cNvPicPr>
            <a:picLocks noChangeAspect="1"/>
          </p:cNvPicPr>
          <p:nvPr/>
        </p:nvPicPr>
        <p:blipFill>
          <a:blip r:embed="rId4"/>
          <a:stretch>
            <a:fillRect/>
          </a:stretch>
        </p:blipFill>
        <p:spPr>
          <a:xfrm>
            <a:off x="5067986" y="6156599"/>
            <a:ext cx="540436" cy="308018"/>
          </a:xfrm>
          <a:prstGeom prst="rect">
            <a:avLst/>
          </a:prstGeom>
        </p:spPr>
      </p:pic>
      <p:pic>
        <p:nvPicPr>
          <p:cNvPr id="11" name="Image 10" descr="Une image contenant logo, Graphique, symbole, Police&#10;&#10;Le contenu généré par l’IA peut être incorrect.">
            <a:extLst>
              <a:ext uri="{FF2B5EF4-FFF2-40B4-BE49-F238E27FC236}">
                <a16:creationId xmlns:a16="http://schemas.microsoft.com/office/drawing/2014/main" id="{562F56C1-1036-0B8C-7AD2-1CADD06D17E3}"/>
              </a:ext>
            </a:extLst>
          </p:cNvPr>
          <p:cNvPicPr>
            <a:picLocks noChangeAspect="1"/>
          </p:cNvPicPr>
          <p:nvPr/>
        </p:nvPicPr>
        <p:blipFill>
          <a:blip r:embed="rId5"/>
          <a:stretch>
            <a:fillRect/>
          </a:stretch>
        </p:blipFill>
        <p:spPr>
          <a:xfrm>
            <a:off x="5813226" y="6148754"/>
            <a:ext cx="553293" cy="315864"/>
          </a:xfrm>
          <a:prstGeom prst="rect">
            <a:avLst/>
          </a:prstGeom>
        </p:spPr>
      </p:pic>
      <p:pic>
        <p:nvPicPr>
          <p:cNvPr id="13" name="Image 12" descr="Une image contenant symbole, logo, capture d’écran, Police&#10;&#10;Le contenu généré par l’IA peut être incorrect.">
            <a:extLst>
              <a:ext uri="{FF2B5EF4-FFF2-40B4-BE49-F238E27FC236}">
                <a16:creationId xmlns:a16="http://schemas.microsoft.com/office/drawing/2014/main" id="{B4A9D14C-DAA6-1B6F-4A22-A5055BA72801}"/>
              </a:ext>
            </a:extLst>
          </p:cNvPr>
          <p:cNvPicPr>
            <a:picLocks noChangeAspect="1"/>
          </p:cNvPicPr>
          <p:nvPr/>
        </p:nvPicPr>
        <p:blipFill>
          <a:blip r:embed="rId4"/>
          <a:stretch>
            <a:fillRect/>
          </a:stretch>
        </p:blipFill>
        <p:spPr>
          <a:xfrm>
            <a:off x="5423805" y="8620354"/>
            <a:ext cx="540436" cy="308018"/>
          </a:xfrm>
          <a:prstGeom prst="rect">
            <a:avLst/>
          </a:prstGeom>
        </p:spPr>
      </p:pic>
      <p:pic>
        <p:nvPicPr>
          <p:cNvPr id="14" name="Image 13" descr="Une image contenant capture d’écran, jaune, symbole, Police&#10;&#10;Le contenu généré par l’IA peut être incorrect.">
            <a:extLst>
              <a:ext uri="{FF2B5EF4-FFF2-40B4-BE49-F238E27FC236}">
                <a16:creationId xmlns:a16="http://schemas.microsoft.com/office/drawing/2014/main" id="{85B15F15-4D62-1AD8-3E78-A4A1C4F7519A}"/>
              </a:ext>
            </a:extLst>
          </p:cNvPr>
          <p:cNvPicPr>
            <a:picLocks noChangeAspect="1"/>
          </p:cNvPicPr>
          <p:nvPr/>
        </p:nvPicPr>
        <p:blipFill>
          <a:blip r:embed="rId3"/>
          <a:stretch>
            <a:fillRect/>
          </a:stretch>
        </p:blipFill>
        <p:spPr>
          <a:xfrm>
            <a:off x="1640649" y="8013467"/>
            <a:ext cx="553293" cy="311769"/>
          </a:xfrm>
          <a:prstGeom prst="rect">
            <a:avLst/>
          </a:prstGeom>
        </p:spPr>
      </p:pic>
      <p:pic>
        <p:nvPicPr>
          <p:cNvPr id="15" name="Image 14" descr="Une image contenant logo, Graphique, symbole, Police&#10;&#10;Le contenu généré par l’IA peut être incorrect.">
            <a:extLst>
              <a:ext uri="{FF2B5EF4-FFF2-40B4-BE49-F238E27FC236}">
                <a16:creationId xmlns:a16="http://schemas.microsoft.com/office/drawing/2014/main" id="{FF20082D-56CB-6BA5-5022-B421F219FC88}"/>
              </a:ext>
            </a:extLst>
          </p:cNvPr>
          <p:cNvPicPr>
            <a:picLocks noChangeAspect="1"/>
          </p:cNvPicPr>
          <p:nvPr/>
        </p:nvPicPr>
        <p:blipFill>
          <a:blip r:embed="rId5"/>
          <a:stretch>
            <a:fillRect/>
          </a:stretch>
        </p:blipFill>
        <p:spPr>
          <a:xfrm>
            <a:off x="5410949" y="7966961"/>
            <a:ext cx="553293" cy="315864"/>
          </a:xfrm>
          <a:prstGeom prst="rect">
            <a:avLst/>
          </a:prstGeom>
        </p:spPr>
      </p:pic>
      <p:pic>
        <p:nvPicPr>
          <p:cNvPr id="16" name="Image 15" descr="Une image contenant symbole, logo, capture d’écran, Police&#10;&#10;Le contenu généré par l’IA peut être incorrect.">
            <a:extLst>
              <a:ext uri="{FF2B5EF4-FFF2-40B4-BE49-F238E27FC236}">
                <a16:creationId xmlns:a16="http://schemas.microsoft.com/office/drawing/2014/main" id="{ABE2B3A1-72F3-8253-ABE1-5F50F25B2BDF}"/>
              </a:ext>
            </a:extLst>
          </p:cNvPr>
          <p:cNvPicPr>
            <a:picLocks noChangeAspect="1"/>
          </p:cNvPicPr>
          <p:nvPr/>
        </p:nvPicPr>
        <p:blipFill>
          <a:blip r:embed="rId4"/>
          <a:stretch>
            <a:fillRect/>
          </a:stretch>
        </p:blipFill>
        <p:spPr>
          <a:xfrm>
            <a:off x="1259028" y="7002824"/>
            <a:ext cx="540436" cy="308018"/>
          </a:xfrm>
          <a:prstGeom prst="rect">
            <a:avLst/>
          </a:prstGeom>
        </p:spPr>
      </p:pic>
      <p:pic>
        <p:nvPicPr>
          <p:cNvPr id="17" name="Image 16" descr="Une image contenant logo, Graphique, symbole, Police&#10;&#10;Le contenu généré par l’IA peut être incorrect.">
            <a:extLst>
              <a:ext uri="{FF2B5EF4-FFF2-40B4-BE49-F238E27FC236}">
                <a16:creationId xmlns:a16="http://schemas.microsoft.com/office/drawing/2014/main" id="{99511570-7899-270E-3A8F-3B810FB12066}"/>
              </a:ext>
            </a:extLst>
          </p:cNvPr>
          <p:cNvPicPr>
            <a:picLocks noChangeAspect="1"/>
          </p:cNvPicPr>
          <p:nvPr/>
        </p:nvPicPr>
        <p:blipFill>
          <a:blip r:embed="rId5"/>
          <a:stretch>
            <a:fillRect/>
          </a:stretch>
        </p:blipFill>
        <p:spPr>
          <a:xfrm>
            <a:off x="2004268" y="6994978"/>
            <a:ext cx="553293" cy="315864"/>
          </a:xfrm>
          <a:prstGeom prst="rect">
            <a:avLst/>
          </a:prstGeom>
        </p:spPr>
      </p:pic>
      <p:pic>
        <p:nvPicPr>
          <p:cNvPr id="18" name="Image 17" descr="Une image contenant logo, Graphique, symbole, Police&#10;&#10;Le contenu généré par l’IA peut être incorrect.">
            <a:extLst>
              <a:ext uri="{FF2B5EF4-FFF2-40B4-BE49-F238E27FC236}">
                <a16:creationId xmlns:a16="http://schemas.microsoft.com/office/drawing/2014/main" id="{327ABF7D-1509-E2E4-F41B-BDFA47335CF1}"/>
              </a:ext>
            </a:extLst>
          </p:cNvPr>
          <p:cNvPicPr>
            <a:picLocks noChangeAspect="1"/>
          </p:cNvPicPr>
          <p:nvPr/>
        </p:nvPicPr>
        <p:blipFill>
          <a:blip r:embed="rId5"/>
          <a:stretch>
            <a:fillRect/>
          </a:stretch>
        </p:blipFill>
        <p:spPr>
          <a:xfrm>
            <a:off x="5402595" y="6851553"/>
            <a:ext cx="553293" cy="315864"/>
          </a:xfrm>
          <a:prstGeom prst="rect">
            <a:avLst/>
          </a:prstGeom>
        </p:spPr>
      </p:pic>
      <p:sp>
        <p:nvSpPr>
          <p:cNvPr id="2" name="Espace réservé du pied de page 5">
            <a:extLst>
              <a:ext uri="{FF2B5EF4-FFF2-40B4-BE49-F238E27FC236}">
                <a16:creationId xmlns:a16="http://schemas.microsoft.com/office/drawing/2014/main" id="{DBE37283-FEE3-D506-9A5F-C152C6DA7C94}"/>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9" name="Espace réservé du numéro de diapositive 6">
            <a:extLst>
              <a:ext uri="{FF2B5EF4-FFF2-40B4-BE49-F238E27FC236}">
                <a16:creationId xmlns:a16="http://schemas.microsoft.com/office/drawing/2014/main" id="{FE1FED1F-191F-AA73-4796-BBD7C8F0114C}"/>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10</a:t>
            </a:fld>
            <a:endParaRPr lang="fr-FR" sz="965" dirty="0"/>
          </a:p>
        </p:txBody>
      </p:sp>
      <p:pic>
        <p:nvPicPr>
          <p:cNvPr id="6" name="Image 5">
            <a:extLst>
              <a:ext uri="{FF2B5EF4-FFF2-40B4-BE49-F238E27FC236}">
                <a16:creationId xmlns:a16="http://schemas.microsoft.com/office/drawing/2014/main" id="{ED943232-A159-DAAE-788C-EF21A442D38C}"/>
              </a:ext>
            </a:extLst>
          </p:cNvPr>
          <p:cNvPicPr>
            <a:picLocks noChangeAspect="1"/>
          </p:cNvPicPr>
          <p:nvPr/>
        </p:nvPicPr>
        <p:blipFill>
          <a:blip r:embed="rId6"/>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9D1F8FF0-2BC1-D190-3406-A1ADBAF8BD12}"/>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6. SYNTHÈSE DU PPPT</a:t>
            </a:r>
          </a:p>
        </p:txBody>
      </p:sp>
    </p:spTree>
    <p:extLst>
      <p:ext uri="{BB962C8B-B14F-4D97-AF65-F5344CB8AC3E}">
        <p14:creationId xmlns:p14="http://schemas.microsoft.com/office/powerpoint/2010/main" val="120890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62895-C778-A2FC-D720-BD04EC03CCF3}"/>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1A1EC229-0CAB-8EC2-5039-89B9EF0F593C}"/>
              </a:ext>
            </a:extLst>
          </p:cNvPr>
          <p:cNvSpPr txBox="1"/>
          <p:nvPr/>
        </p:nvSpPr>
        <p:spPr>
          <a:xfrm>
            <a:off x="541020" y="1238762"/>
            <a:ext cx="6484620" cy="4516942"/>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6.2 Le diagnostic de performance énergétiques (DPE Collectif)</a:t>
            </a:r>
          </a:p>
          <a:p>
            <a:endParaRPr lang="fr-FR" sz="1052"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DPE collectif est réalisé selon la méthode réglementaire </a:t>
            </a:r>
            <a:r>
              <a:rPr lang="fr-FR" sz="1100" b="1" dirty="0">
                <a:latin typeface="Calibri" panose="020F0502020204030204" pitchFamily="34" charset="0"/>
                <a:ea typeface="Calibri" panose="020F0502020204030204" pitchFamily="34" charset="0"/>
                <a:cs typeface="Calibri" panose="020F0502020204030204" pitchFamily="34" charset="0"/>
              </a:rPr>
              <a:t>3CL-DPE (Calcul de la Consommation Conventionnelle des Logements)</a:t>
            </a:r>
            <a:r>
              <a:rPr lang="fr-FR" sz="1100" dirty="0">
                <a:latin typeface="Calibri" panose="020F0502020204030204" pitchFamily="34" charset="0"/>
                <a:ea typeface="Calibri" panose="020F0502020204030204" pitchFamily="34" charset="0"/>
                <a:cs typeface="Calibri" panose="020F0502020204030204" pitchFamily="34" charset="0"/>
              </a:rPr>
              <a:t>, définie par les pouvoirs publics. Cette méthode repose sur une modélisation conventionnelle du bâtiment et sur des hypothèses standardisées d'occupation, de chauffage, de production d'eau chaude sanitaire et de conditions climatiques.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DPE collectif a été réalisé par la société France Verte dans le cadre du PPPT. </a:t>
            </a:r>
          </a:p>
          <a:p>
            <a:pPr algn="just"/>
            <a:r>
              <a:rPr lang="fr-FR" sz="1100" dirty="0">
                <a:latin typeface="Calibri" panose="020F0502020204030204" pitchFamily="34" charset="0"/>
                <a:ea typeface="Calibri" panose="020F0502020204030204" pitchFamily="34" charset="0"/>
                <a:cs typeface="Calibri" panose="020F0502020204030204" pitchFamily="34" charset="0"/>
              </a:rPr>
              <a:t>Pour bénéficier d’aides financières (CEE, MaPrimeRénov’), un audit énergétique doit être réalisé.</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latin typeface="Calibri" panose="020F0502020204030204" pitchFamily="34" charset="0"/>
                <a:ea typeface="Calibri" panose="020F0502020204030204" pitchFamily="34" charset="0"/>
                <a:cs typeface="Calibri" panose="020F0502020204030204" pitchFamily="34" charset="0"/>
              </a:rPr>
              <a:t>Date de réalisation du DPE collectif : </a:t>
            </a:r>
            <a:r>
              <a:rPr lang="fr-FR" sz="1100" dirty="0">
                <a:latin typeface="Calibri" panose="020F0502020204030204" pitchFamily="34" charset="0"/>
                <a:ea typeface="Calibri" panose="020F0502020204030204" pitchFamily="34" charset="0"/>
                <a:cs typeface="Calibri" panose="020F0502020204030204" pitchFamily="34" charset="0"/>
              </a:rPr>
              <a:t>24/08/2026</a:t>
            </a:r>
          </a:p>
          <a:p>
            <a:pPr algn="just"/>
            <a:r>
              <a:rPr lang="fr-FR" sz="1100" b="1" dirty="0">
                <a:latin typeface="Calibri" panose="020F0502020204030204" pitchFamily="34" charset="0"/>
                <a:ea typeface="Calibri" panose="020F0502020204030204" pitchFamily="34" charset="0"/>
                <a:cs typeface="Calibri" panose="020F0502020204030204" pitchFamily="34" charset="0"/>
              </a:rPr>
              <a:t>N° du DPE collectif : </a:t>
            </a:r>
            <a:r>
              <a:rPr lang="fr-FR" sz="1100" dirty="0">
                <a:latin typeface="Calibri" panose="020F0502020204030204" pitchFamily="34" charset="0"/>
                <a:ea typeface="Calibri" panose="020F0502020204030204" pitchFamily="34" charset="0"/>
                <a:cs typeface="Calibri" panose="020F0502020204030204" pitchFamily="34" charset="0"/>
              </a:rPr>
              <a:t>2642E2184111C</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solidFill>
                  <a:srgbClr val="0070C0"/>
                </a:solidFill>
                <a:latin typeface="Calibri" panose="020F0502020204030204" pitchFamily="34" charset="0"/>
                <a:ea typeface="Calibri" panose="020F0502020204030204" pitchFamily="34" charset="0"/>
                <a:cs typeface="Calibri" panose="020F0502020204030204" pitchFamily="34" charset="0"/>
              </a:rPr>
              <a:t>EP : énergie non transformée utilisée comme référence de calcul.</a:t>
            </a:r>
            <a:br>
              <a:rPr lang="fr-FR" sz="1100" dirty="0">
                <a:solidFill>
                  <a:srgbClr val="0070C0"/>
                </a:solidFill>
                <a:latin typeface="Calibri" panose="020F0502020204030204" pitchFamily="34" charset="0"/>
                <a:ea typeface="Calibri" panose="020F0502020204030204" pitchFamily="34" charset="0"/>
                <a:cs typeface="Calibri" panose="020F0502020204030204" pitchFamily="34" charset="0"/>
              </a:rPr>
            </a:br>
            <a:r>
              <a:rPr lang="fr-FR" sz="1100" dirty="0">
                <a:solidFill>
                  <a:srgbClr val="0070C0"/>
                </a:solidFill>
                <a:latin typeface="Calibri" panose="020F0502020204030204" pitchFamily="34" charset="0"/>
                <a:ea typeface="Calibri" panose="020F0502020204030204" pitchFamily="34" charset="0"/>
                <a:cs typeface="Calibri" panose="020F0502020204030204" pitchFamily="34" charset="0"/>
              </a:rPr>
              <a:t>GES : gaz contribuant à l’effet de serre en absorbant le rayonnement infrarouge.</a:t>
            </a:r>
          </a:p>
        </p:txBody>
      </p:sp>
      <p:graphicFrame>
        <p:nvGraphicFramePr>
          <p:cNvPr id="5" name="Tableau 4">
            <a:extLst>
              <a:ext uri="{FF2B5EF4-FFF2-40B4-BE49-F238E27FC236}">
                <a16:creationId xmlns:a16="http://schemas.microsoft.com/office/drawing/2014/main" id="{CEB33159-1342-976D-EDB5-02068C762039}"/>
              </a:ext>
            </a:extLst>
          </p:cNvPr>
          <p:cNvGraphicFramePr>
            <a:graphicFrameLocks noGrp="1"/>
          </p:cNvGraphicFramePr>
          <p:nvPr>
            <p:extLst>
              <p:ext uri="{D42A27DB-BD31-4B8C-83A1-F6EECF244321}">
                <p14:modId xmlns:p14="http://schemas.microsoft.com/office/powerpoint/2010/main" val="1870644686"/>
              </p:ext>
            </p:extLst>
          </p:nvPr>
        </p:nvGraphicFramePr>
        <p:xfrm>
          <a:off x="537527" y="6636463"/>
          <a:ext cx="6484620" cy="2629256"/>
        </p:xfrm>
        <a:graphic>
          <a:graphicData uri="http://schemas.openxmlformats.org/drawingml/2006/table">
            <a:tbl>
              <a:tblPr firstRow="1" bandRow="1">
                <a:tableStyleId>{5940675A-B579-460E-94D1-54222C63F5DA}</a:tableStyleId>
              </a:tblPr>
              <a:tblGrid>
                <a:gridCol w="3242310">
                  <a:extLst>
                    <a:ext uri="{9D8B030D-6E8A-4147-A177-3AD203B41FA5}">
                      <a16:colId xmlns:a16="http://schemas.microsoft.com/office/drawing/2014/main" val="916995750"/>
                    </a:ext>
                  </a:extLst>
                </a:gridCol>
                <a:gridCol w="3242310">
                  <a:extLst>
                    <a:ext uri="{9D8B030D-6E8A-4147-A177-3AD203B41FA5}">
                      <a16:colId xmlns:a16="http://schemas.microsoft.com/office/drawing/2014/main" val="201850467"/>
                    </a:ext>
                  </a:extLst>
                </a:gridCol>
              </a:tblGrid>
              <a:tr h="325209">
                <a:tc>
                  <a:txBody>
                    <a:bodyPr/>
                    <a:lstStyle/>
                    <a:p>
                      <a:pPr algn="ctr"/>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État initial</a:t>
                      </a:r>
                    </a:p>
                  </a:txBody>
                  <a:tcPr marL="80189" marR="80189" marT="40094" marB="40094" anchor="ctr">
                    <a:solidFill>
                      <a:srgbClr val="002060"/>
                    </a:solidFill>
                  </a:tcPr>
                </a:tc>
                <a:tc>
                  <a:txBody>
                    <a:bodyPr/>
                    <a:lstStyle/>
                    <a:p>
                      <a:pPr algn="ctr"/>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Scénario de rénovation le plus ambitieux</a:t>
                      </a:r>
                    </a:p>
                    <a:p>
                      <a:pPr algn="ctr"/>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 (Scénario n° 1)</a:t>
                      </a:r>
                    </a:p>
                  </a:txBody>
                  <a:tcPr marL="80189" marR="80189" marT="40094" marB="40094" anchor="ctr">
                    <a:solidFill>
                      <a:srgbClr val="002060"/>
                    </a:solidFill>
                  </a:tcPr>
                </a:tc>
                <a:extLst>
                  <a:ext uri="{0D108BD9-81ED-4DB2-BD59-A6C34878D82A}">
                    <a16:rowId xmlns:a16="http://schemas.microsoft.com/office/drawing/2014/main" val="3322267912"/>
                  </a:ext>
                </a:extLst>
              </a:tr>
              <a:tr h="1821061">
                <a:tc>
                  <a:txBody>
                    <a:bodyPr/>
                    <a:lstStyle/>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579680864"/>
                  </a:ext>
                </a:extLst>
              </a:tr>
            </a:tbl>
          </a:graphicData>
        </a:graphic>
      </p:graphicFrame>
      <p:sp>
        <p:nvSpPr>
          <p:cNvPr id="8" name="Espace réservé du pied de page 5">
            <a:extLst>
              <a:ext uri="{FF2B5EF4-FFF2-40B4-BE49-F238E27FC236}">
                <a16:creationId xmlns:a16="http://schemas.microsoft.com/office/drawing/2014/main" id="{B03C3FB2-87E0-8518-E8C9-998738A21470}"/>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C24F7CF8-C254-3046-EA33-D4F75C94A0BE}"/>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11</a:t>
            </a:fld>
            <a:endParaRPr lang="fr-FR" sz="965" dirty="0"/>
          </a:p>
        </p:txBody>
      </p:sp>
      <p:pic>
        <p:nvPicPr>
          <p:cNvPr id="2" name="Image 1">
            <a:extLst>
              <a:ext uri="{FF2B5EF4-FFF2-40B4-BE49-F238E27FC236}">
                <a16:creationId xmlns:a16="http://schemas.microsoft.com/office/drawing/2014/main" id="{ABE9C334-CCF3-226F-797E-FF488898F117}"/>
              </a:ext>
            </a:extLst>
          </p:cNvPr>
          <p:cNvPicPr>
            <a:picLocks noChangeAspect="1"/>
          </p:cNvPicPr>
          <p:nvPr/>
        </p:nvPicPr>
        <p:blipFill>
          <a:blip r:embed="rId2"/>
          <a:stretch>
            <a:fillRect/>
          </a:stretch>
        </p:blipFill>
        <p:spPr>
          <a:xfrm>
            <a:off x="541020" y="98814"/>
            <a:ext cx="2246544" cy="594519"/>
          </a:xfrm>
          <a:prstGeom prst="rect">
            <a:avLst/>
          </a:prstGeom>
        </p:spPr>
      </p:pic>
      <p:sp>
        <p:nvSpPr>
          <p:cNvPr id="4" name="ZoneTexte 3">
            <a:extLst>
              <a:ext uri="{FF2B5EF4-FFF2-40B4-BE49-F238E27FC236}">
                <a16:creationId xmlns:a16="http://schemas.microsoft.com/office/drawing/2014/main" id="{18E5C41E-3FF2-45AE-D1F3-9A0B58F6EE88}"/>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6. SYNTHÈSE DU PPPT</a:t>
            </a:r>
          </a:p>
        </p:txBody>
      </p:sp>
      <p:sp>
        <p:nvSpPr>
          <p:cNvPr id="7" name="ZoneTexte 6">
            <a:extLst>
              <a:ext uri="{FF2B5EF4-FFF2-40B4-BE49-F238E27FC236}">
                <a16:creationId xmlns:a16="http://schemas.microsoft.com/office/drawing/2014/main" id="{AFC95C24-E9AA-ADAA-E2B2-EA04688937CE}"/>
              </a:ext>
            </a:extLst>
          </p:cNvPr>
          <p:cNvSpPr txBox="1"/>
          <p:nvPr/>
        </p:nvSpPr>
        <p:spPr>
          <a:xfrm>
            <a:off x="-3657599" y="5339313"/>
            <a:ext cx="3078215" cy="677108"/>
          </a:xfrm>
          <a:prstGeom prst="rect">
            <a:avLst/>
          </a:prstGeom>
          <a:noFill/>
        </p:spPr>
        <p:txBody>
          <a:bodyPr wrap="none" rtlCol="0">
            <a:spAutoFit/>
          </a:bodyPr>
          <a:lstStyle/>
          <a:p>
            <a:r>
              <a:rPr lang="fr-FR" sz="3800" b="1" dirty="0">
                <a:solidFill>
                  <a:srgbClr val="FF0000"/>
                </a:solidFill>
              </a:rPr>
              <a:t>Si 1 bâtiment</a:t>
            </a:r>
          </a:p>
        </p:txBody>
      </p:sp>
    </p:spTree>
    <p:extLst>
      <p:ext uri="{BB962C8B-B14F-4D97-AF65-F5344CB8AC3E}">
        <p14:creationId xmlns:p14="http://schemas.microsoft.com/office/powerpoint/2010/main" val="930790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2EA36-C7AE-32B1-3822-2242E316006A}"/>
            </a:ext>
          </a:extLst>
        </p:cNvPr>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C67F408C-5C40-D22F-918E-8BD185E06E6F}"/>
              </a:ext>
            </a:extLst>
          </p:cNvPr>
          <p:cNvGraphicFramePr>
            <a:graphicFrameLocks noGrp="1"/>
          </p:cNvGraphicFramePr>
          <p:nvPr>
            <p:extLst>
              <p:ext uri="{D42A27DB-BD31-4B8C-83A1-F6EECF244321}">
                <p14:modId xmlns:p14="http://schemas.microsoft.com/office/powerpoint/2010/main" val="4038134231"/>
              </p:ext>
            </p:extLst>
          </p:nvPr>
        </p:nvGraphicFramePr>
        <p:xfrm>
          <a:off x="541020" y="1346776"/>
          <a:ext cx="6484620" cy="6062558"/>
        </p:xfrm>
        <a:graphic>
          <a:graphicData uri="http://schemas.openxmlformats.org/drawingml/2006/table">
            <a:tbl>
              <a:tblPr firstRow="1" bandRow="1">
                <a:tableStyleId>{5940675A-B579-460E-94D1-54222C63F5DA}</a:tableStyleId>
              </a:tblPr>
              <a:tblGrid>
                <a:gridCol w="2866113">
                  <a:extLst>
                    <a:ext uri="{9D8B030D-6E8A-4147-A177-3AD203B41FA5}">
                      <a16:colId xmlns:a16="http://schemas.microsoft.com/office/drawing/2014/main" val="3425292336"/>
                    </a:ext>
                  </a:extLst>
                </a:gridCol>
                <a:gridCol w="879919">
                  <a:extLst>
                    <a:ext uri="{9D8B030D-6E8A-4147-A177-3AD203B41FA5}">
                      <a16:colId xmlns:a16="http://schemas.microsoft.com/office/drawing/2014/main" val="3863501383"/>
                    </a:ext>
                  </a:extLst>
                </a:gridCol>
                <a:gridCol w="908612">
                  <a:extLst>
                    <a:ext uri="{9D8B030D-6E8A-4147-A177-3AD203B41FA5}">
                      <a16:colId xmlns:a16="http://schemas.microsoft.com/office/drawing/2014/main" val="2079596313"/>
                    </a:ext>
                  </a:extLst>
                </a:gridCol>
                <a:gridCol w="946870">
                  <a:extLst>
                    <a:ext uri="{9D8B030D-6E8A-4147-A177-3AD203B41FA5}">
                      <a16:colId xmlns:a16="http://schemas.microsoft.com/office/drawing/2014/main" val="3094318469"/>
                    </a:ext>
                  </a:extLst>
                </a:gridCol>
                <a:gridCol w="883106">
                  <a:extLst>
                    <a:ext uri="{9D8B030D-6E8A-4147-A177-3AD203B41FA5}">
                      <a16:colId xmlns:a16="http://schemas.microsoft.com/office/drawing/2014/main" val="2481500476"/>
                    </a:ext>
                  </a:extLst>
                </a:gridCol>
              </a:tblGrid>
              <a:tr h="325209">
                <a:tc gridSpan="2">
                  <a:txBody>
                    <a:bodyPr/>
                    <a:lstStyle/>
                    <a:p>
                      <a:pPr algn="ctr"/>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Travaux énergétiques</a:t>
                      </a:r>
                    </a:p>
                  </a:txBody>
                  <a:tcPr marL="80189" marR="80189" marT="40094" marB="40094" anchor="ctr">
                    <a:lnB w="12700" cap="flat" cmpd="sng" algn="ctr">
                      <a:solidFill>
                        <a:schemeClr val="tx1"/>
                      </a:solidFill>
                      <a:prstDash val="solid"/>
                      <a:round/>
                      <a:headEnd type="none" w="med" len="med"/>
                      <a:tailEnd type="none" w="med" len="med"/>
                    </a:lnB>
                    <a:solidFill>
                      <a:srgbClr val="002060"/>
                    </a:solidFill>
                  </a:tcPr>
                </a:tc>
                <a:tc hMerge="1">
                  <a:txBody>
                    <a:bodyPr/>
                    <a:lstStyle/>
                    <a:p>
                      <a:endParaRPr lang="fr-FR" sz="1200" b="0" dirty="0">
                        <a:solidFill>
                          <a:schemeClr val="bg1"/>
                        </a:solidFill>
                      </a:endParaRPr>
                    </a:p>
                  </a:txBody>
                  <a:tcPr anchor="ctr">
                    <a:lnB w="12700" cap="flat" cmpd="sng" algn="ctr">
                      <a:solidFill>
                        <a:schemeClr val="tx1"/>
                      </a:solidFill>
                      <a:prstDash val="solid"/>
                      <a:round/>
                      <a:headEnd type="none" w="med" len="med"/>
                      <a:tailEnd type="none" w="med" len="med"/>
                    </a:lnB>
                    <a:solidFill>
                      <a:srgbClr val="002060"/>
                    </a:solidFill>
                  </a:tcPr>
                </a:tc>
                <a:tc>
                  <a:txBody>
                    <a:bodyPr/>
                    <a:lstStyle/>
                    <a:p>
                      <a:pPr algn="ctr"/>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Scénario 1</a:t>
                      </a:r>
                    </a:p>
                  </a:txBody>
                  <a:tcPr marL="80189" marR="80189" marT="40094" marB="40094" anchor="ctr">
                    <a:lnB w="12700" cap="flat" cmpd="sng" algn="ctr">
                      <a:solidFill>
                        <a:schemeClr val="tx1"/>
                      </a:solidFill>
                      <a:prstDash val="solid"/>
                      <a:round/>
                      <a:headEnd type="none" w="med" len="med"/>
                      <a:tailEnd type="none" w="med" len="med"/>
                    </a:lnB>
                    <a:solidFill>
                      <a:srgbClr val="002060"/>
                    </a:solidFill>
                  </a:tcPr>
                </a:tc>
                <a:tc>
                  <a:txBody>
                    <a:bodyPr/>
                    <a:lstStyle/>
                    <a:p>
                      <a:pPr algn="ctr"/>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Scénario 2</a:t>
                      </a:r>
                    </a:p>
                  </a:txBody>
                  <a:tcPr marL="80189" marR="80189" marT="40094" marB="40094" anchor="ctr">
                    <a:lnB w="12700" cap="flat" cmpd="sng" algn="ctr">
                      <a:solidFill>
                        <a:schemeClr val="tx1"/>
                      </a:solidFill>
                      <a:prstDash val="solid"/>
                      <a:round/>
                      <a:headEnd type="none" w="med" len="med"/>
                      <a:tailEnd type="none" w="med" len="med"/>
                    </a:lnB>
                    <a:solidFill>
                      <a:srgbClr val="002060"/>
                    </a:solidFill>
                  </a:tcPr>
                </a:tc>
                <a:tc>
                  <a:txBody>
                    <a:bodyPr/>
                    <a:lstStyle/>
                    <a:p>
                      <a:pPr algn="ctr"/>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Scénario 3</a:t>
                      </a:r>
                    </a:p>
                  </a:txBody>
                  <a:tcPr marL="80189" marR="80189" marT="40094" marB="40094" anchor="ctr">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4055804254"/>
                  </a:ext>
                </a:extLst>
              </a:tr>
              <a:tr h="325209">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fr-FR" sz="10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100" dirty="0">
                          <a:latin typeface="Calibri" panose="020F0502020204030204" pitchFamily="34" charset="0"/>
                          <a:ea typeface="Calibri" panose="020F0502020204030204" pitchFamily="34" charset="0"/>
                          <a:cs typeface="Calibri" panose="020F0502020204030204" pitchFamily="34" charset="0"/>
                        </a:rPr>
                        <a: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56350"/>
                  </a:ext>
                </a:extLst>
              </a:tr>
              <a:tr h="325209">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fr-FR" sz="10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1518295"/>
                  </a:ext>
                </a:extLst>
              </a:tr>
              <a:tr h="325209">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fr-FR" sz="10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950047"/>
                  </a:ext>
                </a:extLst>
              </a:tr>
              <a:tr h="340609">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fr-FR" sz="10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5009370"/>
                  </a:ext>
                </a:extLst>
              </a:tr>
              <a:tr h="325209">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fr-FR" sz="10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a:p>
                  </a:txBody>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4338463"/>
                  </a:ext>
                </a:extLst>
              </a:tr>
              <a:tr h="325209">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fr-FR" sz="10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a:p>
                  </a:txBody>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1935849"/>
                  </a:ext>
                </a:extLst>
              </a:tr>
              <a:tr h="325209">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fr-FR" sz="1000" b="1"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a:p>
                  </a:txBody>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4072686"/>
                  </a:ext>
                </a:extLst>
              </a:tr>
              <a:tr h="325209">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5548877"/>
                  </a:ext>
                </a:extLst>
              </a:tr>
              <a:tr h="325209">
                <a:tc>
                  <a:txBody>
                    <a:bodyPr/>
                    <a:lstStyle/>
                    <a:p>
                      <a:pPr algn="ctr"/>
                      <a:endParaRPr lang="fr-FR" sz="1100" b="1" dirty="0">
                        <a:solidFill>
                          <a:schemeClr val="tx1"/>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État initial</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Scénario 1</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Scénario 2</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Scénario 3</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157061521"/>
                  </a:ext>
                </a:extLst>
              </a:tr>
              <a:tr h="325209">
                <a:tc>
                  <a:txBody>
                    <a:bodyPr/>
                    <a:lstStyle/>
                    <a:p>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Étiquette énergétique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8678129"/>
                  </a:ext>
                </a:extLst>
              </a:tr>
              <a:tr h="400943">
                <a:tc>
                  <a:txBody>
                    <a:bodyPr/>
                    <a:lstStyle/>
                    <a:p>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Consommation en énergie primaire (kWhEP/m²/an)</a:t>
                      </a: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9204834"/>
                  </a:ext>
                </a:extLst>
              </a:tr>
              <a:tr h="325209">
                <a:tc>
                  <a:txBody>
                    <a:bodyPr/>
                    <a:lstStyle/>
                    <a:p>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Gaz à effet de serre (kgCO2/m²/an)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4283018"/>
                  </a:ext>
                </a:extLst>
              </a:tr>
              <a:tr h="325209">
                <a:tc>
                  <a:txBody>
                    <a:bodyPr/>
                    <a:lstStyle/>
                    <a:p>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Gain énergétique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088741"/>
                  </a:ext>
                </a:extLst>
              </a:tr>
              <a:tr h="325209">
                <a:tc>
                  <a:txBody>
                    <a:bodyPr/>
                    <a:lstStyle/>
                    <a:p>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Investissement en TTC (sans les aides)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0271719"/>
                  </a:ext>
                </a:extLst>
              </a:tr>
              <a:tr h="240566">
                <a:tc>
                  <a:txBody>
                    <a:bodyPr/>
                    <a:lstStyle/>
                    <a:p>
                      <a:endPar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3258768"/>
                  </a:ext>
                </a:extLst>
              </a:tr>
              <a:tr h="400943">
                <a:tc>
                  <a:txBody>
                    <a:bodyPr/>
                    <a:lstStyle/>
                    <a:p>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Estimatif de l’aide MaPrimeRénov ’Copropriétés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2955272"/>
                  </a:ext>
                </a:extLst>
              </a:tr>
              <a:tr h="400943">
                <a:tc>
                  <a:txBody>
                    <a:bodyPr/>
                    <a:lstStyle/>
                    <a:p>
                      <a:r>
                        <a:rPr lang="fr-FR" sz="1100" dirty="0">
                          <a:solidFill>
                            <a:schemeClr val="bg1"/>
                          </a:solidFill>
                          <a:latin typeface="Calibri" panose="020F0502020204030204" pitchFamily="34" charset="0"/>
                          <a:ea typeface="Calibri" panose="020F0502020204030204" pitchFamily="34" charset="0"/>
                          <a:cs typeface="Calibri" panose="020F0502020204030204" pitchFamily="34" charset="0"/>
                        </a:rPr>
                        <a:t>Estimatif de l’aide des CEE (Certificats d’Economies d’Energie)</a:t>
                      </a: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389578"/>
                  </a:ext>
                </a:extLst>
              </a:tr>
            </a:tbl>
          </a:graphicData>
        </a:graphic>
      </p:graphicFrame>
      <p:sp>
        <p:nvSpPr>
          <p:cNvPr id="8" name="Espace réservé du pied de page 5">
            <a:extLst>
              <a:ext uri="{FF2B5EF4-FFF2-40B4-BE49-F238E27FC236}">
                <a16:creationId xmlns:a16="http://schemas.microsoft.com/office/drawing/2014/main" id="{8268E440-11E9-65B4-C3A8-ACBCAEC2072A}"/>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DC663589-FAE5-344B-22BB-3F8581C723F1}"/>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12</a:t>
            </a:fld>
            <a:endParaRPr lang="fr-FR" sz="965" dirty="0"/>
          </a:p>
        </p:txBody>
      </p:sp>
      <p:graphicFrame>
        <p:nvGraphicFramePr>
          <p:cNvPr id="2" name="Tableau 1">
            <a:extLst>
              <a:ext uri="{FF2B5EF4-FFF2-40B4-BE49-F238E27FC236}">
                <a16:creationId xmlns:a16="http://schemas.microsoft.com/office/drawing/2014/main" id="{9E5A6606-4DD3-148D-8495-D784CE434E27}"/>
              </a:ext>
            </a:extLst>
          </p:cNvPr>
          <p:cNvGraphicFramePr>
            <a:graphicFrameLocks noGrp="1"/>
          </p:cNvGraphicFramePr>
          <p:nvPr>
            <p:extLst>
              <p:ext uri="{D42A27DB-BD31-4B8C-83A1-F6EECF244321}">
                <p14:modId xmlns:p14="http://schemas.microsoft.com/office/powerpoint/2010/main" val="929075921"/>
              </p:ext>
            </p:extLst>
          </p:nvPr>
        </p:nvGraphicFramePr>
        <p:xfrm>
          <a:off x="-4850907" y="-271751"/>
          <a:ext cx="4065117" cy="13984521"/>
        </p:xfrm>
        <a:graphic>
          <a:graphicData uri="http://schemas.openxmlformats.org/drawingml/2006/table">
            <a:tbl>
              <a:tblPr firstRow="1" bandRow="1">
                <a:tableStyleId>{5940675A-B579-460E-94D1-54222C63F5DA}</a:tableStyleId>
              </a:tblPr>
              <a:tblGrid>
                <a:gridCol w="3271584">
                  <a:extLst>
                    <a:ext uri="{9D8B030D-6E8A-4147-A177-3AD203B41FA5}">
                      <a16:colId xmlns:a16="http://schemas.microsoft.com/office/drawing/2014/main" val="3425292336"/>
                    </a:ext>
                  </a:extLst>
                </a:gridCol>
                <a:gridCol w="793533">
                  <a:extLst>
                    <a:ext uri="{9D8B030D-6E8A-4147-A177-3AD203B41FA5}">
                      <a16:colId xmlns:a16="http://schemas.microsoft.com/office/drawing/2014/main" val="2079596313"/>
                    </a:ext>
                  </a:extLst>
                </a:gridCol>
              </a:tblGrid>
              <a:tr h="325209">
                <a:tc>
                  <a:txBody>
                    <a:bodyPr/>
                    <a:lstStyle/>
                    <a:p>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Travaux énergétiques</a:t>
                      </a:r>
                    </a:p>
                  </a:txBody>
                  <a:tcPr marL="80189" marR="80189" marT="40094" marB="40094" anchor="ctr">
                    <a:lnB w="12700" cap="flat" cmpd="sng" algn="ctr">
                      <a:solidFill>
                        <a:schemeClr val="tx1"/>
                      </a:solidFill>
                      <a:prstDash val="solid"/>
                      <a:round/>
                      <a:headEnd type="none" w="med" len="med"/>
                      <a:tailEnd type="none" w="med" len="med"/>
                    </a:lnB>
                    <a:solidFill>
                      <a:srgbClr val="002060"/>
                    </a:solidFill>
                  </a:tcPr>
                </a:tc>
                <a:tc>
                  <a:txBody>
                    <a:bodyPr/>
                    <a:lstStyle/>
                    <a:p>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Scénario 1</a:t>
                      </a:r>
                    </a:p>
                  </a:txBody>
                  <a:tcPr marL="80189" marR="80189" marT="40094" marB="40094" anchor="ctr">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4055804254"/>
                  </a:ext>
                </a:extLst>
              </a:tr>
              <a:tr h="668238">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Murs extérieurs </a:t>
                      </a:r>
                      <a:r>
                        <a:rPr lang="fr-FR" sz="1100" dirty="0">
                          <a:latin typeface="Calibri" panose="020F0502020204030204" pitchFamily="34" charset="0"/>
                          <a:ea typeface="Calibri" panose="020F0502020204030204" pitchFamily="34" charset="0"/>
                          <a:cs typeface="Calibri" panose="020F0502020204030204" pitchFamily="34" charset="0"/>
                        </a:rPr>
                        <a:t>- Mise en place d’une </a:t>
                      </a:r>
                      <a:r>
                        <a:rPr lang="fr-FR" sz="1100" b="0" dirty="0">
                          <a:latin typeface="Calibri" panose="020F0502020204030204" pitchFamily="34" charset="0"/>
                          <a:ea typeface="Calibri" panose="020F0502020204030204" pitchFamily="34" charset="0"/>
                          <a:cs typeface="Calibri" panose="020F0502020204030204" pitchFamily="34" charset="0"/>
                        </a:rPr>
                        <a:t>isolation thermique par l’extérieur</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Performance à respecter : </a:t>
                      </a:r>
                      <a:r>
                        <a:rPr lang="fr-FR" sz="1100" b="1" dirty="0">
                          <a:latin typeface="Calibri" panose="020F0502020204030204" pitchFamily="34" charset="0"/>
                          <a:ea typeface="Calibri" panose="020F0502020204030204" pitchFamily="34" charset="0"/>
                          <a:cs typeface="Calibri" panose="020F0502020204030204" pitchFamily="34" charset="0"/>
                        </a:rPr>
                        <a:t>R ≥ 4,4 m²·K/W</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Surface à isoler : </a:t>
                      </a:r>
                      <a:r>
                        <a:rPr lang="fr-FR" sz="1100" b="1" dirty="0">
                          <a:highlight>
                            <a:srgbClr val="FFFF00"/>
                          </a:highlight>
                          <a:latin typeface="Calibri" panose="020F0502020204030204" pitchFamily="34" charset="0"/>
                          <a:ea typeface="Calibri" panose="020F0502020204030204" pitchFamily="34" charset="0"/>
                          <a:cs typeface="Calibri" panose="020F0502020204030204" pitchFamily="34" charset="0"/>
                        </a:rPr>
                        <a:t>100</a:t>
                      </a:r>
                      <a:r>
                        <a:rPr lang="fr-FR" sz="1100" b="1" dirty="0">
                          <a:latin typeface="Calibri" panose="020F0502020204030204" pitchFamily="34" charset="0"/>
                          <a:ea typeface="Calibri" panose="020F0502020204030204" pitchFamily="34" charset="0"/>
                          <a:cs typeface="Calibri" panose="020F0502020204030204" pitchFamily="34" charset="0"/>
                        </a:rPr>
                        <a:t> m²</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56350"/>
                  </a:ext>
                </a:extLst>
              </a:tr>
              <a:tr h="668238">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Murs extérieurs </a:t>
                      </a:r>
                      <a:r>
                        <a:rPr lang="fr-FR" sz="1100" dirty="0">
                          <a:latin typeface="Calibri" panose="020F0502020204030204" pitchFamily="34" charset="0"/>
                          <a:ea typeface="Calibri" panose="020F0502020204030204" pitchFamily="34" charset="0"/>
                          <a:cs typeface="Calibri" panose="020F0502020204030204" pitchFamily="34" charset="0"/>
                        </a:rPr>
                        <a:t>- Mise en place d’une </a:t>
                      </a:r>
                      <a:r>
                        <a:rPr lang="fr-FR" sz="1100" b="0" dirty="0">
                          <a:latin typeface="Calibri" panose="020F0502020204030204" pitchFamily="34" charset="0"/>
                          <a:ea typeface="Calibri" panose="020F0502020204030204" pitchFamily="34" charset="0"/>
                          <a:cs typeface="Calibri" panose="020F0502020204030204" pitchFamily="34" charset="0"/>
                        </a:rPr>
                        <a:t>isolation thermique par l’extérieur </a:t>
                      </a:r>
                      <a:r>
                        <a:rPr lang="fr-FR" sz="1100" b="0" dirty="0">
                          <a:solidFill>
                            <a:srgbClr val="FF0000"/>
                          </a:solidFill>
                          <a:latin typeface="Calibri" panose="020F0502020204030204" pitchFamily="34" charset="0"/>
                          <a:ea typeface="Calibri" panose="020F0502020204030204" pitchFamily="34" charset="0"/>
                          <a:cs typeface="Calibri" panose="020F0502020204030204" pitchFamily="34" charset="0"/>
                        </a:rPr>
                        <a:t>(sous réserve de l’accord des ABF)</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Performance à respecter : </a:t>
                      </a:r>
                      <a:r>
                        <a:rPr lang="fr-FR" sz="1100" b="1" dirty="0">
                          <a:latin typeface="Calibri" panose="020F0502020204030204" pitchFamily="34" charset="0"/>
                          <a:ea typeface="Calibri" panose="020F0502020204030204" pitchFamily="34" charset="0"/>
                          <a:cs typeface="Calibri" panose="020F0502020204030204" pitchFamily="34" charset="0"/>
                        </a:rPr>
                        <a:t>R ≥ 4,4 m²·K/W</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Surface à isoler : </a:t>
                      </a:r>
                      <a:r>
                        <a:rPr lang="fr-FR" sz="1100" b="1" dirty="0">
                          <a:highlight>
                            <a:srgbClr val="FFFF00"/>
                          </a:highlight>
                          <a:latin typeface="Calibri" panose="020F0502020204030204" pitchFamily="34" charset="0"/>
                          <a:ea typeface="Calibri" panose="020F0502020204030204" pitchFamily="34" charset="0"/>
                          <a:cs typeface="Calibri" panose="020F0502020204030204" pitchFamily="34" charset="0"/>
                        </a:rPr>
                        <a:t>100</a:t>
                      </a:r>
                      <a:r>
                        <a:rPr lang="fr-FR" sz="1100" b="1" dirty="0">
                          <a:latin typeface="Calibri" panose="020F0502020204030204" pitchFamily="34" charset="0"/>
                          <a:ea typeface="Calibri" panose="020F0502020204030204" pitchFamily="34" charset="0"/>
                          <a:cs typeface="Calibri" panose="020F0502020204030204" pitchFamily="34" charset="0"/>
                        </a:rPr>
                        <a:t> m²</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6586546"/>
                  </a:ext>
                </a:extLst>
              </a:tr>
              <a:tr h="6682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Toiture terrasse </a:t>
                      </a:r>
                      <a:r>
                        <a:rPr lang="fr-FR" sz="1100" dirty="0">
                          <a:latin typeface="Calibri" panose="020F0502020204030204" pitchFamily="34" charset="0"/>
                          <a:ea typeface="Calibri" panose="020F0502020204030204" pitchFamily="34" charset="0"/>
                          <a:cs typeface="Calibri" panose="020F0502020204030204" pitchFamily="34" charset="0"/>
                        </a:rPr>
                        <a:t>- </a:t>
                      </a:r>
                      <a:r>
                        <a:rPr lang="fr-FR" sz="1100" b="0" dirty="0">
                          <a:latin typeface="Calibri" panose="020F0502020204030204" pitchFamily="34" charset="0"/>
                          <a:ea typeface="Calibri" panose="020F0502020204030204" pitchFamily="34" charset="0"/>
                          <a:cs typeface="Calibri" panose="020F0502020204030204" pitchFamily="34" charset="0"/>
                        </a:rPr>
                        <a:t>Mise en place d’une isolation thermique par l’extérieur</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Performance à respecter : </a:t>
                      </a:r>
                      <a:r>
                        <a:rPr lang="fr-FR" sz="1100" b="1" dirty="0">
                          <a:latin typeface="Calibri" panose="020F0502020204030204" pitchFamily="34" charset="0"/>
                          <a:ea typeface="Calibri" panose="020F0502020204030204" pitchFamily="34" charset="0"/>
                          <a:cs typeface="Calibri" panose="020F0502020204030204" pitchFamily="34" charset="0"/>
                        </a:rPr>
                        <a:t>R ≥ 4,5 m²·K/W</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Surface à isoler : </a:t>
                      </a:r>
                      <a:r>
                        <a:rPr lang="fr-FR" sz="1100" b="1" dirty="0">
                          <a:highlight>
                            <a:srgbClr val="FFFF00"/>
                          </a:highlight>
                          <a:latin typeface="Calibri" panose="020F0502020204030204" pitchFamily="34" charset="0"/>
                          <a:ea typeface="Calibri" panose="020F0502020204030204" pitchFamily="34" charset="0"/>
                          <a:cs typeface="Calibri" panose="020F0502020204030204" pitchFamily="34" charset="0"/>
                        </a:rPr>
                        <a:t>100</a:t>
                      </a:r>
                      <a:r>
                        <a:rPr lang="fr-FR" sz="1100" b="1" dirty="0">
                          <a:latin typeface="Calibri" panose="020F0502020204030204" pitchFamily="34" charset="0"/>
                          <a:ea typeface="Calibri" panose="020F0502020204030204" pitchFamily="34" charset="0"/>
                          <a:cs typeface="Calibri" panose="020F0502020204030204" pitchFamily="34" charset="0"/>
                        </a:rPr>
                        <a:t> m²</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1518295"/>
                  </a:ext>
                </a:extLst>
              </a:tr>
              <a:tr h="6682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Combles aménagés </a:t>
                      </a:r>
                      <a:r>
                        <a:rPr lang="fr-FR" sz="1100" b="0" dirty="0">
                          <a:latin typeface="Calibri" panose="020F0502020204030204" pitchFamily="34" charset="0"/>
                          <a:ea typeface="Calibri" panose="020F0502020204030204" pitchFamily="34" charset="0"/>
                          <a:cs typeface="Calibri" panose="020F0502020204030204" pitchFamily="34" charset="0"/>
                        </a:rPr>
                        <a:t>– Mise en place d’une isolation thermique par l’extérieur (</a:t>
                      </a:r>
                      <a:r>
                        <a:rPr lang="fr-FR" sz="1100" b="0" dirty="0" err="1">
                          <a:latin typeface="Calibri" panose="020F0502020204030204" pitchFamily="34" charset="0"/>
                          <a:ea typeface="Calibri" panose="020F0502020204030204" pitchFamily="34" charset="0"/>
                          <a:cs typeface="Calibri" panose="020F0502020204030204" pitchFamily="34" charset="0"/>
                        </a:rPr>
                        <a:t>Sarking</a:t>
                      </a:r>
                      <a:r>
                        <a:rPr lang="fr-FR" sz="1100" b="0" dirty="0">
                          <a:latin typeface="Calibri" panose="020F0502020204030204" pitchFamily="34" charset="0"/>
                          <a:ea typeface="Calibri" panose="020F0502020204030204" pitchFamily="34" charset="0"/>
                          <a:cs typeface="Calibri" panose="020F0502020204030204" pitchFamily="34" charset="0"/>
                        </a:rPr>
                        <a:t>)</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Performance à respecter : </a:t>
                      </a:r>
                      <a:r>
                        <a:rPr lang="fr-FR" sz="1100" b="1" dirty="0">
                          <a:latin typeface="Calibri" panose="020F0502020204030204" pitchFamily="34" charset="0"/>
                          <a:ea typeface="Calibri" panose="020F0502020204030204" pitchFamily="34" charset="0"/>
                          <a:cs typeface="Calibri" panose="020F0502020204030204" pitchFamily="34" charset="0"/>
                        </a:rPr>
                        <a:t>R ≥ 6 m²·K/W</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Surface à isoler : </a:t>
                      </a:r>
                      <a:r>
                        <a:rPr lang="fr-FR" sz="1100" b="1" dirty="0">
                          <a:highlight>
                            <a:srgbClr val="FFFF00"/>
                          </a:highlight>
                          <a:latin typeface="Calibri" panose="020F0502020204030204" pitchFamily="34" charset="0"/>
                          <a:ea typeface="Calibri" panose="020F0502020204030204" pitchFamily="34" charset="0"/>
                          <a:cs typeface="Calibri" panose="020F0502020204030204" pitchFamily="34" charset="0"/>
                        </a:rPr>
                        <a:t>100</a:t>
                      </a:r>
                      <a:r>
                        <a:rPr lang="fr-FR" sz="1100" b="1" dirty="0">
                          <a:latin typeface="Calibri" panose="020F0502020204030204" pitchFamily="34" charset="0"/>
                          <a:ea typeface="Calibri" panose="020F0502020204030204" pitchFamily="34" charset="0"/>
                          <a:cs typeface="Calibri" panose="020F0502020204030204" pitchFamily="34" charset="0"/>
                        </a:rPr>
                        <a:t> m²</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950047"/>
                  </a:ext>
                </a:extLst>
              </a:tr>
              <a:tr h="6682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Combles perdus </a:t>
                      </a:r>
                      <a:r>
                        <a:rPr lang="fr-FR" sz="1100" b="0" dirty="0">
                          <a:latin typeface="Calibri" panose="020F0502020204030204" pitchFamily="34" charset="0"/>
                          <a:ea typeface="Calibri" panose="020F0502020204030204" pitchFamily="34" charset="0"/>
                          <a:cs typeface="Calibri" panose="020F0502020204030204" pitchFamily="34" charset="0"/>
                        </a:rPr>
                        <a:t>– Mise en place d’une isolation thermique sur le plancher des combles perdus</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Performance à respecter : </a:t>
                      </a:r>
                      <a:r>
                        <a:rPr lang="fr-FR" sz="1100" b="1" dirty="0">
                          <a:latin typeface="Calibri" panose="020F0502020204030204" pitchFamily="34" charset="0"/>
                          <a:ea typeface="Calibri" panose="020F0502020204030204" pitchFamily="34" charset="0"/>
                          <a:cs typeface="Calibri" panose="020F0502020204030204" pitchFamily="34" charset="0"/>
                        </a:rPr>
                        <a:t>R ≥ 7 m²·K/W</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Surface à isoler : </a:t>
                      </a:r>
                      <a:r>
                        <a:rPr lang="fr-FR" sz="1100" b="1" dirty="0">
                          <a:highlight>
                            <a:srgbClr val="FFFF00"/>
                          </a:highlight>
                          <a:latin typeface="Calibri" panose="020F0502020204030204" pitchFamily="34" charset="0"/>
                          <a:ea typeface="Calibri" panose="020F0502020204030204" pitchFamily="34" charset="0"/>
                          <a:cs typeface="Calibri" panose="020F0502020204030204" pitchFamily="34" charset="0"/>
                        </a:rPr>
                        <a:t>100</a:t>
                      </a:r>
                      <a:r>
                        <a:rPr lang="fr-FR" sz="1100" b="1" dirty="0">
                          <a:latin typeface="Calibri" panose="020F0502020204030204" pitchFamily="34" charset="0"/>
                          <a:ea typeface="Calibri" panose="020F0502020204030204" pitchFamily="34" charset="0"/>
                          <a:cs typeface="Calibri" panose="020F0502020204030204" pitchFamily="34" charset="0"/>
                        </a:rPr>
                        <a:t> m²</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5009370"/>
                  </a:ext>
                </a:extLst>
              </a:tr>
              <a:tr h="8152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Plancher bas </a:t>
                      </a:r>
                      <a:r>
                        <a:rPr lang="fr-FR" sz="1100" b="0" dirty="0">
                          <a:latin typeface="Calibri" panose="020F0502020204030204" pitchFamily="34" charset="0"/>
                          <a:ea typeface="Calibri" panose="020F0502020204030204" pitchFamily="34" charset="0"/>
                          <a:cs typeface="Calibri" panose="020F0502020204030204" pitchFamily="34" charset="0"/>
                        </a:rPr>
                        <a:t>– Mise en place d’une isolation thermique du plafond des locaux non chauffés donnant sur un local chauffé</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Performance à respecter : </a:t>
                      </a:r>
                      <a:r>
                        <a:rPr lang="fr-FR" sz="1100" b="1" dirty="0">
                          <a:latin typeface="Calibri" panose="020F0502020204030204" pitchFamily="34" charset="0"/>
                          <a:ea typeface="Calibri" panose="020F0502020204030204" pitchFamily="34" charset="0"/>
                          <a:cs typeface="Calibri" panose="020F0502020204030204" pitchFamily="34" charset="0"/>
                        </a:rPr>
                        <a:t>R ≥ 3 m²·K/W</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dirty="0">
                          <a:latin typeface="Calibri" panose="020F0502020204030204" pitchFamily="34" charset="0"/>
                          <a:ea typeface="Calibri" panose="020F0502020204030204" pitchFamily="34" charset="0"/>
                          <a:cs typeface="Calibri" panose="020F0502020204030204" pitchFamily="34" charset="0"/>
                        </a:rPr>
                        <a:t>Surface à isoler : </a:t>
                      </a:r>
                      <a:r>
                        <a:rPr lang="fr-FR" sz="1100" b="1" dirty="0">
                          <a:highlight>
                            <a:srgbClr val="FFFF00"/>
                          </a:highlight>
                          <a:latin typeface="Calibri" panose="020F0502020204030204" pitchFamily="34" charset="0"/>
                          <a:ea typeface="Calibri" panose="020F0502020204030204" pitchFamily="34" charset="0"/>
                          <a:cs typeface="Calibri" panose="020F0502020204030204" pitchFamily="34" charset="0"/>
                        </a:rPr>
                        <a:t>100</a:t>
                      </a:r>
                      <a:r>
                        <a:rPr lang="fr-FR" sz="1100" b="1" dirty="0">
                          <a:latin typeface="Calibri" panose="020F0502020204030204" pitchFamily="34" charset="0"/>
                          <a:ea typeface="Calibri" panose="020F0502020204030204" pitchFamily="34" charset="0"/>
                          <a:cs typeface="Calibri" panose="020F0502020204030204" pitchFamily="34" charset="0"/>
                        </a:rPr>
                        <a:t> m²</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4338463"/>
                  </a:ext>
                </a:extLst>
              </a:tr>
              <a:tr h="6682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u="none" dirty="0">
                          <a:latin typeface="Calibri" panose="020F0502020204030204" pitchFamily="34" charset="0"/>
                          <a:ea typeface="Calibri" panose="020F0502020204030204" pitchFamily="34" charset="0"/>
                          <a:cs typeface="Calibri" panose="020F0502020204030204" pitchFamily="34" charset="0"/>
                        </a:rPr>
                        <a:t>Menuiseries</a:t>
                      </a:r>
                      <a:r>
                        <a:rPr lang="fr-FR" sz="1100" b="0" u="none" dirty="0">
                          <a:latin typeface="Calibri" panose="020F0502020204030204" pitchFamily="34" charset="0"/>
                          <a:ea typeface="Calibri" panose="020F0502020204030204" pitchFamily="34" charset="0"/>
                          <a:cs typeface="Calibri" panose="020F0502020204030204" pitchFamily="34" charset="0"/>
                        </a:rPr>
                        <a:t> – Remplacement des menuiseries anciennes par des menuiseries double vitrage à faible émissivité</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1100" b="0" u="none" dirty="0">
                          <a:latin typeface="Calibri" panose="020F0502020204030204" pitchFamily="34" charset="0"/>
                          <a:ea typeface="Calibri" panose="020F0502020204030204" pitchFamily="34" charset="0"/>
                          <a:cs typeface="Calibri" panose="020F0502020204030204" pitchFamily="34" charset="0"/>
                        </a:rPr>
                        <a:t>Performance à respecter : </a:t>
                      </a:r>
                      <a:r>
                        <a:rPr lang="fr-FR" sz="1100" b="1" u="none" dirty="0">
                          <a:latin typeface="Calibri" panose="020F0502020204030204" pitchFamily="34" charset="0"/>
                          <a:ea typeface="Calibri" panose="020F0502020204030204" pitchFamily="34" charset="0"/>
                          <a:cs typeface="Calibri" panose="020F0502020204030204" pitchFamily="34" charset="0"/>
                        </a:rPr>
                        <a:t>Uw ≤ 1,3 W/m².K</a:t>
                      </a:r>
                    </a:p>
                    <a:p>
                      <a:r>
                        <a:rPr lang="fr-FR" sz="1100" b="0" u="none" dirty="0">
                          <a:latin typeface="Calibri" panose="020F0502020204030204" pitchFamily="34" charset="0"/>
                          <a:ea typeface="Calibri" panose="020F0502020204030204" pitchFamily="34" charset="0"/>
                          <a:cs typeface="Calibri" panose="020F0502020204030204" pitchFamily="34" charset="0"/>
                        </a:rPr>
                        <a:t>Nombres de menuiseries à remplacer : </a:t>
                      </a:r>
                      <a:r>
                        <a:rPr lang="fr-FR" sz="1100" b="1" u="none" dirty="0">
                          <a:highlight>
                            <a:srgbClr val="FFFF00"/>
                          </a:highlight>
                          <a:latin typeface="Calibri" panose="020F0502020204030204" pitchFamily="34" charset="0"/>
                          <a:ea typeface="Calibri" panose="020F0502020204030204" pitchFamily="34" charset="0"/>
                          <a:cs typeface="Calibri" panose="020F0502020204030204" pitchFamily="34" charset="0"/>
                        </a:rPr>
                        <a:t>100 </a:t>
                      </a:r>
                      <a:r>
                        <a:rPr lang="fr-FR" sz="1100" b="1" u="none" dirty="0">
                          <a:latin typeface="Calibri" panose="020F0502020204030204" pitchFamily="34" charset="0"/>
                          <a:ea typeface="Calibri" panose="020F0502020204030204" pitchFamily="34" charset="0"/>
                          <a:cs typeface="Calibri" panose="020F0502020204030204" pitchFamily="34" charset="0"/>
                        </a:rPr>
                        <a:t>unités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9104157"/>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Ventilation</a:t>
                      </a:r>
                      <a:r>
                        <a:rPr lang="fr-FR" sz="1100" b="0" dirty="0">
                          <a:latin typeface="Calibri" panose="020F0502020204030204" pitchFamily="34" charset="0"/>
                          <a:ea typeface="Calibri" panose="020F0502020204030204" pitchFamily="34" charset="0"/>
                          <a:cs typeface="Calibri" panose="020F0502020204030204" pitchFamily="34" charset="0"/>
                        </a:rPr>
                        <a:t> - Mise en place d’une ventilation mécanique contrôlée collective autoréglable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0403790"/>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Ventilation</a:t>
                      </a:r>
                      <a:r>
                        <a:rPr lang="fr-FR" sz="1100" b="0" dirty="0">
                          <a:latin typeface="Calibri" panose="020F0502020204030204" pitchFamily="34" charset="0"/>
                          <a:ea typeface="Calibri" panose="020F0502020204030204" pitchFamily="34" charset="0"/>
                          <a:cs typeface="Calibri" panose="020F0502020204030204" pitchFamily="34" charset="0"/>
                        </a:rPr>
                        <a:t> - Mise en place d’une ventilation mécanique contrôlée collective hygroréglable de type A</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6762278"/>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Ventilation</a:t>
                      </a:r>
                      <a:r>
                        <a:rPr lang="fr-FR" sz="1100" b="0" dirty="0">
                          <a:latin typeface="Calibri" panose="020F0502020204030204" pitchFamily="34" charset="0"/>
                          <a:ea typeface="Calibri" panose="020F0502020204030204" pitchFamily="34" charset="0"/>
                          <a:cs typeface="Calibri" panose="020F0502020204030204" pitchFamily="34" charset="0"/>
                        </a:rPr>
                        <a:t> - Mise en place d’une ventilation mécanique contrôlée collective hygroréglable de type B</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0782774"/>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Ventilation</a:t>
                      </a:r>
                      <a:r>
                        <a:rPr lang="fr-FR" sz="1100" b="0" dirty="0">
                          <a:latin typeface="Calibri" panose="020F0502020204030204" pitchFamily="34" charset="0"/>
                          <a:ea typeface="Calibri" panose="020F0502020204030204" pitchFamily="34" charset="0"/>
                          <a:cs typeface="Calibri" panose="020F0502020204030204" pitchFamily="34" charset="0"/>
                        </a:rPr>
                        <a:t> - Passage d’une ventilation autoréglable à une ventilation hygroréglable de type B</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470727"/>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a:t>
                      </a:r>
                      <a:r>
                        <a:rPr lang="fr-FR" sz="1100" b="0" dirty="0">
                          <a:latin typeface="Calibri" panose="020F0502020204030204" pitchFamily="34" charset="0"/>
                          <a:ea typeface="Calibri" panose="020F0502020204030204" pitchFamily="34" charset="0"/>
                          <a:cs typeface="Calibri" panose="020F0502020204030204" pitchFamily="34" charset="0"/>
                        </a:rPr>
                        <a:t> - Remplacement de la chaudière fioul par une chaudière gaz à condensation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1752439"/>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a:t>
                      </a:r>
                      <a:r>
                        <a:rPr lang="fr-FR" sz="1100" b="0" dirty="0">
                          <a:latin typeface="Calibri" panose="020F0502020204030204" pitchFamily="34" charset="0"/>
                          <a:ea typeface="Calibri" panose="020F0502020204030204" pitchFamily="34" charset="0"/>
                          <a:cs typeface="Calibri" panose="020F0502020204030204" pitchFamily="34" charset="0"/>
                        </a:rPr>
                        <a:t> - Remplacement de la chaudière fioul par une pompe à chaleur de type air/eau</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0332347"/>
                  </a:ext>
                </a:extLst>
              </a:tr>
              <a:tr h="5212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a:t>
                      </a:r>
                      <a:r>
                        <a:rPr lang="fr-FR" sz="1100" b="0" dirty="0">
                          <a:latin typeface="Calibri" panose="020F0502020204030204" pitchFamily="34" charset="0"/>
                          <a:ea typeface="Calibri" panose="020F0502020204030204" pitchFamily="34" charset="0"/>
                          <a:cs typeface="Calibri" panose="020F0502020204030204" pitchFamily="34" charset="0"/>
                        </a:rPr>
                        <a:t> - Remplacement de la chaudière fioul par un système d’hybridation (chaudière gaz à condensation + pompe à chaleur air/eau)</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155521"/>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gaz par une chaudière gaz à condensation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102665"/>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gaz par une pompe à chaleur de type air/eau</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3171852"/>
                  </a:ext>
                </a:extLst>
              </a:tr>
              <a:tr h="5212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gaz par un système d’hybridation (chaudière gaz à condensation + pompe à chaleur air/eau)</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3032537"/>
                  </a:ext>
                </a:extLst>
              </a:tr>
              <a:tr h="5212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Mise en place d’une pompe à chaleur air/eau en complément de la chaudière gaz déjà présente (pour création d’un système d’hybridation)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648614"/>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fioul par le réseau de chaleur urbain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9376333"/>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gaz par le réseau de chaleur urbain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4331047"/>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Régulation </a:t>
                      </a:r>
                      <a:r>
                        <a:rPr lang="fr-FR" sz="1100" b="0" dirty="0">
                          <a:latin typeface="Calibri" panose="020F0502020204030204" pitchFamily="34" charset="0"/>
                          <a:ea typeface="Calibri" panose="020F0502020204030204" pitchFamily="34" charset="0"/>
                          <a:cs typeface="Calibri" panose="020F0502020204030204" pitchFamily="34" charset="0"/>
                        </a:rPr>
                        <a:t>- Mise en place de robinets thermostatiques sur les radiateurs à eau chaude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20956"/>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Solaire - </a:t>
                      </a:r>
                      <a:r>
                        <a:rPr lang="fr-FR" sz="1100" b="0" dirty="0">
                          <a:latin typeface="Calibri" panose="020F0502020204030204" pitchFamily="34" charset="0"/>
                          <a:ea typeface="Calibri" panose="020F0502020204030204" pitchFamily="34" charset="0"/>
                          <a:cs typeface="Calibri" panose="020F0502020204030204" pitchFamily="34" charset="0"/>
                        </a:rPr>
                        <a:t>Mise en place de panneaux solaires photovoltaïques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3985350"/>
                  </a:ext>
                </a:extLst>
              </a:tr>
              <a:tr h="32520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Solaire - </a:t>
                      </a:r>
                      <a:r>
                        <a:rPr lang="fr-FR" sz="1100" b="0" dirty="0">
                          <a:latin typeface="Calibri" panose="020F0502020204030204" pitchFamily="34" charset="0"/>
                          <a:ea typeface="Calibri" panose="020F0502020204030204" pitchFamily="34" charset="0"/>
                          <a:cs typeface="Calibri" panose="020F0502020204030204" pitchFamily="34" charset="0"/>
                        </a:rPr>
                        <a:t>Mise en place de panneaux solaires thermiques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4722181"/>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Confort d’été - </a:t>
                      </a:r>
                      <a:r>
                        <a:rPr lang="fr-FR" sz="1100" b="0" dirty="0">
                          <a:latin typeface="Calibri" panose="020F0502020204030204" pitchFamily="34" charset="0"/>
                          <a:ea typeface="Calibri" panose="020F0502020204030204" pitchFamily="34" charset="0"/>
                          <a:cs typeface="Calibri" panose="020F0502020204030204" pitchFamily="34" charset="0"/>
                        </a:rPr>
                        <a:t>Mise en place de protections solaires sur les menuiseries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4096059"/>
                  </a:ext>
                </a:extLst>
              </a:tr>
            </a:tbl>
          </a:graphicData>
        </a:graphic>
      </p:graphicFrame>
      <p:pic>
        <p:nvPicPr>
          <p:cNvPr id="3" name="Image 2">
            <a:extLst>
              <a:ext uri="{FF2B5EF4-FFF2-40B4-BE49-F238E27FC236}">
                <a16:creationId xmlns:a16="http://schemas.microsoft.com/office/drawing/2014/main" id="{4D29F7D4-EBAB-67B5-6487-5C1D9CB3552C}"/>
              </a:ext>
            </a:extLst>
          </p:cNvPr>
          <p:cNvPicPr>
            <a:picLocks noChangeAspect="1"/>
          </p:cNvPicPr>
          <p:nvPr/>
        </p:nvPicPr>
        <p:blipFill>
          <a:blip r:embed="rId2"/>
          <a:stretch>
            <a:fillRect/>
          </a:stretch>
        </p:blipFill>
        <p:spPr>
          <a:xfrm>
            <a:off x="541020" y="98814"/>
            <a:ext cx="2246544" cy="594519"/>
          </a:xfrm>
          <a:prstGeom prst="rect">
            <a:avLst/>
          </a:prstGeom>
        </p:spPr>
      </p:pic>
      <p:sp>
        <p:nvSpPr>
          <p:cNvPr id="5" name="ZoneTexte 4">
            <a:extLst>
              <a:ext uri="{FF2B5EF4-FFF2-40B4-BE49-F238E27FC236}">
                <a16:creationId xmlns:a16="http://schemas.microsoft.com/office/drawing/2014/main" id="{9B2807C5-7985-5488-0497-FF39EE50DB9F}"/>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6. SYNTHÈSE DU PPPT</a:t>
            </a:r>
          </a:p>
        </p:txBody>
      </p:sp>
    </p:spTree>
    <p:extLst>
      <p:ext uri="{BB962C8B-B14F-4D97-AF65-F5344CB8AC3E}">
        <p14:creationId xmlns:p14="http://schemas.microsoft.com/office/powerpoint/2010/main" val="3414846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B30E4-8C2A-80BA-CAD7-AB78533F4D7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17B136-FB46-1BBB-99CE-F90D2E2510EA}"/>
              </a:ext>
            </a:extLst>
          </p:cNvPr>
          <p:cNvSpPr txBox="1"/>
          <p:nvPr/>
        </p:nvSpPr>
        <p:spPr>
          <a:xfrm>
            <a:off x="541020" y="1327662"/>
            <a:ext cx="6484620" cy="5721566"/>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6.3 Synthèse des curatifs</a:t>
            </a:r>
          </a:p>
          <a:p>
            <a:endParaRPr lang="fr-FR" sz="1052"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Afin de distinguer les travaux relevant de la conservation du bâtiment de ceux visant à améliorer sa performance énergétique, les préconisations ont été réparties en deux tableaux récapitulatifs distincts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marL="150362" indent="-150362" algn="just">
              <a:buFont typeface="Arial" panose="020B0604020202020204" pitchFamily="34" charset="0"/>
              <a:buChar char="•"/>
            </a:pPr>
            <a:r>
              <a:rPr lang="fr-FR" sz="1100" b="1" dirty="0">
                <a:latin typeface="Calibri" panose="020F0502020204030204" pitchFamily="34" charset="0"/>
                <a:ea typeface="Calibri" panose="020F0502020204030204" pitchFamily="34" charset="0"/>
                <a:cs typeface="Calibri" panose="020F0502020204030204" pitchFamily="34" charset="0"/>
              </a:rPr>
              <a:t>Tableau 1 : Travaux curatifs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marL="150362" indent="-150362" algn="just">
              <a:buFont typeface="Arial" panose="020B0604020202020204" pitchFamily="34" charset="0"/>
              <a:buChar char="•"/>
            </a:pPr>
            <a:r>
              <a:rPr lang="fr-FR" sz="1100" b="1" dirty="0">
                <a:latin typeface="Calibri" panose="020F0502020204030204" pitchFamily="34" charset="0"/>
                <a:ea typeface="Calibri" panose="020F0502020204030204" pitchFamily="34" charset="0"/>
                <a:cs typeface="Calibri" panose="020F0502020204030204" pitchFamily="34" charset="0"/>
              </a:rPr>
              <a:t>Tableau 2 : Travaux d'amélioration énergétique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endParaRPr lang="fr-FR" sz="1100" b="1" dirty="0">
              <a:latin typeface="Calibri" panose="020F0502020204030204" pitchFamily="34" charset="0"/>
              <a:ea typeface="Calibri" panose="020F0502020204030204" pitchFamily="34" charset="0"/>
              <a:cs typeface="Calibri" panose="020F0502020204030204" pitchFamily="34" charset="0"/>
            </a:endParaRPr>
          </a:p>
          <a:p>
            <a:endParaRPr lang="fr-FR" sz="1228" b="1" dirty="0"/>
          </a:p>
        </p:txBody>
      </p:sp>
      <p:sp>
        <p:nvSpPr>
          <p:cNvPr id="4" name="Espace réservé du pied de page 5">
            <a:extLst>
              <a:ext uri="{FF2B5EF4-FFF2-40B4-BE49-F238E27FC236}">
                <a16:creationId xmlns:a16="http://schemas.microsoft.com/office/drawing/2014/main" id="{35C814BE-70C6-DFD7-DC72-87326A31548A}"/>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08E3BFBD-9128-1FBD-0768-D2756035AB98}"/>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13</a:t>
            </a:fld>
            <a:endParaRPr lang="fr-FR" sz="965" dirty="0"/>
          </a:p>
        </p:txBody>
      </p:sp>
      <p:pic>
        <p:nvPicPr>
          <p:cNvPr id="2" name="Image 1">
            <a:extLst>
              <a:ext uri="{FF2B5EF4-FFF2-40B4-BE49-F238E27FC236}">
                <a16:creationId xmlns:a16="http://schemas.microsoft.com/office/drawing/2014/main" id="{188B42BC-5704-DFBA-000F-7D165CE97AEC}"/>
              </a:ext>
            </a:extLst>
          </p:cNvPr>
          <p:cNvPicPr>
            <a:picLocks noChangeAspect="1"/>
          </p:cNvPicPr>
          <p:nvPr/>
        </p:nvPicPr>
        <p:blipFill>
          <a:blip r:embed="rId2"/>
          <a:stretch>
            <a:fillRect/>
          </a:stretch>
        </p:blipFill>
        <p:spPr>
          <a:xfrm>
            <a:off x="541020" y="98814"/>
            <a:ext cx="2246544" cy="594519"/>
          </a:xfrm>
          <a:prstGeom prst="rect">
            <a:avLst/>
          </a:prstGeom>
        </p:spPr>
      </p:pic>
      <p:sp>
        <p:nvSpPr>
          <p:cNvPr id="6" name="ZoneTexte 5">
            <a:extLst>
              <a:ext uri="{FF2B5EF4-FFF2-40B4-BE49-F238E27FC236}">
                <a16:creationId xmlns:a16="http://schemas.microsoft.com/office/drawing/2014/main" id="{7F1F3DF2-2C69-0FA7-3FD9-1D0D0BD72A38}"/>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6. SYNTHÈSE DU PPPT</a:t>
            </a:r>
          </a:p>
        </p:txBody>
      </p:sp>
    </p:spTree>
    <p:extLst>
      <p:ext uri="{BB962C8B-B14F-4D97-AF65-F5344CB8AC3E}">
        <p14:creationId xmlns:p14="http://schemas.microsoft.com/office/powerpoint/2010/main" val="1433361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3B9D-4DD8-715D-785A-2EA4AF2AA05F}"/>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3FF24BD6-8EA0-1960-9D9E-929E3A34D2E5}"/>
              </a:ext>
            </a:extLst>
          </p:cNvPr>
          <p:cNvGraphicFramePr>
            <a:graphicFrameLocks noGrp="1"/>
          </p:cNvGraphicFramePr>
          <p:nvPr>
            <p:extLst>
              <p:ext uri="{D42A27DB-BD31-4B8C-83A1-F6EECF244321}">
                <p14:modId xmlns:p14="http://schemas.microsoft.com/office/powerpoint/2010/main" val="2123199657"/>
              </p:ext>
            </p:extLst>
          </p:nvPr>
        </p:nvGraphicFramePr>
        <p:xfrm>
          <a:off x="541020" y="1301063"/>
          <a:ext cx="6484620" cy="5230164"/>
        </p:xfrm>
        <a:graphic>
          <a:graphicData uri="http://schemas.openxmlformats.org/drawingml/2006/table">
            <a:tbl>
              <a:tblPr firstRow="1" bandRow="1">
                <a:tableStyleId>{5C22544A-7EE6-4342-B048-85BDC9FD1C3A}</a:tableStyleId>
              </a:tblPr>
              <a:tblGrid>
                <a:gridCol w="687763">
                  <a:extLst>
                    <a:ext uri="{9D8B030D-6E8A-4147-A177-3AD203B41FA5}">
                      <a16:colId xmlns:a16="http://schemas.microsoft.com/office/drawing/2014/main" val="1783163082"/>
                    </a:ext>
                  </a:extLst>
                </a:gridCol>
                <a:gridCol w="707287">
                  <a:extLst>
                    <a:ext uri="{9D8B030D-6E8A-4147-A177-3AD203B41FA5}">
                      <a16:colId xmlns:a16="http://schemas.microsoft.com/office/drawing/2014/main" val="3478158632"/>
                    </a:ext>
                  </a:extLst>
                </a:gridCol>
                <a:gridCol w="2171110">
                  <a:extLst>
                    <a:ext uri="{9D8B030D-6E8A-4147-A177-3AD203B41FA5}">
                      <a16:colId xmlns:a16="http://schemas.microsoft.com/office/drawing/2014/main" val="3421945731"/>
                    </a:ext>
                  </a:extLst>
                </a:gridCol>
                <a:gridCol w="756920">
                  <a:extLst>
                    <a:ext uri="{9D8B030D-6E8A-4147-A177-3AD203B41FA5}">
                      <a16:colId xmlns:a16="http://schemas.microsoft.com/office/drawing/2014/main" val="1021963542"/>
                    </a:ext>
                  </a:extLst>
                </a:gridCol>
                <a:gridCol w="723900">
                  <a:extLst>
                    <a:ext uri="{9D8B030D-6E8A-4147-A177-3AD203B41FA5}">
                      <a16:colId xmlns:a16="http://schemas.microsoft.com/office/drawing/2014/main" val="3210380681"/>
                    </a:ext>
                  </a:extLst>
                </a:gridCol>
                <a:gridCol w="723900">
                  <a:extLst>
                    <a:ext uri="{9D8B030D-6E8A-4147-A177-3AD203B41FA5}">
                      <a16:colId xmlns:a16="http://schemas.microsoft.com/office/drawing/2014/main" val="964163541"/>
                    </a:ext>
                  </a:extLst>
                </a:gridCol>
                <a:gridCol w="713740">
                  <a:extLst>
                    <a:ext uri="{9D8B030D-6E8A-4147-A177-3AD203B41FA5}">
                      <a16:colId xmlns:a16="http://schemas.microsoft.com/office/drawing/2014/main" val="1169502568"/>
                    </a:ext>
                  </a:extLst>
                </a:gridCol>
              </a:tblGrid>
              <a:tr h="373785">
                <a:tc gridSpan="7">
                  <a:txBody>
                    <a:bodyPr/>
                    <a:lstStyle/>
                    <a:p>
                      <a:pPr algn="ctr"/>
                      <a:r>
                        <a:rPr lang="fr-FR" sz="1100" dirty="0">
                          <a:solidFill>
                            <a:schemeClr val="tx1"/>
                          </a:solidFill>
                          <a:latin typeface="Calibri" panose="020F0502020204030204" pitchFamily="34" charset="0"/>
                          <a:ea typeface="Calibri" panose="020F0502020204030204" pitchFamily="34" charset="0"/>
                          <a:cs typeface="Calibri" panose="020F0502020204030204" pitchFamily="34" charset="0"/>
                        </a:rPr>
                        <a:t>Tableau 1 – Tableau récapitulatif des travaux curatifs</a:t>
                      </a:r>
                    </a:p>
                  </a:txBody>
                  <a:tcPr marL="80189" marR="80189" marT="40094" marB="40094" anchor="ctr">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fr-FR" sz="1000" dirty="0"/>
                    </a:p>
                  </a:txBody>
                  <a:tcPr anchor="ctr"/>
                </a:tc>
                <a:tc hMerge="1">
                  <a:txBody>
                    <a:bodyPr/>
                    <a:lstStyle/>
                    <a:p>
                      <a:pPr algn="ctr"/>
                      <a:endParaRPr lang="fr-FR" sz="1000" dirty="0"/>
                    </a:p>
                  </a:txBody>
                  <a:tcPr anchor="ctr"/>
                </a:tc>
                <a:tc hMerge="1">
                  <a:txBody>
                    <a:bodyPr/>
                    <a:lstStyle/>
                    <a:p>
                      <a:pPr algn="ctr"/>
                      <a:endParaRPr lang="fr-FR" sz="1000" dirty="0"/>
                    </a:p>
                  </a:txBody>
                  <a:tcPr anchor="ctr"/>
                </a:tc>
                <a:tc hMerge="1">
                  <a:txBody>
                    <a:bodyPr/>
                    <a:lstStyle/>
                    <a:p>
                      <a:pPr algn="ctr"/>
                      <a:endParaRPr lang="fr-FR" sz="1000" dirty="0"/>
                    </a:p>
                  </a:txBody>
                  <a:tcPr anchor="ctr"/>
                </a:tc>
                <a:tc hMerge="1">
                  <a:txBody>
                    <a:bodyPr/>
                    <a:lstStyle/>
                    <a:p>
                      <a:pPr algn="ctr"/>
                      <a:endParaRPr lang="fr-FR" sz="1000" dirty="0"/>
                    </a:p>
                  </a:txBody>
                  <a:tcPr anchor="ctr"/>
                </a:tc>
                <a:tc hMerge="1">
                  <a:txBody>
                    <a:bodyPr/>
                    <a:lstStyle/>
                    <a:p>
                      <a:pPr algn="ctr"/>
                      <a:endParaRPr lang="fr-FR" sz="1000" dirty="0"/>
                    </a:p>
                  </a:txBody>
                  <a:tcPr anchor="ctr"/>
                </a:tc>
                <a:extLst>
                  <a:ext uri="{0D108BD9-81ED-4DB2-BD59-A6C34878D82A}">
                    <a16:rowId xmlns:a16="http://schemas.microsoft.com/office/drawing/2014/main" val="731523944"/>
                  </a:ext>
                </a:extLst>
              </a:tr>
              <a:tr h="792820">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Niveau du curatif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Numéro du curatif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Nature de travaux</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Chiffrage (TTC)</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Curatif niveau 1 (Impact fort)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Curatif niveau 2 (Impact modéré)</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Curatif niveau 3 (Impact faible)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02240205"/>
                  </a:ext>
                </a:extLst>
              </a:tr>
              <a:tr h="267329">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C1</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2334"/>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1</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fr-FR" sz="1000" b="1" kern="1200" dirty="0">
                          <a:solidFill>
                            <a:schemeClr val="dk1"/>
                          </a:solidFill>
                          <a:latin typeface="Calibri" panose="020F0502020204030204" pitchFamily="34" charset="0"/>
                          <a:ea typeface="Calibri" panose="020F0502020204030204" pitchFamily="34" charset="0"/>
                          <a:cs typeface="Calibri" panose="020F0502020204030204" pitchFamily="34" charset="0"/>
                        </a:rPr>
                        <a:t>Hall</a:t>
                      </a:r>
                      <a:r>
                        <a:rPr lang="fr-FR" sz="1000" kern="1200" dirty="0">
                          <a:solidFill>
                            <a:schemeClr val="dk1"/>
                          </a:solidFill>
                          <a:latin typeface="Calibri" panose="020F0502020204030204" pitchFamily="34" charset="0"/>
                          <a:ea typeface="Calibri" panose="020F0502020204030204" pitchFamily="34" charset="0"/>
                          <a:cs typeface="Calibri" panose="020F0502020204030204" pitchFamily="34" charset="0"/>
                        </a:rPr>
                        <a:t> - Remplacement du luminaire</a:t>
                      </a:r>
                      <a:endParaRPr lang="fr-FR" sz="1488" b="0" i="0" u="none" strike="noStrike" kern="1200" baseline="0" dirty="0">
                        <a:solidFill>
                          <a:schemeClr val="dk1"/>
                        </a:solidFill>
                        <a:latin typeface="+mn-lt"/>
                        <a:ea typeface="+mn-ea"/>
                        <a:cs typeface="+mn-cs"/>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100</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extLst>
                  <a:ext uri="{0D108BD9-81ED-4DB2-BD59-A6C34878D82A}">
                    <a16:rowId xmlns:a16="http://schemas.microsoft.com/office/drawing/2014/main" val="2591875627"/>
                  </a:ext>
                </a:extLst>
              </a:tr>
              <a:tr h="373785">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C1</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2334"/>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2</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fr-FR" sz="1000" b="1" kern="1200" dirty="0">
                          <a:solidFill>
                            <a:schemeClr val="dk1"/>
                          </a:solidFill>
                          <a:latin typeface="Calibri" panose="020F0502020204030204" pitchFamily="34" charset="0"/>
                          <a:ea typeface="Calibri" panose="020F0502020204030204" pitchFamily="34" charset="0"/>
                          <a:cs typeface="Calibri" panose="020F0502020204030204" pitchFamily="34" charset="0"/>
                        </a:rPr>
                        <a:t>Garage et parties communes - </a:t>
                      </a:r>
                    </a:p>
                    <a:p>
                      <a:r>
                        <a:rPr lang="fr-FR" sz="1000" kern="1200" dirty="0">
                          <a:solidFill>
                            <a:schemeClr val="dk1"/>
                          </a:solidFill>
                          <a:latin typeface="Calibri" panose="020F0502020204030204" pitchFamily="34" charset="0"/>
                          <a:ea typeface="Calibri" panose="020F0502020204030204" pitchFamily="34" charset="0"/>
                          <a:cs typeface="Calibri" panose="020F0502020204030204" pitchFamily="34" charset="0"/>
                        </a:rPr>
                        <a:t>Mise en place d'extincteurs et bacs à sable conformes avec supports, et vérification.</a:t>
                      </a:r>
                    </a:p>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1200</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000" dirty="0">
                          <a:latin typeface="Calibri" panose="020F0502020204030204" pitchFamily="34" charset="0"/>
                          <a:ea typeface="Calibri" panose="020F0502020204030204" pitchFamily="34" charset="0"/>
                          <a:cs typeface="Calibri" panose="020F0502020204030204" pitchFamily="34" charset="0"/>
                        </a:rPr>
                        <a: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A7A7"/>
                    </a:solidFill>
                  </a:tcPr>
                </a:tc>
                <a:extLst>
                  <a:ext uri="{0D108BD9-81ED-4DB2-BD59-A6C34878D82A}">
                    <a16:rowId xmlns:a16="http://schemas.microsoft.com/office/drawing/2014/main" val="1443799136"/>
                  </a:ext>
                </a:extLst>
              </a:tr>
              <a:tr h="373785">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C3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4CC7E"/>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3</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lang="fr-FR" sz="1000" b="1" kern="1200" dirty="0">
                          <a:solidFill>
                            <a:schemeClr val="dk1"/>
                          </a:solidFill>
                          <a:latin typeface="Calibri" panose="020F0502020204030204" pitchFamily="34" charset="0"/>
                          <a:ea typeface="Calibri" panose="020F0502020204030204" pitchFamily="34" charset="0"/>
                          <a:cs typeface="Calibri" panose="020F0502020204030204" pitchFamily="34" charset="0"/>
                        </a:rPr>
                        <a:t>Parties communes - </a:t>
                      </a:r>
                      <a:r>
                        <a:rPr lang="fr-FR" sz="1000" kern="1200" dirty="0">
                          <a:solidFill>
                            <a:schemeClr val="dk1"/>
                          </a:solidFill>
                          <a:latin typeface="Calibri" panose="020F0502020204030204" pitchFamily="34" charset="0"/>
                          <a:ea typeface="Calibri" panose="020F0502020204030204" pitchFamily="34" charset="0"/>
                          <a:cs typeface="Calibri" panose="020F0502020204030204" pitchFamily="34" charset="0"/>
                        </a:rPr>
                        <a:t>Remise en état des cages d'escaliers incluant peintures, marches et serrurerie.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6000</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533142309"/>
                  </a:ext>
                </a:extLst>
              </a:tr>
              <a:tr h="373785">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C3</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4CC7E"/>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4</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lang="fr-FR" sz="1000" kern="1200" dirty="0">
                          <a:solidFill>
                            <a:schemeClr val="dk1"/>
                          </a:solidFill>
                          <a:latin typeface="Calibri" panose="020F0502020204030204" pitchFamily="34" charset="0"/>
                          <a:ea typeface="Calibri" panose="020F0502020204030204" pitchFamily="34" charset="0"/>
                          <a:cs typeface="Calibri" panose="020F0502020204030204" pitchFamily="34" charset="0"/>
                        </a:rPr>
                        <a:t>Rénovation des boiseries de rive et nettoyage des façades avec reprise des enduits dégradés.</a:t>
                      </a:r>
                      <a:br>
                        <a:rPr lang="fr-FR" sz="1000" kern="1200" dirty="0">
                          <a:solidFill>
                            <a:schemeClr val="dk1"/>
                          </a:solidFill>
                          <a:latin typeface="Calibri" panose="020F0502020204030204" pitchFamily="34" charset="0"/>
                          <a:ea typeface="Calibri" panose="020F0502020204030204" pitchFamily="34" charset="0"/>
                          <a:cs typeface="Calibri" panose="020F0502020204030204" pitchFamily="34" charset="0"/>
                        </a:rPr>
                      </a:br>
                      <a:endParaRPr lang="fr-FR" sz="1000" kern="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4500</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000" dirty="0">
                          <a:latin typeface="Calibri" panose="020F0502020204030204" pitchFamily="34" charset="0"/>
                          <a:ea typeface="Calibri" panose="020F0502020204030204" pitchFamily="34" charset="0"/>
                          <a:cs typeface="Calibri" panose="020F0502020204030204" pitchFamily="34" charset="0"/>
                        </a:rPr>
                        <a: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82082572"/>
                  </a:ext>
                </a:extLst>
              </a:tr>
              <a:tr h="442493">
                <a:tc>
                  <a:txBody>
                    <a:bodyPr/>
                    <a:lstStyle/>
                    <a:p>
                      <a:pPr algn="ctr"/>
                      <a:endParaRPr lang="fr-FR" sz="10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gridSpan="3">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Montant des travaux curatif niveau 1 </a:t>
                      </a:r>
                    </a:p>
                    <a:p>
                      <a:pPr algn="ctr"/>
                      <a:r>
                        <a:rPr lang="fr-FR" sz="1000" dirty="0">
                          <a:latin typeface="Calibri" panose="020F0502020204030204" pitchFamily="34" charset="0"/>
                          <a:ea typeface="Calibri" panose="020F0502020204030204" pitchFamily="34" charset="0"/>
                          <a:cs typeface="Calibri" panose="020F0502020204030204" pitchFamily="34" charset="0"/>
                        </a:rPr>
                        <a:t>Travaux à effectuer sous 2 ans (Année 2027-2028)</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dirty="0"/>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lang="fr-FR" sz="1000" dirty="0"/>
                    </a:p>
                  </a:txBody>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1300 €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779301040"/>
                  </a:ext>
                </a:extLst>
              </a:tr>
              <a:tr h="442493">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R w="12700" cap="flat" cmpd="sng" algn="ctr">
                      <a:solidFill>
                        <a:schemeClr val="tx1"/>
                      </a:solidFill>
                      <a:prstDash val="solid"/>
                      <a:round/>
                      <a:headEnd type="none" w="med" len="med"/>
                      <a:tailEnd type="none" w="med" len="med"/>
                    </a:ln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000" dirty="0">
                          <a:latin typeface="Calibri" panose="020F0502020204030204" pitchFamily="34" charset="0"/>
                          <a:ea typeface="Calibri" panose="020F0502020204030204" pitchFamily="34" charset="0"/>
                          <a:cs typeface="Calibri" panose="020F0502020204030204" pitchFamily="34" charset="0"/>
                        </a:rPr>
                        <a:t>Montant des travaux curatif niveau 2 </a:t>
                      </a:r>
                    </a:p>
                    <a:p>
                      <a:pPr marL="0" marR="0" lvl="0" indent="0" algn="ctr" defTabSz="685800" rtl="0" eaLnBrk="1" fontAlgn="auto" latinLnBrk="0" hangingPunct="1">
                        <a:lnSpc>
                          <a:spcPct val="100000"/>
                        </a:lnSpc>
                        <a:spcBef>
                          <a:spcPts val="0"/>
                        </a:spcBef>
                        <a:spcAft>
                          <a:spcPts val="0"/>
                        </a:spcAft>
                        <a:buClrTx/>
                        <a:buSzTx/>
                        <a:buFontTx/>
                        <a:buNone/>
                        <a:tabLst/>
                        <a:defRPr/>
                      </a:pPr>
                      <a:r>
                        <a:rPr lang="fr-FR" sz="1000" dirty="0">
                          <a:latin typeface="Calibri" panose="020F0502020204030204" pitchFamily="34" charset="0"/>
                          <a:ea typeface="Calibri" panose="020F0502020204030204" pitchFamily="34" charset="0"/>
                          <a:cs typeface="Calibri" panose="020F0502020204030204" pitchFamily="34" charset="0"/>
                        </a:rPr>
                        <a:t>Travaux à effectuer entre 3 et 5 ans (Année 2029 à 2031)</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dirty="0"/>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lang="fr-FR" sz="1000" dirty="0"/>
                    </a:p>
                  </a:txBody>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0 €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242794680"/>
                  </a:ext>
                </a:extLst>
              </a:tr>
              <a:tr h="442493">
                <a:tc>
                  <a:txBody>
                    <a:bodyPr/>
                    <a:lstStyle/>
                    <a:p>
                      <a:pPr algn="ctr"/>
                      <a:endParaRPr lang="fr-FR" sz="10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R w="12700" cap="flat" cmpd="sng" algn="ctr">
                      <a:solidFill>
                        <a:schemeClr val="tx1"/>
                      </a:solidFill>
                      <a:prstDash val="solid"/>
                      <a:round/>
                      <a:headEnd type="none" w="med" len="med"/>
                      <a:tailEnd type="none" w="med" len="med"/>
                    </a:ln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000" dirty="0">
                          <a:latin typeface="Calibri" panose="020F0502020204030204" pitchFamily="34" charset="0"/>
                          <a:ea typeface="Calibri" panose="020F0502020204030204" pitchFamily="34" charset="0"/>
                          <a:cs typeface="Calibri" panose="020F0502020204030204" pitchFamily="34" charset="0"/>
                        </a:rPr>
                        <a:t>Montant des travaux curatif niveau 3</a:t>
                      </a:r>
                    </a:p>
                    <a:p>
                      <a:pPr marL="0" marR="0" lvl="0" indent="0" algn="ctr" defTabSz="685800" rtl="0" eaLnBrk="1" fontAlgn="auto" latinLnBrk="0" hangingPunct="1">
                        <a:lnSpc>
                          <a:spcPct val="100000"/>
                        </a:lnSpc>
                        <a:spcBef>
                          <a:spcPts val="0"/>
                        </a:spcBef>
                        <a:spcAft>
                          <a:spcPts val="0"/>
                        </a:spcAft>
                        <a:buClrTx/>
                        <a:buSzTx/>
                        <a:buFontTx/>
                        <a:buNone/>
                        <a:tabLst/>
                        <a:defRPr/>
                      </a:pPr>
                      <a:r>
                        <a:rPr lang="fr-FR" sz="1000" dirty="0">
                          <a:latin typeface="Calibri" panose="020F0502020204030204" pitchFamily="34" charset="0"/>
                          <a:ea typeface="Calibri" panose="020F0502020204030204" pitchFamily="34" charset="0"/>
                          <a:cs typeface="Calibri" panose="020F0502020204030204" pitchFamily="34" charset="0"/>
                        </a:rPr>
                        <a:t>Travaux à effectuer entre 6 et 10 ans (Année 2032 à 2036)</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dirty="0"/>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lang="fr-FR" sz="1000" dirty="0"/>
                    </a:p>
                  </a:txBody>
                  <a:tcPr/>
                </a:tc>
                <a:tc>
                  <a:txBody>
                    <a:bodyPr/>
                    <a:lstStyle/>
                    <a:p>
                      <a:pPr algn="ctr"/>
                      <a:endParaRPr lang="fr-FR" sz="10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10 500 €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774763671"/>
                  </a:ext>
                </a:extLst>
              </a:tr>
              <a:tr h="399387">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R w="12700" cap="flat" cmpd="sng" algn="ctr">
                      <a:solidFill>
                        <a:schemeClr val="tx1"/>
                      </a:solidFill>
                      <a:prstDash val="solid"/>
                      <a:round/>
                      <a:headEnd type="none" w="med" len="med"/>
                      <a:tailEnd type="none" w="med" len="med"/>
                    </a:ln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000" dirty="0">
                          <a:latin typeface="Calibri" panose="020F0502020204030204" pitchFamily="34" charset="0"/>
                          <a:ea typeface="Calibri" panose="020F0502020204030204" pitchFamily="34" charset="0"/>
                          <a:cs typeface="Calibri" panose="020F0502020204030204" pitchFamily="34" charset="0"/>
                        </a:rPr>
                        <a:t>Montant total de l’investissement des travaux curatifs (TTC)</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dirty="0"/>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lang="fr-FR"/>
                    </a:p>
                  </a:txBody>
                  <a:tcPr/>
                </a:tc>
                <a:tc gridSpan="3">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11800€</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endParaRPr lang="fr-FR" sz="1000" dirty="0"/>
                    </a:p>
                  </a:txBody>
                  <a:tcPr/>
                </a:tc>
                <a:tc hMerge="1">
                  <a:txBody>
                    <a:bodyPr/>
                    <a:lstStyle/>
                    <a:p>
                      <a:endParaRPr lang="fr-FR" sz="1000" dirty="0"/>
                    </a:p>
                  </a:txBody>
                  <a:tcPr/>
                </a:tc>
                <a:extLst>
                  <a:ext uri="{0D108BD9-81ED-4DB2-BD59-A6C34878D82A}">
                    <a16:rowId xmlns:a16="http://schemas.microsoft.com/office/drawing/2014/main" val="3572567265"/>
                  </a:ext>
                </a:extLst>
              </a:tr>
            </a:tbl>
          </a:graphicData>
        </a:graphic>
      </p:graphicFrame>
      <p:sp>
        <p:nvSpPr>
          <p:cNvPr id="8" name="Espace réservé du pied de page 5">
            <a:extLst>
              <a:ext uri="{FF2B5EF4-FFF2-40B4-BE49-F238E27FC236}">
                <a16:creationId xmlns:a16="http://schemas.microsoft.com/office/drawing/2014/main" id="{D014CB87-3070-76E8-3728-077F3193A3EE}"/>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A3BD5BB4-DAEF-5AF9-ECCC-CEA4D3CD071F}"/>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14</a:t>
            </a:fld>
            <a:endParaRPr lang="fr-FR" sz="965" dirty="0"/>
          </a:p>
        </p:txBody>
      </p:sp>
      <p:pic>
        <p:nvPicPr>
          <p:cNvPr id="3" name="Image 2">
            <a:extLst>
              <a:ext uri="{FF2B5EF4-FFF2-40B4-BE49-F238E27FC236}">
                <a16:creationId xmlns:a16="http://schemas.microsoft.com/office/drawing/2014/main" id="{3E230077-9210-DF20-E3C3-224E82961665}"/>
              </a:ext>
            </a:extLst>
          </p:cNvPr>
          <p:cNvPicPr>
            <a:picLocks noChangeAspect="1"/>
          </p:cNvPicPr>
          <p:nvPr/>
        </p:nvPicPr>
        <p:blipFill>
          <a:blip r:embed="rId2"/>
          <a:stretch>
            <a:fillRect/>
          </a:stretch>
        </p:blipFill>
        <p:spPr>
          <a:xfrm>
            <a:off x="541020" y="98814"/>
            <a:ext cx="2246544" cy="594519"/>
          </a:xfrm>
          <a:prstGeom prst="rect">
            <a:avLst/>
          </a:prstGeom>
        </p:spPr>
      </p:pic>
      <p:sp>
        <p:nvSpPr>
          <p:cNvPr id="4" name="ZoneTexte 3">
            <a:extLst>
              <a:ext uri="{FF2B5EF4-FFF2-40B4-BE49-F238E27FC236}">
                <a16:creationId xmlns:a16="http://schemas.microsoft.com/office/drawing/2014/main" id="{EDE4990D-0858-1320-7250-C98FD4AD0B28}"/>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6. SYNTHÈSE DU PPPT</a:t>
            </a:r>
          </a:p>
        </p:txBody>
      </p:sp>
    </p:spTree>
    <p:extLst>
      <p:ext uri="{BB962C8B-B14F-4D97-AF65-F5344CB8AC3E}">
        <p14:creationId xmlns:p14="http://schemas.microsoft.com/office/powerpoint/2010/main" val="2358279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0BD21-529B-9EF9-FFDD-B676CEA98683}"/>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C2202DD0-FD0D-3B34-7E4A-923954E1498F}"/>
              </a:ext>
            </a:extLst>
          </p:cNvPr>
          <p:cNvGraphicFramePr>
            <a:graphicFrameLocks noGrp="1"/>
          </p:cNvGraphicFramePr>
          <p:nvPr>
            <p:extLst>
              <p:ext uri="{D42A27DB-BD31-4B8C-83A1-F6EECF244321}">
                <p14:modId xmlns:p14="http://schemas.microsoft.com/office/powerpoint/2010/main" val="73296430"/>
              </p:ext>
            </p:extLst>
          </p:nvPr>
        </p:nvGraphicFramePr>
        <p:xfrm>
          <a:off x="541020" y="1301064"/>
          <a:ext cx="6484619" cy="2581265"/>
        </p:xfrm>
        <a:graphic>
          <a:graphicData uri="http://schemas.openxmlformats.org/drawingml/2006/table">
            <a:tbl>
              <a:tblPr firstRow="1" bandRow="1">
                <a:tableStyleId>{5C22544A-7EE6-4342-B048-85BDC9FD1C3A}</a:tableStyleId>
              </a:tblPr>
              <a:tblGrid>
                <a:gridCol w="1004634">
                  <a:extLst>
                    <a:ext uri="{9D8B030D-6E8A-4147-A177-3AD203B41FA5}">
                      <a16:colId xmlns:a16="http://schemas.microsoft.com/office/drawing/2014/main" val="1783163082"/>
                    </a:ext>
                  </a:extLst>
                </a:gridCol>
                <a:gridCol w="684316">
                  <a:extLst>
                    <a:ext uri="{9D8B030D-6E8A-4147-A177-3AD203B41FA5}">
                      <a16:colId xmlns:a16="http://schemas.microsoft.com/office/drawing/2014/main" val="3478158632"/>
                    </a:ext>
                  </a:extLst>
                </a:gridCol>
                <a:gridCol w="3408830">
                  <a:extLst>
                    <a:ext uri="{9D8B030D-6E8A-4147-A177-3AD203B41FA5}">
                      <a16:colId xmlns:a16="http://schemas.microsoft.com/office/drawing/2014/main" val="3421945731"/>
                    </a:ext>
                  </a:extLst>
                </a:gridCol>
                <a:gridCol w="1386839">
                  <a:extLst>
                    <a:ext uri="{9D8B030D-6E8A-4147-A177-3AD203B41FA5}">
                      <a16:colId xmlns:a16="http://schemas.microsoft.com/office/drawing/2014/main" val="1021963542"/>
                    </a:ext>
                  </a:extLst>
                </a:gridCol>
              </a:tblGrid>
              <a:tr h="325209">
                <a:tc gridSpan="4">
                  <a:txBody>
                    <a:bodyPr/>
                    <a:lstStyle/>
                    <a:p>
                      <a:pPr algn="ctr"/>
                      <a:r>
                        <a:rPr lang="fr-FR" sz="1100" dirty="0">
                          <a:solidFill>
                            <a:schemeClr val="tx1"/>
                          </a:solidFill>
                          <a:latin typeface="Calibri" panose="020F0502020204030204" pitchFamily="34" charset="0"/>
                          <a:ea typeface="Calibri" panose="020F0502020204030204" pitchFamily="34" charset="0"/>
                          <a:cs typeface="Calibri" panose="020F0502020204030204" pitchFamily="34" charset="0"/>
                        </a:rPr>
                        <a:t>Tableau 2 – Tableau récapitulatif des travaux énergétiques</a:t>
                      </a:r>
                    </a:p>
                  </a:txBody>
                  <a:tcPr marL="80189" marR="80189" marT="40094" marB="40094" anchor="ctr">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fr-FR" sz="1000" dirty="0"/>
                    </a:p>
                  </a:txBody>
                  <a:tcPr anchor="ctr"/>
                </a:tc>
                <a:tc hMerge="1">
                  <a:txBody>
                    <a:bodyPr/>
                    <a:lstStyle/>
                    <a:p>
                      <a:pPr algn="ctr"/>
                      <a:endParaRPr lang="fr-FR" sz="1000" dirty="0"/>
                    </a:p>
                  </a:txBody>
                  <a:tcPr anchor="ctr"/>
                </a:tc>
                <a:tc hMerge="1">
                  <a:txBody>
                    <a:bodyPr/>
                    <a:lstStyle/>
                    <a:p>
                      <a:pPr algn="ctr"/>
                      <a:endParaRPr lang="fr-FR" sz="1000" dirty="0"/>
                    </a:p>
                  </a:txBody>
                  <a:tcPr anchor="ctr"/>
                </a:tc>
                <a:extLst>
                  <a:ext uri="{0D108BD9-81ED-4DB2-BD59-A6C34878D82A}">
                    <a16:rowId xmlns:a16="http://schemas.microsoft.com/office/drawing/2014/main" val="731523944"/>
                  </a:ext>
                </a:extLst>
              </a:tr>
              <a:tr h="481132">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Niveau du curatif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Numéro du curatif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Nature de travaux</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latin typeface="Calibri" panose="020F0502020204030204" pitchFamily="34" charset="0"/>
                          <a:ea typeface="Calibri" panose="020F0502020204030204" pitchFamily="34" charset="0"/>
                          <a:cs typeface="Calibri" panose="020F0502020204030204" pitchFamily="34" charset="0"/>
                        </a:rPr>
                        <a:t>Chiffrage (TTC)</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02240205"/>
                  </a:ext>
                </a:extLst>
              </a:tr>
              <a:tr h="347484">
                <a:tc rowSpan="4">
                  <a:txBody>
                    <a:bodyPr/>
                    <a:lstStyle/>
                    <a:p>
                      <a:pPr algn="ctr"/>
                      <a:r>
                        <a:rPr lang="fr-FR" sz="1000" dirty="0">
                          <a:latin typeface="Calibri" panose="020F0502020204030204" pitchFamily="34" charset="0"/>
                          <a:ea typeface="Calibri" panose="020F0502020204030204" pitchFamily="34" charset="0"/>
                          <a:cs typeface="Calibri" panose="020F0502020204030204" pitchFamily="34" charset="0"/>
                        </a:rPr>
                        <a:t>Travaux énergétiques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A72E"/>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fr-FR" sz="1000" b="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591875627"/>
                  </a:ext>
                </a:extLst>
              </a:tr>
              <a:tr h="347484">
                <a:tc vMerge="1">
                  <a:txBody>
                    <a:bodyPr/>
                    <a:lstStyle/>
                    <a:p>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A72E"/>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443799136"/>
                  </a:ext>
                </a:extLst>
              </a:tr>
              <a:tr h="347484">
                <a:tc vMerge="1">
                  <a:txBody>
                    <a:bodyPr/>
                    <a:lstStyle/>
                    <a:p>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A72E"/>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055380051"/>
                  </a:ext>
                </a:extLst>
              </a:tr>
              <a:tr h="347484">
                <a:tc vMerge="1">
                  <a:txBody>
                    <a:bodyPr/>
                    <a:lstStyle/>
                    <a:p>
                      <a:endParaRPr dirty="0"/>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A72E"/>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030579362"/>
                  </a:ext>
                </a:extLst>
              </a:tr>
              <a:tr h="325209">
                <a:tc>
                  <a:txBody>
                    <a:bodyPr/>
                    <a:lstStyle/>
                    <a:p>
                      <a:pPr algn="ctr"/>
                      <a:endParaRPr lang="fr-FR" sz="10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000" dirty="0">
                          <a:latin typeface="Calibri" panose="020F0502020204030204" pitchFamily="34" charset="0"/>
                          <a:ea typeface="Calibri" panose="020F0502020204030204" pitchFamily="34" charset="0"/>
                          <a:cs typeface="Calibri" panose="020F0502020204030204" pitchFamily="34" charset="0"/>
                        </a:rPr>
                        <a:t>Scénario x  - Montant total de l’investissement des travaux énergétiques (TTC)</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fr-FR" sz="10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572567265"/>
                  </a:ext>
                </a:extLst>
              </a:tr>
            </a:tbl>
          </a:graphicData>
        </a:graphic>
      </p:graphicFrame>
      <p:sp>
        <p:nvSpPr>
          <p:cNvPr id="8" name="Espace réservé du pied de page 5">
            <a:extLst>
              <a:ext uri="{FF2B5EF4-FFF2-40B4-BE49-F238E27FC236}">
                <a16:creationId xmlns:a16="http://schemas.microsoft.com/office/drawing/2014/main" id="{D49DF1E0-F505-123C-34D2-19E891C52D95}"/>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10" name="Espace réservé du numéro de diapositive 6">
            <a:extLst>
              <a:ext uri="{FF2B5EF4-FFF2-40B4-BE49-F238E27FC236}">
                <a16:creationId xmlns:a16="http://schemas.microsoft.com/office/drawing/2014/main" id="{88D31C9A-CD3A-26EE-6121-9F2874BEA861}"/>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15</a:t>
            </a:fld>
            <a:endParaRPr lang="fr-FR" sz="965" dirty="0"/>
          </a:p>
        </p:txBody>
      </p:sp>
      <p:graphicFrame>
        <p:nvGraphicFramePr>
          <p:cNvPr id="3" name="Tableau 2">
            <a:extLst>
              <a:ext uri="{FF2B5EF4-FFF2-40B4-BE49-F238E27FC236}">
                <a16:creationId xmlns:a16="http://schemas.microsoft.com/office/drawing/2014/main" id="{DFB6EDC6-F046-8FD1-4FDA-0D57C8FB8020}"/>
              </a:ext>
            </a:extLst>
          </p:cNvPr>
          <p:cNvGraphicFramePr>
            <a:graphicFrameLocks noGrp="1"/>
          </p:cNvGraphicFramePr>
          <p:nvPr>
            <p:extLst>
              <p:ext uri="{D42A27DB-BD31-4B8C-83A1-F6EECF244321}">
                <p14:modId xmlns:p14="http://schemas.microsoft.com/office/powerpoint/2010/main" val="50038164"/>
              </p:ext>
            </p:extLst>
          </p:nvPr>
        </p:nvGraphicFramePr>
        <p:xfrm>
          <a:off x="-5338915" y="421004"/>
          <a:ext cx="4293256" cy="11044382"/>
        </p:xfrm>
        <a:graphic>
          <a:graphicData uri="http://schemas.openxmlformats.org/drawingml/2006/table">
            <a:tbl>
              <a:tblPr firstRow="1" bandRow="1">
                <a:tableStyleId>{5940675A-B579-460E-94D1-54222C63F5DA}</a:tableStyleId>
              </a:tblPr>
              <a:tblGrid>
                <a:gridCol w="3455189">
                  <a:extLst>
                    <a:ext uri="{9D8B030D-6E8A-4147-A177-3AD203B41FA5}">
                      <a16:colId xmlns:a16="http://schemas.microsoft.com/office/drawing/2014/main" val="3425292336"/>
                    </a:ext>
                  </a:extLst>
                </a:gridCol>
                <a:gridCol w="838067">
                  <a:extLst>
                    <a:ext uri="{9D8B030D-6E8A-4147-A177-3AD203B41FA5}">
                      <a16:colId xmlns:a16="http://schemas.microsoft.com/office/drawing/2014/main" val="2079596313"/>
                    </a:ext>
                  </a:extLst>
                </a:gridCol>
              </a:tblGrid>
              <a:tr h="325209">
                <a:tc>
                  <a:txBody>
                    <a:bodyPr/>
                    <a:lstStyle/>
                    <a:p>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Travaux énergétiques</a:t>
                      </a:r>
                    </a:p>
                  </a:txBody>
                  <a:tcPr marL="80189" marR="80189" marT="40094" marB="40094" anchor="ctr">
                    <a:lnB w="12700" cap="flat" cmpd="sng" algn="ctr">
                      <a:solidFill>
                        <a:schemeClr val="tx1"/>
                      </a:solidFill>
                      <a:prstDash val="solid"/>
                      <a:round/>
                      <a:headEnd type="none" w="med" len="med"/>
                      <a:tailEnd type="none" w="med" len="med"/>
                    </a:lnB>
                    <a:solidFill>
                      <a:srgbClr val="002060"/>
                    </a:solidFill>
                  </a:tcPr>
                </a:tc>
                <a:tc>
                  <a:txBody>
                    <a:bodyPr/>
                    <a:lstStyle/>
                    <a:p>
                      <a:r>
                        <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rPr>
                        <a:t>Scénario 1</a:t>
                      </a:r>
                    </a:p>
                  </a:txBody>
                  <a:tcPr marL="80189" marR="80189" marT="40094" marB="40094" anchor="ctr">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4055804254"/>
                  </a:ext>
                </a:extLst>
              </a:tr>
              <a:tr h="374213">
                <a:tc>
                  <a:txBody>
                    <a:bodyPr/>
                    <a:lstStyle/>
                    <a:p>
                      <a:r>
                        <a:rPr lang="fr-FR" sz="1100" b="1" dirty="0">
                          <a:latin typeface="Calibri" panose="020F0502020204030204" pitchFamily="34" charset="0"/>
                          <a:ea typeface="Calibri" panose="020F0502020204030204" pitchFamily="34" charset="0"/>
                          <a:cs typeface="Calibri" panose="020F0502020204030204" pitchFamily="34" charset="0"/>
                        </a:rPr>
                        <a:t>Murs extérieurs </a:t>
                      </a:r>
                      <a:r>
                        <a:rPr lang="fr-FR" sz="1100" dirty="0">
                          <a:latin typeface="Calibri" panose="020F0502020204030204" pitchFamily="34" charset="0"/>
                          <a:ea typeface="Calibri" panose="020F0502020204030204" pitchFamily="34" charset="0"/>
                          <a:cs typeface="Calibri" panose="020F0502020204030204" pitchFamily="34" charset="0"/>
                        </a:rPr>
                        <a:t>- Mise en place d’une </a:t>
                      </a:r>
                      <a:r>
                        <a:rPr lang="fr-FR" sz="1100" b="0" dirty="0">
                          <a:latin typeface="Calibri" panose="020F0502020204030204" pitchFamily="34" charset="0"/>
                          <a:ea typeface="Calibri" panose="020F0502020204030204" pitchFamily="34" charset="0"/>
                          <a:cs typeface="Calibri" panose="020F0502020204030204" pitchFamily="34" charset="0"/>
                        </a:rPr>
                        <a:t>isolation thermique par l’extérieur</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56350"/>
                  </a:ext>
                </a:extLst>
              </a:tr>
              <a:tr h="374213">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Murs extérieurs </a:t>
                      </a:r>
                      <a:r>
                        <a:rPr lang="fr-FR" sz="1100" dirty="0">
                          <a:latin typeface="Calibri" panose="020F0502020204030204" pitchFamily="34" charset="0"/>
                          <a:ea typeface="Calibri" panose="020F0502020204030204" pitchFamily="34" charset="0"/>
                          <a:cs typeface="Calibri" panose="020F0502020204030204" pitchFamily="34" charset="0"/>
                        </a:rPr>
                        <a:t>- Mise en place d’une </a:t>
                      </a:r>
                      <a:r>
                        <a:rPr lang="fr-FR" sz="1100" b="0" dirty="0">
                          <a:latin typeface="Calibri" panose="020F0502020204030204" pitchFamily="34" charset="0"/>
                          <a:ea typeface="Calibri" panose="020F0502020204030204" pitchFamily="34" charset="0"/>
                          <a:cs typeface="Calibri" panose="020F0502020204030204" pitchFamily="34" charset="0"/>
                        </a:rPr>
                        <a:t>isolation thermique par l’extérieur </a:t>
                      </a:r>
                      <a:r>
                        <a:rPr lang="fr-FR" sz="1100" b="0" dirty="0">
                          <a:solidFill>
                            <a:srgbClr val="FF0000"/>
                          </a:solidFill>
                          <a:latin typeface="Calibri" panose="020F0502020204030204" pitchFamily="34" charset="0"/>
                          <a:ea typeface="Calibri" panose="020F0502020204030204" pitchFamily="34" charset="0"/>
                          <a:cs typeface="Calibri" panose="020F0502020204030204" pitchFamily="34" charset="0"/>
                        </a:rPr>
                        <a:t>(sous réserve de l’accord des ABF)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55730"/>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Toiture terrasse </a:t>
                      </a:r>
                      <a:r>
                        <a:rPr lang="fr-FR" sz="1100" dirty="0">
                          <a:latin typeface="Calibri" panose="020F0502020204030204" pitchFamily="34" charset="0"/>
                          <a:ea typeface="Calibri" panose="020F0502020204030204" pitchFamily="34" charset="0"/>
                          <a:cs typeface="Calibri" panose="020F0502020204030204" pitchFamily="34" charset="0"/>
                        </a:rPr>
                        <a:t>- </a:t>
                      </a:r>
                      <a:r>
                        <a:rPr lang="fr-FR" sz="1100" b="0" dirty="0">
                          <a:latin typeface="Calibri" panose="020F0502020204030204" pitchFamily="34" charset="0"/>
                          <a:ea typeface="Calibri" panose="020F0502020204030204" pitchFamily="34" charset="0"/>
                          <a:cs typeface="Calibri" panose="020F0502020204030204" pitchFamily="34" charset="0"/>
                        </a:rPr>
                        <a:t>Mise en place d’une isolation thermique par l’extérieur</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1518295"/>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Combles aménagés </a:t>
                      </a:r>
                      <a:r>
                        <a:rPr lang="fr-FR" sz="1100" b="0" dirty="0">
                          <a:latin typeface="Calibri" panose="020F0502020204030204" pitchFamily="34" charset="0"/>
                          <a:ea typeface="Calibri" panose="020F0502020204030204" pitchFamily="34" charset="0"/>
                          <a:cs typeface="Calibri" panose="020F0502020204030204" pitchFamily="34" charset="0"/>
                        </a:rPr>
                        <a:t>– Mise en place d’une isolation thermique par l’extérieur (</a:t>
                      </a:r>
                      <a:r>
                        <a:rPr lang="fr-FR" sz="1100" b="0" dirty="0" err="1">
                          <a:latin typeface="Calibri" panose="020F0502020204030204" pitchFamily="34" charset="0"/>
                          <a:ea typeface="Calibri" panose="020F0502020204030204" pitchFamily="34" charset="0"/>
                          <a:cs typeface="Calibri" panose="020F0502020204030204" pitchFamily="34" charset="0"/>
                        </a:rPr>
                        <a:t>Sarking</a:t>
                      </a:r>
                      <a:r>
                        <a:rPr lang="fr-FR" sz="1100" b="0" dirty="0">
                          <a:latin typeface="Calibri" panose="020F0502020204030204" pitchFamily="34" charset="0"/>
                          <a:ea typeface="Calibri" panose="020F0502020204030204" pitchFamily="34" charset="0"/>
                          <a:cs typeface="Calibri" panose="020F0502020204030204" pitchFamily="34" charset="0"/>
                        </a:rPr>
                        <a:t>)</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950047"/>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Combles perdus </a:t>
                      </a:r>
                      <a:r>
                        <a:rPr lang="fr-FR" sz="1100" b="0" dirty="0">
                          <a:latin typeface="Calibri" panose="020F0502020204030204" pitchFamily="34" charset="0"/>
                          <a:ea typeface="Calibri" panose="020F0502020204030204" pitchFamily="34" charset="0"/>
                          <a:cs typeface="Calibri" panose="020F0502020204030204" pitchFamily="34" charset="0"/>
                        </a:rPr>
                        <a:t>– Mise en place d’une isolation thermique sur le plancher des combles perdus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5009370"/>
                  </a:ext>
                </a:extLst>
              </a:tr>
              <a:tr h="5212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Plancher bas </a:t>
                      </a:r>
                      <a:r>
                        <a:rPr lang="fr-FR" sz="1100" b="0" dirty="0">
                          <a:latin typeface="Calibri" panose="020F0502020204030204" pitchFamily="34" charset="0"/>
                          <a:ea typeface="Calibri" panose="020F0502020204030204" pitchFamily="34" charset="0"/>
                          <a:cs typeface="Calibri" panose="020F0502020204030204" pitchFamily="34" charset="0"/>
                        </a:rPr>
                        <a:t>– Mise en place d’une isolation thermique du plafond des locaux non chauffés donnant sur un local chauffé</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4338463"/>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u="none" dirty="0">
                          <a:latin typeface="Calibri" panose="020F0502020204030204" pitchFamily="34" charset="0"/>
                          <a:ea typeface="Calibri" panose="020F0502020204030204" pitchFamily="34" charset="0"/>
                          <a:cs typeface="Calibri" panose="020F0502020204030204" pitchFamily="34" charset="0"/>
                        </a:rPr>
                        <a:t>Menuiseries</a:t>
                      </a:r>
                      <a:r>
                        <a:rPr lang="fr-FR" sz="1100" b="0" u="none" dirty="0">
                          <a:latin typeface="Calibri" panose="020F0502020204030204" pitchFamily="34" charset="0"/>
                          <a:ea typeface="Calibri" panose="020F0502020204030204" pitchFamily="34" charset="0"/>
                          <a:cs typeface="Calibri" panose="020F0502020204030204" pitchFamily="34" charset="0"/>
                        </a:rPr>
                        <a:t> – Remplacement des menuiseries anciennes par des menuiseries double vitrage à faible émissivité</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9104157"/>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Ventilation</a:t>
                      </a:r>
                      <a:r>
                        <a:rPr lang="fr-FR" sz="1100" b="0" dirty="0">
                          <a:latin typeface="Calibri" panose="020F0502020204030204" pitchFamily="34" charset="0"/>
                          <a:ea typeface="Calibri" panose="020F0502020204030204" pitchFamily="34" charset="0"/>
                          <a:cs typeface="Calibri" panose="020F0502020204030204" pitchFamily="34" charset="0"/>
                        </a:rPr>
                        <a:t> - Mise en place d’une ventilation mécanique contrôlée collective autoréglable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0403790"/>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Ventilation</a:t>
                      </a:r>
                      <a:r>
                        <a:rPr lang="fr-FR" sz="1100" b="0" dirty="0">
                          <a:latin typeface="Calibri" panose="020F0502020204030204" pitchFamily="34" charset="0"/>
                          <a:ea typeface="Calibri" panose="020F0502020204030204" pitchFamily="34" charset="0"/>
                          <a:cs typeface="Calibri" panose="020F0502020204030204" pitchFamily="34" charset="0"/>
                        </a:rPr>
                        <a:t> - Mise en place d’une ventilation mécanique contrôlée collective hygroréglable de type A</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6762278"/>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Ventilation</a:t>
                      </a:r>
                      <a:r>
                        <a:rPr lang="fr-FR" sz="1100" b="0" dirty="0">
                          <a:latin typeface="Calibri" panose="020F0502020204030204" pitchFamily="34" charset="0"/>
                          <a:ea typeface="Calibri" panose="020F0502020204030204" pitchFamily="34" charset="0"/>
                          <a:cs typeface="Calibri" panose="020F0502020204030204" pitchFamily="34" charset="0"/>
                        </a:rPr>
                        <a:t> - Mise en place d’une ventilation mécanique contrôlée collective hygroréglable de type B</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0782774"/>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Ventilation</a:t>
                      </a:r>
                      <a:r>
                        <a:rPr lang="fr-FR" sz="1100" b="0" dirty="0">
                          <a:latin typeface="Calibri" panose="020F0502020204030204" pitchFamily="34" charset="0"/>
                          <a:ea typeface="Calibri" panose="020F0502020204030204" pitchFamily="34" charset="0"/>
                          <a:cs typeface="Calibri" panose="020F0502020204030204" pitchFamily="34" charset="0"/>
                        </a:rPr>
                        <a:t> - Passage d’une ventilation autoréglable à une ventilation hygroréglable de type B</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470727"/>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a:t>
                      </a:r>
                      <a:r>
                        <a:rPr lang="fr-FR" sz="1100" b="0" dirty="0">
                          <a:latin typeface="Calibri" panose="020F0502020204030204" pitchFamily="34" charset="0"/>
                          <a:ea typeface="Calibri" panose="020F0502020204030204" pitchFamily="34" charset="0"/>
                          <a:cs typeface="Calibri" panose="020F0502020204030204" pitchFamily="34" charset="0"/>
                        </a:rPr>
                        <a:t> - Remplacement de la chaudière fioul par une chaudière gaz à condensation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1752439"/>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a:t>
                      </a:r>
                      <a:r>
                        <a:rPr lang="fr-FR" sz="1100" b="0" dirty="0">
                          <a:latin typeface="Calibri" panose="020F0502020204030204" pitchFamily="34" charset="0"/>
                          <a:ea typeface="Calibri" panose="020F0502020204030204" pitchFamily="34" charset="0"/>
                          <a:cs typeface="Calibri" panose="020F0502020204030204" pitchFamily="34" charset="0"/>
                        </a:rPr>
                        <a:t> - Remplacement de la chaudière fioul par une pompe à chaleur de type air/eau</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0332347"/>
                  </a:ext>
                </a:extLst>
              </a:tr>
              <a:tr h="5212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a:t>
                      </a:r>
                      <a:r>
                        <a:rPr lang="fr-FR" sz="1100" b="0" dirty="0">
                          <a:latin typeface="Calibri" panose="020F0502020204030204" pitchFamily="34" charset="0"/>
                          <a:ea typeface="Calibri" panose="020F0502020204030204" pitchFamily="34" charset="0"/>
                          <a:cs typeface="Calibri" panose="020F0502020204030204" pitchFamily="34" charset="0"/>
                        </a:rPr>
                        <a:t> - Remplacement de la chaudière fioul par un système d’hybridation (chaudière gaz à condensation + pompe à chaleur air/eau)</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155521"/>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gaz par une chaudière gaz à condensation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102665"/>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gaz par une pompe à chaleur de type air/eau</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3171852"/>
                  </a:ext>
                </a:extLst>
              </a:tr>
              <a:tr h="5212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gaz par un système d’hybridation (chaudière gaz à condensation + pompe à chaleur air/eau)</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3032537"/>
                  </a:ext>
                </a:extLst>
              </a:tr>
              <a:tr h="5212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Mise en place d’une pompe à chaleur air/eau en complément de la chaudière gaz déjà présente (pour création d’un système d’hybridation)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648614"/>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fioul par le réseau de chaleur urbain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9376333"/>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Chauffage - </a:t>
                      </a:r>
                      <a:r>
                        <a:rPr lang="fr-FR" sz="1100" b="0" dirty="0">
                          <a:latin typeface="Calibri" panose="020F0502020204030204" pitchFamily="34" charset="0"/>
                          <a:ea typeface="Calibri" panose="020F0502020204030204" pitchFamily="34" charset="0"/>
                          <a:cs typeface="Calibri" panose="020F0502020204030204" pitchFamily="34" charset="0"/>
                        </a:rPr>
                        <a:t>Remplacement de la chaudière gaz par le réseau de chaleur urbain</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4331047"/>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Régulation </a:t>
                      </a:r>
                      <a:r>
                        <a:rPr lang="fr-FR" sz="1100" b="0" dirty="0">
                          <a:latin typeface="Calibri" panose="020F0502020204030204" pitchFamily="34" charset="0"/>
                          <a:ea typeface="Calibri" panose="020F0502020204030204" pitchFamily="34" charset="0"/>
                          <a:cs typeface="Calibri" panose="020F0502020204030204" pitchFamily="34" charset="0"/>
                        </a:rPr>
                        <a:t>- Mise en place de robinets thermostatiques sur les radiateurs à eau chaude</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20956"/>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Solaire - </a:t>
                      </a:r>
                      <a:r>
                        <a:rPr lang="fr-FR" sz="1100" b="0" dirty="0">
                          <a:latin typeface="Calibri" panose="020F0502020204030204" pitchFamily="34" charset="0"/>
                          <a:ea typeface="Calibri" panose="020F0502020204030204" pitchFamily="34" charset="0"/>
                          <a:cs typeface="Calibri" panose="020F0502020204030204" pitchFamily="34" charset="0"/>
                        </a:rPr>
                        <a:t>Mise en place de panneaux solaires photovoltaïques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3985350"/>
                  </a:ext>
                </a:extLst>
              </a:tr>
              <a:tr h="32520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Solaire - </a:t>
                      </a:r>
                      <a:r>
                        <a:rPr lang="fr-FR" sz="1100" b="0" dirty="0">
                          <a:latin typeface="Calibri" panose="020F0502020204030204" pitchFamily="34" charset="0"/>
                          <a:ea typeface="Calibri" panose="020F0502020204030204" pitchFamily="34" charset="0"/>
                          <a:cs typeface="Calibri" panose="020F0502020204030204" pitchFamily="34" charset="0"/>
                        </a:rPr>
                        <a:t>Mise en place de panneaux solaires thermiques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4722181"/>
                  </a:ext>
                </a:extLst>
              </a:tr>
              <a:tr h="3742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100" b="1" dirty="0">
                          <a:latin typeface="Calibri" panose="020F0502020204030204" pitchFamily="34" charset="0"/>
                          <a:ea typeface="Calibri" panose="020F0502020204030204" pitchFamily="34" charset="0"/>
                          <a:cs typeface="Calibri" panose="020F0502020204030204" pitchFamily="34" charset="0"/>
                        </a:rPr>
                        <a:t>Confort d’été - </a:t>
                      </a:r>
                      <a:r>
                        <a:rPr lang="fr-FR" sz="1100" b="0" dirty="0">
                          <a:latin typeface="Calibri" panose="020F0502020204030204" pitchFamily="34" charset="0"/>
                          <a:ea typeface="Calibri" panose="020F0502020204030204" pitchFamily="34" charset="0"/>
                          <a:cs typeface="Calibri" panose="020F0502020204030204" pitchFamily="34" charset="0"/>
                        </a:rPr>
                        <a:t>Mise en place de protections solaires sur les menuiseries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4096059"/>
                  </a:ext>
                </a:extLst>
              </a:tr>
            </a:tbl>
          </a:graphicData>
        </a:graphic>
      </p:graphicFrame>
      <p:pic>
        <p:nvPicPr>
          <p:cNvPr id="4" name="Image 3">
            <a:extLst>
              <a:ext uri="{FF2B5EF4-FFF2-40B4-BE49-F238E27FC236}">
                <a16:creationId xmlns:a16="http://schemas.microsoft.com/office/drawing/2014/main" id="{9535A108-87BC-1ACC-3442-A44FB717EE34}"/>
              </a:ext>
            </a:extLst>
          </p:cNvPr>
          <p:cNvPicPr>
            <a:picLocks noChangeAspect="1"/>
          </p:cNvPicPr>
          <p:nvPr/>
        </p:nvPicPr>
        <p:blipFill>
          <a:blip r:embed="rId2"/>
          <a:stretch>
            <a:fillRect/>
          </a:stretch>
        </p:blipFill>
        <p:spPr>
          <a:xfrm>
            <a:off x="541020" y="98814"/>
            <a:ext cx="2246544" cy="594519"/>
          </a:xfrm>
          <a:prstGeom prst="rect">
            <a:avLst/>
          </a:prstGeom>
        </p:spPr>
      </p:pic>
      <p:sp>
        <p:nvSpPr>
          <p:cNvPr id="5" name="ZoneTexte 4">
            <a:extLst>
              <a:ext uri="{FF2B5EF4-FFF2-40B4-BE49-F238E27FC236}">
                <a16:creationId xmlns:a16="http://schemas.microsoft.com/office/drawing/2014/main" id="{9C83195C-BE23-9215-89F1-46FD8AE5BA28}"/>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6. SYNTHÈSE DU PPPT</a:t>
            </a:r>
          </a:p>
        </p:txBody>
      </p:sp>
      <p:graphicFrame>
        <p:nvGraphicFramePr>
          <p:cNvPr id="7" name="Tableau 6">
            <a:extLst>
              <a:ext uri="{FF2B5EF4-FFF2-40B4-BE49-F238E27FC236}">
                <a16:creationId xmlns:a16="http://schemas.microsoft.com/office/drawing/2014/main" id="{DF6577F4-1188-1D86-5763-7DE10715DF2F}"/>
              </a:ext>
            </a:extLst>
          </p:cNvPr>
          <p:cNvGraphicFramePr>
            <a:graphicFrameLocks noGrp="1"/>
          </p:cNvGraphicFramePr>
          <p:nvPr>
            <p:extLst>
              <p:ext uri="{D42A27DB-BD31-4B8C-83A1-F6EECF244321}">
                <p14:modId xmlns:p14="http://schemas.microsoft.com/office/powerpoint/2010/main" val="1221775501"/>
              </p:ext>
            </p:extLst>
          </p:nvPr>
        </p:nvGraphicFramePr>
        <p:xfrm>
          <a:off x="7716520" y="2886668"/>
          <a:ext cx="6484619" cy="1247585"/>
        </p:xfrm>
        <a:graphic>
          <a:graphicData uri="http://schemas.openxmlformats.org/drawingml/2006/table">
            <a:tbl>
              <a:tblPr firstRow="1" bandRow="1">
                <a:tableStyleId>{5C22544A-7EE6-4342-B048-85BDC9FD1C3A}</a:tableStyleId>
              </a:tblPr>
              <a:tblGrid>
                <a:gridCol w="1004634">
                  <a:extLst>
                    <a:ext uri="{9D8B030D-6E8A-4147-A177-3AD203B41FA5}">
                      <a16:colId xmlns:a16="http://schemas.microsoft.com/office/drawing/2014/main" val="1783163082"/>
                    </a:ext>
                  </a:extLst>
                </a:gridCol>
                <a:gridCol w="684316">
                  <a:extLst>
                    <a:ext uri="{9D8B030D-6E8A-4147-A177-3AD203B41FA5}">
                      <a16:colId xmlns:a16="http://schemas.microsoft.com/office/drawing/2014/main" val="3478158632"/>
                    </a:ext>
                  </a:extLst>
                </a:gridCol>
                <a:gridCol w="3465980">
                  <a:extLst>
                    <a:ext uri="{9D8B030D-6E8A-4147-A177-3AD203B41FA5}">
                      <a16:colId xmlns:a16="http://schemas.microsoft.com/office/drawing/2014/main" val="3421945731"/>
                    </a:ext>
                  </a:extLst>
                </a:gridCol>
                <a:gridCol w="1329689">
                  <a:extLst>
                    <a:ext uri="{9D8B030D-6E8A-4147-A177-3AD203B41FA5}">
                      <a16:colId xmlns:a16="http://schemas.microsoft.com/office/drawing/2014/main" val="1021963542"/>
                    </a:ext>
                  </a:extLst>
                </a:gridCol>
              </a:tblGrid>
              <a:tr h="325209">
                <a:tc gridSpan="4">
                  <a:txBody>
                    <a:bodyPr/>
                    <a:lstStyle/>
                    <a:p>
                      <a:pPr algn="ctr"/>
                      <a:r>
                        <a:rPr lang="fr-FR" sz="1100" dirty="0">
                          <a:solidFill>
                            <a:schemeClr val="tx1"/>
                          </a:solidFill>
                          <a:highlight>
                            <a:srgbClr val="FFFF00"/>
                          </a:highlight>
                        </a:rPr>
                        <a:t>EXEMPLE PLUSIEURS BATIMENTS (merci de supprimer)</a:t>
                      </a:r>
                    </a:p>
                  </a:txBody>
                  <a:tcPr marL="80189" marR="80189" marT="40094" marB="40094" anchor="ctr">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fr-FR" sz="1000" dirty="0"/>
                    </a:p>
                  </a:txBody>
                  <a:tcPr anchor="ctr"/>
                </a:tc>
                <a:tc hMerge="1">
                  <a:txBody>
                    <a:bodyPr/>
                    <a:lstStyle/>
                    <a:p>
                      <a:pPr algn="ctr"/>
                      <a:endParaRPr lang="fr-FR" sz="1000" dirty="0"/>
                    </a:p>
                  </a:txBody>
                  <a:tcPr anchor="ctr"/>
                </a:tc>
                <a:tc hMerge="1">
                  <a:txBody>
                    <a:bodyPr/>
                    <a:lstStyle/>
                    <a:p>
                      <a:pPr algn="ctr"/>
                      <a:endParaRPr lang="fr-FR" sz="1000" dirty="0"/>
                    </a:p>
                  </a:txBody>
                  <a:tcPr anchor="ctr"/>
                </a:tc>
                <a:extLst>
                  <a:ext uri="{0D108BD9-81ED-4DB2-BD59-A6C34878D82A}">
                    <a16:rowId xmlns:a16="http://schemas.microsoft.com/office/drawing/2014/main" val="731523944"/>
                  </a:ext>
                </a:extLst>
              </a:tr>
              <a:tr h="481132">
                <a:tc>
                  <a:txBody>
                    <a:bodyPr/>
                    <a:lstStyle/>
                    <a:p>
                      <a:pPr algn="ctr"/>
                      <a:r>
                        <a:rPr lang="fr-FR" sz="1000" b="1" dirty="0">
                          <a:solidFill>
                            <a:schemeClr val="bg1"/>
                          </a:solidFill>
                        </a:rPr>
                        <a:t>Niveau du curatif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rPr>
                        <a:t>Numéro du curatif</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rPr>
                        <a:t>Nature de travaux</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fr-FR" sz="1000" b="1" dirty="0">
                          <a:solidFill>
                            <a:schemeClr val="bg1"/>
                          </a:solidFill>
                        </a:rPr>
                        <a:t>Chiffrage (TTC)</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02240205"/>
                  </a:ext>
                </a:extLst>
              </a:tr>
              <a:tr h="347484">
                <a:tc>
                  <a:txBody>
                    <a:bodyPr/>
                    <a:lstStyle/>
                    <a:p>
                      <a:pPr algn="ctr"/>
                      <a:r>
                        <a:rPr lang="fr-FR" sz="1000" dirty="0"/>
                        <a:t>Travaux énergétiques</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A72E"/>
                    </a:solidFill>
                  </a:tcPr>
                </a:tc>
                <a:tc>
                  <a:txBody>
                    <a:bodyPr/>
                    <a:lstStyle/>
                    <a:p>
                      <a:pPr algn="ctr"/>
                      <a:endParaRPr lang="fr-FR" sz="1000" dirty="0"/>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fr-FR" sz="1000" dirty="0"/>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fr-FR" sz="1000" dirty="0"/>
                        <a:t>Bâtiment  : 1 000 €</a:t>
                      </a:r>
                    </a:p>
                    <a:p>
                      <a:pPr algn="ctr"/>
                      <a:r>
                        <a:rPr lang="fr-FR" sz="1000" dirty="0"/>
                        <a:t>Bâtiment  : 2 000 €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591875627"/>
                  </a:ext>
                </a:extLst>
              </a:tr>
            </a:tbl>
          </a:graphicData>
        </a:graphic>
      </p:graphicFrame>
      <p:sp>
        <p:nvSpPr>
          <p:cNvPr id="11" name="ZoneTexte 10">
            <a:extLst>
              <a:ext uri="{FF2B5EF4-FFF2-40B4-BE49-F238E27FC236}">
                <a16:creationId xmlns:a16="http://schemas.microsoft.com/office/drawing/2014/main" id="{8207A78D-C40F-DD27-A814-E2E40495D60B}"/>
              </a:ext>
            </a:extLst>
          </p:cNvPr>
          <p:cNvSpPr txBox="1"/>
          <p:nvPr/>
        </p:nvSpPr>
        <p:spPr>
          <a:xfrm>
            <a:off x="541020" y="7456875"/>
            <a:ext cx="6484620" cy="2462213"/>
          </a:xfrm>
          <a:prstGeom prst="rect">
            <a:avLst/>
          </a:prstGeom>
          <a:noFill/>
        </p:spPr>
        <p:txBody>
          <a:bodyPr wrap="square" rtlCol="0">
            <a:spAutoFit/>
          </a:bodyPr>
          <a:lstStyle/>
          <a:p>
            <a:pPr algn="just"/>
            <a:r>
              <a:rPr lang="fr-FR" sz="1100" b="1" dirty="0">
                <a:latin typeface="Calibri" panose="020F0502020204030204" pitchFamily="34" charset="0"/>
                <a:ea typeface="Calibri" panose="020F0502020204030204" pitchFamily="34" charset="0"/>
                <a:cs typeface="Calibri" panose="020F0502020204030204" pitchFamily="34" charset="0"/>
              </a:rPr>
              <a:t>Programmation des travaux énergétiques</a:t>
            </a:r>
          </a:p>
          <a:p>
            <a:pPr algn="just"/>
            <a:endParaRPr lang="fr-FR" sz="1100"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scénarios proposés ont été élaborés dans une logique de </a:t>
            </a:r>
            <a:r>
              <a:rPr lang="fr-FR" sz="1100" b="1" dirty="0">
                <a:latin typeface="Calibri" panose="020F0502020204030204" pitchFamily="34" charset="0"/>
                <a:ea typeface="Calibri" panose="020F0502020204030204" pitchFamily="34" charset="0"/>
                <a:cs typeface="Calibri" panose="020F0502020204030204" pitchFamily="34" charset="0"/>
              </a:rPr>
              <a:t>rénovation énergétique globale</a:t>
            </a:r>
            <a:r>
              <a:rPr lang="fr-FR" sz="1100" dirty="0">
                <a:latin typeface="Calibri" panose="020F0502020204030204" pitchFamily="34" charset="0"/>
                <a:ea typeface="Calibri" panose="020F0502020204030204" pitchFamily="34" charset="0"/>
                <a:cs typeface="Calibri" panose="020F0502020204030204" pitchFamily="34" charset="0"/>
              </a:rPr>
              <a:t>. La réalisation de l'ensemble des travaux composant un scénario permet d'atteindre les performances énergétiques visées et de répondre, sous réserve d'éligibilité, aux conditions d'obtention de certaines aides financières.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En revanche, </a:t>
            </a:r>
            <a:r>
              <a:rPr lang="fr-FR" sz="1100" b="1" dirty="0">
                <a:latin typeface="Calibri" panose="020F0502020204030204" pitchFamily="34" charset="0"/>
                <a:ea typeface="Calibri" panose="020F0502020204030204" pitchFamily="34" charset="0"/>
                <a:cs typeface="Calibri" panose="020F0502020204030204" pitchFamily="34" charset="0"/>
              </a:rPr>
              <a:t>aucun échéancier prévisionnel n'a été défini</a:t>
            </a:r>
            <a:r>
              <a:rPr lang="fr-FR" sz="1100" dirty="0">
                <a:latin typeface="Calibri" panose="020F0502020204030204" pitchFamily="34" charset="0"/>
                <a:ea typeface="Calibri" panose="020F0502020204030204" pitchFamily="34" charset="0"/>
                <a:cs typeface="Calibri" panose="020F0502020204030204" pitchFamily="34" charset="0"/>
              </a:rPr>
              <a:t>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p>
        </p:txBody>
      </p:sp>
    </p:spTree>
    <p:extLst>
      <p:ext uri="{BB962C8B-B14F-4D97-AF65-F5344CB8AC3E}">
        <p14:creationId xmlns:p14="http://schemas.microsoft.com/office/powerpoint/2010/main" val="4175806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98A78-E94E-BC42-B690-FC8AE91664CE}"/>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E7D3903D-893B-20AA-373F-9B0BA66C6844}"/>
              </a:ext>
            </a:extLst>
          </p:cNvPr>
          <p:cNvSpPr txBox="1"/>
          <p:nvPr/>
        </p:nvSpPr>
        <p:spPr>
          <a:xfrm>
            <a:off x="541020" y="1271975"/>
            <a:ext cx="6484620" cy="7056099"/>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7.1 Conclusion générale</a:t>
            </a:r>
          </a:p>
          <a:p>
            <a:endParaRPr lang="fr-FR" sz="1052" b="1" dirty="0">
              <a:highlight>
                <a:srgbClr val="FFFF00"/>
              </a:highlight>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présent Projet de Plan Pluriannuel de Travaux (PPPT) a permis d'établir une vision globale de l'état de conservation de la copropriété et d'identifier les interventions nécessaires au maintien de sa pérennité, de sa sécurité et de sa valeur patrimoniale.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L'analyse réalisée a conduit à l'identification de </a:t>
            </a:r>
            <a:r>
              <a:rPr lang="fr-FR" sz="1100" b="1" dirty="0">
                <a:latin typeface="Calibri" panose="020F0502020204030204" pitchFamily="34" charset="0"/>
                <a:ea typeface="Calibri" panose="020F0502020204030204" pitchFamily="34" charset="0"/>
                <a:cs typeface="Calibri" panose="020F0502020204030204" pitchFamily="34" charset="0"/>
              </a:rPr>
              <a:t>4 fiches curatives</a:t>
            </a:r>
            <a:r>
              <a:rPr lang="fr-FR" sz="1100" dirty="0">
                <a:latin typeface="Calibri" panose="020F0502020204030204" pitchFamily="34" charset="0"/>
                <a:ea typeface="Calibri" panose="020F0502020204030204" pitchFamily="34" charset="0"/>
                <a:cs typeface="Calibri" panose="020F0502020204030204" pitchFamily="34" charset="0"/>
              </a:rPr>
              <a:t>, réparties selon différents niveaux de priorité. Parmi celles-ci, </a:t>
            </a:r>
            <a:r>
              <a:rPr lang="fr-FR" sz="1100" b="1" dirty="0">
                <a:latin typeface="Calibri" panose="020F0502020204030204" pitchFamily="34" charset="0"/>
                <a:ea typeface="Calibri" panose="020F0502020204030204" pitchFamily="34" charset="0"/>
                <a:cs typeface="Calibri" panose="020F0502020204030204" pitchFamily="34" charset="0"/>
              </a:rPr>
              <a:t>2 curatifs de niveau 1</a:t>
            </a:r>
            <a:r>
              <a:rPr lang="fr-FR" sz="1100" dirty="0">
                <a:latin typeface="Calibri" panose="020F0502020204030204" pitchFamily="34" charset="0"/>
                <a:ea typeface="Calibri" panose="020F0502020204030204" pitchFamily="34" charset="0"/>
                <a:cs typeface="Calibri" panose="020F0502020204030204" pitchFamily="34" charset="0"/>
              </a:rPr>
              <a:t>, représentant </a:t>
            </a:r>
            <a:r>
              <a:rPr lang="fr-FR" sz="1100" b="1" dirty="0">
                <a:latin typeface="Calibri" panose="020F0502020204030204" pitchFamily="34" charset="0"/>
                <a:ea typeface="Calibri" panose="020F0502020204030204" pitchFamily="34" charset="0"/>
                <a:cs typeface="Calibri" panose="020F0502020204030204" pitchFamily="34" charset="0"/>
              </a:rPr>
              <a:t>50 %</a:t>
            </a:r>
            <a:r>
              <a:rPr lang="fr-FR" sz="1100" dirty="0">
                <a:latin typeface="Calibri" panose="020F0502020204030204" pitchFamily="34" charset="0"/>
                <a:ea typeface="Calibri" panose="020F0502020204030204" pitchFamily="34" charset="0"/>
                <a:cs typeface="Calibri" panose="020F0502020204030204" pitchFamily="34" charset="0"/>
              </a:rPr>
              <a:t> du total des actions préconisées, concernent des interventions à engager à court terme afin de traiter les désordres les plus sensibles ou d'éviter une dégradation accélérée des ouvrages et équipements.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a:t>
            </a:r>
            <a:r>
              <a:rPr lang="fr-FR" sz="1100" b="1" dirty="0">
                <a:latin typeface="Calibri" panose="020F0502020204030204" pitchFamily="34" charset="0"/>
                <a:ea typeface="Calibri" panose="020F0502020204030204" pitchFamily="34" charset="0"/>
                <a:cs typeface="Calibri" panose="020F0502020204030204" pitchFamily="34" charset="0"/>
              </a:rPr>
              <a:t>curatifs de niveau 2</a:t>
            </a:r>
            <a:r>
              <a:rPr lang="fr-FR" sz="1100" dirty="0">
                <a:latin typeface="Calibri" panose="020F0502020204030204" pitchFamily="34" charset="0"/>
                <a:ea typeface="Calibri" panose="020F0502020204030204" pitchFamily="34" charset="0"/>
                <a:cs typeface="Calibri" panose="020F0502020204030204" pitchFamily="34" charset="0"/>
              </a:rPr>
              <a:t>, représentant </a:t>
            </a:r>
            <a:r>
              <a:rPr lang="fr-FR" sz="1100" b="1" dirty="0">
                <a:latin typeface="Calibri" panose="020F0502020204030204" pitchFamily="34" charset="0"/>
                <a:ea typeface="Calibri" panose="020F0502020204030204" pitchFamily="34" charset="0"/>
                <a:cs typeface="Calibri" panose="020F0502020204030204" pitchFamily="34" charset="0"/>
              </a:rPr>
              <a:t>0 %</a:t>
            </a:r>
            <a:r>
              <a:rPr lang="fr-FR" sz="1100" dirty="0">
                <a:latin typeface="Calibri" panose="020F0502020204030204" pitchFamily="34" charset="0"/>
                <a:ea typeface="Calibri" panose="020F0502020204030204" pitchFamily="34" charset="0"/>
                <a:cs typeface="Calibri" panose="020F0502020204030204" pitchFamily="34" charset="0"/>
              </a:rPr>
              <a:t> des actions identifiées, regroupent les travaux à prévoir à moyen terme afin d'assurer le maintien en bon état du patrimoine et d'anticiper le vieillissement naturel des différents composants du bâtiment.</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Enfin, </a:t>
            </a:r>
            <a:r>
              <a:rPr lang="fr-FR" sz="1100" b="1" dirty="0">
                <a:latin typeface="Calibri" panose="020F0502020204030204" pitchFamily="34" charset="0"/>
                <a:ea typeface="Calibri" panose="020F0502020204030204" pitchFamily="34" charset="0"/>
                <a:cs typeface="Calibri" panose="020F0502020204030204" pitchFamily="34" charset="0"/>
              </a:rPr>
              <a:t>2 curatifs de niveau 3</a:t>
            </a:r>
            <a:r>
              <a:rPr lang="fr-FR" sz="1100" dirty="0">
                <a:latin typeface="Calibri" panose="020F0502020204030204" pitchFamily="34" charset="0"/>
                <a:ea typeface="Calibri" panose="020F0502020204030204" pitchFamily="34" charset="0"/>
                <a:cs typeface="Calibri" panose="020F0502020204030204" pitchFamily="34" charset="0"/>
              </a:rPr>
              <a:t>, représentant </a:t>
            </a:r>
            <a:r>
              <a:rPr lang="fr-FR" sz="1100" b="1" dirty="0">
                <a:latin typeface="Calibri" panose="020F0502020204030204" pitchFamily="34" charset="0"/>
                <a:ea typeface="Calibri" panose="020F0502020204030204" pitchFamily="34" charset="0"/>
                <a:cs typeface="Calibri" panose="020F0502020204030204" pitchFamily="34" charset="0"/>
              </a:rPr>
              <a:t>50 %</a:t>
            </a:r>
            <a:r>
              <a:rPr lang="fr-FR" sz="1100" dirty="0">
                <a:latin typeface="Calibri" panose="020F0502020204030204" pitchFamily="34" charset="0"/>
                <a:ea typeface="Calibri" panose="020F0502020204030204" pitchFamily="34" charset="0"/>
                <a:cs typeface="Calibri" panose="020F0502020204030204" pitchFamily="34" charset="0"/>
              </a:rPr>
              <a:t> des préconisations, correspondent principalement à des travaux d'entretien, d'amélioration ou de renouvellement à plus long terme destinés à préserver durablement les performances et l'aspect général de l'immeuble.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p>
          <a:p>
            <a:pPr algn="just"/>
            <a:endParaRPr lang="fr-FR" sz="1100" dirty="0"/>
          </a:p>
        </p:txBody>
      </p:sp>
      <p:sp>
        <p:nvSpPr>
          <p:cNvPr id="2" name="Espace réservé du pied de page 5">
            <a:extLst>
              <a:ext uri="{FF2B5EF4-FFF2-40B4-BE49-F238E27FC236}">
                <a16:creationId xmlns:a16="http://schemas.microsoft.com/office/drawing/2014/main" id="{CCF289E8-F61D-031F-F665-1B4915DC6FFF}"/>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167BF81A-4464-4092-E864-D2DDA32605F9}"/>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16</a:t>
            </a:fld>
            <a:endParaRPr lang="fr-FR" sz="965" dirty="0"/>
          </a:p>
        </p:txBody>
      </p:sp>
      <p:pic>
        <p:nvPicPr>
          <p:cNvPr id="8" name="Image 7">
            <a:extLst>
              <a:ext uri="{FF2B5EF4-FFF2-40B4-BE49-F238E27FC236}">
                <a16:creationId xmlns:a16="http://schemas.microsoft.com/office/drawing/2014/main" id="{817CFB22-7120-98E0-28A0-B2846D705332}"/>
              </a:ext>
            </a:extLst>
          </p:cNvPr>
          <p:cNvPicPr>
            <a:picLocks noChangeAspect="1"/>
          </p:cNvPicPr>
          <p:nvPr/>
        </p:nvPicPr>
        <p:blipFill>
          <a:blip r:embed="rId2"/>
          <a:stretch>
            <a:fillRect/>
          </a:stretch>
        </p:blipFill>
        <p:spPr>
          <a:xfrm>
            <a:off x="541020" y="98814"/>
            <a:ext cx="2246544" cy="594519"/>
          </a:xfrm>
          <a:prstGeom prst="rect">
            <a:avLst/>
          </a:prstGeom>
        </p:spPr>
      </p:pic>
      <p:sp>
        <p:nvSpPr>
          <p:cNvPr id="10" name="ZoneTexte 9">
            <a:extLst>
              <a:ext uri="{FF2B5EF4-FFF2-40B4-BE49-F238E27FC236}">
                <a16:creationId xmlns:a16="http://schemas.microsoft.com/office/drawing/2014/main" id="{1147441E-EB60-834B-A212-FEB2AE7674A6}"/>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7. CONCLUSION</a:t>
            </a:r>
          </a:p>
        </p:txBody>
      </p:sp>
    </p:spTree>
    <p:extLst>
      <p:ext uri="{BB962C8B-B14F-4D97-AF65-F5344CB8AC3E}">
        <p14:creationId xmlns:p14="http://schemas.microsoft.com/office/powerpoint/2010/main" val="558438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52C91-0089-0146-6D00-223F59B168FE}"/>
            </a:ext>
          </a:extLst>
        </p:cNvPr>
        <p:cNvGrpSpPr/>
        <p:nvPr/>
      </p:nvGrpSpPr>
      <p:grpSpPr>
        <a:xfrm>
          <a:off x="0" y="0"/>
          <a:ext cx="0" cy="0"/>
          <a:chOff x="0" y="0"/>
          <a:chExt cx="0" cy="0"/>
        </a:xfrm>
      </p:grpSpPr>
      <p:sp>
        <p:nvSpPr>
          <p:cNvPr id="2" name="Espace réservé du pied de page 5">
            <a:extLst>
              <a:ext uri="{FF2B5EF4-FFF2-40B4-BE49-F238E27FC236}">
                <a16:creationId xmlns:a16="http://schemas.microsoft.com/office/drawing/2014/main" id="{F1AFE5B6-6FC4-A9D1-292F-E585D60E4B7D}"/>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A98B4838-D0D4-5DE7-1A69-80DA6B90DD85}"/>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17</a:t>
            </a:fld>
            <a:endParaRPr lang="fr-FR" sz="965" dirty="0"/>
          </a:p>
        </p:txBody>
      </p:sp>
      <p:sp>
        <p:nvSpPr>
          <p:cNvPr id="4" name="ZoneTexte 3">
            <a:extLst>
              <a:ext uri="{FF2B5EF4-FFF2-40B4-BE49-F238E27FC236}">
                <a16:creationId xmlns:a16="http://schemas.microsoft.com/office/drawing/2014/main" id="{2A94DA64-5329-F300-0829-68DB2D315068}"/>
              </a:ext>
            </a:extLst>
          </p:cNvPr>
          <p:cNvSpPr txBox="1"/>
          <p:nvPr/>
        </p:nvSpPr>
        <p:spPr>
          <a:xfrm>
            <a:off x="541020" y="1225624"/>
            <a:ext cx="6484620" cy="8745471"/>
          </a:xfrm>
          <a:prstGeom prst="rect">
            <a:avLst/>
          </a:prstGeom>
          <a:noFill/>
        </p:spPr>
        <p:txBody>
          <a:bodyPr wrap="square">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8.1 Ma Prime Rénov’Copropriétés</a:t>
            </a:r>
          </a:p>
          <a:p>
            <a:br>
              <a:rPr lang="fr-FR" sz="965" dirty="0"/>
            </a:br>
            <a:endParaRPr lang="fr-FR" sz="965" dirty="0"/>
          </a:p>
          <a:p>
            <a:endParaRPr lang="fr-FR" sz="965" dirty="0">
              <a:solidFill>
                <a:srgbClr val="00B050"/>
              </a:solidFill>
            </a:endParaRPr>
          </a:p>
          <a:p>
            <a:endParaRPr lang="fr-FR" sz="965" dirty="0">
              <a:solidFill>
                <a:srgbClr val="00B050"/>
              </a:solidFill>
            </a:endParaRPr>
          </a:p>
          <a:p>
            <a:endParaRPr lang="fr-FR" sz="965" dirty="0">
              <a:solidFill>
                <a:srgbClr val="00B050"/>
              </a:solidFill>
            </a:endParaRPr>
          </a:p>
          <a:p>
            <a:endParaRPr lang="fr-FR" sz="965" dirty="0">
              <a:solidFill>
                <a:srgbClr val="00B050"/>
              </a:solidFill>
            </a:endParaRPr>
          </a:p>
          <a:p>
            <a:endParaRPr lang="fr-FR" sz="965" dirty="0">
              <a:solidFill>
                <a:srgbClr val="00B050"/>
              </a:solidFill>
            </a:endParaRPr>
          </a:p>
          <a:p>
            <a:endParaRPr lang="fr-FR" sz="965" dirty="0">
              <a:solidFill>
                <a:srgbClr val="00B050"/>
              </a:solidFill>
            </a:endParaRPr>
          </a:p>
          <a:p>
            <a:endParaRPr lang="fr-FR" sz="965" dirty="0">
              <a:solidFill>
                <a:srgbClr val="00B050"/>
              </a:solidFill>
            </a:endParaRPr>
          </a:p>
          <a:p>
            <a:br>
              <a:rPr lang="fr-FR" sz="965" dirty="0">
                <a:solidFill>
                  <a:srgbClr val="00B050"/>
                </a:solidFill>
              </a:rPr>
            </a:br>
            <a:endParaRPr lang="fr-FR" sz="965" b="1" dirty="0">
              <a:solidFill>
                <a:srgbClr val="00B050"/>
              </a:solidFill>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Conditions d’éligibilité :</a:t>
            </a:r>
            <a:br>
              <a:rPr lang="fr-FR" sz="1000" dirty="0">
                <a:latin typeface="Calibri" panose="020F0502020204030204" pitchFamily="34" charset="0"/>
                <a:ea typeface="Calibri" panose="020F0502020204030204" pitchFamily="34" charset="0"/>
                <a:cs typeface="Calibri" panose="020F0502020204030204" pitchFamily="34" charset="0"/>
              </a:rPr>
            </a:br>
            <a:r>
              <a:rPr lang="fr-FR" sz="1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fr-FR" sz="1000" dirty="0">
                <a:latin typeface="Calibri" panose="020F0502020204030204" pitchFamily="34" charset="0"/>
                <a:ea typeface="Calibri" panose="020F0502020204030204" pitchFamily="34" charset="0"/>
                <a:cs typeface="Calibri" panose="020F0502020204030204" pitchFamily="34" charset="0"/>
              </a:rPr>
              <a:t>Travaux de rénovation globale, qui garantissent une amélioration significative du confort et de la performance énergétique de la copropriété (35 % minimum de gain énergétique après travaux).</a:t>
            </a:r>
            <a:br>
              <a:rPr lang="fr-FR" sz="1000" dirty="0">
                <a:latin typeface="Calibri" panose="020F0502020204030204" pitchFamily="34" charset="0"/>
                <a:ea typeface="Calibri" panose="020F0502020204030204" pitchFamily="34" charset="0"/>
                <a:cs typeface="Calibri" panose="020F0502020204030204" pitchFamily="34" charset="0"/>
              </a:rPr>
            </a:br>
            <a:r>
              <a:rPr lang="fr-FR" sz="1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fr-FR" sz="1000" dirty="0">
                <a:latin typeface="Calibri" panose="020F0502020204030204" pitchFamily="34" charset="0"/>
                <a:ea typeface="Calibri" panose="020F0502020204030204" pitchFamily="34" charset="0"/>
                <a:cs typeface="Calibri" panose="020F0502020204030204" pitchFamily="34" charset="0"/>
              </a:rPr>
              <a:t>Être composée d’au moins 65 % de résidences principales (pour les copropriétés de 20 lots ou moins) ou d’au moins 75 % pour les copropriétés de plus de 20 lots.</a:t>
            </a:r>
            <a:br>
              <a:rPr lang="fr-FR" sz="1000" dirty="0">
                <a:latin typeface="Calibri" panose="020F0502020204030204" pitchFamily="34" charset="0"/>
                <a:ea typeface="Calibri" panose="020F0502020204030204" pitchFamily="34" charset="0"/>
                <a:cs typeface="Calibri" panose="020F0502020204030204" pitchFamily="34" charset="0"/>
              </a:rPr>
            </a:br>
            <a:r>
              <a:rPr lang="fr-FR" sz="1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fr-FR" sz="1000" dirty="0">
                <a:latin typeface="Calibri" panose="020F0502020204030204" pitchFamily="34" charset="0"/>
                <a:ea typeface="Calibri" panose="020F0502020204030204" pitchFamily="34" charset="0"/>
                <a:cs typeface="Calibri" panose="020F0502020204030204" pitchFamily="34" charset="0"/>
              </a:rPr>
              <a:t>Copropriété immatriculée au registre national des copropriétés.</a:t>
            </a: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9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Les principales étapes sont les suivantes :</a:t>
            </a:r>
            <a:endParaRPr lang="fr-FR" sz="1000"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Vérifier que la copropriété est immatriculée au registre national des copropriétés.</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Faire voter les travaux en assemblée générale à la majorité requise.</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Désigner un Assistant à Maîtrise d'Ouvrage (AMO), dont l'accompagnement est obligatoire dans le cadre du dispositif.</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Constituer et déposer le dossier de demande d'aide comprenant notamment l'audit énergétique, les devis et les pièces administratives demandées.</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Attendre la notification d'accord de l'Anah avant d'engager les travaux.</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Une fois les travaux réalisés et les aides versées, le syndic répartit les montants obtenus entre les copropriétaires selon les règles de répartition applicables dans la copropriété.</a:t>
            </a: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Pour en savoir plus :</a:t>
            </a:r>
          </a:p>
          <a:p>
            <a:r>
              <a:rPr lang="fr-FR" sz="1000" dirty="0">
                <a:latin typeface="Calibri" panose="020F0502020204030204" pitchFamily="34" charset="0"/>
                <a:ea typeface="Calibri" panose="020F0502020204030204" pitchFamily="34" charset="0"/>
                <a:cs typeface="Calibri" panose="020F0502020204030204" pitchFamily="34" charset="0"/>
                <a:hlinkClick r:id="rId2"/>
              </a:rPr>
              <a:t>MaPrimeRénov’ Copropriété : tout savoir sur l’aide à la rénovation des parties communes | economie.gouv.fr</a:t>
            </a:r>
            <a:endParaRPr lang="fr-FR" sz="1000" b="1" dirty="0">
              <a:latin typeface="Calibri" panose="020F0502020204030204" pitchFamily="34" charset="0"/>
              <a:ea typeface="Calibri" panose="020F0502020204030204" pitchFamily="34" charset="0"/>
              <a:cs typeface="Calibri" panose="020F0502020204030204" pitchFamily="34" charset="0"/>
            </a:endParaRPr>
          </a:p>
        </p:txBody>
      </p:sp>
      <p:pic>
        <p:nvPicPr>
          <p:cNvPr id="6" name="Image 5">
            <a:extLst>
              <a:ext uri="{FF2B5EF4-FFF2-40B4-BE49-F238E27FC236}">
                <a16:creationId xmlns:a16="http://schemas.microsoft.com/office/drawing/2014/main" id="{46CF4E2F-B7A7-F149-741A-EDE8E2E43F75}"/>
              </a:ext>
            </a:extLst>
          </p:cNvPr>
          <p:cNvPicPr>
            <a:picLocks noChangeAspect="1"/>
          </p:cNvPicPr>
          <p:nvPr/>
        </p:nvPicPr>
        <p:blipFill rotWithShape="1">
          <a:blip r:embed="rId3"/>
          <a:srcRect l="4891" t="3804" b="3250"/>
          <a:stretch/>
        </p:blipFill>
        <p:spPr>
          <a:xfrm>
            <a:off x="4313775" y="1807617"/>
            <a:ext cx="2409800" cy="1060848"/>
          </a:xfrm>
          <a:prstGeom prst="rect">
            <a:avLst/>
          </a:prstGeom>
        </p:spPr>
      </p:pic>
      <p:pic>
        <p:nvPicPr>
          <p:cNvPr id="13" name="Image 12">
            <a:extLst>
              <a:ext uri="{FF2B5EF4-FFF2-40B4-BE49-F238E27FC236}">
                <a16:creationId xmlns:a16="http://schemas.microsoft.com/office/drawing/2014/main" id="{F68E90C4-A276-4A00-1F02-D609626C18B7}"/>
              </a:ext>
            </a:extLst>
          </p:cNvPr>
          <p:cNvPicPr>
            <a:picLocks noChangeAspect="1"/>
          </p:cNvPicPr>
          <p:nvPr/>
        </p:nvPicPr>
        <p:blipFill>
          <a:blip r:embed="rId4"/>
          <a:stretch>
            <a:fillRect/>
          </a:stretch>
        </p:blipFill>
        <p:spPr>
          <a:xfrm>
            <a:off x="589671" y="4126492"/>
            <a:ext cx="6484620" cy="3696856"/>
          </a:xfrm>
          <a:prstGeom prst="rect">
            <a:avLst/>
          </a:prstGeom>
        </p:spPr>
      </p:pic>
      <p:sp>
        <p:nvSpPr>
          <p:cNvPr id="15" name="ZoneTexte 14">
            <a:extLst>
              <a:ext uri="{FF2B5EF4-FFF2-40B4-BE49-F238E27FC236}">
                <a16:creationId xmlns:a16="http://schemas.microsoft.com/office/drawing/2014/main" id="{82549B6D-C703-54BA-02E6-2C57BB148B44}"/>
              </a:ext>
            </a:extLst>
          </p:cNvPr>
          <p:cNvSpPr txBox="1"/>
          <p:nvPr/>
        </p:nvSpPr>
        <p:spPr>
          <a:xfrm>
            <a:off x="541020" y="1599377"/>
            <a:ext cx="3470691" cy="1323439"/>
          </a:xfrm>
          <a:prstGeom prst="rect">
            <a:avLst/>
          </a:prstGeom>
          <a:noFill/>
        </p:spPr>
        <p:txBody>
          <a:bodyPr wrap="square">
            <a:spAutoFit/>
          </a:bodyPr>
          <a:lstStyle/>
          <a:p>
            <a:pPr algn="just"/>
            <a:r>
              <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rPr>
              <a:t>Cette prime peut également être versée au syndicat de copropriété lorsque le raccordement s’inscrit dans le cadre d’une opération plus large de rénovation énergétique globale. </a:t>
            </a:r>
          </a:p>
          <a:p>
            <a:pPr algn="just"/>
            <a:endPar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endParaRPr>
          </a:p>
          <a:p>
            <a:pPr algn="just"/>
            <a:r>
              <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rPr>
              <a:t>Elle dépend du coût des travaux, de la situation de la copropriété et du nombre de logements. Un audit énergétique réglementaire et une assistance à maîtrise d’ouvrage est obligatoire.</a:t>
            </a:r>
          </a:p>
        </p:txBody>
      </p:sp>
      <p:pic>
        <p:nvPicPr>
          <p:cNvPr id="5" name="Image 4">
            <a:extLst>
              <a:ext uri="{FF2B5EF4-FFF2-40B4-BE49-F238E27FC236}">
                <a16:creationId xmlns:a16="http://schemas.microsoft.com/office/drawing/2014/main" id="{25AB630F-9E44-69E1-5C8F-E020CF08B6EA}"/>
              </a:ext>
            </a:extLst>
          </p:cNvPr>
          <p:cNvPicPr>
            <a:picLocks noChangeAspect="1"/>
          </p:cNvPicPr>
          <p:nvPr/>
        </p:nvPicPr>
        <p:blipFill>
          <a:blip r:embed="rId5"/>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497116A1-1795-A7CC-C1B8-87C5124DFF7A}"/>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8. FINANCEMENTS À LA RÉNOVATION ÉNERGÉTIQUE</a:t>
            </a:r>
          </a:p>
        </p:txBody>
      </p:sp>
    </p:spTree>
    <p:extLst>
      <p:ext uri="{BB962C8B-B14F-4D97-AF65-F5344CB8AC3E}">
        <p14:creationId xmlns:p14="http://schemas.microsoft.com/office/powerpoint/2010/main" val="1810044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09B6B-3B31-99C0-0428-CE687329DA3C}"/>
            </a:ext>
          </a:extLst>
        </p:cNvPr>
        <p:cNvGrpSpPr/>
        <p:nvPr/>
      </p:nvGrpSpPr>
      <p:grpSpPr>
        <a:xfrm>
          <a:off x="0" y="0"/>
          <a:ext cx="0" cy="0"/>
          <a:chOff x="0" y="0"/>
          <a:chExt cx="0" cy="0"/>
        </a:xfrm>
      </p:grpSpPr>
      <p:sp>
        <p:nvSpPr>
          <p:cNvPr id="2" name="Espace réservé du pied de page 5">
            <a:extLst>
              <a:ext uri="{FF2B5EF4-FFF2-40B4-BE49-F238E27FC236}">
                <a16:creationId xmlns:a16="http://schemas.microsoft.com/office/drawing/2014/main" id="{2F26DA4D-A982-3908-EE45-6C05A4DABDA4}"/>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778E68FF-9AE5-A8BA-D34F-A9156494D541}"/>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18</a:t>
            </a:fld>
            <a:endParaRPr lang="fr-FR" sz="965" dirty="0"/>
          </a:p>
        </p:txBody>
      </p:sp>
      <p:sp>
        <p:nvSpPr>
          <p:cNvPr id="4" name="ZoneTexte 3">
            <a:extLst>
              <a:ext uri="{FF2B5EF4-FFF2-40B4-BE49-F238E27FC236}">
                <a16:creationId xmlns:a16="http://schemas.microsoft.com/office/drawing/2014/main" id="{5F20F2E4-7992-6206-2AA4-92FBF76E7804}"/>
              </a:ext>
            </a:extLst>
          </p:cNvPr>
          <p:cNvSpPr txBox="1"/>
          <p:nvPr/>
        </p:nvSpPr>
        <p:spPr>
          <a:xfrm>
            <a:off x="541019" y="1225623"/>
            <a:ext cx="6484619" cy="7638822"/>
          </a:xfrm>
          <a:prstGeom prst="rect">
            <a:avLst/>
          </a:prstGeom>
          <a:noFill/>
        </p:spPr>
        <p:txBody>
          <a:bodyPr wrap="square">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8.2 Les Certificats d’Économies d’Énergie</a:t>
            </a:r>
          </a:p>
          <a:p>
            <a:endParaRPr lang="fr-FR" sz="1228"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Les CEE poste par poste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dirty="0">
                <a:latin typeface="Calibri" panose="020F0502020204030204" pitchFamily="34" charset="0"/>
                <a:ea typeface="Calibri" panose="020F0502020204030204" pitchFamily="34" charset="0"/>
                <a:cs typeface="Calibri" panose="020F0502020204030204" pitchFamily="34" charset="0"/>
              </a:rPr>
              <a:t>Les CEE peuvent être obtenus pour des travaux réalisés individuellement, dès lors qu'ils respectent les critères de performance définis par la réglementation.</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dirty="0">
                <a:latin typeface="Calibri" panose="020F0502020204030204" pitchFamily="34" charset="0"/>
                <a:ea typeface="Calibri" panose="020F0502020204030204" pitchFamily="34" charset="0"/>
                <a:cs typeface="Calibri" panose="020F0502020204030204" pitchFamily="34" charset="0"/>
              </a:rPr>
              <a:t>Les opérations les plus couramment éligibles sont notamment :</a:t>
            </a:r>
          </a:p>
          <a:p>
            <a:pPr marL="150362" indent="-150362" algn="just">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L'isolation des murs, toitures, combles et planchers bas ;</a:t>
            </a:r>
          </a:p>
          <a:p>
            <a:pPr marL="150362" indent="-150362" algn="just">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 remplacement des menuiseries extérieures ;</a:t>
            </a:r>
          </a:p>
          <a:p>
            <a:pPr marL="150362" indent="-150362" algn="just">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L'amélioration des systèmes de chauffage ;</a:t>
            </a:r>
          </a:p>
          <a:p>
            <a:pPr marL="150362" indent="-150362" algn="just">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L'installation de systèmes de ventilation performants ;</a:t>
            </a:r>
          </a:p>
          <a:p>
            <a:pPr marL="150362" indent="-150362" algn="just">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 raccordement à un réseau de chaleur.</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dirty="0">
                <a:latin typeface="Calibri" panose="020F0502020204030204" pitchFamily="34" charset="0"/>
                <a:ea typeface="Calibri" panose="020F0502020204030204" pitchFamily="34" charset="0"/>
                <a:cs typeface="Calibri" panose="020F0502020204030204" pitchFamily="34" charset="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Les CEE « Rénovation globale » (BAR-TH-177)</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dirty="0">
                <a:latin typeface="Calibri" panose="020F0502020204030204" pitchFamily="34" charset="0"/>
                <a:ea typeface="Calibri" panose="020F0502020204030204" pitchFamily="34" charset="0"/>
                <a:cs typeface="Calibri" panose="020F0502020204030204" pitchFamily="34" charset="0"/>
              </a:rPr>
              <a:t>La fiche BAR-TH-177 – Rénovation globale d'un bâtiment résidentiel collectif concerne les projets de rénovation énergétique portant sur plusieurs postes de travaux simultanément.</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dirty="0">
                <a:latin typeface="Calibri" panose="020F0502020204030204" pitchFamily="34" charset="0"/>
                <a:ea typeface="Calibri" panose="020F0502020204030204" pitchFamily="34" charset="0"/>
                <a:cs typeface="Calibri" panose="020F0502020204030204" pitchFamily="34" charset="0"/>
              </a:rPr>
              <a:t>Pour être éligible, le programme de travaux doit permettre d'atteindre un gain énergétique conventionnel d'au moins 35 % par rapport à la situation initiale du bâtiment, sur la base d'une étude énergétique réglementaire.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dirty="0">
                <a:latin typeface="Calibri" panose="020F0502020204030204" pitchFamily="34" charset="0"/>
                <a:ea typeface="Calibri" panose="020F0502020204030204" pitchFamily="34" charset="0"/>
                <a:cs typeface="Calibri" panose="020F0502020204030204" pitchFamily="34" charset="0"/>
              </a:rPr>
              <a:t>Ce dispositif est généralement mobilisé dans le cadre de rénovations ambitieuses combinant plusieurs actions telles que l'isolation thermique, l'amélioration du système de production de chaleur, la ventilation ou encore la régulation des installations.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dirty="0">
                <a:latin typeface="Calibri" panose="020F0502020204030204" pitchFamily="34" charset="0"/>
                <a:ea typeface="Calibri" panose="020F0502020204030204" pitchFamily="34" charset="0"/>
                <a:cs typeface="Calibri" panose="020F0502020204030204" pitchFamily="34" charset="0"/>
              </a:rPr>
              <a:t>Lorsque les conditions sont réunies, la fiche BAR-TH-177 permet souvent d'obtenir un niveau d'aide plus important qu'une approche reposant uniquement sur des CEE attribués poste par poste.</a:t>
            </a: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Pour en savoir plus :</a:t>
            </a:r>
          </a:p>
          <a:p>
            <a:r>
              <a:rPr lang="fr-FR" sz="1000" dirty="0">
                <a:latin typeface="Calibri" panose="020F0502020204030204" pitchFamily="34" charset="0"/>
                <a:ea typeface="Calibri" panose="020F0502020204030204" pitchFamily="34" charset="0"/>
                <a:cs typeface="Calibri" panose="020F0502020204030204" pitchFamily="34" charset="0"/>
                <a:hlinkClick r:id="rId2"/>
              </a:rPr>
              <a:t>Certificats d'économie d'énergie (CEE) | Service Public</a:t>
            </a:r>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228" b="1" dirty="0"/>
          </a:p>
        </p:txBody>
      </p:sp>
      <p:pic>
        <p:nvPicPr>
          <p:cNvPr id="5" name="Image 4">
            <a:extLst>
              <a:ext uri="{FF2B5EF4-FFF2-40B4-BE49-F238E27FC236}">
                <a16:creationId xmlns:a16="http://schemas.microsoft.com/office/drawing/2014/main" id="{61B139C5-770A-E2E0-C71A-B77A97497358}"/>
              </a:ext>
            </a:extLst>
          </p:cNvPr>
          <p:cNvPicPr>
            <a:picLocks noChangeAspect="1"/>
          </p:cNvPicPr>
          <p:nvPr/>
        </p:nvPicPr>
        <p:blipFill>
          <a:blip r:embed="rId3"/>
          <a:stretch>
            <a:fillRect/>
          </a:stretch>
        </p:blipFill>
        <p:spPr>
          <a:xfrm>
            <a:off x="4514587" y="1911188"/>
            <a:ext cx="2056953" cy="865010"/>
          </a:xfrm>
          <a:prstGeom prst="rect">
            <a:avLst/>
          </a:prstGeom>
        </p:spPr>
      </p:pic>
      <p:sp>
        <p:nvSpPr>
          <p:cNvPr id="7" name="ZoneTexte 6">
            <a:extLst>
              <a:ext uri="{FF2B5EF4-FFF2-40B4-BE49-F238E27FC236}">
                <a16:creationId xmlns:a16="http://schemas.microsoft.com/office/drawing/2014/main" id="{9BFF6BB9-362A-6A64-7D5F-53853C33B043}"/>
              </a:ext>
            </a:extLst>
          </p:cNvPr>
          <p:cNvSpPr txBox="1"/>
          <p:nvPr/>
        </p:nvSpPr>
        <p:spPr>
          <a:xfrm>
            <a:off x="541019" y="1605029"/>
            <a:ext cx="3519471" cy="1323439"/>
          </a:xfrm>
          <a:prstGeom prst="rect">
            <a:avLst/>
          </a:prstGeom>
          <a:noFill/>
        </p:spPr>
        <p:txBody>
          <a:bodyPr wrap="square">
            <a:spAutoFit/>
          </a:bodyPr>
          <a:lstStyle/>
          <a:p>
            <a:pPr algn="just"/>
            <a:r>
              <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rPr>
              <a:t>Les Certificats d'Économies d'Énergie (CEE) constituent un dispositif national destiné à encourager la réalisation de travaux d'amélioration énergétique.</a:t>
            </a:r>
          </a:p>
          <a:p>
            <a:pPr algn="just"/>
            <a:endPar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endParaRPr>
          </a:p>
          <a:p>
            <a:pPr algn="just"/>
            <a:r>
              <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rPr>
              <a:t> Ce mécanisme repose sur le principe du « pollueur-payeur » : les fournisseurs d'énergie (électricité, gaz, fioul, carburants, etc.), appelés « obligés », sont tenus par l'État de financer des actions permettant de réduire les consommations énergétiques.</a:t>
            </a:r>
          </a:p>
        </p:txBody>
      </p:sp>
      <p:pic>
        <p:nvPicPr>
          <p:cNvPr id="6" name="Image 5">
            <a:extLst>
              <a:ext uri="{FF2B5EF4-FFF2-40B4-BE49-F238E27FC236}">
                <a16:creationId xmlns:a16="http://schemas.microsoft.com/office/drawing/2014/main" id="{45B01E64-3720-644C-49B0-0ABDE2AB4AF4}"/>
              </a:ext>
            </a:extLst>
          </p:cNvPr>
          <p:cNvPicPr>
            <a:picLocks noChangeAspect="1"/>
          </p:cNvPicPr>
          <p:nvPr/>
        </p:nvPicPr>
        <p:blipFill>
          <a:blip r:embed="rId4"/>
          <a:stretch>
            <a:fillRect/>
          </a:stretch>
        </p:blipFill>
        <p:spPr>
          <a:xfrm>
            <a:off x="541020" y="98814"/>
            <a:ext cx="2246544" cy="594519"/>
          </a:xfrm>
          <a:prstGeom prst="rect">
            <a:avLst/>
          </a:prstGeom>
        </p:spPr>
      </p:pic>
      <p:sp>
        <p:nvSpPr>
          <p:cNvPr id="8" name="ZoneTexte 7">
            <a:extLst>
              <a:ext uri="{FF2B5EF4-FFF2-40B4-BE49-F238E27FC236}">
                <a16:creationId xmlns:a16="http://schemas.microsoft.com/office/drawing/2014/main" id="{63981CE0-6603-5F81-B631-1FCD4DA8791F}"/>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8. FINANCEMENTS À LA RÉNOVATION ÉNERGÉTIQUE</a:t>
            </a:r>
          </a:p>
        </p:txBody>
      </p:sp>
    </p:spTree>
    <p:extLst>
      <p:ext uri="{BB962C8B-B14F-4D97-AF65-F5344CB8AC3E}">
        <p14:creationId xmlns:p14="http://schemas.microsoft.com/office/powerpoint/2010/main" val="2558743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BAC9C-159A-3429-95E1-5590072E73D1}"/>
            </a:ext>
          </a:extLst>
        </p:cNvPr>
        <p:cNvGrpSpPr/>
        <p:nvPr/>
      </p:nvGrpSpPr>
      <p:grpSpPr>
        <a:xfrm>
          <a:off x="0" y="0"/>
          <a:ext cx="0" cy="0"/>
          <a:chOff x="0" y="0"/>
          <a:chExt cx="0" cy="0"/>
        </a:xfrm>
      </p:grpSpPr>
      <p:sp>
        <p:nvSpPr>
          <p:cNvPr id="2" name="Espace réservé du pied de page 5">
            <a:extLst>
              <a:ext uri="{FF2B5EF4-FFF2-40B4-BE49-F238E27FC236}">
                <a16:creationId xmlns:a16="http://schemas.microsoft.com/office/drawing/2014/main" id="{FE7431C5-2C60-FC52-2FEE-8504B7B05753}"/>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FB56624D-785C-AB56-2CEE-9B2613E89890}"/>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19</a:t>
            </a:fld>
            <a:endParaRPr lang="fr-FR" sz="965" dirty="0"/>
          </a:p>
        </p:txBody>
      </p:sp>
      <p:sp>
        <p:nvSpPr>
          <p:cNvPr id="4" name="ZoneTexte 3">
            <a:extLst>
              <a:ext uri="{FF2B5EF4-FFF2-40B4-BE49-F238E27FC236}">
                <a16:creationId xmlns:a16="http://schemas.microsoft.com/office/drawing/2014/main" id="{663698D8-FD8A-CE2A-1BF0-B2F8FCA5AB38}"/>
              </a:ext>
            </a:extLst>
          </p:cNvPr>
          <p:cNvSpPr txBox="1"/>
          <p:nvPr/>
        </p:nvSpPr>
        <p:spPr>
          <a:xfrm>
            <a:off x="541020" y="1302083"/>
            <a:ext cx="6484620" cy="8413522"/>
          </a:xfrm>
          <a:prstGeom prst="rect">
            <a:avLst/>
          </a:prstGeom>
          <a:noFill/>
        </p:spPr>
        <p:txBody>
          <a:bodyPr wrap="square" anchor="ctr">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8.3 L’Éco-Prêt à Taux Zéro Copropriété</a:t>
            </a:r>
          </a:p>
          <a:p>
            <a:endParaRPr lang="fr-FR" sz="1228"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dirty="0">
              <a:latin typeface="Calibri" panose="020F0502020204030204" pitchFamily="34" charset="0"/>
              <a:ea typeface="Calibri" panose="020F0502020204030204" pitchFamily="34" charset="0"/>
              <a:cs typeface="Calibri" panose="020F0502020204030204" pitchFamily="34" charset="0"/>
            </a:endParaRPr>
          </a:p>
          <a:p>
            <a:pPr algn="just"/>
            <a:endParaRPr lang="fr-FR" sz="965"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endPar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Conditions d'éligibilité</a:t>
            </a:r>
          </a:p>
          <a:p>
            <a:r>
              <a:rPr lang="fr-FR" sz="1000" dirty="0">
                <a:latin typeface="Calibri" panose="020F0502020204030204" pitchFamily="34" charset="0"/>
                <a:ea typeface="Calibri" panose="020F0502020204030204" pitchFamily="34" charset="0"/>
                <a:cs typeface="Calibri" panose="020F0502020204030204" pitchFamily="34" charset="0"/>
              </a:rPr>
              <a:t>Pour bénéficier de l'Éco-PTZ Copropriété dans le cadre d'une rénovation globale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 bâtiment doit être achevé depuis plus de 2 ans à la date de début des travaux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Les logements doivent être utilisés ou destinés à être utilisés en tant que résidences principales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Les travaux doivent être votés en assemblée générale des copropriétaires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Une étude ou un audit énergétique préalable doit être réalisé afin de démontrer les gains énergétiques attendus.</a:t>
            </a:r>
          </a:p>
          <a:p>
            <a:pPr marL="150362" indent="-150362">
              <a:buFont typeface="Arial" panose="020B0604020202020204" pitchFamily="34" charset="0"/>
              <a:buChar char="•"/>
            </a:pPr>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dirty="0">
                <a:latin typeface="Calibri" panose="020F0502020204030204" pitchFamily="34" charset="0"/>
                <a:ea typeface="Calibri" panose="020F0502020204030204" pitchFamily="34" charset="0"/>
                <a:cs typeface="Calibri" panose="020F0502020204030204" pitchFamily="34" charset="0"/>
              </a:rPr>
              <a:t>Les travaux engagés doivent permettre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D'atteindre une consommation conventionnelle annuelle inférieure à 331 kWhEP/m².an pour les usages réglementaires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Ou de justifier un gain énergétique conventionnel d'au moins 35 </a:t>
            </a:r>
            <a:r>
              <a:rPr lang="fr-FR" sz="1000" b="1" dirty="0">
                <a:latin typeface="Calibri" panose="020F0502020204030204" pitchFamily="34" charset="0"/>
                <a:ea typeface="Calibri" panose="020F0502020204030204" pitchFamily="34" charset="0"/>
                <a:cs typeface="Calibri" panose="020F0502020204030204" pitchFamily="34" charset="0"/>
              </a:rPr>
              <a:t>%</a:t>
            </a:r>
            <a:r>
              <a:rPr lang="fr-FR" sz="1000" dirty="0">
                <a:latin typeface="Calibri" panose="020F0502020204030204" pitchFamily="34" charset="0"/>
                <a:ea typeface="Calibri" panose="020F0502020204030204" pitchFamily="34" charset="0"/>
                <a:cs typeface="Calibri" panose="020F0502020204030204" pitchFamily="34" charset="0"/>
              </a:rPr>
              <a:t> par rapport à la situation initiale.</a:t>
            </a:r>
          </a:p>
          <a:p>
            <a:pPr marL="150362" indent="-150362">
              <a:buFont typeface="Arial" panose="020B0604020202020204" pitchFamily="34" charset="0"/>
              <a:buChar char="•"/>
            </a:pPr>
            <a:endParaRPr lang="fr-FR" sz="1000" dirty="0">
              <a:latin typeface="Calibri" panose="020F0502020204030204" pitchFamily="34" charset="0"/>
              <a:ea typeface="Calibri" panose="020F0502020204030204" pitchFamily="34" charset="0"/>
              <a:cs typeface="Calibri" panose="020F0502020204030204" pitchFamily="34" charset="0"/>
            </a:endParaRPr>
          </a:p>
          <a:p>
            <a:pPr marL="150362" indent="-150362">
              <a:buFont typeface="Arial" panose="020B0604020202020204" pitchFamily="34" charset="0"/>
              <a:buChar char="•"/>
            </a:pPr>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Montant et durée du prêt</a:t>
            </a:r>
          </a:p>
          <a:p>
            <a:r>
              <a:rPr lang="fr-FR" sz="1000" dirty="0">
                <a:latin typeface="Calibri" panose="020F0502020204030204" pitchFamily="34" charset="0"/>
                <a:ea typeface="Calibri" panose="020F0502020204030204" pitchFamily="34" charset="0"/>
                <a:cs typeface="Calibri" panose="020F0502020204030204" pitchFamily="34" charset="0"/>
              </a:rPr>
              <a:t>Dans le cadre d'une rénovation globale, l'Éco-PTZ peut atteindre jusqu'à 50 000 € par logement. La durée de remboursement peut être étalée jusqu'à 20 ans, permettant ainsi de lisser l'investissement dans le temps.</a:t>
            </a: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dirty="0">
                <a:latin typeface="Calibri" panose="020F0502020204030204" pitchFamily="34" charset="0"/>
                <a:ea typeface="Calibri" panose="020F0502020204030204" pitchFamily="34" charset="0"/>
                <a:cs typeface="Calibri" panose="020F0502020204030204" pitchFamily="34" charset="0"/>
              </a:rPr>
              <a:t>Le montant de l'Éco-PTZ individuel éventuellement souscrit par un copropriétaire et sa quote-part dans l'Éco-PTZ Copropriété ne peuvent pas dépasser ce plafond global.</a:t>
            </a: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Fonctionnement en copropriété</a:t>
            </a:r>
          </a:p>
          <a:p>
            <a:r>
              <a:rPr lang="fr-FR" sz="1000" dirty="0">
                <a:latin typeface="Calibri" panose="020F0502020204030204" pitchFamily="34" charset="0"/>
                <a:ea typeface="Calibri" panose="020F0502020204030204" pitchFamily="34" charset="0"/>
                <a:cs typeface="Calibri" panose="020F0502020204030204" pitchFamily="34" charset="0"/>
              </a:rPr>
              <a:t>La souscription de l'Éco-PTZ Copropriété doit être approuvée en assemblée générale. Le prêt est contracté par le syndicat des copropriétaires puis réparti entre les copropriétaires selon leurs tantièmes ou les règles de répartition applicables.</a:t>
            </a: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dirty="0">
                <a:latin typeface="Calibri" panose="020F0502020204030204" pitchFamily="34" charset="0"/>
                <a:ea typeface="Calibri" panose="020F0502020204030204" pitchFamily="34" charset="0"/>
                <a:cs typeface="Calibri" panose="020F0502020204030204" pitchFamily="34" charset="0"/>
              </a:rPr>
              <a:t>Ce dispositif permet ainsi de financer le reste à charge après déduction des subventions obtenues, tout en limitant l'effort financier immédiat demandé aux copropriétaires.</a:t>
            </a: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À retenir</a:t>
            </a:r>
          </a:p>
          <a:p>
            <a:r>
              <a:rPr lang="fr-FR" sz="1000" dirty="0">
                <a:latin typeface="Calibri" panose="020F0502020204030204" pitchFamily="34" charset="0"/>
                <a:ea typeface="Calibri" panose="020F0502020204030204" pitchFamily="34" charset="0"/>
                <a:cs typeface="Calibri" panose="020F0502020204030204" pitchFamily="34" charset="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Pour en savoir plus :</a:t>
            </a:r>
          </a:p>
          <a:p>
            <a:r>
              <a:rPr lang="fr-FR" sz="1000" dirty="0">
                <a:latin typeface="Calibri" panose="020F0502020204030204" pitchFamily="34" charset="0"/>
                <a:ea typeface="Calibri" panose="020F0502020204030204" pitchFamily="34" charset="0"/>
                <a:cs typeface="Calibri" panose="020F0502020204030204" pitchFamily="34" charset="0"/>
                <a:hlinkClick r:id="rId2"/>
              </a:rPr>
              <a:t>Éco-prêt à taux zéro (éco-PTZ) Copropriétés | Service Public</a:t>
            </a:r>
            <a:endParaRPr lang="fr-FR" sz="1000" b="1" dirty="0">
              <a:latin typeface="Calibri" panose="020F0502020204030204" pitchFamily="34" charset="0"/>
              <a:ea typeface="Calibri" panose="020F0502020204030204" pitchFamily="34" charset="0"/>
              <a:cs typeface="Calibri" panose="020F0502020204030204" pitchFamily="34" charset="0"/>
            </a:endParaRPr>
          </a:p>
        </p:txBody>
      </p:sp>
      <p:sp>
        <p:nvSpPr>
          <p:cNvPr id="7" name="ZoneTexte 6">
            <a:extLst>
              <a:ext uri="{FF2B5EF4-FFF2-40B4-BE49-F238E27FC236}">
                <a16:creationId xmlns:a16="http://schemas.microsoft.com/office/drawing/2014/main" id="{0DC2FBA6-3A3C-D348-23F4-D3B7F8EB40EF}"/>
              </a:ext>
            </a:extLst>
          </p:cNvPr>
          <p:cNvSpPr txBox="1"/>
          <p:nvPr/>
        </p:nvSpPr>
        <p:spPr>
          <a:xfrm>
            <a:off x="534035" y="1806412"/>
            <a:ext cx="3877001" cy="1938992"/>
          </a:xfrm>
          <a:prstGeom prst="rect">
            <a:avLst/>
          </a:prstGeom>
          <a:noFill/>
        </p:spPr>
        <p:txBody>
          <a:bodyPr wrap="square">
            <a:spAutoFit/>
          </a:bodyPr>
          <a:lstStyle/>
          <a:p>
            <a:pPr algn="just"/>
            <a:r>
              <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p>
          <a:p>
            <a:pPr algn="just"/>
            <a:endPar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endParaRPr>
          </a:p>
          <a:p>
            <a:pPr algn="just"/>
            <a:r>
              <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rPr>
              <a:t>L'objectif de ce dispositif est de faciliter la réalisation de projets de rénovation énergétique ambitieux en réduisant le reste à charge des copropriétaires et en étalant le financement des travaux sur plusieurs années.</a:t>
            </a:r>
          </a:p>
        </p:txBody>
      </p:sp>
      <p:pic>
        <p:nvPicPr>
          <p:cNvPr id="6" name="Image 5" descr="Une image contenant texte, Police, logo, Graphique&#10;&#10;Description générée automatiquement">
            <a:extLst>
              <a:ext uri="{FF2B5EF4-FFF2-40B4-BE49-F238E27FC236}">
                <a16:creationId xmlns:a16="http://schemas.microsoft.com/office/drawing/2014/main" id="{EE3EBBF2-4EED-A783-23BA-5E8E07DDA864}"/>
              </a:ext>
            </a:extLst>
          </p:cNvPr>
          <p:cNvPicPr>
            <a:picLocks noChangeAspect="1"/>
          </p:cNvPicPr>
          <p:nvPr/>
        </p:nvPicPr>
        <p:blipFill rotWithShape="1">
          <a:blip r:embed="rId3"/>
          <a:srcRect l="27500" t="8024" r="28333" b="7284"/>
          <a:stretch/>
        </p:blipFill>
        <p:spPr>
          <a:xfrm>
            <a:off x="5040384" y="1943058"/>
            <a:ext cx="1355907" cy="1462503"/>
          </a:xfrm>
          <a:prstGeom prst="rect">
            <a:avLst/>
          </a:prstGeom>
        </p:spPr>
      </p:pic>
      <p:pic>
        <p:nvPicPr>
          <p:cNvPr id="5" name="Image 4">
            <a:extLst>
              <a:ext uri="{FF2B5EF4-FFF2-40B4-BE49-F238E27FC236}">
                <a16:creationId xmlns:a16="http://schemas.microsoft.com/office/drawing/2014/main" id="{1CF90057-09EA-64A6-0E1D-23D522979BE7}"/>
              </a:ext>
            </a:extLst>
          </p:cNvPr>
          <p:cNvPicPr>
            <a:picLocks noChangeAspect="1"/>
          </p:cNvPicPr>
          <p:nvPr/>
        </p:nvPicPr>
        <p:blipFill>
          <a:blip r:embed="rId4"/>
          <a:stretch>
            <a:fillRect/>
          </a:stretch>
        </p:blipFill>
        <p:spPr>
          <a:xfrm>
            <a:off x="541020" y="98814"/>
            <a:ext cx="2246544" cy="594519"/>
          </a:xfrm>
          <a:prstGeom prst="rect">
            <a:avLst/>
          </a:prstGeom>
        </p:spPr>
      </p:pic>
      <p:sp>
        <p:nvSpPr>
          <p:cNvPr id="8" name="ZoneTexte 7">
            <a:extLst>
              <a:ext uri="{FF2B5EF4-FFF2-40B4-BE49-F238E27FC236}">
                <a16:creationId xmlns:a16="http://schemas.microsoft.com/office/drawing/2014/main" id="{CDDD8F5B-CB08-62AE-0D3E-3497B070A878}"/>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8. FINANCEMENTS À LA RÉNOVATION ÉNERGÉTIQUE</a:t>
            </a:r>
          </a:p>
        </p:txBody>
      </p:sp>
    </p:spTree>
    <p:extLst>
      <p:ext uri="{BB962C8B-B14F-4D97-AF65-F5344CB8AC3E}">
        <p14:creationId xmlns:p14="http://schemas.microsoft.com/office/powerpoint/2010/main" val="432119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3985D-C75A-1C8F-4484-808218D40A51}"/>
            </a:ext>
          </a:extLst>
        </p:cNvPr>
        <p:cNvGrpSpPr/>
        <p:nvPr/>
      </p:nvGrpSpPr>
      <p:grpSpPr>
        <a:xfrm>
          <a:off x="0" y="0"/>
          <a:ext cx="0" cy="0"/>
          <a:chOff x="0" y="0"/>
          <a:chExt cx="0" cy="0"/>
        </a:xfrm>
      </p:grpSpPr>
      <p:sp>
        <p:nvSpPr>
          <p:cNvPr id="2" name="Espace réservé du pied de page 5">
            <a:extLst>
              <a:ext uri="{FF2B5EF4-FFF2-40B4-BE49-F238E27FC236}">
                <a16:creationId xmlns:a16="http://schemas.microsoft.com/office/drawing/2014/main" id="{246FDDC2-6EE4-03DC-F5B7-58BFB9B0E1A2}"/>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3" name="Espace réservé du numéro de diapositive 6">
            <a:extLst>
              <a:ext uri="{FF2B5EF4-FFF2-40B4-BE49-F238E27FC236}">
                <a16:creationId xmlns:a16="http://schemas.microsoft.com/office/drawing/2014/main" id="{42623D92-6907-4B62-6389-F07617AB1FC2}"/>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20</a:t>
            </a:fld>
            <a:endParaRPr lang="fr-FR" sz="965" dirty="0"/>
          </a:p>
        </p:txBody>
      </p:sp>
      <p:sp>
        <p:nvSpPr>
          <p:cNvPr id="4" name="ZoneTexte 3">
            <a:extLst>
              <a:ext uri="{FF2B5EF4-FFF2-40B4-BE49-F238E27FC236}">
                <a16:creationId xmlns:a16="http://schemas.microsoft.com/office/drawing/2014/main" id="{C6809A7B-63FC-EF04-7EFB-1C67EC782E43}"/>
              </a:ext>
            </a:extLst>
          </p:cNvPr>
          <p:cNvSpPr txBox="1"/>
          <p:nvPr/>
        </p:nvSpPr>
        <p:spPr>
          <a:xfrm>
            <a:off x="541020" y="1245095"/>
            <a:ext cx="6484620" cy="6847324"/>
          </a:xfrm>
          <a:prstGeom prst="rect">
            <a:avLst/>
          </a:prstGeom>
          <a:noFill/>
        </p:spPr>
        <p:txBody>
          <a:bodyPr wrap="square" anchor="ctr">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8.4 La TVA à taux réduite à 5,5%</a:t>
            </a:r>
          </a:p>
          <a:p>
            <a:endParaRPr lang="fr-FR" sz="1228" b="1" dirty="0">
              <a:latin typeface="Calibri" panose="020F0502020204030204" pitchFamily="34" charset="0"/>
              <a:ea typeface="Calibri" panose="020F0502020204030204" pitchFamily="34" charset="0"/>
              <a:cs typeface="Calibri" panose="020F0502020204030204" pitchFamily="34" charset="0"/>
            </a:endParaRPr>
          </a:p>
          <a:p>
            <a:endParaRPr lang="fr-FR" sz="1228" b="1" dirty="0">
              <a:latin typeface="Calibri" panose="020F0502020204030204" pitchFamily="34" charset="0"/>
              <a:ea typeface="Calibri" panose="020F0502020204030204" pitchFamily="34" charset="0"/>
              <a:cs typeface="Calibri" panose="020F0502020204030204" pitchFamily="34" charset="0"/>
            </a:endParaRPr>
          </a:p>
          <a:p>
            <a:endParaRPr lang="fr-FR" sz="1228" b="1" dirty="0">
              <a:latin typeface="Calibri" panose="020F0502020204030204" pitchFamily="34" charset="0"/>
              <a:ea typeface="Calibri" panose="020F0502020204030204" pitchFamily="34" charset="0"/>
              <a:cs typeface="Calibri" panose="020F0502020204030204" pitchFamily="34" charset="0"/>
            </a:endParaRPr>
          </a:p>
          <a:p>
            <a:endParaRPr lang="fr-FR" sz="1228" b="1" dirty="0">
              <a:latin typeface="Calibri" panose="020F0502020204030204" pitchFamily="34" charset="0"/>
              <a:ea typeface="Calibri" panose="020F0502020204030204" pitchFamily="34" charset="0"/>
              <a:cs typeface="Calibri" panose="020F0502020204030204" pitchFamily="34" charset="0"/>
            </a:endParaRPr>
          </a:p>
          <a:p>
            <a:endParaRPr lang="fr-FR" sz="1228" b="1" dirty="0">
              <a:latin typeface="Calibri" panose="020F0502020204030204" pitchFamily="34" charset="0"/>
              <a:ea typeface="Calibri" panose="020F0502020204030204" pitchFamily="34" charset="0"/>
              <a:cs typeface="Calibri" panose="020F0502020204030204" pitchFamily="34" charset="0"/>
            </a:endParaRPr>
          </a:p>
          <a:p>
            <a:endParaRPr lang="fr-FR" sz="1228" b="1" dirty="0">
              <a:latin typeface="Calibri" panose="020F0502020204030204" pitchFamily="34" charset="0"/>
              <a:ea typeface="Calibri" panose="020F0502020204030204" pitchFamily="34" charset="0"/>
              <a:cs typeface="Calibri" panose="020F0502020204030204" pitchFamily="34" charset="0"/>
            </a:endParaRPr>
          </a:p>
          <a:p>
            <a:endParaRPr lang="fr-FR" sz="1228"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Conditions d'éligibilité</a:t>
            </a:r>
          </a:p>
          <a:p>
            <a:r>
              <a:rPr lang="fr-FR" sz="1000" dirty="0">
                <a:latin typeface="Calibri" panose="020F0502020204030204" pitchFamily="34" charset="0"/>
                <a:ea typeface="Calibri" panose="020F0502020204030204" pitchFamily="34" charset="0"/>
                <a:cs typeface="Calibri" panose="020F0502020204030204" pitchFamily="34" charset="0"/>
              </a:rPr>
              <a:t>Pour bénéficier de la TVA à 5,5 %, les principales conditions sont les suivantes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 bâtiment doit être achevé depuis plus de 2 ans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 logement doit être affecté à un usage d'habitation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Les travaux doivent être réalisés et facturés par une entreprise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Les travaux doivent avoir pour objectif l'amélioration de la performance énergétique du bâtiment.</a:t>
            </a: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Travaux concernés</a:t>
            </a:r>
          </a:p>
          <a:p>
            <a:r>
              <a:rPr lang="fr-FR" sz="1000" dirty="0">
                <a:latin typeface="Calibri" panose="020F0502020204030204" pitchFamily="34" charset="0"/>
                <a:ea typeface="Calibri" panose="020F0502020204030204" pitchFamily="34" charset="0"/>
                <a:cs typeface="Calibri" panose="020F0502020204030204" pitchFamily="34" charset="0"/>
              </a:rPr>
              <a:t>Le taux réduit de TVA s'applique notamment aux travaux suivants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Isolation thermique des murs, toitures, combles et planchers bas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Remplacement de certaines menuiseries performantes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Installation de pompes à chaleur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Mise en place de systèmes de ventilation performants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Raccordement à un réseau de chaleur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Installation de certains équipements utilisant des énergies renouvelables ;</a:t>
            </a:r>
          </a:p>
          <a:p>
            <a:pPr marL="150362" indent="-150362">
              <a:buFont typeface="Arial" panose="020B0604020202020204" pitchFamily="34" charset="0"/>
              <a:buChar char="•"/>
            </a:pPr>
            <a:r>
              <a:rPr lang="fr-FR" sz="1000" dirty="0">
                <a:latin typeface="Calibri" panose="020F0502020204030204" pitchFamily="34" charset="0"/>
                <a:ea typeface="Calibri" panose="020F0502020204030204" pitchFamily="34" charset="0"/>
                <a:cs typeface="Calibri" panose="020F0502020204030204" pitchFamily="34" charset="0"/>
              </a:rPr>
              <a:t>Travaux induits directement liés à ces opérations.</a:t>
            </a:r>
          </a:p>
          <a:p>
            <a:pPr marL="150362" indent="-150362">
              <a:buFont typeface="Arial" panose="020B0604020202020204" pitchFamily="34" charset="0"/>
              <a:buChar char="•"/>
            </a:pPr>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Dans le cadre d'une copropriété</a:t>
            </a:r>
          </a:p>
          <a:p>
            <a:r>
              <a:rPr lang="fr-FR" sz="1000" dirty="0">
                <a:latin typeface="Calibri" panose="020F0502020204030204" pitchFamily="34" charset="0"/>
                <a:ea typeface="Calibri" panose="020F0502020204030204" pitchFamily="34" charset="0"/>
                <a:cs typeface="Calibri" panose="020F0502020204030204" pitchFamily="34" charset="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À retenir</a:t>
            </a:r>
          </a:p>
          <a:p>
            <a:r>
              <a:rPr lang="fr-FR" sz="1000" dirty="0">
                <a:latin typeface="Calibri" panose="020F0502020204030204" pitchFamily="34" charset="0"/>
                <a:ea typeface="Calibri" panose="020F0502020204030204" pitchFamily="34" charset="0"/>
                <a:cs typeface="Calibri" panose="020F0502020204030204" pitchFamily="34" charset="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p>
          <a:p>
            <a:endParaRPr lang="fr-FR" sz="1000" dirty="0">
              <a:latin typeface="Calibri" panose="020F0502020204030204" pitchFamily="34" charset="0"/>
              <a:ea typeface="Calibri" panose="020F0502020204030204" pitchFamily="34" charset="0"/>
              <a:cs typeface="Calibri" panose="020F0502020204030204" pitchFamily="34" charset="0"/>
            </a:endParaRPr>
          </a:p>
          <a:p>
            <a:endParaRPr lang="fr-FR" sz="1000" dirty="0">
              <a:latin typeface="Calibri" panose="020F0502020204030204" pitchFamily="34" charset="0"/>
              <a:ea typeface="Calibri" panose="020F0502020204030204" pitchFamily="34" charset="0"/>
              <a:cs typeface="Calibri" panose="020F0502020204030204" pitchFamily="34" charset="0"/>
            </a:endParaRPr>
          </a:p>
          <a:p>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Pour en savoir plus :</a:t>
            </a:r>
          </a:p>
          <a:p>
            <a:r>
              <a:rPr lang="fr-FR" sz="1000" dirty="0">
                <a:latin typeface="Calibri" panose="020F0502020204030204" pitchFamily="34" charset="0"/>
                <a:ea typeface="Calibri" panose="020F0502020204030204" pitchFamily="34" charset="0"/>
                <a:cs typeface="Calibri" panose="020F0502020204030204" pitchFamily="34" charset="0"/>
                <a:hlinkClick r:id="rId2"/>
              </a:rPr>
              <a:t>TVA à taux réduit : pour quels travaux ? | economie.gouv.fr</a:t>
            </a:r>
            <a:endParaRPr lang="fr-FR" sz="1000" b="1" dirty="0">
              <a:latin typeface="Calibri" panose="020F0502020204030204" pitchFamily="34" charset="0"/>
              <a:ea typeface="Calibri" panose="020F0502020204030204" pitchFamily="34" charset="0"/>
              <a:cs typeface="Calibri" panose="020F0502020204030204" pitchFamily="34" charset="0"/>
            </a:endParaRPr>
          </a:p>
        </p:txBody>
      </p:sp>
      <p:sp>
        <p:nvSpPr>
          <p:cNvPr id="7" name="ZoneTexte 6">
            <a:extLst>
              <a:ext uri="{FF2B5EF4-FFF2-40B4-BE49-F238E27FC236}">
                <a16:creationId xmlns:a16="http://schemas.microsoft.com/office/drawing/2014/main" id="{F11FB37C-1E78-BA7B-5C4B-C10FC6D377EE}"/>
              </a:ext>
            </a:extLst>
          </p:cNvPr>
          <p:cNvSpPr txBox="1"/>
          <p:nvPr/>
        </p:nvSpPr>
        <p:spPr>
          <a:xfrm>
            <a:off x="541020" y="1684616"/>
            <a:ext cx="3628624" cy="861774"/>
          </a:xfrm>
          <a:prstGeom prst="rect">
            <a:avLst/>
          </a:prstGeom>
          <a:noFill/>
        </p:spPr>
        <p:txBody>
          <a:bodyPr wrap="square">
            <a:spAutoFit/>
          </a:bodyPr>
          <a:lstStyle/>
          <a:p>
            <a:pPr algn="just"/>
            <a:r>
              <a:rPr lang="fr-FR" sz="1000" dirty="0">
                <a:solidFill>
                  <a:schemeClr val="accent4"/>
                </a:solidFill>
                <a:latin typeface="Calibri" panose="020F0502020204030204" pitchFamily="34" charset="0"/>
                <a:ea typeface="Calibri" panose="020F0502020204030204" pitchFamily="34" charset="0"/>
                <a:cs typeface="Calibri" panose="020F0502020204030204" pitchFamily="34" charset="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p>
        </p:txBody>
      </p:sp>
      <p:pic>
        <p:nvPicPr>
          <p:cNvPr id="5" name="Image 4" descr="TVA réduite à 5,5% - Aides pour rénovation énergétique - NDE Renov">
            <a:extLst>
              <a:ext uri="{FF2B5EF4-FFF2-40B4-BE49-F238E27FC236}">
                <a16:creationId xmlns:a16="http://schemas.microsoft.com/office/drawing/2014/main" id="{41FF21E7-AB6D-AC8C-F754-6E2F628E8F9C}"/>
              </a:ext>
            </a:extLst>
          </p:cNvPr>
          <p:cNvPicPr>
            <a:picLocks noChangeAspect="1"/>
          </p:cNvPicPr>
          <p:nvPr/>
        </p:nvPicPr>
        <p:blipFill>
          <a:blip r:embed="rId3"/>
          <a:srcRect t="7443" b="7320"/>
          <a:stretch>
            <a:fillRect/>
          </a:stretch>
        </p:blipFill>
        <p:spPr>
          <a:xfrm>
            <a:off x="4794725" y="1640767"/>
            <a:ext cx="1294459" cy="1103360"/>
          </a:xfrm>
          <a:prstGeom prst="rect">
            <a:avLst/>
          </a:prstGeom>
        </p:spPr>
      </p:pic>
      <p:pic>
        <p:nvPicPr>
          <p:cNvPr id="6" name="Image 5">
            <a:extLst>
              <a:ext uri="{FF2B5EF4-FFF2-40B4-BE49-F238E27FC236}">
                <a16:creationId xmlns:a16="http://schemas.microsoft.com/office/drawing/2014/main" id="{F4DE59F4-5E19-D6C4-3797-8D013840B9BA}"/>
              </a:ext>
            </a:extLst>
          </p:cNvPr>
          <p:cNvPicPr>
            <a:picLocks noChangeAspect="1"/>
          </p:cNvPicPr>
          <p:nvPr/>
        </p:nvPicPr>
        <p:blipFill>
          <a:blip r:embed="rId4"/>
          <a:stretch>
            <a:fillRect/>
          </a:stretch>
        </p:blipFill>
        <p:spPr>
          <a:xfrm>
            <a:off x="541020" y="98814"/>
            <a:ext cx="2246544" cy="594519"/>
          </a:xfrm>
          <a:prstGeom prst="rect">
            <a:avLst/>
          </a:prstGeom>
        </p:spPr>
      </p:pic>
      <p:sp>
        <p:nvSpPr>
          <p:cNvPr id="8" name="ZoneTexte 7">
            <a:extLst>
              <a:ext uri="{FF2B5EF4-FFF2-40B4-BE49-F238E27FC236}">
                <a16:creationId xmlns:a16="http://schemas.microsoft.com/office/drawing/2014/main" id="{8907D98C-7B52-0E94-8911-A148FE082053}"/>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8. FINANCEMENTS À LA RÉNOVATION ÉNERGÉTIQUE</a:t>
            </a:r>
          </a:p>
        </p:txBody>
      </p:sp>
    </p:spTree>
    <p:extLst>
      <p:ext uri="{BB962C8B-B14F-4D97-AF65-F5344CB8AC3E}">
        <p14:creationId xmlns:p14="http://schemas.microsoft.com/office/powerpoint/2010/main" val="234656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D8A7B-FEE1-90C9-0636-A13FE0BBE104}"/>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D0DD780-D13B-5A1A-91AF-33A1C7195658}"/>
              </a:ext>
            </a:extLst>
          </p:cNvPr>
          <p:cNvSpPr txBox="1"/>
          <p:nvPr/>
        </p:nvSpPr>
        <p:spPr>
          <a:xfrm>
            <a:off x="541020" y="1278430"/>
            <a:ext cx="4074864" cy="292388"/>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8.5 Précision sur le cumul des aides financières</a:t>
            </a:r>
            <a:endParaRPr lang="fr-FR" sz="1300" b="1" dirty="0">
              <a:solidFill>
                <a:srgbClr val="04CC7E"/>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au 2">
            <a:extLst>
              <a:ext uri="{FF2B5EF4-FFF2-40B4-BE49-F238E27FC236}">
                <a16:creationId xmlns:a16="http://schemas.microsoft.com/office/drawing/2014/main" id="{18F188E2-7215-80AD-6C7A-AC9751B9FB56}"/>
              </a:ext>
            </a:extLst>
          </p:cNvPr>
          <p:cNvGraphicFramePr>
            <a:graphicFrameLocks noGrp="1"/>
          </p:cNvGraphicFramePr>
          <p:nvPr>
            <p:extLst>
              <p:ext uri="{D42A27DB-BD31-4B8C-83A1-F6EECF244321}">
                <p14:modId xmlns:p14="http://schemas.microsoft.com/office/powerpoint/2010/main" val="1354640432"/>
              </p:ext>
            </p:extLst>
          </p:nvPr>
        </p:nvGraphicFramePr>
        <p:xfrm>
          <a:off x="541020" y="1710940"/>
          <a:ext cx="6484620" cy="6600921"/>
        </p:xfrm>
        <a:graphic>
          <a:graphicData uri="http://schemas.openxmlformats.org/drawingml/2006/table">
            <a:tbl>
              <a:tblPr firstRow="1" bandRow="1">
                <a:tableStyleId>{5940675A-B579-460E-94D1-54222C63F5DA}</a:tableStyleId>
              </a:tblPr>
              <a:tblGrid>
                <a:gridCol w="1296924">
                  <a:extLst>
                    <a:ext uri="{9D8B030D-6E8A-4147-A177-3AD203B41FA5}">
                      <a16:colId xmlns:a16="http://schemas.microsoft.com/office/drawing/2014/main" val="1447795451"/>
                    </a:ext>
                  </a:extLst>
                </a:gridCol>
                <a:gridCol w="1276731">
                  <a:extLst>
                    <a:ext uri="{9D8B030D-6E8A-4147-A177-3AD203B41FA5}">
                      <a16:colId xmlns:a16="http://schemas.microsoft.com/office/drawing/2014/main" val="3617991196"/>
                    </a:ext>
                  </a:extLst>
                </a:gridCol>
                <a:gridCol w="1304925">
                  <a:extLst>
                    <a:ext uri="{9D8B030D-6E8A-4147-A177-3AD203B41FA5}">
                      <a16:colId xmlns:a16="http://schemas.microsoft.com/office/drawing/2014/main" val="2311437358"/>
                    </a:ext>
                  </a:extLst>
                </a:gridCol>
                <a:gridCol w="1266825">
                  <a:extLst>
                    <a:ext uri="{9D8B030D-6E8A-4147-A177-3AD203B41FA5}">
                      <a16:colId xmlns:a16="http://schemas.microsoft.com/office/drawing/2014/main" val="2215917027"/>
                    </a:ext>
                  </a:extLst>
                </a:gridCol>
                <a:gridCol w="1339215">
                  <a:extLst>
                    <a:ext uri="{9D8B030D-6E8A-4147-A177-3AD203B41FA5}">
                      <a16:colId xmlns:a16="http://schemas.microsoft.com/office/drawing/2014/main" val="2696071674"/>
                    </a:ext>
                  </a:extLst>
                </a:gridCol>
              </a:tblGrid>
              <a:tr h="828615">
                <a:tc>
                  <a:txBody>
                    <a:bodyPr/>
                    <a:lstStyle/>
                    <a:p>
                      <a:pPr algn="ctr"/>
                      <a:endParaRPr lang="fr-FR" sz="11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Ma Prime Rénov Copropriété </a:t>
                      </a: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Aides des collectivités locales</a:t>
                      </a:r>
                    </a:p>
                  </a:txBody>
                  <a:tcPr marL="80189" marR="80189" marT="40094" marB="40094" anchor="ctr">
                    <a:lnL w="12700" cap="flat" cmpd="sng" algn="ctr">
                      <a:solidFill>
                        <a:schemeClr val="tx1"/>
                      </a:solidFill>
                      <a:prstDash val="solid"/>
                      <a:round/>
                      <a:headEnd type="none" w="med" len="med"/>
                      <a:tailEnd type="none" w="med" len="med"/>
                    </a:lnL>
                    <a:solidFill>
                      <a:srgbClr val="0070C0"/>
                    </a:solidFill>
                  </a:tcPr>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Aides des fournisseurs d’énergie (CEE)</a:t>
                      </a:r>
                    </a:p>
                  </a:txBody>
                  <a:tcPr marL="80189" marR="80189" marT="40094" marB="40094" anchor="ctr">
                    <a:solidFill>
                      <a:srgbClr val="0070C0"/>
                    </a:solidFill>
                  </a:tcPr>
                </a:tc>
                <a:tc>
                  <a:txBody>
                    <a:bodyPr/>
                    <a:lstStyle/>
                    <a:p>
                      <a:pPr algn="ct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Eco Prêt à taux zéro</a:t>
                      </a:r>
                    </a:p>
                  </a:txBody>
                  <a:tcPr marL="80189" marR="80189" marT="40094" marB="40094" anchor="ctr">
                    <a:solidFill>
                      <a:srgbClr val="0070C0"/>
                    </a:solidFill>
                  </a:tcPr>
                </a:tc>
                <a:extLst>
                  <a:ext uri="{0D108BD9-81ED-4DB2-BD59-A6C34878D82A}">
                    <a16:rowId xmlns:a16="http://schemas.microsoft.com/office/drawing/2014/main" val="48408449"/>
                  </a:ext>
                </a:extLst>
              </a:tr>
              <a:tr h="172978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Ma Prime Rénov Copropriété </a:t>
                      </a:r>
                    </a:p>
                    <a:p>
                      <a:pPr algn="ctr"/>
                      <a:endPar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4"/>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3108668502"/>
                  </a:ext>
                </a:extLst>
              </a:tr>
              <a:tr h="136638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Aides des collectivités locales</a:t>
                      </a:r>
                    </a:p>
                    <a:p>
                      <a:pPr algn="ctr"/>
                      <a:endPar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lnT w="12700" cap="flat" cmpd="sng" algn="ctr">
                      <a:solidFill>
                        <a:schemeClr val="tx1"/>
                      </a:solidFill>
                      <a:prstDash val="solid"/>
                      <a:round/>
                      <a:headEnd type="none" w="med" len="med"/>
                      <a:tailEnd type="none" w="med" len="med"/>
                    </a:lnT>
                    <a:solidFill>
                      <a:srgbClr val="0070C0"/>
                    </a:solidFill>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solidFill>
                      <a:schemeClr val="accent4"/>
                    </a:solidFill>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2864291738"/>
                  </a:ext>
                </a:extLst>
              </a:tr>
              <a:tr h="1581497">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Aides des fournisseurs d’énergie (CEE)</a:t>
                      </a:r>
                    </a:p>
                    <a:p>
                      <a:pPr algn="ctr"/>
                      <a:endPar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solidFill>
                      <a:srgbClr val="0070C0"/>
                    </a:solidFill>
                  </a:tcPr>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solidFill>
                      <a:schemeClr val="accent4"/>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extLst>
                  <a:ext uri="{0D108BD9-81ED-4DB2-BD59-A6C34878D82A}">
                    <a16:rowId xmlns:a16="http://schemas.microsoft.com/office/drawing/2014/main" val="10085001"/>
                  </a:ext>
                </a:extLst>
              </a:tr>
              <a:tr h="109463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rPr>
                        <a:t>Eco Prêt à taux zéro</a:t>
                      </a:r>
                    </a:p>
                    <a:p>
                      <a:pPr algn="ctr"/>
                      <a:endParaRPr lang="fr-FR"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nchor="ctr">
                    <a:solidFill>
                      <a:srgbClr val="0070C0"/>
                    </a:solidFill>
                  </a:tcPr>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tc>
                <a:tc>
                  <a:txBody>
                    <a:bodyPr/>
                    <a:lstStyle/>
                    <a:p>
                      <a:endParaRPr lang="fr-FR" sz="1100" dirty="0">
                        <a:latin typeface="Calibri" panose="020F0502020204030204" pitchFamily="34" charset="0"/>
                        <a:ea typeface="Calibri" panose="020F0502020204030204" pitchFamily="34" charset="0"/>
                        <a:cs typeface="Calibri" panose="020F0502020204030204" pitchFamily="34" charset="0"/>
                      </a:endParaRPr>
                    </a:p>
                  </a:txBody>
                  <a:tcPr marL="80189" marR="80189" marT="40094" marB="40094">
                    <a:solidFill>
                      <a:schemeClr val="accent4"/>
                    </a:solidFill>
                  </a:tcPr>
                </a:tc>
                <a:extLst>
                  <a:ext uri="{0D108BD9-81ED-4DB2-BD59-A6C34878D82A}">
                    <a16:rowId xmlns:a16="http://schemas.microsoft.com/office/drawing/2014/main" val="1590772100"/>
                  </a:ext>
                </a:extLst>
              </a:tr>
            </a:tbl>
          </a:graphicData>
        </a:graphic>
      </p:graphicFrame>
      <p:sp>
        <p:nvSpPr>
          <p:cNvPr id="32" name="ZoneTexte 31">
            <a:extLst>
              <a:ext uri="{FF2B5EF4-FFF2-40B4-BE49-F238E27FC236}">
                <a16:creationId xmlns:a16="http://schemas.microsoft.com/office/drawing/2014/main" id="{8904CFD2-0B59-7590-FB10-D7FA1651FF6B}"/>
              </a:ext>
            </a:extLst>
          </p:cNvPr>
          <p:cNvSpPr txBox="1"/>
          <p:nvPr/>
        </p:nvSpPr>
        <p:spPr>
          <a:xfrm>
            <a:off x="4558784" y="3263271"/>
            <a:ext cx="1023593" cy="739946"/>
          </a:xfrm>
          <a:prstGeom prst="rect">
            <a:avLst/>
          </a:prstGeom>
          <a:noFill/>
        </p:spPr>
        <p:txBody>
          <a:bodyPr wrap="square" rtlCol="0">
            <a:spAutoFit/>
          </a:bodyPr>
          <a:lstStyle/>
          <a:p>
            <a:pPr algn="ctr"/>
            <a:r>
              <a:rPr lang="fr-FR" sz="1052" dirty="0"/>
              <a:t>Sauf en cas de copropriétés en difficultés ou fragiles</a:t>
            </a:r>
          </a:p>
        </p:txBody>
      </p:sp>
      <p:sp>
        <p:nvSpPr>
          <p:cNvPr id="51" name="ZoneTexte 50">
            <a:extLst>
              <a:ext uri="{FF2B5EF4-FFF2-40B4-BE49-F238E27FC236}">
                <a16:creationId xmlns:a16="http://schemas.microsoft.com/office/drawing/2014/main" id="{ADEE2D02-1312-5FEB-9BCC-33F0EE24036C}"/>
              </a:ext>
            </a:extLst>
          </p:cNvPr>
          <p:cNvSpPr txBox="1"/>
          <p:nvPr/>
        </p:nvSpPr>
        <p:spPr>
          <a:xfrm>
            <a:off x="3565046" y="3204716"/>
            <a:ext cx="429582" cy="416268"/>
          </a:xfrm>
          <a:prstGeom prst="rect">
            <a:avLst/>
          </a:prstGeom>
          <a:noFill/>
        </p:spPr>
        <p:txBody>
          <a:bodyPr wrap="square">
            <a:spAutoFit/>
          </a:bodyPr>
          <a:lstStyle/>
          <a:p>
            <a:pPr algn="ctr"/>
            <a:r>
              <a:rPr lang="fr-FR" sz="2105" dirty="0"/>
              <a:t>✅</a:t>
            </a:r>
          </a:p>
        </p:txBody>
      </p:sp>
      <p:sp>
        <p:nvSpPr>
          <p:cNvPr id="52" name="ZoneTexte 51">
            <a:extLst>
              <a:ext uri="{FF2B5EF4-FFF2-40B4-BE49-F238E27FC236}">
                <a16:creationId xmlns:a16="http://schemas.microsoft.com/office/drawing/2014/main" id="{92566A51-EDA9-7DD7-5326-C688E5FCD258}"/>
              </a:ext>
            </a:extLst>
          </p:cNvPr>
          <p:cNvSpPr txBox="1"/>
          <p:nvPr/>
        </p:nvSpPr>
        <p:spPr>
          <a:xfrm>
            <a:off x="6182571" y="3204234"/>
            <a:ext cx="429582" cy="416268"/>
          </a:xfrm>
          <a:prstGeom prst="rect">
            <a:avLst/>
          </a:prstGeom>
          <a:noFill/>
        </p:spPr>
        <p:txBody>
          <a:bodyPr wrap="square">
            <a:spAutoFit/>
          </a:bodyPr>
          <a:lstStyle/>
          <a:p>
            <a:pPr algn="ctr"/>
            <a:r>
              <a:rPr lang="fr-FR" sz="2105" dirty="0"/>
              <a:t>✅</a:t>
            </a:r>
          </a:p>
        </p:txBody>
      </p:sp>
      <p:sp>
        <p:nvSpPr>
          <p:cNvPr id="53" name="ZoneTexte 52">
            <a:extLst>
              <a:ext uri="{FF2B5EF4-FFF2-40B4-BE49-F238E27FC236}">
                <a16:creationId xmlns:a16="http://schemas.microsoft.com/office/drawing/2014/main" id="{5F1EB7E9-370A-5297-8738-64828F9BD444}"/>
              </a:ext>
            </a:extLst>
          </p:cNvPr>
          <p:cNvSpPr txBox="1"/>
          <p:nvPr/>
        </p:nvSpPr>
        <p:spPr>
          <a:xfrm>
            <a:off x="4855790" y="2787966"/>
            <a:ext cx="429582" cy="416268"/>
          </a:xfrm>
          <a:prstGeom prst="rect">
            <a:avLst/>
          </a:prstGeom>
          <a:noFill/>
        </p:spPr>
        <p:txBody>
          <a:bodyPr wrap="square">
            <a:spAutoFit/>
          </a:bodyPr>
          <a:lstStyle/>
          <a:p>
            <a:pPr algn="ctr"/>
            <a:r>
              <a:rPr lang="fr-FR" sz="2105" dirty="0"/>
              <a:t>✅</a:t>
            </a:r>
          </a:p>
        </p:txBody>
      </p:sp>
      <p:sp>
        <p:nvSpPr>
          <p:cNvPr id="54" name="ZoneTexte 53">
            <a:extLst>
              <a:ext uri="{FF2B5EF4-FFF2-40B4-BE49-F238E27FC236}">
                <a16:creationId xmlns:a16="http://schemas.microsoft.com/office/drawing/2014/main" id="{AD60DF84-438F-EE4D-97BA-DD01A91E6818}"/>
              </a:ext>
            </a:extLst>
          </p:cNvPr>
          <p:cNvSpPr txBox="1"/>
          <p:nvPr/>
        </p:nvSpPr>
        <p:spPr>
          <a:xfrm>
            <a:off x="2268823" y="4745944"/>
            <a:ext cx="429582" cy="416268"/>
          </a:xfrm>
          <a:prstGeom prst="rect">
            <a:avLst/>
          </a:prstGeom>
          <a:noFill/>
        </p:spPr>
        <p:txBody>
          <a:bodyPr wrap="square">
            <a:spAutoFit/>
          </a:bodyPr>
          <a:lstStyle/>
          <a:p>
            <a:pPr algn="ctr"/>
            <a:r>
              <a:rPr lang="fr-FR" sz="2105" dirty="0"/>
              <a:t>✅</a:t>
            </a:r>
          </a:p>
        </p:txBody>
      </p:sp>
      <p:sp>
        <p:nvSpPr>
          <p:cNvPr id="55" name="ZoneTexte 54">
            <a:extLst>
              <a:ext uri="{FF2B5EF4-FFF2-40B4-BE49-F238E27FC236}">
                <a16:creationId xmlns:a16="http://schemas.microsoft.com/office/drawing/2014/main" id="{9CFDE2BA-86F9-3E27-5EF6-D530676BC9E6}"/>
              </a:ext>
            </a:extLst>
          </p:cNvPr>
          <p:cNvSpPr txBox="1"/>
          <p:nvPr/>
        </p:nvSpPr>
        <p:spPr>
          <a:xfrm>
            <a:off x="4855790" y="4720533"/>
            <a:ext cx="429582" cy="416268"/>
          </a:xfrm>
          <a:prstGeom prst="rect">
            <a:avLst/>
          </a:prstGeom>
          <a:noFill/>
        </p:spPr>
        <p:txBody>
          <a:bodyPr wrap="square">
            <a:spAutoFit/>
          </a:bodyPr>
          <a:lstStyle/>
          <a:p>
            <a:pPr algn="ctr"/>
            <a:r>
              <a:rPr lang="fr-FR" sz="2105" dirty="0"/>
              <a:t>✅</a:t>
            </a:r>
          </a:p>
        </p:txBody>
      </p:sp>
      <p:sp>
        <p:nvSpPr>
          <p:cNvPr id="56" name="ZoneTexte 55">
            <a:extLst>
              <a:ext uri="{FF2B5EF4-FFF2-40B4-BE49-F238E27FC236}">
                <a16:creationId xmlns:a16="http://schemas.microsoft.com/office/drawing/2014/main" id="{ED68872E-5A37-4883-2D7F-583C4585E5B6}"/>
              </a:ext>
            </a:extLst>
          </p:cNvPr>
          <p:cNvSpPr txBox="1"/>
          <p:nvPr/>
        </p:nvSpPr>
        <p:spPr>
          <a:xfrm>
            <a:off x="6182571" y="4745944"/>
            <a:ext cx="429582" cy="416268"/>
          </a:xfrm>
          <a:prstGeom prst="rect">
            <a:avLst/>
          </a:prstGeom>
          <a:noFill/>
        </p:spPr>
        <p:txBody>
          <a:bodyPr wrap="square">
            <a:spAutoFit/>
          </a:bodyPr>
          <a:lstStyle/>
          <a:p>
            <a:pPr algn="ctr"/>
            <a:r>
              <a:rPr lang="fr-FR" sz="2105" dirty="0"/>
              <a:t>✅</a:t>
            </a:r>
          </a:p>
        </p:txBody>
      </p:sp>
      <p:sp>
        <p:nvSpPr>
          <p:cNvPr id="57" name="ZoneTexte 56">
            <a:extLst>
              <a:ext uri="{FF2B5EF4-FFF2-40B4-BE49-F238E27FC236}">
                <a16:creationId xmlns:a16="http://schemas.microsoft.com/office/drawing/2014/main" id="{36217E91-23BA-592D-A9FA-3081B23F9021}"/>
              </a:ext>
            </a:extLst>
          </p:cNvPr>
          <p:cNvSpPr txBox="1"/>
          <p:nvPr/>
        </p:nvSpPr>
        <p:spPr>
          <a:xfrm>
            <a:off x="2335369" y="7569424"/>
            <a:ext cx="429582" cy="416268"/>
          </a:xfrm>
          <a:prstGeom prst="rect">
            <a:avLst/>
          </a:prstGeom>
          <a:noFill/>
        </p:spPr>
        <p:txBody>
          <a:bodyPr wrap="square">
            <a:spAutoFit/>
          </a:bodyPr>
          <a:lstStyle/>
          <a:p>
            <a:pPr algn="ctr"/>
            <a:r>
              <a:rPr lang="fr-FR" sz="2105" dirty="0"/>
              <a:t>✅</a:t>
            </a:r>
          </a:p>
        </p:txBody>
      </p:sp>
      <p:sp>
        <p:nvSpPr>
          <p:cNvPr id="58" name="ZoneTexte 57">
            <a:extLst>
              <a:ext uri="{FF2B5EF4-FFF2-40B4-BE49-F238E27FC236}">
                <a16:creationId xmlns:a16="http://schemas.microsoft.com/office/drawing/2014/main" id="{9F258211-7EE7-3ED2-07BF-77EED0EC9F30}"/>
              </a:ext>
            </a:extLst>
          </p:cNvPr>
          <p:cNvSpPr txBox="1"/>
          <p:nvPr/>
        </p:nvSpPr>
        <p:spPr>
          <a:xfrm>
            <a:off x="3565046" y="7569424"/>
            <a:ext cx="429582" cy="416268"/>
          </a:xfrm>
          <a:prstGeom prst="rect">
            <a:avLst/>
          </a:prstGeom>
          <a:noFill/>
        </p:spPr>
        <p:txBody>
          <a:bodyPr wrap="square">
            <a:spAutoFit/>
          </a:bodyPr>
          <a:lstStyle/>
          <a:p>
            <a:pPr algn="ctr"/>
            <a:r>
              <a:rPr lang="fr-FR" sz="2105" dirty="0"/>
              <a:t>✅</a:t>
            </a:r>
          </a:p>
        </p:txBody>
      </p:sp>
      <p:sp>
        <p:nvSpPr>
          <p:cNvPr id="59" name="ZoneTexte 58">
            <a:extLst>
              <a:ext uri="{FF2B5EF4-FFF2-40B4-BE49-F238E27FC236}">
                <a16:creationId xmlns:a16="http://schemas.microsoft.com/office/drawing/2014/main" id="{F27E3E69-9944-D531-D6F9-5221F9B09CF4}"/>
              </a:ext>
            </a:extLst>
          </p:cNvPr>
          <p:cNvSpPr txBox="1"/>
          <p:nvPr/>
        </p:nvSpPr>
        <p:spPr>
          <a:xfrm>
            <a:off x="4865761" y="7569424"/>
            <a:ext cx="429582" cy="416268"/>
          </a:xfrm>
          <a:prstGeom prst="rect">
            <a:avLst/>
          </a:prstGeom>
          <a:noFill/>
        </p:spPr>
        <p:txBody>
          <a:bodyPr wrap="square">
            <a:spAutoFit/>
          </a:bodyPr>
          <a:lstStyle/>
          <a:p>
            <a:pPr algn="ctr"/>
            <a:r>
              <a:rPr lang="fr-FR" sz="2105" dirty="0"/>
              <a:t>✅</a:t>
            </a:r>
          </a:p>
        </p:txBody>
      </p:sp>
      <p:sp>
        <p:nvSpPr>
          <p:cNvPr id="60" name="ZoneTexte 59">
            <a:extLst>
              <a:ext uri="{FF2B5EF4-FFF2-40B4-BE49-F238E27FC236}">
                <a16:creationId xmlns:a16="http://schemas.microsoft.com/office/drawing/2014/main" id="{C028D793-C444-81DE-6C75-5F0975FAE8C0}"/>
              </a:ext>
            </a:extLst>
          </p:cNvPr>
          <p:cNvSpPr txBox="1"/>
          <p:nvPr/>
        </p:nvSpPr>
        <p:spPr>
          <a:xfrm>
            <a:off x="3565046" y="6247257"/>
            <a:ext cx="429582" cy="416268"/>
          </a:xfrm>
          <a:prstGeom prst="rect">
            <a:avLst/>
          </a:prstGeom>
          <a:noFill/>
        </p:spPr>
        <p:txBody>
          <a:bodyPr wrap="square">
            <a:spAutoFit/>
          </a:bodyPr>
          <a:lstStyle/>
          <a:p>
            <a:pPr algn="ctr"/>
            <a:r>
              <a:rPr lang="fr-FR" sz="2105" dirty="0"/>
              <a:t>✅</a:t>
            </a:r>
          </a:p>
        </p:txBody>
      </p:sp>
      <p:sp>
        <p:nvSpPr>
          <p:cNvPr id="61" name="ZoneTexte 60">
            <a:extLst>
              <a:ext uri="{FF2B5EF4-FFF2-40B4-BE49-F238E27FC236}">
                <a16:creationId xmlns:a16="http://schemas.microsoft.com/office/drawing/2014/main" id="{90F98763-BE5B-4E49-F3B2-47C56B25F8CC}"/>
              </a:ext>
            </a:extLst>
          </p:cNvPr>
          <p:cNvSpPr txBox="1"/>
          <p:nvPr/>
        </p:nvSpPr>
        <p:spPr>
          <a:xfrm>
            <a:off x="6182571" y="6247257"/>
            <a:ext cx="429582" cy="416268"/>
          </a:xfrm>
          <a:prstGeom prst="rect">
            <a:avLst/>
          </a:prstGeom>
          <a:noFill/>
        </p:spPr>
        <p:txBody>
          <a:bodyPr wrap="square">
            <a:spAutoFit/>
          </a:bodyPr>
          <a:lstStyle/>
          <a:p>
            <a:pPr algn="ctr"/>
            <a:r>
              <a:rPr lang="fr-FR" sz="2105" dirty="0"/>
              <a:t>✅</a:t>
            </a:r>
          </a:p>
        </p:txBody>
      </p:sp>
      <p:sp>
        <p:nvSpPr>
          <p:cNvPr id="62" name="ZoneTexte 61">
            <a:extLst>
              <a:ext uri="{FF2B5EF4-FFF2-40B4-BE49-F238E27FC236}">
                <a16:creationId xmlns:a16="http://schemas.microsoft.com/office/drawing/2014/main" id="{DD7AB5E8-4EB4-E41E-2EFE-8265604F458A}"/>
              </a:ext>
            </a:extLst>
          </p:cNvPr>
          <p:cNvSpPr txBox="1"/>
          <p:nvPr/>
        </p:nvSpPr>
        <p:spPr>
          <a:xfrm>
            <a:off x="1956423" y="6355531"/>
            <a:ext cx="1054381" cy="739946"/>
          </a:xfrm>
          <a:prstGeom prst="rect">
            <a:avLst/>
          </a:prstGeom>
          <a:noFill/>
        </p:spPr>
        <p:txBody>
          <a:bodyPr wrap="square" rtlCol="0">
            <a:spAutoFit/>
          </a:bodyPr>
          <a:lstStyle/>
          <a:p>
            <a:pPr algn="ctr"/>
            <a:r>
              <a:rPr lang="fr-FR" sz="1052" dirty="0"/>
              <a:t>Sauf en cas de copropriétés en difficultés ou fragiles</a:t>
            </a:r>
          </a:p>
        </p:txBody>
      </p:sp>
      <p:sp>
        <p:nvSpPr>
          <p:cNvPr id="63" name="ZoneTexte 62">
            <a:extLst>
              <a:ext uri="{FF2B5EF4-FFF2-40B4-BE49-F238E27FC236}">
                <a16:creationId xmlns:a16="http://schemas.microsoft.com/office/drawing/2014/main" id="{6B0B3F6A-25FC-0411-BC65-FCCA377D19F0}"/>
              </a:ext>
            </a:extLst>
          </p:cNvPr>
          <p:cNvSpPr txBox="1"/>
          <p:nvPr/>
        </p:nvSpPr>
        <p:spPr>
          <a:xfrm>
            <a:off x="2284921" y="5881582"/>
            <a:ext cx="429582" cy="416268"/>
          </a:xfrm>
          <a:prstGeom prst="rect">
            <a:avLst/>
          </a:prstGeom>
          <a:noFill/>
        </p:spPr>
        <p:txBody>
          <a:bodyPr wrap="square">
            <a:spAutoFit/>
          </a:bodyPr>
          <a:lstStyle/>
          <a:p>
            <a:pPr algn="ctr"/>
            <a:r>
              <a:rPr lang="fr-FR" sz="2105" dirty="0"/>
              <a:t>✅</a:t>
            </a:r>
          </a:p>
        </p:txBody>
      </p:sp>
      <p:sp>
        <p:nvSpPr>
          <p:cNvPr id="4" name="Espace réservé du pied de page 5">
            <a:extLst>
              <a:ext uri="{FF2B5EF4-FFF2-40B4-BE49-F238E27FC236}">
                <a16:creationId xmlns:a16="http://schemas.microsoft.com/office/drawing/2014/main" id="{A680015B-45D0-0DA3-99BA-3465F9D57577}"/>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D845EE4E-A87C-1CCF-2271-DB1F0DFE5866}"/>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21</a:t>
            </a:fld>
            <a:endParaRPr lang="fr-FR" sz="965" dirty="0"/>
          </a:p>
        </p:txBody>
      </p:sp>
      <p:pic>
        <p:nvPicPr>
          <p:cNvPr id="7" name="Image 6">
            <a:extLst>
              <a:ext uri="{FF2B5EF4-FFF2-40B4-BE49-F238E27FC236}">
                <a16:creationId xmlns:a16="http://schemas.microsoft.com/office/drawing/2014/main" id="{CE1BCBB7-67A9-D6D1-1BC1-71F548B9F870}"/>
              </a:ext>
            </a:extLst>
          </p:cNvPr>
          <p:cNvPicPr>
            <a:picLocks noChangeAspect="1"/>
          </p:cNvPicPr>
          <p:nvPr/>
        </p:nvPicPr>
        <p:blipFill>
          <a:blip r:embed="rId2"/>
          <a:stretch>
            <a:fillRect/>
          </a:stretch>
        </p:blipFill>
        <p:spPr>
          <a:xfrm>
            <a:off x="541020" y="98814"/>
            <a:ext cx="2246544" cy="594519"/>
          </a:xfrm>
          <a:prstGeom prst="rect">
            <a:avLst/>
          </a:prstGeom>
        </p:spPr>
      </p:pic>
      <p:sp>
        <p:nvSpPr>
          <p:cNvPr id="8" name="ZoneTexte 7">
            <a:extLst>
              <a:ext uri="{FF2B5EF4-FFF2-40B4-BE49-F238E27FC236}">
                <a16:creationId xmlns:a16="http://schemas.microsoft.com/office/drawing/2014/main" id="{71EC1805-0544-CD62-51AA-703D4B514771}"/>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8. FINANCEMENTS À LA RÉNOVATION ÉNERGÉTIQUE</a:t>
            </a:r>
          </a:p>
        </p:txBody>
      </p:sp>
    </p:spTree>
    <p:extLst>
      <p:ext uri="{BB962C8B-B14F-4D97-AF65-F5344CB8AC3E}">
        <p14:creationId xmlns:p14="http://schemas.microsoft.com/office/powerpoint/2010/main" val="3782995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FD8F-9F37-8F89-C2DD-3387593BF03E}"/>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F354F31-0034-AAA0-744A-42449F069F6E}"/>
              </a:ext>
            </a:extLst>
          </p:cNvPr>
          <p:cNvSpPr txBox="1"/>
          <p:nvPr/>
        </p:nvSpPr>
        <p:spPr>
          <a:xfrm>
            <a:off x="541019" y="1278430"/>
            <a:ext cx="5450685" cy="292388"/>
          </a:xfrm>
          <a:prstGeom prst="rect">
            <a:avLst/>
          </a:prstGeom>
          <a:noFill/>
        </p:spPr>
        <p:txBody>
          <a:bodyPr wrap="square" rtlCol="0">
            <a:spAutoFit/>
          </a:bodyPr>
          <a:lstStyle/>
          <a:p>
            <a:r>
              <a:rPr lang="fr-FR" sz="1300" b="1" dirty="0">
                <a:latin typeface="Calibri" panose="020F0502020204030204" pitchFamily="34" charset="0"/>
                <a:ea typeface="Calibri" panose="020F0502020204030204" pitchFamily="34" charset="0"/>
                <a:cs typeface="Calibri" panose="020F0502020204030204" pitchFamily="34" charset="0"/>
              </a:rPr>
              <a:t>8.6 Les étapes d’un projet de rénovation énergétique globale</a:t>
            </a:r>
            <a:endParaRPr lang="fr-FR" sz="1300" b="1" dirty="0">
              <a:solidFill>
                <a:srgbClr val="04CC7E"/>
              </a:solidFill>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pied de page 5">
            <a:extLst>
              <a:ext uri="{FF2B5EF4-FFF2-40B4-BE49-F238E27FC236}">
                <a16:creationId xmlns:a16="http://schemas.microsoft.com/office/drawing/2014/main" id="{33798DC3-6E90-4037-67BE-3FBF8C70900A}"/>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D6864101-5753-863A-65D6-E002D33D1C51}"/>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22</a:t>
            </a:fld>
            <a:endParaRPr lang="fr-FR" sz="965" dirty="0"/>
          </a:p>
        </p:txBody>
      </p:sp>
      <p:pic>
        <p:nvPicPr>
          <p:cNvPr id="7" name="Image 6">
            <a:extLst>
              <a:ext uri="{FF2B5EF4-FFF2-40B4-BE49-F238E27FC236}">
                <a16:creationId xmlns:a16="http://schemas.microsoft.com/office/drawing/2014/main" id="{9859C46B-D1D2-7F4E-56A2-4B6C00BF2D62}"/>
              </a:ext>
            </a:extLst>
          </p:cNvPr>
          <p:cNvPicPr>
            <a:picLocks noChangeAspect="1"/>
          </p:cNvPicPr>
          <p:nvPr/>
        </p:nvPicPr>
        <p:blipFill>
          <a:blip r:embed="rId2"/>
          <a:stretch>
            <a:fillRect/>
          </a:stretch>
        </p:blipFill>
        <p:spPr>
          <a:xfrm>
            <a:off x="541020" y="98814"/>
            <a:ext cx="2246544" cy="594519"/>
          </a:xfrm>
          <a:prstGeom prst="rect">
            <a:avLst/>
          </a:prstGeom>
        </p:spPr>
      </p:pic>
      <p:sp>
        <p:nvSpPr>
          <p:cNvPr id="8" name="ZoneTexte 7">
            <a:extLst>
              <a:ext uri="{FF2B5EF4-FFF2-40B4-BE49-F238E27FC236}">
                <a16:creationId xmlns:a16="http://schemas.microsoft.com/office/drawing/2014/main" id="{02ACD7F8-782C-F596-5EDB-1345DCFE6566}"/>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8. FINANCEMENTS À LA RÉNOVATION ÉNERGÉTIQUE</a:t>
            </a:r>
          </a:p>
        </p:txBody>
      </p:sp>
      <p:sp>
        <p:nvSpPr>
          <p:cNvPr id="9" name="ZoneTexte 8">
            <a:extLst>
              <a:ext uri="{FF2B5EF4-FFF2-40B4-BE49-F238E27FC236}">
                <a16:creationId xmlns:a16="http://schemas.microsoft.com/office/drawing/2014/main" id="{595D14E1-00F0-A7CE-9733-A697E5FB9CBE}"/>
              </a:ext>
            </a:extLst>
          </p:cNvPr>
          <p:cNvSpPr txBox="1"/>
          <p:nvPr/>
        </p:nvSpPr>
        <p:spPr>
          <a:xfrm>
            <a:off x="541020" y="1700118"/>
            <a:ext cx="6484620" cy="8402300"/>
          </a:xfrm>
          <a:prstGeom prst="rect">
            <a:avLst/>
          </a:prstGeom>
          <a:noFill/>
        </p:spPr>
        <p:txBody>
          <a:bodyPr wrap="square" rtlCol="0">
            <a:spAutoFit/>
          </a:bodyPr>
          <a:lstStyle/>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1 - Réalisation du PPPT et du DPE collectif</a:t>
            </a:r>
          </a:p>
          <a:p>
            <a:pPr algn="just"/>
            <a:r>
              <a:rPr lang="fr-FR" sz="1000" dirty="0">
                <a:latin typeface="Calibri" panose="020F0502020204030204" pitchFamily="34" charset="0"/>
                <a:ea typeface="Calibri" panose="020F0502020204030204" pitchFamily="34" charset="0"/>
                <a:cs typeface="Calibri" panose="020F0502020204030204" pitchFamily="34" charset="0"/>
              </a:rPr>
              <a:t>Le PPPT permet d’identifier les besoins de travaux de la copropriété et de hiérarchiser les interventions. Le DPE collectif évalue la performance énergétique initiale du bâtiment et met en évidence les principaux postes de consommation et de déperdition.</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2 - Réalisation de l’audit énergétique</a:t>
            </a:r>
          </a:p>
          <a:p>
            <a:pPr algn="just"/>
            <a:r>
              <a:rPr lang="fr-FR" sz="1000" dirty="0">
                <a:latin typeface="Calibri" panose="020F0502020204030204" pitchFamily="34" charset="0"/>
                <a:ea typeface="Calibri" panose="020F0502020204030204" pitchFamily="34" charset="0"/>
                <a:cs typeface="Calibri" panose="020F0502020204030204" pitchFamily="34" charset="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3 - Choix d’un scénario de rénovation</a:t>
            </a:r>
          </a:p>
          <a:p>
            <a:pPr algn="just"/>
            <a:r>
              <a:rPr lang="fr-FR" sz="1000" dirty="0">
                <a:latin typeface="Calibri" panose="020F0502020204030204" pitchFamily="34" charset="0"/>
                <a:ea typeface="Calibri" panose="020F0502020204030204" pitchFamily="34" charset="0"/>
                <a:cs typeface="Calibri" panose="020F0502020204030204" pitchFamily="34" charset="0"/>
              </a:rPr>
              <a:t>Le conseil syndical et le syndic étudient les différents scénarios proposés afin d’identifier celui qui correspond le mieux aux objectifs techniques, énergétiques et financiers de la copropriété.</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4 - Désignation d’un Assistant à Maîtrise d’Ouvrage (AMO)</a:t>
            </a:r>
          </a:p>
          <a:p>
            <a:pPr algn="just"/>
            <a:r>
              <a:rPr lang="fr-FR" sz="1000" dirty="0">
                <a:latin typeface="Calibri" panose="020F0502020204030204" pitchFamily="34" charset="0"/>
                <a:ea typeface="Calibri" panose="020F0502020204030204" pitchFamily="34" charset="0"/>
                <a:cs typeface="Calibri" panose="020F0502020204030204" pitchFamily="34" charset="0"/>
              </a:rPr>
              <a:t>L’AMO accompagne la copropriété dans le montage administratif, financier et organisationnel du projet. Il contribue notamment à l’analyse des aides mobilisables, à l’élaboration du plan de financement et à la constitution des dossiers de subventions.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5 - Désignation d’un Maître d’Œuvre (MOE)</a:t>
            </a:r>
          </a:p>
          <a:p>
            <a:pPr algn="just"/>
            <a:r>
              <a:rPr lang="fr-FR" sz="1000" dirty="0">
                <a:latin typeface="Calibri" panose="020F0502020204030204" pitchFamily="34" charset="0"/>
                <a:ea typeface="Calibri" panose="020F0502020204030204" pitchFamily="34" charset="0"/>
                <a:cs typeface="Calibri" panose="020F0502020204030204" pitchFamily="34" charset="0"/>
              </a:rPr>
              <a:t>Le maître d’œuvre assure la conception technique du projet. Il réalise ou coordonne les études complémentaires nécessaires, précise le programme de travaux, établit les pièces de consultation et accompagne la copropriété dans le choix des entreprises.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6 -  Consultation des entreprises</a:t>
            </a:r>
          </a:p>
          <a:p>
            <a:pPr algn="just"/>
            <a:r>
              <a:rPr lang="fr-FR" sz="1000" dirty="0">
                <a:latin typeface="Calibri" panose="020F0502020204030204" pitchFamily="34" charset="0"/>
                <a:ea typeface="Calibri" panose="020F0502020204030204" pitchFamily="34" charset="0"/>
                <a:cs typeface="Calibri" panose="020F0502020204030204" pitchFamily="34" charset="0"/>
              </a:rPr>
              <a:t>Les entreprises sont consultées sur la base du programme défini par la maîtrise d’œuvre. Les offres reçues sont analysées afin de vérifier leur conformité technique, leur coût et leur adéquation avec les objectifs du projet.</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7 -  Finalisation du plan de financement</a:t>
            </a:r>
          </a:p>
          <a:p>
            <a:pPr algn="just"/>
            <a:r>
              <a:rPr lang="fr-FR" sz="1000" dirty="0">
                <a:latin typeface="Calibri" panose="020F0502020204030204" pitchFamily="34" charset="0"/>
                <a:ea typeface="Calibri" panose="020F0502020204030204" pitchFamily="34" charset="0"/>
                <a:cs typeface="Calibri" panose="020F0502020204030204" pitchFamily="34" charset="0"/>
              </a:rPr>
              <a:t>Les devis définitifs permettent à l’AMO et au syndic de préciser les aides financières, les prêts mobilisables et le reste à charge prévisionnel pour la copropriété et les copropriétaires.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8 - Vote des travaux en assemblée générale</a:t>
            </a:r>
          </a:p>
          <a:p>
            <a:pPr algn="just"/>
            <a:r>
              <a:rPr lang="fr-FR" sz="1000" dirty="0">
                <a:latin typeface="Calibri" panose="020F0502020204030204" pitchFamily="34" charset="0"/>
                <a:ea typeface="Calibri" panose="020F0502020204030204" pitchFamily="34" charset="0"/>
                <a:cs typeface="Calibri" panose="020F0502020204030204" pitchFamily="34" charset="0"/>
              </a:rPr>
              <a:t>L’assemblée générale se prononce sur le scénario retenu, les entreprises sélectionnées, les honoraires des intervenants, le plan de financement et les modalités d’appel de fonds.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9 - Dépôt et validation des demandes d’aides</a:t>
            </a:r>
          </a:p>
          <a:p>
            <a:pPr algn="just"/>
            <a:r>
              <a:rPr lang="fr-FR" sz="1000" dirty="0">
                <a:latin typeface="Calibri" panose="020F0502020204030204" pitchFamily="34" charset="0"/>
                <a:ea typeface="Calibri" panose="020F0502020204030204" pitchFamily="34" charset="0"/>
                <a:cs typeface="Calibri" panose="020F0502020204030204" pitchFamily="34" charset="0"/>
              </a:rPr>
              <a:t>Les dossiers de demande d’aides sont déposés auprès des organismes concernés. Lorsque le dispositif l’exige, les travaux ne doivent pas commencer avant l’obtention de l’accord ou de l’accusé de réception autorisant leur engagement.</a:t>
            </a:r>
          </a:p>
          <a:p>
            <a:pPr algn="just"/>
            <a:endParaRPr lang="fr-FR" sz="1000"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10 - Réalisation et suivi des travaux</a:t>
            </a:r>
          </a:p>
          <a:p>
            <a:pPr algn="just"/>
            <a:r>
              <a:rPr lang="fr-FR" sz="1000" dirty="0">
                <a:latin typeface="Calibri" panose="020F0502020204030204" pitchFamily="34" charset="0"/>
                <a:ea typeface="Calibri" panose="020F0502020204030204" pitchFamily="34" charset="0"/>
                <a:cs typeface="Calibri" panose="020F0502020204030204" pitchFamily="34" charset="0"/>
              </a:rPr>
              <a:t>La maîtrise d’œuvre organise et suit le chantier, contrôle la conformité des travaux et coordonne les différents intervenants jusqu’à leur achèvement.</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11 - Réception des travaux et versement des aides</a:t>
            </a:r>
          </a:p>
          <a:p>
            <a:pPr algn="just"/>
            <a:r>
              <a:rPr lang="fr-FR" sz="1000" dirty="0">
                <a:latin typeface="Calibri" panose="020F0502020204030204" pitchFamily="34" charset="0"/>
                <a:ea typeface="Calibri" panose="020F0502020204030204" pitchFamily="34" charset="0"/>
                <a:cs typeface="Calibri" panose="020F0502020204030204" pitchFamily="34" charset="0"/>
              </a:rPr>
              <a:t>À l’issue du chantier, les travaux sont réceptionnés. Les éventuelles réserves sont levées, les justificatifs sont transmis et les demandes de versement des aides financières sont finalisées.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solidFill>
                  <a:srgbClr val="00B050"/>
                </a:solidFill>
                <a:latin typeface="Calibri" panose="020F0502020204030204" pitchFamily="34" charset="0"/>
                <a:ea typeface="Calibri" panose="020F0502020204030204" pitchFamily="34" charset="0"/>
                <a:cs typeface="Calibri" panose="020F0502020204030204" pitchFamily="34" charset="0"/>
              </a:rPr>
              <a:t>12 -  Suivi des performances</a:t>
            </a:r>
          </a:p>
          <a:p>
            <a:pPr algn="just"/>
            <a:r>
              <a:rPr lang="fr-FR" sz="1000" dirty="0">
                <a:latin typeface="Calibri" panose="020F0502020204030204" pitchFamily="34" charset="0"/>
                <a:ea typeface="Calibri" panose="020F0502020204030204" pitchFamily="34" charset="0"/>
                <a:cs typeface="Calibri" panose="020F0502020204030204" pitchFamily="34" charset="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p>
          <a:p>
            <a:pPr algn="just"/>
            <a:endParaRPr lang="fr-FR" sz="1000" dirty="0"/>
          </a:p>
        </p:txBody>
      </p:sp>
    </p:spTree>
    <p:extLst>
      <p:ext uri="{BB962C8B-B14F-4D97-AF65-F5344CB8AC3E}">
        <p14:creationId xmlns:p14="http://schemas.microsoft.com/office/powerpoint/2010/main" val="963442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CB920-E54D-519C-1C7A-8B6AEBB2C414}"/>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C0D66DC9-6B9B-4A81-26A9-33D67D555DF2}"/>
              </a:ext>
            </a:extLst>
          </p:cNvPr>
          <p:cNvSpPr txBox="1"/>
          <p:nvPr/>
        </p:nvSpPr>
        <p:spPr>
          <a:xfrm>
            <a:off x="541020" y="1281018"/>
            <a:ext cx="6484620" cy="8710077"/>
          </a:xfrm>
          <a:prstGeom prst="rect">
            <a:avLst/>
          </a:prstGeom>
          <a:noFill/>
        </p:spPr>
        <p:txBody>
          <a:bodyPr wrap="square" rtlCol="0">
            <a:spAutoFit/>
          </a:bodyPr>
          <a:lstStyle/>
          <a:p>
            <a:pPr algn="just"/>
            <a:r>
              <a:rPr lang="fr-FR" sz="1000" dirty="0">
                <a:latin typeface="Calibri" panose="020F0502020204030204" pitchFamily="34" charset="0"/>
                <a:ea typeface="Calibri" panose="020F0502020204030204" pitchFamily="34" charset="0"/>
                <a:cs typeface="Calibri" panose="020F0502020204030204" pitchFamily="34" charset="0"/>
              </a:rPr>
              <a:t>Afin de faciliter la compréhension du présent rapport, les principaux termes techniques et réglementaires utilisés sont définis ci-dessous.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AMO (Assistant à Maîtrise d'Ouvrage)</a:t>
            </a:r>
          </a:p>
          <a:p>
            <a:pPr algn="just"/>
            <a:r>
              <a:rPr lang="fr-FR" sz="1000" dirty="0">
                <a:latin typeface="Calibri" panose="020F0502020204030204" pitchFamily="34" charset="0"/>
                <a:ea typeface="Calibri" panose="020F0502020204030204" pitchFamily="34" charset="0"/>
                <a:cs typeface="Calibri" panose="020F0502020204030204" pitchFamily="34" charset="0"/>
              </a:rPr>
              <a:t>Professionnel chargé d'accompagner la copropriété dans la préparation, le montage administratif, technique et financier d'un projet de travaux.</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CEE (Certificats d'Économies d'Énergie)</a:t>
            </a:r>
          </a:p>
          <a:p>
            <a:pPr algn="just"/>
            <a:r>
              <a:rPr lang="fr-FR" sz="1000" dirty="0">
                <a:latin typeface="Calibri" panose="020F0502020204030204" pitchFamily="34" charset="0"/>
                <a:ea typeface="Calibri" panose="020F0502020204030204" pitchFamily="34" charset="0"/>
                <a:cs typeface="Calibri" panose="020F0502020204030204" pitchFamily="34" charset="0"/>
              </a:rPr>
              <a:t>Dispositif d'aide financière reposant sur l'obligation faite aux fournisseurs d'énergie de financer des travaux permettant de réduire les consommations énergétiques.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DPE Collectif (Diagnostic de Performance Énergétique)</a:t>
            </a:r>
          </a:p>
          <a:p>
            <a:pPr algn="just"/>
            <a:r>
              <a:rPr lang="fr-FR" sz="1000" dirty="0">
                <a:latin typeface="Calibri" panose="020F0502020204030204" pitchFamily="34" charset="0"/>
                <a:ea typeface="Calibri" panose="020F0502020204030204" pitchFamily="34" charset="0"/>
                <a:cs typeface="Calibri" panose="020F0502020204030204" pitchFamily="34" charset="0"/>
              </a:rPr>
              <a:t>Étude réglementaire évaluant la performance énergétique d'un immeuble. Il attribue une étiquette énergie (de A à G) et une étiquette climat en fonction des consommations conventionnelles et des émissions de gaz à effet de serre.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DTG (Diagnostic Technique Global)</a:t>
            </a:r>
          </a:p>
          <a:p>
            <a:pPr algn="just"/>
            <a:r>
              <a:rPr lang="fr-FR" sz="1000" dirty="0">
                <a:latin typeface="Calibri" panose="020F0502020204030204" pitchFamily="34" charset="0"/>
                <a:ea typeface="Calibri" panose="020F0502020204030204" pitchFamily="34" charset="0"/>
                <a:cs typeface="Calibri" panose="020F0502020204030204" pitchFamily="34" charset="0"/>
              </a:rPr>
              <a:t>Étude globale permettant d'évaluer l'état général d'une copropriété, ses besoins de travaux et sa situation énergétique.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Éco-PTZ</a:t>
            </a:r>
          </a:p>
          <a:p>
            <a:pPr algn="just"/>
            <a:r>
              <a:rPr lang="fr-FR" sz="1000" dirty="0">
                <a:latin typeface="Calibri" panose="020F0502020204030204" pitchFamily="34" charset="0"/>
                <a:ea typeface="Calibri" panose="020F0502020204030204" pitchFamily="34" charset="0"/>
                <a:cs typeface="Calibri" panose="020F0502020204030204" pitchFamily="34" charset="0"/>
              </a:rPr>
              <a:t>Éco-Prêt à Taux Zéro permettant de financer des travaux de rénovation énergétique sans payer d'intérêts.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GES (Gaz à Effet de Serre)</a:t>
            </a:r>
          </a:p>
          <a:p>
            <a:pPr algn="just"/>
            <a:r>
              <a:rPr lang="fr-FR" sz="1000" dirty="0">
                <a:latin typeface="Calibri" panose="020F0502020204030204" pitchFamily="34" charset="0"/>
                <a:ea typeface="Calibri" panose="020F0502020204030204" pitchFamily="34" charset="0"/>
                <a:cs typeface="Calibri" panose="020F0502020204030204" pitchFamily="34" charset="0"/>
              </a:rPr>
              <a:t>Gaz participant au réchauffement climatique, principalement émis lors de la combustion d'énergies fossiles.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ITE (Isolation Thermique par l'Extérieur)</a:t>
            </a:r>
          </a:p>
          <a:p>
            <a:pPr algn="just"/>
            <a:r>
              <a:rPr lang="fr-FR" sz="1000" dirty="0">
                <a:latin typeface="Calibri" panose="020F0502020204030204" pitchFamily="34" charset="0"/>
                <a:ea typeface="Calibri" panose="020F0502020204030204" pitchFamily="34" charset="0"/>
                <a:cs typeface="Calibri" panose="020F0502020204030204" pitchFamily="34" charset="0"/>
              </a:rPr>
              <a:t>Technique consistant à isoler les murs du bâtiment depuis l'extérieur afin de réduire les déperditions thermiques et améliorer le confort des occupants.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Parties communes</a:t>
            </a:r>
          </a:p>
          <a:p>
            <a:pPr algn="just"/>
            <a:r>
              <a:rPr lang="fr-FR" sz="1000" dirty="0">
                <a:latin typeface="Calibri" panose="020F0502020204030204" pitchFamily="34" charset="0"/>
                <a:ea typeface="Calibri" panose="020F0502020204030204" pitchFamily="34" charset="0"/>
                <a:cs typeface="Calibri" panose="020F0502020204030204" pitchFamily="34" charset="0"/>
              </a:rPr>
              <a:t>Éléments du bâtiment appartenant à l'ensemble des copropriétaires (façades, toiture, halls, escaliers, réseaux communs, chaufferie, etc.).</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Parties privatives</a:t>
            </a:r>
          </a:p>
          <a:p>
            <a:pPr algn="just"/>
            <a:r>
              <a:rPr lang="fr-FR" sz="1000" dirty="0">
                <a:latin typeface="Calibri" panose="020F0502020204030204" pitchFamily="34" charset="0"/>
                <a:ea typeface="Calibri" panose="020F0502020204030204" pitchFamily="34" charset="0"/>
                <a:cs typeface="Calibri" panose="020F0502020204030204" pitchFamily="34" charset="0"/>
              </a:rPr>
              <a:t>Éléments appartenant exclusivement à chaque copropriétaire (logement, cave privative, garage privatif, etc.).</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PPPT (Projet de Plan Pluriannuel de Travaux)</a:t>
            </a:r>
          </a:p>
          <a:p>
            <a:pPr algn="just"/>
            <a:r>
              <a:rPr lang="fr-FR" sz="1000" dirty="0">
                <a:latin typeface="Calibri" panose="020F0502020204030204" pitchFamily="34" charset="0"/>
                <a:ea typeface="Calibri" panose="020F0502020204030204" pitchFamily="34" charset="0"/>
                <a:cs typeface="Calibri" panose="020F0502020204030204" pitchFamily="34" charset="0"/>
              </a:rPr>
              <a:t>Document prévisionnel identifiant les travaux à envisager sur une période de 10 ans. Il est présenté à l'assemblée générale avant son éventuelle adoption.</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PPT (Plan Pluriannuel de Travaux)</a:t>
            </a:r>
          </a:p>
          <a:p>
            <a:pPr algn="just"/>
            <a:r>
              <a:rPr lang="fr-FR" sz="1000" dirty="0">
                <a:latin typeface="Calibri" panose="020F0502020204030204" pitchFamily="34" charset="0"/>
                <a:ea typeface="Calibri" panose="020F0502020204030204" pitchFamily="34" charset="0"/>
                <a:cs typeface="Calibri" panose="020F0502020204030204" pitchFamily="34" charset="0"/>
              </a:rPr>
              <a:t>Version adoptée du PPPT par les copropriétaires. Il constitue la feuille de route des travaux programmés par la copropriété.</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Pompe à chaleur (PAC)</a:t>
            </a:r>
          </a:p>
          <a:p>
            <a:pPr algn="just"/>
            <a:r>
              <a:rPr lang="fr-FR" sz="1000" dirty="0">
                <a:latin typeface="Calibri" panose="020F0502020204030204" pitchFamily="34" charset="0"/>
                <a:ea typeface="Calibri" panose="020F0502020204030204" pitchFamily="34" charset="0"/>
                <a:cs typeface="Calibri" panose="020F0502020204030204" pitchFamily="34" charset="0"/>
              </a:rPr>
              <a:t>Équipement utilisant les calories naturellement présentes dans l'air, l'eau ou le sol afin de produire de la chaleur avec une consommation énergétique réduite.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Réseau de chaleur urbain</a:t>
            </a:r>
          </a:p>
          <a:p>
            <a:pPr algn="just"/>
            <a:r>
              <a:rPr lang="fr-FR" sz="1000" dirty="0">
                <a:latin typeface="Calibri" panose="020F0502020204030204" pitchFamily="34" charset="0"/>
                <a:ea typeface="Calibri" panose="020F0502020204030204" pitchFamily="34" charset="0"/>
                <a:cs typeface="Calibri" panose="020F0502020204030204" pitchFamily="34" charset="0"/>
              </a:rPr>
              <a:t>Système collectif de production et de distribution de chaleur alimentant plusieurs bâtiments à partir d'une centrale de production, souvent alimentée en énergies renouvelables ou de récupération.</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SCOP (Coefficient de Performance Saisonnier)</a:t>
            </a:r>
          </a:p>
          <a:p>
            <a:pPr algn="just"/>
            <a:r>
              <a:rPr lang="fr-FR" sz="1000" dirty="0">
                <a:latin typeface="Calibri" panose="020F0502020204030204" pitchFamily="34" charset="0"/>
                <a:ea typeface="Calibri" panose="020F0502020204030204" pitchFamily="34" charset="0"/>
                <a:cs typeface="Calibri" panose="020F0502020204030204" pitchFamily="34" charset="0"/>
              </a:rPr>
              <a:t>Indicateur de performance d'une pompe à chaleur. Il représente le rapport entre l'énergie produite et l'énergie consommée sur une saison de chauffage.</a:t>
            </a:r>
          </a:p>
        </p:txBody>
      </p:sp>
      <p:sp>
        <p:nvSpPr>
          <p:cNvPr id="4" name="Espace réservé du pied de page 5">
            <a:extLst>
              <a:ext uri="{FF2B5EF4-FFF2-40B4-BE49-F238E27FC236}">
                <a16:creationId xmlns:a16="http://schemas.microsoft.com/office/drawing/2014/main" id="{C4C7EFA8-5CC3-9E23-38DD-9C55591DEAA0}"/>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7694BB69-0DA2-A845-C5D5-E287EB14DF82}"/>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23</a:t>
            </a:fld>
            <a:endParaRPr lang="fr-FR" sz="965" dirty="0"/>
          </a:p>
        </p:txBody>
      </p:sp>
      <p:pic>
        <p:nvPicPr>
          <p:cNvPr id="7" name="Image 6">
            <a:extLst>
              <a:ext uri="{FF2B5EF4-FFF2-40B4-BE49-F238E27FC236}">
                <a16:creationId xmlns:a16="http://schemas.microsoft.com/office/drawing/2014/main" id="{3F688570-2C3C-45EF-3E59-3CDF864B566F}"/>
              </a:ext>
            </a:extLst>
          </p:cNvPr>
          <p:cNvPicPr>
            <a:picLocks noChangeAspect="1"/>
          </p:cNvPicPr>
          <p:nvPr/>
        </p:nvPicPr>
        <p:blipFill>
          <a:blip r:embed="rId2"/>
          <a:stretch>
            <a:fillRect/>
          </a:stretch>
        </p:blipFill>
        <p:spPr>
          <a:xfrm>
            <a:off x="541020" y="98814"/>
            <a:ext cx="2246544" cy="594519"/>
          </a:xfrm>
          <a:prstGeom prst="rect">
            <a:avLst/>
          </a:prstGeom>
        </p:spPr>
      </p:pic>
      <p:sp>
        <p:nvSpPr>
          <p:cNvPr id="8" name="ZoneTexte 7">
            <a:extLst>
              <a:ext uri="{FF2B5EF4-FFF2-40B4-BE49-F238E27FC236}">
                <a16:creationId xmlns:a16="http://schemas.microsoft.com/office/drawing/2014/main" id="{412850B7-A10F-41E6-A7DC-0B7BCC495331}"/>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9. LEXIQUE</a:t>
            </a:r>
          </a:p>
        </p:txBody>
      </p:sp>
    </p:spTree>
    <p:extLst>
      <p:ext uri="{BB962C8B-B14F-4D97-AF65-F5344CB8AC3E}">
        <p14:creationId xmlns:p14="http://schemas.microsoft.com/office/powerpoint/2010/main" val="2659866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CBA1D-67A7-CA4F-EE6F-822263E2B4D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1A9C012-5C0D-089D-3E8D-3785433263CC}"/>
              </a:ext>
            </a:extLst>
          </p:cNvPr>
          <p:cNvSpPr txBox="1"/>
          <p:nvPr/>
        </p:nvSpPr>
        <p:spPr>
          <a:xfrm>
            <a:off x="541020" y="1204649"/>
            <a:ext cx="6484620" cy="8710077"/>
          </a:xfrm>
          <a:prstGeom prst="rect">
            <a:avLst/>
          </a:prstGeom>
          <a:noFill/>
        </p:spPr>
        <p:txBody>
          <a:bodyPr wrap="square" rtlCol="0">
            <a:spAutoFit/>
          </a:bodyPr>
          <a:lstStyle/>
          <a:p>
            <a:pPr algn="just"/>
            <a:r>
              <a:rPr lang="fr-FR" sz="1000" b="1" dirty="0">
                <a:latin typeface="Calibri" panose="020F0502020204030204" pitchFamily="34" charset="0"/>
                <a:ea typeface="Calibri" panose="020F0502020204030204" pitchFamily="34" charset="0"/>
                <a:cs typeface="Calibri" panose="020F0502020204030204" pitchFamily="34" charset="0"/>
              </a:rPr>
              <a:t>VMC (Ventilation Mécanique Contrôlée)</a:t>
            </a:r>
          </a:p>
          <a:p>
            <a:pPr algn="just"/>
            <a:r>
              <a:rPr lang="fr-FR" sz="1000" dirty="0">
                <a:latin typeface="Calibri" panose="020F0502020204030204" pitchFamily="34" charset="0"/>
                <a:ea typeface="Calibri" panose="020F0502020204030204" pitchFamily="34" charset="0"/>
                <a:cs typeface="Calibri" panose="020F0502020204030204" pitchFamily="34" charset="0"/>
              </a:rPr>
              <a:t>Système assurant le renouvellement de l'air à l'intérieur des logements afin de garantir une bonne qualité de l'air et de limiter l'humidité.</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VMC Autoréglable</a:t>
            </a:r>
          </a:p>
          <a:p>
            <a:pPr algn="just"/>
            <a:r>
              <a:rPr lang="fr-FR" sz="1000" dirty="0">
                <a:latin typeface="Calibri" panose="020F0502020204030204" pitchFamily="34" charset="0"/>
                <a:ea typeface="Calibri" panose="020F0502020204030204" pitchFamily="34" charset="0"/>
                <a:cs typeface="Calibri" panose="020F0502020204030204" pitchFamily="34" charset="0"/>
              </a:rPr>
              <a:t>Système de ventilation fonctionnant avec des débits d'air constants indépendamment du taux d'humidité des logements.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VMC Hygroréglable Type A</a:t>
            </a:r>
          </a:p>
          <a:p>
            <a:pPr algn="just"/>
            <a:r>
              <a:rPr lang="fr-FR" sz="1000" dirty="0">
                <a:latin typeface="Calibri" panose="020F0502020204030204" pitchFamily="34" charset="0"/>
                <a:ea typeface="Calibri" panose="020F0502020204030204" pitchFamily="34" charset="0"/>
                <a:cs typeface="Calibri" panose="020F0502020204030204" pitchFamily="34" charset="0"/>
              </a:rPr>
              <a:t>Système dont les bouches d'extraction adaptent automatiquement leur débit en fonction du taux d'humidité.</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VMC Hygroréglable Type B</a:t>
            </a:r>
          </a:p>
          <a:p>
            <a:pPr algn="just"/>
            <a:r>
              <a:rPr lang="fr-FR" sz="1000" dirty="0">
                <a:latin typeface="Calibri" panose="020F0502020204030204" pitchFamily="34" charset="0"/>
                <a:ea typeface="Calibri" panose="020F0502020204030204" pitchFamily="34" charset="0"/>
                <a:cs typeface="Calibri" panose="020F0502020204030204" pitchFamily="34" charset="0"/>
              </a:rPr>
              <a:t>Système dont les bouches d'extraction et les entrées d'air adaptent automatiquement leurs débits en fonction de l'humidité, permettant des économies d'énergie supplémentaires.</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Uw</a:t>
            </a:r>
          </a:p>
          <a:p>
            <a:pPr algn="just"/>
            <a:r>
              <a:rPr lang="fr-FR" sz="1000" dirty="0">
                <a:latin typeface="Calibri" panose="020F0502020204030204" pitchFamily="34" charset="0"/>
                <a:ea typeface="Calibri" panose="020F0502020204030204" pitchFamily="34" charset="0"/>
                <a:cs typeface="Calibri" panose="020F0502020204030204" pitchFamily="34" charset="0"/>
              </a:rPr>
              <a:t>Coefficient de transmission thermique d'une fenêtre. Plus sa valeur est faible, plus la menuiserie est performante.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kWhEP/m².an</a:t>
            </a:r>
          </a:p>
          <a:p>
            <a:pPr algn="just"/>
            <a:r>
              <a:rPr lang="fr-FR" sz="1000" dirty="0">
                <a:latin typeface="Calibri" panose="020F0502020204030204" pitchFamily="34" charset="0"/>
                <a:ea typeface="Calibri" panose="020F0502020204030204" pitchFamily="34" charset="0"/>
                <a:cs typeface="Calibri" panose="020F0502020204030204" pitchFamily="34" charset="0"/>
              </a:rPr>
              <a:t>Unité utilisée dans les études énergétiques pour exprimer la consommation annuelle d'énergie primaire rapportée à la surface du bâtiment.</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Résistance thermique (R)</a:t>
            </a:r>
          </a:p>
          <a:p>
            <a:pPr algn="just"/>
            <a:r>
              <a:rPr lang="fr-FR" sz="1000" dirty="0">
                <a:latin typeface="Calibri" panose="020F0502020204030204" pitchFamily="34" charset="0"/>
                <a:ea typeface="Calibri" panose="020F0502020204030204" pitchFamily="34" charset="0"/>
                <a:cs typeface="Calibri" panose="020F0502020204030204" pitchFamily="34" charset="0"/>
              </a:rPr>
              <a:t>Indicateur de performance d'un isolant. Plus sa valeur est élevée, plus l'isolation est performante.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Conductivité thermique (λ)</a:t>
            </a:r>
          </a:p>
          <a:p>
            <a:pPr algn="just"/>
            <a:r>
              <a:rPr lang="fr-FR" sz="1000" dirty="0">
                <a:latin typeface="Calibri" panose="020F0502020204030204" pitchFamily="34" charset="0"/>
                <a:ea typeface="Calibri" panose="020F0502020204030204" pitchFamily="34" charset="0"/>
                <a:cs typeface="Calibri" panose="020F0502020204030204" pitchFamily="34" charset="0"/>
              </a:rPr>
              <a:t>Capacité d'un matériau à transmettre la chaleur. Plus la valeur λ est faible, plus le matériau est isolant.</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Pont thermique</a:t>
            </a:r>
          </a:p>
          <a:p>
            <a:pPr algn="just"/>
            <a:r>
              <a:rPr lang="fr-FR" sz="1000" dirty="0">
                <a:latin typeface="Calibri" panose="020F0502020204030204" pitchFamily="34" charset="0"/>
                <a:ea typeface="Calibri" panose="020F0502020204030204" pitchFamily="34" charset="0"/>
                <a:cs typeface="Calibri" panose="020F0502020204030204" pitchFamily="34" charset="0"/>
              </a:rPr>
              <a:t>Zone localisée de l'enveloppe du bâtiment où l'isolation est moins performante, entraînant des pertes de chaleur supplémentaires et parfois des phénomènes de condensation.</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Déperditions thermiques</a:t>
            </a:r>
          </a:p>
          <a:p>
            <a:pPr algn="just"/>
            <a:r>
              <a:rPr lang="fr-FR" sz="1000" dirty="0">
                <a:latin typeface="Calibri" panose="020F0502020204030204" pitchFamily="34" charset="0"/>
                <a:ea typeface="Calibri" panose="020F0502020204030204" pitchFamily="34" charset="0"/>
                <a:cs typeface="Calibri" panose="020F0502020204030204" pitchFamily="34" charset="0"/>
              </a:rPr>
              <a:t>Quantité de chaleur perdue par le bâtiment à travers les murs, la toiture, les fenêtres, le plancher bas ou le renouvellement d'air.</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Énergie primaire (EP)</a:t>
            </a:r>
          </a:p>
          <a:p>
            <a:pPr algn="just"/>
            <a:r>
              <a:rPr lang="fr-FR" sz="1000" dirty="0">
                <a:latin typeface="Calibri" panose="020F0502020204030204" pitchFamily="34" charset="0"/>
                <a:ea typeface="Calibri" panose="020F0502020204030204" pitchFamily="34" charset="0"/>
                <a:cs typeface="Calibri" panose="020F0502020204030204" pitchFamily="34" charset="0"/>
              </a:rPr>
              <a:t>Énergie nécessaire pour produire et acheminer l'énergie consommée dans le bâtiment. C'est l'unité utilisée dans le DPE.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Énergie finale (EF)</a:t>
            </a:r>
          </a:p>
          <a:p>
            <a:pPr algn="just"/>
            <a:r>
              <a:rPr lang="fr-FR" sz="1000" dirty="0">
                <a:latin typeface="Calibri" panose="020F0502020204030204" pitchFamily="34" charset="0"/>
                <a:ea typeface="Calibri" panose="020F0502020204030204" pitchFamily="34" charset="0"/>
                <a:cs typeface="Calibri" panose="020F0502020204030204" pitchFamily="34" charset="0"/>
              </a:rPr>
              <a:t>Énergie effectivement consommée par l'utilisateur et figurant sur les factures (gaz, électricité, réseau de chaleur, etc.).</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Rendement</a:t>
            </a:r>
          </a:p>
          <a:p>
            <a:pPr algn="just"/>
            <a:r>
              <a:rPr lang="fr-FR" sz="1000" dirty="0">
                <a:latin typeface="Calibri" panose="020F0502020204030204" pitchFamily="34" charset="0"/>
                <a:ea typeface="Calibri" panose="020F0502020204030204" pitchFamily="34" charset="0"/>
                <a:cs typeface="Calibri" panose="020F0502020204030204" pitchFamily="34" charset="0"/>
              </a:rPr>
              <a:t>Rapport entre l'énergie utile produite par un équipement et l'énergie consommée pour la produire. Plus le rendement est élevé, plus l'installation est performante.</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Calorifugeage</a:t>
            </a:r>
          </a:p>
          <a:p>
            <a:pPr algn="just"/>
            <a:r>
              <a:rPr lang="fr-FR" sz="1000" dirty="0">
                <a:latin typeface="Calibri" panose="020F0502020204030204" pitchFamily="34" charset="0"/>
                <a:ea typeface="Calibri" panose="020F0502020204030204" pitchFamily="34" charset="0"/>
                <a:cs typeface="Calibri" panose="020F0502020204030204" pitchFamily="34" charset="0"/>
              </a:rPr>
              <a:t>Isolation thermique des canalisations, vannes et accessoires de chauffage ou d'eau chaude sanitaire afin de limiter les pertes d'énergie.</a:t>
            </a:r>
          </a:p>
          <a:p>
            <a:pPr algn="just"/>
            <a:endParaRPr lang="fr-FR" sz="1000" b="1"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Audit énergétique</a:t>
            </a:r>
          </a:p>
          <a:p>
            <a:pPr algn="just"/>
            <a:r>
              <a:rPr lang="fr-FR" sz="1000" dirty="0">
                <a:latin typeface="Calibri" panose="020F0502020204030204" pitchFamily="34" charset="0"/>
                <a:ea typeface="Calibri" panose="020F0502020204030204" pitchFamily="34" charset="0"/>
                <a:cs typeface="Calibri" panose="020F0502020204030204" pitchFamily="34" charset="0"/>
              </a:rPr>
              <a:t>Étude approfondie visant à identifier les déperditions énergétiques du bâtiment et à proposer différents scénarios de travaux d'amélioration.</a:t>
            </a:r>
          </a:p>
          <a:p>
            <a:pPr algn="just"/>
            <a:endParaRPr lang="fr-FR" sz="1000" dirty="0">
              <a:latin typeface="Calibri" panose="020F0502020204030204" pitchFamily="34" charset="0"/>
              <a:ea typeface="Calibri" panose="020F0502020204030204" pitchFamily="34" charset="0"/>
              <a:cs typeface="Calibri" panose="020F0502020204030204" pitchFamily="34" charset="0"/>
            </a:endParaRPr>
          </a:p>
          <a:p>
            <a:pPr algn="just"/>
            <a:r>
              <a:rPr lang="fr-FR" sz="1000" b="1" dirty="0">
                <a:latin typeface="Calibri" panose="020F0502020204030204" pitchFamily="34" charset="0"/>
                <a:ea typeface="Calibri" panose="020F0502020204030204" pitchFamily="34" charset="0"/>
                <a:cs typeface="Calibri" panose="020F0502020204030204" pitchFamily="34" charset="0"/>
              </a:rPr>
              <a:t>Gain énergétique</a:t>
            </a:r>
          </a:p>
          <a:p>
            <a:pPr algn="just"/>
            <a:r>
              <a:rPr lang="fr-FR" sz="1000" dirty="0">
                <a:latin typeface="Calibri" panose="020F0502020204030204" pitchFamily="34" charset="0"/>
                <a:ea typeface="Calibri" panose="020F0502020204030204" pitchFamily="34" charset="0"/>
                <a:cs typeface="Calibri" panose="020F0502020204030204" pitchFamily="34" charset="0"/>
              </a:rPr>
              <a:t>Réduction des consommations conventionnelles d'énergie obtenue après réalisation des travaux, exprimée en pourcentage.</a:t>
            </a:r>
          </a:p>
        </p:txBody>
      </p:sp>
      <p:sp>
        <p:nvSpPr>
          <p:cNvPr id="4" name="Espace réservé du pied de page 5">
            <a:extLst>
              <a:ext uri="{FF2B5EF4-FFF2-40B4-BE49-F238E27FC236}">
                <a16:creationId xmlns:a16="http://schemas.microsoft.com/office/drawing/2014/main" id="{13BA3078-EF22-2146-0DDA-1FF4AA55DD01}"/>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5" name="Espace réservé du numéro de diapositive 6">
            <a:extLst>
              <a:ext uri="{FF2B5EF4-FFF2-40B4-BE49-F238E27FC236}">
                <a16:creationId xmlns:a16="http://schemas.microsoft.com/office/drawing/2014/main" id="{5D466093-A906-97AD-E0B7-73B61C3D6B8D}"/>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24</a:t>
            </a:fld>
            <a:endParaRPr lang="fr-FR" sz="965" dirty="0"/>
          </a:p>
        </p:txBody>
      </p:sp>
      <p:pic>
        <p:nvPicPr>
          <p:cNvPr id="3" name="Image 2">
            <a:extLst>
              <a:ext uri="{FF2B5EF4-FFF2-40B4-BE49-F238E27FC236}">
                <a16:creationId xmlns:a16="http://schemas.microsoft.com/office/drawing/2014/main" id="{ED948C5E-207F-E0AA-0208-88F38219398B}"/>
              </a:ext>
            </a:extLst>
          </p:cNvPr>
          <p:cNvPicPr>
            <a:picLocks noChangeAspect="1"/>
          </p:cNvPicPr>
          <p:nvPr/>
        </p:nvPicPr>
        <p:blipFill>
          <a:blip r:embed="rId2"/>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C6721D3C-84AF-5641-52A9-ACEFAB07689A}"/>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9. LEXIQUE</a:t>
            </a:r>
          </a:p>
        </p:txBody>
      </p:sp>
    </p:spTree>
    <p:extLst>
      <p:ext uri="{BB962C8B-B14F-4D97-AF65-F5344CB8AC3E}">
        <p14:creationId xmlns:p14="http://schemas.microsoft.com/office/powerpoint/2010/main" val="2268024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1174-B7E4-DD67-07B4-B121FFCDE69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C392D78A-D547-187C-75DD-B12F081FDD2E}"/>
              </a:ext>
            </a:extLst>
          </p:cNvPr>
          <p:cNvSpPr txBox="1"/>
          <p:nvPr/>
        </p:nvSpPr>
        <p:spPr>
          <a:xfrm>
            <a:off x="541020" y="1281017"/>
            <a:ext cx="6484620" cy="2462213"/>
          </a:xfrm>
          <a:prstGeom prst="rect">
            <a:avLst/>
          </a:prstGeom>
          <a:noFill/>
        </p:spPr>
        <p:txBody>
          <a:bodyPr wrap="square" rtlCol="0">
            <a:spAutoFit/>
          </a:bodyPr>
          <a:lstStyle/>
          <a:p>
            <a:pPr algn="just"/>
            <a:r>
              <a:rPr lang="fr-FR" sz="1100" dirty="0">
                <a:latin typeface="Calibri" panose="020F0502020204030204" pitchFamily="34" charset="0"/>
                <a:ea typeface="Calibri" panose="020F0502020204030204" pitchFamily="34" charset="0"/>
                <a:cs typeface="Calibri" panose="020F0502020204030204" pitchFamily="34" charset="0"/>
              </a:rPr>
              <a:t>Pour réaliser le Plan de Projet Pluriannuel de Travaux, la société France Verte ou son représentant: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Atteste que les employés, les membres du groupement ou lui-même possèdent les compétences requises pour mener à bien cette mission.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Atteste qu’il a souscrit une assurance responsabilité civile professionnelle lui permettant de couvrir les conséquences d'un engagement de sa responsabilité en raison de ses interventions au titre du diagnostic technique global.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Atteste sur l'honneur de son impartialité et de son indépendance à l'égard du syndic sauf si ce dernier a obtenu l'autorisation mentionnée à l'article 18 de la loi du 10 juillet 1965 fixant le statut de la copropriété des immeubles bâtis. </a:t>
            </a:r>
          </a:p>
          <a:p>
            <a:pPr marL="150362" indent="-150362" algn="just">
              <a:buFont typeface="Arial" panose="020B0604020202020204" pitchFamily="34" charset="0"/>
              <a:buChar char="•"/>
            </a:pPr>
            <a:r>
              <a:rPr lang="fr-FR" sz="1100" dirty="0">
                <a:latin typeface="Calibri" panose="020F0502020204030204" pitchFamily="34" charset="0"/>
                <a:ea typeface="Calibri" panose="020F0502020204030204" pitchFamily="34" charset="0"/>
                <a:cs typeface="Calibri" panose="020F0502020204030204" pitchFamily="34" charset="0"/>
              </a:rPr>
              <a:t>Atteste sur l'honneur de son impartialité et de son indépendance à l'égard des fournisseurs d'énergie et des entreprises intervenant sur l'immeuble et les équipements sur lesquels porte le diagnostic technique global.</a:t>
            </a:r>
          </a:p>
          <a:p>
            <a:pPr marL="150362" indent="-150362" algn="just">
              <a:buFont typeface="Arial" panose="020B0604020202020204" pitchFamily="34" charset="0"/>
              <a:buChar char="•"/>
            </a:pPr>
            <a:endParaRPr lang="fr-FR" sz="1100" b="1" dirty="0">
              <a:solidFill>
                <a:srgbClr val="04CC7E"/>
              </a:solidFill>
              <a:latin typeface="Calibri" panose="020F0502020204030204" pitchFamily="34" charset="0"/>
              <a:ea typeface="Calibri" panose="020F0502020204030204" pitchFamily="34" charset="0"/>
              <a:cs typeface="Calibri" panose="020F0502020204030204" pitchFamily="34" charset="0"/>
            </a:endParaRPr>
          </a:p>
          <a:p>
            <a:pPr algn="just"/>
            <a:r>
              <a:rPr lang="fr-FR" sz="1100" i="1"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rPr>
              <a:t>TEXTE DE REFERENCE : Décret n°2022-663 du 25 avril 2022 relatif aux modalités de réalisation du Plan de Projet Pluriannuel de Travaux des immeubles à destination partielle ou totale d’habitation.</a:t>
            </a:r>
            <a:endParaRPr lang="fr-FR" sz="1100" b="1" i="1"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5" name="ZoneTexte 4">
            <a:extLst>
              <a:ext uri="{FF2B5EF4-FFF2-40B4-BE49-F238E27FC236}">
                <a16:creationId xmlns:a16="http://schemas.microsoft.com/office/drawing/2014/main" id="{A4AF32FE-B946-3755-C753-11A1E1FA23D7}"/>
              </a:ext>
            </a:extLst>
          </p:cNvPr>
          <p:cNvSpPr txBox="1"/>
          <p:nvPr/>
        </p:nvSpPr>
        <p:spPr>
          <a:xfrm>
            <a:off x="541020" y="5161683"/>
            <a:ext cx="6484620" cy="3359061"/>
          </a:xfrm>
          <a:prstGeom prst="rect">
            <a:avLst/>
          </a:prstGeom>
          <a:noFill/>
        </p:spPr>
        <p:txBody>
          <a:bodyPr wrap="square" rtlCol="0">
            <a:spAutoFit/>
          </a:bodyPr>
          <a:lstStyle/>
          <a:p>
            <a:pPr algn="just"/>
            <a:r>
              <a:rPr lang="fr-FR" sz="1300" b="1" dirty="0">
                <a:latin typeface="Calibri" panose="020F0502020204030204" pitchFamily="34" charset="0"/>
                <a:ea typeface="Calibri" panose="020F0502020204030204" pitchFamily="34" charset="0"/>
                <a:cs typeface="Calibri" panose="020F0502020204030204" pitchFamily="34" charset="0"/>
              </a:rPr>
              <a:t>11.1 Etat des risques et informations Géorisques</a:t>
            </a:r>
          </a:p>
          <a:p>
            <a:pPr algn="just"/>
            <a:endParaRPr lang="fr-FR" sz="1100" b="1"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Vous trouverez aux pages suivantes le rapport Géorisques correspondant à l'adresse de la copropriété, établi à partir des données publiques mises à disposition par l'État.</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Ce document présente les principaux risques naturels, miniers, technologiques, sismiques, radon, retrait-gonflement des argiles et autres aléas susceptibles de concerner le secteur géographique de l'immeuble.</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Les informations présentées proviennent du portail officiel Géorisques et sont fournies à titre informatif :</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latin typeface="Calibri" panose="020F0502020204030204" pitchFamily="34" charset="0"/>
                <a:ea typeface="Calibri" panose="020F0502020204030204" pitchFamily="34" charset="0"/>
                <a:cs typeface="Calibri" panose="020F0502020204030204" pitchFamily="34" charset="0"/>
                <a:hlinkClick r:id="rId2"/>
              </a:rPr>
              <a:t>www.georisques.gouv.fr</a:t>
            </a:r>
            <a:endParaRPr lang="fr-FR" sz="1100" b="1" dirty="0">
              <a:latin typeface="Calibri" panose="020F0502020204030204" pitchFamily="34" charset="0"/>
              <a:ea typeface="Calibri" panose="020F0502020204030204" pitchFamily="34" charset="0"/>
              <a:cs typeface="Calibri" panose="020F0502020204030204" pitchFamily="34" charset="0"/>
            </a:endParaRP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Ce document est couramment utilisé dans le cadre des transactions immobilières et peut notamment servir de base à l'établissement de l'État des Risques et Pollutions (ERP) requis lors de certaines ventes ou locations.</a:t>
            </a:r>
          </a:p>
          <a:p>
            <a:pPr algn="just"/>
            <a:endParaRPr lang="fr-FR" sz="1100" dirty="0">
              <a:latin typeface="Calibri" panose="020F0502020204030204" pitchFamily="34" charset="0"/>
              <a:ea typeface="Calibri" panose="020F0502020204030204" pitchFamily="34" charset="0"/>
              <a:cs typeface="Calibri" panose="020F0502020204030204" pitchFamily="34" charset="0"/>
            </a:endParaRPr>
          </a:p>
          <a:p>
            <a:pPr algn="just"/>
            <a:r>
              <a:rPr lang="fr-FR" sz="1100" dirty="0">
                <a:latin typeface="Calibri" panose="020F0502020204030204" pitchFamily="34" charset="0"/>
                <a:ea typeface="Calibri" panose="020F0502020204030204" pitchFamily="34" charset="0"/>
                <a:cs typeface="Calibri" panose="020F0502020204030204" pitchFamily="34" charset="0"/>
              </a:rPr>
              <a:t>Le rapport Géorisques est annexé au présent PPPT afin d'apporter un éclairage complémentaire sur l'environnement de l'immeuble. Il ne constitue toutefois ni une étude géotechnique, ni une expertise des risques, ni une analyse structurelle du bâtiment.</a:t>
            </a:r>
          </a:p>
          <a:p>
            <a:pPr algn="just"/>
            <a:endParaRPr lang="fr-FR" sz="1228" b="1" dirty="0"/>
          </a:p>
        </p:txBody>
      </p:sp>
      <p:sp>
        <p:nvSpPr>
          <p:cNvPr id="3" name="Espace réservé du pied de page 5">
            <a:extLst>
              <a:ext uri="{FF2B5EF4-FFF2-40B4-BE49-F238E27FC236}">
                <a16:creationId xmlns:a16="http://schemas.microsoft.com/office/drawing/2014/main" id="{8303997C-8EC1-AC2F-A04A-09BE5A2B3A05}"/>
              </a:ext>
            </a:extLst>
          </p:cNvPr>
          <p:cNvSpPr>
            <a:spLocks noGrp="1"/>
          </p:cNvSpPr>
          <p:nvPr>
            <p:ph type="ftr" sz="quarter" idx="11"/>
          </p:nvPr>
        </p:nvSpPr>
        <p:spPr>
          <a:xfrm>
            <a:off x="2764951" y="10146478"/>
            <a:ext cx="2029774" cy="332491"/>
          </a:xfrm>
        </p:spPr>
        <p:txBody>
          <a:bodyPr/>
          <a:lstStyle/>
          <a:p>
            <a:r>
              <a:rPr lang="fr-FR" sz="965"/>
              <a:t>Copropriété LE COTE SQUARE </a:t>
            </a:r>
            <a:endParaRPr lang="fr-FR" sz="965" dirty="0"/>
          </a:p>
        </p:txBody>
      </p:sp>
      <p:sp>
        <p:nvSpPr>
          <p:cNvPr id="8" name="Espace réservé du numéro de diapositive 6">
            <a:extLst>
              <a:ext uri="{FF2B5EF4-FFF2-40B4-BE49-F238E27FC236}">
                <a16:creationId xmlns:a16="http://schemas.microsoft.com/office/drawing/2014/main" id="{48F10E4B-C5E6-41FE-17F3-12EB42CC1C7F}"/>
              </a:ext>
            </a:extLst>
          </p:cNvPr>
          <p:cNvSpPr>
            <a:spLocks noGrp="1"/>
          </p:cNvSpPr>
          <p:nvPr>
            <p:ph type="sldNum" sz="quarter" idx="12"/>
          </p:nvPr>
        </p:nvSpPr>
        <p:spPr>
          <a:xfrm>
            <a:off x="5991705" y="10146478"/>
            <a:ext cx="381732" cy="332491"/>
          </a:xfrm>
        </p:spPr>
        <p:txBody>
          <a:bodyPr/>
          <a:lstStyle/>
          <a:p>
            <a:fld id="{CAAAFFDE-0A40-4191-B1DF-7348E5FF338F}" type="slidenum">
              <a:rPr lang="fr-FR" sz="965"/>
              <a:t>25</a:t>
            </a:fld>
            <a:endParaRPr lang="fr-FR" sz="965" dirty="0"/>
          </a:p>
        </p:txBody>
      </p:sp>
      <p:pic>
        <p:nvPicPr>
          <p:cNvPr id="6" name="Image 5">
            <a:extLst>
              <a:ext uri="{FF2B5EF4-FFF2-40B4-BE49-F238E27FC236}">
                <a16:creationId xmlns:a16="http://schemas.microsoft.com/office/drawing/2014/main" id="{D915937F-6C2B-E0C5-C135-040ACAABC573}"/>
              </a:ext>
            </a:extLst>
          </p:cNvPr>
          <p:cNvPicPr>
            <a:picLocks noChangeAspect="1"/>
          </p:cNvPicPr>
          <p:nvPr/>
        </p:nvPicPr>
        <p:blipFill>
          <a:blip r:embed="rId3"/>
          <a:stretch>
            <a:fillRect/>
          </a:stretch>
        </p:blipFill>
        <p:spPr>
          <a:xfrm>
            <a:off x="541020" y="98814"/>
            <a:ext cx="2246544" cy="594519"/>
          </a:xfrm>
          <a:prstGeom prst="rect">
            <a:avLst/>
          </a:prstGeom>
        </p:spPr>
      </p:pic>
      <p:sp>
        <p:nvSpPr>
          <p:cNvPr id="7" name="ZoneTexte 6">
            <a:extLst>
              <a:ext uri="{FF2B5EF4-FFF2-40B4-BE49-F238E27FC236}">
                <a16:creationId xmlns:a16="http://schemas.microsoft.com/office/drawing/2014/main" id="{C8974A5D-F525-4401-2700-7ED0E7B6EF24}"/>
              </a:ext>
            </a:extLst>
          </p:cNvPr>
          <p:cNvSpPr txBox="1"/>
          <p:nvPr/>
        </p:nvSpPr>
        <p:spPr>
          <a:xfrm>
            <a:off x="541020" y="797114"/>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10. DÉCLARATION SUR L’HONNEUR</a:t>
            </a:r>
          </a:p>
        </p:txBody>
      </p:sp>
      <p:sp>
        <p:nvSpPr>
          <p:cNvPr id="10" name="ZoneTexte 9">
            <a:extLst>
              <a:ext uri="{FF2B5EF4-FFF2-40B4-BE49-F238E27FC236}">
                <a16:creationId xmlns:a16="http://schemas.microsoft.com/office/drawing/2014/main" id="{07B2CBBF-A3C7-694C-DC61-3E3412EE91BC}"/>
              </a:ext>
            </a:extLst>
          </p:cNvPr>
          <p:cNvSpPr txBox="1"/>
          <p:nvPr/>
        </p:nvSpPr>
        <p:spPr>
          <a:xfrm>
            <a:off x="537527" y="4625373"/>
            <a:ext cx="6484620" cy="335348"/>
          </a:xfrm>
          <a:prstGeom prst="rect">
            <a:avLst/>
          </a:prstGeom>
          <a:solidFill>
            <a:srgbClr val="00B050"/>
          </a:solidFill>
        </p:spPr>
        <p:txBody>
          <a:bodyPr wrap="square" rtlCol="0">
            <a:spAutoFit/>
          </a:bodyPr>
          <a:lstStyle/>
          <a:p>
            <a:pPr algn="ctr"/>
            <a:r>
              <a:rPr lang="fr-FR" sz="1579" b="1" dirty="0">
                <a:solidFill>
                  <a:schemeClr val="bg1"/>
                </a:solidFill>
                <a:latin typeface="Calibri" panose="020F0502020204030204" pitchFamily="34" charset="0"/>
                <a:ea typeface="Calibri" panose="020F0502020204030204" pitchFamily="34" charset="0"/>
                <a:cs typeface="Calibri" panose="020F0502020204030204" pitchFamily="34" charset="0"/>
              </a:rPr>
              <a:t>11. ANNEXE</a:t>
            </a:r>
          </a:p>
        </p:txBody>
      </p:sp>
    </p:spTree>
    <p:extLst>
      <p:ext uri="{BB962C8B-B14F-4D97-AF65-F5344CB8AC3E}">
        <p14:creationId xmlns:p14="http://schemas.microsoft.com/office/powerpoint/2010/main" val="3963176929"/>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8511</Words>
  <Application>Microsoft Office PowerPoint</Application>
  <PresentationFormat>Personnalisé</PresentationFormat>
  <Paragraphs>882</Paragraphs>
  <Slides>25</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25</vt:i4>
      </vt:variant>
    </vt:vector>
  </HeadingPairs>
  <TitlesOfParts>
    <vt:vector size="30" baseType="lpstr">
      <vt:lpstr>Aptos</vt:lpstr>
      <vt:lpstr>Aptos Display</vt:lpstr>
      <vt:lpstr>Arial</vt:lpstr>
      <vt:lpstr>Calibri</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FRANCE VERTE</dc:creator>
  <cp:lastModifiedBy>MT-013</cp:lastModifiedBy>
  <cp:revision>54</cp:revision>
  <cp:lastPrinted>2026-07-23T14:37:21Z</cp:lastPrinted>
  <dcterms:created xsi:type="dcterms:W3CDTF">2026-06-15T10:18:41Z</dcterms:created>
  <dcterms:modified xsi:type="dcterms:W3CDTF">2026-10-05T16:54:33Z</dcterms:modified>
</cp:coreProperties>
</file>