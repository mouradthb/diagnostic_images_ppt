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sldIdLst>
    <p:sldId id="256" r:id="rId2"/>
    <p:sldId id="334" r:id="rId3"/>
    <p:sldId id="293" r:id="rId4"/>
    <p:sldId id="347" r:id="rId5"/>
    <p:sldId id="292" r:id="rId6"/>
    <p:sldId id="295" r:id="rId7"/>
    <p:sldId id="281" r:id="rId8"/>
    <p:sldId id="258" r:id="rId9"/>
    <p:sldId id="259" r:id="rId10"/>
    <p:sldId id="282" r:id="rId11"/>
    <p:sldId id="298" r:id="rId12"/>
    <p:sldId id="299" r:id="rId13"/>
    <p:sldId id="297" r:id="rId14"/>
    <p:sldId id="261" r:id="rId15"/>
    <p:sldId id="262" r:id="rId16"/>
    <p:sldId id="284" r:id="rId17"/>
    <p:sldId id="264" r:id="rId18"/>
    <p:sldId id="366" r:id="rId19"/>
    <p:sldId id="286" r:id="rId20"/>
    <p:sldId id="270" r:id="rId21"/>
    <p:sldId id="307" r:id="rId22"/>
  </p:sldIdLst>
  <p:sldSz cx="7559675" cy="1069181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8" userDrawn="1">
          <p15:clr>
            <a:srgbClr val="A4A3A4"/>
          </p15:clr>
        </p15:guide>
        <p15:guide id="2" pos="2381" userDrawn="1">
          <p15:clr>
            <a:srgbClr val="A4A3A4"/>
          </p15:clr>
        </p15:guide>
        <p15:guide id="3" pos="2472" userDrawn="1">
          <p15:clr>
            <a:srgbClr val="A4A3A4"/>
          </p15:clr>
        </p15:guide>
        <p15:guide id="4" pos="22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00B050"/>
    <a:srgbClr val="156082"/>
    <a:srgbClr val="C2F1C8"/>
    <a:srgbClr val="4EA72E"/>
    <a:srgbClr val="04CC7E"/>
    <a:srgbClr val="E96620"/>
    <a:srgbClr val="2D44FF"/>
    <a:srgbClr val="467886"/>
    <a:srgbClr val="FBE3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49" autoAdjust="0"/>
    <p:restoredTop sz="94660"/>
  </p:normalViewPr>
  <p:slideViewPr>
    <p:cSldViewPr snapToGrid="0">
      <p:cViewPr varScale="1">
        <p:scale>
          <a:sx n="112" d="100"/>
          <a:sy n="112" d="100"/>
        </p:scale>
        <p:origin x="102" y="1266"/>
      </p:cViewPr>
      <p:guideLst>
        <p:guide orient="horz" pos="3368"/>
        <p:guide pos="2381"/>
        <p:guide pos="2472"/>
        <p:guide pos="229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9690E79-DA3E-4BFF-9C78-B47714BE1CA9}" type="datetimeFigureOut">
              <a:rPr lang="fr-FR" smtClean="0"/>
              <a:t>02/10/2026</a:t>
            </a:fld>
            <a:endParaRPr lang="fr-FR"/>
          </a:p>
        </p:txBody>
      </p:sp>
      <p:sp>
        <p:nvSpPr>
          <p:cNvPr id="4" name="Espace réservé de l'image des diapositives 3"/>
          <p:cNvSpPr>
            <a:spLocks noGrp="1" noRot="1" noChangeAspect="1"/>
          </p:cNvSpPr>
          <p:nvPr>
            <p:ph type="sldImg" idx="2"/>
          </p:nvPr>
        </p:nvSpPr>
        <p:spPr>
          <a:xfrm>
            <a:off x="2216150" y="1241425"/>
            <a:ext cx="236537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689D1605-573C-4CF6-A9F0-1F3AECF8392C}" type="slidenum">
              <a:rPr lang="fr-FR" smtClean="0"/>
              <a:t>‹N°›</a:t>
            </a:fld>
            <a:endParaRPr lang="fr-FR"/>
          </a:p>
        </p:txBody>
      </p:sp>
    </p:spTree>
    <p:extLst>
      <p:ext uri="{BB962C8B-B14F-4D97-AF65-F5344CB8AC3E}">
        <p14:creationId xmlns:p14="http://schemas.microsoft.com/office/powerpoint/2010/main" val="719370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89D1605-573C-4CF6-A9F0-1F3AECF8392C}" type="slidenum">
              <a:rPr lang="fr-FR" smtClean="0"/>
              <a:t>17</a:t>
            </a:fld>
            <a:endParaRPr lang="fr-FR"/>
          </a:p>
        </p:txBody>
      </p:sp>
    </p:spTree>
    <p:extLst>
      <p:ext uri="{BB962C8B-B14F-4D97-AF65-F5344CB8AC3E}">
        <p14:creationId xmlns:p14="http://schemas.microsoft.com/office/powerpoint/2010/main" val="1650425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fr-FR"/>
              <a:t>Modifiez le style du titre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0A1BD472-B65B-4567-AD30-1DF699FACF41}" type="datetime1">
              <a:rPr lang="fr-FR" smtClean="0"/>
              <a:t>02/10/2026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2242727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1DEDEFD-4F79-4367-B527-098ED8B19067}" type="datetime1">
              <a:rPr lang="fr-FR" smtClean="0"/>
              <a:t>02/10/2026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1856358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fr-FR"/>
              <a:t>Modifiez le style du titre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tint val="82000"/>
                  </a:schemeClr>
                </a:solidFill>
              </a:defRPr>
            </a:lvl1pPr>
            <a:lvl2pPr marL="377967" indent="0">
              <a:buNone/>
              <a:defRPr sz="1653">
                <a:solidFill>
                  <a:schemeClr val="tx1">
                    <a:tint val="82000"/>
                  </a:schemeClr>
                </a:solidFill>
              </a:defRPr>
            </a:lvl2pPr>
            <a:lvl3pPr marL="755934" indent="0">
              <a:buNone/>
              <a:defRPr sz="1488">
                <a:solidFill>
                  <a:schemeClr val="tx1">
                    <a:tint val="82000"/>
                  </a:schemeClr>
                </a:solidFill>
              </a:defRPr>
            </a:lvl3pPr>
            <a:lvl4pPr marL="1133902" indent="0">
              <a:buNone/>
              <a:defRPr sz="1323">
                <a:solidFill>
                  <a:schemeClr val="tx1">
                    <a:tint val="82000"/>
                  </a:schemeClr>
                </a:solidFill>
              </a:defRPr>
            </a:lvl4pPr>
            <a:lvl5pPr marL="1511869" indent="0">
              <a:buNone/>
              <a:defRPr sz="1323">
                <a:solidFill>
                  <a:schemeClr val="tx1">
                    <a:tint val="82000"/>
                  </a:schemeClr>
                </a:solidFill>
              </a:defRPr>
            </a:lvl5pPr>
            <a:lvl6pPr marL="1889836" indent="0">
              <a:buNone/>
              <a:defRPr sz="1323">
                <a:solidFill>
                  <a:schemeClr val="tx1">
                    <a:tint val="82000"/>
                  </a:schemeClr>
                </a:solidFill>
              </a:defRPr>
            </a:lvl6pPr>
            <a:lvl7pPr marL="2267803" indent="0">
              <a:buNone/>
              <a:defRPr sz="1323">
                <a:solidFill>
                  <a:schemeClr val="tx1">
                    <a:tint val="82000"/>
                  </a:schemeClr>
                </a:solidFill>
              </a:defRPr>
            </a:lvl7pPr>
            <a:lvl8pPr marL="2645771" indent="0">
              <a:buNone/>
              <a:defRPr sz="1323">
                <a:solidFill>
                  <a:schemeClr val="tx1">
                    <a:tint val="82000"/>
                  </a:schemeClr>
                </a:solidFill>
              </a:defRPr>
            </a:lvl8pPr>
            <a:lvl9pPr marL="3023738" indent="0">
              <a:buNone/>
              <a:defRPr sz="1323">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FE70C46-16F6-4176-832E-B3B5DE54975B}" type="datetime1">
              <a:rPr lang="fr-FR" smtClean="0"/>
              <a:t>02/10/2026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4169245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06479B6-7307-47D5-B7A7-7371AFA9F5E0}" type="datetime1">
              <a:rPr lang="fr-FR" smtClean="0"/>
              <a:t>02/10/2026</a:t>
            </a:fld>
            <a:endParaRPr lang="fr-FR"/>
          </a:p>
        </p:txBody>
      </p:sp>
      <p:sp>
        <p:nvSpPr>
          <p:cNvPr id="6" name="Footer Placeholder 5"/>
          <p:cNvSpPr>
            <a:spLocks noGrp="1"/>
          </p:cNvSpPr>
          <p:nvPr>
            <p:ph type="ftr" sz="quarter" idx="11"/>
          </p:nvPr>
        </p:nvSpPr>
        <p:spPr/>
        <p:txBody>
          <a:bodyPr/>
          <a:lstStyle/>
          <a:p>
            <a:r>
              <a:rPr lang="fr-FR"/>
              <a:t>Copropriété LE COTE SQUARE </a:t>
            </a:r>
          </a:p>
        </p:txBody>
      </p:sp>
      <p:sp>
        <p:nvSpPr>
          <p:cNvPr id="7" name="Slide Number Placeholder 6"/>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2600546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fr-FR"/>
              <a:t>Modifiez le style du titre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fr-FR"/>
              <a:t>Cliquez pour modifier les styles du texte du masque</a:t>
            </a:r>
          </a:p>
        </p:txBody>
      </p:sp>
      <p:sp>
        <p:nvSpPr>
          <p:cNvPr id="4" name="Content Placeholder 3"/>
          <p:cNvSpPr>
            <a:spLocks noGrp="1"/>
          </p:cNvSpPr>
          <p:nvPr>
            <p:ph sz="half" idx="2"/>
          </p:nvPr>
        </p:nvSpPr>
        <p:spPr>
          <a:xfrm>
            <a:off x="520713" y="3905482"/>
            <a:ext cx="3198096" cy="57443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fr-FR"/>
              <a:t>Cliquez pour modifier les styles du texte du masque</a:t>
            </a:r>
          </a:p>
        </p:txBody>
      </p:sp>
      <p:sp>
        <p:nvSpPr>
          <p:cNvPr id="6" name="Content Placeholder 5"/>
          <p:cNvSpPr>
            <a:spLocks noGrp="1"/>
          </p:cNvSpPr>
          <p:nvPr>
            <p:ph sz="quarter" idx="4"/>
          </p:nvPr>
        </p:nvSpPr>
        <p:spPr>
          <a:xfrm>
            <a:off x="3827086" y="3905482"/>
            <a:ext cx="3213847" cy="57443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7877E2A-AA77-4E9D-93D3-5D0AFC92DCFC}" type="datetime1">
              <a:rPr lang="fr-FR" smtClean="0"/>
              <a:t>02/10/2026</a:t>
            </a:fld>
            <a:endParaRPr lang="fr-FR"/>
          </a:p>
        </p:txBody>
      </p:sp>
      <p:sp>
        <p:nvSpPr>
          <p:cNvPr id="8" name="Footer Placeholder 7"/>
          <p:cNvSpPr>
            <a:spLocks noGrp="1"/>
          </p:cNvSpPr>
          <p:nvPr>
            <p:ph type="ftr" sz="quarter" idx="11"/>
          </p:nvPr>
        </p:nvSpPr>
        <p:spPr/>
        <p:txBody>
          <a:bodyPr/>
          <a:lstStyle/>
          <a:p>
            <a:r>
              <a:rPr lang="fr-FR"/>
              <a:t>Copropriété LE COTE SQUARE </a:t>
            </a:r>
          </a:p>
        </p:txBody>
      </p:sp>
      <p:sp>
        <p:nvSpPr>
          <p:cNvPr id="9" name="Slide Number Placeholder 8"/>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491909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FA777905-9335-483D-90EF-172FE98E5E7F}" type="datetime1">
              <a:rPr lang="fr-FR" smtClean="0"/>
              <a:t>02/10/2026</a:t>
            </a:fld>
            <a:endParaRPr lang="fr-FR"/>
          </a:p>
        </p:txBody>
      </p:sp>
      <p:sp>
        <p:nvSpPr>
          <p:cNvPr id="4" name="Footer Placeholder 3"/>
          <p:cNvSpPr>
            <a:spLocks noGrp="1"/>
          </p:cNvSpPr>
          <p:nvPr>
            <p:ph type="ftr" sz="quarter" idx="11"/>
          </p:nvPr>
        </p:nvSpPr>
        <p:spPr/>
        <p:txBody>
          <a:bodyPr/>
          <a:lstStyle/>
          <a:p>
            <a:r>
              <a:rPr lang="fr-FR"/>
              <a:t>Copropriété LE COTE SQUARE </a:t>
            </a:r>
          </a:p>
        </p:txBody>
      </p:sp>
      <p:sp>
        <p:nvSpPr>
          <p:cNvPr id="5" name="Slide Number Placeholder 4"/>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1240067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ACB476-76D3-4F35-A96D-52F05361F705}" type="datetime1">
              <a:rPr lang="fr-FR" smtClean="0"/>
              <a:t>02/10/2026</a:t>
            </a:fld>
            <a:endParaRPr lang="fr-FR"/>
          </a:p>
        </p:txBody>
      </p:sp>
      <p:sp>
        <p:nvSpPr>
          <p:cNvPr id="3" name="Footer Placeholder 2"/>
          <p:cNvSpPr>
            <a:spLocks noGrp="1"/>
          </p:cNvSpPr>
          <p:nvPr>
            <p:ph type="ftr" sz="quarter" idx="11"/>
          </p:nvPr>
        </p:nvSpPr>
        <p:spPr/>
        <p:txBody>
          <a:bodyPr/>
          <a:lstStyle/>
          <a:p>
            <a:r>
              <a:rPr lang="fr-FR"/>
              <a:t>Copropriété LE COTE SQUARE </a:t>
            </a:r>
          </a:p>
        </p:txBody>
      </p:sp>
      <p:sp>
        <p:nvSpPr>
          <p:cNvPr id="4" name="Slide Number Placeholder 3"/>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3215863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fr-FR"/>
              <a:t>Modifiez le style du titre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1687447-0B0B-40FE-9BB6-68CC756BCD61}" type="datetime1">
              <a:rPr lang="fr-FR" smtClean="0"/>
              <a:t>02/10/2026</a:t>
            </a:fld>
            <a:endParaRPr lang="fr-FR"/>
          </a:p>
        </p:txBody>
      </p:sp>
      <p:sp>
        <p:nvSpPr>
          <p:cNvPr id="6" name="Footer Placeholder 5"/>
          <p:cNvSpPr>
            <a:spLocks noGrp="1"/>
          </p:cNvSpPr>
          <p:nvPr>
            <p:ph type="ftr" sz="quarter" idx="11"/>
          </p:nvPr>
        </p:nvSpPr>
        <p:spPr/>
        <p:txBody>
          <a:bodyPr/>
          <a:lstStyle/>
          <a:p>
            <a:r>
              <a:rPr lang="fr-FR"/>
              <a:t>Copropriété LE COTE SQUARE </a:t>
            </a:r>
          </a:p>
        </p:txBody>
      </p:sp>
      <p:sp>
        <p:nvSpPr>
          <p:cNvPr id="7" name="Slide Number Placeholder 6"/>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478745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fr-FR"/>
              <a:t>Modifiez le style du titre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fr-FR"/>
              <a:t>Cliquez sur l'icône pour ajouter une image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C2734D5-B6FC-41B0-BEB0-479DDE9F5D67}" type="datetime1">
              <a:rPr lang="fr-FR" smtClean="0"/>
              <a:t>02/10/2026</a:t>
            </a:fld>
            <a:endParaRPr lang="fr-FR"/>
          </a:p>
        </p:txBody>
      </p:sp>
      <p:sp>
        <p:nvSpPr>
          <p:cNvPr id="6" name="Footer Placeholder 5"/>
          <p:cNvSpPr>
            <a:spLocks noGrp="1"/>
          </p:cNvSpPr>
          <p:nvPr>
            <p:ph type="ftr" sz="quarter" idx="11"/>
          </p:nvPr>
        </p:nvSpPr>
        <p:spPr/>
        <p:txBody>
          <a:bodyPr/>
          <a:lstStyle/>
          <a:p>
            <a:r>
              <a:rPr lang="fr-FR"/>
              <a:t>Copropriété LE COTE SQUARE </a:t>
            </a:r>
          </a:p>
        </p:txBody>
      </p:sp>
      <p:sp>
        <p:nvSpPr>
          <p:cNvPr id="7" name="Slide Number Placeholder 6"/>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355645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5D94D43-A7D0-4324-92A9-D15D8859801C}" type="datetime1">
              <a:rPr lang="fr-FR" smtClean="0"/>
              <a:t>02/10/2026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971197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F2A4FB4-4DFD-4D6D-84B1-92D629FFF5A0}" type="datetime1">
              <a:rPr lang="fr-FR" smtClean="0"/>
              <a:t>02/10/2026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3170839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82000"/>
                  </a:schemeClr>
                </a:solidFill>
              </a:defRPr>
            </a:lvl1pPr>
          </a:lstStyle>
          <a:p>
            <a:fld id="{09308C15-22CB-49DB-A23D-77345A1B2009}" type="datetime1">
              <a:rPr lang="fr-FR" smtClean="0"/>
              <a:t>02/10/2026</a:t>
            </a:fld>
            <a:endParaRPr lang="fr-FR"/>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82000"/>
                  </a:schemeClr>
                </a:solidFill>
              </a:defRPr>
            </a:lvl1pPr>
          </a:lstStyle>
          <a:p>
            <a:r>
              <a:rPr lang="fr-FR"/>
              <a:t>Copropriété LE COTE SQUARE </a:t>
            </a:r>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82000"/>
                  </a:schemeClr>
                </a:solidFill>
              </a:defRPr>
            </a:lvl1pPr>
          </a:lstStyle>
          <a:p>
            <a:fld id="{CAAAFFDE-0A40-4191-B1DF-7348E5FF338F}" type="slidenum">
              <a:rPr lang="fr-FR" smtClean="0"/>
              <a:t>‹N°›</a:t>
            </a:fld>
            <a:endParaRPr lang="fr-FR"/>
          </a:p>
        </p:txBody>
      </p:sp>
    </p:spTree>
    <p:extLst>
      <p:ext uri="{BB962C8B-B14F-4D97-AF65-F5344CB8AC3E}">
        <p14:creationId xmlns:p14="http://schemas.microsoft.com/office/powerpoint/2010/main" val="25091059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mailto:contact@groupefranceverte.fr"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mailto:contact@groupefranceverte.fr"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image" Target="../media/image18.JPE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eur droit 1">
            <a:extLst>
              <a:ext uri="{FF2B5EF4-FFF2-40B4-BE49-F238E27FC236}">
                <a16:creationId xmlns:a16="http://schemas.microsoft.com/office/drawing/2014/main" id="{00000000-0008-0000-0900-000004000000}"/>
              </a:ext>
            </a:extLst>
          </p:cNvPr>
          <p:cNvCxnSpPr>
            <a:cxnSpLocks/>
          </p:cNvCxnSpPr>
          <p:nvPr/>
        </p:nvCxnSpPr>
        <p:spPr>
          <a:xfrm>
            <a:off x="493762" y="987144"/>
            <a:ext cx="6531878" cy="0"/>
          </a:xfrm>
          <a:prstGeom prst="line">
            <a:avLst/>
          </a:prstGeom>
          <a:ln w="28575">
            <a:solidFill>
              <a:srgbClr val="FBD502"/>
            </a:solidFill>
          </a:ln>
        </p:spPr>
        <p:style>
          <a:lnRef idx="1">
            <a:schemeClr val="accent1"/>
          </a:lnRef>
          <a:fillRef idx="0">
            <a:schemeClr val="accent1"/>
          </a:fillRef>
          <a:effectRef idx="0">
            <a:schemeClr val="accent1"/>
          </a:effectRef>
          <a:fontRef idx="minor">
            <a:schemeClr val="tx1"/>
          </a:fontRef>
        </p:style>
      </p:cxnSp>
      <p:pic>
        <p:nvPicPr>
          <p:cNvPr id="3" name="Image 2">
            <a:extLst>
              <a:ext uri="{FF2B5EF4-FFF2-40B4-BE49-F238E27FC236}">
                <a16:creationId xmlns:a16="http://schemas.microsoft.com/office/drawing/2014/main" id="{00000000-0008-0000-0900-000005000000}"/>
              </a:ext>
            </a:extLst>
          </p:cNvPr>
          <p:cNvPicPr>
            <a:picLocks noChangeAspect="1"/>
          </p:cNvPicPr>
          <p:nvPr/>
        </p:nvPicPr>
        <p:blipFill>
          <a:blip r:embed="rId2"/>
          <a:stretch>
            <a:fillRect/>
          </a:stretch>
        </p:blipFill>
        <p:spPr>
          <a:xfrm>
            <a:off x="-1936" y="698111"/>
            <a:ext cx="997473" cy="2146688"/>
          </a:xfrm>
          <a:prstGeom prst="rect">
            <a:avLst/>
          </a:prstGeom>
        </p:spPr>
      </p:pic>
      <p:cxnSp>
        <p:nvCxnSpPr>
          <p:cNvPr id="5" name="Connecteur droit 4">
            <a:extLst>
              <a:ext uri="{FF2B5EF4-FFF2-40B4-BE49-F238E27FC236}">
                <a16:creationId xmlns:a16="http://schemas.microsoft.com/office/drawing/2014/main" id="{00000000-0008-0000-0900-000006000000}"/>
              </a:ext>
            </a:extLst>
          </p:cNvPr>
          <p:cNvCxnSpPr>
            <a:cxnSpLocks/>
          </p:cNvCxnSpPr>
          <p:nvPr/>
        </p:nvCxnSpPr>
        <p:spPr>
          <a:xfrm>
            <a:off x="7025640" y="1088709"/>
            <a:ext cx="0" cy="7242491"/>
          </a:xfrm>
          <a:prstGeom prst="line">
            <a:avLst/>
          </a:prstGeom>
          <a:ln w="28575">
            <a:solidFill>
              <a:srgbClr val="35C772"/>
            </a:solidFill>
          </a:ln>
        </p:spPr>
        <p:style>
          <a:lnRef idx="1">
            <a:schemeClr val="accent1"/>
          </a:lnRef>
          <a:fillRef idx="0">
            <a:schemeClr val="accent1"/>
          </a:fillRef>
          <a:effectRef idx="0">
            <a:schemeClr val="accent1"/>
          </a:effectRef>
          <a:fontRef idx="minor">
            <a:schemeClr val="tx1"/>
          </a:fontRef>
        </p:style>
      </p:cxnSp>
      <p:pic>
        <p:nvPicPr>
          <p:cNvPr id="10" name="Image 9">
            <a:extLst>
              <a:ext uri="{FF2B5EF4-FFF2-40B4-BE49-F238E27FC236}">
                <a16:creationId xmlns:a16="http://schemas.microsoft.com/office/drawing/2014/main" id="{00000000-0008-0000-0900-000007000000}"/>
              </a:ext>
            </a:extLst>
          </p:cNvPr>
          <p:cNvPicPr>
            <a:picLocks noChangeAspect="1"/>
          </p:cNvPicPr>
          <p:nvPr/>
        </p:nvPicPr>
        <p:blipFill rotWithShape="1">
          <a:blip r:embed="rId3"/>
          <a:srcRect t="3364" r="19261" b="18823"/>
          <a:stretch/>
        </p:blipFill>
        <p:spPr>
          <a:xfrm>
            <a:off x="6578601" y="7759199"/>
            <a:ext cx="981074" cy="2357971"/>
          </a:xfrm>
          <a:prstGeom prst="rect">
            <a:avLst/>
          </a:prstGeom>
        </p:spPr>
      </p:pic>
      <p:cxnSp>
        <p:nvCxnSpPr>
          <p:cNvPr id="11" name="Connecteur droit 10">
            <a:extLst>
              <a:ext uri="{FF2B5EF4-FFF2-40B4-BE49-F238E27FC236}">
                <a16:creationId xmlns:a16="http://schemas.microsoft.com/office/drawing/2014/main" id="{00000000-0008-0000-0900-00000B000000}"/>
              </a:ext>
            </a:extLst>
          </p:cNvPr>
          <p:cNvCxnSpPr>
            <a:cxnSpLocks/>
          </p:cNvCxnSpPr>
          <p:nvPr/>
        </p:nvCxnSpPr>
        <p:spPr>
          <a:xfrm>
            <a:off x="647700" y="10016175"/>
            <a:ext cx="6217557" cy="0"/>
          </a:xfrm>
          <a:prstGeom prst="line">
            <a:avLst/>
          </a:prstGeom>
          <a:ln w="28575">
            <a:solidFill>
              <a:srgbClr val="2D44FF"/>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00000000-0008-0000-0900-00000D000000}"/>
              </a:ext>
            </a:extLst>
          </p:cNvPr>
          <p:cNvCxnSpPr>
            <a:cxnSpLocks/>
          </p:cNvCxnSpPr>
          <p:nvPr/>
        </p:nvCxnSpPr>
        <p:spPr>
          <a:xfrm>
            <a:off x="517624" y="2451100"/>
            <a:ext cx="0" cy="7565075"/>
          </a:xfrm>
          <a:prstGeom prst="line">
            <a:avLst/>
          </a:prstGeom>
          <a:ln w="28575">
            <a:solidFill>
              <a:srgbClr val="FBD502"/>
            </a:solidFill>
          </a:ln>
        </p:spPr>
        <p:style>
          <a:lnRef idx="1">
            <a:schemeClr val="accent1"/>
          </a:lnRef>
          <a:fillRef idx="0">
            <a:schemeClr val="accent1"/>
          </a:fillRef>
          <a:effectRef idx="0">
            <a:schemeClr val="accent1"/>
          </a:effectRef>
          <a:fontRef idx="minor">
            <a:schemeClr val="tx1"/>
          </a:fontRef>
        </p:style>
      </p:cxnSp>
      <p:pic>
        <p:nvPicPr>
          <p:cNvPr id="17" name="Image 16">
            <a:extLst>
              <a:ext uri="{FF2B5EF4-FFF2-40B4-BE49-F238E27FC236}">
                <a16:creationId xmlns:a16="http://schemas.microsoft.com/office/drawing/2014/main" id="{CF63A5E7-231C-66A1-3262-943556377706}"/>
              </a:ext>
            </a:extLst>
          </p:cNvPr>
          <p:cNvPicPr>
            <a:picLocks noChangeAspect="1"/>
          </p:cNvPicPr>
          <p:nvPr/>
        </p:nvPicPr>
        <p:blipFill>
          <a:blip r:embed="rId4"/>
          <a:stretch>
            <a:fillRect/>
          </a:stretch>
        </p:blipFill>
        <p:spPr>
          <a:xfrm>
            <a:off x="493762" y="96755"/>
            <a:ext cx="2246544" cy="594519"/>
          </a:xfrm>
          <a:prstGeom prst="rect">
            <a:avLst/>
          </a:prstGeom>
        </p:spPr>
      </p:pic>
      <p:pic>
        <p:nvPicPr>
          <p:cNvPr id="19" name="Image 18">
            <a:extLst>
              <a:ext uri="{FF2B5EF4-FFF2-40B4-BE49-F238E27FC236}">
                <a16:creationId xmlns:a16="http://schemas.microsoft.com/office/drawing/2014/main" id="{D6155E7A-4A95-6983-60CA-A7F83CA244D9}"/>
              </a:ext>
            </a:extLst>
          </p:cNvPr>
          <p:cNvPicPr>
            <a:picLocks noChangeAspect="1"/>
          </p:cNvPicPr>
          <p:nvPr/>
        </p:nvPicPr>
        <p:blipFill>
          <a:blip r:embed="rId5"/>
          <a:stretch>
            <a:fillRect/>
          </a:stretch>
        </p:blipFill>
        <p:spPr>
          <a:xfrm>
            <a:off x="5580258" y="123745"/>
            <a:ext cx="899500" cy="594519"/>
          </a:xfrm>
          <a:prstGeom prst="rect">
            <a:avLst/>
          </a:prstGeom>
        </p:spPr>
      </p:pic>
      <p:sp>
        <p:nvSpPr>
          <p:cNvPr id="24" name="ZoneTexte 23">
            <a:extLst>
              <a:ext uri="{FF2B5EF4-FFF2-40B4-BE49-F238E27FC236}">
                <a16:creationId xmlns:a16="http://schemas.microsoft.com/office/drawing/2014/main" id="{C0686DBC-7E58-AED4-02DF-0AD2006DADC7}"/>
              </a:ext>
            </a:extLst>
          </p:cNvPr>
          <p:cNvSpPr txBox="1"/>
          <p:nvPr/>
        </p:nvSpPr>
        <p:spPr>
          <a:xfrm>
            <a:off x="2150209" y="1138123"/>
            <a:ext cx="3555011" cy="1254831"/>
          </a:xfrm>
          <a:prstGeom prst="rect">
            <a:avLst/>
          </a:prstGeom>
          <a:noFill/>
        </p:spPr>
        <p:txBody>
          <a:bodyPr wrap="none" rtlCol="0">
            <a:spAutoFit/>
          </a:bodyPr>
          <a:lstStyle/>
          <a:p>
            <a:pPr algn="ctr"/>
            <a:r>
              <a:rPr lang="fr-FR" sz="2800" b="1" dirty="0">
                <a:solidFill>
                  <a:srgbClr val="2D44FF"/>
                </a:solidFill>
                <a:latin typeface="Calibri" panose="020F0502020204030204" pitchFamily="34" charset="0"/>
                <a:ea typeface="Calibri" panose="020F0502020204030204" pitchFamily="34" charset="0"/>
                <a:cs typeface="Calibri" panose="020F0502020204030204" pitchFamily="34" charset="0"/>
              </a:rPr>
              <a:t>PPPT</a:t>
            </a:r>
          </a:p>
          <a:p>
            <a:pPr algn="ctr"/>
            <a:r>
              <a:rPr lang="fr-FR" sz="1700" b="1" dirty="0">
                <a:solidFill>
                  <a:srgbClr val="2D44FF"/>
                </a:solidFill>
                <a:latin typeface="Calibri" panose="020F0502020204030204" pitchFamily="34" charset="0"/>
                <a:ea typeface="Calibri" panose="020F0502020204030204" pitchFamily="34" charset="0"/>
                <a:cs typeface="Calibri" panose="020F0502020204030204" pitchFamily="34" charset="0"/>
              </a:rPr>
              <a:t>Projet de Plan Pluriannuel de Travaux</a:t>
            </a:r>
          </a:p>
          <a:p>
            <a:pPr algn="ctr"/>
            <a:endParaRPr lang="fr-FR" sz="1754" b="1" dirty="0">
              <a:solidFill>
                <a:srgbClr val="2D44FF"/>
              </a:solidFill>
            </a:endParaRPr>
          </a:p>
          <a:p>
            <a:pPr algn="ctr"/>
            <a:r>
              <a:rPr lang="fr-FR" sz="1300" b="1" dirty="0">
                <a:latin typeface="Calibri" panose="020F0502020204030204" pitchFamily="34" charset="0"/>
                <a:ea typeface="Calibri" panose="020F0502020204030204" pitchFamily="34" charset="0"/>
                <a:cs typeface="Calibri" panose="020F0502020204030204" pitchFamily="34" charset="0"/>
              </a:rPr>
              <a:t>Bureau d’études thermiques et fluides</a:t>
            </a:r>
          </a:p>
        </p:txBody>
      </p:sp>
      <p:sp>
        <p:nvSpPr>
          <p:cNvPr id="25" name="ZoneTexte 24">
            <a:extLst>
              <a:ext uri="{FF2B5EF4-FFF2-40B4-BE49-F238E27FC236}">
                <a16:creationId xmlns:a16="http://schemas.microsoft.com/office/drawing/2014/main" id="{DD2F3451-51F1-FB5D-F3A0-BAC5AA4D4B99}"/>
              </a:ext>
            </a:extLst>
          </p:cNvPr>
          <p:cNvSpPr txBox="1"/>
          <p:nvPr/>
        </p:nvSpPr>
        <p:spPr>
          <a:xfrm>
            <a:off x="534034" y="2502494"/>
            <a:ext cx="2539478" cy="1222642"/>
          </a:xfrm>
          <a:prstGeom prst="rect">
            <a:avLst/>
          </a:prstGeom>
          <a:noFill/>
        </p:spPr>
        <p:txBody>
          <a:bodyPr wrap="none" rtlCol="0">
            <a:spAutoFit/>
          </a:bodyPr>
          <a:lstStyle/>
          <a:p>
            <a:pPr>
              <a:lnSpc>
                <a:spcPct val="150000"/>
              </a:lnSpc>
            </a:pPr>
            <a:r>
              <a:rPr lang="fr-FR" sz="1000" b="1" dirty="0">
                <a:latin typeface="Calibri" panose="020F0502020204030204" pitchFamily="34" charset="0"/>
                <a:ea typeface="Calibri" panose="020F0502020204030204" pitchFamily="34" charset="0"/>
                <a:cs typeface="Calibri" panose="020F0502020204030204" pitchFamily="34" charset="0"/>
              </a:rPr>
              <a:t>FRANCE VERTE</a:t>
            </a:r>
          </a:p>
          <a:p>
            <a:pPr>
              <a:lnSpc>
                <a:spcPct val="150000"/>
              </a:lnSpc>
            </a:pPr>
            <a:r>
              <a:rPr lang="fr-FR" sz="1000" dirty="0">
                <a:latin typeface="Calibri" panose="020F0502020204030204" pitchFamily="34" charset="0"/>
                <a:ea typeface="Calibri" panose="020F0502020204030204" pitchFamily="34" charset="0"/>
                <a:cs typeface="Calibri" panose="020F0502020204030204" pitchFamily="34" charset="0"/>
              </a:rPr>
              <a:t>E-mail : </a:t>
            </a:r>
            <a:r>
              <a:rPr lang="fr-FR" sz="1000" dirty="0">
                <a:latin typeface="Calibri" panose="020F0502020204030204" pitchFamily="34" charset="0"/>
                <a:ea typeface="Calibri" panose="020F0502020204030204" pitchFamily="34" charset="0"/>
                <a:cs typeface="Calibri" panose="020F0502020204030204" pitchFamily="34" charset="0"/>
                <a:hlinkClick r:id="rId6"/>
              </a:rPr>
              <a:t>contact@groupefranceverte.fr</a:t>
            </a:r>
            <a:endParaRPr lang="fr-FR" sz="10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fr-FR" sz="1000" dirty="0">
                <a:latin typeface="Calibri" panose="020F0502020204030204" pitchFamily="34" charset="0"/>
                <a:ea typeface="Calibri" panose="020F0502020204030204" pitchFamily="34" charset="0"/>
                <a:cs typeface="Calibri" panose="020F0502020204030204" pitchFamily="34" charset="0"/>
              </a:rPr>
              <a:t>Téléphone : 09 86 08 79 79</a:t>
            </a:r>
          </a:p>
          <a:p>
            <a:pPr>
              <a:lnSpc>
                <a:spcPct val="150000"/>
              </a:lnSpc>
            </a:pPr>
            <a:r>
              <a:rPr lang="fr-FR" sz="1000" dirty="0">
                <a:latin typeface="Calibri" panose="020F0502020204030204" pitchFamily="34" charset="0"/>
                <a:ea typeface="Calibri" panose="020F0502020204030204" pitchFamily="34" charset="0"/>
                <a:cs typeface="Calibri" panose="020F0502020204030204" pitchFamily="34" charset="0"/>
              </a:rPr>
              <a:t>Adresse : 22 Avenue Barthélémy Thimonnier,</a:t>
            </a:r>
          </a:p>
          <a:p>
            <a:pPr>
              <a:lnSpc>
                <a:spcPct val="150000"/>
              </a:lnSpc>
            </a:pPr>
            <a:r>
              <a:rPr lang="fr-FR" sz="1000" dirty="0">
                <a:latin typeface="Calibri" panose="020F0502020204030204" pitchFamily="34" charset="0"/>
                <a:ea typeface="Calibri" panose="020F0502020204030204" pitchFamily="34" charset="0"/>
                <a:cs typeface="Calibri" panose="020F0502020204030204" pitchFamily="34" charset="0"/>
              </a:rPr>
              <a:t> 69300 Caluire-et-Cuire</a:t>
            </a:r>
          </a:p>
        </p:txBody>
      </p:sp>
      <p:sp>
        <p:nvSpPr>
          <p:cNvPr id="28" name="ZoneTexte 27">
            <a:extLst>
              <a:ext uri="{FF2B5EF4-FFF2-40B4-BE49-F238E27FC236}">
                <a16:creationId xmlns:a16="http://schemas.microsoft.com/office/drawing/2014/main" id="{3E2DCE7C-46C4-3440-28BC-9B306C4F23D9}"/>
              </a:ext>
            </a:extLst>
          </p:cNvPr>
          <p:cNvSpPr txBox="1"/>
          <p:nvPr/>
        </p:nvSpPr>
        <p:spPr>
          <a:xfrm>
            <a:off x="1171578" y="7744316"/>
            <a:ext cx="1909497" cy="1081771"/>
          </a:xfrm>
          <a:prstGeom prst="rect">
            <a:avLst/>
          </a:prstGeom>
          <a:noFill/>
        </p:spPr>
        <p:txBody>
          <a:bodyPr wrap="none" rtlCol="0">
            <a:spAutoFit/>
          </a:bodyPr>
          <a:lstStyle/>
          <a:p>
            <a:pPr>
              <a:lnSpc>
                <a:spcPct val="150000"/>
              </a:lnSpc>
            </a:pPr>
            <a:r>
              <a:rPr lang="fr-FR" sz="1100" b="1" dirty="0">
                <a:latin typeface="Calibri" panose="020F0502020204030204" pitchFamily="34" charset="0"/>
                <a:ea typeface="Calibri" panose="020F0502020204030204" pitchFamily="34" charset="0"/>
                <a:cs typeface="Calibri" panose="020F0502020204030204" pitchFamily="34" charset="0"/>
              </a:rPr>
              <a:t>Date de visite </a:t>
            </a:r>
            <a:r>
              <a:rPr lang="fr-FR" sz="1100" b="1">
                <a:latin typeface="Calibri" panose="020F0502020204030204" pitchFamily="34" charset="0"/>
                <a:ea typeface="Calibri" panose="020F0502020204030204" pitchFamily="34" charset="0"/>
                <a:cs typeface="Calibri" panose="020F0502020204030204" pitchFamily="34" charset="0"/>
              </a:rPr>
              <a:t>:</a:t>
            </a:r>
            <a:r>
              <a:rPr lang="fr-FR" sz="1100">
                <a:latin typeface="Calibri" panose="020F0502020204030204" pitchFamily="34" charset="0"/>
                <a:ea typeface="Calibri" panose="020F0502020204030204" pitchFamily="34" charset="0"/>
                <a:cs typeface="Calibri" panose="020F0502020204030204" pitchFamily="34" charset="0"/>
              </a:rPr>
              <a:t> 01/06/2026</a:t>
            </a:r>
            <a:endParaRPr lang="fr-FR" sz="11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fr-FR" sz="1100" b="1" dirty="0">
                <a:latin typeface="Calibri" panose="020F0502020204030204" pitchFamily="34" charset="0"/>
                <a:ea typeface="Calibri" panose="020F0502020204030204" pitchFamily="34" charset="0"/>
                <a:cs typeface="Calibri" panose="020F0502020204030204" pitchFamily="34" charset="0"/>
              </a:rPr>
              <a:t>Date du rapport : </a:t>
            </a:r>
            <a:r>
              <a:rPr lang="fr-FR" sz="1100" dirty="0">
                <a:latin typeface="Calibri" panose="020F0502020204030204" pitchFamily="34" charset="0"/>
                <a:ea typeface="Calibri" panose="020F0502020204030204" pitchFamily="34" charset="0"/>
                <a:cs typeface="Calibri" panose="020F0502020204030204" pitchFamily="34" charset="0"/>
              </a:rPr>
              <a:t>07/08/2026</a:t>
            </a:r>
            <a:endParaRPr lang="fr-FR" sz="1100" b="1"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fr-FR" sz="1100" b="1" dirty="0">
                <a:latin typeface="Calibri" panose="020F0502020204030204" pitchFamily="34" charset="0"/>
                <a:ea typeface="Calibri" panose="020F0502020204030204" pitchFamily="34" charset="0"/>
                <a:cs typeface="Calibri" panose="020F0502020204030204" pitchFamily="34" charset="0"/>
              </a:rPr>
              <a:t>Version du rapport : </a:t>
            </a:r>
            <a:r>
              <a:rPr lang="fr-FR" sz="1100" dirty="0">
                <a:latin typeface="Calibri" panose="020F0502020204030204" pitchFamily="34" charset="0"/>
                <a:ea typeface="Calibri" panose="020F0502020204030204" pitchFamily="34" charset="0"/>
                <a:cs typeface="Calibri" panose="020F0502020204030204" pitchFamily="34" charset="0"/>
              </a:rPr>
              <a:t>Initiale</a:t>
            </a:r>
          </a:p>
          <a:p>
            <a:pPr>
              <a:lnSpc>
                <a:spcPct val="150000"/>
              </a:lnSpc>
            </a:pPr>
            <a:r>
              <a:rPr lang="fr-FR" sz="1100" b="1" dirty="0">
                <a:latin typeface="Calibri" panose="020F0502020204030204" pitchFamily="34" charset="0"/>
                <a:ea typeface="Calibri" panose="020F0502020204030204" pitchFamily="34" charset="0"/>
                <a:cs typeface="Calibri" panose="020F0502020204030204" pitchFamily="34" charset="0"/>
              </a:rPr>
              <a:t>Ce rapport contient : </a:t>
            </a:r>
            <a:r>
              <a:rPr lang="fr-FR" sz="1100" dirty="0">
                <a:highlight>
                  <a:srgbClr val="FFFF00"/>
                </a:highlight>
                <a:latin typeface="Calibri" panose="020F0502020204030204" pitchFamily="34" charset="0"/>
                <a:ea typeface="Calibri" panose="020F0502020204030204" pitchFamily="34" charset="0"/>
                <a:cs typeface="Calibri" panose="020F0502020204030204" pitchFamily="34" charset="0"/>
              </a:rPr>
              <a:t>X</a:t>
            </a:r>
            <a:r>
              <a:rPr lang="fr-FR" sz="1100" dirty="0">
                <a:latin typeface="Calibri" panose="020F0502020204030204" pitchFamily="34" charset="0"/>
                <a:ea typeface="Calibri" panose="020F0502020204030204" pitchFamily="34" charset="0"/>
                <a:cs typeface="Calibri" panose="020F0502020204030204" pitchFamily="34" charset="0"/>
              </a:rPr>
              <a:t> pages</a:t>
            </a:r>
          </a:p>
        </p:txBody>
      </p:sp>
      <p:pic>
        <p:nvPicPr>
          <p:cNvPr id="30" name="Image 29">
            <a:extLst>
              <a:ext uri="{FF2B5EF4-FFF2-40B4-BE49-F238E27FC236}">
                <a16:creationId xmlns:a16="http://schemas.microsoft.com/office/drawing/2014/main" id="{96A88647-4156-FF93-AE3B-E59D1B9CA90F}"/>
              </a:ext>
            </a:extLst>
          </p:cNvPr>
          <p:cNvPicPr>
            <a:picLocks noChangeAspect="1"/>
          </p:cNvPicPr>
          <p:nvPr/>
        </p:nvPicPr>
        <p:blipFill>
          <a:blip r:embed="rId7"/>
          <a:stretch>
            <a:fillRect/>
          </a:stretch>
        </p:blipFill>
        <p:spPr>
          <a:xfrm>
            <a:off x="5022852" y="8009847"/>
            <a:ext cx="1722704" cy="536347"/>
          </a:xfrm>
          <a:prstGeom prst="rect">
            <a:avLst/>
          </a:prstGeom>
        </p:spPr>
      </p:pic>
      <p:sp>
        <p:nvSpPr>
          <p:cNvPr id="31" name="ZoneTexte 30">
            <a:extLst>
              <a:ext uri="{FF2B5EF4-FFF2-40B4-BE49-F238E27FC236}">
                <a16:creationId xmlns:a16="http://schemas.microsoft.com/office/drawing/2014/main" id="{20F9D200-FBFA-DE36-7620-3CB2589858C3}"/>
              </a:ext>
            </a:extLst>
          </p:cNvPr>
          <p:cNvSpPr txBox="1"/>
          <p:nvPr/>
        </p:nvSpPr>
        <p:spPr>
          <a:xfrm>
            <a:off x="1625564" y="9075290"/>
            <a:ext cx="4308546" cy="573940"/>
          </a:xfrm>
          <a:prstGeom prst="rect">
            <a:avLst/>
          </a:prstGeom>
          <a:noFill/>
        </p:spPr>
        <p:txBody>
          <a:bodyPr wrap="square" rtlCol="0">
            <a:spAutoFit/>
          </a:bodyPr>
          <a:lstStyle/>
          <a:p>
            <a:pPr algn="ctr">
              <a:lnSpc>
                <a:spcPct val="150000"/>
              </a:lnSpc>
            </a:pPr>
            <a:r>
              <a:rPr lang="fr-FR" sz="1100" dirty="0">
                <a:latin typeface="Calibri" panose="020F0502020204030204" pitchFamily="34" charset="0"/>
                <a:ea typeface="Calibri" panose="020F0502020204030204" pitchFamily="34" charset="0"/>
                <a:cs typeface="Calibri" panose="020F0502020204030204" pitchFamily="34" charset="0"/>
              </a:rPr>
              <a:t>Mission réalisée pour la copropriété </a:t>
            </a:r>
            <a:r>
              <a:rPr lang="fr-FR" sz="1100" b="1" dirty="0">
                <a:latin typeface="Calibri" panose="020F0502020204030204" pitchFamily="34" charset="0"/>
                <a:ea typeface="Calibri" panose="020F0502020204030204" pitchFamily="34" charset="0"/>
                <a:cs typeface="Calibri" panose="020F0502020204030204" pitchFamily="34" charset="0"/>
              </a:rPr>
              <a:t>LE COTE SQUARE </a:t>
            </a:r>
            <a:r>
              <a:rPr lang="fr-FR" sz="1100" dirty="0">
                <a:latin typeface="Calibri" panose="020F0502020204030204" pitchFamily="34" charset="0"/>
                <a:ea typeface="Calibri" panose="020F0502020204030204" pitchFamily="34" charset="0"/>
                <a:cs typeface="Calibri" panose="020F0502020204030204" pitchFamily="34" charset="0"/>
              </a:rPr>
              <a:t>, représentée par son syndic, </a:t>
            </a:r>
            <a:r>
              <a:rPr lang="fr-FR" sz="1100" b="1" dirty="0">
                <a:latin typeface="Calibri" panose="020F0502020204030204" pitchFamily="34" charset="0"/>
                <a:ea typeface="Calibri" panose="020F0502020204030204" pitchFamily="34" charset="0"/>
                <a:cs typeface="Calibri" panose="020F0502020204030204" pitchFamily="34" charset="0"/>
              </a:rPr>
              <a:t>Régie l'immobilière Stéphanoise</a:t>
            </a:r>
          </a:p>
        </p:txBody>
      </p:sp>
      <p:sp>
        <p:nvSpPr>
          <p:cNvPr id="32" name="ZoneTexte 31">
            <a:extLst>
              <a:ext uri="{FF2B5EF4-FFF2-40B4-BE49-F238E27FC236}">
                <a16:creationId xmlns:a16="http://schemas.microsoft.com/office/drawing/2014/main" id="{72FFB2DD-BF30-5B76-7FDE-C939CD2583FD}"/>
              </a:ext>
            </a:extLst>
          </p:cNvPr>
          <p:cNvSpPr txBox="1"/>
          <p:nvPr/>
        </p:nvSpPr>
        <p:spPr>
          <a:xfrm>
            <a:off x="647700" y="10117170"/>
            <a:ext cx="6217557" cy="487826"/>
          </a:xfrm>
          <a:prstGeom prst="rect">
            <a:avLst/>
          </a:prstGeom>
          <a:noFill/>
        </p:spPr>
        <p:txBody>
          <a:bodyPr wrap="square" rtlCol="0">
            <a:spAutoFit/>
          </a:bodyPr>
          <a:lstStyle/>
          <a:p>
            <a:pPr algn="ctr">
              <a:lnSpc>
                <a:spcPct val="150000"/>
              </a:lnSpc>
            </a:pPr>
            <a:r>
              <a:rPr lang="fr-FR" sz="900" dirty="0"/>
              <a:t>Le présent rapport forme un ensemble indivisible. Il ne peut être interprété ou diffusé partiellement et doit être communiqué dans son intégralité.</a:t>
            </a:r>
          </a:p>
        </p:txBody>
      </p:sp>
      <p:sp>
        <p:nvSpPr>
          <p:cNvPr id="36" name="ZoneTexte 35">
            <a:extLst>
              <a:ext uri="{FF2B5EF4-FFF2-40B4-BE49-F238E27FC236}">
                <a16:creationId xmlns:a16="http://schemas.microsoft.com/office/drawing/2014/main" id="{BAEF7CF0-898D-0C0E-4B29-B865ED95411B}"/>
              </a:ext>
            </a:extLst>
          </p:cNvPr>
          <p:cNvSpPr txBox="1"/>
          <p:nvPr/>
        </p:nvSpPr>
        <p:spPr>
          <a:xfrm>
            <a:off x="1179708" y="3792936"/>
            <a:ext cx="5183845" cy="597023"/>
          </a:xfrm>
          <a:prstGeom prst="rect">
            <a:avLst/>
          </a:prstGeom>
          <a:noFill/>
        </p:spPr>
        <p:txBody>
          <a:bodyPr wrap="square" rtlCol="0">
            <a:spAutoFit/>
          </a:bodyPr>
          <a:lstStyle/>
          <a:p>
            <a:pPr algn="ctr">
              <a:lnSpc>
                <a:spcPct val="150000"/>
              </a:lnSpc>
            </a:pPr>
            <a:r>
              <a:rPr lang="fr-FR" sz="1200" b="1" dirty="0">
                <a:latin typeface="Calibri" panose="020F0502020204030204" pitchFamily="34" charset="0"/>
                <a:ea typeface="Calibri" panose="020F0502020204030204" pitchFamily="34" charset="0"/>
                <a:cs typeface="Calibri" panose="020F0502020204030204" pitchFamily="34" charset="0"/>
              </a:rPr>
              <a:t>Copropriété LE COTE SQUARE </a:t>
            </a:r>
          </a:p>
          <a:p>
            <a:pPr>
              <a:lnSpc>
                <a:spcPct val="150000"/>
              </a:lnSpc>
            </a:pPr>
            <a:r>
              <a:rPr lang="fr-FR" sz="1100" b="1" dirty="0">
                <a:latin typeface="Calibri" panose="020F0502020204030204" pitchFamily="34" charset="0"/>
                <a:ea typeface="Calibri" panose="020F0502020204030204" pitchFamily="34" charset="0"/>
                <a:cs typeface="Calibri" panose="020F0502020204030204" pitchFamily="34" charset="0"/>
              </a:rPr>
              <a:t>Adresse : </a:t>
            </a:r>
            <a:r>
              <a:rPr lang="fr-FR" sz="1100" dirty="0">
                <a:latin typeface="Calibri" panose="020F0502020204030204" pitchFamily="34" charset="0"/>
                <a:ea typeface="Calibri" panose="020F0502020204030204" pitchFamily="34" charset="0"/>
                <a:cs typeface="Calibri" panose="020F0502020204030204" pitchFamily="34" charset="0"/>
              </a:rPr>
              <a:t>18 Rue de la Barrière, Rive de Gier</a:t>
            </a:r>
          </a:p>
        </p:txBody>
      </p:sp>
      <p:pic>
        <p:nvPicPr>
          <p:cNvPr id="6" name="Image 5">
            <a:extLst>
              <a:ext uri="{FF2B5EF4-FFF2-40B4-BE49-F238E27FC236}">
                <a16:creationId xmlns:a16="http://schemas.microsoft.com/office/drawing/2014/main" id="{CA1C13FB-021A-35DD-A737-72AAA76480C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67618" y="4484229"/>
            <a:ext cx="5219114" cy="3210799"/>
          </a:xfrm>
          <a:prstGeom prst="rect">
            <a:avLst/>
          </a:prstGeom>
        </p:spPr>
      </p:pic>
    </p:spTree>
    <p:extLst>
      <p:ext uri="{BB962C8B-B14F-4D97-AF65-F5344CB8AC3E}">
        <p14:creationId xmlns:p14="http://schemas.microsoft.com/office/powerpoint/2010/main" val="2790406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12E80-68FF-C16C-EC07-D1B8F923BA37}"/>
            </a:ext>
          </a:extLst>
        </p:cNvPr>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4121594C-B554-CE25-DD43-A80F0843A54E}"/>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7" name="Espace réservé du numéro de diapositive 6">
            <a:extLst>
              <a:ext uri="{FF2B5EF4-FFF2-40B4-BE49-F238E27FC236}">
                <a16:creationId xmlns:a16="http://schemas.microsoft.com/office/drawing/2014/main" id="{92900363-29DA-3C11-985E-42AD065D4CD9}"/>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a:t>
            </a:fld>
            <a:endParaRPr lang="fr-FR" sz="965" dirty="0"/>
          </a:p>
        </p:txBody>
      </p:sp>
      <p:pic>
        <p:nvPicPr>
          <p:cNvPr id="9" name="Image 8">
            <a:extLst>
              <a:ext uri="{FF2B5EF4-FFF2-40B4-BE49-F238E27FC236}">
                <a16:creationId xmlns:a16="http://schemas.microsoft.com/office/drawing/2014/main" id="{EF8DEB95-BB12-795A-2EF5-5324C453D685}"/>
              </a:ext>
            </a:extLst>
          </p:cNvPr>
          <p:cNvPicPr>
            <a:picLocks noChangeAspect="1"/>
          </p:cNvPicPr>
          <p:nvPr/>
        </p:nvPicPr>
        <p:blipFill>
          <a:blip r:embed="rId2"/>
          <a:stretch>
            <a:fillRect/>
          </a:stretch>
        </p:blipFill>
        <p:spPr>
          <a:xfrm>
            <a:off x="541020" y="98814"/>
            <a:ext cx="2246544" cy="594519"/>
          </a:xfrm>
          <a:prstGeom prst="rect">
            <a:avLst/>
          </a:prstGeom>
        </p:spPr>
      </p:pic>
      <p:sp>
        <p:nvSpPr>
          <p:cNvPr id="12" name="ZoneTexte 11">
            <a:extLst>
              <a:ext uri="{FF2B5EF4-FFF2-40B4-BE49-F238E27FC236}">
                <a16:creationId xmlns:a16="http://schemas.microsoft.com/office/drawing/2014/main" id="{4701AFCC-47B4-C3F8-42FE-547214A4DAEB}"/>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INFORMATIONS ADMINISTRATIVES</a:t>
            </a:r>
          </a:p>
        </p:txBody>
      </p:sp>
      <p:graphicFrame>
        <p:nvGraphicFramePr>
          <p:cNvPr id="4" name="Tableau 3">
            <a:extLst>
              <a:ext uri="{FF2B5EF4-FFF2-40B4-BE49-F238E27FC236}">
                <a16:creationId xmlns:a16="http://schemas.microsoft.com/office/drawing/2014/main" id="{70481203-EB4E-045C-525C-D1048F7BBDD9}"/>
              </a:ext>
            </a:extLst>
          </p:cNvPr>
          <p:cNvGraphicFramePr>
            <a:graphicFrameLocks noGrp="1"/>
          </p:cNvGraphicFramePr>
          <p:nvPr>
            <p:extLst>
              <p:ext uri="{D42A27DB-BD31-4B8C-83A1-F6EECF244321}">
                <p14:modId xmlns:p14="http://schemas.microsoft.com/office/powerpoint/2010/main" val="2971997355"/>
              </p:ext>
            </p:extLst>
          </p:nvPr>
        </p:nvGraphicFramePr>
        <p:xfrm>
          <a:off x="541020" y="1236243"/>
          <a:ext cx="6484620" cy="8829855"/>
        </p:xfrm>
        <a:graphic>
          <a:graphicData uri="http://schemas.openxmlformats.org/drawingml/2006/table">
            <a:tbl>
              <a:tblPr firstRow="1" bandRow="1">
                <a:tableStyleId>{5940675A-B579-460E-94D1-54222C63F5DA}</a:tableStyleId>
              </a:tblPr>
              <a:tblGrid>
                <a:gridCol w="3242310">
                  <a:extLst>
                    <a:ext uri="{9D8B030D-6E8A-4147-A177-3AD203B41FA5}">
                      <a16:colId xmlns:a16="http://schemas.microsoft.com/office/drawing/2014/main" val="36808992"/>
                    </a:ext>
                  </a:extLst>
                </a:gridCol>
                <a:gridCol w="3242310">
                  <a:extLst>
                    <a:ext uri="{9D8B030D-6E8A-4147-A177-3AD203B41FA5}">
                      <a16:colId xmlns:a16="http://schemas.microsoft.com/office/drawing/2014/main" val="13940969"/>
                    </a:ext>
                  </a:extLst>
                </a:gridCol>
              </a:tblGrid>
              <a:tr h="325209">
                <a:tc gridSpan="2">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Désignation du donneur d’ordre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fr-FR" dirty="0"/>
                    </a:p>
                  </a:txBody>
                  <a:tcPr/>
                </a:tc>
                <a:extLst>
                  <a:ext uri="{0D108BD9-81ED-4DB2-BD59-A6C34878D82A}">
                    <a16:rowId xmlns:a16="http://schemas.microsoft.com/office/drawing/2014/main" val="130043925"/>
                  </a:ext>
                </a:extLst>
              </a:tr>
              <a:tr h="325209">
                <a:tc gridSpan="2">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Nom : Régie l'immobilière Stéphanoise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dirty="0"/>
                    </a:p>
                  </a:txBody>
                  <a:tcPr/>
                </a:tc>
                <a:extLst>
                  <a:ext uri="{0D108BD9-81ED-4DB2-BD59-A6C34878D82A}">
                    <a16:rowId xmlns:a16="http://schemas.microsoft.com/office/drawing/2014/main" val="2315788428"/>
                  </a:ext>
                </a:extLst>
              </a:tr>
              <a:tr h="325209">
                <a:tc gridSpan="2">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Adresse : 7 rue Voltaire 42100 Saint Etienne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dirty="0"/>
                    </a:p>
                  </a:txBody>
                  <a:tcPr/>
                </a:tc>
                <a:extLst>
                  <a:ext uri="{0D108BD9-81ED-4DB2-BD59-A6C34878D82A}">
                    <a16:rowId xmlns:a16="http://schemas.microsoft.com/office/drawing/2014/main" val="2821121672"/>
                  </a:ext>
                </a:extLst>
              </a:tr>
              <a:tr h="238450">
                <a:tc gridSpan="2">
                  <a:txBody>
                    <a:bodyPr/>
                    <a:lstStyle/>
                    <a:p>
                      <a:endParaRPr lang="fr-FR" sz="1000" dirty="0"/>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dirty="0"/>
                    </a:p>
                  </a:txBody>
                  <a:tcPr/>
                </a:tc>
                <a:extLst>
                  <a:ext uri="{0D108BD9-81ED-4DB2-BD59-A6C34878D82A}">
                    <a16:rowId xmlns:a16="http://schemas.microsoft.com/office/drawing/2014/main" val="3038460055"/>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Désignation du chargé de projet</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Vérificateur</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28482506"/>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Nom : Anthony BELTRAN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Nom : Mahmoud ATIQ</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977782"/>
                  </a:ext>
                </a:extLst>
              </a:tr>
              <a:tr h="400943">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Poste : Ingénieur thermicien – Chargé de projet du pôle Copropriété et Tertiaire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Poste : Ingénieur thermicien – Responsable du pôle Copropriété et Tertiaire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3283479"/>
                  </a:ext>
                </a:extLst>
              </a:tr>
              <a:tr h="325209">
                <a:tc gridSpan="2">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Intervenant sur site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fr-FR"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1062333"/>
                  </a:ext>
                </a:extLst>
              </a:tr>
              <a:tr h="325209">
                <a:tc gridSpan="2">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Nom : Youssef BICHA</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6665878"/>
                  </a:ext>
                </a:extLst>
              </a:tr>
              <a:tr h="240566">
                <a:tc gridSpan="2">
                  <a:txBody>
                    <a:bodyPr/>
                    <a:lstStyle/>
                    <a:p>
                      <a:endParaRPr lang="fr-FR" sz="1100" dirty="0"/>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extLst>
                  <a:ext uri="{0D108BD9-81ED-4DB2-BD59-A6C34878D82A}">
                    <a16:rowId xmlns:a16="http://schemas.microsoft.com/office/drawing/2014/main" val="2961666081"/>
                  </a:ext>
                </a:extLst>
              </a:tr>
              <a:tr h="325209">
                <a:tc gridSpan="2">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Emetteur du rapport</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fr-FR"/>
                    </a:p>
                  </a:txBody>
                  <a:tcPr/>
                </a:tc>
                <a:extLst>
                  <a:ext uri="{0D108BD9-81ED-4DB2-BD59-A6C34878D82A}">
                    <a16:rowId xmlns:a16="http://schemas.microsoft.com/office/drawing/2014/main" val="759905604"/>
                  </a:ext>
                </a:extLst>
              </a:tr>
              <a:tr h="325209">
                <a:tc gridSpan="2">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Raison sociale : SAS France Verte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a:p>
                  </a:txBody>
                  <a:tcPr/>
                </a:tc>
                <a:extLst>
                  <a:ext uri="{0D108BD9-81ED-4DB2-BD59-A6C34878D82A}">
                    <a16:rowId xmlns:a16="http://schemas.microsoft.com/office/drawing/2014/main" val="1143015060"/>
                  </a:ext>
                </a:extLst>
              </a:tr>
              <a:tr h="325209">
                <a:tc gridSpan="2">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Adresse : 22 Avenue Barthélémy Thimonnier, 69300 Caluire-et-Cuire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a:p>
                  </a:txBody>
                  <a:tcPr/>
                </a:tc>
                <a:extLst>
                  <a:ext uri="{0D108BD9-81ED-4DB2-BD59-A6C34878D82A}">
                    <a16:rowId xmlns:a16="http://schemas.microsoft.com/office/drawing/2014/main" val="1871530854"/>
                  </a:ext>
                </a:extLst>
              </a:tr>
              <a:tr h="325209">
                <a:tc gridSpan="2">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Contact : </a:t>
                      </a:r>
                      <a:r>
                        <a:rPr lang="fr-FR" sz="1100" b="0" i="0" u="non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3"/>
                        </a:rPr>
                        <a:t>contact@groupefranceverte.fr</a:t>
                      </a:r>
                      <a:r>
                        <a:rPr lang="fr-FR" sz="1100" b="0" i="0" u="non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fr-FR" sz="1100" b="0" i="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09 86 08 79 79</a:t>
                      </a: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a:p>
                  </a:txBody>
                  <a:tcPr/>
                </a:tc>
                <a:extLst>
                  <a:ext uri="{0D108BD9-81ED-4DB2-BD59-A6C34878D82A}">
                    <a16:rowId xmlns:a16="http://schemas.microsoft.com/office/drawing/2014/main" val="2195939710"/>
                  </a:ext>
                </a:extLst>
              </a:tr>
              <a:tr h="325209">
                <a:tc gridSpan="2">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Site internet : </a:t>
                      </a:r>
                      <a:r>
                        <a:rPr lang="fr-FR" sz="1100" u="sng" dirty="0">
                          <a:solidFill>
                            <a:srgbClr val="467886"/>
                          </a:solidFill>
                          <a:latin typeface="Calibri" panose="020F0502020204030204" pitchFamily="34" charset="0"/>
                          <a:ea typeface="Calibri" panose="020F0502020204030204" pitchFamily="34" charset="0"/>
                          <a:cs typeface="Calibri" panose="020F0502020204030204" pitchFamily="34" charset="0"/>
                        </a:rPr>
                        <a:t>https://www.francevertepro.fr/</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a:p>
                  </a:txBody>
                  <a:tcPr/>
                </a:tc>
                <a:extLst>
                  <a:ext uri="{0D108BD9-81ED-4DB2-BD59-A6C34878D82A}">
                    <a16:rowId xmlns:a16="http://schemas.microsoft.com/office/drawing/2014/main" val="3551261761"/>
                  </a:ext>
                </a:extLst>
              </a:tr>
              <a:tr h="240566">
                <a:tc gridSpan="2">
                  <a:txBody>
                    <a:bodyPr/>
                    <a:lstStyle/>
                    <a:p>
                      <a:endParaRPr lang="fr-FR" sz="1100" u="sng" dirty="0">
                        <a:solidFill>
                          <a:srgbClr val="467886"/>
                        </a:solidFill>
                      </a:endParaRP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extLst>
                  <a:ext uri="{0D108BD9-81ED-4DB2-BD59-A6C34878D82A}">
                    <a16:rowId xmlns:a16="http://schemas.microsoft.com/office/drawing/2014/main" val="3095118830"/>
                  </a:ext>
                </a:extLst>
              </a:tr>
              <a:tr h="325209">
                <a:tc gridSpan="2">
                  <a:txBody>
                    <a:bodyPr/>
                    <a:lstStyle/>
                    <a:p>
                      <a:r>
                        <a:rPr lang="fr-FR" sz="1100" b="1" u="none" dirty="0">
                          <a:solidFill>
                            <a:schemeClr val="tx1"/>
                          </a:solidFill>
                          <a:latin typeface="Calibri" panose="020F0502020204030204" pitchFamily="34" charset="0"/>
                          <a:ea typeface="Calibri" panose="020F0502020204030204" pitchFamily="34" charset="0"/>
                          <a:cs typeface="Calibri" panose="020F0502020204030204" pitchFamily="34" charset="0"/>
                        </a:rPr>
                        <a:t>Localisation de la copropriété </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fr-FR"/>
                    </a:p>
                  </a:txBody>
                  <a:tcPr/>
                </a:tc>
                <a:extLst>
                  <a:ext uri="{0D108BD9-81ED-4DB2-BD59-A6C34878D82A}">
                    <a16:rowId xmlns:a16="http://schemas.microsoft.com/office/drawing/2014/main" val="3574780890"/>
                  </a:ext>
                </a:extLst>
              </a:tr>
              <a:tr h="325209">
                <a:tc>
                  <a:txBody>
                    <a:bodyPr/>
                    <a:lstStyle/>
                    <a:p>
                      <a:r>
                        <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rPr>
                        <a:t>Adresse :</a:t>
                      </a:r>
                      <a:r>
                        <a:rPr lang="fr-FR" sz="1100" dirty="0">
                          <a:latin typeface="Calibri" panose="020F0502020204030204" pitchFamily="34" charset="0"/>
                          <a:ea typeface="Calibri" panose="020F0502020204030204" pitchFamily="34" charset="0"/>
                          <a:cs typeface="Calibri" panose="020F0502020204030204" pitchFamily="34" charset="0"/>
                        </a:rPr>
                        <a:t>18 Rue de la Barrière, Rive de Gier</a:t>
                      </a:r>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rPr>
                        <a:t>Référence cadastrale : </a:t>
                      </a:r>
                      <a:r>
                        <a:rPr lang="fr-FR" sz="1100" kern="1200" dirty="0">
                          <a:solidFill>
                            <a:schemeClr val="tx1"/>
                          </a:solidFill>
                          <a:latin typeface="Calibri" panose="020F0502020204030204" pitchFamily="34" charset="0"/>
                          <a:ea typeface="Calibri" panose="020F0502020204030204" pitchFamily="34" charset="0"/>
                          <a:cs typeface="Calibri" panose="020F0502020204030204" pitchFamily="34" charset="0"/>
                        </a:rPr>
                        <a:t>AV 0359</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5154437"/>
                  </a:ext>
                </a:extLst>
              </a:tr>
              <a:tr h="3127355">
                <a:tc gridSpan="2">
                  <a:txBody>
                    <a:bodyPr/>
                    <a:lstStyle/>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r"/>
                      <a:r>
                        <a:rPr lang="fr-FR" sz="1100" b="0" u="none" dirty="0">
                          <a:solidFill>
                            <a:schemeClr val="tx1"/>
                          </a:solidFill>
                          <a:latin typeface="Calibri" panose="020F0502020204030204" pitchFamily="34" charset="0"/>
                          <a:ea typeface="Calibri" panose="020F0502020204030204" pitchFamily="34" charset="0"/>
                          <a:cs typeface="Calibri" panose="020F0502020204030204" pitchFamily="34" charset="0"/>
                        </a:rPr>
                        <a:t>Source  : https://www.geoportail.gouv.fr/</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sz="1200" b="0" u="none"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5050419"/>
                  </a:ext>
                </a:extLst>
              </a:tr>
            </a:tbl>
          </a:graphicData>
        </a:graphic>
      </p:graphicFrame>
      <p:pic>
        <p:nvPicPr>
          <p:cNvPr id="3" name="Image 2">
            <a:extLst>
              <a:ext uri="{FF2B5EF4-FFF2-40B4-BE49-F238E27FC236}">
                <a16:creationId xmlns:a16="http://schemas.microsoft.com/office/drawing/2014/main" id="{94EB9BD6-F6F7-8FE2-E21B-234D2AD575C0}"/>
              </a:ext>
            </a:extLst>
          </p:cNvPr>
          <p:cNvPicPr preferRelativeResize="0">
            <a:picLocks/>
          </p:cNvPicPr>
          <p:nvPr/>
        </p:nvPicPr>
        <p:blipFill>
          <a:blip r:embed="rId4"/>
          <a:stretch>
            <a:fillRect/>
          </a:stretch>
        </p:blipFill>
        <p:spPr>
          <a:xfrm>
            <a:off x="1842269" y="7154277"/>
            <a:ext cx="3960000" cy="2520000"/>
          </a:xfrm>
          <a:prstGeom prst="rect">
            <a:avLst/>
          </a:prstGeom>
        </p:spPr>
      </p:pic>
    </p:spTree>
    <p:extLst>
      <p:ext uri="{BB962C8B-B14F-4D97-AF65-F5344CB8AC3E}">
        <p14:creationId xmlns:p14="http://schemas.microsoft.com/office/powerpoint/2010/main" val="2965521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8AB2C-B744-AFEC-D10B-07B1F7A54B5F}"/>
            </a:ext>
          </a:extLst>
        </p:cNvPr>
        <p:cNvGrpSpPr/>
        <p:nvPr/>
      </p:nvGrpSpPr>
      <p:grpSpPr>
        <a:xfrm>
          <a:off x="0" y="0"/>
          <a:ext cx="0" cy="0"/>
          <a:chOff x="0" y="0"/>
          <a:chExt cx="0" cy="0"/>
        </a:xfrm>
      </p:grpSpPr>
      <p:pic>
        <p:nvPicPr>
          <p:cNvPr id="15" name="Image 14">
            <a:extLst>
              <a:ext uri="{FF2B5EF4-FFF2-40B4-BE49-F238E27FC236}">
                <a16:creationId xmlns:a16="http://schemas.microsoft.com/office/drawing/2014/main" id="{0AAA72C2-A781-4930-01B8-878D87EF3612}"/>
              </a:ext>
            </a:extLst>
          </p:cNvPr>
          <p:cNvPicPr preferRelativeResize="0">
            <a:picLocks/>
          </p:cNvPicPr>
          <p:nvPr/>
        </p:nvPicPr>
        <p:blipFill>
          <a:blip r:embed="rId2"/>
          <a:stretch>
            <a:fillRect/>
          </a:stretch>
        </p:blipFill>
        <p:spPr>
          <a:xfrm>
            <a:off x="535229" y="6138283"/>
            <a:ext cx="6480000" cy="3600000"/>
          </a:xfrm>
          <a:prstGeom prst="rect">
            <a:avLst/>
          </a:prstGeom>
        </p:spPr>
      </p:pic>
      <p:graphicFrame>
        <p:nvGraphicFramePr>
          <p:cNvPr id="3" name="Tableau 2">
            <a:extLst>
              <a:ext uri="{FF2B5EF4-FFF2-40B4-BE49-F238E27FC236}">
                <a16:creationId xmlns:a16="http://schemas.microsoft.com/office/drawing/2014/main" id="{05A74D6B-EA5F-8B7A-A602-012CB005CF7D}"/>
              </a:ext>
            </a:extLst>
          </p:cNvPr>
          <p:cNvGraphicFramePr>
            <a:graphicFrameLocks noGrp="1"/>
          </p:cNvGraphicFramePr>
          <p:nvPr>
            <p:extLst>
              <p:ext uri="{D42A27DB-BD31-4B8C-83A1-F6EECF244321}">
                <p14:modId xmlns:p14="http://schemas.microsoft.com/office/powerpoint/2010/main" val="2135225501"/>
              </p:ext>
            </p:extLst>
          </p:nvPr>
        </p:nvGraphicFramePr>
        <p:xfrm>
          <a:off x="541020" y="1312852"/>
          <a:ext cx="6484620" cy="4413365"/>
        </p:xfrm>
        <a:graphic>
          <a:graphicData uri="http://schemas.openxmlformats.org/drawingml/2006/table">
            <a:tbl>
              <a:tblPr firstRow="1" bandRow="1">
                <a:tableStyleId>{5940675A-B579-460E-94D1-54222C63F5DA}</a:tableStyleId>
              </a:tblPr>
              <a:tblGrid>
                <a:gridCol w="1621155">
                  <a:extLst>
                    <a:ext uri="{9D8B030D-6E8A-4147-A177-3AD203B41FA5}">
                      <a16:colId xmlns:a16="http://schemas.microsoft.com/office/drawing/2014/main" val="1155733639"/>
                    </a:ext>
                  </a:extLst>
                </a:gridCol>
                <a:gridCol w="1621155">
                  <a:extLst>
                    <a:ext uri="{9D8B030D-6E8A-4147-A177-3AD203B41FA5}">
                      <a16:colId xmlns:a16="http://schemas.microsoft.com/office/drawing/2014/main" val="260011561"/>
                    </a:ext>
                  </a:extLst>
                </a:gridCol>
                <a:gridCol w="1567011">
                  <a:extLst>
                    <a:ext uri="{9D8B030D-6E8A-4147-A177-3AD203B41FA5}">
                      <a16:colId xmlns:a16="http://schemas.microsoft.com/office/drawing/2014/main" val="3457867430"/>
                    </a:ext>
                  </a:extLst>
                </a:gridCol>
                <a:gridCol w="1675299">
                  <a:extLst>
                    <a:ext uri="{9D8B030D-6E8A-4147-A177-3AD203B41FA5}">
                      <a16:colId xmlns:a16="http://schemas.microsoft.com/office/drawing/2014/main" val="2343645573"/>
                    </a:ext>
                  </a:extLst>
                </a:gridCol>
              </a:tblGrid>
              <a:tr h="325209">
                <a:tc gridSpan="4">
                  <a:txBody>
                    <a:bodyPr/>
                    <a:lstStyle/>
                    <a:p>
                      <a:pPr algn="l"/>
                      <a:r>
                        <a:rPr lang="fr-FR" sz="1200" b="1" dirty="0">
                          <a:latin typeface="Calibri" panose="020F0502020204030204" pitchFamily="34" charset="0"/>
                          <a:ea typeface="Calibri" panose="020F0502020204030204" pitchFamily="34" charset="0"/>
                          <a:cs typeface="Calibri" panose="020F0502020204030204" pitchFamily="34" charset="0"/>
                        </a:rPr>
                        <a:t>Description de la copropriété :</a:t>
                      </a: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642503921"/>
                  </a:ext>
                </a:extLst>
              </a:tr>
              <a:tr h="202298">
                <a:tc gridSpan="4">
                  <a:txBody>
                    <a:bodyPr/>
                    <a:lstStyle/>
                    <a:p>
                      <a:pPr algn="l"/>
                      <a:endParaRPr lang="fr-FR" sz="1100" b="1" dirty="0"/>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216429403"/>
                  </a:ext>
                </a:extLst>
              </a:tr>
              <a:tr h="325209">
                <a:tc gridSpan="4">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Résidence LE COTE SQUARE </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4010432731"/>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Adresse du site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3">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18 Rue de la Barrière, Rive de Gier</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sz="1200"/>
                    </a:p>
                  </a:txBody>
                  <a:tcPr/>
                </a:tc>
                <a:tc hMerge="1">
                  <a:txBody>
                    <a:bodyPr/>
                    <a:lstStyle/>
                    <a:p>
                      <a:endParaRPr lang="fr-FR" sz="1200" dirty="0"/>
                    </a:p>
                  </a:txBody>
                  <a:tcPr/>
                </a:tc>
                <a:extLst>
                  <a:ext uri="{0D108BD9-81ED-4DB2-BD59-A6C34878D82A}">
                    <a16:rowId xmlns:a16="http://schemas.microsoft.com/office/drawing/2014/main" val="1928192699"/>
                  </a:ext>
                </a:extLst>
              </a:tr>
              <a:tr h="400943">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Année de construction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Entre 2001 et 2010</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Date du règlement de copropriété</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06/03/2007</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8579550"/>
                  </a:ext>
                </a:extLst>
              </a:tr>
              <a:tr h="400943">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Date d’immatriculation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fr-FR" sz="1100" kern="1200" dirty="0">
                          <a:solidFill>
                            <a:schemeClr val="tx1"/>
                          </a:solidFill>
                          <a:latin typeface="Calibri" panose="020F0502020204030204" pitchFamily="34" charset="0"/>
                          <a:ea typeface="Calibri" panose="020F0502020204030204" pitchFamily="34" charset="0"/>
                          <a:cs typeface="Calibri" panose="020F0502020204030204" pitchFamily="34" charset="0"/>
                        </a:rPr>
                        <a:t>27/07/2017</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Numéro d’immatriculation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AA7634256</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431703"/>
                  </a:ext>
                </a:extLst>
              </a:tr>
              <a:tr h="325209">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72696971"/>
                  </a:ext>
                </a:extLst>
              </a:tr>
              <a:tr h="400943">
                <a:tc>
                  <a:txBody>
                    <a:bodyPr/>
                    <a:lstStyle/>
                    <a:p>
                      <a:pPr algn="l"/>
                      <a:r>
                        <a:rPr lang="fr-FR" sz="1100" b="1" dirty="0">
                          <a:latin typeface="Calibri" panose="020F0502020204030204" pitchFamily="34" charset="0"/>
                          <a:ea typeface="Calibri" panose="020F0502020204030204" pitchFamily="34" charset="0"/>
                          <a:cs typeface="Calibri" panose="020F0502020204030204" pitchFamily="34" charset="0"/>
                        </a:rPr>
                        <a:t>Nombres de bâtiments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1</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Nombres d’entrées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1</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883674"/>
                  </a:ext>
                </a:extLst>
              </a:tr>
              <a:tr h="400943">
                <a:tc>
                  <a:txBody>
                    <a:bodyPr/>
                    <a:lstStyle/>
                    <a:p>
                      <a:pPr algn="l"/>
                      <a:r>
                        <a:rPr lang="fr-FR" sz="1100" b="1" dirty="0">
                          <a:latin typeface="Calibri" panose="020F0502020204030204" pitchFamily="34" charset="0"/>
                          <a:ea typeface="Calibri" panose="020F0502020204030204" pitchFamily="34" charset="0"/>
                          <a:cs typeface="Calibri" panose="020F0502020204030204" pitchFamily="34" charset="0"/>
                        </a:rPr>
                        <a:t>Nombre total de lots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61</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Nombres de niveaux</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4</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6811295"/>
                  </a:ext>
                </a:extLst>
              </a:tr>
              <a:tr h="400943">
                <a:tc>
                  <a:txBody>
                    <a:bodyPr/>
                    <a:lstStyle/>
                    <a:p>
                      <a:pPr algn="l"/>
                      <a:r>
                        <a:rPr lang="fr-FR" sz="1100" b="1" dirty="0">
                          <a:latin typeface="Calibri" panose="020F0502020204030204" pitchFamily="34" charset="0"/>
                          <a:ea typeface="Calibri" panose="020F0502020204030204" pitchFamily="34" charset="0"/>
                          <a:cs typeface="Calibri" panose="020F0502020204030204" pitchFamily="34" charset="0"/>
                        </a:rPr>
                        <a:t>Nombre total de lots principaux</a:t>
                      </a:r>
                    </a:p>
                  </a:txBody>
                  <a:tcPr marL="80189" marR="80189" marT="40094" marB="40094" anchor="ct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22</a:t>
                      </a:r>
                    </a:p>
                  </a:txBody>
                  <a:tcPr marL="80189" marR="80189" marT="40094" marB="40094" anchor="ctr">
                    <a:lnT w="12700" cap="flat" cmpd="sng" algn="ctr">
                      <a:solidFill>
                        <a:schemeClr val="tx1"/>
                      </a:solidFill>
                      <a:prstDash val="solid"/>
                      <a:round/>
                      <a:headEnd type="none" w="med" len="med"/>
                      <a:tailEnd type="none" w="med" len="med"/>
                    </a:lnT>
                  </a:tcPr>
                </a:tc>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Type de chauffage</a:t>
                      </a:r>
                    </a:p>
                  </a:txBody>
                  <a:tcPr marL="80189" marR="80189" marT="40094" marB="40094" anchor="ct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Individuel</a:t>
                      </a:r>
                    </a:p>
                  </a:txBody>
                  <a:tcPr marL="80189" marR="80189" marT="40094" marB="40094"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60304953"/>
                  </a:ext>
                </a:extLst>
              </a:tr>
              <a:tr h="400943">
                <a:tc>
                  <a:txBody>
                    <a:bodyPr/>
                    <a:lstStyle/>
                    <a:p>
                      <a:pPr algn="l"/>
                      <a:r>
                        <a:rPr lang="fr-FR" sz="1100" b="1" dirty="0">
                          <a:latin typeface="Calibri" panose="020F0502020204030204" pitchFamily="34" charset="0"/>
                          <a:ea typeface="Calibri" panose="020F0502020204030204" pitchFamily="34" charset="0"/>
                          <a:cs typeface="Calibri" panose="020F0502020204030204" pitchFamily="34" charset="0"/>
                        </a:rPr>
                        <a:t>Nombre total de lots à usage d’habitation</a:t>
                      </a:r>
                    </a:p>
                  </a:txBody>
                  <a:tcPr marL="80189" marR="80189" marT="40094" marB="40094" anchor="ctr">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22</a:t>
                      </a:r>
                    </a:p>
                  </a:txBody>
                  <a:tcPr marL="80189" marR="80189" marT="40094" marB="40094"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Nombres d’ascenseur</a:t>
                      </a:r>
                    </a:p>
                  </a:txBody>
                  <a:tcPr marL="80189" marR="80189" marT="40094" marB="40094" anchor="ctr">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1</a:t>
                      </a:r>
                    </a:p>
                  </a:txBody>
                  <a:tcPr marL="80189" marR="80189" marT="40094" marB="40094" anchor="ctr"/>
                </a:tc>
                <a:extLst>
                  <a:ext uri="{0D108BD9-81ED-4DB2-BD59-A6C34878D82A}">
                    <a16:rowId xmlns:a16="http://schemas.microsoft.com/office/drawing/2014/main" val="274770439"/>
                  </a:ext>
                </a:extLst>
              </a:tr>
              <a:tr h="40094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SHAB approximative</a:t>
                      </a:r>
                    </a:p>
                  </a:txBody>
                  <a:tcPr marL="80189" marR="80189" marT="40094" marB="40094" anchor="ctr">
                    <a:solidFill>
                      <a:schemeClr val="bg1">
                        <a:lumMod val="85000"/>
                      </a:schemeClr>
                    </a:solidFill>
                  </a:tcPr>
                </a:tc>
                <a:tc>
                  <a:txBody>
                    <a:bodyPr/>
                    <a:lstStyle/>
                    <a:p>
                      <a:pPr algn="ctr"/>
                      <a:r>
                        <a:rPr lang="fr-FR" sz="1100" b="0" i="0" u="none" strike="noStrike" dirty="0">
                          <a:solidFill>
                            <a:srgbClr val="000000"/>
                          </a:solidFill>
                          <a:effectLst/>
                          <a:latin typeface="Calibri" panose="020F0502020204030204" pitchFamily="34" charset="0"/>
                        </a:rPr>
                        <a:t>1676,3</a:t>
                      </a: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Altitude</a:t>
                      </a:r>
                    </a:p>
                  </a:txBody>
                  <a:tcPr marL="80189" marR="80189" marT="40094" marB="40094" anchor="ctr">
                    <a:solidFill>
                      <a:schemeClr val="bg1">
                        <a:lumMod val="85000"/>
                      </a:schemeClr>
                    </a:solidFill>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250</a:t>
                      </a:r>
                    </a:p>
                  </a:txBody>
                  <a:tcPr marL="80189" marR="80189" marT="40094" marB="40094" anchor="ctr"/>
                </a:tc>
                <a:extLst>
                  <a:ext uri="{0D108BD9-81ED-4DB2-BD59-A6C34878D82A}">
                    <a16:rowId xmlns:a16="http://schemas.microsoft.com/office/drawing/2014/main" val="1839297709"/>
                  </a:ext>
                </a:extLst>
              </a:tr>
            </a:tbl>
          </a:graphicData>
        </a:graphic>
      </p:graphicFrame>
      <p:sp>
        <p:nvSpPr>
          <p:cNvPr id="5" name="Rectangle 4">
            <a:extLst>
              <a:ext uri="{FF2B5EF4-FFF2-40B4-BE49-F238E27FC236}">
                <a16:creationId xmlns:a16="http://schemas.microsoft.com/office/drawing/2014/main" id="{3C3ED768-38E2-AECF-EEC8-A89F2AD832AC}"/>
              </a:ext>
            </a:extLst>
          </p:cNvPr>
          <p:cNvSpPr/>
          <p:nvPr/>
        </p:nvSpPr>
        <p:spPr>
          <a:xfrm rot="17542367">
            <a:off x="2088453" y="7098600"/>
            <a:ext cx="2667411" cy="165764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579"/>
          </a:p>
        </p:txBody>
      </p:sp>
      <p:sp>
        <p:nvSpPr>
          <p:cNvPr id="8" name="Espace réservé du pied de page 5">
            <a:extLst>
              <a:ext uri="{FF2B5EF4-FFF2-40B4-BE49-F238E27FC236}">
                <a16:creationId xmlns:a16="http://schemas.microsoft.com/office/drawing/2014/main" id="{6B10F920-6F4C-1AC6-63E9-F600A252F2DC}"/>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47275250-B27D-CB16-17D2-EFF98FB5ADC6}"/>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3</a:t>
            </a:fld>
            <a:endParaRPr lang="fr-FR" sz="965" dirty="0"/>
          </a:p>
        </p:txBody>
      </p:sp>
      <p:pic>
        <p:nvPicPr>
          <p:cNvPr id="7" name="Image 6">
            <a:extLst>
              <a:ext uri="{FF2B5EF4-FFF2-40B4-BE49-F238E27FC236}">
                <a16:creationId xmlns:a16="http://schemas.microsoft.com/office/drawing/2014/main" id="{AE698EDE-FEA8-823E-A2C8-5AF77BEC8E65}"/>
              </a:ext>
            </a:extLst>
          </p:cNvPr>
          <p:cNvPicPr>
            <a:picLocks noChangeAspect="1"/>
          </p:cNvPicPr>
          <p:nvPr/>
        </p:nvPicPr>
        <p:blipFill>
          <a:blip r:embed="rId3"/>
          <a:stretch>
            <a:fillRect/>
          </a:stretch>
        </p:blipFill>
        <p:spPr>
          <a:xfrm>
            <a:off x="541020" y="98814"/>
            <a:ext cx="2246544" cy="594519"/>
          </a:xfrm>
          <a:prstGeom prst="rect">
            <a:avLst/>
          </a:prstGeom>
        </p:spPr>
      </p:pic>
      <p:sp>
        <p:nvSpPr>
          <p:cNvPr id="13" name="ZoneTexte 12">
            <a:extLst>
              <a:ext uri="{FF2B5EF4-FFF2-40B4-BE49-F238E27FC236}">
                <a16:creationId xmlns:a16="http://schemas.microsoft.com/office/drawing/2014/main" id="{DF0C5A5B-F9CD-C0E2-8F90-D2E2415812EC}"/>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INFORMATIONS ADMINISTRATIVES</a:t>
            </a:r>
          </a:p>
        </p:txBody>
      </p:sp>
      <p:sp>
        <p:nvSpPr>
          <p:cNvPr id="2" name="Rectangle 1">
            <a:extLst>
              <a:ext uri="{FF2B5EF4-FFF2-40B4-BE49-F238E27FC236}">
                <a16:creationId xmlns:a16="http://schemas.microsoft.com/office/drawing/2014/main" id="{E9DC32F2-50A9-6D29-DC41-17179AF37C59}"/>
              </a:ext>
            </a:extLst>
          </p:cNvPr>
          <p:cNvSpPr/>
          <p:nvPr/>
        </p:nvSpPr>
        <p:spPr>
          <a:xfrm>
            <a:off x="8913152" y="4550901"/>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 name="Connecteur droit avec flèche 5">
            <a:extLst>
              <a:ext uri="{FF2B5EF4-FFF2-40B4-BE49-F238E27FC236}">
                <a16:creationId xmlns:a16="http://schemas.microsoft.com/office/drawing/2014/main" id="{118EAD78-0310-E740-0F97-6F2E930DCFF6}"/>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Ellipse 8">
            <a:extLst>
              <a:ext uri="{FF2B5EF4-FFF2-40B4-BE49-F238E27FC236}">
                <a16:creationId xmlns:a16="http://schemas.microsoft.com/office/drawing/2014/main" id="{1D135EB0-AD64-C028-2834-D6850F057F66}"/>
              </a:ext>
            </a:extLst>
          </p:cNvPr>
          <p:cNvSpPr/>
          <p:nvPr/>
        </p:nvSpPr>
        <p:spPr>
          <a:xfrm>
            <a:off x="8913152" y="2941832"/>
            <a:ext cx="914400" cy="9144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droite 10">
            <a:extLst>
              <a:ext uri="{FF2B5EF4-FFF2-40B4-BE49-F238E27FC236}">
                <a16:creationId xmlns:a16="http://schemas.microsoft.com/office/drawing/2014/main" id="{16958347-467E-62CE-79C7-5E63C9C8D404}"/>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86BF5A01-1FD4-9464-C79C-6C7CE246259E}"/>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spTree>
    <p:extLst>
      <p:ext uri="{BB962C8B-B14F-4D97-AF65-F5344CB8AC3E}">
        <p14:creationId xmlns:p14="http://schemas.microsoft.com/office/powerpoint/2010/main" val="535506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5ABCC-806B-5E76-0A3E-709878F2A620}"/>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06052026-B0FA-905F-EEB6-6F17715C50F2}"/>
              </a:ext>
            </a:extLst>
          </p:cNvPr>
          <p:cNvSpPr txBox="1"/>
          <p:nvPr/>
        </p:nvSpPr>
        <p:spPr>
          <a:xfrm>
            <a:off x="541020" y="1208672"/>
            <a:ext cx="6484620" cy="430887"/>
          </a:xfrm>
          <a:prstGeom prst="rect">
            <a:avLst/>
          </a:prstGeom>
          <a:noFill/>
        </p:spPr>
        <p:txBody>
          <a:bodyPr wrap="square" rtlCol="0">
            <a:spAutoFit/>
          </a:bodyPr>
          <a:lstStyle/>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p:txBody>
      </p:sp>
      <p:sp>
        <p:nvSpPr>
          <p:cNvPr id="2" name="Espace réservé du pied de page 5">
            <a:extLst>
              <a:ext uri="{FF2B5EF4-FFF2-40B4-BE49-F238E27FC236}">
                <a16:creationId xmlns:a16="http://schemas.microsoft.com/office/drawing/2014/main" id="{221E7FAA-0250-5D68-E10F-FF1558391ECD}"/>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58470FE0-A9C6-0835-044D-CBF3565F075B}"/>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4</a:t>
            </a:fld>
            <a:endParaRPr lang="fr-FR" sz="965" dirty="0"/>
          </a:p>
        </p:txBody>
      </p:sp>
      <p:sp>
        <p:nvSpPr>
          <p:cNvPr id="8" name="ZoneTexte 7">
            <a:extLst>
              <a:ext uri="{FF2B5EF4-FFF2-40B4-BE49-F238E27FC236}">
                <a16:creationId xmlns:a16="http://schemas.microsoft.com/office/drawing/2014/main" id="{2CAA33A3-8661-C40B-6DE0-899AF0B1162E}"/>
              </a:ext>
            </a:extLst>
          </p:cNvPr>
          <p:cNvSpPr txBox="1"/>
          <p:nvPr/>
        </p:nvSpPr>
        <p:spPr>
          <a:xfrm>
            <a:off x="541020" y="1208672"/>
            <a:ext cx="6484620" cy="1461939"/>
          </a:xfrm>
          <a:prstGeom prst="rect">
            <a:avLst/>
          </a:prstGeom>
          <a:noFill/>
        </p:spPr>
        <p:txBody>
          <a:bodyPr wrap="square" rtlCol="0">
            <a:spAutoFit/>
          </a:bodyPr>
          <a:lstStyle/>
          <a:p>
            <a:pPr algn="just"/>
            <a:r>
              <a:rPr lang="fr-FR" sz="1200" b="1" dirty="0">
                <a:latin typeface="Calibri" panose="020F0502020204030204" pitchFamily="34" charset="0"/>
                <a:ea typeface="Calibri" panose="020F0502020204030204" pitchFamily="34" charset="0"/>
                <a:cs typeface="Calibri" panose="020F0502020204030204" pitchFamily="34" charset="0"/>
              </a:rPr>
              <a:t>Statut patrimonial du bâtiment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etc.).Lorsque le bâtiment est situé dans un secteur protégé, certains travaux peuvent être soumis à des autorisations spécifiques ou à l'avis de l'Architecte des Bâtiments de France (ABF). Le statut patrimonial est vérifié à partir de l'Atlas des patrimoines et du Géoportail de l'Urbanisme.</a:t>
            </a:r>
          </a:p>
        </p:txBody>
      </p:sp>
      <p:graphicFrame>
        <p:nvGraphicFramePr>
          <p:cNvPr id="9" name="Tableau 8">
            <a:extLst>
              <a:ext uri="{FF2B5EF4-FFF2-40B4-BE49-F238E27FC236}">
                <a16:creationId xmlns:a16="http://schemas.microsoft.com/office/drawing/2014/main" id="{995AF5FB-6FDE-D1EF-117E-F7D7D9F43819}"/>
              </a:ext>
            </a:extLst>
          </p:cNvPr>
          <p:cNvGraphicFramePr>
            <a:graphicFrameLocks noGrp="1"/>
          </p:cNvGraphicFramePr>
          <p:nvPr/>
        </p:nvGraphicFramePr>
        <p:xfrm>
          <a:off x="541020" y="2907001"/>
          <a:ext cx="6484620" cy="3048000"/>
        </p:xfrm>
        <a:graphic>
          <a:graphicData uri="http://schemas.openxmlformats.org/drawingml/2006/table">
            <a:tbl>
              <a:tblPr firstRow="1" bandRow="1">
                <a:tableStyleId>{5940675A-B579-460E-94D1-54222C63F5DA}</a:tableStyleId>
              </a:tblPr>
              <a:tblGrid>
                <a:gridCol w="1125855">
                  <a:extLst>
                    <a:ext uri="{9D8B030D-6E8A-4147-A177-3AD203B41FA5}">
                      <a16:colId xmlns:a16="http://schemas.microsoft.com/office/drawing/2014/main" val="3130158024"/>
                    </a:ext>
                  </a:extLst>
                </a:gridCol>
                <a:gridCol w="2181225">
                  <a:extLst>
                    <a:ext uri="{9D8B030D-6E8A-4147-A177-3AD203B41FA5}">
                      <a16:colId xmlns:a16="http://schemas.microsoft.com/office/drawing/2014/main" val="3422295923"/>
                    </a:ext>
                  </a:extLst>
                </a:gridCol>
                <a:gridCol w="3177540">
                  <a:extLst>
                    <a:ext uri="{9D8B030D-6E8A-4147-A177-3AD203B41FA5}">
                      <a16:colId xmlns:a16="http://schemas.microsoft.com/office/drawing/2014/main" val="2689659874"/>
                    </a:ext>
                  </a:extLst>
                </a:gridCol>
              </a:tblGrid>
              <a:tr h="370840">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Statut patrimonial</a:t>
                      </a:r>
                    </a:p>
                  </a:txBody>
                  <a:tcPr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Description</a:t>
                      </a:r>
                    </a:p>
                  </a:txBody>
                  <a:tcPr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Conséquences sur les travaux</a:t>
                      </a:r>
                    </a:p>
                  </a:txBody>
                  <a:tcPr anchor="ctr"/>
                </a:tc>
                <a:extLst>
                  <a:ext uri="{0D108BD9-81ED-4DB2-BD59-A6C34878D82A}">
                    <a16:rowId xmlns:a16="http://schemas.microsoft.com/office/drawing/2014/main" val="3031260473"/>
                  </a:ext>
                </a:extLst>
              </a:tr>
              <a:tr h="370840">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Aucun périmètre de protection</a:t>
                      </a:r>
                    </a:p>
                  </a:txBody>
                  <a:tcPr anchor="ctr"/>
                </a:tc>
                <a:tc>
                  <a:txBody>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L'immeuble n'est soumis à aucune protection patrimoniale particulière.</a:t>
                      </a:r>
                    </a:p>
                  </a:txBody>
                  <a:tcPr anchor="ctr"/>
                </a:tc>
                <a:tc>
                  <a:txBody>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Les travaux peuvent être réalisés dans le respect des règles d'urbanisme en vigueur, sans contrainte patrimoniale spécifique.</a:t>
                      </a:r>
                    </a:p>
                  </a:txBody>
                  <a:tcPr anchor="ctr"/>
                </a:tc>
                <a:extLst>
                  <a:ext uri="{0D108BD9-81ED-4DB2-BD59-A6C34878D82A}">
                    <a16:rowId xmlns:a16="http://schemas.microsoft.com/office/drawing/2014/main" val="2914527152"/>
                  </a:ext>
                </a:extLst>
              </a:tr>
              <a:tr h="370840">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Site patrimonial remarquable</a:t>
                      </a:r>
                    </a:p>
                  </a:txBody>
                  <a:tcPr anchor="ctr"/>
                </a:tc>
                <a:tc>
                  <a:txBody>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Secteur présentant un intérêt historique, architectural ou paysager bénéficiant d'une protection particulière.</a:t>
                      </a:r>
                    </a:p>
                  </a:txBody>
                  <a:tcPr anchor="ctr"/>
                </a:tc>
                <a:tc>
                  <a:txBody>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Les travaux modifiant l'aspect extérieur du bâtiment (façades, toiture, menuiseries, isolation par l'extérieur, etc.) sont soumis à des prescriptions architecturales et peuvent nécessiter l'accord de l'Architecte des Bâtiments de France (ABF).</a:t>
                      </a:r>
                    </a:p>
                  </a:txBody>
                  <a:tcPr anchor="ctr"/>
                </a:tc>
                <a:extLst>
                  <a:ext uri="{0D108BD9-81ED-4DB2-BD59-A6C34878D82A}">
                    <a16:rowId xmlns:a16="http://schemas.microsoft.com/office/drawing/2014/main" val="703067949"/>
                  </a:ext>
                </a:extLst>
              </a:tr>
              <a:tr h="370840">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Abords d'un Monument Historique</a:t>
                      </a:r>
                    </a:p>
                  </a:txBody>
                  <a:tcPr anchor="ctr"/>
                </a:tc>
                <a:tc>
                  <a:txBody>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L'immeuble est situé dans un périmètre de </a:t>
                      </a:r>
                      <a:r>
                        <a:rPr lang="fr-FR" sz="1100" b="1" dirty="0">
                          <a:latin typeface="Calibri" panose="020F0502020204030204" pitchFamily="34" charset="0"/>
                          <a:ea typeface="Calibri" panose="020F0502020204030204" pitchFamily="34" charset="0"/>
                          <a:cs typeface="Calibri" panose="020F0502020204030204" pitchFamily="34" charset="0"/>
                        </a:rPr>
                        <a:t>500 mètres</a:t>
                      </a:r>
                      <a:r>
                        <a:rPr lang="fr-FR" sz="1100" dirty="0">
                          <a:latin typeface="Calibri" panose="020F0502020204030204" pitchFamily="34" charset="0"/>
                          <a:ea typeface="Calibri" panose="020F0502020204030204" pitchFamily="34" charset="0"/>
                          <a:cs typeface="Calibri" panose="020F0502020204030204" pitchFamily="34" charset="0"/>
                        </a:rPr>
                        <a:t> autour d'un monument historique classé ou inscrit et est susceptible d'être visible depuis celui-ci ou visible en même temps que celui-ci.</a:t>
                      </a:r>
                    </a:p>
                  </a:txBody>
                  <a:tcPr anchor="ctr"/>
                </a:tc>
                <a:tc>
                  <a:txBody>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Les travaux visibles depuis l'espace public sont susceptibles d'être soumis à l'avis conforme de l'Architecte des Bâtiments de France (ABF). Des prescriptions concernant les matériaux, les couleurs ou l'aspect des ouvrages peuvent être imposées.</a:t>
                      </a:r>
                    </a:p>
                  </a:txBody>
                  <a:tcPr anchor="ctr"/>
                </a:tc>
                <a:extLst>
                  <a:ext uri="{0D108BD9-81ED-4DB2-BD59-A6C34878D82A}">
                    <a16:rowId xmlns:a16="http://schemas.microsoft.com/office/drawing/2014/main" val="3975632401"/>
                  </a:ext>
                </a:extLst>
              </a:tr>
            </a:tbl>
          </a:graphicData>
        </a:graphic>
      </p:graphicFrame>
      <p:graphicFrame>
        <p:nvGraphicFramePr>
          <p:cNvPr id="12" name="Tableau 11">
            <a:extLst>
              <a:ext uri="{FF2B5EF4-FFF2-40B4-BE49-F238E27FC236}">
                <a16:creationId xmlns:a16="http://schemas.microsoft.com/office/drawing/2014/main" id="{2F99E87D-EF5A-1A6C-EEF0-1818D0BA7B34}"/>
              </a:ext>
            </a:extLst>
          </p:cNvPr>
          <p:cNvGraphicFramePr>
            <a:graphicFrameLocks noGrp="1"/>
          </p:cNvGraphicFramePr>
          <p:nvPr/>
        </p:nvGraphicFramePr>
        <p:xfrm>
          <a:off x="541019" y="6297754"/>
          <a:ext cx="6484620" cy="3779520"/>
        </p:xfrm>
        <a:graphic>
          <a:graphicData uri="http://schemas.openxmlformats.org/drawingml/2006/table">
            <a:tbl>
              <a:tblPr firstRow="1" bandRow="1">
                <a:tableStyleId>{5940675A-B579-460E-94D1-54222C63F5DA}</a:tableStyleId>
              </a:tblPr>
              <a:tblGrid>
                <a:gridCol w="2386331">
                  <a:extLst>
                    <a:ext uri="{9D8B030D-6E8A-4147-A177-3AD203B41FA5}">
                      <a16:colId xmlns:a16="http://schemas.microsoft.com/office/drawing/2014/main" val="3130158024"/>
                    </a:ext>
                  </a:extLst>
                </a:gridCol>
                <a:gridCol w="4098289">
                  <a:extLst>
                    <a:ext uri="{9D8B030D-6E8A-4147-A177-3AD203B41FA5}">
                      <a16:colId xmlns:a16="http://schemas.microsoft.com/office/drawing/2014/main" val="3422295923"/>
                    </a:ext>
                  </a:extLst>
                </a:gridCol>
              </a:tblGrid>
              <a:tr h="370840">
                <a:tc>
                  <a:txBody>
                    <a:bodyPr/>
                    <a:lstStyle/>
                    <a:p>
                      <a:pPr algn="l"/>
                      <a:r>
                        <a:rPr lang="fr-FR" sz="1100" b="1" dirty="0">
                          <a:latin typeface="Calibri" panose="020F0502020204030204" pitchFamily="34" charset="0"/>
                          <a:ea typeface="Calibri" panose="020F0502020204030204" pitchFamily="34" charset="0"/>
                          <a:cs typeface="Calibri" panose="020F0502020204030204" pitchFamily="34" charset="0"/>
                        </a:rPr>
                        <a:t>Votre situation :</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5">
                  <a:txBody>
                    <a:bodyPr/>
                    <a:lstStyle/>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r>
                        <a:rPr lang="fr-FR" sz="1100" b="1" dirty="0">
                          <a:latin typeface="Calibri" panose="020F0502020204030204" pitchFamily="34" charset="0"/>
                          <a:ea typeface="Calibri" panose="020F0502020204030204" pitchFamily="34" charset="0"/>
                          <a:cs typeface="Calibri" panose="020F0502020204030204" pitchFamily="34" charset="0"/>
                        </a:rPr>
                        <a:t>*</a:t>
                      </a: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1260473"/>
                  </a:ext>
                </a:extLst>
              </a:tr>
              <a:tr h="370840">
                <a:tc>
                  <a:txBody>
                    <a:bodyPr/>
                    <a:lstStyle/>
                    <a:p>
                      <a:pPr marL="171450" indent="-171450" algn="l">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Aucun périmètre de protection</a:t>
                      </a:r>
                    </a:p>
                    <a:p>
                      <a:pPr marL="0" indent="0" algn="l">
                        <a:buFont typeface="Arial" panose="020B0604020202020204" pitchFamily="34" charset="0"/>
                        <a:buNone/>
                      </a:pPr>
                      <a:r>
                        <a:rPr lang="fr-FR" sz="1100" b="1" dirty="0">
                          <a:solidFill>
                            <a:srgbClr val="00B050"/>
                          </a:solidFill>
                          <a:highlight>
                            <a:srgbClr val="FFFF00"/>
                          </a:highlight>
                          <a:latin typeface="Calibri" panose="020F0502020204030204" pitchFamily="34" charset="0"/>
                          <a:ea typeface="Calibri" panose="020F0502020204030204" pitchFamily="34" charset="0"/>
                          <a:cs typeface="Calibri" panose="020F0502020204030204" pitchFamily="34" charset="0"/>
                        </a:rPr>
                        <a:t>Concerné</a:t>
                      </a:r>
                    </a:p>
                    <a:p>
                      <a:pPr algn="l"/>
                      <a:endParaRPr lang="fr-FR" sz="11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vMerge="1">
                  <a:txBody>
                    <a:bodyPr/>
                    <a:lstStyle/>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3067949"/>
                  </a:ext>
                </a:extLst>
              </a:tr>
              <a:tr h="370840">
                <a:tc>
                  <a:txBody>
                    <a:bodyPr/>
                    <a:lstStyle/>
                    <a:p>
                      <a:pPr marL="171450" indent="-171450" algn="l">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Site patrimonial remarquable : </a:t>
                      </a:r>
                      <a:endParaRPr lang="fr-FR" sz="11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fr-FR" sz="1100" b="1" dirty="0">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Non concerné</a:t>
                      </a:r>
                    </a:p>
                    <a:p>
                      <a:pPr algn="l"/>
                      <a:endParaRPr lang="fr-FR" sz="11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vMerge="1">
                  <a:txBody>
                    <a:bodyPr/>
                    <a:lstStyle/>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89991421"/>
                  </a:ext>
                </a:extLst>
              </a:tr>
              <a:tr h="370840">
                <a:tc>
                  <a:txBody>
                    <a:bodyPr/>
                    <a:lstStyle/>
                    <a:p>
                      <a:pPr marL="171450" indent="-171450" algn="l">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Abords d’un monument historique :</a:t>
                      </a:r>
                    </a:p>
                    <a:p>
                      <a:pPr marL="0" indent="0" algn="l">
                        <a:buFont typeface="Arial" panose="020B0604020202020204" pitchFamily="34" charset="0"/>
                        <a:buNone/>
                      </a:pPr>
                      <a:r>
                        <a:rPr lang="fr-FR" sz="1100" b="1" dirty="0">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Non concerné</a:t>
                      </a:r>
                    </a:p>
                    <a:p>
                      <a:pPr algn="l"/>
                      <a:endParaRPr lang="fr-FR" sz="11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vMerge="1">
                  <a:txBody>
                    <a:bodyPr/>
                    <a:lstStyle/>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5632401"/>
                  </a:ext>
                </a:extLst>
              </a:tr>
              <a:tr h="370840">
                <a:tc>
                  <a:txBody>
                    <a:bodyPr/>
                    <a:lstStyle/>
                    <a:p>
                      <a:pPr algn="ctr"/>
                      <a:endParaRPr lang="fr-FR" sz="11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755934" rtl="0" eaLnBrk="1" fontAlgn="auto" latinLnBrk="0" hangingPunct="1">
                        <a:lnSpc>
                          <a:spcPct val="100000"/>
                        </a:lnSpc>
                        <a:spcBef>
                          <a:spcPts val="0"/>
                        </a:spcBef>
                        <a:spcAft>
                          <a:spcPts val="0"/>
                        </a:spcAft>
                        <a:buClrTx/>
                        <a:buSzTx/>
                        <a:buFontTx/>
                        <a:buNone/>
                        <a:tabLst/>
                        <a:defRPr/>
                      </a:pPr>
                      <a:r>
                        <a:rPr lang="fr-FR" sz="1100" i="1" dirty="0">
                          <a:latin typeface="Calibri" panose="020F0502020204030204" pitchFamily="34" charset="0"/>
                          <a:ea typeface="Calibri" panose="020F0502020204030204" pitchFamily="34" charset="0"/>
                          <a:cs typeface="Calibri" panose="020F0502020204030204" pitchFamily="34" charset="0"/>
                        </a:rPr>
                        <a:t>http://atlas.patrimoines.culture.fr/atlas/trunk/</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9483821"/>
                  </a:ext>
                </a:extLst>
              </a:tr>
            </a:tbl>
          </a:graphicData>
        </a:graphic>
      </p:graphicFrame>
      <p:pic>
        <p:nvPicPr>
          <p:cNvPr id="16" name="Image 15">
            <a:extLst>
              <a:ext uri="{FF2B5EF4-FFF2-40B4-BE49-F238E27FC236}">
                <a16:creationId xmlns:a16="http://schemas.microsoft.com/office/drawing/2014/main" id="{AA9CC55A-C96F-A1B0-06B2-C235CC91AF37}"/>
              </a:ext>
            </a:extLst>
          </p:cNvPr>
          <p:cNvPicPr>
            <a:picLocks noChangeAspect="1"/>
          </p:cNvPicPr>
          <p:nvPr/>
        </p:nvPicPr>
        <p:blipFill>
          <a:blip r:embed="rId2"/>
          <a:stretch>
            <a:fillRect/>
          </a:stretch>
        </p:blipFill>
        <p:spPr>
          <a:xfrm>
            <a:off x="3120390" y="6435685"/>
            <a:ext cx="3747956" cy="3047456"/>
          </a:xfrm>
          <a:prstGeom prst="rect">
            <a:avLst/>
          </a:prstGeom>
        </p:spPr>
      </p:pic>
      <p:pic>
        <p:nvPicPr>
          <p:cNvPr id="7" name="Image 6">
            <a:extLst>
              <a:ext uri="{FF2B5EF4-FFF2-40B4-BE49-F238E27FC236}">
                <a16:creationId xmlns:a16="http://schemas.microsoft.com/office/drawing/2014/main" id="{C3446BC0-AE92-982E-58DC-527C96E275D3}"/>
              </a:ext>
            </a:extLst>
          </p:cNvPr>
          <p:cNvPicPr>
            <a:picLocks noChangeAspect="1"/>
          </p:cNvPicPr>
          <p:nvPr/>
        </p:nvPicPr>
        <p:blipFill>
          <a:blip r:embed="rId3"/>
          <a:stretch>
            <a:fillRect/>
          </a:stretch>
        </p:blipFill>
        <p:spPr>
          <a:xfrm>
            <a:off x="541020" y="98814"/>
            <a:ext cx="2246544" cy="594519"/>
          </a:xfrm>
          <a:prstGeom prst="rect">
            <a:avLst/>
          </a:prstGeom>
        </p:spPr>
      </p:pic>
      <p:sp>
        <p:nvSpPr>
          <p:cNvPr id="13" name="ZoneTexte 12">
            <a:extLst>
              <a:ext uri="{FF2B5EF4-FFF2-40B4-BE49-F238E27FC236}">
                <a16:creationId xmlns:a16="http://schemas.microsoft.com/office/drawing/2014/main" id="{1036C330-FA2E-123F-3B91-A228B1B11F4A}"/>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INFORMATIONS ADMINISTRATIVES</a:t>
            </a:r>
          </a:p>
        </p:txBody>
      </p:sp>
      <p:sp>
        <p:nvSpPr>
          <p:cNvPr id="4" name="ZoneTexte 3">
            <a:extLst>
              <a:ext uri="{FF2B5EF4-FFF2-40B4-BE49-F238E27FC236}">
                <a16:creationId xmlns:a16="http://schemas.microsoft.com/office/drawing/2014/main" id="{FD43E815-5DBB-6E0E-BEBE-3F499FD38367}"/>
              </a:ext>
            </a:extLst>
          </p:cNvPr>
          <p:cNvSpPr txBox="1"/>
          <p:nvPr/>
        </p:nvSpPr>
        <p:spPr>
          <a:xfrm>
            <a:off x="8008375" y="4431001"/>
            <a:ext cx="3883627" cy="523220"/>
          </a:xfrm>
          <a:prstGeom prst="rect">
            <a:avLst/>
          </a:prstGeom>
          <a:noFill/>
        </p:spPr>
        <p:txBody>
          <a:bodyPr wrap="none" rtlCol="0">
            <a:spAutoFit/>
          </a:bodyPr>
          <a:lstStyle/>
          <a:p>
            <a:r>
              <a:rPr lang="fr-FR" sz="2800" b="1" dirty="0">
                <a:solidFill>
                  <a:srgbClr val="FF0000"/>
                </a:solidFill>
              </a:rPr>
              <a:t>Partie Ayoub / Anthony</a:t>
            </a:r>
          </a:p>
        </p:txBody>
      </p:sp>
    </p:spTree>
    <p:extLst>
      <p:ext uri="{BB962C8B-B14F-4D97-AF65-F5344CB8AC3E}">
        <p14:creationId xmlns:p14="http://schemas.microsoft.com/office/powerpoint/2010/main" val="320543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3C6A1-F234-B1E5-E009-9B6A292EDBE5}"/>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CE99E87D-21CC-058D-E7D3-DD1FF985DB14}"/>
              </a:ext>
            </a:extLst>
          </p:cNvPr>
          <p:cNvGraphicFramePr>
            <a:graphicFrameLocks noGrp="1"/>
          </p:cNvGraphicFramePr>
          <p:nvPr>
            <p:extLst>
              <p:ext uri="{D42A27DB-BD31-4B8C-83A1-F6EECF244321}">
                <p14:modId xmlns:p14="http://schemas.microsoft.com/office/powerpoint/2010/main" val="3639564877"/>
              </p:ext>
            </p:extLst>
          </p:nvPr>
        </p:nvGraphicFramePr>
        <p:xfrm>
          <a:off x="541020" y="1376250"/>
          <a:ext cx="6484620" cy="8130225"/>
        </p:xfrm>
        <a:graphic>
          <a:graphicData uri="http://schemas.openxmlformats.org/drawingml/2006/table">
            <a:tbl>
              <a:tblPr firstRow="1" bandRow="1">
                <a:tableStyleId>{5940675A-B579-460E-94D1-54222C63F5DA}</a:tableStyleId>
              </a:tblPr>
              <a:tblGrid>
                <a:gridCol w="5516388">
                  <a:extLst>
                    <a:ext uri="{9D8B030D-6E8A-4147-A177-3AD203B41FA5}">
                      <a16:colId xmlns:a16="http://schemas.microsoft.com/office/drawing/2014/main" val="130782713"/>
                    </a:ext>
                  </a:extLst>
                </a:gridCol>
                <a:gridCol w="968232">
                  <a:extLst>
                    <a:ext uri="{9D8B030D-6E8A-4147-A177-3AD203B41FA5}">
                      <a16:colId xmlns:a16="http://schemas.microsoft.com/office/drawing/2014/main" val="2416498109"/>
                    </a:ext>
                  </a:extLst>
                </a:gridCol>
              </a:tblGrid>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Informations administratives…………………………………………………………………………….</a:t>
                      </a: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9627892"/>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1. Introduction…………………………………………………………………………………………………</a:t>
                      </a: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66122941"/>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6852992"/>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2.1 Rubrique Entretien……………………………………………………………………………………………</a:t>
                      </a: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4451760"/>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2.2 Rubrique Signalement………………………………………………………………………………………</a:t>
                      </a: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7826639"/>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2.3 Rubrique Curatif Niveau 1………………………………………………………………………………….</a:t>
                      </a: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76541493"/>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2.4 Rubrique Curatif Niveau 2………………………………………………………………………………….</a:t>
                      </a:r>
                    </a:p>
                  </a:txBody>
                  <a:tcPr marL="80189" marR="80189" marT="40094" marB="40094"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93857425"/>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2.5 Rubrique Curatif Niveau 3………………………………………………………………………………….</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2641755"/>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2.6 Rubrique Travaux énergétiques…………………………………………………………………………..</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2485952"/>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3. Évolutions réglementaires et normatives…………………………………….......................</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4019496"/>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3.1 Décret thermostat et calorifugeage…………………………………………………………………….</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8415148"/>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3.2 Evolution des normes de contrôle d’accès en copropriété……………………………………..</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8706929"/>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3.3 Extinction des réseaux 2G et 3G…………………………………………………………………………</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7714456"/>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4. Recommandations complémentaires……………………………………….........................</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55847820"/>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4.1 Défibrillateurs en copropriété…………………………………………………………………………….</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98809812"/>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5. Analyse documentaire de la copropriété……………………………………........................</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38699216"/>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5.1 Documents réglementaires et administratifs………………………………………………………..</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87398902"/>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5.2 Diagnostics techniques obligatoires……………………………………………………………………</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7978581"/>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5.3 Contrat d’entretien……………………………………………………………….………………………….</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7903711"/>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5.4 Sécurité incendie……………………………………………………………………………………………..</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40109"/>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6. Synthèse du PPPT……………………………………………………………….............................</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6509436"/>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6.1 La loi « Climat et Résilience »……………………………………………………………………………..</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06351126"/>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6.2 Le diagnostic de performance énergétiques (DPE Collectif)……………………………………</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6983774"/>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6.3 Synthèse des curatifs………………………………………………………………...........................</a:t>
                      </a: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49202483"/>
                  </a:ext>
                </a:extLst>
              </a:tr>
              <a:tr h="325209">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1508125"/>
                  </a:ext>
                </a:extLst>
              </a:tr>
            </a:tbl>
          </a:graphicData>
        </a:graphic>
      </p:graphicFrame>
      <p:sp>
        <p:nvSpPr>
          <p:cNvPr id="3" name="Espace réservé du pied de page 5">
            <a:extLst>
              <a:ext uri="{FF2B5EF4-FFF2-40B4-BE49-F238E27FC236}">
                <a16:creationId xmlns:a16="http://schemas.microsoft.com/office/drawing/2014/main" id="{8D85EEB3-ABA1-ADC9-B3DB-2C2325BD25D1}"/>
              </a:ext>
            </a:extLst>
          </p:cNvPr>
          <p:cNvSpPr>
            <a:spLocks noGrp="1"/>
          </p:cNvSpPr>
          <p:nvPr>
            <p:ph type="ftr" sz="quarter" idx="11"/>
          </p:nvPr>
        </p:nvSpPr>
        <p:spPr>
          <a:xfrm>
            <a:off x="2764951" y="10146478"/>
            <a:ext cx="2029774" cy="332491"/>
          </a:xfrm>
        </p:spPr>
        <p:txBody>
          <a:bodyPr/>
          <a:lstStyle/>
          <a:p>
            <a:r>
              <a:rPr lang="fr-FR" sz="965" dirty="0"/>
              <a:t>Copropriété LE COTE SQUARE </a:t>
            </a:r>
          </a:p>
        </p:txBody>
      </p:sp>
      <p:sp>
        <p:nvSpPr>
          <p:cNvPr id="4" name="Espace réservé du numéro de diapositive 6">
            <a:extLst>
              <a:ext uri="{FF2B5EF4-FFF2-40B4-BE49-F238E27FC236}">
                <a16:creationId xmlns:a16="http://schemas.microsoft.com/office/drawing/2014/main" id="{F0E12A84-8D61-49AA-AC1B-CF3E8378464A}"/>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5</a:t>
            </a:fld>
            <a:endParaRPr lang="fr-FR" sz="965" dirty="0"/>
          </a:p>
        </p:txBody>
      </p:sp>
      <p:pic>
        <p:nvPicPr>
          <p:cNvPr id="7" name="Image 6">
            <a:extLst>
              <a:ext uri="{FF2B5EF4-FFF2-40B4-BE49-F238E27FC236}">
                <a16:creationId xmlns:a16="http://schemas.microsoft.com/office/drawing/2014/main" id="{9865EEF3-6CD6-B9B1-3A5C-C23296A5E4E7}"/>
              </a:ext>
            </a:extLst>
          </p:cNvPr>
          <p:cNvPicPr>
            <a:picLocks noChangeAspect="1"/>
          </p:cNvPicPr>
          <p:nvPr/>
        </p:nvPicPr>
        <p:blipFill>
          <a:blip r:embed="rId2"/>
          <a:stretch>
            <a:fillRect/>
          </a:stretch>
        </p:blipFill>
        <p:spPr>
          <a:xfrm>
            <a:off x="541020" y="98814"/>
            <a:ext cx="2246544" cy="594519"/>
          </a:xfrm>
          <a:prstGeom prst="rect">
            <a:avLst/>
          </a:prstGeom>
        </p:spPr>
      </p:pic>
      <p:sp>
        <p:nvSpPr>
          <p:cNvPr id="8" name="ZoneTexte 7">
            <a:extLst>
              <a:ext uri="{FF2B5EF4-FFF2-40B4-BE49-F238E27FC236}">
                <a16:creationId xmlns:a16="http://schemas.microsoft.com/office/drawing/2014/main" id="{0D99439D-5D5C-F8AC-5B96-4A5C11C042CF}"/>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SOMMAIRE</a:t>
            </a:r>
          </a:p>
        </p:txBody>
      </p:sp>
    </p:spTree>
    <p:extLst>
      <p:ext uri="{BB962C8B-B14F-4D97-AF65-F5344CB8AC3E}">
        <p14:creationId xmlns:p14="http://schemas.microsoft.com/office/powerpoint/2010/main" val="931700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30100-6D22-9BFD-2058-EC429E33DEFC}"/>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E8208E4B-6FBC-C0E7-6584-D12B70E7C1E2}"/>
              </a:ext>
            </a:extLst>
          </p:cNvPr>
          <p:cNvGraphicFramePr>
            <a:graphicFrameLocks noGrp="1"/>
          </p:cNvGraphicFramePr>
          <p:nvPr>
            <p:extLst>
              <p:ext uri="{D42A27DB-BD31-4B8C-83A1-F6EECF244321}">
                <p14:modId xmlns:p14="http://schemas.microsoft.com/office/powerpoint/2010/main" val="744125848"/>
              </p:ext>
            </p:extLst>
          </p:nvPr>
        </p:nvGraphicFramePr>
        <p:xfrm>
          <a:off x="541020" y="1236240"/>
          <a:ext cx="6484620" cy="4227717"/>
        </p:xfrm>
        <a:graphic>
          <a:graphicData uri="http://schemas.openxmlformats.org/drawingml/2006/table">
            <a:tbl>
              <a:tblPr firstRow="1" bandRow="1">
                <a:tableStyleId>{5940675A-B579-460E-94D1-54222C63F5DA}</a:tableStyleId>
              </a:tblPr>
              <a:tblGrid>
                <a:gridCol w="5516388">
                  <a:extLst>
                    <a:ext uri="{9D8B030D-6E8A-4147-A177-3AD203B41FA5}">
                      <a16:colId xmlns:a16="http://schemas.microsoft.com/office/drawing/2014/main" val="130782713"/>
                    </a:ext>
                  </a:extLst>
                </a:gridCol>
                <a:gridCol w="968232">
                  <a:extLst>
                    <a:ext uri="{9D8B030D-6E8A-4147-A177-3AD203B41FA5}">
                      <a16:colId xmlns:a16="http://schemas.microsoft.com/office/drawing/2014/main" val="2416498109"/>
                    </a:ext>
                  </a:extLst>
                </a:gridCol>
              </a:tblGrid>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7. Conclusion………………………………………………………………………………………………….</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76541493"/>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7.1 Conclusion générale…………………………………………………………………………………………</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93857425"/>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8. Financements à la rénovation énergétique…………………….…………………………………</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2641755"/>
                  </a:ext>
                </a:extLst>
              </a:tr>
              <a:tr h="325209">
                <a:tc>
                  <a:txBody>
                    <a:bodyPr/>
                    <a:lstStyle/>
                    <a:p>
                      <a:r>
                        <a:rPr lang="fr-FR" sz="1100" b="0" dirty="0">
                          <a:latin typeface="Calibri" panose="020F0502020204030204" pitchFamily="34" charset="0"/>
                          <a:ea typeface="Calibri" panose="020F0502020204030204" pitchFamily="34" charset="0"/>
                          <a:cs typeface="Calibri" panose="020F0502020204030204" pitchFamily="34" charset="0"/>
                        </a:rPr>
                        <a:t>8.1 Ma Prime Rénov’Copropriétés……………………………………………………………………………</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2485952"/>
                  </a:ext>
                </a:extLst>
              </a:tr>
              <a:tr h="325209">
                <a:tc>
                  <a:txBody>
                    <a:bodyPr/>
                    <a:lstStyle/>
                    <a:p>
                      <a:r>
                        <a:rPr lang="fr-FR" sz="1100" b="0" dirty="0">
                          <a:latin typeface="Calibri" panose="020F0502020204030204" pitchFamily="34" charset="0"/>
                          <a:ea typeface="Calibri" panose="020F0502020204030204" pitchFamily="34" charset="0"/>
                          <a:cs typeface="Calibri" panose="020F0502020204030204" pitchFamily="34" charset="0"/>
                        </a:rPr>
                        <a:t>8.2 Les Certificats d’Économies d’Énergie………………………………………………………………..</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4019496"/>
                  </a:ext>
                </a:extLst>
              </a:tr>
              <a:tr h="325209">
                <a:tc>
                  <a:txBody>
                    <a:bodyPr/>
                    <a:lstStyle/>
                    <a:p>
                      <a:r>
                        <a:rPr lang="fr-FR" sz="1100" b="0" dirty="0">
                          <a:latin typeface="Calibri" panose="020F0502020204030204" pitchFamily="34" charset="0"/>
                          <a:ea typeface="Calibri" panose="020F0502020204030204" pitchFamily="34" charset="0"/>
                          <a:cs typeface="Calibri" panose="020F0502020204030204" pitchFamily="34" charset="0"/>
                        </a:rPr>
                        <a:t>8.3 L’Éco-Prêt à Taux Zéro Copropriété………………………………….…………………………………</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8415148"/>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8.4 La TVA à taux réduite à 5,5%......................................................................................</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8706929"/>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8.5 Précision sur le cumul des aides financières………………….…………………………………….</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50048911"/>
                  </a:ext>
                </a:extLst>
              </a:tr>
              <a:tr h="325209">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8.6 Les étapes d’un projet de rénovation énergétique globale……………………………………..</a:t>
                      </a:r>
                      <a:endParaRPr lang="fr-FR" sz="1100" b="0" dirty="0">
                        <a:solidFill>
                          <a:srgbClr val="04CC7E"/>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71253202"/>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9. Lexique……………………………………………………………………………………………………….</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07087322"/>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10. Déclaration sur l’honneur…………………………………………………………………………….</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3413469"/>
                  </a:ext>
                </a:extLst>
              </a:tr>
              <a:tr h="325209">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11. Annexe……………………………………………………………….……………………………………..</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53964652"/>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11.1 Etat des risques et informations Géorisques………………………………………………………</a:t>
                      </a: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33804005"/>
                  </a:ext>
                </a:extLst>
              </a:tr>
            </a:tbl>
          </a:graphicData>
        </a:graphic>
      </p:graphicFrame>
      <p:sp>
        <p:nvSpPr>
          <p:cNvPr id="3" name="Espace réservé du pied de page 5">
            <a:extLst>
              <a:ext uri="{FF2B5EF4-FFF2-40B4-BE49-F238E27FC236}">
                <a16:creationId xmlns:a16="http://schemas.microsoft.com/office/drawing/2014/main" id="{9015536E-5285-C624-707D-56E16DD4B529}"/>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4" name="Espace réservé du numéro de diapositive 6">
            <a:extLst>
              <a:ext uri="{FF2B5EF4-FFF2-40B4-BE49-F238E27FC236}">
                <a16:creationId xmlns:a16="http://schemas.microsoft.com/office/drawing/2014/main" id="{B28D053A-19B6-C214-68AE-6482FA82545E}"/>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6</a:t>
            </a:fld>
            <a:endParaRPr lang="fr-FR" sz="965" dirty="0"/>
          </a:p>
        </p:txBody>
      </p:sp>
      <p:pic>
        <p:nvPicPr>
          <p:cNvPr id="5" name="Image 4">
            <a:extLst>
              <a:ext uri="{FF2B5EF4-FFF2-40B4-BE49-F238E27FC236}">
                <a16:creationId xmlns:a16="http://schemas.microsoft.com/office/drawing/2014/main" id="{B13AC282-D3F7-EA13-C707-DEB7D1681CAE}"/>
              </a:ext>
            </a:extLst>
          </p:cNvPr>
          <p:cNvPicPr>
            <a:picLocks noChangeAspect="1"/>
          </p:cNvPicPr>
          <p:nvPr/>
        </p:nvPicPr>
        <p:blipFill>
          <a:blip r:embed="rId2"/>
          <a:stretch>
            <a:fillRect/>
          </a:stretch>
        </p:blipFill>
        <p:spPr>
          <a:xfrm>
            <a:off x="541020" y="98814"/>
            <a:ext cx="2246544" cy="594519"/>
          </a:xfrm>
          <a:prstGeom prst="rect">
            <a:avLst/>
          </a:prstGeom>
        </p:spPr>
      </p:pic>
      <p:sp>
        <p:nvSpPr>
          <p:cNvPr id="6" name="ZoneTexte 5">
            <a:extLst>
              <a:ext uri="{FF2B5EF4-FFF2-40B4-BE49-F238E27FC236}">
                <a16:creationId xmlns:a16="http://schemas.microsoft.com/office/drawing/2014/main" id="{AD015181-082D-C987-45D7-1782C4EB9DDC}"/>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SOMMAIRE</a:t>
            </a:r>
          </a:p>
        </p:txBody>
      </p:sp>
    </p:spTree>
    <p:extLst>
      <p:ext uri="{BB962C8B-B14F-4D97-AF65-F5344CB8AC3E}">
        <p14:creationId xmlns:p14="http://schemas.microsoft.com/office/powerpoint/2010/main" val="9589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AA3E5-4DED-93C1-B7A4-A2C19E735D32}"/>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A5ACB25F-8D9E-1940-BF95-E0242A810BF8}"/>
              </a:ext>
            </a:extLst>
          </p:cNvPr>
          <p:cNvSpPr txBox="1"/>
          <p:nvPr/>
        </p:nvSpPr>
        <p:spPr>
          <a:xfrm>
            <a:off x="541020" y="1284704"/>
            <a:ext cx="6484620" cy="8268097"/>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1.1 Cadre réglementaire du Projet de Plan Pluriannuel de Travaux (PPPT)</a:t>
            </a:r>
          </a:p>
          <a:p>
            <a:pPr algn="just"/>
            <a:endParaRPr lang="fr-FR" sz="1228"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présent document constitue un </a:t>
            </a:r>
            <a:r>
              <a:rPr lang="fr-FR" sz="1100" b="1" dirty="0">
                <a:latin typeface="Calibri" panose="020F0502020204030204" pitchFamily="34" charset="0"/>
                <a:ea typeface="Calibri" panose="020F0502020204030204" pitchFamily="34" charset="0"/>
                <a:cs typeface="Calibri" panose="020F0502020204030204" pitchFamily="34" charset="0"/>
              </a:rPr>
              <a:t>Projet de Plan Pluriannuel de Travaux (PPPT)</a:t>
            </a:r>
            <a:r>
              <a:rPr lang="fr-FR" sz="1100" dirty="0">
                <a:latin typeface="Calibri" panose="020F0502020204030204" pitchFamily="34" charset="0"/>
                <a:ea typeface="Calibri" panose="020F0502020204030204" pitchFamily="34" charset="0"/>
                <a:cs typeface="Calibri" panose="020F0502020204030204" pitchFamily="34" charset="0"/>
              </a:rPr>
              <a:t> établi conformément aux dispositions de la </a:t>
            </a:r>
            <a:r>
              <a:rPr lang="fr-FR" sz="1100" b="1" dirty="0">
                <a:latin typeface="Calibri" panose="020F0502020204030204" pitchFamily="34" charset="0"/>
                <a:ea typeface="Calibri" panose="020F0502020204030204" pitchFamily="34" charset="0"/>
                <a:cs typeface="Calibri" panose="020F0502020204030204" pitchFamily="34" charset="0"/>
              </a:rPr>
              <a:t>loi n° 2021-1104 du 22 août 2021</a:t>
            </a:r>
            <a:r>
              <a:rPr lang="fr-FR" sz="1100" dirty="0">
                <a:latin typeface="Calibri" panose="020F0502020204030204" pitchFamily="34" charset="0"/>
                <a:ea typeface="Calibri" panose="020F0502020204030204" pitchFamily="34" charset="0"/>
                <a:cs typeface="Calibri" panose="020F0502020204030204" pitchFamily="34" charset="0"/>
              </a:rPr>
              <a:t>, dite « Climat et Résilience », codifiées aux </a:t>
            </a:r>
            <a:r>
              <a:rPr lang="fr-FR" sz="1100" b="1" dirty="0">
                <a:latin typeface="Calibri" panose="020F0502020204030204" pitchFamily="34" charset="0"/>
                <a:ea typeface="Calibri" panose="020F0502020204030204" pitchFamily="34" charset="0"/>
                <a:cs typeface="Calibri" panose="020F0502020204030204" pitchFamily="34" charset="0"/>
              </a:rPr>
              <a:t>articles L.731-1 à L.731-5</a:t>
            </a:r>
            <a:r>
              <a:rPr lang="fr-FR" sz="1100" dirty="0">
                <a:latin typeface="Calibri" panose="020F0502020204030204" pitchFamily="34" charset="0"/>
                <a:ea typeface="Calibri" panose="020F0502020204030204" pitchFamily="34" charset="0"/>
                <a:cs typeface="Calibri" panose="020F0502020204030204" pitchFamily="34" charset="0"/>
              </a:rPr>
              <a:t> et </a:t>
            </a:r>
            <a:r>
              <a:rPr lang="fr-FR" sz="1100" b="1" dirty="0">
                <a:latin typeface="Calibri" panose="020F0502020204030204" pitchFamily="34" charset="0"/>
                <a:ea typeface="Calibri" panose="020F0502020204030204" pitchFamily="34" charset="0"/>
                <a:cs typeface="Calibri" panose="020F0502020204030204" pitchFamily="34" charset="0"/>
              </a:rPr>
              <a:t>R.731-1 à R.731-3 du Code de la construction et de l'habitation</a:t>
            </a:r>
            <a:r>
              <a:rPr lang="fr-FR" sz="1100" dirty="0">
                <a:latin typeface="Calibri" panose="020F0502020204030204" pitchFamily="34" charset="0"/>
                <a:ea typeface="Calibri" panose="020F0502020204030204" pitchFamily="34" charset="0"/>
                <a:cs typeface="Calibri" panose="020F0502020204030204" pitchFamily="34" charset="0"/>
              </a:rPr>
              <a:t>, ainsi qu'à </a:t>
            </a:r>
            <a:r>
              <a:rPr lang="fr-FR" sz="1100" b="1" dirty="0">
                <a:latin typeface="Calibri" panose="020F0502020204030204" pitchFamily="34" charset="0"/>
                <a:ea typeface="Calibri" panose="020F0502020204030204" pitchFamily="34" charset="0"/>
                <a:cs typeface="Calibri" panose="020F0502020204030204" pitchFamily="34" charset="0"/>
              </a:rPr>
              <a:t>l'arrêté du 30 mars 2022 relatif au contenu du Projet de Plan Pluriannuel de Travaux</a:t>
            </a:r>
            <a:r>
              <a:rPr lang="fr-FR" sz="1100" dirty="0">
                <a:latin typeface="Calibri" panose="020F0502020204030204" pitchFamily="34" charset="0"/>
                <a:ea typeface="Calibri" panose="020F0502020204030204" pitchFamily="34" charset="0"/>
                <a:cs typeface="Calibri" panose="020F0502020204030204" pitchFamily="34" charset="0"/>
              </a:rPr>
              <a:t>.</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PPPT répond à trois objectifs majeurs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Assurer la conservation et la pérennité du patrimoine immobilier ;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Garantir la sécurité et le confort des occupants ;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Favoriser l’amélioration de la performance énergétique du bâtiment.</a:t>
            </a:r>
          </a:p>
          <a:p>
            <a:pPr algn="just"/>
            <a:r>
              <a:rPr lang="fr-FR" sz="1100" dirty="0">
                <a:latin typeface="Calibri" panose="020F0502020204030204" pitchFamily="34" charset="0"/>
                <a:ea typeface="Calibri" panose="020F0502020204030204" pitchFamily="34" charset="0"/>
                <a:cs typeface="Calibri" panose="020F0502020204030204" pitchFamily="34" charset="0"/>
              </a:rPr>
              <a:t> </a:t>
            </a:r>
          </a:p>
          <a:p>
            <a:pPr algn="just"/>
            <a:r>
              <a:rPr lang="fr-FR" sz="1100" dirty="0">
                <a:latin typeface="Calibri" panose="020F0502020204030204" pitchFamily="34" charset="0"/>
                <a:ea typeface="Calibri" panose="020F0502020204030204" pitchFamily="34" charset="0"/>
                <a:cs typeface="Calibri" panose="020F0502020204030204" pitchFamily="34" charset="0"/>
              </a:rPr>
              <a:t>Le projet présenté dans ce rapport constitue un outil d’aide à la décision permettant à la copropriété d’identifier les travaux à prévoir, de hiérarchiser les interventions et d’anticiper les investissements futurs.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Après sa présentation en assemblée générale, le PPPT pourra être adopté en tout ou partie par les copropriétaires. Une fois approuvé, il devient un </a:t>
            </a:r>
            <a:r>
              <a:rPr lang="fr-FR" sz="1100" b="1" dirty="0">
                <a:latin typeface="Calibri" panose="020F0502020204030204" pitchFamily="34" charset="0"/>
                <a:ea typeface="Calibri" panose="020F0502020204030204" pitchFamily="34" charset="0"/>
                <a:cs typeface="Calibri" panose="020F0502020204030204" pitchFamily="34" charset="0"/>
              </a:rPr>
              <a:t>Plan Pluriannuel de Travaux (PPT)</a:t>
            </a:r>
            <a:r>
              <a:rPr lang="fr-FR" sz="1100" dirty="0">
                <a:latin typeface="Calibri" panose="020F0502020204030204" pitchFamily="34" charset="0"/>
                <a:ea typeface="Calibri" panose="020F0502020204030204" pitchFamily="34" charset="0"/>
                <a:cs typeface="Calibri" panose="020F0502020204030204" pitchFamily="34" charset="0"/>
              </a:rPr>
              <a:t> et sert de référence pour la programmation des opérations à venir. Les travaux sont ensuite soumis au vote des copropriétaires selon les règles de majorité applicables à leur nature.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Conformément à la réglementation en vigueur, l’adoption d’un PPT entraîne également l’obligation de constituer ou d’alimenter le fonds de travaux de la copropriété afin de financer progressivement les opérations programmées.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p>
        </p:txBody>
      </p:sp>
      <p:sp>
        <p:nvSpPr>
          <p:cNvPr id="2" name="Espace réservé du pied de page 5">
            <a:extLst>
              <a:ext uri="{FF2B5EF4-FFF2-40B4-BE49-F238E27FC236}">
                <a16:creationId xmlns:a16="http://schemas.microsoft.com/office/drawing/2014/main" id="{7696BDD1-2C71-3AFC-7FEF-3C7CBC1A4B8F}"/>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8BDEDD1E-BDB0-7695-8BCA-2758BE057511}"/>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7</a:t>
            </a:fld>
            <a:endParaRPr lang="fr-FR" sz="965" dirty="0"/>
          </a:p>
        </p:txBody>
      </p:sp>
      <p:pic>
        <p:nvPicPr>
          <p:cNvPr id="4" name="Image 3">
            <a:extLst>
              <a:ext uri="{FF2B5EF4-FFF2-40B4-BE49-F238E27FC236}">
                <a16:creationId xmlns:a16="http://schemas.microsoft.com/office/drawing/2014/main" id="{5693A011-E3DA-5876-5124-9D83E5D7F97C}"/>
              </a:ext>
            </a:extLst>
          </p:cNvPr>
          <p:cNvPicPr>
            <a:picLocks noChangeAspect="1"/>
          </p:cNvPicPr>
          <p:nvPr/>
        </p:nvPicPr>
        <p:blipFill>
          <a:blip r:embed="rId2"/>
          <a:stretch>
            <a:fillRect/>
          </a:stretch>
        </p:blipFill>
        <p:spPr>
          <a:xfrm>
            <a:off x="541020" y="98814"/>
            <a:ext cx="2246544" cy="594519"/>
          </a:xfrm>
          <a:prstGeom prst="rect">
            <a:avLst/>
          </a:prstGeom>
        </p:spPr>
      </p:pic>
      <p:sp>
        <p:nvSpPr>
          <p:cNvPr id="5" name="ZoneTexte 4">
            <a:extLst>
              <a:ext uri="{FF2B5EF4-FFF2-40B4-BE49-F238E27FC236}">
                <a16:creationId xmlns:a16="http://schemas.microsoft.com/office/drawing/2014/main" id="{D4FF293D-0EC0-0192-9952-D78C902667E2}"/>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1. INTRODUCTION</a:t>
            </a:r>
          </a:p>
        </p:txBody>
      </p:sp>
    </p:spTree>
    <p:extLst>
      <p:ext uri="{BB962C8B-B14F-4D97-AF65-F5344CB8AC3E}">
        <p14:creationId xmlns:p14="http://schemas.microsoft.com/office/powerpoint/2010/main" val="2265612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04EF7-B62F-AC00-F824-D838E2A4E914}"/>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3C5A2F82-4FD6-1D6E-A135-85A4FECAF550}"/>
              </a:ext>
            </a:extLst>
          </p:cNvPr>
          <p:cNvSpPr txBox="1"/>
          <p:nvPr/>
        </p:nvSpPr>
        <p:spPr>
          <a:xfrm>
            <a:off x="541020" y="1340921"/>
            <a:ext cx="6484620" cy="8188652"/>
          </a:xfrm>
          <a:prstGeom prst="rect">
            <a:avLst/>
          </a:prstGeom>
          <a:noFill/>
        </p:spPr>
        <p:txBody>
          <a:bodyPr wrap="square" rtlCol="0">
            <a:spAutoFit/>
          </a:bodyPr>
          <a:lstStyle/>
          <a:p>
            <a:pPr algn="just"/>
            <a:r>
              <a:rPr lang="fr-FR" sz="1300" b="1" dirty="0">
                <a:latin typeface="Calibri" panose="020F0502020204030204" pitchFamily="34" charset="0"/>
                <a:ea typeface="Calibri" panose="020F0502020204030204" pitchFamily="34" charset="0"/>
                <a:cs typeface="Calibri" panose="020F0502020204030204" pitchFamily="34" charset="0"/>
              </a:rPr>
              <a:t>1.2 Validité du présent rapport</a:t>
            </a:r>
          </a:p>
          <a:p>
            <a:pPr algn="just"/>
            <a:endParaRPr lang="fr-FR" sz="1228"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constats et observations présentés dans ce rapport sont établis sur la base des éléments visibles et accessibles au jour de la visite. Ils reflètent l'état apparent de l'immeuble à cette date uniquement.</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En conséquence, les conclusions du présent rapport doivent être appréciées au regard de la date de réalisation de la mission.</a:t>
            </a:r>
          </a:p>
          <a:p>
            <a:pPr algn="just"/>
            <a:endParaRPr lang="fr-FR" sz="1228" dirty="0">
              <a:latin typeface="Calibri" panose="020F0502020204030204" pitchFamily="34" charset="0"/>
              <a:ea typeface="Calibri" panose="020F0502020204030204" pitchFamily="34" charset="0"/>
              <a:cs typeface="Calibri" panose="020F0502020204030204" pitchFamily="34" charset="0"/>
            </a:endParaRPr>
          </a:p>
          <a:p>
            <a:pPr algn="just"/>
            <a:endParaRPr lang="fr-FR" sz="1228" dirty="0">
              <a:latin typeface="Calibri" panose="020F0502020204030204" pitchFamily="34" charset="0"/>
              <a:ea typeface="Calibri" panose="020F0502020204030204" pitchFamily="34" charset="0"/>
              <a:cs typeface="Calibri" panose="020F0502020204030204" pitchFamily="34" charset="0"/>
            </a:endParaRPr>
          </a:p>
          <a:p>
            <a:pPr algn="just"/>
            <a:r>
              <a:rPr lang="fr-FR" sz="1300" b="1" dirty="0">
                <a:latin typeface="Calibri" panose="020F0502020204030204" pitchFamily="34" charset="0"/>
                <a:ea typeface="Calibri" panose="020F0502020204030204" pitchFamily="34" charset="0"/>
                <a:cs typeface="Calibri" panose="020F0502020204030204" pitchFamily="34" charset="0"/>
              </a:rPr>
              <a:t>1.3 Périmètre de la mission et réserves</a:t>
            </a:r>
          </a:p>
          <a:p>
            <a:pPr algn="just"/>
            <a:endParaRPr lang="fr-FR" sz="1228"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u="sng" dirty="0">
                <a:latin typeface="Calibri" panose="020F0502020204030204" pitchFamily="34" charset="0"/>
                <a:ea typeface="Calibri" panose="020F0502020204030204" pitchFamily="34" charset="0"/>
                <a:cs typeface="Calibri" panose="020F0502020204030204" pitchFamily="34" charset="0"/>
              </a:rPr>
              <a:t>Nature de la mission</a:t>
            </a:r>
          </a:p>
          <a:p>
            <a:pPr algn="just"/>
            <a:r>
              <a:rPr lang="fr-FR" sz="1100" dirty="0">
                <a:latin typeface="Calibri" panose="020F0502020204030204" pitchFamily="34" charset="0"/>
                <a:ea typeface="Calibri" panose="020F0502020204030204" pitchFamily="34" charset="0"/>
                <a:cs typeface="Calibri" panose="020F0502020204030204" pitchFamily="34" charset="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Cette mission est réalisée sans sondage, démontage, essai destructif ou investigation intrusive.</a:t>
            </a:r>
          </a:p>
          <a:p>
            <a:pPr algn="just"/>
            <a:endParaRPr lang="fr-FR" sz="1100"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u="sng" dirty="0">
                <a:latin typeface="Calibri" panose="020F0502020204030204" pitchFamily="34" charset="0"/>
                <a:ea typeface="Calibri" panose="020F0502020204030204" pitchFamily="34" charset="0"/>
                <a:cs typeface="Calibri" panose="020F0502020204030204" pitchFamily="34" charset="0"/>
              </a:rPr>
              <a:t>Sources d’information</a:t>
            </a:r>
          </a:p>
          <a:p>
            <a:pPr algn="just"/>
            <a:r>
              <a:rPr lang="fr-FR" sz="1100" dirty="0">
                <a:latin typeface="Calibri" panose="020F0502020204030204" pitchFamily="34" charset="0"/>
                <a:ea typeface="Calibri" panose="020F0502020204030204" pitchFamily="34" charset="0"/>
                <a:cs typeface="Calibri" panose="020F0502020204030204" pitchFamily="34" charset="0"/>
              </a:rPr>
              <a:t>Les observations et préconisations formulées dans ce rapport s'appuient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sur les documents et informations transmis par le syndicat des copropriétaires ou son représentant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sur les constatations réalisées lors de la visite des lieux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sur les éléments visibles et accessibles au moment de l'intervention.</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conclusions présentées ne peuvent donc être considérées comme exhaustives et demeurent limitées aux conditions d'observation rencontrées lors de la visite.</a:t>
            </a:r>
          </a:p>
          <a:p>
            <a:pPr algn="just"/>
            <a:endParaRPr lang="fr-FR" sz="1100"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u="sng" dirty="0">
                <a:latin typeface="Calibri" panose="020F0502020204030204" pitchFamily="34" charset="0"/>
                <a:ea typeface="Calibri" panose="020F0502020204030204" pitchFamily="34" charset="0"/>
                <a:cs typeface="Calibri" panose="020F0502020204030204" pitchFamily="34" charset="0"/>
              </a:rPr>
              <a:t>Éléments non visités ou non accessibles</a:t>
            </a:r>
            <a:endParaRPr lang="fr-FR" sz="1100" b="1" u="sng"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Sauf mention contraire, les éléments suivants n'ont pas pu être inspectés ou ont fait l'objet d'une observation limitée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les locaux nécessitant un accès spécifique ou l'accompagnement d'une personne habilitée (chaufferie, machinerie d'ascenseur, locaux techniques, postes de transformation, etc.)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les ouvrages situés à plus de 3 mètres de hauteur lorsqu'aucun moyen d'accès adapté n'était disponible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les combles perdus, vides sanitaires, volumes confinés ou zones rendues inaccessibles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les réseaux, canalisations, gaines techniques et structures non visibles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les éléments situés sous les complexes d'étanchéité ou d'isolation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les parties dont l'accès présentait un risque pour la sécurité des intervenants.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éventuels désordres affectant ces ouvrages ne peuvent donc être identifiés dans le cadre de la présente mission.</a:t>
            </a:r>
          </a:p>
        </p:txBody>
      </p:sp>
      <p:sp>
        <p:nvSpPr>
          <p:cNvPr id="3" name="Espace réservé du pied de page 5">
            <a:extLst>
              <a:ext uri="{FF2B5EF4-FFF2-40B4-BE49-F238E27FC236}">
                <a16:creationId xmlns:a16="http://schemas.microsoft.com/office/drawing/2014/main" id="{28FBD63C-7C3C-B62C-B415-4172B3C36F32}"/>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4" name="Espace réservé du numéro de diapositive 6">
            <a:extLst>
              <a:ext uri="{FF2B5EF4-FFF2-40B4-BE49-F238E27FC236}">
                <a16:creationId xmlns:a16="http://schemas.microsoft.com/office/drawing/2014/main" id="{A5863BE1-5E45-C1C7-87A9-DE604598747F}"/>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8</a:t>
            </a:fld>
            <a:endParaRPr lang="fr-FR" sz="965" dirty="0"/>
          </a:p>
        </p:txBody>
      </p:sp>
      <p:pic>
        <p:nvPicPr>
          <p:cNvPr id="7" name="Image 6">
            <a:extLst>
              <a:ext uri="{FF2B5EF4-FFF2-40B4-BE49-F238E27FC236}">
                <a16:creationId xmlns:a16="http://schemas.microsoft.com/office/drawing/2014/main" id="{D4D29EA5-45D5-2D3B-7020-0F2FADDF091E}"/>
              </a:ext>
            </a:extLst>
          </p:cNvPr>
          <p:cNvPicPr>
            <a:picLocks noChangeAspect="1"/>
          </p:cNvPicPr>
          <p:nvPr/>
        </p:nvPicPr>
        <p:blipFill>
          <a:blip r:embed="rId2"/>
          <a:stretch>
            <a:fillRect/>
          </a:stretch>
        </p:blipFill>
        <p:spPr>
          <a:xfrm>
            <a:off x="541020" y="98814"/>
            <a:ext cx="2246544" cy="594519"/>
          </a:xfrm>
          <a:prstGeom prst="rect">
            <a:avLst/>
          </a:prstGeom>
        </p:spPr>
      </p:pic>
      <p:sp>
        <p:nvSpPr>
          <p:cNvPr id="8" name="ZoneTexte 7">
            <a:extLst>
              <a:ext uri="{FF2B5EF4-FFF2-40B4-BE49-F238E27FC236}">
                <a16:creationId xmlns:a16="http://schemas.microsoft.com/office/drawing/2014/main" id="{83EC5CCA-11C1-92F6-732B-310685238D8F}"/>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1. INTRODUCTION</a:t>
            </a:r>
          </a:p>
        </p:txBody>
      </p:sp>
    </p:spTree>
    <p:extLst>
      <p:ext uri="{BB962C8B-B14F-4D97-AF65-F5344CB8AC3E}">
        <p14:creationId xmlns:p14="http://schemas.microsoft.com/office/powerpoint/2010/main" val="802782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BC224-6879-BF57-B985-E89DC4DDBCB4}"/>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589475CC-0524-6FB0-35BF-F940099DC778}"/>
              </a:ext>
            </a:extLst>
          </p:cNvPr>
          <p:cNvSpPr txBox="1"/>
          <p:nvPr/>
        </p:nvSpPr>
        <p:spPr>
          <a:xfrm>
            <a:off x="541020" y="1203563"/>
            <a:ext cx="6484620" cy="2697983"/>
          </a:xfrm>
          <a:prstGeom prst="rect">
            <a:avLst/>
          </a:prstGeom>
          <a:noFill/>
        </p:spPr>
        <p:txBody>
          <a:bodyPr wrap="square" rtlCol="0">
            <a:spAutoFit/>
          </a:bodyPr>
          <a:lstStyle/>
          <a:p>
            <a:pPr algn="just"/>
            <a:r>
              <a:rPr lang="fr-FR" sz="1300" b="1" dirty="0">
                <a:latin typeface="Calibri" panose="020F0502020204030204" pitchFamily="34" charset="0"/>
                <a:ea typeface="Calibri" panose="020F0502020204030204" pitchFamily="34" charset="0"/>
                <a:cs typeface="Calibri" panose="020F0502020204030204" pitchFamily="34" charset="0"/>
              </a:rPr>
              <a:t>1.4 Limite de la mission</a:t>
            </a:r>
          </a:p>
          <a:p>
            <a:pPr algn="just"/>
            <a:endParaRPr lang="fr-FR" sz="1228"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une étude d'exécution.</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FRANCE VERTE décline toute responsabilité en cas d'utilisation du présent document en dehors de son objet, de son périmètre d'intervention.</a:t>
            </a:r>
          </a:p>
          <a:p>
            <a:pPr algn="just"/>
            <a:endParaRPr lang="fr-FR" sz="1052" dirty="0"/>
          </a:p>
          <a:p>
            <a:pPr algn="justLow"/>
            <a:endParaRPr lang="fr-FR" sz="1052" dirty="0"/>
          </a:p>
          <a:p>
            <a:pPr algn="just"/>
            <a:r>
              <a:rPr lang="fr-FR" sz="1300" b="1" dirty="0">
                <a:latin typeface="Calibri" panose="020F0502020204030204" pitchFamily="34" charset="0"/>
                <a:ea typeface="Calibri" panose="020F0502020204030204" pitchFamily="34" charset="0"/>
                <a:cs typeface="Calibri" panose="020F0502020204030204" pitchFamily="34" charset="0"/>
              </a:rPr>
              <a:t>1.5 Hiérarchisation des travaux et des observations</a:t>
            </a:r>
            <a:endParaRPr lang="fr-FR" sz="13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au 2">
            <a:extLst>
              <a:ext uri="{FF2B5EF4-FFF2-40B4-BE49-F238E27FC236}">
                <a16:creationId xmlns:a16="http://schemas.microsoft.com/office/drawing/2014/main" id="{9EB7D737-6C28-CB94-A8F6-84CA9FF0D18C}"/>
              </a:ext>
            </a:extLst>
          </p:cNvPr>
          <p:cNvGraphicFramePr>
            <a:graphicFrameLocks noGrp="1"/>
          </p:cNvGraphicFramePr>
          <p:nvPr>
            <p:extLst>
              <p:ext uri="{D42A27DB-BD31-4B8C-83A1-F6EECF244321}">
                <p14:modId xmlns:p14="http://schemas.microsoft.com/office/powerpoint/2010/main" val="1981078546"/>
              </p:ext>
            </p:extLst>
          </p:nvPr>
        </p:nvGraphicFramePr>
        <p:xfrm>
          <a:off x="541020" y="4195105"/>
          <a:ext cx="6484620" cy="5472464"/>
        </p:xfrm>
        <a:graphic>
          <a:graphicData uri="http://schemas.openxmlformats.org/drawingml/2006/table">
            <a:tbl>
              <a:tblPr firstRow="1" bandRow="1">
                <a:tableStyleId>{5940675A-B579-460E-94D1-54222C63F5DA}</a:tableStyleId>
              </a:tblPr>
              <a:tblGrid>
                <a:gridCol w="1681480">
                  <a:extLst>
                    <a:ext uri="{9D8B030D-6E8A-4147-A177-3AD203B41FA5}">
                      <a16:colId xmlns:a16="http://schemas.microsoft.com/office/drawing/2014/main" val="2703195790"/>
                    </a:ext>
                  </a:extLst>
                </a:gridCol>
                <a:gridCol w="3352800">
                  <a:extLst>
                    <a:ext uri="{9D8B030D-6E8A-4147-A177-3AD203B41FA5}">
                      <a16:colId xmlns:a16="http://schemas.microsoft.com/office/drawing/2014/main" val="4235503615"/>
                    </a:ext>
                  </a:extLst>
                </a:gridCol>
                <a:gridCol w="1450340">
                  <a:extLst>
                    <a:ext uri="{9D8B030D-6E8A-4147-A177-3AD203B41FA5}">
                      <a16:colId xmlns:a16="http://schemas.microsoft.com/office/drawing/2014/main" val="2822097145"/>
                    </a:ext>
                  </a:extLst>
                </a:gridCol>
              </a:tblGrid>
              <a:tr h="795997">
                <a:tc>
                  <a:txBody>
                    <a:bodyPr/>
                    <a:lstStyle/>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Entretien</a:t>
                      </a:r>
                    </a:p>
                    <a:p>
                      <a:pPr algn="just"/>
                      <a:r>
                        <a:rPr lang="fr-FR" sz="1100" dirty="0">
                          <a:latin typeface="Calibri" panose="020F0502020204030204" pitchFamily="34" charset="0"/>
                          <a:ea typeface="Calibri" panose="020F0502020204030204" pitchFamily="34" charset="0"/>
                          <a:cs typeface="Calibri" panose="020F0502020204030204" pitchFamily="34" charset="0"/>
                        </a:rPr>
                        <a:t>Opérations d'entretien courant et de maintenance préventive nécessaires au maintien en bon état des équipements et du bâtiment. </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Hors PPPT</a:t>
                      </a:r>
                    </a:p>
                    <a:p>
                      <a:pPr algn="ctr"/>
                      <a:r>
                        <a:rPr lang="fr-FR" sz="1100" dirty="0">
                          <a:latin typeface="Calibri" panose="020F0502020204030204" pitchFamily="34" charset="0"/>
                          <a:ea typeface="Calibri" panose="020F0502020204030204" pitchFamily="34" charset="0"/>
                          <a:cs typeface="Calibri" panose="020F0502020204030204" pitchFamily="34" charset="0"/>
                        </a:rPr>
                        <a:t>(à titre informatif)</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3038637"/>
                  </a:ext>
                </a:extLst>
              </a:tr>
              <a:tr h="941958">
                <a:tc>
                  <a:txBody>
                    <a:bodyPr/>
                    <a:lstStyle/>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Signalements</a:t>
                      </a:r>
                    </a:p>
                    <a:p>
                      <a:pPr algn="just"/>
                      <a:r>
                        <a:rPr lang="fr-FR" sz="1100" dirty="0">
                          <a:latin typeface="Calibri" panose="020F0502020204030204" pitchFamily="34" charset="0"/>
                          <a:ea typeface="Calibri" panose="020F0502020204030204" pitchFamily="34" charset="0"/>
                          <a:cs typeface="Calibri" panose="020F0502020204030204" pitchFamily="34" charset="0"/>
                        </a:rPr>
                        <a:t>Observations et points de vigilance relevés lors de la visite principalement dans les parties privatives. Ces éléments sont présentés à titre informatif afin d'attirer l'attention des copropriétaires.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Hors PPPT</a:t>
                      </a:r>
                    </a:p>
                    <a:p>
                      <a:pPr marL="0" marR="0" lvl="0" indent="0" algn="ctr" defTabSz="685800"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(à titre informatif)</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8775498"/>
                  </a:ext>
                </a:extLst>
              </a:tr>
              <a:tr h="240566">
                <a:tc>
                  <a:txBody>
                    <a:bodyPr/>
                    <a:lstStyle/>
                    <a:p>
                      <a:pPr algn="just"/>
                      <a:endParaRPr lang="fr-FR" sz="10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0548752"/>
                  </a:ext>
                </a:extLst>
              </a:tr>
              <a:tr h="806714">
                <a:tc>
                  <a:txBody>
                    <a:bodyPr/>
                    <a:lstStyle/>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Travaux prioritaires</a:t>
                      </a:r>
                    </a:p>
                    <a:p>
                      <a:pPr algn="just"/>
                      <a:r>
                        <a:rPr lang="fr-FR" sz="1100" dirty="0">
                          <a:latin typeface="Calibri" panose="020F0502020204030204" pitchFamily="34" charset="0"/>
                          <a:ea typeface="Calibri" panose="020F0502020204030204" pitchFamily="34" charset="0"/>
                          <a:cs typeface="Calibri" panose="020F0502020204030204" pitchFamily="34" charset="0"/>
                        </a:rPr>
                        <a:t>Interventions urgentes nécessaires à la sécurité des occupants, à la préservation du bâti ou à la continuité de service des équipements.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Travaux à effectuer</a:t>
                      </a:r>
                    </a:p>
                    <a:p>
                      <a:pPr algn="ctr"/>
                      <a:r>
                        <a:rPr lang="fr-FR" sz="1100" dirty="0">
                          <a:latin typeface="Calibri" panose="020F0502020204030204" pitchFamily="34" charset="0"/>
                          <a:ea typeface="Calibri" panose="020F0502020204030204" pitchFamily="34" charset="0"/>
                          <a:cs typeface="Calibri" panose="020F0502020204030204" pitchFamily="34" charset="0"/>
                        </a:rPr>
                        <a:t>Sous 2 ans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575639"/>
                  </a:ext>
                </a:extLst>
              </a:tr>
              <a:tr h="735062">
                <a:tc>
                  <a:txBody>
                    <a:bodyPr/>
                    <a:lstStyle/>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Travaux à moyen terme</a:t>
                      </a:r>
                    </a:p>
                    <a:p>
                      <a:pPr algn="just"/>
                      <a:r>
                        <a:rPr lang="fr-FR" sz="1100" dirty="0">
                          <a:latin typeface="Calibri" panose="020F0502020204030204" pitchFamily="34" charset="0"/>
                          <a:ea typeface="Calibri" panose="020F0502020204030204" pitchFamily="34" charset="0"/>
                          <a:cs typeface="Calibri" panose="020F0502020204030204" pitchFamily="34" charset="0"/>
                        </a:rPr>
                        <a:t>Travaux correctifs à programmer afin d'éviter une dégradation progressive du bâtiment ou des équipements.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Travaux à effectuer</a:t>
                      </a:r>
                    </a:p>
                    <a:p>
                      <a:pPr algn="ctr"/>
                      <a:r>
                        <a:rPr lang="fr-FR" sz="1100" dirty="0">
                          <a:latin typeface="Calibri" panose="020F0502020204030204" pitchFamily="34" charset="0"/>
                          <a:ea typeface="Calibri" panose="020F0502020204030204" pitchFamily="34" charset="0"/>
                          <a:cs typeface="Calibri" panose="020F0502020204030204" pitchFamily="34" charset="0"/>
                        </a:rPr>
                        <a:t>Entre 3 et 5 ans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891983"/>
                  </a:ext>
                </a:extLst>
              </a:tr>
              <a:tr h="785952">
                <a:tc>
                  <a:txBody>
                    <a:bodyPr/>
                    <a:lstStyle/>
                    <a:p>
                      <a:pPr algn="just"/>
                      <a:endParaRPr lang="fr-FR" sz="10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Travaux d’esthétiques</a:t>
                      </a:r>
                    </a:p>
                    <a:p>
                      <a:pPr algn="just"/>
                      <a:r>
                        <a:rPr lang="fr-FR" sz="1100" dirty="0">
                          <a:latin typeface="Calibri" panose="020F0502020204030204" pitchFamily="34" charset="0"/>
                          <a:ea typeface="Calibri" panose="020F0502020204030204" pitchFamily="34" charset="0"/>
                          <a:cs typeface="Calibri" panose="020F0502020204030204" pitchFamily="34" charset="0"/>
                        </a:rPr>
                        <a:t>Travaux de rénovation ou d'embellissement ne présentant pas de caractère urgent mais contribuant à l'amélioration de l'aspect esthétique.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Travaux à effectuer</a:t>
                      </a:r>
                    </a:p>
                    <a:p>
                      <a:pPr algn="ctr"/>
                      <a:r>
                        <a:rPr lang="fr-FR" sz="1100" dirty="0">
                          <a:latin typeface="Calibri" panose="020F0502020204030204" pitchFamily="34" charset="0"/>
                          <a:ea typeface="Calibri" panose="020F0502020204030204" pitchFamily="34" charset="0"/>
                          <a:cs typeface="Calibri" panose="020F0502020204030204" pitchFamily="34" charset="0"/>
                        </a:rPr>
                        <a:t>Entre 6 et 10 ans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127140"/>
                  </a:ext>
                </a:extLst>
              </a:tr>
              <a:tr h="240566">
                <a:tc>
                  <a:txBody>
                    <a:bodyPr/>
                    <a:lstStyle/>
                    <a:p>
                      <a:pPr algn="just"/>
                      <a:endParaRPr lang="fr-FR" sz="10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1758019"/>
                  </a:ext>
                </a:extLst>
              </a:tr>
              <a:tr h="895439">
                <a:tc>
                  <a:txBody>
                    <a:bodyPr/>
                    <a:lstStyle/>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Travaux énergétiques</a:t>
                      </a:r>
                    </a:p>
                    <a:p>
                      <a:pPr algn="just"/>
                      <a:r>
                        <a:rPr lang="fr-FR" sz="1100" dirty="0">
                          <a:latin typeface="Calibri" panose="020F0502020204030204" pitchFamily="34" charset="0"/>
                          <a:ea typeface="Calibri" panose="020F0502020204030204" pitchFamily="34" charset="0"/>
                          <a:cs typeface="Calibri" panose="020F0502020204030204" pitchFamily="34" charset="0"/>
                        </a:rPr>
                        <a:t>Travaux visant à améliorer la performance énergétique du bâtiment, réduire les consommations d'énergie et améliorer le confort thermique des occupants.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Selon la stratégie de rénovation retenue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5388169"/>
                  </a:ext>
                </a:extLst>
              </a:tr>
            </a:tbl>
          </a:graphicData>
        </a:graphic>
      </p:graphicFrame>
      <p:sp>
        <p:nvSpPr>
          <p:cNvPr id="8" name="Flèche : pentagone 7">
            <a:extLst>
              <a:ext uri="{FF2B5EF4-FFF2-40B4-BE49-F238E27FC236}">
                <a16:creationId xmlns:a16="http://schemas.microsoft.com/office/drawing/2014/main" id="{BE667056-E90A-FF81-8F6E-E43DCBA29449}"/>
              </a:ext>
            </a:extLst>
          </p:cNvPr>
          <p:cNvSpPr/>
          <p:nvPr/>
        </p:nvSpPr>
        <p:spPr>
          <a:xfrm>
            <a:off x="692465" y="6329620"/>
            <a:ext cx="1411653" cy="501179"/>
          </a:xfrm>
          <a:prstGeom prst="homePlate">
            <a:avLst/>
          </a:prstGeom>
          <a:solidFill>
            <a:srgbClr val="D0233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Curatif Niveau 1</a:t>
            </a:r>
          </a:p>
        </p:txBody>
      </p:sp>
      <p:sp>
        <p:nvSpPr>
          <p:cNvPr id="12" name="Flèche : pentagone 11">
            <a:extLst>
              <a:ext uri="{FF2B5EF4-FFF2-40B4-BE49-F238E27FC236}">
                <a16:creationId xmlns:a16="http://schemas.microsoft.com/office/drawing/2014/main" id="{93759677-9BA3-7F25-758D-1FC2623E47C3}"/>
              </a:ext>
            </a:extLst>
          </p:cNvPr>
          <p:cNvSpPr/>
          <p:nvPr/>
        </p:nvSpPr>
        <p:spPr>
          <a:xfrm>
            <a:off x="692464" y="7118862"/>
            <a:ext cx="1411653" cy="501179"/>
          </a:xfrm>
          <a:prstGeom prst="homePlate">
            <a:avLst/>
          </a:prstGeom>
          <a:solidFill>
            <a:srgbClr val="E9662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Curatif Niveau 2</a:t>
            </a:r>
          </a:p>
        </p:txBody>
      </p:sp>
      <p:sp>
        <p:nvSpPr>
          <p:cNvPr id="15" name="Flèche : pentagone 14">
            <a:extLst>
              <a:ext uri="{FF2B5EF4-FFF2-40B4-BE49-F238E27FC236}">
                <a16:creationId xmlns:a16="http://schemas.microsoft.com/office/drawing/2014/main" id="{2AE4E0E1-B058-29B5-0C7D-5BE52727090E}"/>
              </a:ext>
            </a:extLst>
          </p:cNvPr>
          <p:cNvSpPr/>
          <p:nvPr/>
        </p:nvSpPr>
        <p:spPr>
          <a:xfrm>
            <a:off x="692464" y="7893815"/>
            <a:ext cx="1411653" cy="501179"/>
          </a:xfrm>
          <a:prstGeom prst="homePlate">
            <a:avLst/>
          </a:prstGeom>
          <a:solidFill>
            <a:srgbClr val="04CC7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Curatif Niveau 3</a:t>
            </a:r>
          </a:p>
        </p:txBody>
      </p:sp>
      <p:sp>
        <p:nvSpPr>
          <p:cNvPr id="16" name="Flèche : pentagone 15">
            <a:extLst>
              <a:ext uri="{FF2B5EF4-FFF2-40B4-BE49-F238E27FC236}">
                <a16:creationId xmlns:a16="http://schemas.microsoft.com/office/drawing/2014/main" id="{836B27FB-2CB4-E830-B7AE-0A93FDCC1604}"/>
              </a:ext>
            </a:extLst>
          </p:cNvPr>
          <p:cNvSpPr/>
          <p:nvPr/>
        </p:nvSpPr>
        <p:spPr>
          <a:xfrm>
            <a:off x="692466" y="4341420"/>
            <a:ext cx="1411653" cy="501179"/>
          </a:xfrm>
          <a:prstGeom prst="homePlate">
            <a:avLst/>
          </a:prstGeom>
          <a:solidFill>
            <a:srgbClr val="5D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Entretien</a:t>
            </a:r>
          </a:p>
        </p:txBody>
      </p:sp>
      <p:sp>
        <p:nvSpPr>
          <p:cNvPr id="19" name="Flèche : pentagone 18">
            <a:extLst>
              <a:ext uri="{FF2B5EF4-FFF2-40B4-BE49-F238E27FC236}">
                <a16:creationId xmlns:a16="http://schemas.microsoft.com/office/drawing/2014/main" id="{FE427675-D912-8059-6618-2880CE2CB603}"/>
              </a:ext>
            </a:extLst>
          </p:cNvPr>
          <p:cNvSpPr/>
          <p:nvPr/>
        </p:nvSpPr>
        <p:spPr>
          <a:xfrm>
            <a:off x="692465" y="5203411"/>
            <a:ext cx="1411653" cy="501179"/>
          </a:xfrm>
          <a:prstGeom prst="homePlate">
            <a:avLst/>
          </a:prstGeom>
          <a:solidFill>
            <a:srgbClr val="006F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Signalement</a:t>
            </a:r>
          </a:p>
        </p:txBody>
      </p:sp>
      <p:sp>
        <p:nvSpPr>
          <p:cNvPr id="22" name="Flèche : pentagone 21">
            <a:extLst>
              <a:ext uri="{FF2B5EF4-FFF2-40B4-BE49-F238E27FC236}">
                <a16:creationId xmlns:a16="http://schemas.microsoft.com/office/drawing/2014/main" id="{ED570778-0C10-4990-1F0E-385AD757A4A7}"/>
              </a:ext>
            </a:extLst>
          </p:cNvPr>
          <p:cNvSpPr/>
          <p:nvPr/>
        </p:nvSpPr>
        <p:spPr>
          <a:xfrm>
            <a:off x="692463" y="9005738"/>
            <a:ext cx="1411653" cy="501179"/>
          </a:xfrm>
          <a:prstGeom prst="homePlat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Travaux énergétiques</a:t>
            </a:r>
          </a:p>
        </p:txBody>
      </p:sp>
      <p:sp>
        <p:nvSpPr>
          <p:cNvPr id="4" name="Espace réservé du pied de page 5">
            <a:extLst>
              <a:ext uri="{FF2B5EF4-FFF2-40B4-BE49-F238E27FC236}">
                <a16:creationId xmlns:a16="http://schemas.microsoft.com/office/drawing/2014/main" id="{45189389-B65B-559B-3BF4-B39C7E76F90C}"/>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2CD03201-CC79-5985-7806-F304A0D7CEA1}"/>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9</a:t>
            </a:fld>
            <a:endParaRPr lang="fr-FR" sz="965" dirty="0"/>
          </a:p>
        </p:txBody>
      </p:sp>
      <p:pic>
        <p:nvPicPr>
          <p:cNvPr id="6" name="Image 5">
            <a:extLst>
              <a:ext uri="{FF2B5EF4-FFF2-40B4-BE49-F238E27FC236}">
                <a16:creationId xmlns:a16="http://schemas.microsoft.com/office/drawing/2014/main" id="{E7373ACA-6A0A-0E56-2745-98825FFCA40E}"/>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47814DAF-4EC2-BF9E-B073-4ED4F1AF0EB3}"/>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1. INTRODUCTION</a:t>
            </a:r>
          </a:p>
        </p:txBody>
      </p:sp>
    </p:spTree>
    <p:extLst>
      <p:ext uri="{BB962C8B-B14F-4D97-AF65-F5344CB8AC3E}">
        <p14:creationId xmlns:p14="http://schemas.microsoft.com/office/powerpoint/2010/main" val="2391924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42993-1D09-4395-6275-E2A8BB49AA60}"/>
            </a:ext>
          </a:extLst>
        </p:cNvPr>
        <p:cNvGrpSpPr/>
        <p:nvPr/>
      </p:nvGrpSpPr>
      <p:grpSpPr>
        <a:xfrm>
          <a:off x="0" y="0"/>
          <a:ext cx="0" cy="0"/>
          <a:chOff x="0" y="0"/>
          <a:chExt cx="0" cy="0"/>
        </a:xfrm>
      </p:grpSpPr>
      <p:sp>
        <p:nvSpPr>
          <p:cNvPr id="8" name="Espace réservé du pied de page 5">
            <a:extLst>
              <a:ext uri="{FF2B5EF4-FFF2-40B4-BE49-F238E27FC236}">
                <a16:creationId xmlns:a16="http://schemas.microsoft.com/office/drawing/2014/main" id="{27F0B2F1-8776-85EC-1DAF-1C2C82F21EC5}"/>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640AA44F-499F-E7C2-0993-A6B1EB833C40}"/>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10</a:t>
            </a:fld>
            <a:endParaRPr lang="fr-FR" sz="965" dirty="0"/>
          </a:p>
        </p:txBody>
      </p:sp>
      <p:pic>
        <p:nvPicPr>
          <p:cNvPr id="2" name="Image 1">
            <a:extLst>
              <a:ext uri="{FF2B5EF4-FFF2-40B4-BE49-F238E27FC236}">
                <a16:creationId xmlns:a16="http://schemas.microsoft.com/office/drawing/2014/main" id="{3C6C0186-F853-FC3F-99DB-54F7229C6F46}"/>
              </a:ext>
            </a:extLst>
          </p:cNvPr>
          <p:cNvPicPr>
            <a:picLocks noChangeAspect="1"/>
          </p:cNvPicPr>
          <p:nvPr/>
        </p:nvPicPr>
        <p:blipFill>
          <a:blip r:embed="rId2"/>
          <a:stretch>
            <a:fillRect/>
          </a:stretch>
        </p:blipFill>
        <p:spPr>
          <a:xfrm>
            <a:off x="541020" y="98814"/>
            <a:ext cx="2246544" cy="594519"/>
          </a:xfrm>
          <a:prstGeom prst="rect">
            <a:avLst/>
          </a:prstGeom>
        </p:spPr>
      </p:pic>
      <p:sp>
        <p:nvSpPr>
          <p:cNvPr id="3" name="ZoneTexte 2">
            <a:extLst>
              <a:ext uri="{FF2B5EF4-FFF2-40B4-BE49-F238E27FC236}">
                <a16:creationId xmlns:a16="http://schemas.microsoft.com/office/drawing/2014/main" id="{45C5497A-0EF8-A26D-3BB9-6C0A0577FB3D}"/>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graphicFrame>
        <p:nvGraphicFramePr>
          <p:cNvPr id="6" name="Tableau 5">
            <a:extLst>
              <a:ext uri="{FF2B5EF4-FFF2-40B4-BE49-F238E27FC236}">
                <a16:creationId xmlns:a16="http://schemas.microsoft.com/office/drawing/2014/main" id="{210725FC-29D7-A651-39EB-A4583D247733}"/>
              </a:ext>
            </a:extLst>
          </p:cNvPr>
          <p:cNvGraphicFramePr>
            <a:graphicFrameLocks noGrp="1"/>
          </p:cNvGraphicFramePr>
          <p:nvPr>
            <p:extLst>
              <p:ext uri="{D42A27DB-BD31-4B8C-83A1-F6EECF244321}">
                <p14:modId xmlns:p14="http://schemas.microsoft.com/office/powerpoint/2010/main" val="3919902060"/>
              </p:ext>
            </p:extLst>
          </p:nvPr>
        </p:nvGraphicFramePr>
        <p:xfrm>
          <a:off x="541020" y="1287605"/>
          <a:ext cx="6484620" cy="8592375"/>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488754">
                  <a:extLst>
                    <a:ext uri="{9D8B030D-6E8A-4147-A177-3AD203B41FA5}">
                      <a16:colId xmlns:a16="http://schemas.microsoft.com/office/drawing/2014/main" val="3942615875"/>
                    </a:ext>
                  </a:extLst>
                </a:gridCol>
                <a:gridCol w="2225040">
                  <a:extLst>
                    <a:ext uri="{9D8B030D-6E8A-4147-A177-3AD203B41FA5}">
                      <a16:colId xmlns:a16="http://schemas.microsoft.com/office/drawing/2014/main" val="3863795889"/>
                    </a:ext>
                  </a:extLst>
                </a:gridCol>
              </a:tblGrid>
              <a:tr h="448540">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N°1</a:t>
                      </a:r>
                    </a:p>
                  </a:txBody>
                  <a:tcPr marL="80189" marR="80189" marT="40094" marB="40094" anchor="ctr">
                    <a:solidFill>
                      <a:schemeClr val="bg1"/>
                    </a:solidFill>
                  </a:tcPr>
                </a:tc>
                <a:tc>
                  <a:txBody>
                    <a:bodyPr/>
                    <a:lstStyle/>
                    <a:p>
                      <a:pPr algn="l"/>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r>
                        <a:rPr lang="fr-FR" sz="1100" b="0" dirty="0">
                          <a:solidFill>
                            <a:schemeClr val="tx1"/>
                          </a:solidFill>
                          <a:latin typeface="Calibri" panose="020F0502020204030204" pitchFamily="34" charset="0"/>
                          <a:ea typeface="Calibri" panose="020F0502020204030204" pitchFamily="34" charset="0"/>
                          <a:cs typeface="Calibri" panose="020F0502020204030204" pitchFamily="34" charset="0"/>
                        </a:rPr>
                        <a:t>Ventilation</a:t>
                      </a:r>
                      <a:endPar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ENTRETIEN</a:t>
                      </a:r>
                    </a:p>
                  </a:txBody>
                  <a:tcPr marL="80189" marR="80189" marT="40094" marB="40094" anchor="ctr">
                    <a:solidFill>
                      <a:srgbClr val="5DCCCC"/>
                    </a:solidFill>
                  </a:tcPr>
                </a:tc>
                <a:extLst>
                  <a:ext uri="{0D108BD9-81ED-4DB2-BD59-A6C34878D82A}">
                    <a16:rowId xmlns:a16="http://schemas.microsoft.com/office/drawing/2014/main" val="2240724803"/>
                  </a:ext>
                </a:extLst>
              </a:tr>
              <a:tr h="571789">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pPr marL="0" marR="0" lvl="0" indent="0" algn="l" defTabSz="755934"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Logements – Entrées d'air sur les menuiseries et bouches d'extraction (cuisine, salle de bains, WC)</a:t>
                      </a:r>
                    </a:p>
                    <a:p>
                      <a:pPr marL="0" marR="0" lvl="0" indent="0" algn="l" defTabSz="755934" rtl="0" eaLnBrk="1" fontAlgn="auto" latinLnBrk="0" hangingPunct="1">
                        <a:lnSpc>
                          <a:spcPct val="100000"/>
                        </a:lnSpc>
                        <a:spcBef>
                          <a:spcPts val="0"/>
                        </a:spcBef>
                        <a:spcAft>
                          <a:spcPts val="0"/>
                        </a:spcAft>
                        <a:buClrTx/>
                        <a:buSzTx/>
                        <a:buFontTx/>
                        <a:buNone/>
                        <a:tabLst/>
                        <a:defRPr/>
                      </a:pP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1064946">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marL="0" marR="0" lvl="0" indent="0" algn="just" defTabSz="755934"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Les entrées d'air et les bouches d'extraction assurent le renouvellement de l'air des logements et participent au bon fonctionnement du système de ventilation. Leur entretien régulier est indispensable afin de maintenir les débits d'air prévus, de préserver la qualité de l'air intérieur et de limiter les risques de condensation et de moisissures.</a:t>
                      </a:r>
                    </a:p>
                    <a:p>
                      <a:pPr marL="0" marR="0" lvl="0" indent="0" algn="l" defTabSz="755934" rtl="0" eaLnBrk="1" fontAlgn="auto" latinLnBrk="0" hangingPunct="1">
                        <a:lnSpc>
                          <a:spcPct val="100000"/>
                        </a:lnSpc>
                        <a:spcBef>
                          <a:spcPts val="0"/>
                        </a:spcBef>
                        <a:spcAft>
                          <a:spcPts val="0"/>
                        </a:spcAft>
                        <a:buClrTx/>
                        <a:buSzTx/>
                        <a:buFontTx/>
                        <a:buNone/>
                        <a:tabLst/>
                        <a:defRPr/>
                      </a:pP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3329006">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Recommandations :</a:t>
                      </a:r>
                    </a:p>
                    <a:p>
                      <a:pPr algn="just"/>
                      <a:r>
                        <a:rPr lang="fr-FR" sz="1100" dirty="0">
                          <a:latin typeface="Calibri" panose="020F0502020204030204" pitchFamily="34" charset="0"/>
                          <a:ea typeface="Calibri" panose="020F0502020204030204" pitchFamily="34" charset="0"/>
                          <a:cs typeface="Calibri" panose="020F0502020204030204" pitchFamily="34" charset="0"/>
                        </a:rPr>
                        <a:t>Il est recommandé de procéder à un entretien régulier des entrées d'air et des bouches d'extraction conformément aux préconisations des fabricants.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latin typeface="Calibri" panose="020F0502020204030204" pitchFamily="34" charset="0"/>
                          <a:ea typeface="Calibri" panose="020F0502020204030204" pitchFamily="34" charset="0"/>
                          <a:cs typeface="Calibri" panose="020F0502020204030204" pitchFamily="34" charset="0"/>
                        </a:rPr>
                        <a:t>Entrées d'air (au moins 1 fois par an)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Déboîter le capot si nécessaire.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Nettoyer le capot et les parties accessibles à l'aide d'un chiffon humide.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Dépoussiérer le socle à l'aide d'une éponge ou d'un chiffon, sans le démonter. </a:t>
                      </a:r>
                    </a:p>
                    <a:p>
                      <a:pPr marL="171450" indent="-171450" algn="just">
                        <a:buFont typeface="Arial" panose="020B0604020202020204" pitchFamily="34" charset="0"/>
                        <a:buChar char="•"/>
                      </a:pPr>
                      <a:r>
                        <a:rPr lang="fr-FR" sz="1100" b="0" dirty="0">
                          <a:latin typeface="Calibri" panose="020F0502020204030204" pitchFamily="34" charset="0"/>
                          <a:ea typeface="Calibri" panose="020F0502020204030204" pitchFamily="34" charset="0"/>
                          <a:cs typeface="Calibri" panose="020F0502020204030204" pitchFamily="34" charset="0"/>
                        </a:rPr>
                        <a:t>Ne jamais démonter les organes de régulation (lame ou volet hygroréglable) afin </a:t>
                      </a:r>
                      <a:r>
                        <a:rPr lang="fr-FR" sz="1100" dirty="0">
                          <a:latin typeface="Calibri" panose="020F0502020204030204" pitchFamily="34" charset="0"/>
                          <a:ea typeface="Calibri" panose="020F0502020204030204" pitchFamily="34" charset="0"/>
                          <a:cs typeface="Calibri" panose="020F0502020204030204" pitchFamily="34" charset="0"/>
                        </a:rPr>
                        <a:t>de ne pas altérer leur fonctionnement. </a:t>
                      </a:r>
                    </a:p>
                    <a:p>
                      <a:pPr marL="171450" indent="-171450" algn="just">
                        <a:buFont typeface="Arial" panose="020B0604020202020204" pitchFamily="34" charset="0"/>
                        <a:buChar char="•"/>
                      </a:pPr>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latin typeface="Calibri" panose="020F0502020204030204" pitchFamily="34" charset="0"/>
                          <a:ea typeface="Calibri" panose="020F0502020204030204" pitchFamily="34" charset="0"/>
                          <a:cs typeface="Calibri" panose="020F0502020204030204" pitchFamily="34" charset="0"/>
                        </a:rPr>
                        <a:t>Bouches d'extraction (2 fois par an) :</a:t>
                      </a:r>
                      <a:endParaRPr lang="fr-FR" sz="1100" dirty="0">
                        <a:latin typeface="Calibri" panose="020F0502020204030204" pitchFamily="34" charset="0"/>
                        <a:ea typeface="Calibri" panose="020F0502020204030204" pitchFamily="34" charset="0"/>
                        <a:cs typeface="Calibri" panose="020F0502020204030204" pitchFamily="34" charset="0"/>
                      </a:endParaRP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Démonter uniquement les éléments prévus pour le nettoyage.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Nettoyer la grille et les parties démontables à l'eau savonneuse, puis rincer et sécher avant remontage.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Nettoyer le corps de la bouche avec un chiffon humide.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Repositionner correctement les éléments de régulation après nettoyage. </a:t>
                      </a:r>
                    </a:p>
                    <a:p>
                      <a:pPr marL="171450" indent="-171450"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Pour les bouches hygroréglables électriques, vérifier préalablement que l'alimentation électrique est coupée. </a:t>
                      </a:r>
                    </a:p>
                    <a:p>
                      <a:pPr algn="just"/>
                      <a:r>
                        <a:rPr lang="fr-FR" sz="1100" dirty="0">
                          <a:latin typeface="Calibri" panose="020F0502020204030204" pitchFamily="34" charset="0"/>
                          <a:ea typeface="Calibri" panose="020F0502020204030204" pitchFamily="34" charset="0"/>
                          <a:cs typeface="Calibri" panose="020F0502020204030204" pitchFamily="34" charset="0"/>
                        </a:rPr>
                        <a:t>Un entretien régulier permet de garantir le bon fonctionnement du système de ventilation, de maintenir une bonne qualité de l'air intérieur et de prolonger la durée de vie des équipements.</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3041711">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4" name="Rectangle 3">
            <a:extLst>
              <a:ext uri="{FF2B5EF4-FFF2-40B4-BE49-F238E27FC236}">
                <a16:creationId xmlns:a16="http://schemas.microsoft.com/office/drawing/2014/main" id="{9D4AF754-0CE3-6D98-D574-C19F391D055E}"/>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 name="Connecteur droit avec flèche 4">
            <a:extLst>
              <a:ext uri="{FF2B5EF4-FFF2-40B4-BE49-F238E27FC236}">
                <a16:creationId xmlns:a16="http://schemas.microsoft.com/office/drawing/2014/main" id="{42113F49-5D1B-3F5E-ED69-34DCE4366A70}"/>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Ellipse 6">
            <a:extLst>
              <a:ext uri="{FF2B5EF4-FFF2-40B4-BE49-F238E27FC236}">
                <a16:creationId xmlns:a16="http://schemas.microsoft.com/office/drawing/2014/main" id="{B25F2661-B8F5-A805-4E5D-3723D7386750}"/>
              </a:ext>
            </a:extLst>
          </p:cNvPr>
          <p:cNvSpPr/>
          <p:nvPr/>
        </p:nvSpPr>
        <p:spPr>
          <a:xfrm>
            <a:off x="8913152" y="2941832"/>
            <a:ext cx="914400" cy="9144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 droite 8">
            <a:extLst>
              <a:ext uri="{FF2B5EF4-FFF2-40B4-BE49-F238E27FC236}">
                <a16:creationId xmlns:a16="http://schemas.microsoft.com/office/drawing/2014/main" id="{F91FC848-BE2F-457E-D596-22DFFD956A04}"/>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5CC55F63-3C1C-ED81-66EF-1B0207B484E9}"/>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3" name="Image 12">
            <a:extLst>
              <a:ext uri="{FF2B5EF4-FFF2-40B4-BE49-F238E27FC236}">
                <a16:creationId xmlns:a16="http://schemas.microsoft.com/office/drawing/2014/main" id="{287CF24B-6447-9824-2263-A2D95ABA4394}"/>
              </a:ext>
            </a:extLst>
          </p:cNvPr>
          <p:cNvPicPr preferRelativeResize="0">
            <a:picLocks/>
          </p:cNvPicPr>
          <p:nvPr/>
        </p:nvPicPr>
        <p:blipFill rotWithShape="1">
          <a:blip r:embed="rId3">
            <a:extLst>
              <a:ext uri="{28A0092B-C50C-407E-A947-70E740481C1C}">
                <a14:useLocalDpi xmlns:a14="http://schemas.microsoft.com/office/drawing/2010/main" val="0"/>
              </a:ext>
            </a:extLst>
          </a:blip>
          <a:srcRect l="3342" t="22028" r="23128" b="21869"/>
          <a:stretch/>
        </p:blipFill>
        <p:spPr>
          <a:xfrm>
            <a:off x="1133426" y="7111335"/>
            <a:ext cx="2520000" cy="2520000"/>
          </a:xfrm>
          <a:prstGeom prst="rect">
            <a:avLst/>
          </a:prstGeom>
        </p:spPr>
      </p:pic>
      <p:pic>
        <p:nvPicPr>
          <p:cNvPr id="15" name="Image 14">
            <a:extLst>
              <a:ext uri="{FF2B5EF4-FFF2-40B4-BE49-F238E27FC236}">
                <a16:creationId xmlns:a16="http://schemas.microsoft.com/office/drawing/2014/main" id="{867FCBBF-2EB6-B8E8-ED16-BE380F8824DC}"/>
              </a:ext>
            </a:extLst>
          </p:cNvPr>
          <p:cNvPicPr preferRelativeResize="0">
            <a:picLocks/>
          </p:cNvPicPr>
          <p:nvPr/>
        </p:nvPicPr>
        <p:blipFill rotWithShape="1">
          <a:blip r:embed="rId4">
            <a:extLst>
              <a:ext uri="{28A0092B-C50C-407E-A947-70E740481C1C}">
                <a14:useLocalDpi xmlns:a14="http://schemas.microsoft.com/office/drawing/2010/main" val="0"/>
              </a:ext>
            </a:extLst>
          </a:blip>
          <a:srcRect t="23701" r="20900" b="27001"/>
          <a:stretch/>
        </p:blipFill>
        <p:spPr>
          <a:xfrm>
            <a:off x="3906249" y="7111335"/>
            <a:ext cx="2520000" cy="2520000"/>
          </a:xfrm>
          <a:prstGeom prst="rect">
            <a:avLst/>
          </a:prstGeom>
        </p:spPr>
      </p:pic>
    </p:spTree>
    <p:extLst>
      <p:ext uri="{BB962C8B-B14F-4D97-AF65-F5344CB8AC3E}">
        <p14:creationId xmlns:p14="http://schemas.microsoft.com/office/powerpoint/2010/main" val="749839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92E04-3924-71F0-DD76-3C10CB6AF6A2}"/>
            </a:ext>
          </a:extLst>
        </p:cNvPr>
        <p:cNvGrpSpPr/>
        <p:nvPr/>
      </p:nvGrpSpPr>
      <p:grpSpPr>
        <a:xfrm>
          <a:off x="0" y="0"/>
          <a:ext cx="0" cy="0"/>
          <a:chOff x="0" y="0"/>
          <a:chExt cx="0" cy="0"/>
        </a:xfrm>
      </p:grpSpPr>
      <p:sp>
        <p:nvSpPr>
          <p:cNvPr id="2" name="Espace réservé du pied de page 5">
            <a:extLst>
              <a:ext uri="{FF2B5EF4-FFF2-40B4-BE49-F238E27FC236}">
                <a16:creationId xmlns:a16="http://schemas.microsoft.com/office/drawing/2014/main" id="{F0571A43-8D94-E501-E20E-8A3A8FBE360E}"/>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FE7DBDA7-1E94-932E-3834-85F9F6FA35E0}"/>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11</a:t>
            </a:fld>
            <a:endParaRPr lang="fr-FR" sz="965" dirty="0"/>
          </a:p>
        </p:txBody>
      </p:sp>
      <p:pic>
        <p:nvPicPr>
          <p:cNvPr id="6" name="Image 5">
            <a:extLst>
              <a:ext uri="{FF2B5EF4-FFF2-40B4-BE49-F238E27FC236}">
                <a16:creationId xmlns:a16="http://schemas.microsoft.com/office/drawing/2014/main" id="{30344A7F-304A-41A3-42FD-869A60580120}"/>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770BEB93-E058-8939-15FD-91810671EE8B}"/>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graphicFrame>
        <p:nvGraphicFramePr>
          <p:cNvPr id="8" name="Tableau 7">
            <a:extLst>
              <a:ext uri="{FF2B5EF4-FFF2-40B4-BE49-F238E27FC236}">
                <a16:creationId xmlns:a16="http://schemas.microsoft.com/office/drawing/2014/main" id="{0641A765-ED3D-846F-71F2-9D1B9E6BCE83}"/>
              </a:ext>
            </a:extLst>
          </p:cNvPr>
          <p:cNvGraphicFramePr>
            <a:graphicFrameLocks noGrp="1"/>
          </p:cNvGraphicFramePr>
          <p:nvPr>
            <p:extLst>
              <p:ext uri="{D42A27DB-BD31-4B8C-83A1-F6EECF244321}">
                <p14:modId xmlns:p14="http://schemas.microsoft.com/office/powerpoint/2010/main" val="3662737102"/>
              </p:ext>
            </p:extLst>
          </p:nvPr>
        </p:nvGraphicFramePr>
        <p:xfrm>
          <a:off x="541020" y="1352920"/>
          <a:ext cx="6484620" cy="6343280"/>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488754">
                  <a:extLst>
                    <a:ext uri="{9D8B030D-6E8A-4147-A177-3AD203B41FA5}">
                      <a16:colId xmlns:a16="http://schemas.microsoft.com/office/drawing/2014/main" val="3942615875"/>
                    </a:ext>
                  </a:extLst>
                </a:gridCol>
                <a:gridCol w="222504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N°2</a:t>
                      </a:r>
                    </a:p>
                  </a:txBody>
                  <a:tcPr marL="80189" marR="80189" marT="40094" marB="40094" anchor="ctr">
                    <a:solidFill>
                      <a:schemeClr val="bg1"/>
                    </a:solidFill>
                  </a:tcPr>
                </a:tc>
                <a:tc>
                  <a:txBody>
                    <a:bodyPr/>
                    <a:lstStyle/>
                    <a:p>
                      <a:pPr algn="l"/>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r>
                        <a:rPr lang="fr-FR" sz="1100" b="0" dirty="0">
                          <a:solidFill>
                            <a:schemeClr val="tx1"/>
                          </a:solidFill>
                          <a:latin typeface="Calibri" panose="020F0502020204030204" pitchFamily="34" charset="0"/>
                          <a:ea typeface="Calibri" panose="020F0502020204030204" pitchFamily="34" charset="0"/>
                          <a:cs typeface="Calibri" panose="020F0502020204030204" pitchFamily="34" charset="0"/>
                        </a:rPr>
                        <a:t>Ascenseur</a:t>
                      </a:r>
                      <a:endPar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ENTRETIEN</a:t>
                      </a:r>
                    </a:p>
                  </a:txBody>
                  <a:tcPr marL="80189" marR="80189" marT="40094" marB="40094" anchor="ctr">
                    <a:solidFill>
                      <a:srgbClr val="5DCCCC"/>
                    </a:solidFill>
                  </a:tcPr>
                </a:tc>
                <a:extLst>
                  <a:ext uri="{0D108BD9-81ED-4DB2-BD59-A6C34878D82A}">
                    <a16:rowId xmlns:a16="http://schemas.microsoft.com/office/drawing/2014/main" val="2240724803"/>
                  </a:ext>
                </a:extLst>
              </a:tr>
              <a:tr h="489099">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pPr marL="0" marR="0" lvl="0" indent="0" algn="l" defTabSz="755934"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Parties communes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874056">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marL="0" marR="0" lvl="0" indent="0" algn="just" defTabSz="685800"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L’ascenseur est en bon état apparent et fonctionne normalement. Aucun dysfonctionnement particulier n’a été constaté lors de la visite. Les documents transmis indiquent que les opérations de maintenance réglementaires sont assurées et que l’équipement est adapté à son usage actuel.</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1174750">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Recommandations :</a:t>
                      </a:r>
                    </a:p>
                    <a:p>
                      <a:pPr marL="0" marR="0" lvl="0" indent="0" algn="just" defTabSz="685800"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Poursuivre les opérations de maintenance réglementaires de l’ascenseur afin de garantir la sécurité des usagers et le bon fonctionnement de l’installation. Les interventions doivent notamment porter sur la vérification des organes de sécurité, de la machinerie, des portes palières et de cabine ainsi que des équipements électriques et de commande. Il est également recommandé de veiller à la réalisation du contrôle technique quinquennal obligatoire conformément à la réglementation en vigueur.</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3099017">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4" name="Rectangle 3">
            <a:extLst>
              <a:ext uri="{FF2B5EF4-FFF2-40B4-BE49-F238E27FC236}">
                <a16:creationId xmlns:a16="http://schemas.microsoft.com/office/drawing/2014/main" id="{3F3BEE8B-C920-5515-C71A-24779563215C}"/>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 name="Connecteur droit avec flèche 4">
            <a:extLst>
              <a:ext uri="{FF2B5EF4-FFF2-40B4-BE49-F238E27FC236}">
                <a16:creationId xmlns:a16="http://schemas.microsoft.com/office/drawing/2014/main" id="{9CDB81BF-35B6-7DFC-7C3F-291188EE12A2}"/>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Ellipse 8">
            <a:extLst>
              <a:ext uri="{FF2B5EF4-FFF2-40B4-BE49-F238E27FC236}">
                <a16:creationId xmlns:a16="http://schemas.microsoft.com/office/drawing/2014/main" id="{C91AF6BD-4DDB-F2D6-9A48-FA76DDA2A8F7}"/>
              </a:ext>
            </a:extLst>
          </p:cNvPr>
          <p:cNvSpPr/>
          <p:nvPr/>
        </p:nvSpPr>
        <p:spPr>
          <a:xfrm>
            <a:off x="8913152" y="2941832"/>
            <a:ext cx="914400" cy="9144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 droite 9">
            <a:extLst>
              <a:ext uri="{FF2B5EF4-FFF2-40B4-BE49-F238E27FC236}">
                <a16:creationId xmlns:a16="http://schemas.microsoft.com/office/drawing/2014/main" id="{C64968CB-782D-660E-F34A-4F1B17462B88}"/>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370646B4-6FDE-FF93-FFB9-DF911F1071D9}"/>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3" name="Image 12">
            <a:extLst>
              <a:ext uri="{FF2B5EF4-FFF2-40B4-BE49-F238E27FC236}">
                <a16:creationId xmlns:a16="http://schemas.microsoft.com/office/drawing/2014/main" id="{B55E90EA-F601-7C3C-979C-678D83D830FE}"/>
              </a:ext>
            </a:extLst>
          </p:cNvPr>
          <p:cNvPicPr preferRelativeResize="0">
            <a:picLocks/>
          </p:cNvPicPr>
          <p:nvPr/>
        </p:nvPicPr>
        <p:blipFill rotWithShape="1">
          <a:blip r:embed="rId3">
            <a:extLst>
              <a:ext uri="{28A0092B-C50C-407E-A947-70E740481C1C}">
                <a14:useLocalDpi xmlns:a14="http://schemas.microsoft.com/office/drawing/2010/main" val="0"/>
              </a:ext>
            </a:extLst>
          </a:blip>
          <a:srcRect l="8595" t="21553" r="19148" b="18645"/>
          <a:stretch/>
        </p:blipFill>
        <p:spPr>
          <a:xfrm>
            <a:off x="2519838" y="4886576"/>
            <a:ext cx="2520000" cy="2520000"/>
          </a:xfrm>
          <a:prstGeom prst="rect">
            <a:avLst/>
          </a:prstGeom>
        </p:spPr>
      </p:pic>
    </p:spTree>
    <p:extLst>
      <p:ext uri="{BB962C8B-B14F-4D97-AF65-F5344CB8AC3E}">
        <p14:creationId xmlns:p14="http://schemas.microsoft.com/office/powerpoint/2010/main" val="2150992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FFD9D-6CCF-6A0F-1980-0A9AAEA692C0}"/>
            </a:ext>
          </a:extLst>
        </p:cNvPr>
        <p:cNvGrpSpPr/>
        <p:nvPr/>
      </p:nvGrpSpPr>
      <p:grpSpPr>
        <a:xfrm>
          <a:off x="0" y="0"/>
          <a:ext cx="0" cy="0"/>
          <a:chOff x="0" y="0"/>
          <a:chExt cx="0" cy="0"/>
        </a:xfrm>
      </p:grpSpPr>
      <p:sp>
        <p:nvSpPr>
          <p:cNvPr id="2" name="Espace réservé du pied de page 5">
            <a:extLst>
              <a:ext uri="{FF2B5EF4-FFF2-40B4-BE49-F238E27FC236}">
                <a16:creationId xmlns:a16="http://schemas.microsoft.com/office/drawing/2014/main" id="{A72DE61B-B711-7058-0001-6477A3224753}"/>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6D50C27E-D2E1-833E-9D31-46103195892C}"/>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12</a:t>
            </a:fld>
            <a:endParaRPr lang="fr-FR" sz="965" dirty="0"/>
          </a:p>
        </p:txBody>
      </p:sp>
      <p:pic>
        <p:nvPicPr>
          <p:cNvPr id="6" name="Image 5">
            <a:extLst>
              <a:ext uri="{FF2B5EF4-FFF2-40B4-BE49-F238E27FC236}">
                <a16:creationId xmlns:a16="http://schemas.microsoft.com/office/drawing/2014/main" id="{00A206A1-AA5D-3DF8-BFA3-CA4E208AC606}"/>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B49E31FF-AE88-3754-D31C-CCAD3155EDB3}"/>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graphicFrame>
        <p:nvGraphicFramePr>
          <p:cNvPr id="8" name="Tableau 7">
            <a:extLst>
              <a:ext uri="{FF2B5EF4-FFF2-40B4-BE49-F238E27FC236}">
                <a16:creationId xmlns:a16="http://schemas.microsoft.com/office/drawing/2014/main" id="{977A6117-6FEB-313B-6758-48DAF84D69AF}"/>
              </a:ext>
            </a:extLst>
          </p:cNvPr>
          <p:cNvGraphicFramePr>
            <a:graphicFrameLocks noGrp="1"/>
          </p:cNvGraphicFramePr>
          <p:nvPr>
            <p:extLst>
              <p:ext uri="{D42A27DB-BD31-4B8C-83A1-F6EECF244321}">
                <p14:modId xmlns:p14="http://schemas.microsoft.com/office/powerpoint/2010/main" val="2358650120"/>
              </p:ext>
            </p:extLst>
          </p:nvPr>
        </p:nvGraphicFramePr>
        <p:xfrm>
          <a:off x="541020" y="1287604"/>
          <a:ext cx="6484620" cy="6932471"/>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488754">
                  <a:extLst>
                    <a:ext uri="{9D8B030D-6E8A-4147-A177-3AD203B41FA5}">
                      <a16:colId xmlns:a16="http://schemas.microsoft.com/office/drawing/2014/main" val="3942615875"/>
                    </a:ext>
                  </a:extLst>
                </a:gridCol>
                <a:gridCol w="222504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N°3</a:t>
                      </a:r>
                    </a:p>
                  </a:txBody>
                  <a:tcPr marL="80189" marR="80189" marT="40094" marB="40094" anchor="ctr">
                    <a:solidFill>
                      <a:schemeClr val="bg1"/>
                    </a:solidFill>
                  </a:tcPr>
                </a:tc>
                <a:tc>
                  <a:txBody>
                    <a:bodyPr/>
                    <a:lstStyle/>
                    <a:p>
                      <a:pPr algn="l"/>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r>
                        <a:rPr lang="fr-FR" sz="1100" b="0" dirty="0">
                          <a:solidFill>
                            <a:schemeClr val="tx1"/>
                          </a:solidFill>
                          <a:latin typeface="Calibri" panose="020F0502020204030204" pitchFamily="34" charset="0"/>
                          <a:ea typeface="Calibri" panose="020F0502020204030204" pitchFamily="34" charset="0"/>
                          <a:cs typeface="Calibri" panose="020F0502020204030204" pitchFamily="34" charset="0"/>
                        </a:rPr>
                        <a:t>VMC collective</a:t>
                      </a:r>
                      <a:endPar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ENTRETIEN</a:t>
                      </a:r>
                    </a:p>
                  </a:txBody>
                  <a:tcPr marL="80189" marR="80189" marT="40094" marB="40094" anchor="ctr">
                    <a:solidFill>
                      <a:srgbClr val="5DCCCC"/>
                    </a:solidFill>
                  </a:tcPr>
                </a:tc>
                <a:extLst>
                  <a:ext uri="{0D108BD9-81ED-4DB2-BD59-A6C34878D82A}">
                    <a16:rowId xmlns:a16="http://schemas.microsoft.com/office/drawing/2014/main" val="2240724803"/>
                  </a:ext>
                </a:extLst>
              </a:tr>
              <a:tr h="489099">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pPr marL="0" marR="0" lvl="0" indent="0" algn="l" defTabSz="755934"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Combles perdus</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874056">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marL="0" marR="0" lvl="0" indent="0" algn="just" defTabSz="685800"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L’installation de ventilation mécanique contrôlée (VMC) collective est en état apparent satisfaisant et assure actuellement son rôle de renouvellement de l’air des parties desservies. Aucun dysfonctionnement majeur n’a été constaté lors de la visite. Toutefois, le maintien de ses performances nécessite un entretien régulier des équipements et des réseaux.</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1174750">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Recommandations :</a:t>
                      </a:r>
                    </a:p>
                    <a:p>
                      <a:pPr marL="0" marR="0" lvl="0" indent="0" algn="just" defTabSz="685800"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Maintenir un contrat d’entretien périodique avec une entreprise spécialisée afin de garantir le bon fonctionnement de l’installation, la qualité de l’air intérieur et la pérennité des équipements. Les opérations de maintenance doivent notamment comprendre le nettoyage des bouches d’extraction, des conduits et des caissons de ventilation, la vérification du moteur, des roulements et des débits d’air, le contrôle de l’étanchéité des réseaux ainsi que l'inspection des fixations et supports. Il est également recommandé de surveiller les niveaux de bruit et de vibrations et de procéder au remplacement des pièces présentant des signes d’usure. Un nettoyage complet des réseaux est conseillé périodiquement, notamment lors des opérations de maintenance lourde.</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3111657">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4" name="Rectangle 3">
            <a:extLst>
              <a:ext uri="{FF2B5EF4-FFF2-40B4-BE49-F238E27FC236}">
                <a16:creationId xmlns:a16="http://schemas.microsoft.com/office/drawing/2014/main" id="{79BB96E6-7C3E-071E-7E10-334E2418C21B}"/>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 name="Connecteur droit avec flèche 4">
            <a:extLst>
              <a:ext uri="{FF2B5EF4-FFF2-40B4-BE49-F238E27FC236}">
                <a16:creationId xmlns:a16="http://schemas.microsoft.com/office/drawing/2014/main" id="{3F9A779B-6761-28A8-8AB4-C0BA8690E942}"/>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Ellipse 8">
            <a:extLst>
              <a:ext uri="{FF2B5EF4-FFF2-40B4-BE49-F238E27FC236}">
                <a16:creationId xmlns:a16="http://schemas.microsoft.com/office/drawing/2014/main" id="{96C2BEC1-93AE-5CAF-9D1F-83E37D9789D2}"/>
              </a:ext>
            </a:extLst>
          </p:cNvPr>
          <p:cNvSpPr/>
          <p:nvPr/>
        </p:nvSpPr>
        <p:spPr>
          <a:xfrm>
            <a:off x="8913152" y="2941832"/>
            <a:ext cx="914400" cy="9144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 droite 9">
            <a:extLst>
              <a:ext uri="{FF2B5EF4-FFF2-40B4-BE49-F238E27FC236}">
                <a16:creationId xmlns:a16="http://schemas.microsoft.com/office/drawing/2014/main" id="{3E513068-F08B-BCB2-265D-9F5BFE6E7102}"/>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2F5DA27C-B589-00AD-3A06-D43475A01392}"/>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3" name="Image 12">
            <a:extLst>
              <a:ext uri="{FF2B5EF4-FFF2-40B4-BE49-F238E27FC236}">
                <a16:creationId xmlns:a16="http://schemas.microsoft.com/office/drawing/2014/main" id="{F6B32BAB-45C5-E4C7-4154-B05364F7EACC}"/>
              </a:ext>
            </a:extLst>
          </p:cNvPr>
          <p:cNvPicPr preferRelativeResize="0">
            <a:picLocks/>
          </p:cNvPicPr>
          <p:nvPr/>
        </p:nvPicPr>
        <p:blipFill>
          <a:blip r:embed="rId3">
            <a:extLst>
              <a:ext uri="{28A0092B-C50C-407E-A947-70E740481C1C}">
                <a14:useLocalDpi xmlns:a14="http://schemas.microsoft.com/office/drawing/2010/main" val="0"/>
              </a:ext>
            </a:extLst>
          </a:blip>
          <a:stretch>
            <a:fillRect/>
          </a:stretch>
        </p:blipFill>
        <p:spPr>
          <a:xfrm>
            <a:off x="2597012" y="5450081"/>
            <a:ext cx="2520000" cy="2520000"/>
          </a:xfrm>
          <a:prstGeom prst="rect">
            <a:avLst/>
          </a:prstGeom>
        </p:spPr>
      </p:pic>
    </p:spTree>
    <p:extLst>
      <p:ext uri="{BB962C8B-B14F-4D97-AF65-F5344CB8AC3E}">
        <p14:creationId xmlns:p14="http://schemas.microsoft.com/office/powerpoint/2010/main" val="375589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FA570-9813-70CF-95E1-A1EA9E13951D}"/>
            </a:ext>
          </a:extLst>
        </p:cNvPr>
        <p:cNvGrpSpPr/>
        <p:nvPr/>
      </p:nvGrpSpPr>
      <p:grpSpPr>
        <a:xfrm>
          <a:off x="0" y="0"/>
          <a:ext cx="0" cy="0"/>
          <a:chOff x="0" y="0"/>
          <a:chExt cx="0" cy="0"/>
        </a:xfrm>
      </p:grpSpPr>
      <p:sp>
        <p:nvSpPr>
          <p:cNvPr id="2" name="Espace réservé du pied de page 5">
            <a:extLst>
              <a:ext uri="{FF2B5EF4-FFF2-40B4-BE49-F238E27FC236}">
                <a16:creationId xmlns:a16="http://schemas.microsoft.com/office/drawing/2014/main" id="{555C6CBE-3E69-1BD8-50D5-8058F1DD516C}"/>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6CFD5279-B68A-74F2-2509-61BC2B0BF768}"/>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13</a:t>
            </a:fld>
            <a:endParaRPr lang="fr-FR" sz="965" dirty="0"/>
          </a:p>
        </p:txBody>
      </p:sp>
      <p:pic>
        <p:nvPicPr>
          <p:cNvPr id="6" name="Image 5">
            <a:extLst>
              <a:ext uri="{FF2B5EF4-FFF2-40B4-BE49-F238E27FC236}">
                <a16:creationId xmlns:a16="http://schemas.microsoft.com/office/drawing/2014/main" id="{E51FB09D-C717-E86B-B1C0-FCA806CE9251}"/>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4BF3E484-4F8F-D773-9BD9-9165FDBAE504}"/>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graphicFrame>
        <p:nvGraphicFramePr>
          <p:cNvPr id="8" name="Tableau 7">
            <a:extLst>
              <a:ext uri="{FF2B5EF4-FFF2-40B4-BE49-F238E27FC236}">
                <a16:creationId xmlns:a16="http://schemas.microsoft.com/office/drawing/2014/main" id="{F0573427-8F44-AA57-CDEE-6B9F1ACDBC00}"/>
              </a:ext>
            </a:extLst>
          </p:cNvPr>
          <p:cNvGraphicFramePr>
            <a:graphicFrameLocks noGrp="1"/>
          </p:cNvGraphicFramePr>
          <p:nvPr>
            <p:extLst>
              <p:ext uri="{D42A27DB-BD31-4B8C-83A1-F6EECF244321}">
                <p14:modId xmlns:p14="http://schemas.microsoft.com/office/powerpoint/2010/main" val="368186900"/>
              </p:ext>
            </p:extLst>
          </p:nvPr>
        </p:nvGraphicFramePr>
        <p:xfrm>
          <a:off x="541020" y="1300304"/>
          <a:ext cx="6484620" cy="6243496"/>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488754">
                  <a:extLst>
                    <a:ext uri="{9D8B030D-6E8A-4147-A177-3AD203B41FA5}">
                      <a16:colId xmlns:a16="http://schemas.microsoft.com/office/drawing/2014/main" val="3942615875"/>
                    </a:ext>
                  </a:extLst>
                </a:gridCol>
                <a:gridCol w="222504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N°4</a:t>
                      </a:r>
                    </a:p>
                  </a:txBody>
                  <a:tcPr marL="80189" marR="80189" marT="40094" marB="40094" anchor="ctr">
                    <a:solidFill>
                      <a:schemeClr val="bg1"/>
                    </a:solidFill>
                  </a:tcPr>
                </a:tc>
                <a:tc>
                  <a:txBody>
                    <a:bodyPr/>
                    <a:lstStyle/>
                    <a:p>
                      <a:pPr algn="l"/>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r>
                        <a:rPr lang="fr-FR" sz="1100" b="0" dirty="0">
                          <a:solidFill>
                            <a:schemeClr val="tx1"/>
                          </a:solidFill>
                          <a:latin typeface="Calibri" panose="020F0502020204030204" pitchFamily="34" charset="0"/>
                          <a:ea typeface="Calibri" panose="020F0502020204030204" pitchFamily="34" charset="0"/>
                          <a:cs typeface="Calibri" panose="020F0502020204030204" pitchFamily="34" charset="0"/>
                        </a:rPr>
                        <a:t>Portail automatique</a:t>
                      </a:r>
                      <a:endPar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ENTRETIEN</a:t>
                      </a:r>
                    </a:p>
                  </a:txBody>
                  <a:tcPr marL="80189" marR="80189" marT="40094" marB="40094" anchor="ctr">
                    <a:solidFill>
                      <a:srgbClr val="5DCCCC"/>
                    </a:solidFill>
                  </a:tcPr>
                </a:tc>
                <a:extLst>
                  <a:ext uri="{0D108BD9-81ED-4DB2-BD59-A6C34878D82A}">
                    <a16:rowId xmlns:a16="http://schemas.microsoft.com/office/drawing/2014/main" val="2240724803"/>
                  </a:ext>
                </a:extLst>
              </a:tr>
              <a:tr h="489099">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r>
                        <a:rPr lang="fr-FR" sz="1100" b="0" dirty="0">
                          <a:latin typeface="Calibri" panose="020F0502020204030204" pitchFamily="34" charset="0"/>
                          <a:ea typeface="Calibri" panose="020F0502020204030204" pitchFamily="34" charset="0"/>
                          <a:cs typeface="Calibri" panose="020F0502020204030204" pitchFamily="34" charset="0"/>
                        </a:rPr>
                        <a:t>Portail automatique d’accès aux garages</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874056">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marL="0" marR="0" lvl="0" indent="0" algn="just" defTabSz="685800"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Le portail motorisé d’accès aux garages est en état apparent satisfaisant et ne présente aucun dysfonctionnement visible lors de la visite. Le système d’ouverture et de fermeture fonctionne correctement et assure le contrôle des accès aux stationnements de la copropriété.</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1174750">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Recommandations :</a:t>
                      </a:r>
                    </a:p>
                    <a:p>
                      <a:pPr marL="0" marR="0" lvl="0" indent="0" algn="just" defTabSz="685800" rtl="0" eaLnBrk="1" fontAlgn="auto" latinLnBrk="0" hangingPunct="1">
                        <a:lnSpc>
                          <a:spcPct val="100000"/>
                        </a:lnSpc>
                        <a:spcBef>
                          <a:spcPts val="0"/>
                        </a:spcBef>
                        <a:spcAft>
                          <a:spcPts val="0"/>
                        </a:spcAft>
                        <a:buClrTx/>
                        <a:buSzTx/>
                        <a:buFontTx/>
                        <a:buNone/>
                        <a:tabLst/>
                        <a:defRPr/>
                      </a:pPr>
                      <a:r>
                        <a:rPr lang="fr-FR" sz="1100" dirty="0">
                          <a:latin typeface="Calibri" panose="020F0502020204030204" pitchFamily="34" charset="0"/>
                          <a:ea typeface="Calibri" panose="020F0502020204030204" pitchFamily="34" charset="0"/>
                          <a:cs typeface="Calibri" panose="020F0502020204030204" pitchFamily="34" charset="0"/>
                        </a:rPr>
                        <a:t>Maintenir un entretien régulier du portail afin de garantir sa fiabilité, la sécurité des utilisateurs et la continuité de service. Les opérations de maintenance devront notamment comprendre la vérification du moteur, des fins de course, des dispositifs de sécurité anti-écrasement, des cellules de détection, des commandes d’accès ainsi que des éléments mécaniques de guidage, de roulement et de fermeture.</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3078151">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4" name="Rectangle 3">
            <a:extLst>
              <a:ext uri="{FF2B5EF4-FFF2-40B4-BE49-F238E27FC236}">
                <a16:creationId xmlns:a16="http://schemas.microsoft.com/office/drawing/2014/main" id="{B3B790EE-DEE9-9DC1-85F0-2DD636982B85}"/>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 name="Connecteur droit avec flèche 4">
            <a:extLst>
              <a:ext uri="{FF2B5EF4-FFF2-40B4-BE49-F238E27FC236}">
                <a16:creationId xmlns:a16="http://schemas.microsoft.com/office/drawing/2014/main" id="{F225548B-6D72-B434-7FC5-A61FD3909304}"/>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Ellipse 8">
            <a:extLst>
              <a:ext uri="{FF2B5EF4-FFF2-40B4-BE49-F238E27FC236}">
                <a16:creationId xmlns:a16="http://schemas.microsoft.com/office/drawing/2014/main" id="{7408E208-489C-E8B7-1FE1-AB2FA511BD7E}"/>
              </a:ext>
            </a:extLst>
          </p:cNvPr>
          <p:cNvSpPr/>
          <p:nvPr/>
        </p:nvSpPr>
        <p:spPr>
          <a:xfrm>
            <a:off x="8913152" y="2941832"/>
            <a:ext cx="914400" cy="9144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 droite 9">
            <a:extLst>
              <a:ext uri="{FF2B5EF4-FFF2-40B4-BE49-F238E27FC236}">
                <a16:creationId xmlns:a16="http://schemas.microsoft.com/office/drawing/2014/main" id="{8F550E6C-9AB1-F8E9-6D05-73AD92D34F14}"/>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1B286626-8F31-85C0-3F6C-5D9BC07013B3}"/>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3" name="Image 12">
            <a:extLst>
              <a:ext uri="{FF2B5EF4-FFF2-40B4-BE49-F238E27FC236}">
                <a16:creationId xmlns:a16="http://schemas.microsoft.com/office/drawing/2014/main" id="{E002D717-5D61-3CF1-8819-FE6DBE6B7B1A}"/>
              </a:ext>
            </a:extLst>
          </p:cNvPr>
          <p:cNvPicPr preferRelativeResize="0">
            <a:picLocks/>
          </p:cNvPicPr>
          <p:nvPr/>
        </p:nvPicPr>
        <p:blipFill rotWithShape="1">
          <a:blip r:embed="rId3">
            <a:extLst>
              <a:ext uri="{28A0092B-C50C-407E-A947-70E740481C1C}">
                <a14:useLocalDpi xmlns:a14="http://schemas.microsoft.com/office/drawing/2010/main" val="0"/>
              </a:ext>
            </a:extLst>
          </a:blip>
          <a:srcRect t="50439" r="23765"/>
          <a:stretch/>
        </p:blipFill>
        <p:spPr>
          <a:xfrm>
            <a:off x="2519838" y="4799206"/>
            <a:ext cx="2520000" cy="2520000"/>
          </a:xfrm>
          <a:prstGeom prst="rect">
            <a:avLst/>
          </a:prstGeom>
        </p:spPr>
      </p:pic>
    </p:spTree>
    <p:extLst>
      <p:ext uri="{BB962C8B-B14F-4D97-AF65-F5344CB8AC3E}">
        <p14:creationId xmlns:p14="http://schemas.microsoft.com/office/powerpoint/2010/main" val="3023008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213A1-22AB-411A-DE8F-2E9797DFC401}"/>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D0E3FD73-C790-AA01-22FF-8332C2C98725}"/>
              </a:ext>
            </a:extLst>
          </p:cNvPr>
          <p:cNvSpPr txBox="1"/>
          <p:nvPr/>
        </p:nvSpPr>
        <p:spPr>
          <a:xfrm>
            <a:off x="541020" y="1291169"/>
            <a:ext cx="5668886" cy="281295"/>
          </a:xfrm>
          <a:prstGeom prst="rect">
            <a:avLst/>
          </a:prstGeom>
          <a:noFill/>
        </p:spPr>
        <p:txBody>
          <a:bodyPr wrap="square" rtlCol="0">
            <a:spAutoFit/>
          </a:bodyPr>
          <a:lstStyle/>
          <a:p>
            <a:r>
              <a:rPr lang="fr-FR" sz="1228" b="1" dirty="0">
                <a:latin typeface="Calibri" panose="020F0502020204030204" pitchFamily="34" charset="0"/>
                <a:ea typeface="Calibri" panose="020F0502020204030204" pitchFamily="34" charset="0"/>
                <a:cs typeface="Calibri" panose="020F0502020204030204" pitchFamily="34" charset="0"/>
              </a:rPr>
              <a:t>2.2 Rubrique Signalement   </a:t>
            </a:r>
          </a:p>
        </p:txBody>
      </p:sp>
      <p:sp>
        <p:nvSpPr>
          <p:cNvPr id="3" name="ZoneTexte 2">
            <a:extLst>
              <a:ext uri="{FF2B5EF4-FFF2-40B4-BE49-F238E27FC236}">
                <a16:creationId xmlns:a16="http://schemas.microsoft.com/office/drawing/2014/main" id="{B3568A9C-4F43-4F8F-54DC-2C61747D7D45}"/>
              </a:ext>
            </a:extLst>
          </p:cNvPr>
          <p:cNvSpPr txBox="1"/>
          <p:nvPr/>
        </p:nvSpPr>
        <p:spPr>
          <a:xfrm>
            <a:off x="2197108" y="1729456"/>
            <a:ext cx="4063992" cy="600164"/>
          </a:xfrm>
          <a:prstGeom prst="rect">
            <a:avLst/>
          </a:prstGeom>
          <a:noFill/>
        </p:spPr>
        <p:txBody>
          <a:bodyPr wrap="square" rtlCol="0">
            <a:spAutoFit/>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Opérations d'entretien courant et de maintenance préventive nécessaires au maintien en bon état des équipements et du bâtiment. </a:t>
            </a:r>
          </a:p>
        </p:txBody>
      </p:sp>
      <p:sp>
        <p:nvSpPr>
          <p:cNvPr id="4" name="Flèche : pentagone 3">
            <a:extLst>
              <a:ext uri="{FF2B5EF4-FFF2-40B4-BE49-F238E27FC236}">
                <a16:creationId xmlns:a16="http://schemas.microsoft.com/office/drawing/2014/main" id="{0F909D21-B247-3199-64C8-1BF214BBAEB4}"/>
              </a:ext>
            </a:extLst>
          </p:cNvPr>
          <p:cNvSpPr/>
          <p:nvPr/>
        </p:nvSpPr>
        <p:spPr>
          <a:xfrm>
            <a:off x="541020" y="1719013"/>
            <a:ext cx="1411653" cy="501179"/>
          </a:xfrm>
          <a:prstGeom prst="homePlate">
            <a:avLst/>
          </a:prstGeom>
          <a:solidFill>
            <a:srgbClr val="006F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Signalement</a:t>
            </a:r>
          </a:p>
        </p:txBody>
      </p:sp>
      <p:graphicFrame>
        <p:nvGraphicFramePr>
          <p:cNvPr id="5" name="Tableau 4">
            <a:extLst>
              <a:ext uri="{FF2B5EF4-FFF2-40B4-BE49-F238E27FC236}">
                <a16:creationId xmlns:a16="http://schemas.microsoft.com/office/drawing/2014/main" id="{18BFB902-5949-59D4-124D-0148CE4A1314}"/>
              </a:ext>
            </a:extLst>
          </p:cNvPr>
          <p:cNvGraphicFramePr>
            <a:graphicFrameLocks noGrp="1"/>
          </p:cNvGraphicFramePr>
          <p:nvPr>
            <p:extLst>
              <p:ext uri="{D42A27DB-BD31-4B8C-83A1-F6EECF244321}">
                <p14:modId xmlns:p14="http://schemas.microsoft.com/office/powerpoint/2010/main" val="4240614655"/>
              </p:ext>
            </p:extLst>
          </p:nvPr>
        </p:nvGraphicFramePr>
        <p:xfrm>
          <a:off x="541020" y="2583757"/>
          <a:ext cx="6484620" cy="6131618"/>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387154">
                  <a:extLst>
                    <a:ext uri="{9D8B030D-6E8A-4147-A177-3AD203B41FA5}">
                      <a16:colId xmlns:a16="http://schemas.microsoft.com/office/drawing/2014/main" val="3942615875"/>
                    </a:ext>
                  </a:extLst>
                </a:gridCol>
                <a:gridCol w="232664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N°1</a:t>
                      </a:r>
                    </a:p>
                  </a:txBody>
                  <a:tcPr marL="80189" marR="80189" marT="40094" marB="40094" anchor="ctr">
                    <a:solidFill>
                      <a:schemeClr val="bg1"/>
                    </a:solidFill>
                  </a:tcPr>
                </a:tc>
                <a:tc>
                  <a:txBody>
                    <a:bodyPr/>
                    <a:lstStyle/>
                    <a:p>
                      <a:pPr algn="l"/>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a:t>
                      </a:r>
                      <a:r>
                        <a:rPr lang="fr-FR" sz="1100" b="0" dirty="0">
                          <a:solidFill>
                            <a:schemeClr val="tx1"/>
                          </a:solidFill>
                          <a:latin typeface="Calibri" panose="020F0502020204030204" pitchFamily="34" charset="0"/>
                          <a:ea typeface="Calibri" panose="020F0502020204030204" pitchFamily="34" charset="0"/>
                          <a:cs typeface="Calibri" panose="020F0502020204030204" pitchFamily="34" charset="0"/>
                        </a:rPr>
                        <a:t> Électricité / Gaines techniques</a:t>
                      </a: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SIGNALEMENT</a:t>
                      </a:r>
                    </a:p>
                  </a:txBody>
                  <a:tcPr marL="80189" marR="80189" marT="40094" marB="40094" anchor="ctr">
                    <a:solidFill>
                      <a:srgbClr val="006FC0"/>
                    </a:solidFill>
                  </a:tcPr>
                </a:tc>
                <a:extLst>
                  <a:ext uri="{0D108BD9-81ED-4DB2-BD59-A6C34878D82A}">
                    <a16:rowId xmlns:a16="http://schemas.microsoft.com/office/drawing/2014/main" val="2240724803"/>
                  </a:ext>
                </a:extLst>
              </a:tr>
              <a:tr h="489099">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r>
                        <a:rPr lang="fr-FR" sz="1100" b="0" dirty="0">
                          <a:latin typeface="Calibri" panose="020F0502020204030204" pitchFamily="34" charset="0"/>
                          <a:ea typeface="Calibri" panose="020F0502020204030204" pitchFamily="34" charset="0"/>
                          <a:cs typeface="Calibri" panose="020F0502020204030204" pitchFamily="34" charset="0"/>
                        </a:rPr>
                        <a:t>Combles perdus</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874056">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algn="just"/>
                      <a:r>
                        <a:rPr lang="fr-FR" sz="1100" b="0" dirty="0">
                          <a:latin typeface="Calibri" panose="020F0502020204030204" pitchFamily="34" charset="0"/>
                          <a:ea typeface="Calibri" panose="020F0502020204030204" pitchFamily="34" charset="0"/>
                          <a:cs typeface="Calibri" panose="020F0502020204030204" pitchFamily="34" charset="0"/>
                        </a:rPr>
                        <a:t>Présence d’un tube d’électricité endommagé avec des fils électriques sortant sans protection. Un boîtier d’encastrement est ouvert. Des traces d’humidité sont également visibles dans l’environnement immédiat.</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1174750">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Recommandations :</a:t>
                      </a:r>
                    </a:p>
                    <a:p>
                      <a:pPr algn="just"/>
                      <a:r>
                        <a:rPr lang="fr-FR" sz="1100" b="0" dirty="0">
                          <a:latin typeface="Calibri" panose="020F0502020204030204" pitchFamily="34" charset="0"/>
                          <a:ea typeface="Calibri" panose="020F0502020204030204" pitchFamily="34" charset="0"/>
                          <a:cs typeface="Calibri" panose="020F0502020204030204" pitchFamily="34" charset="0"/>
                        </a:rPr>
                        <a:t>Remplacer le tube d’électricité endommagé par un tube neuf de diamètre adapté, en veillant à y faire passer correctement l’ensemble des conducteurs. Sécuriser les fils à l’aide de colliers ou de serre-câbles et fermer hermétiquement le boîtier de dérivation. Identifier et traiter l’origine de l’humidité, qu’il s’agisse d’infiltrations en toiture, de défaut d’étanchéité ou d’absence de ventilation, et assécher les supports avant toute remise en état.</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3104614">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8" name="Espace réservé du pied de page 5">
            <a:extLst>
              <a:ext uri="{FF2B5EF4-FFF2-40B4-BE49-F238E27FC236}">
                <a16:creationId xmlns:a16="http://schemas.microsoft.com/office/drawing/2014/main" id="{9110FABE-7AEF-F850-E310-6A6CA0FC92F8}"/>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2591DF43-3662-87F1-5139-AD24C5C48EC4}"/>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14</a:t>
            </a:fld>
            <a:endParaRPr lang="fr-FR" sz="965" dirty="0"/>
          </a:p>
        </p:txBody>
      </p:sp>
      <p:pic>
        <p:nvPicPr>
          <p:cNvPr id="6" name="Image 5">
            <a:extLst>
              <a:ext uri="{FF2B5EF4-FFF2-40B4-BE49-F238E27FC236}">
                <a16:creationId xmlns:a16="http://schemas.microsoft.com/office/drawing/2014/main" id="{05EC03C2-57D6-588B-14DF-2D222B458051}"/>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78D382C2-9374-D6C9-994A-B69512E4E3F2}"/>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sp>
        <p:nvSpPr>
          <p:cNvPr id="2" name="Rectangle 1">
            <a:extLst>
              <a:ext uri="{FF2B5EF4-FFF2-40B4-BE49-F238E27FC236}">
                <a16:creationId xmlns:a16="http://schemas.microsoft.com/office/drawing/2014/main" id="{8A04B5B6-7C2E-2AD1-7E5E-A83B5EE546CE}"/>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Connecteur droit avec flèche 8">
            <a:extLst>
              <a:ext uri="{FF2B5EF4-FFF2-40B4-BE49-F238E27FC236}">
                <a16:creationId xmlns:a16="http://schemas.microsoft.com/office/drawing/2014/main" id="{EF044B87-253E-3760-2312-EA0564730FCB}"/>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Ellipse 11">
            <a:extLst>
              <a:ext uri="{FF2B5EF4-FFF2-40B4-BE49-F238E27FC236}">
                <a16:creationId xmlns:a16="http://schemas.microsoft.com/office/drawing/2014/main" id="{C61ACD07-BD07-48C9-DB0F-49176A6A67BF}"/>
              </a:ext>
            </a:extLst>
          </p:cNvPr>
          <p:cNvSpPr/>
          <p:nvPr/>
        </p:nvSpPr>
        <p:spPr>
          <a:xfrm>
            <a:off x="8913152" y="2941832"/>
            <a:ext cx="914400" cy="9144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 droite 12">
            <a:extLst>
              <a:ext uri="{FF2B5EF4-FFF2-40B4-BE49-F238E27FC236}">
                <a16:creationId xmlns:a16="http://schemas.microsoft.com/office/drawing/2014/main" id="{D099B28F-2EA5-D14E-E464-7EF97947A3F4}"/>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C2A16E4D-B601-69B7-36ED-35D5AC2A815D}"/>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6" name="Image 15">
            <a:extLst>
              <a:ext uri="{FF2B5EF4-FFF2-40B4-BE49-F238E27FC236}">
                <a16:creationId xmlns:a16="http://schemas.microsoft.com/office/drawing/2014/main" id="{5229EF8E-7DEA-105C-DBCC-E323B836AF44}"/>
              </a:ext>
            </a:extLst>
          </p:cNvPr>
          <p:cNvPicPr preferRelativeResize="0">
            <a:picLocks/>
          </p:cNvPicPr>
          <p:nvPr/>
        </p:nvPicPr>
        <p:blipFill rotWithShape="1">
          <a:blip r:embed="rId3">
            <a:extLst>
              <a:ext uri="{28A0092B-C50C-407E-A947-70E740481C1C}">
                <a14:useLocalDpi xmlns:a14="http://schemas.microsoft.com/office/drawing/2010/main" val="0"/>
              </a:ext>
            </a:extLst>
          </a:blip>
          <a:srcRect t="26412" b="8689"/>
          <a:stretch/>
        </p:blipFill>
        <p:spPr>
          <a:xfrm>
            <a:off x="2519837" y="5937075"/>
            <a:ext cx="2520000" cy="2520000"/>
          </a:xfrm>
          <a:prstGeom prst="rect">
            <a:avLst/>
          </a:prstGeom>
        </p:spPr>
      </p:pic>
    </p:spTree>
    <p:extLst>
      <p:ext uri="{BB962C8B-B14F-4D97-AF65-F5344CB8AC3E}">
        <p14:creationId xmlns:p14="http://schemas.microsoft.com/office/powerpoint/2010/main" val="492756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60E8B-BAC3-6F8F-5BF1-F84E803E4BBE}"/>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4F8D3ADE-1C3B-683A-8A85-9AC365505943}"/>
              </a:ext>
            </a:extLst>
          </p:cNvPr>
          <p:cNvSpPr txBox="1"/>
          <p:nvPr/>
        </p:nvSpPr>
        <p:spPr>
          <a:xfrm>
            <a:off x="541020" y="1275911"/>
            <a:ext cx="5668886" cy="281295"/>
          </a:xfrm>
          <a:prstGeom prst="rect">
            <a:avLst/>
          </a:prstGeom>
          <a:noFill/>
        </p:spPr>
        <p:txBody>
          <a:bodyPr wrap="square" rtlCol="0">
            <a:spAutoFit/>
          </a:bodyPr>
          <a:lstStyle/>
          <a:p>
            <a:r>
              <a:rPr lang="fr-FR" sz="1228" b="1" dirty="0">
                <a:latin typeface="Calibri" panose="020F0502020204030204" pitchFamily="34" charset="0"/>
                <a:ea typeface="Calibri" panose="020F0502020204030204" pitchFamily="34" charset="0"/>
                <a:cs typeface="Calibri" panose="020F0502020204030204" pitchFamily="34" charset="0"/>
              </a:rPr>
              <a:t>2.3 Rubrique Curatif Niveau 1   </a:t>
            </a:r>
          </a:p>
        </p:txBody>
      </p:sp>
      <p:sp>
        <p:nvSpPr>
          <p:cNvPr id="3" name="ZoneTexte 2">
            <a:extLst>
              <a:ext uri="{FF2B5EF4-FFF2-40B4-BE49-F238E27FC236}">
                <a16:creationId xmlns:a16="http://schemas.microsoft.com/office/drawing/2014/main" id="{2120BB71-157E-0F8F-C5B7-F07DD7AE43DD}"/>
              </a:ext>
            </a:extLst>
          </p:cNvPr>
          <p:cNvSpPr txBox="1"/>
          <p:nvPr/>
        </p:nvSpPr>
        <p:spPr>
          <a:xfrm>
            <a:off x="2091691" y="1708927"/>
            <a:ext cx="4866004" cy="600164"/>
          </a:xfrm>
          <a:prstGeom prst="rect">
            <a:avLst/>
          </a:prstGeom>
          <a:noFill/>
        </p:spPr>
        <p:txBody>
          <a:bodyPr wrap="square" rtlCol="0">
            <a:spAutoFit/>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Curatif Niveau 1 (impact fort) – Travaux à effectuer sous 2 ans </a:t>
            </a:r>
            <a:r>
              <a:rPr lang="fr-FR" sz="1100" i="1" dirty="0">
                <a:latin typeface="Calibri" panose="020F0502020204030204" pitchFamily="34" charset="0"/>
                <a:ea typeface="Calibri" panose="020F0502020204030204" pitchFamily="34" charset="0"/>
                <a:cs typeface="Calibri" panose="020F0502020204030204" pitchFamily="34" charset="0"/>
              </a:rPr>
              <a:t>(2027-2028)</a:t>
            </a:r>
          </a:p>
          <a:p>
            <a:pPr algn="just"/>
            <a:r>
              <a:rPr lang="fr-FR" sz="1100" dirty="0">
                <a:latin typeface="Calibri" panose="020F0502020204030204" pitchFamily="34" charset="0"/>
                <a:ea typeface="Calibri" panose="020F0502020204030204" pitchFamily="34" charset="0"/>
                <a:cs typeface="Calibri" panose="020F0502020204030204" pitchFamily="34" charset="0"/>
              </a:rPr>
              <a:t>Interventions urgentes nécessaires à la sécurité des occupants, à la préservation du bâti ou à la continuité de service des équipements</a:t>
            </a:r>
            <a:r>
              <a:rPr lang="fr-FR" sz="1052" dirty="0">
                <a:latin typeface="Calibri" panose="020F0502020204030204" pitchFamily="34" charset="0"/>
                <a:ea typeface="Calibri" panose="020F0502020204030204" pitchFamily="34" charset="0"/>
                <a:cs typeface="Calibri" panose="020F0502020204030204" pitchFamily="34" charset="0"/>
              </a:rPr>
              <a:t>.</a:t>
            </a:r>
          </a:p>
        </p:txBody>
      </p:sp>
      <p:sp>
        <p:nvSpPr>
          <p:cNvPr id="2" name="Flèche : pentagone 1">
            <a:extLst>
              <a:ext uri="{FF2B5EF4-FFF2-40B4-BE49-F238E27FC236}">
                <a16:creationId xmlns:a16="http://schemas.microsoft.com/office/drawing/2014/main" id="{D24052E1-D7B0-B182-8C57-8FEF673181AB}"/>
              </a:ext>
            </a:extLst>
          </p:cNvPr>
          <p:cNvSpPr/>
          <p:nvPr/>
        </p:nvSpPr>
        <p:spPr>
          <a:xfrm>
            <a:off x="541020" y="1708927"/>
            <a:ext cx="1411653" cy="501179"/>
          </a:xfrm>
          <a:prstGeom prst="homePlate">
            <a:avLst/>
          </a:prstGeom>
          <a:solidFill>
            <a:srgbClr val="D0233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Curatif Niveau 1</a:t>
            </a:r>
          </a:p>
        </p:txBody>
      </p:sp>
      <p:graphicFrame>
        <p:nvGraphicFramePr>
          <p:cNvPr id="5" name="Tableau 4">
            <a:extLst>
              <a:ext uri="{FF2B5EF4-FFF2-40B4-BE49-F238E27FC236}">
                <a16:creationId xmlns:a16="http://schemas.microsoft.com/office/drawing/2014/main" id="{3D6F2A11-B298-B21D-83D2-3A6F28E24E5C}"/>
              </a:ext>
            </a:extLst>
          </p:cNvPr>
          <p:cNvGraphicFramePr>
            <a:graphicFrameLocks noGrp="1"/>
          </p:cNvGraphicFramePr>
          <p:nvPr>
            <p:extLst>
              <p:ext uri="{D42A27DB-BD31-4B8C-83A1-F6EECF244321}">
                <p14:modId xmlns:p14="http://schemas.microsoft.com/office/powerpoint/2010/main" val="3361915262"/>
              </p:ext>
            </p:extLst>
          </p:nvPr>
        </p:nvGraphicFramePr>
        <p:xfrm>
          <a:off x="541020" y="2558358"/>
          <a:ext cx="6484620" cy="6919017"/>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501454">
                  <a:extLst>
                    <a:ext uri="{9D8B030D-6E8A-4147-A177-3AD203B41FA5}">
                      <a16:colId xmlns:a16="http://schemas.microsoft.com/office/drawing/2014/main" val="3942615875"/>
                    </a:ext>
                  </a:extLst>
                </a:gridCol>
                <a:gridCol w="221234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N°1</a:t>
                      </a:r>
                    </a:p>
                  </a:txBody>
                  <a:tcPr marL="80189" marR="80189" marT="40094" marB="40094" anchor="ctr">
                    <a:solidFill>
                      <a:schemeClr val="bg1"/>
                    </a:solidFill>
                  </a:tcPr>
                </a:tc>
                <a:tc>
                  <a:txBody>
                    <a:bodyPr/>
                    <a:lstStyle/>
                    <a:p>
                      <a:pPr algn="l"/>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r>
                        <a:rPr lang="fr-FR" sz="1100" b="0" dirty="0">
                          <a:solidFill>
                            <a:schemeClr val="tx1"/>
                          </a:solidFill>
                          <a:latin typeface="Calibri" panose="020F0502020204030204" pitchFamily="34" charset="0"/>
                          <a:ea typeface="Calibri" panose="020F0502020204030204" pitchFamily="34" charset="0"/>
                          <a:cs typeface="Calibri" panose="020F0502020204030204" pitchFamily="34" charset="0"/>
                        </a:rPr>
                        <a:t>Éclairage</a:t>
                      </a: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CURATIF NIVEAU 1</a:t>
                      </a:r>
                    </a:p>
                  </a:txBody>
                  <a:tcPr marL="80189" marR="80189" marT="40094" marB="40094" anchor="ctr">
                    <a:solidFill>
                      <a:srgbClr val="D02334"/>
                    </a:solidFill>
                  </a:tcPr>
                </a:tc>
                <a:extLst>
                  <a:ext uri="{0D108BD9-81ED-4DB2-BD59-A6C34878D82A}">
                    <a16:rowId xmlns:a16="http://schemas.microsoft.com/office/drawing/2014/main" val="2240724803"/>
                  </a:ext>
                </a:extLst>
              </a:tr>
              <a:tr h="489099">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pPr marL="0" algn="l" defTabSz="755934" rtl="0" eaLnBrk="1" latinLnBrk="0" hangingPunct="1"/>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Parties communes</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874056">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marL="0" algn="just" defTabSz="755934" rtl="0" eaLnBrk="1" latinLnBrk="0" hangingPunct="1"/>
                      <a:r>
                        <a:rPr lang="fr-FR" sz="1100" kern="1200" dirty="0">
                          <a:solidFill>
                            <a:schemeClr val="tx1"/>
                          </a:solidFill>
                          <a:latin typeface="Calibri" panose="020F0502020204030204" pitchFamily="34" charset="0"/>
                          <a:ea typeface="Calibri" panose="020F0502020204030204" pitchFamily="34" charset="0"/>
                          <a:cs typeface="Calibri" panose="020F0502020204030204" pitchFamily="34" charset="0"/>
                        </a:rPr>
                        <a:t>Le luminaire à LED situé à l’entrée du hall est hors service. Son dysfonctionnement entraîne une absence d’éclairage à l’accès de l’immeuble et réduit le confort ainsi que la sécurité des usagers</a:t>
                      </a:r>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1174750">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Travaux à effectuer :</a:t>
                      </a:r>
                    </a:p>
                    <a:p>
                      <a:pPr algn="just"/>
                      <a:r>
                        <a:rPr lang="fr-FR" sz="1100" b="0" dirty="0">
                          <a:latin typeface="Calibri" panose="020F0502020204030204" pitchFamily="34" charset="0"/>
                          <a:ea typeface="Calibri" panose="020F0502020204030204" pitchFamily="34" charset="0"/>
                          <a:cs typeface="Calibri" panose="020F0502020204030204" pitchFamily="34" charset="0"/>
                        </a:rPr>
                        <a:t>Procéder au remplacement du luminaire LED par un équipement de caractéristiques équivalentes, puis effectuer les essais de fonctionnement nécessaires afin de garantir un éclairage automatique conforme.</a:t>
                      </a:r>
                    </a:p>
                    <a:p>
                      <a:pPr algn="just"/>
                      <a:r>
                        <a:rPr lang="fr-FR" sz="1100" b="0" dirty="0">
                          <a:latin typeface="Calibri" panose="020F0502020204030204" pitchFamily="34" charset="0"/>
                          <a:ea typeface="Calibri" panose="020F0502020204030204" pitchFamily="34" charset="0"/>
                          <a:cs typeface="Calibri" panose="020F0502020204030204" pitchFamily="34" charset="0"/>
                        </a:rPr>
                        <a:t>Le remplacement du luminaire permettra de rétablir un niveau d’éclairage adapté et d’assurer le bon fonctionnement de l’accès aux parties communes.</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574685">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Chiffrage estimatif :</a:t>
                      </a:r>
                    </a:p>
                    <a:p>
                      <a:pPr algn="ctr"/>
                      <a:r>
                        <a:rPr lang="fr-FR" sz="1100" b="0" dirty="0">
                          <a:latin typeface="Calibri" panose="020F0502020204030204" pitchFamily="34" charset="0"/>
                          <a:ea typeface="Calibri" panose="020F0502020204030204" pitchFamily="34" charset="0"/>
                          <a:cs typeface="Calibri" panose="020F0502020204030204" pitchFamily="34" charset="0"/>
                        </a:rPr>
                        <a:t>100</a:t>
                      </a:r>
                      <a:r>
                        <a:rPr lang="fr-FR" sz="1100" b="1" dirty="0">
                          <a:latin typeface="Calibri" panose="020F0502020204030204" pitchFamily="34" charset="0"/>
                          <a:ea typeface="Calibri" panose="020F0502020204030204" pitchFamily="34" charset="0"/>
                          <a:cs typeface="Calibri" panose="020F0502020204030204" pitchFamily="34" charset="0"/>
                        </a:rPr>
                        <a:t> € TTC</a:t>
                      </a:r>
                    </a:p>
                    <a:p>
                      <a:pPr algn="ctr"/>
                      <a:r>
                        <a:rPr lang="fr-FR" sz="1100" b="0" dirty="0">
                          <a:latin typeface="Calibri" panose="020F0502020204030204" pitchFamily="34" charset="0"/>
                          <a:ea typeface="Calibri" panose="020F0502020204030204" pitchFamily="34" charset="0"/>
                          <a:cs typeface="Calibri" panose="020F0502020204030204" pitchFamily="34" charset="0"/>
                        </a:rPr>
                        <a:t>Source Bati Chiffrage 2026</a:t>
                      </a:r>
                    </a:p>
                    <a:p>
                      <a:pPr algn="ctr"/>
                      <a:r>
                        <a:rPr lang="fr-FR" sz="1100" i="1" dirty="0">
                          <a:latin typeface="Calibri" panose="020F0502020204030204" pitchFamily="34" charset="0"/>
                          <a:ea typeface="Calibri" panose="020F0502020204030204" pitchFamily="34" charset="0"/>
                          <a:cs typeface="Calibri" panose="020F0502020204030204" pitchFamily="34" charset="0"/>
                        </a:rPr>
                        <a:t>(Estimation indicative susceptible d'être ajustée après consultation des entreprises)</a:t>
                      </a:r>
                      <a:endParaRPr lang="fr-FR" sz="1100" b="0" i="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4022545768"/>
                  </a:ext>
                </a:extLst>
              </a:tr>
              <a:tr h="3141265">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8" name="Espace réservé du pied de page 5">
            <a:extLst>
              <a:ext uri="{FF2B5EF4-FFF2-40B4-BE49-F238E27FC236}">
                <a16:creationId xmlns:a16="http://schemas.microsoft.com/office/drawing/2014/main" id="{6B370BAA-5A1E-C9C3-F147-CE3DEF42C115}"/>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0FE24910-6B73-25D3-339E-4549872ABB7B}"/>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15</a:t>
            </a:fld>
            <a:endParaRPr lang="fr-FR" sz="965" dirty="0"/>
          </a:p>
        </p:txBody>
      </p:sp>
      <p:pic>
        <p:nvPicPr>
          <p:cNvPr id="6" name="Image 5">
            <a:extLst>
              <a:ext uri="{FF2B5EF4-FFF2-40B4-BE49-F238E27FC236}">
                <a16:creationId xmlns:a16="http://schemas.microsoft.com/office/drawing/2014/main" id="{12FE784B-6F11-5825-B02E-45E5C2E85B14}"/>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3242C784-4577-3B39-3379-4930248C4414}"/>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sp>
        <p:nvSpPr>
          <p:cNvPr id="4" name="Rectangle 3">
            <a:extLst>
              <a:ext uri="{FF2B5EF4-FFF2-40B4-BE49-F238E27FC236}">
                <a16:creationId xmlns:a16="http://schemas.microsoft.com/office/drawing/2014/main" id="{A5BDE1D7-1A1B-28F4-53A4-1F56224BF110}"/>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avec flèche 11">
            <a:extLst>
              <a:ext uri="{FF2B5EF4-FFF2-40B4-BE49-F238E27FC236}">
                <a16:creationId xmlns:a16="http://schemas.microsoft.com/office/drawing/2014/main" id="{2073FF64-F2C9-0885-14AD-CB0B9D023E18}"/>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Ellipse 12">
            <a:extLst>
              <a:ext uri="{FF2B5EF4-FFF2-40B4-BE49-F238E27FC236}">
                <a16:creationId xmlns:a16="http://schemas.microsoft.com/office/drawing/2014/main" id="{B882370B-7FE0-CCC7-C0C3-1A659A931638}"/>
              </a:ext>
            </a:extLst>
          </p:cNvPr>
          <p:cNvSpPr/>
          <p:nvPr/>
        </p:nvSpPr>
        <p:spPr>
          <a:xfrm>
            <a:off x="8913152" y="2941832"/>
            <a:ext cx="914400" cy="9144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lèche : droite 13">
            <a:extLst>
              <a:ext uri="{FF2B5EF4-FFF2-40B4-BE49-F238E27FC236}">
                <a16:creationId xmlns:a16="http://schemas.microsoft.com/office/drawing/2014/main" id="{8085A2C7-B7BB-096D-3FF3-53B0481B9E0A}"/>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7E6EAD20-7B5C-A422-766A-5C7123A9B800}"/>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5" name="Image 14">
            <a:extLst>
              <a:ext uri="{FF2B5EF4-FFF2-40B4-BE49-F238E27FC236}">
                <a16:creationId xmlns:a16="http://schemas.microsoft.com/office/drawing/2014/main" id="{C01867F3-532A-4FE1-750E-3BFC43C43AC2}"/>
              </a:ext>
            </a:extLst>
          </p:cNvPr>
          <p:cNvPicPr preferRelativeResize="0">
            <a:picLocks/>
          </p:cNvPicPr>
          <p:nvPr/>
        </p:nvPicPr>
        <p:blipFill>
          <a:blip r:embed="rId3">
            <a:extLst>
              <a:ext uri="{28A0092B-C50C-407E-A947-70E740481C1C}">
                <a14:useLocalDpi xmlns:a14="http://schemas.microsoft.com/office/drawing/2010/main" val="0"/>
              </a:ext>
            </a:extLst>
          </a:blip>
          <a:stretch>
            <a:fillRect/>
          </a:stretch>
        </p:blipFill>
        <p:spPr>
          <a:xfrm>
            <a:off x="2519838" y="6728454"/>
            <a:ext cx="2520000" cy="2520000"/>
          </a:xfrm>
          <a:prstGeom prst="rect">
            <a:avLst/>
          </a:prstGeom>
        </p:spPr>
      </p:pic>
    </p:spTree>
    <p:extLst>
      <p:ext uri="{BB962C8B-B14F-4D97-AF65-F5344CB8AC3E}">
        <p14:creationId xmlns:p14="http://schemas.microsoft.com/office/powerpoint/2010/main" val="2500050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38CAD-12B6-A1CD-723F-2325CA95BB92}"/>
            </a:ext>
          </a:extLst>
        </p:cNvPr>
        <p:cNvGrpSpPr/>
        <p:nvPr/>
      </p:nvGrpSpPr>
      <p:grpSpPr>
        <a:xfrm>
          <a:off x="0" y="0"/>
          <a:ext cx="0" cy="0"/>
          <a:chOff x="0" y="0"/>
          <a:chExt cx="0" cy="0"/>
        </a:xfrm>
      </p:grpSpPr>
      <p:sp>
        <p:nvSpPr>
          <p:cNvPr id="8" name="Espace réservé du pied de page 5">
            <a:extLst>
              <a:ext uri="{FF2B5EF4-FFF2-40B4-BE49-F238E27FC236}">
                <a16:creationId xmlns:a16="http://schemas.microsoft.com/office/drawing/2014/main" id="{B6A0E0E1-0F6D-539A-390D-B5E28D107779}"/>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5D5758C7-E991-B3B6-BF2B-70E0A4FE1BBF}"/>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16</a:t>
            </a:fld>
            <a:endParaRPr lang="fr-FR" sz="965" dirty="0"/>
          </a:p>
        </p:txBody>
      </p:sp>
      <p:pic>
        <p:nvPicPr>
          <p:cNvPr id="3" name="Image 2">
            <a:extLst>
              <a:ext uri="{FF2B5EF4-FFF2-40B4-BE49-F238E27FC236}">
                <a16:creationId xmlns:a16="http://schemas.microsoft.com/office/drawing/2014/main" id="{8C3295A6-6FD6-6C2E-6BE3-86F956473157}"/>
              </a:ext>
            </a:extLst>
          </p:cNvPr>
          <p:cNvPicPr>
            <a:picLocks noChangeAspect="1"/>
          </p:cNvPicPr>
          <p:nvPr/>
        </p:nvPicPr>
        <p:blipFill>
          <a:blip r:embed="rId2"/>
          <a:stretch>
            <a:fillRect/>
          </a:stretch>
        </p:blipFill>
        <p:spPr>
          <a:xfrm>
            <a:off x="541020" y="98814"/>
            <a:ext cx="2246544" cy="594519"/>
          </a:xfrm>
          <a:prstGeom prst="rect">
            <a:avLst/>
          </a:prstGeom>
        </p:spPr>
      </p:pic>
      <p:sp>
        <p:nvSpPr>
          <p:cNvPr id="6" name="ZoneTexte 5">
            <a:extLst>
              <a:ext uri="{FF2B5EF4-FFF2-40B4-BE49-F238E27FC236}">
                <a16:creationId xmlns:a16="http://schemas.microsoft.com/office/drawing/2014/main" id="{5406E047-368F-360C-C1AA-4CDE121D3FE0}"/>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graphicFrame>
        <p:nvGraphicFramePr>
          <p:cNvPr id="7" name="Tableau 6">
            <a:extLst>
              <a:ext uri="{FF2B5EF4-FFF2-40B4-BE49-F238E27FC236}">
                <a16:creationId xmlns:a16="http://schemas.microsoft.com/office/drawing/2014/main" id="{B816C636-3EE1-D418-AC8F-944484B34792}"/>
              </a:ext>
            </a:extLst>
          </p:cNvPr>
          <p:cNvGraphicFramePr>
            <a:graphicFrameLocks noGrp="1"/>
          </p:cNvGraphicFramePr>
          <p:nvPr>
            <p:extLst>
              <p:ext uri="{D42A27DB-BD31-4B8C-83A1-F6EECF244321}">
                <p14:modId xmlns:p14="http://schemas.microsoft.com/office/powerpoint/2010/main" val="1243608440"/>
              </p:ext>
            </p:extLst>
          </p:nvPr>
        </p:nvGraphicFramePr>
        <p:xfrm>
          <a:off x="541020" y="1351858"/>
          <a:ext cx="6484620" cy="6912248"/>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501454">
                  <a:extLst>
                    <a:ext uri="{9D8B030D-6E8A-4147-A177-3AD203B41FA5}">
                      <a16:colId xmlns:a16="http://schemas.microsoft.com/office/drawing/2014/main" val="3942615875"/>
                    </a:ext>
                  </a:extLst>
                </a:gridCol>
                <a:gridCol w="221234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N°2</a:t>
                      </a:r>
                    </a:p>
                  </a:txBody>
                  <a:tcPr marL="80189" marR="80189" marT="40094" marB="40094" anchor="ctr">
                    <a:solidFill>
                      <a:schemeClr val="bg1"/>
                    </a:solidFill>
                  </a:tcPr>
                </a:tc>
                <a:tc>
                  <a:txBody>
                    <a:bodyPr/>
                    <a:lstStyle/>
                    <a:p>
                      <a:pPr algn="l"/>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r>
                        <a:rPr lang="fr-FR" sz="1100" b="0" dirty="0">
                          <a:solidFill>
                            <a:schemeClr val="tx1"/>
                          </a:solidFill>
                          <a:latin typeface="Calibri" panose="020F0502020204030204" pitchFamily="34" charset="0"/>
                          <a:ea typeface="Calibri" panose="020F0502020204030204" pitchFamily="34" charset="0"/>
                          <a:cs typeface="Calibri" panose="020F0502020204030204" pitchFamily="34" charset="0"/>
                        </a:rPr>
                        <a:t>Sécurité incendie</a:t>
                      </a: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CURATIF NIVEAU 1</a:t>
                      </a:r>
                    </a:p>
                  </a:txBody>
                  <a:tcPr marL="80189" marR="80189" marT="40094" marB="40094" anchor="ctr">
                    <a:solidFill>
                      <a:srgbClr val="D02334"/>
                    </a:solidFill>
                  </a:tcPr>
                </a:tc>
                <a:extLst>
                  <a:ext uri="{0D108BD9-81ED-4DB2-BD59-A6C34878D82A}">
                    <a16:rowId xmlns:a16="http://schemas.microsoft.com/office/drawing/2014/main" val="2240724803"/>
                  </a:ext>
                </a:extLst>
              </a:tr>
              <a:tr h="489099">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Garage et parties communes</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1077472">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algn="just"/>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Lors de la visite, plusieurs de ces espaces ne disposent ni d'extincteur ni de bac à sable conforme.</a:t>
                      </a:r>
                      <a:r>
                        <a:rPr lang="fr-FR" sz="1100" b="0" i="0" dirty="0">
                          <a:effectLst/>
                          <a:latin typeface="-apple-system"/>
                        </a:rPr>
                        <a:t> Dans le garage un pictogramme signalant un extincteur est apposé sur le mur, mais l'appareil d'extinction est totalement absent de son emplacement.</a:t>
                      </a:r>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 Ces équipements de première intervention sont pourtant obligatoires dans les parties communes et garages présentant des risques. Leur absence compromet la sécurité des occupants et la capacité d'intervention rapide en cas de départ de feu.</a:t>
                      </a:r>
                    </a:p>
                    <a:p>
                      <a:pPr algn="just"/>
                      <a:endPar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889216">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Travaux à effectuer :</a:t>
                      </a:r>
                    </a:p>
                    <a:p>
                      <a:pPr algn="just"/>
                      <a:r>
                        <a:rPr lang="fr-FR" sz="1100" b="0" dirty="0">
                          <a:latin typeface="Calibri" panose="020F0502020204030204" pitchFamily="34" charset="0"/>
                          <a:ea typeface="Calibri" panose="020F0502020204030204" pitchFamily="34" charset="0"/>
                          <a:cs typeface="Calibri" panose="020F0502020204030204" pitchFamily="34" charset="0"/>
                        </a:rPr>
                        <a:t>Fournir et installer des extincteurs adaptés (type poudre ou CO₂) avec leurs supports muraux, ainsi que des bacs à sable conformes avec pelles associées dans les parties communes et garages concernés. Vérifier l'accessibilité et la conformité de l'ensemble des équipements installés.</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574685">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Chiffrage estimatif :</a:t>
                      </a:r>
                    </a:p>
                    <a:p>
                      <a:pPr algn="ctr"/>
                      <a:r>
                        <a:rPr lang="fr-FR" sz="1100" b="0" dirty="0">
                          <a:latin typeface="Calibri" panose="020F0502020204030204" pitchFamily="34" charset="0"/>
                          <a:ea typeface="Calibri" panose="020F0502020204030204" pitchFamily="34" charset="0"/>
                          <a:cs typeface="Calibri" panose="020F0502020204030204" pitchFamily="34" charset="0"/>
                        </a:rPr>
                        <a:t>1200</a:t>
                      </a:r>
                      <a:r>
                        <a:rPr lang="fr-FR" sz="1100" b="1" dirty="0">
                          <a:latin typeface="Calibri" panose="020F0502020204030204" pitchFamily="34" charset="0"/>
                          <a:ea typeface="Calibri" panose="020F0502020204030204" pitchFamily="34" charset="0"/>
                          <a:cs typeface="Calibri" panose="020F0502020204030204" pitchFamily="34" charset="0"/>
                        </a:rPr>
                        <a:t> € TTC</a:t>
                      </a:r>
                    </a:p>
                    <a:p>
                      <a:pPr algn="ctr"/>
                      <a:r>
                        <a:rPr lang="fr-FR" sz="1100" b="0" dirty="0">
                          <a:latin typeface="Calibri" panose="020F0502020204030204" pitchFamily="34" charset="0"/>
                          <a:ea typeface="Calibri" panose="020F0502020204030204" pitchFamily="34" charset="0"/>
                          <a:cs typeface="Calibri" panose="020F0502020204030204" pitchFamily="34" charset="0"/>
                        </a:rPr>
                        <a:t>Source Bati Chiffrage 2026</a:t>
                      </a:r>
                    </a:p>
                    <a:p>
                      <a:pPr algn="ctr"/>
                      <a:r>
                        <a:rPr lang="fr-FR" sz="1100" i="1" dirty="0">
                          <a:latin typeface="Calibri" panose="020F0502020204030204" pitchFamily="34" charset="0"/>
                          <a:ea typeface="Calibri" panose="020F0502020204030204" pitchFamily="34" charset="0"/>
                          <a:cs typeface="Calibri" panose="020F0502020204030204" pitchFamily="34" charset="0"/>
                        </a:rPr>
                        <a:t>(Estimation indicative susceptible d'être ajustée après consultation des entreprises)</a:t>
                      </a:r>
                      <a:endParaRPr lang="fr-FR" sz="1100" b="0" i="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4022545768"/>
                  </a:ext>
                </a:extLst>
              </a:tr>
              <a:tr h="3040418">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2" name="Rectangle 1">
            <a:extLst>
              <a:ext uri="{FF2B5EF4-FFF2-40B4-BE49-F238E27FC236}">
                <a16:creationId xmlns:a16="http://schemas.microsoft.com/office/drawing/2014/main" id="{E773CF0A-FD23-8D75-5202-92A1FB1D031E}"/>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 name="Connecteur droit avec flèche 3">
            <a:extLst>
              <a:ext uri="{FF2B5EF4-FFF2-40B4-BE49-F238E27FC236}">
                <a16:creationId xmlns:a16="http://schemas.microsoft.com/office/drawing/2014/main" id="{69655319-3131-8A44-527C-A69BF2B59957}"/>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Ellipse 4">
            <a:extLst>
              <a:ext uri="{FF2B5EF4-FFF2-40B4-BE49-F238E27FC236}">
                <a16:creationId xmlns:a16="http://schemas.microsoft.com/office/drawing/2014/main" id="{CE7051A6-A752-8B02-D77C-8DB875894E47}"/>
              </a:ext>
            </a:extLst>
          </p:cNvPr>
          <p:cNvSpPr/>
          <p:nvPr/>
        </p:nvSpPr>
        <p:spPr>
          <a:xfrm>
            <a:off x="8913152" y="2941832"/>
            <a:ext cx="914400" cy="9144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 droite 8">
            <a:extLst>
              <a:ext uri="{FF2B5EF4-FFF2-40B4-BE49-F238E27FC236}">
                <a16:creationId xmlns:a16="http://schemas.microsoft.com/office/drawing/2014/main" id="{93BC3428-634E-FF42-5531-1CA66A52A52C}"/>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4E551FB6-1AB4-AE61-A967-879696008ADE}"/>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3" name="Image 12">
            <a:extLst>
              <a:ext uri="{FF2B5EF4-FFF2-40B4-BE49-F238E27FC236}">
                <a16:creationId xmlns:a16="http://schemas.microsoft.com/office/drawing/2014/main" id="{C6A820D5-B710-31D0-2C27-E63CFC5B55DB}"/>
              </a:ext>
            </a:extLst>
          </p:cNvPr>
          <p:cNvPicPr preferRelativeResize="0">
            <a:picLocks/>
          </p:cNvPicPr>
          <p:nvPr/>
        </p:nvPicPr>
        <p:blipFill rotWithShape="1">
          <a:blip r:embed="rId3">
            <a:extLst>
              <a:ext uri="{28A0092B-C50C-407E-A947-70E740481C1C}">
                <a14:useLocalDpi xmlns:a14="http://schemas.microsoft.com/office/drawing/2010/main" val="0"/>
              </a:ext>
            </a:extLst>
          </a:blip>
          <a:srcRect t="45700" r="49303" b="13700"/>
          <a:stretch/>
        </p:blipFill>
        <p:spPr>
          <a:xfrm>
            <a:off x="2343134" y="5587416"/>
            <a:ext cx="2520000" cy="2520000"/>
          </a:xfrm>
          <a:prstGeom prst="rect">
            <a:avLst/>
          </a:prstGeom>
        </p:spPr>
      </p:pic>
      <p:sp>
        <p:nvSpPr>
          <p:cNvPr id="14" name="Ellipse 13">
            <a:extLst>
              <a:ext uri="{FF2B5EF4-FFF2-40B4-BE49-F238E27FC236}">
                <a16:creationId xmlns:a16="http://schemas.microsoft.com/office/drawing/2014/main" id="{DAC41CAC-0FC0-FA21-D0EC-461B8EA3D2FE}"/>
              </a:ext>
            </a:extLst>
          </p:cNvPr>
          <p:cNvSpPr/>
          <p:nvPr/>
        </p:nvSpPr>
        <p:spPr>
          <a:xfrm>
            <a:off x="2435591" y="7306173"/>
            <a:ext cx="383249" cy="37418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40601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C14B-8095-4E69-69B7-958C978C77DC}"/>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B3C8125D-F13D-7535-8313-E70376FE98AE}"/>
              </a:ext>
            </a:extLst>
          </p:cNvPr>
          <p:cNvSpPr txBox="1"/>
          <p:nvPr/>
        </p:nvSpPr>
        <p:spPr>
          <a:xfrm>
            <a:off x="541020" y="1280917"/>
            <a:ext cx="5668886" cy="281295"/>
          </a:xfrm>
          <a:prstGeom prst="rect">
            <a:avLst/>
          </a:prstGeom>
          <a:noFill/>
        </p:spPr>
        <p:txBody>
          <a:bodyPr wrap="square" rtlCol="0">
            <a:spAutoFit/>
          </a:bodyPr>
          <a:lstStyle/>
          <a:p>
            <a:r>
              <a:rPr lang="fr-FR" sz="1228" b="1" dirty="0">
                <a:latin typeface="Calibri" panose="020F0502020204030204" pitchFamily="34" charset="0"/>
                <a:ea typeface="Calibri" panose="020F0502020204030204" pitchFamily="34" charset="0"/>
                <a:cs typeface="Calibri" panose="020F0502020204030204" pitchFamily="34" charset="0"/>
              </a:rPr>
              <a:t>2.5 Rubrique Curatif Niveau 3   </a:t>
            </a:r>
          </a:p>
        </p:txBody>
      </p:sp>
      <p:sp>
        <p:nvSpPr>
          <p:cNvPr id="3" name="ZoneTexte 2">
            <a:extLst>
              <a:ext uri="{FF2B5EF4-FFF2-40B4-BE49-F238E27FC236}">
                <a16:creationId xmlns:a16="http://schemas.microsoft.com/office/drawing/2014/main" id="{73FAB1DC-6D74-EE71-E4B1-DD2AA6098D74}"/>
              </a:ext>
            </a:extLst>
          </p:cNvPr>
          <p:cNvSpPr txBox="1"/>
          <p:nvPr/>
        </p:nvSpPr>
        <p:spPr>
          <a:xfrm>
            <a:off x="2074544" y="1718497"/>
            <a:ext cx="5042536" cy="600164"/>
          </a:xfrm>
          <a:prstGeom prst="rect">
            <a:avLst/>
          </a:prstGeom>
          <a:noFill/>
        </p:spPr>
        <p:txBody>
          <a:bodyPr wrap="square" rtlCol="0">
            <a:spAutoFit/>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Curatif Niveau 3 (impact faible) – Travaux à effectuer entre 6 et 10 ans </a:t>
            </a:r>
            <a:r>
              <a:rPr lang="fr-FR" sz="1100" i="1" dirty="0">
                <a:latin typeface="Calibri" panose="020F0502020204030204" pitchFamily="34" charset="0"/>
                <a:ea typeface="Calibri" panose="020F0502020204030204" pitchFamily="34" charset="0"/>
                <a:cs typeface="Calibri" panose="020F0502020204030204" pitchFamily="34" charset="0"/>
              </a:rPr>
              <a:t>(2032-2036)</a:t>
            </a:r>
          </a:p>
          <a:p>
            <a:pPr algn="just"/>
            <a:r>
              <a:rPr lang="fr-FR" sz="1100" dirty="0">
                <a:latin typeface="Calibri" panose="020F0502020204030204" pitchFamily="34" charset="0"/>
                <a:ea typeface="Calibri" panose="020F0502020204030204" pitchFamily="34" charset="0"/>
                <a:cs typeface="Calibri" panose="020F0502020204030204" pitchFamily="34" charset="0"/>
              </a:rPr>
              <a:t>Travaux de rénovation ou d'embellissement ne présentant pas de caractère urgent mais contribuant à l'amélioration de l'aspect esthétique</a:t>
            </a:r>
            <a:r>
              <a:rPr lang="fr-FR" sz="1052" dirty="0">
                <a:latin typeface="Calibri" panose="020F0502020204030204" pitchFamily="34" charset="0"/>
                <a:ea typeface="Calibri" panose="020F0502020204030204" pitchFamily="34" charset="0"/>
                <a:cs typeface="Calibri" panose="020F0502020204030204" pitchFamily="34" charset="0"/>
              </a:rPr>
              <a:t>.</a:t>
            </a:r>
          </a:p>
        </p:txBody>
      </p:sp>
      <p:sp>
        <p:nvSpPr>
          <p:cNvPr id="2" name="Flèche : pentagone 1">
            <a:extLst>
              <a:ext uri="{FF2B5EF4-FFF2-40B4-BE49-F238E27FC236}">
                <a16:creationId xmlns:a16="http://schemas.microsoft.com/office/drawing/2014/main" id="{6E69A72D-8F96-E0C5-27E7-433EB240E884}"/>
              </a:ext>
            </a:extLst>
          </p:cNvPr>
          <p:cNvSpPr/>
          <p:nvPr/>
        </p:nvSpPr>
        <p:spPr>
          <a:xfrm>
            <a:off x="541020" y="1718497"/>
            <a:ext cx="1411653" cy="501179"/>
          </a:xfrm>
          <a:prstGeom prst="homePlate">
            <a:avLst/>
          </a:prstGeom>
          <a:solidFill>
            <a:srgbClr val="04CC7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Curatif Niveau 3</a:t>
            </a:r>
          </a:p>
        </p:txBody>
      </p:sp>
      <p:sp>
        <p:nvSpPr>
          <p:cNvPr id="8" name="Espace réservé du pied de page 5">
            <a:extLst>
              <a:ext uri="{FF2B5EF4-FFF2-40B4-BE49-F238E27FC236}">
                <a16:creationId xmlns:a16="http://schemas.microsoft.com/office/drawing/2014/main" id="{FEC7470C-A904-8C15-5F36-2312E7A14CCA}"/>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8DD9374F-594B-DDAC-B33B-BF02B3A4CAC3}"/>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17</a:t>
            </a:fld>
            <a:endParaRPr lang="fr-FR" sz="965" dirty="0"/>
          </a:p>
        </p:txBody>
      </p:sp>
      <p:pic>
        <p:nvPicPr>
          <p:cNvPr id="12" name="Image 11">
            <a:extLst>
              <a:ext uri="{FF2B5EF4-FFF2-40B4-BE49-F238E27FC236}">
                <a16:creationId xmlns:a16="http://schemas.microsoft.com/office/drawing/2014/main" id="{A7A485B9-029E-5740-BB59-7FD758094CB1}"/>
              </a:ext>
            </a:extLst>
          </p:cNvPr>
          <p:cNvPicPr>
            <a:picLocks noChangeAspect="1"/>
          </p:cNvPicPr>
          <p:nvPr/>
        </p:nvPicPr>
        <p:blipFill>
          <a:blip r:embed="rId3"/>
          <a:stretch>
            <a:fillRect/>
          </a:stretch>
        </p:blipFill>
        <p:spPr>
          <a:xfrm>
            <a:off x="541020" y="98814"/>
            <a:ext cx="2246544" cy="594519"/>
          </a:xfrm>
          <a:prstGeom prst="rect">
            <a:avLst/>
          </a:prstGeom>
        </p:spPr>
      </p:pic>
      <p:sp>
        <p:nvSpPr>
          <p:cNvPr id="13" name="ZoneTexte 12">
            <a:extLst>
              <a:ext uri="{FF2B5EF4-FFF2-40B4-BE49-F238E27FC236}">
                <a16:creationId xmlns:a16="http://schemas.microsoft.com/office/drawing/2014/main" id="{E12356CE-14FE-D558-C77D-B52E28A252DC}"/>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graphicFrame>
        <p:nvGraphicFramePr>
          <p:cNvPr id="14" name="Tableau 13">
            <a:extLst>
              <a:ext uri="{FF2B5EF4-FFF2-40B4-BE49-F238E27FC236}">
                <a16:creationId xmlns:a16="http://schemas.microsoft.com/office/drawing/2014/main" id="{1E8D6AB2-45C6-0A6E-CA60-E6F4BD4F6BC8}"/>
              </a:ext>
            </a:extLst>
          </p:cNvPr>
          <p:cNvGraphicFramePr>
            <a:graphicFrameLocks noGrp="1"/>
          </p:cNvGraphicFramePr>
          <p:nvPr>
            <p:extLst>
              <p:ext uri="{D42A27DB-BD31-4B8C-83A1-F6EECF244321}">
                <p14:modId xmlns:p14="http://schemas.microsoft.com/office/powerpoint/2010/main" val="2312420306"/>
              </p:ext>
            </p:extLst>
          </p:nvPr>
        </p:nvGraphicFramePr>
        <p:xfrm>
          <a:off x="541020" y="2536586"/>
          <a:ext cx="6484620" cy="7240228"/>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501454">
                  <a:extLst>
                    <a:ext uri="{9D8B030D-6E8A-4147-A177-3AD203B41FA5}">
                      <a16:colId xmlns:a16="http://schemas.microsoft.com/office/drawing/2014/main" val="3942615875"/>
                    </a:ext>
                  </a:extLst>
                </a:gridCol>
                <a:gridCol w="221234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N°3</a:t>
                      </a:r>
                    </a:p>
                  </a:txBody>
                  <a:tcPr marL="80189" marR="80189" marT="40094" marB="40094" anchor="ctr">
                    <a:solidFill>
                      <a:schemeClr val="bg1"/>
                    </a:solid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Parties communes</a:t>
                      </a:r>
                      <a:r>
                        <a:rPr lang="fr-FR" sz="1488" b="0" i="0" u="none" strike="noStrike" kern="1200" baseline="0" dirty="0">
                          <a:solidFill>
                            <a:schemeClr val="tx1"/>
                          </a:solidFill>
                          <a:latin typeface="+mn-lt"/>
                          <a:ea typeface="+mn-ea"/>
                          <a:cs typeface="+mn-cs"/>
                        </a:rPr>
                        <a:t>	</a:t>
                      </a: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CURATIF NIVEAU 3</a:t>
                      </a:r>
                    </a:p>
                  </a:txBody>
                  <a:tcPr marL="80189" marR="80189" marT="40094" marB="40094" anchor="ctr">
                    <a:solidFill>
                      <a:srgbClr val="04CC7E"/>
                    </a:solidFill>
                  </a:tcPr>
                </a:tc>
                <a:extLst>
                  <a:ext uri="{0D108BD9-81ED-4DB2-BD59-A6C34878D82A}">
                    <a16:rowId xmlns:a16="http://schemas.microsoft.com/office/drawing/2014/main" val="2240724803"/>
                  </a:ext>
                </a:extLst>
              </a:tr>
              <a:tr h="489099">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Parties communes – cages d’escaliers, murs, plafonds et marches</a:t>
                      </a:r>
                      <a:r>
                        <a:rPr lang="fr-FR" sz="1100" b="0" i="0" u="none" strike="noStrike" baseline="0" dirty="0">
                          <a:solidFill>
                            <a:srgbClr val="000000"/>
                          </a:solidFill>
                          <a:latin typeface="Aptos" panose="020B0004020202020204" pitchFamily="34" charset="0"/>
                        </a:rPr>
                        <a:t>.	</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874056">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algn="just"/>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On observe dans la cage d'escalier des salissures et des traces d'encrassement sombres le long des dormants et près des paumelles, ainsi que quelques salissures légères sur les peintures murales. On note également une usure superficielle du revêtement de sol en résine, écaillé en bord de palier et sur les marches. </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903922">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Travaux à effectuer :</a:t>
                      </a:r>
                    </a:p>
                    <a:p>
                      <a:pPr marL="0" marR="0" lvl="0" indent="0" algn="just" defTabSz="755934" rtl="0" eaLnBrk="1" fontAlgn="auto" latinLnBrk="0" hangingPunct="1">
                        <a:lnSpc>
                          <a:spcPct val="100000"/>
                        </a:lnSpc>
                        <a:spcBef>
                          <a:spcPts val="0"/>
                        </a:spcBef>
                        <a:spcAft>
                          <a:spcPts val="0"/>
                        </a:spcAft>
                        <a:buClrTx/>
                        <a:buSzTx/>
                        <a:buFontTx/>
                        <a:buNone/>
                        <a:tabLst/>
                        <a:defRPr/>
                      </a:pPr>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Prévoir une remise en état des cages d'escaliers comprenant le nettoyage, la préparation des supports et la réfection des peintures murales et plafonds. Une rénovation des marches et des éléments de serrurerie pourra être intégrée afin d'améliorer l'aspect général des parties communes.</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574685">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Chiffrage estimatif :</a:t>
                      </a:r>
                      <a:endParaRPr lang="fr-FR" sz="1100" b="0" dirty="0">
                        <a:latin typeface="Calibri" panose="020F0502020204030204" pitchFamily="34" charset="0"/>
                        <a:ea typeface="Calibri" panose="020F0502020204030204" pitchFamily="34" charset="0"/>
                        <a:cs typeface="Calibri" panose="020F0502020204030204" pitchFamily="34" charset="0"/>
                      </a:endParaRPr>
                    </a:p>
                    <a:p>
                      <a:pPr algn="ctr"/>
                      <a:r>
                        <a:rPr lang="fr-FR" sz="1100" b="0" dirty="0">
                          <a:latin typeface="Calibri" panose="020F0502020204030204" pitchFamily="34" charset="0"/>
                          <a:ea typeface="Calibri" panose="020F0502020204030204" pitchFamily="34" charset="0"/>
                          <a:cs typeface="Calibri" panose="020F0502020204030204" pitchFamily="34" charset="0"/>
                        </a:rPr>
                        <a:t>6000</a:t>
                      </a:r>
                      <a:r>
                        <a:rPr lang="fr-FR" sz="1100" b="1" dirty="0">
                          <a:latin typeface="Calibri" panose="020F0502020204030204" pitchFamily="34" charset="0"/>
                          <a:ea typeface="Calibri" panose="020F0502020204030204" pitchFamily="34" charset="0"/>
                          <a:cs typeface="Calibri" panose="020F0502020204030204" pitchFamily="34" charset="0"/>
                        </a:rPr>
                        <a:t> € TTC</a:t>
                      </a:r>
                    </a:p>
                    <a:p>
                      <a:pPr algn="ctr"/>
                      <a:r>
                        <a:rPr lang="fr-FR" sz="1100" b="0" dirty="0">
                          <a:latin typeface="Calibri" panose="020F0502020204030204" pitchFamily="34" charset="0"/>
                          <a:ea typeface="Calibri" panose="020F0502020204030204" pitchFamily="34" charset="0"/>
                          <a:cs typeface="Calibri" panose="020F0502020204030204" pitchFamily="34" charset="0"/>
                        </a:rPr>
                        <a:t>Source Bati Chiffrage 2026</a:t>
                      </a:r>
                    </a:p>
                    <a:p>
                      <a:pPr algn="ctr"/>
                      <a:r>
                        <a:rPr lang="fr-FR" sz="1100" i="1" dirty="0">
                          <a:latin typeface="Calibri" panose="020F0502020204030204" pitchFamily="34" charset="0"/>
                          <a:ea typeface="Calibri" panose="020F0502020204030204" pitchFamily="34" charset="0"/>
                          <a:cs typeface="Calibri" panose="020F0502020204030204" pitchFamily="34" charset="0"/>
                        </a:rPr>
                        <a:t>(Estimation indicative susceptible d'être ajustée après consultation des entreprises)</a:t>
                      </a:r>
                      <a:endParaRPr lang="fr-FR" sz="1100" b="0" i="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4022545768"/>
                  </a:ext>
                </a:extLst>
              </a:tr>
              <a:tr h="3733304">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4" name="Rectangle 3">
            <a:extLst>
              <a:ext uri="{FF2B5EF4-FFF2-40B4-BE49-F238E27FC236}">
                <a16:creationId xmlns:a16="http://schemas.microsoft.com/office/drawing/2014/main" id="{A70279A1-8895-638B-3D60-4527DD9082A6}"/>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 name="Connecteur droit avec flèche 4">
            <a:extLst>
              <a:ext uri="{FF2B5EF4-FFF2-40B4-BE49-F238E27FC236}">
                <a16:creationId xmlns:a16="http://schemas.microsoft.com/office/drawing/2014/main" id="{61B58FA5-DEF4-C6B4-CC51-5D68BFE57780}"/>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Flèche : droite 6">
            <a:extLst>
              <a:ext uri="{FF2B5EF4-FFF2-40B4-BE49-F238E27FC236}">
                <a16:creationId xmlns:a16="http://schemas.microsoft.com/office/drawing/2014/main" id="{CB2D281C-3562-BB7F-3908-96A461B04C4C}"/>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36F46ECB-7D2C-E2DD-D9E9-E73D6DFFAD4E}"/>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6" name="Image 15">
            <a:extLst>
              <a:ext uri="{FF2B5EF4-FFF2-40B4-BE49-F238E27FC236}">
                <a16:creationId xmlns:a16="http://schemas.microsoft.com/office/drawing/2014/main" id="{76A89AB3-BF25-44A3-D333-C5A5C2632F6C}"/>
              </a:ext>
            </a:extLst>
          </p:cNvPr>
          <p:cNvPicPr preferRelativeResize="0">
            <a:picLocks/>
          </p:cNvPicPr>
          <p:nvPr/>
        </p:nvPicPr>
        <p:blipFill rotWithShape="1">
          <a:blip r:embed="rId4">
            <a:extLst>
              <a:ext uri="{28A0092B-C50C-407E-A947-70E740481C1C}">
                <a14:useLocalDpi xmlns:a14="http://schemas.microsoft.com/office/drawing/2010/main" val="0"/>
              </a:ext>
            </a:extLst>
          </a:blip>
          <a:srcRect l="18247" t="11267" r="12049" b="12095"/>
          <a:stretch/>
        </p:blipFill>
        <p:spPr>
          <a:xfrm>
            <a:off x="1132306" y="6453316"/>
            <a:ext cx="2520000" cy="2520000"/>
          </a:xfrm>
          <a:prstGeom prst="rect">
            <a:avLst/>
          </a:prstGeom>
        </p:spPr>
      </p:pic>
      <p:sp>
        <p:nvSpPr>
          <p:cNvPr id="25" name="Rectangle 24">
            <a:extLst>
              <a:ext uri="{FF2B5EF4-FFF2-40B4-BE49-F238E27FC236}">
                <a16:creationId xmlns:a16="http://schemas.microsoft.com/office/drawing/2014/main" id="{7A02B347-8C35-E830-AA6C-9029C0476979}"/>
              </a:ext>
            </a:extLst>
          </p:cNvPr>
          <p:cNvSpPr/>
          <p:nvPr/>
        </p:nvSpPr>
        <p:spPr>
          <a:xfrm>
            <a:off x="8822006" y="3357756"/>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 name="Image 17">
            <a:extLst>
              <a:ext uri="{FF2B5EF4-FFF2-40B4-BE49-F238E27FC236}">
                <a16:creationId xmlns:a16="http://schemas.microsoft.com/office/drawing/2014/main" id="{41EEA739-8AEF-E881-2973-D936005A0E0D}"/>
              </a:ext>
            </a:extLst>
          </p:cNvPr>
          <p:cNvPicPr preferRelativeResize="0">
            <a:picLocks/>
          </p:cNvPicPr>
          <p:nvPr/>
        </p:nvPicPr>
        <p:blipFill rotWithShape="1">
          <a:blip r:embed="rId5">
            <a:extLst>
              <a:ext uri="{28A0092B-C50C-407E-A947-70E740481C1C}">
                <a14:useLocalDpi xmlns:a14="http://schemas.microsoft.com/office/drawing/2010/main" val="0"/>
              </a:ext>
            </a:extLst>
          </a:blip>
          <a:srcRect l="27496" t="14597"/>
          <a:stretch/>
        </p:blipFill>
        <p:spPr>
          <a:xfrm>
            <a:off x="3924300" y="6453316"/>
            <a:ext cx="2520000" cy="2520000"/>
          </a:xfrm>
          <a:prstGeom prst="rect">
            <a:avLst/>
          </a:prstGeom>
        </p:spPr>
      </p:pic>
      <p:sp>
        <p:nvSpPr>
          <p:cNvPr id="6" name="Ellipse 5">
            <a:extLst>
              <a:ext uri="{FF2B5EF4-FFF2-40B4-BE49-F238E27FC236}">
                <a16:creationId xmlns:a16="http://schemas.microsoft.com/office/drawing/2014/main" id="{220C535D-9B8D-0C2C-FCCF-27B199AC463C}"/>
              </a:ext>
            </a:extLst>
          </p:cNvPr>
          <p:cNvSpPr/>
          <p:nvPr/>
        </p:nvSpPr>
        <p:spPr>
          <a:xfrm>
            <a:off x="5885825" y="8058830"/>
            <a:ext cx="558476" cy="57221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23085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34F14-90C0-9106-E715-5554F478A963}"/>
            </a:ext>
          </a:extLst>
        </p:cNvPr>
        <p:cNvGrpSpPr/>
        <p:nvPr/>
      </p:nvGrpSpPr>
      <p:grpSpPr>
        <a:xfrm>
          <a:off x="0" y="0"/>
          <a:ext cx="0" cy="0"/>
          <a:chOff x="0" y="0"/>
          <a:chExt cx="0" cy="0"/>
        </a:xfrm>
      </p:grpSpPr>
      <p:pic>
        <p:nvPicPr>
          <p:cNvPr id="13" name="Image 12">
            <a:extLst>
              <a:ext uri="{FF2B5EF4-FFF2-40B4-BE49-F238E27FC236}">
                <a16:creationId xmlns:a16="http://schemas.microsoft.com/office/drawing/2014/main" id="{5B2F17E7-D62D-4E02-5812-E6FD69B91A5D}"/>
              </a:ext>
            </a:extLst>
          </p:cNvPr>
          <p:cNvPicPr preferRelativeResize="0">
            <a:picLocks/>
          </p:cNvPicPr>
          <p:nvPr/>
        </p:nvPicPr>
        <p:blipFill rotWithShape="1">
          <a:blip r:embed="rId2">
            <a:extLst>
              <a:ext uri="{28A0092B-C50C-407E-A947-70E740481C1C}">
                <a14:useLocalDpi xmlns:a14="http://schemas.microsoft.com/office/drawing/2010/main" val="0"/>
              </a:ext>
            </a:extLst>
          </a:blip>
          <a:srcRect l="10149" t="14377" r="16998" b="28168"/>
          <a:stretch/>
        </p:blipFill>
        <p:spPr>
          <a:xfrm>
            <a:off x="3941378" y="1755229"/>
            <a:ext cx="2520000" cy="2520000"/>
          </a:xfrm>
          <a:prstGeom prst="rect">
            <a:avLst/>
          </a:prstGeom>
        </p:spPr>
      </p:pic>
      <p:sp>
        <p:nvSpPr>
          <p:cNvPr id="8" name="Espace réservé du pied de page 5">
            <a:extLst>
              <a:ext uri="{FF2B5EF4-FFF2-40B4-BE49-F238E27FC236}">
                <a16:creationId xmlns:a16="http://schemas.microsoft.com/office/drawing/2014/main" id="{31C8E5FC-0051-8CB8-0253-9CC67895A9CA}"/>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6226DB28-B787-9F93-E9C7-2807C9E80D43}"/>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18</a:t>
            </a:fld>
            <a:endParaRPr lang="fr-FR" sz="965" dirty="0"/>
          </a:p>
        </p:txBody>
      </p:sp>
      <p:pic>
        <p:nvPicPr>
          <p:cNvPr id="3" name="Image 2">
            <a:extLst>
              <a:ext uri="{FF2B5EF4-FFF2-40B4-BE49-F238E27FC236}">
                <a16:creationId xmlns:a16="http://schemas.microsoft.com/office/drawing/2014/main" id="{A29D2016-09F0-076E-6E08-02BDFDE76920}"/>
              </a:ext>
            </a:extLst>
          </p:cNvPr>
          <p:cNvPicPr>
            <a:picLocks noChangeAspect="1"/>
          </p:cNvPicPr>
          <p:nvPr/>
        </p:nvPicPr>
        <p:blipFill>
          <a:blip r:embed="rId3"/>
          <a:stretch>
            <a:fillRect/>
          </a:stretch>
        </p:blipFill>
        <p:spPr>
          <a:xfrm>
            <a:off x="541020" y="98814"/>
            <a:ext cx="2246544" cy="594519"/>
          </a:xfrm>
          <a:prstGeom prst="rect">
            <a:avLst/>
          </a:prstGeom>
        </p:spPr>
      </p:pic>
      <p:sp>
        <p:nvSpPr>
          <p:cNvPr id="6" name="ZoneTexte 5">
            <a:extLst>
              <a:ext uri="{FF2B5EF4-FFF2-40B4-BE49-F238E27FC236}">
                <a16:creationId xmlns:a16="http://schemas.microsoft.com/office/drawing/2014/main" id="{611E7F79-A239-485C-E517-F9D1F6B1B63F}"/>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graphicFrame>
        <p:nvGraphicFramePr>
          <p:cNvPr id="7" name="Tableau 6">
            <a:extLst>
              <a:ext uri="{FF2B5EF4-FFF2-40B4-BE49-F238E27FC236}">
                <a16:creationId xmlns:a16="http://schemas.microsoft.com/office/drawing/2014/main" id="{BFFEC57B-441F-CC4D-2E6A-9E8E8E900DA4}"/>
              </a:ext>
            </a:extLst>
          </p:cNvPr>
          <p:cNvGraphicFramePr>
            <a:graphicFrameLocks noGrp="1"/>
          </p:cNvGraphicFramePr>
          <p:nvPr>
            <p:extLst>
              <p:ext uri="{D42A27DB-BD31-4B8C-83A1-F6EECF244321}">
                <p14:modId xmlns:p14="http://schemas.microsoft.com/office/powerpoint/2010/main" val="2700849779"/>
              </p:ext>
            </p:extLst>
          </p:nvPr>
        </p:nvGraphicFramePr>
        <p:xfrm>
          <a:off x="537527" y="1407708"/>
          <a:ext cx="6484620" cy="3265348"/>
        </p:xfrm>
        <a:graphic>
          <a:graphicData uri="http://schemas.openxmlformats.org/drawingml/2006/table">
            <a:tbl>
              <a:tblPr firstRow="1" bandRow="1">
                <a:tableStyleId>{5940675A-B579-460E-94D1-54222C63F5DA}</a:tableStyleId>
              </a:tblPr>
              <a:tblGrid>
                <a:gridCol w="6484620">
                  <a:extLst>
                    <a:ext uri="{9D8B030D-6E8A-4147-A177-3AD203B41FA5}">
                      <a16:colId xmlns:a16="http://schemas.microsoft.com/office/drawing/2014/main" val="297019301"/>
                    </a:ext>
                  </a:extLst>
                </a:gridCol>
              </a:tblGrid>
              <a:tr h="1825470">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complémentaires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739153257"/>
                  </a:ext>
                </a:extLst>
              </a:tr>
            </a:tbl>
          </a:graphicData>
        </a:graphic>
      </p:graphicFrame>
      <p:sp>
        <p:nvSpPr>
          <p:cNvPr id="2" name="Rectangle 1">
            <a:extLst>
              <a:ext uri="{FF2B5EF4-FFF2-40B4-BE49-F238E27FC236}">
                <a16:creationId xmlns:a16="http://schemas.microsoft.com/office/drawing/2014/main" id="{40C21504-B8DB-FC3A-9E93-076DE0C72979}"/>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 name="Connecteur droit avec flèche 3">
            <a:extLst>
              <a:ext uri="{FF2B5EF4-FFF2-40B4-BE49-F238E27FC236}">
                <a16:creationId xmlns:a16="http://schemas.microsoft.com/office/drawing/2014/main" id="{E0A0F9F2-38A8-1E29-6378-D325C559CC28}"/>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Ellipse 4">
            <a:extLst>
              <a:ext uri="{FF2B5EF4-FFF2-40B4-BE49-F238E27FC236}">
                <a16:creationId xmlns:a16="http://schemas.microsoft.com/office/drawing/2014/main" id="{06FCD92F-FC4C-D15A-784D-7B3F9B37E384}"/>
              </a:ext>
            </a:extLst>
          </p:cNvPr>
          <p:cNvSpPr/>
          <p:nvPr/>
        </p:nvSpPr>
        <p:spPr>
          <a:xfrm>
            <a:off x="5201378" y="2135492"/>
            <a:ext cx="648526" cy="6842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 droite 8">
            <a:extLst>
              <a:ext uri="{FF2B5EF4-FFF2-40B4-BE49-F238E27FC236}">
                <a16:creationId xmlns:a16="http://schemas.microsoft.com/office/drawing/2014/main" id="{604E4ECA-8605-1892-E22C-B46622A34B2D}"/>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B3F2F153-45A3-AFB4-2CF0-20F92B51E1D3}"/>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2" name="Image 11">
            <a:extLst>
              <a:ext uri="{FF2B5EF4-FFF2-40B4-BE49-F238E27FC236}">
                <a16:creationId xmlns:a16="http://schemas.microsoft.com/office/drawing/2014/main" id="{A829B68E-A094-743F-1926-108C97A5F3DC}"/>
              </a:ext>
            </a:extLst>
          </p:cNvPr>
          <p:cNvPicPr preferRelativeResize="0">
            <a:picLocks/>
          </p:cNvPicPr>
          <p:nvPr/>
        </p:nvPicPr>
        <p:blipFill rotWithShape="1">
          <a:blip r:embed="rId4">
            <a:extLst>
              <a:ext uri="{28A0092B-C50C-407E-A947-70E740481C1C}">
                <a14:useLocalDpi xmlns:a14="http://schemas.microsoft.com/office/drawing/2010/main" val="0"/>
              </a:ext>
            </a:extLst>
          </a:blip>
          <a:srcRect l="19137" t="5474" r="14808" b="19713"/>
          <a:stretch/>
        </p:blipFill>
        <p:spPr>
          <a:xfrm>
            <a:off x="1115375" y="1755229"/>
            <a:ext cx="2520000" cy="2520000"/>
          </a:xfrm>
          <a:prstGeom prst="rect">
            <a:avLst/>
          </a:prstGeom>
        </p:spPr>
      </p:pic>
    </p:spTree>
    <p:extLst>
      <p:ext uri="{BB962C8B-B14F-4D97-AF65-F5344CB8AC3E}">
        <p14:creationId xmlns:p14="http://schemas.microsoft.com/office/powerpoint/2010/main" val="4091322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CDC51-96B3-9FBD-442A-A8DAFE2E8979}"/>
            </a:ext>
          </a:extLst>
        </p:cNvPr>
        <p:cNvGrpSpPr/>
        <p:nvPr/>
      </p:nvGrpSpPr>
      <p:grpSpPr>
        <a:xfrm>
          <a:off x="0" y="0"/>
          <a:ext cx="0" cy="0"/>
          <a:chOff x="0" y="0"/>
          <a:chExt cx="0" cy="0"/>
        </a:xfrm>
      </p:grpSpPr>
      <p:sp>
        <p:nvSpPr>
          <p:cNvPr id="8" name="Espace réservé du pied de page 5">
            <a:extLst>
              <a:ext uri="{FF2B5EF4-FFF2-40B4-BE49-F238E27FC236}">
                <a16:creationId xmlns:a16="http://schemas.microsoft.com/office/drawing/2014/main" id="{9F26AD65-400F-1001-3110-BFA91CDE63AF}"/>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F7114580-4A09-32E8-A095-AE47D79C6C08}"/>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19</a:t>
            </a:fld>
            <a:endParaRPr lang="fr-FR" sz="965" dirty="0"/>
          </a:p>
        </p:txBody>
      </p:sp>
      <p:pic>
        <p:nvPicPr>
          <p:cNvPr id="2" name="Image 1">
            <a:extLst>
              <a:ext uri="{FF2B5EF4-FFF2-40B4-BE49-F238E27FC236}">
                <a16:creationId xmlns:a16="http://schemas.microsoft.com/office/drawing/2014/main" id="{95879E91-6593-59B3-F60E-05C1FDCA1E25}"/>
              </a:ext>
            </a:extLst>
          </p:cNvPr>
          <p:cNvPicPr>
            <a:picLocks noChangeAspect="1"/>
          </p:cNvPicPr>
          <p:nvPr/>
        </p:nvPicPr>
        <p:blipFill>
          <a:blip r:embed="rId2"/>
          <a:stretch>
            <a:fillRect/>
          </a:stretch>
        </p:blipFill>
        <p:spPr>
          <a:xfrm>
            <a:off x="541020" y="98814"/>
            <a:ext cx="2246544" cy="594519"/>
          </a:xfrm>
          <a:prstGeom prst="rect">
            <a:avLst/>
          </a:prstGeom>
        </p:spPr>
      </p:pic>
      <p:sp>
        <p:nvSpPr>
          <p:cNvPr id="3" name="ZoneTexte 2">
            <a:extLst>
              <a:ext uri="{FF2B5EF4-FFF2-40B4-BE49-F238E27FC236}">
                <a16:creationId xmlns:a16="http://schemas.microsoft.com/office/drawing/2014/main" id="{CBDFD30C-8FD4-36EE-32D3-6945D7B61A00}"/>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graphicFrame>
        <p:nvGraphicFramePr>
          <p:cNvPr id="6" name="Tableau 5">
            <a:extLst>
              <a:ext uri="{FF2B5EF4-FFF2-40B4-BE49-F238E27FC236}">
                <a16:creationId xmlns:a16="http://schemas.microsoft.com/office/drawing/2014/main" id="{D06ECA47-E31C-87AF-5760-D8C133A16EA3}"/>
              </a:ext>
            </a:extLst>
          </p:cNvPr>
          <p:cNvGraphicFramePr>
            <a:graphicFrameLocks noGrp="1"/>
          </p:cNvGraphicFramePr>
          <p:nvPr>
            <p:extLst>
              <p:ext uri="{D42A27DB-BD31-4B8C-83A1-F6EECF244321}">
                <p14:modId xmlns:p14="http://schemas.microsoft.com/office/powerpoint/2010/main" val="1001113767"/>
              </p:ext>
            </p:extLst>
          </p:nvPr>
        </p:nvGraphicFramePr>
        <p:xfrm>
          <a:off x="541020" y="1321016"/>
          <a:ext cx="6484620" cy="7337209"/>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501454">
                  <a:extLst>
                    <a:ext uri="{9D8B030D-6E8A-4147-A177-3AD203B41FA5}">
                      <a16:colId xmlns:a16="http://schemas.microsoft.com/office/drawing/2014/main" val="3942615875"/>
                    </a:ext>
                  </a:extLst>
                </a:gridCol>
                <a:gridCol w="221234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N°4</a:t>
                      </a:r>
                    </a:p>
                  </a:txBody>
                  <a:tcPr marL="80189" marR="80189" marT="40094" marB="40094" anchor="ctr">
                    <a:solidFill>
                      <a:schemeClr val="bg1"/>
                    </a:solidFill>
                  </a:tcPr>
                </a:tc>
                <a:tc>
                  <a:txBody>
                    <a:bodyPr/>
                    <a:lstStyle/>
                    <a:p>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Façades extérieures</a:t>
                      </a:r>
                      <a:r>
                        <a:rPr lang="fr-FR" sz="1100" b="0" i="0" u="none" strike="noStrike" baseline="0" dirty="0">
                          <a:solidFill>
                            <a:srgbClr val="000000"/>
                          </a:solidFill>
                          <a:latin typeface="Aptos" panose="020B0004020202020204" pitchFamily="34" charset="0"/>
                        </a:rPr>
                        <a:t>	</a:t>
                      </a: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CURATIF NIVEAU 3</a:t>
                      </a:r>
                    </a:p>
                  </a:txBody>
                  <a:tcPr marL="80189" marR="80189" marT="40094" marB="40094" anchor="ctr">
                    <a:solidFill>
                      <a:srgbClr val="04CC7E"/>
                    </a:solidFill>
                  </a:tcPr>
                </a:tc>
                <a:extLst>
                  <a:ext uri="{0D108BD9-81ED-4DB2-BD59-A6C34878D82A}">
                    <a16:rowId xmlns:a16="http://schemas.microsoft.com/office/drawing/2014/main" val="2240724803"/>
                  </a:ext>
                </a:extLst>
              </a:tr>
              <a:tr h="489099">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pPr algn="just"/>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Toiture - Bandeaux de rive et tuiles.</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874056">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algn="just"/>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Le bandeau de rive situé sous le débord de toiture présente une peinture nettement écaillée ainsi qu'une dégradation due aux intempéries et à l'humidité. Les tuiles de toiture montrent des mousses et des salissures superficielles. La façade et la terrasse posée sur des plots restent en bon état général. </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1301911">
                <a:tc gridSpan="3">
                  <a:txBody>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Travaux à effectuer :</a:t>
                      </a:r>
                    </a:p>
                    <a:p>
                      <a:pPr algn="just"/>
                      <a:r>
                        <a:rPr lang="fr-FR"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Planifier un égrenage et un ponçage des surfaces boisées suivi de l'application d'une nouvelle peinture ou d'une lasure de protection adaptée aux intempéries, il conviendra également de procéder à un nettoyage des façades et des acrotères par procédé adapté au revêtement existant avec traitement des salissures et des micro-organismes, ainsi que de reprendre ponctuellement les joints ou enduits dégradés si nécessaire à l'issue de ce nettoyage</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574685">
                <a:tc gridSpan="3">
                  <a:txBody>
                    <a:bodyPr/>
                    <a:lstStyle/>
                    <a:p>
                      <a:pPr algn="l"/>
                      <a:r>
                        <a:rPr lang="fr-FR" sz="1100" b="1" dirty="0">
                          <a:latin typeface="Calibri" panose="020F0502020204030204" pitchFamily="34" charset="0"/>
                          <a:ea typeface="Calibri" panose="020F0502020204030204" pitchFamily="34" charset="0"/>
                          <a:cs typeface="Calibri" panose="020F0502020204030204" pitchFamily="34" charset="0"/>
                        </a:rPr>
                        <a:t>Chiffrage estimatif :</a:t>
                      </a:r>
                      <a:endParaRPr lang="fr-FR" sz="1100" b="0" dirty="0">
                        <a:latin typeface="Calibri" panose="020F0502020204030204" pitchFamily="34" charset="0"/>
                        <a:ea typeface="Calibri" panose="020F0502020204030204" pitchFamily="34" charset="0"/>
                        <a:cs typeface="Calibri" panose="020F0502020204030204" pitchFamily="34" charset="0"/>
                      </a:endParaRPr>
                    </a:p>
                    <a:p>
                      <a:pPr algn="ctr"/>
                      <a:r>
                        <a:rPr lang="fr-FR" sz="1100" b="0" dirty="0">
                          <a:latin typeface="Calibri" panose="020F0502020204030204" pitchFamily="34" charset="0"/>
                          <a:ea typeface="Calibri" panose="020F0502020204030204" pitchFamily="34" charset="0"/>
                          <a:cs typeface="Calibri" panose="020F0502020204030204" pitchFamily="34" charset="0"/>
                        </a:rPr>
                        <a:t>4500</a:t>
                      </a:r>
                      <a:r>
                        <a:rPr lang="fr-FR" sz="1100" b="1" dirty="0">
                          <a:latin typeface="Calibri" panose="020F0502020204030204" pitchFamily="34" charset="0"/>
                          <a:ea typeface="Calibri" panose="020F0502020204030204" pitchFamily="34" charset="0"/>
                          <a:cs typeface="Calibri" panose="020F0502020204030204" pitchFamily="34" charset="0"/>
                        </a:rPr>
                        <a:t> € TTC</a:t>
                      </a:r>
                    </a:p>
                    <a:p>
                      <a:pPr algn="ctr"/>
                      <a:r>
                        <a:rPr lang="fr-FR" sz="1100" b="0" dirty="0">
                          <a:latin typeface="Calibri" panose="020F0502020204030204" pitchFamily="34" charset="0"/>
                          <a:ea typeface="Calibri" panose="020F0502020204030204" pitchFamily="34" charset="0"/>
                          <a:cs typeface="Calibri" panose="020F0502020204030204" pitchFamily="34" charset="0"/>
                        </a:rPr>
                        <a:t>Source Bati Chiffrage 2026</a:t>
                      </a:r>
                    </a:p>
                    <a:p>
                      <a:pPr algn="ctr"/>
                      <a:r>
                        <a:rPr lang="fr-FR" sz="1100" i="1" dirty="0">
                          <a:latin typeface="Calibri" panose="020F0502020204030204" pitchFamily="34" charset="0"/>
                          <a:ea typeface="Calibri" panose="020F0502020204030204" pitchFamily="34" charset="0"/>
                          <a:cs typeface="Calibri" panose="020F0502020204030204" pitchFamily="34" charset="0"/>
                        </a:rPr>
                        <a:t>(Estimation indicative susceptible d'être ajustée après consultation des entreprises)</a:t>
                      </a:r>
                      <a:endParaRPr lang="fr-FR" sz="1100" b="0" i="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4022545768"/>
                  </a:ext>
                </a:extLst>
              </a:tr>
              <a:tr h="3432296">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4" name="Rectangle 3">
            <a:extLst>
              <a:ext uri="{FF2B5EF4-FFF2-40B4-BE49-F238E27FC236}">
                <a16:creationId xmlns:a16="http://schemas.microsoft.com/office/drawing/2014/main" id="{5DE55F9A-917C-D3CD-5B2A-6C0354F00A41}"/>
              </a:ext>
            </a:extLst>
          </p:cNvPr>
          <p:cNvSpPr/>
          <p:nvPr/>
        </p:nvSpPr>
        <p:spPr>
          <a:xfrm>
            <a:off x="8822006" y="4394200"/>
            <a:ext cx="1096693" cy="8100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 name="Connecteur droit avec flèche 4">
            <a:extLst>
              <a:ext uri="{FF2B5EF4-FFF2-40B4-BE49-F238E27FC236}">
                <a16:creationId xmlns:a16="http://schemas.microsoft.com/office/drawing/2014/main" id="{26DDED0A-CE3A-3FCD-35F5-537314B50AB0}"/>
              </a:ext>
            </a:extLst>
          </p:cNvPr>
          <p:cNvCxnSpPr>
            <a:cxnSpLocks/>
          </p:cNvCxnSpPr>
          <p:nvPr/>
        </p:nvCxnSpPr>
        <p:spPr>
          <a:xfrm>
            <a:off x="8822006" y="5835650"/>
            <a:ext cx="114720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Ellipse 6">
            <a:extLst>
              <a:ext uri="{FF2B5EF4-FFF2-40B4-BE49-F238E27FC236}">
                <a16:creationId xmlns:a16="http://schemas.microsoft.com/office/drawing/2014/main" id="{2D3F233A-9320-09CE-CEBC-C803F4FAF9A7}"/>
              </a:ext>
            </a:extLst>
          </p:cNvPr>
          <p:cNvSpPr/>
          <p:nvPr/>
        </p:nvSpPr>
        <p:spPr>
          <a:xfrm>
            <a:off x="8913152" y="2941832"/>
            <a:ext cx="914400" cy="9144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 droite 8">
            <a:extLst>
              <a:ext uri="{FF2B5EF4-FFF2-40B4-BE49-F238E27FC236}">
                <a16:creationId xmlns:a16="http://schemas.microsoft.com/office/drawing/2014/main" id="{46DC6F87-AD92-20BD-C41A-5E002D19FF83}"/>
              </a:ext>
            </a:extLst>
          </p:cNvPr>
          <p:cNvSpPr/>
          <p:nvPr/>
        </p:nvSpPr>
        <p:spPr>
          <a:xfrm>
            <a:off x="9114104" y="6530588"/>
            <a:ext cx="800100" cy="39573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FBCD3DE5-4946-571D-9C6C-D10012B89DB6}"/>
              </a:ext>
            </a:extLst>
          </p:cNvPr>
          <p:cNvSpPr txBox="1"/>
          <p:nvPr/>
        </p:nvSpPr>
        <p:spPr>
          <a:xfrm>
            <a:off x="9353693" y="7480300"/>
            <a:ext cx="320922" cy="400110"/>
          </a:xfrm>
          <a:prstGeom prst="rect">
            <a:avLst/>
          </a:prstGeom>
          <a:solidFill>
            <a:schemeClr val="bg1"/>
          </a:solidFill>
          <a:ln w="38100">
            <a:solidFill>
              <a:srgbClr val="FF0000"/>
            </a:solidFill>
          </a:ln>
        </p:spPr>
        <p:txBody>
          <a:bodyPr wrap="none" rtlCol="0">
            <a:spAutoFit/>
          </a:bodyPr>
          <a:lstStyle/>
          <a:p>
            <a:r>
              <a:rPr lang="fr-FR" sz="2000" b="1" dirty="0"/>
              <a:t>1</a:t>
            </a:r>
          </a:p>
        </p:txBody>
      </p:sp>
      <p:pic>
        <p:nvPicPr>
          <p:cNvPr id="13" name="Image 12">
            <a:extLst>
              <a:ext uri="{FF2B5EF4-FFF2-40B4-BE49-F238E27FC236}">
                <a16:creationId xmlns:a16="http://schemas.microsoft.com/office/drawing/2014/main" id="{F1921827-435A-E4A3-A586-931E41942C28}"/>
              </a:ext>
            </a:extLst>
          </p:cNvPr>
          <p:cNvPicPr preferRelativeResize="0">
            <a:picLocks/>
          </p:cNvPicPr>
          <p:nvPr/>
        </p:nvPicPr>
        <p:blipFill rotWithShape="1">
          <a:blip r:embed="rId3">
            <a:extLst>
              <a:ext uri="{28A0092B-C50C-407E-A947-70E740481C1C}">
                <a14:useLocalDpi xmlns:a14="http://schemas.microsoft.com/office/drawing/2010/main" val="0"/>
              </a:ext>
            </a:extLst>
          </a:blip>
          <a:srcRect r="26573" b="38893"/>
          <a:stretch/>
        </p:blipFill>
        <p:spPr>
          <a:xfrm>
            <a:off x="3924300" y="5701553"/>
            <a:ext cx="2520000" cy="2520000"/>
          </a:xfrm>
          <a:prstGeom prst="rect">
            <a:avLst/>
          </a:prstGeom>
        </p:spPr>
      </p:pic>
      <p:pic>
        <p:nvPicPr>
          <p:cNvPr id="15" name="Image 14">
            <a:extLst>
              <a:ext uri="{FF2B5EF4-FFF2-40B4-BE49-F238E27FC236}">
                <a16:creationId xmlns:a16="http://schemas.microsoft.com/office/drawing/2014/main" id="{809581CC-D7D9-3726-ECEB-6FF9B92F9DF3}"/>
              </a:ext>
            </a:extLst>
          </p:cNvPr>
          <p:cNvPicPr preferRelativeResize="0">
            <a:picLocks/>
          </p:cNvPicPr>
          <p:nvPr/>
        </p:nvPicPr>
        <p:blipFill rotWithShape="1">
          <a:blip r:embed="rId4">
            <a:extLst>
              <a:ext uri="{28A0092B-C50C-407E-A947-70E740481C1C}">
                <a14:useLocalDpi xmlns:a14="http://schemas.microsoft.com/office/drawing/2010/main" val="0"/>
              </a:ext>
            </a:extLst>
          </a:blip>
          <a:srcRect t="25265" r="17613"/>
          <a:stretch/>
        </p:blipFill>
        <p:spPr>
          <a:xfrm>
            <a:off x="1115375" y="5701553"/>
            <a:ext cx="2520000" cy="2520000"/>
          </a:xfrm>
          <a:prstGeom prst="rect">
            <a:avLst/>
          </a:prstGeom>
        </p:spPr>
      </p:pic>
    </p:spTree>
    <p:extLst>
      <p:ext uri="{BB962C8B-B14F-4D97-AF65-F5344CB8AC3E}">
        <p14:creationId xmlns:p14="http://schemas.microsoft.com/office/powerpoint/2010/main" val="949410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D43B1-52BC-FF91-8570-334E6D715345}"/>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823B03D2-48A3-A72F-EFDB-152160F5615A}"/>
              </a:ext>
            </a:extLst>
          </p:cNvPr>
          <p:cNvSpPr txBox="1"/>
          <p:nvPr/>
        </p:nvSpPr>
        <p:spPr>
          <a:xfrm>
            <a:off x="513685" y="1278352"/>
            <a:ext cx="5668886" cy="281295"/>
          </a:xfrm>
          <a:prstGeom prst="rect">
            <a:avLst/>
          </a:prstGeom>
          <a:noFill/>
        </p:spPr>
        <p:txBody>
          <a:bodyPr wrap="square" rtlCol="0">
            <a:spAutoFit/>
          </a:bodyPr>
          <a:lstStyle/>
          <a:p>
            <a:r>
              <a:rPr lang="fr-FR" sz="1228" b="1" dirty="0">
                <a:latin typeface="Calibri" panose="020F0502020204030204" pitchFamily="34" charset="0"/>
                <a:ea typeface="Calibri" panose="020F0502020204030204" pitchFamily="34" charset="0"/>
                <a:cs typeface="Calibri" panose="020F0502020204030204" pitchFamily="34" charset="0"/>
              </a:rPr>
              <a:t>2.6 Rubrique Travaux énergétiques   </a:t>
            </a:r>
          </a:p>
        </p:txBody>
      </p:sp>
      <p:sp>
        <p:nvSpPr>
          <p:cNvPr id="3" name="ZoneTexte 2">
            <a:extLst>
              <a:ext uri="{FF2B5EF4-FFF2-40B4-BE49-F238E27FC236}">
                <a16:creationId xmlns:a16="http://schemas.microsoft.com/office/drawing/2014/main" id="{11F1DEC8-65A1-8389-C037-A0AA799F820C}"/>
              </a:ext>
            </a:extLst>
          </p:cNvPr>
          <p:cNvSpPr txBox="1"/>
          <p:nvPr/>
        </p:nvSpPr>
        <p:spPr>
          <a:xfrm>
            <a:off x="2226479" y="1698224"/>
            <a:ext cx="4029541" cy="600164"/>
          </a:xfrm>
          <a:prstGeom prst="rect">
            <a:avLst/>
          </a:prstGeom>
          <a:noFill/>
        </p:spPr>
        <p:txBody>
          <a:bodyPr wrap="square" rtlCol="0">
            <a:spAutoFit/>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Travaux visant à améliorer la performance énergétique du bâtiment, réduire les consommations d'énergie et améliorer le confort thermique des occupants</a:t>
            </a:r>
            <a:r>
              <a:rPr lang="fr-FR" sz="1100" dirty="0"/>
              <a:t>.</a:t>
            </a:r>
          </a:p>
        </p:txBody>
      </p:sp>
      <p:graphicFrame>
        <p:nvGraphicFramePr>
          <p:cNvPr id="5" name="Tableau 4">
            <a:extLst>
              <a:ext uri="{FF2B5EF4-FFF2-40B4-BE49-F238E27FC236}">
                <a16:creationId xmlns:a16="http://schemas.microsoft.com/office/drawing/2014/main" id="{BCA40CCC-B246-EBE2-5770-9AA5B9E688ED}"/>
              </a:ext>
            </a:extLst>
          </p:cNvPr>
          <p:cNvGraphicFramePr>
            <a:graphicFrameLocks noGrp="1"/>
          </p:cNvGraphicFramePr>
          <p:nvPr>
            <p:extLst>
              <p:ext uri="{D42A27DB-BD31-4B8C-83A1-F6EECF244321}">
                <p14:modId xmlns:p14="http://schemas.microsoft.com/office/powerpoint/2010/main" val="1283339276"/>
              </p:ext>
            </p:extLst>
          </p:nvPr>
        </p:nvGraphicFramePr>
        <p:xfrm>
          <a:off x="541020" y="2571056"/>
          <a:ext cx="6484620" cy="6290328"/>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382074">
                  <a:extLst>
                    <a:ext uri="{9D8B030D-6E8A-4147-A177-3AD203B41FA5}">
                      <a16:colId xmlns:a16="http://schemas.microsoft.com/office/drawing/2014/main" val="3942615875"/>
                    </a:ext>
                  </a:extLst>
                </a:gridCol>
                <a:gridCol w="233172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a:t>
                      </a:r>
                    </a:p>
                  </a:txBody>
                  <a:tcPr marL="80189" marR="80189" marT="40094" marB="40094" anchor="ctr">
                    <a:solidFill>
                      <a:schemeClr val="bg1"/>
                    </a:solidFill>
                  </a:tcPr>
                </a:tc>
                <a:tc>
                  <a:txBody>
                    <a:bodyPr/>
                    <a:lstStyle/>
                    <a:p>
                      <a:pPr algn="l"/>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TRAVAUX ÉNERGÉTIQUES</a:t>
                      </a:r>
                    </a:p>
                  </a:txBody>
                  <a:tcPr marL="80189" marR="80189" marT="40094" marB="40094" anchor="ctr">
                    <a:solidFill>
                      <a:srgbClr val="4EA72E"/>
                    </a:solidFill>
                  </a:tcPr>
                </a:tc>
                <a:extLst>
                  <a:ext uri="{0D108BD9-81ED-4DB2-BD59-A6C34878D82A}">
                    <a16:rowId xmlns:a16="http://schemas.microsoft.com/office/drawing/2014/main" val="2240724803"/>
                  </a:ext>
                </a:extLst>
              </a:tr>
              <a:tr h="489099">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Localisation :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874056">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1174750">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Travaux à effectuer :</a:t>
                      </a: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574685">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Chiffrage estimatif :</a:t>
                      </a:r>
                    </a:p>
                    <a:p>
                      <a:pPr algn="ctr"/>
                      <a:r>
                        <a:rPr lang="fr-FR" sz="1100" b="1" dirty="0">
                          <a:latin typeface="Calibri" panose="020F0502020204030204" pitchFamily="34" charset="0"/>
                          <a:ea typeface="Calibri" panose="020F0502020204030204" pitchFamily="34" charset="0"/>
                          <a:cs typeface="Calibri" panose="020F0502020204030204" pitchFamily="34" charset="0"/>
                        </a:rPr>
                        <a:t>€ TTC</a:t>
                      </a:r>
                    </a:p>
                    <a:p>
                      <a:pPr algn="ctr"/>
                      <a:r>
                        <a:rPr lang="fr-FR" sz="1100" b="0" dirty="0">
                          <a:latin typeface="Calibri" panose="020F0502020204030204" pitchFamily="34" charset="0"/>
                          <a:ea typeface="Calibri" panose="020F0502020204030204" pitchFamily="34" charset="0"/>
                          <a:cs typeface="Calibri" panose="020F0502020204030204" pitchFamily="34" charset="0"/>
                        </a:rPr>
                        <a:t>Source Bati Chiffrage 2026</a:t>
                      </a:r>
                    </a:p>
                    <a:p>
                      <a:pPr algn="ctr"/>
                      <a:r>
                        <a:rPr lang="fr-FR" sz="1100" i="1" dirty="0">
                          <a:latin typeface="Calibri" panose="020F0502020204030204" pitchFamily="34" charset="0"/>
                          <a:ea typeface="Calibri" panose="020F0502020204030204" pitchFamily="34" charset="0"/>
                          <a:cs typeface="Calibri" panose="020F0502020204030204" pitchFamily="34" charset="0"/>
                        </a:rPr>
                        <a:t>(Estimation indicative susceptible d'être ajustée après consultation des entreprises)</a:t>
                      </a:r>
                      <a:endParaRPr lang="fr-FR" sz="1100" b="0" i="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4022545768"/>
                  </a:ext>
                </a:extLst>
              </a:tr>
              <a:tr h="2512576">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8" name="Flèche : pentagone 7">
            <a:extLst>
              <a:ext uri="{FF2B5EF4-FFF2-40B4-BE49-F238E27FC236}">
                <a16:creationId xmlns:a16="http://schemas.microsoft.com/office/drawing/2014/main" id="{AC8EA814-487E-BE77-8A8D-4E15E660D8A8}"/>
              </a:ext>
            </a:extLst>
          </p:cNvPr>
          <p:cNvSpPr/>
          <p:nvPr/>
        </p:nvSpPr>
        <p:spPr>
          <a:xfrm>
            <a:off x="541020" y="1716522"/>
            <a:ext cx="1411653" cy="501179"/>
          </a:xfrm>
          <a:prstGeom prst="homePlat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40" b="1" dirty="0"/>
              <a:t>Travaux énergétiques</a:t>
            </a:r>
          </a:p>
        </p:txBody>
      </p:sp>
      <p:sp>
        <p:nvSpPr>
          <p:cNvPr id="4" name="Espace réservé du pied de page 5">
            <a:extLst>
              <a:ext uri="{FF2B5EF4-FFF2-40B4-BE49-F238E27FC236}">
                <a16:creationId xmlns:a16="http://schemas.microsoft.com/office/drawing/2014/main" id="{01188EC9-7B55-9C01-2024-9CC5FDD11070}"/>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5F7DB6E5-9EB5-2AB6-4C2A-704A36DA821C}"/>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20</a:t>
            </a:fld>
            <a:endParaRPr lang="fr-FR" sz="965" dirty="0"/>
          </a:p>
        </p:txBody>
      </p:sp>
      <p:pic>
        <p:nvPicPr>
          <p:cNvPr id="6" name="Image 5">
            <a:extLst>
              <a:ext uri="{FF2B5EF4-FFF2-40B4-BE49-F238E27FC236}">
                <a16:creationId xmlns:a16="http://schemas.microsoft.com/office/drawing/2014/main" id="{54AF945C-B4CA-50D6-B474-D01370852B06}"/>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CB131972-BB4E-452C-460F-C89114759CD8}"/>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spTree>
    <p:extLst>
      <p:ext uri="{BB962C8B-B14F-4D97-AF65-F5344CB8AC3E}">
        <p14:creationId xmlns:p14="http://schemas.microsoft.com/office/powerpoint/2010/main" val="3142866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07245-F01B-7702-A15E-A38F2DD23BDB}"/>
            </a:ext>
          </a:extLst>
        </p:cNvPr>
        <p:cNvGrpSpPr/>
        <p:nvPr/>
      </p:nvGrpSpPr>
      <p:grpSpPr>
        <a:xfrm>
          <a:off x="0" y="0"/>
          <a:ext cx="0" cy="0"/>
          <a:chOff x="0" y="0"/>
          <a:chExt cx="0" cy="0"/>
        </a:xfrm>
      </p:grpSpPr>
      <p:graphicFrame>
        <p:nvGraphicFramePr>
          <p:cNvPr id="5" name="Tableau 4">
            <a:extLst>
              <a:ext uri="{FF2B5EF4-FFF2-40B4-BE49-F238E27FC236}">
                <a16:creationId xmlns:a16="http://schemas.microsoft.com/office/drawing/2014/main" id="{448E8B9C-D119-43D1-18DA-4E8682620CC4}"/>
              </a:ext>
            </a:extLst>
          </p:cNvPr>
          <p:cNvGraphicFramePr>
            <a:graphicFrameLocks noGrp="1"/>
          </p:cNvGraphicFramePr>
          <p:nvPr>
            <p:extLst>
              <p:ext uri="{D42A27DB-BD31-4B8C-83A1-F6EECF244321}">
                <p14:modId xmlns:p14="http://schemas.microsoft.com/office/powerpoint/2010/main" val="4023545174"/>
              </p:ext>
            </p:extLst>
          </p:nvPr>
        </p:nvGraphicFramePr>
        <p:xfrm>
          <a:off x="541020" y="1332110"/>
          <a:ext cx="6484620" cy="8552695"/>
        </p:xfrm>
        <a:graphic>
          <a:graphicData uri="http://schemas.openxmlformats.org/drawingml/2006/table">
            <a:tbl>
              <a:tblPr firstRow="1" bandRow="1">
                <a:tableStyleId>{5940675A-B579-460E-94D1-54222C63F5DA}</a:tableStyleId>
              </a:tblPr>
              <a:tblGrid>
                <a:gridCol w="770826">
                  <a:extLst>
                    <a:ext uri="{9D8B030D-6E8A-4147-A177-3AD203B41FA5}">
                      <a16:colId xmlns:a16="http://schemas.microsoft.com/office/drawing/2014/main" val="297019301"/>
                    </a:ext>
                  </a:extLst>
                </a:gridCol>
                <a:gridCol w="3382074">
                  <a:extLst>
                    <a:ext uri="{9D8B030D-6E8A-4147-A177-3AD203B41FA5}">
                      <a16:colId xmlns:a16="http://schemas.microsoft.com/office/drawing/2014/main" val="3942615875"/>
                    </a:ext>
                  </a:extLst>
                </a:gridCol>
                <a:gridCol w="2331720">
                  <a:extLst>
                    <a:ext uri="{9D8B030D-6E8A-4147-A177-3AD203B41FA5}">
                      <a16:colId xmlns:a16="http://schemas.microsoft.com/office/drawing/2014/main" val="3863795889"/>
                    </a:ext>
                  </a:extLst>
                </a:gridCol>
              </a:tblGrid>
              <a:tr h="489099">
                <a:tc>
                  <a:txBody>
                    <a:bodyPr/>
                    <a:lstStyle/>
                    <a:p>
                      <a:pPr algn="ctr"/>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N° 5</a:t>
                      </a:r>
                    </a:p>
                  </a:txBody>
                  <a:tcPr marL="80189" marR="80189" marT="40094" marB="40094" anchor="ctr">
                    <a:solidFill>
                      <a:schemeClr val="bg1"/>
                    </a:solidFill>
                  </a:tcPr>
                </a:tc>
                <a:tc>
                  <a:txBody>
                    <a:bodyPr/>
                    <a:lstStyle/>
                    <a:p>
                      <a:pPr algn="l"/>
                      <a:r>
                        <a:rPr lang="fr-FR" sz="1100" b="1" dirty="0">
                          <a:solidFill>
                            <a:schemeClr val="tx1"/>
                          </a:solidFill>
                          <a:latin typeface="Calibri" panose="020F0502020204030204" pitchFamily="34" charset="0"/>
                          <a:ea typeface="Calibri" panose="020F0502020204030204" pitchFamily="34" charset="0"/>
                          <a:cs typeface="Calibri" panose="020F0502020204030204" pitchFamily="34" charset="0"/>
                        </a:rPr>
                        <a:t>Famille : </a:t>
                      </a:r>
                      <a:r>
                        <a:rPr lang="fr-FR" sz="1100" b="0" dirty="0">
                          <a:solidFill>
                            <a:schemeClr val="tx1"/>
                          </a:solidFill>
                          <a:latin typeface="Calibri" panose="020F0502020204030204" pitchFamily="34" charset="0"/>
                          <a:ea typeface="Calibri" panose="020F0502020204030204" pitchFamily="34" charset="0"/>
                          <a:cs typeface="Calibri" panose="020F0502020204030204" pitchFamily="34" charset="0"/>
                        </a:rPr>
                        <a:t>Isolation thermique</a:t>
                      </a:r>
                    </a:p>
                  </a:txBody>
                  <a:tcPr marL="80189" marR="80189" marT="40094" marB="4009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TRAVAUX ÉNERGÉTIQUES</a:t>
                      </a:r>
                    </a:p>
                  </a:txBody>
                  <a:tcPr marL="80189" marR="80189" marT="40094" marB="40094" anchor="ctr">
                    <a:solidFill>
                      <a:srgbClr val="4EA72E"/>
                    </a:solidFill>
                  </a:tcPr>
                </a:tc>
                <a:extLst>
                  <a:ext uri="{0D108BD9-81ED-4DB2-BD59-A6C34878D82A}">
                    <a16:rowId xmlns:a16="http://schemas.microsoft.com/office/drawing/2014/main" val="2240724803"/>
                  </a:ext>
                </a:extLst>
              </a:tr>
              <a:tr h="748427">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Description : </a:t>
                      </a:r>
                    </a:p>
                    <a:p>
                      <a:r>
                        <a:rPr lang="fr-FR" sz="1100" b="0" dirty="0">
                          <a:latin typeface="Calibri" panose="020F0502020204030204" pitchFamily="34" charset="0"/>
                          <a:ea typeface="Calibri" panose="020F0502020204030204" pitchFamily="34" charset="0"/>
                          <a:cs typeface="Calibri" panose="020F0502020204030204" pitchFamily="34" charset="0"/>
                        </a:rPr>
                        <a:t>Plancher bas – Mise en place d’une isolation thermique du plafond des locaux non chauffés donnant sur un local chauffé</a:t>
                      </a: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568237"/>
                  </a:ext>
                </a:extLst>
              </a:tr>
              <a:tr h="1229558">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Etat / Observations : </a:t>
                      </a:r>
                    </a:p>
                    <a:p>
                      <a:pPr algn="just"/>
                      <a:r>
                        <a:rPr lang="fr-FR" sz="1100" dirty="0">
                          <a:latin typeface="Calibri" panose="020F0502020204030204" pitchFamily="34" charset="0"/>
                          <a:ea typeface="Calibri" panose="020F0502020204030204" pitchFamily="34" charset="0"/>
                          <a:cs typeface="Calibri" panose="020F0502020204030204" pitchFamily="34" charset="0"/>
                        </a:rPr>
                        <a:t>L'isolation du plancher bas séparant les logements chauffés des locaux non chauffés (caves, garages, circulations, sous-sol, etc.) est insuffisante au regard des standards actuels de performance énergétique. Cette paroi représente environ </a:t>
                      </a:r>
                      <a:r>
                        <a:rPr lang="fr-FR" sz="1100" b="1" dirty="0">
                          <a:latin typeface="Calibri" panose="020F0502020204030204" pitchFamily="34" charset="0"/>
                          <a:ea typeface="Calibri" panose="020F0502020204030204" pitchFamily="34" charset="0"/>
                          <a:cs typeface="Calibri" panose="020F0502020204030204" pitchFamily="34" charset="0"/>
                        </a:rPr>
                        <a:t>29 % des déperditions thermiques du bâtiment</a:t>
                      </a:r>
                      <a:r>
                        <a:rPr lang="fr-FR" sz="1100" dirty="0">
                          <a:latin typeface="Calibri" panose="020F0502020204030204" pitchFamily="34" charset="0"/>
                          <a:ea typeface="Calibri" panose="020F0502020204030204" pitchFamily="34" charset="0"/>
                          <a:cs typeface="Calibri" panose="020F0502020204030204" pitchFamily="34" charset="0"/>
                        </a:rPr>
                        <a:t> et contribue à l'inconfort thermique des logements situés au-dessus, notamment par la sensation de sol froid en période hivernale.</a:t>
                      </a:r>
                    </a:p>
                    <a:p>
                      <a:pPr algn="just"/>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73459279"/>
                  </a:ext>
                </a:extLst>
              </a:tr>
              <a:tr h="2993708">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Travaux à effectuer :</a:t>
                      </a:r>
                    </a:p>
                    <a:p>
                      <a:pPr algn="just"/>
                      <a:r>
                        <a:rPr lang="fr-FR" sz="1100" b="0" dirty="0">
                          <a:latin typeface="Calibri" panose="020F0502020204030204" pitchFamily="34" charset="0"/>
                          <a:ea typeface="Calibri" panose="020F0502020204030204" pitchFamily="34" charset="0"/>
                          <a:cs typeface="Calibri" panose="020F0502020204030204" pitchFamily="34" charset="0"/>
                        </a:rPr>
                        <a:t>Mise en place d'une isolation thermique en sous-face du plancher bas, depuis le local non chauffé. L'isolation pourra être réalisée par pose de panneaux isolants rigides (polystyrène expansé, polystyrène extrudé, Fibrastyréne ou équivalent) ou par projection d'un isolant par flocage, selon la configuration des lieux et les contraintes d'exploitation. Cette intervention permettra de réduire les déperditions thermiques, d'améliorer le confort des occupants et de diminuer les consommations énergétiques du bâtiment.</a:t>
                      </a:r>
                    </a:p>
                    <a:p>
                      <a:pPr algn="just"/>
                      <a:endParaRPr lang="fr-FR" sz="1100" b="0" dirty="0">
                        <a:latin typeface="Calibri" panose="020F0502020204030204" pitchFamily="34" charset="0"/>
                        <a:ea typeface="Calibri" panose="020F0502020204030204" pitchFamily="34" charset="0"/>
                        <a:cs typeface="Calibri" panose="020F0502020204030204" pitchFamily="34" charset="0"/>
                      </a:endParaRPr>
                    </a:p>
                    <a:p>
                      <a:r>
                        <a:rPr lang="fr-FR" sz="1100" b="0" u="sng" dirty="0">
                          <a:latin typeface="Calibri" panose="020F0502020204030204" pitchFamily="34" charset="0"/>
                          <a:ea typeface="Calibri" panose="020F0502020204030204" pitchFamily="34" charset="0"/>
                          <a:cs typeface="Calibri" panose="020F0502020204030204" pitchFamily="34" charset="0"/>
                        </a:rPr>
                        <a:t>Précautions de mise en œuvre :</a:t>
                      </a:r>
                    </a:p>
                    <a:p>
                      <a:pPr algn="just"/>
                      <a:r>
                        <a:rPr lang="fr-FR" sz="1100" dirty="0">
                          <a:latin typeface="Calibri" panose="020F0502020204030204" pitchFamily="34" charset="0"/>
                          <a:ea typeface="Calibri" panose="020F0502020204030204" pitchFamily="34" charset="0"/>
                          <a:cs typeface="Calibri" panose="020F0502020204030204" pitchFamily="34" charset="0"/>
                        </a:rPr>
                        <a:t>Une attention particulière devra être portée au traitement des réseaux techniques présents en sous-face du plancher, au maintien des accès pour la maintenance des équipements ainsi qu'à la compatibilité de l'isolant avec les exigences de sécurité incendie applicables aux locaux concernés.</a:t>
                      </a:r>
                    </a:p>
                    <a:p>
                      <a:pPr algn="just"/>
                      <a:endParaRPr lang="fr-FR" sz="1100" b="0" dirty="0">
                        <a:latin typeface="Calibri" panose="020F0502020204030204" pitchFamily="34" charset="0"/>
                        <a:ea typeface="Calibri" panose="020F0502020204030204" pitchFamily="34" charset="0"/>
                        <a:cs typeface="Calibri" panose="020F0502020204030204" pitchFamily="34" charset="0"/>
                      </a:endParaRPr>
                    </a:p>
                    <a:p>
                      <a:r>
                        <a:rPr lang="fr-FR" sz="1100" b="0" u="sng" dirty="0">
                          <a:latin typeface="Calibri" panose="020F0502020204030204" pitchFamily="34" charset="0"/>
                          <a:ea typeface="Calibri" panose="020F0502020204030204" pitchFamily="34" charset="0"/>
                          <a:cs typeface="Calibri" panose="020F0502020204030204" pitchFamily="34" charset="0"/>
                        </a:rPr>
                        <a:t>Performance à respecter : </a:t>
                      </a:r>
                      <a:r>
                        <a:rPr lang="fr-FR" sz="1100" b="0" dirty="0">
                          <a:latin typeface="Calibri" panose="020F0502020204030204" pitchFamily="34" charset="0"/>
                          <a:ea typeface="Calibri" panose="020F0502020204030204" pitchFamily="34" charset="0"/>
                          <a:cs typeface="Calibri" panose="020F0502020204030204" pitchFamily="34" charset="0"/>
                        </a:rPr>
                        <a:t>Résistance thermique de l'isolant </a:t>
                      </a:r>
                      <a:r>
                        <a:rPr lang="fr-FR" sz="1100" b="1" dirty="0">
                          <a:latin typeface="Calibri" panose="020F0502020204030204" pitchFamily="34" charset="0"/>
                          <a:ea typeface="Calibri" panose="020F0502020204030204" pitchFamily="34" charset="0"/>
                          <a:cs typeface="Calibri" panose="020F0502020204030204" pitchFamily="34" charset="0"/>
                        </a:rPr>
                        <a:t>R ≥ 3 m²·K/W</a:t>
                      </a:r>
                    </a:p>
                    <a:p>
                      <a:endParaRPr lang="fr-FR" sz="1100" b="0" dirty="0">
                        <a:latin typeface="Calibri" panose="020F0502020204030204" pitchFamily="34" charset="0"/>
                        <a:ea typeface="Calibri" panose="020F0502020204030204" pitchFamily="34" charset="0"/>
                        <a:cs typeface="Calibri" panose="020F0502020204030204" pitchFamily="34" charset="0"/>
                      </a:endParaRPr>
                    </a:p>
                    <a:p>
                      <a:r>
                        <a:rPr lang="fr-FR" sz="1100" b="0" u="sng" dirty="0">
                          <a:latin typeface="Calibri" panose="020F0502020204030204" pitchFamily="34" charset="0"/>
                          <a:ea typeface="Calibri" panose="020F0502020204030204" pitchFamily="34" charset="0"/>
                          <a:cs typeface="Calibri" panose="020F0502020204030204" pitchFamily="34" charset="0"/>
                        </a:rPr>
                        <a:t>Surface à isoler : </a:t>
                      </a:r>
                      <a:r>
                        <a:rPr lang="fr-FR" sz="1100" b="1" u="none" dirty="0">
                          <a:latin typeface="Calibri" panose="020F0502020204030204" pitchFamily="34" charset="0"/>
                          <a:ea typeface="Calibri" panose="020F0502020204030204" pitchFamily="34" charset="0"/>
                          <a:cs typeface="Calibri" panose="020F0502020204030204" pitchFamily="34" charset="0"/>
                        </a:rPr>
                        <a:t>395 m²</a:t>
                      </a:r>
                    </a:p>
                    <a:p>
                      <a:endParaRPr lang="fr-FR" sz="1100" b="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17563855"/>
                  </a:ext>
                </a:extLst>
              </a:tr>
              <a:tr h="574685">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Chiffrage estimatif :</a:t>
                      </a:r>
                    </a:p>
                    <a:p>
                      <a:pPr algn="ctr"/>
                      <a:r>
                        <a:rPr lang="fr-FR" sz="1100" b="0" dirty="0">
                          <a:latin typeface="Calibri" panose="020F0502020204030204" pitchFamily="34" charset="0"/>
                          <a:ea typeface="Calibri" panose="020F0502020204030204" pitchFamily="34" charset="0"/>
                          <a:cs typeface="Calibri" panose="020F0502020204030204" pitchFamily="34" charset="0"/>
                        </a:rPr>
                        <a:t>17 800 € TTC</a:t>
                      </a:r>
                    </a:p>
                    <a:p>
                      <a:pPr algn="ctr"/>
                      <a:r>
                        <a:rPr lang="fr-FR" sz="1100" b="0" dirty="0">
                          <a:latin typeface="Calibri" panose="020F0502020204030204" pitchFamily="34" charset="0"/>
                          <a:ea typeface="Calibri" panose="020F0502020204030204" pitchFamily="34" charset="0"/>
                          <a:cs typeface="Calibri" panose="020F0502020204030204" pitchFamily="34" charset="0"/>
                        </a:rPr>
                        <a:t>Source Bati Chiffrage 2026</a:t>
                      </a:r>
                    </a:p>
                    <a:p>
                      <a:pPr algn="ctr"/>
                      <a:r>
                        <a:rPr lang="fr-FR" sz="1100" i="1" dirty="0">
                          <a:latin typeface="Calibri" panose="020F0502020204030204" pitchFamily="34" charset="0"/>
                          <a:ea typeface="Calibri" panose="020F0502020204030204" pitchFamily="34" charset="0"/>
                          <a:cs typeface="Calibri" panose="020F0502020204030204" pitchFamily="34" charset="0"/>
                        </a:rPr>
                        <a:t>(Estimation indicative susceptible d'être ajustée après consultation des entreprises)</a:t>
                      </a:r>
                      <a:endParaRPr lang="fr-FR" sz="1100" b="0" i="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4022545768"/>
                  </a:ext>
                </a:extLst>
              </a:tr>
              <a:tr h="2338834">
                <a:tc gridSpan="3">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Illustrations :</a:t>
                      </a: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39153257"/>
                  </a:ext>
                </a:extLst>
              </a:tr>
            </a:tbl>
          </a:graphicData>
        </a:graphic>
      </p:graphicFrame>
      <p:sp>
        <p:nvSpPr>
          <p:cNvPr id="3" name="Espace réservé du pied de page 5">
            <a:extLst>
              <a:ext uri="{FF2B5EF4-FFF2-40B4-BE49-F238E27FC236}">
                <a16:creationId xmlns:a16="http://schemas.microsoft.com/office/drawing/2014/main" id="{20117F7C-7700-6E1D-439C-2CA67EE1B106}"/>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4" name="Espace réservé du numéro de diapositive 6">
            <a:extLst>
              <a:ext uri="{FF2B5EF4-FFF2-40B4-BE49-F238E27FC236}">
                <a16:creationId xmlns:a16="http://schemas.microsoft.com/office/drawing/2014/main" id="{413E3709-F703-3FD6-7741-3AD872E05209}"/>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21</a:t>
            </a:fld>
            <a:endParaRPr lang="fr-FR" sz="965" dirty="0"/>
          </a:p>
        </p:txBody>
      </p:sp>
      <p:pic>
        <p:nvPicPr>
          <p:cNvPr id="8" name="Image 7" descr="Isolation du sol de votre maison : techniques, prix, aides financières -  Conseils Thermiques">
            <a:extLst>
              <a:ext uri="{FF2B5EF4-FFF2-40B4-BE49-F238E27FC236}">
                <a16:creationId xmlns:a16="http://schemas.microsoft.com/office/drawing/2014/main" id="{EE9DE542-5D66-73FB-D667-8BA370DABE6F}"/>
              </a:ext>
            </a:extLst>
          </p:cNvPr>
          <p:cNvPicPr>
            <a:picLocks noChangeAspect="1"/>
          </p:cNvPicPr>
          <p:nvPr/>
        </p:nvPicPr>
        <p:blipFill>
          <a:blip r:embed="rId2"/>
          <a:stretch>
            <a:fillRect/>
          </a:stretch>
        </p:blipFill>
        <p:spPr>
          <a:xfrm>
            <a:off x="902233" y="7903021"/>
            <a:ext cx="3033833" cy="1698947"/>
          </a:xfrm>
          <a:prstGeom prst="rect">
            <a:avLst/>
          </a:prstGeom>
        </p:spPr>
      </p:pic>
      <p:pic>
        <p:nvPicPr>
          <p:cNvPr id="11" name="Image 10">
            <a:extLst>
              <a:ext uri="{FF2B5EF4-FFF2-40B4-BE49-F238E27FC236}">
                <a16:creationId xmlns:a16="http://schemas.microsoft.com/office/drawing/2014/main" id="{8C1D7C88-C080-CAAE-BDE8-86FDDCA98FA8}"/>
              </a:ext>
            </a:extLst>
          </p:cNvPr>
          <p:cNvPicPr>
            <a:picLocks noChangeAspect="1"/>
          </p:cNvPicPr>
          <p:nvPr/>
        </p:nvPicPr>
        <p:blipFill>
          <a:blip r:embed="rId3"/>
          <a:stretch>
            <a:fillRect/>
          </a:stretch>
        </p:blipFill>
        <p:spPr>
          <a:xfrm>
            <a:off x="4343561" y="7748141"/>
            <a:ext cx="2274584" cy="1853827"/>
          </a:xfrm>
          <a:prstGeom prst="rect">
            <a:avLst/>
          </a:prstGeom>
        </p:spPr>
      </p:pic>
      <p:pic>
        <p:nvPicPr>
          <p:cNvPr id="6" name="Image 5">
            <a:extLst>
              <a:ext uri="{FF2B5EF4-FFF2-40B4-BE49-F238E27FC236}">
                <a16:creationId xmlns:a16="http://schemas.microsoft.com/office/drawing/2014/main" id="{5A002C66-833A-5394-11E7-E4B99A2ECD26}"/>
              </a:ext>
            </a:extLst>
          </p:cNvPr>
          <p:cNvPicPr>
            <a:picLocks noChangeAspect="1"/>
          </p:cNvPicPr>
          <p:nvPr/>
        </p:nvPicPr>
        <p:blipFill>
          <a:blip r:embed="rId4"/>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12413F09-4742-94F8-5CE7-D224D7A77FDB}"/>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2. IDENTIFICATION ET HIÉRARCHISATION DES TRAVAUX ET OBSERVATIONS</a:t>
            </a:r>
          </a:p>
        </p:txBody>
      </p:sp>
    </p:spTree>
    <p:extLst>
      <p:ext uri="{BB962C8B-B14F-4D97-AF65-F5344CB8AC3E}">
        <p14:creationId xmlns:p14="http://schemas.microsoft.com/office/powerpoint/2010/main" val="3471522774"/>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TotalTime>
  <Words>4366</Words>
  <Application>Microsoft Office PowerPoint</Application>
  <PresentationFormat>Personnalisé</PresentationFormat>
  <Paragraphs>640</Paragraphs>
  <Slides>21</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-apple-system</vt:lpstr>
      <vt:lpstr>Aptos</vt:lpstr>
      <vt:lpstr>Aptos Display</vt:lpstr>
      <vt:lpstr>Arial</vt:lpstr>
      <vt:lpstr>Calibri</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FRANCE VERTE</dc:creator>
  <cp:lastModifiedBy>MT-013</cp:lastModifiedBy>
  <cp:revision>53</cp:revision>
  <cp:lastPrinted>2026-07-23T14:37:21Z</cp:lastPrinted>
  <dcterms:created xsi:type="dcterms:W3CDTF">2026-06-15T10:18:41Z</dcterms:created>
  <dcterms:modified xsi:type="dcterms:W3CDTF">2026-10-02T10:11:47Z</dcterms:modified>
</cp:coreProperties>
</file>